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1"/>
  </p:notesMasterIdLst>
  <p:sldIdLst>
    <p:sldId id="257" r:id="rId2"/>
    <p:sldId id="379" r:id="rId3"/>
    <p:sldId id="342" r:id="rId4"/>
    <p:sldId id="361" r:id="rId5"/>
    <p:sldId id="363" r:id="rId6"/>
    <p:sldId id="370" r:id="rId7"/>
    <p:sldId id="258" r:id="rId8"/>
    <p:sldId id="319" r:id="rId9"/>
    <p:sldId id="380" r:id="rId10"/>
    <p:sldId id="381" r:id="rId11"/>
    <p:sldId id="382" r:id="rId12"/>
    <p:sldId id="383" r:id="rId13"/>
    <p:sldId id="384" r:id="rId14"/>
    <p:sldId id="385" r:id="rId15"/>
    <p:sldId id="387" r:id="rId16"/>
    <p:sldId id="388" r:id="rId17"/>
    <p:sldId id="389" r:id="rId18"/>
    <p:sldId id="402" r:id="rId19"/>
    <p:sldId id="371" r:id="rId20"/>
    <p:sldId id="262" r:id="rId21"/>
    <p:sldId id="376" r:id="rId22"/>
    <p:sldId id="331" r:id="rId23"/>
    <p:sldId id="1187" r:id="rId24"/>
    <p:sldId id="264" r:id="rId25"/>
    <p:sldId id="390" r:id="rId26"/>
    <p:sldId id="391" r:id="rId27"/>
    <p:sldId id="269" r:id="rId28"/>
    <p:sldId id="271" r:id="rId29"/>
    <p:sldId id="272" r:id="rId30"/>
    <p:sldId id="273" r:id="rId31"/>
    <p:sldId id="274" r:id="rId32"/>
    <p:sldId id="275" r:id="rId33"/>
    <p:sldId id="392" r:id="rId34"/>
    <p:sldId id="393" r:id="rId35"/>
    <p:sldId id="394" r:id="rId36"/>
    <p:sldId id="277" r:id="rId37"/>
    <p:sldId id="278" r:id="rId38"/>
    <p:sldId id="333" r:id="rId39"/>
    <p:sldId id="1188" r:id="rId40"/>
    <p:sldId id="280" r:id="rId41"/>
    <p:sldId id="282" r:id="rId42"/>
    <p:sldId id="283" r:id="rId43"/>
    <p:sldId id="395" r:id="rId44"/>
    <p:sldId id="396" r:id="rId45"/>
    <p:sldId id="397" r:id="rId46"/>
    <p:sldId id="398" r:id="rId47"/>
    <p:sldId id="302" r:id="rId48"/>
    <p:sldId id="303" r:id="rId49"/>
    <p:sldId id="304" r:id="rId50"/>
    <p:sldId id="295" r:id="rId51"/>
    <p:sldId id="298" r:id="rId52"/>
    <p:sldId id="297" r:id="rId53"/>
    <p:sldId id="1170" r:id="rId54"/>
    <p:sldId id="1171" r:id="rId55"/>
    <p:sldId id="1172" r:id="rId56"/>
    <p:sldId id="1156" r:id="rId57"/>
    <p:sldId id="284" r:id="rId58"/>
    <p:sldId id="285" r:id="rId59"/>
    <p:sldId id="1169" r:id="rId60"/>
    <p:sldId id="305" r:id="rId61"/>
    <p:sldId id="306" r:id="rId62"/>
    <p:sldId id="1173" r:id="rId63"/>
    <p:sldId id="300" r:id="rId64"/>
    <p:sldId id="1182" r:id="rId65"/>
    <p:sldId id="1183" r:id="rId66"/>
    <p:sldId id="320" r:id="rId67"/>
    <p:sldId id="321" r:id="rId68"/>
    <p:sldId id="322" r:id="rId69"/>
    <p:sldId id="339" r:id="rId70"/>
    <p:sldId id="323" r:id="rId71"/>
    <p:sldId id="324" r:id="rId72"/>
    <p:sldId id="340" r:id="rId73"/>
    <p:sldId id="326" r:id="rId74"/>
    <p:sldId id="369" r:id="rId75"/>
    <p:sldId id="400" r:id="rId76"/>
    <p:sldId id="401" r:id="rId77"/>
    <p:sldId id="327" r:id="rId78"/>
    <p:sldId id="328" r:id="rId79"/>
    <p:sldId id="329" r:id="rId8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50" autoAdjust="0"/>
    <p:restoredTop sz="94660"/>
  </p:normalViewPr>
  <p:slideViewPr>
    <p:cSldViewPr>
      <p:cViewPr varScale="1">
        <p:scale>
          <a:sx n="108" d="100"/>
          <a:sy n="108" d="100"/>
        </p:scale>
        <p:origin x="1602"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DFB90C-30DE-4AE2-B99B-32A1D0D9DB56}" type="datetimeFigureOut">
              <a:rPr lang="en-US" smtClean="0"/>
              <a:pPr/>
              <a:t>3/20/2026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72BB84-3686-4E3C-A437-D8241BABAFE2}" type="slidenum">
              <a:rPr lang="en-US" smtClean="0"/>
              <a:pPr/>
              <a:t>‹#›</a:t>
            </a:fld>
            <a:endParaRPr lang="en-US"/>
          </a:p>
        </p:txBody>
      </p:sp>
    </p:spTree>
    <p:extLst>
      <p:ext uri="{BB962C8B-B14F-4D97-AF65-F5344CB8AC3E}">
        <p14:creationId xmlns:p14="http://schemas.microsoft.com/office/powerpoint/2010/main" val="3652957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a:t>
            </a:fld>
            <a:endParaRPr lang="en-US"/>
          </a:p>
        </p:txBody>
      </p:sp>
    </p:spTree>
    <p:extLst>
      <p:ext uri="{BB962C8B-B14F-4D97-AF65-F5344CB8AC3E}">
        <p14:creationId xmlns:p14="http://schemas.microsoft.com/office/powerpoint/2010/main" val="1569577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a:t>
            </a:fld>
            <a:endParaRPr lang="en-US"/>
          </a:p>
        </p:txBody>
      </p:sp>
    </p:spTree>
    <p:extLst>
      <p:ext uri="{BB962C8B-B14F-4D97-AF65-F5344CB8AC3E}">
        <p14:creationId xmlns:p14="http://schemas.microsoft.com/office/powerpoint/2010/main" val="3798113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a:t>
            </a:fld>
            <a:endParaRPr lang="en-US"/>
          </a:p>
        </p:txBody>
      </p:sp>
    </p:spTree>
    <p:extLst>
      <p:ext uri="{BB962C8B-B14F-4D97-AF65-F5344CB8AC3E}">
        <p14:creationId xmlns:p14="http://schemas.microsoft.com/office/powerpoint/2010/main" val="689454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a:t>
            </a:fld>
            <a:endParaRPr lang="en-US"/>
          </a:p>
        </p:txBody>
      </p:sp>
    </p:spTree>
    <p:extLst>
      <p:ext uri="{BB962C8B-B14F-4D97-AF65-F5344CB8AC3E}">
        <p14:creationId xmlns:p14="http://schemas.microsoft.com/office/powerpoint/2010/main" val="385057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a:t>
            </a:fld>
            <a:endParaRPr lang="en-US"/>
          </a:p>
        </p:txBody>
      </p:sp>
    </p:spTree>
    <p:extLst>
      <p:ext uri="{BB962C8B-B14F-4D97-AF65-F5344CB8AC3E}">
        <p14:creationId xmlns:p14="http://schemas.microsoft.com/office/powerpoint/2010/main" val="3781478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a:t>
            </a:fld>
            <a:endParaRPr lang="en-US"/>
          </a:p>
        </p:txBody>
      </p:sp>
    </p:spTree>
    <p:extLst>
      <p:ext uri="{BB962C8B-B14F-4D97-AF65-F5344CB8AC3E}">
        <p14:creationId xmlns:p14="http://schemas.microsoft.com/office/powerpoint/2010/main" val="33375906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a:t>
            </a:fld>
            <a:endParaRPr lang="en-US"/>
          </a:p>
        </p:txBody>
      </p:sp>
    </p:spTree>
    <p:extLst>
      <p:ext uri="{BB962C8B-B14F-4D97-AF65-F5344CB8AC3E}">
        <p14:creationId xmlns:p14="http://schemas.microsoft.com/office/powerpoint/2010/main" val="2637716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772BB84-3686-4E3C-A437-D8241BABAFE2}" type="slidenum">
              <a:rPr lang="en-US" smtClean="0"/>
              <a:pPr/>
              <a:t>39</a:t>
            </a:fld>
            <a:endParaRPr lang="en-US"/>
          </a:p>
        </p:txBody>
      </p:sp>
    </p:spTree>
    <p:extLst>
      <p:ext uri="{BB962C8B-B14F-4D97-AF65-F5344CB8AC3E}">
        <p14:creationId xmlns:p14="http://schemas.microsoft.com/office/powerpoint/2010/main" val="2269929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0392"/>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CB24DB6-27DF-4F05-9E4F-DBD8772C59EB}" type="datetime1">
              <a:rPr lang="en-US" smtClean="0"/>
              <a:t>3/20/2026</a:t>
            </a:fld>
            <a:endParaRPr lang="en-US"/>
          </a:p>
        </p:txBody>
      </p:sp>
      <p:sp>
        <p:nvSpPr>
          <p:cNvPr id="5" name="Footer Placeholder 4"/>
          <p:cNvSpPr>
            <a:spLocks noGrp="1"/>
          </p:cNvSpPr>
          <p:nvPr>
            <p:ph type="ftr" sz="quarter" idx="11"/>
          </p:nvPr>
        </p:nvSpPr>
        <p:spPr/>
        <p:txBody>
          <a:bodyPr/>
          <a:lstStyle/>
          <a:p>
            <a:r>
              <a:rPr lang="en-US" smtClean="0"/>
              <a:t>Vivek Kumart Sharma                BCSE0404X(TOC)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76200"/>
            <a:ext cx="1295400" cy="1371600"/>
          </a:xfrm>
        </p:spPr>
        <p:txBody>
          <a:bodyPr/>
          <a:lstStyle/>
          <a:p>
            <a:endParaRPr lang="en-US" dirty="0"/>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76200"/>
            <a:ext cx="1493948" cy="817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a:t>Click to edit Master title style</a:t>
            </a:r>
          </a:p>
        </p:txBody>
      </p:sp>
      <p:sp>
        <p:nvSpPr>
          <p:cNvPr id="3" name="Content Placeholder 2"/>
          <p:cNvSpPr>
            <a:spLocks noGrp="1"/>
          </p:cNvSpPr>
          <p:nvPr>
            <p:ph idx="1"/>
          </p:nvPr>
        </p:nvSpPr>
        <p:spPr>
          <a:solidFill>
            <a:schemeClr val="bg1"/>
          </a:solidFill>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5BECEFF-CABA-4663-9303-26F38EDB8A0C}" type="datetime1">
              <a:rPr lang="en-US" smtClean="0"/>
              <a:t>3/20/2026</a:t>
            </a:fld>
            <a:endParaRPr lang="en-US"/>
          </a:p>
        </p:txBody>
      </p:sp>
      <p:sp>
        <p:nvSpPr>
          <p:cNvPr id="5" name="Footer Placeholder 4"/>
          <p:cNvSpPr>
            <a:spLocks noGrp="1"/>
          </p:cNvSpPr>
          <p:nvPr>
            <p:ph type="ftr" sz="quarter" idx="11"/>
          </p:nvPr>
        </p:nvSpPr>
        <p:spPr/>
        <p:txBody>
          <a:bodyPr/>
          <a:lstStyle/>
          <a:p>
            <a:r>
              <a:rPr lang="en-US" smtClean="0"/>
              <a:t>Vivek Kumart Sharma                BCSE0404X(TOC)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B6F31D-E045-49B4-87AE-C4FE0BD43D40}" type="datetime1">
              <a:rPr lang="en-US" smtClean="0"/>
              <a:t>3/20/2026</a:t>
            </a:fld>
            <a:endParaRPr lang="en-US"/>
          </a:p>
        </p:txBody>
      </p:sp>
      <p:sp>
        <p:nvSpPr>
          <p:cNvPr id="5" name="Footer Placeholder 4"/>
          <p:cNvSpPr>
            <a:spLocks noGrp="1"/>
          </p:cNvSpPr>
          <p:nvPr>
            <p:ph type="ftr" sz="quarter" idx="11"/>
          </p:nvPr>
        </p:nvSpPr>
        <p:spPr/>
        <p:txBody>
          <a:bodyPr/>
          <a:lstStyle/>
          <a:p>
            <a:r>
              <a:rPr lang="en-US" smtClean="0"/>
              <a:t>Vivek Kumart Sharma                BCSE0404X(TOC)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7E4F53C-BA77-4C9A-94FF-B72C3F300B3B}" type="datetime1">
              <a:rPr lang="en-US" smtClean="0"/>
              <a:t>3/20/2026</a:t>
            </a:fld>
            <a:endParaRPr lang="en-US"/>
          </a:p>
        </p:txBody>
      </p:sp>
      <p:sp>
        <p:nvSpPr>
          <p:cNvPr id="6" name="Footer Placeholder 5"/>
          <p:cNvSpPr>
            <a:spLocks noGrp="1"/>
          </p:cNvSpPr>
          <p:nvPr>
            <p:ph type="ftr" sz="quarter" idx="11"/>
          </p:nvPr>
        </p:nvSpPr>
        <p:spPr/>
        <p:txBody>
          <a:bodyPr/>
          <a:lstStyle/>
          <a:p>
            <a:r>
              <a:rPr lang="en-US" smtClean="0"/>
              <a:t>Vivek Kumart Sharma                BCSE0404X(TOC)                     Unit III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13A8413-E9C7-48CD-B592-328F63F4D2F6}" type="datetime1">
              <a:rPr lang="en-US" smtClean="0"/>
              <a:t>3/20/2026</a:t>
            </a:fld>
            <a:endParaRPr lang="en-US"/>
          </a:p>
        </p:txBody>
      </p:sp>
      <p:sp>
        <p:nvSpPr>
          <p:cNvPr id="8" name="Footer Placeholder 7"/>
          <p:cNvSpPr>
            <a:spLocks noGrp="1"/>
          </p:cNvSpPr>
          <p:nvPr>
            <p:ph type="ftr" sz="quarter" idx="11"/>
          </p:nvPr>
        </p:nvSpPr>
        <p:spPr/>
        <p:txBody>
          <a:bodyPr/>
          <a:lstStyle/>
          <a:p>
            <a:r>
              <a:rPr lang="en-US" smtClean="0"/>
              <a:t>Vivek Kumart Sharma                BCSE0404X(TOC)                     Unit III</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0AB021A-D504-41D3-9E63-0FFA7B59362D}" type="datetime1">
              <a:rPr lang="en-US" smtClean="0"/>
              <a:t>3/20/2026</a:t>
            </a:fld>
            <a:endParaRPr lang="en-US"/>
          </a:p>
        </p:txBody>
      </p:sp>
      <p:sp>
        <p:nvSpPr>
          <p:cNvPr id="4" name="Footer Placeholder 3"/>
          <p:cNvSpPr>
            <a:spLocks noGrp="1"/>
          </p:cNvSpPr>
          <p:nvPr>
            <p:ph type="ftr" sz="quarter" idx="11"/>
          </p:nvPr>
        </p:nvSpPr>
        <p:spPr/>
        <p:txBody>
          <a:bodyPr/>
          <a:lstStyle/>
          <a:p>
            <a:r>
              <a:rPr lang="en-US" smtClean="0"/>
              <a:t>Vivek Kumart Sharma                BCSE0404X(TOC)                     Unit III</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66BD31-DDD7-4619-8775-A454A238D0FC}" type="datetime1">
              <a:rPr lang="en-US" smtClean="0"/>
              <a:t>3/20/2026</a:t>
            </a:fld>
            <a:endParaRPr lang="en-US"/>
          </a:p>
        </p:txBody>
      </p:sp>
      <p:sp>
        <p:nvSpPr>
          <p:cNvPr id="3" name="Footer Placeholder 2"/>
          <p:cNvSpPr>
            <a:spLocks noGrp="1"/>
          </p:cNvSpPr>
          <p:nvPr>
            <p:ph type="ftr" sz="quarter" idx="11"/>
          </p:nvPr>
        </p:nvSpPr>
        <p:spPr/>
        <p:txBody>
          <a:bodyPr/>
          <a:lstStyle/>
          <a:p>
            <a:r>
              <a:rPr lang="en-US" smtClean="0"/>
              <a:t>Vivek Kumart Sharma                BCSE0404X(TOC)                     Unit III</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7181C1-F0BD-457C-B5FD-0DA037522722}" type="datetime1">
              <a:rPr lang="en-US" smtClean="0"/>
              <a:t>3/20/2026</a:t>
            </a:fld>
            <a:endParaRPr lang="en-US"/>
          </a:p>
        </p:txBody>
      </p:sp>
      <p:sp>
        <p:nvSpPr>
          <p:cNvPr id="6" name="Footer Placeholder 5"/>
          <p:cNvSpPr>
            <a:spLocks noGrp="1"/>
          </p:cNvSpPr>
          <p:nvPr>
            <p:ph type="ftr" sz="quarter" idx="11"/>
          </p:nvPr>
        </p:nvSpPr>
        <p:spPr/>
        <p:txBody>
          <a:bodyPr/>
          <a:lstStyle/>
          <a:p>
            <a:r>
              <a:rPr lang="en-US" smtClean="0"/>
              <a:t>Vivek Kumart Sharma                BCSE0404X(TOC)                     Unit III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E064BE-AC2D-40A9-8697-08AD6D8F809B}" type="datetime1">
              <a:rPr lang="en-US" smtClean="0"/>
              <a:t>3/20/2026</a:t>
            </a:fld>
            <a:endParaRPr lang="en-US"/>
          </a:p>
        </p:txBody>
      </p:sp>
      <p:sp>
        <p:nvSpPr>
          <p:cNvPr id="6" name="Footer Placeholder 5"/>
          <p:cNvSpPr>
            <a:spLocks noGrp="1"/>
          </p:cNvSpPr>
          <p:nvPr>
            <p:ph type="ftr" sz="quarter" idx="11"/>
          </p:nvPr>
        </p:nvSpPr>
        <p:spPr/>
        <p:txBody>
          <a:bodyPr/>
          <a:lstStyle/>
          <a:p>
            <a:r>
              <a:rPr lang="en-US" smtClean="0"/>
              <a:t>Vivek Kumart Sharma                BCSE0404X(TOC)                     Unit III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44FAC2-8F1F-4891-874F-05ECA03DE5BF}" type="datetime1">
              <a:rPr lang="en-US" smtClean="0"/>
              <a:t>3/20/2026</a:t>
            </a:fld>
            <a:endParaRPr lang="en-US"/>
          </a:p>
        </p:txBody>
      </p:sp>
      <p:sp>
        <p:nvSpPr>
          <p:cNvPr id="5" name="Footer Placeholder 4"/>
          <p:cNvSpPr>
            <a:spLocks noGrp="1"/>
          </p:cNvSpPr>
          <p:nvPr>
            <p:ph type="ftr" sz="quarter" idx="11"/>
          </p:nvPr>
        </p:nvSpPr>
        <p:spPr/>
        <p:txBody>
          <a:bodyPr/>
          <a:lstStyle/>
          <a:p>
            <a:r>
              <a:rPr lang="en-US" smtClean="0"/>
              <a:t>Vivek Kumart Sharma                BCSE0404X(TOC)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7ED8A6-6793-4B77-9B55-84094FFD096D}" type="datetime1">
              <a:rPr lang="en-US" smtClean="0"/>
              <a:t>3/20/2026</a:t>
            </a:fld>
            <a:endParaRPr lang="en-US"/>
          </a:p>
        </p:txBody>
      </p:sp>
      <p:sp>
        <p:nvSpPr>
          <p:cNvPr id="5" name="Footer Placeholder 4"/>
          <p:cNvSpPr>
            <a:spLocks noGrp="1"/>
          </p:cNvSpPr>
          <p:nvPr>
            <p:ph type="ftr" sz="quarter" idx="11"/>
          </p:nvPr>
        </p:nvSpPr>
        <p:spPr/>
        <p:txBody>
          <a:bodyPr/>
          <a:lstStyle/>
          <a:p>
            <a:r>
              <a:rPr lang="en-US" smtClean="0"/>
              <a:t>Vivek Kumart Sharma                BCSE0404X(TOC)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CA699D-B086-4DE1-91CC-84FBFD7D77D8}" type="datetime1">
              <a:rPr lang="en-US" smtClean="0"/>
              <a:t>3/20/2026</a:t>
            </a:fld>
            <a:endParaRPr lang="en-US"/>
          </a:p>
        </p:txBody>
      </p:sp>
      <p:sp>
        <p:nvSpPr>
          <p:cNvPr id="5" name="Footer Placeholder 4"/>
          <p:cNvSpPr>
            <a:spLocks noGrp="1"/>
          </p:cNvSpPr>
          <p:nvPr>
            <p:ph type="ftr" sz="quarter" idx="11"/>
          </p:nvPr>
        </p:nvSpPr>
        <p:spPr/>
        <p:txBody>
          <a:bodyPr/>
          <a:lstStyle/>
          <a:p>
            <a:r>
              <a:rPr lang="en-US" smtClean="0"/>
              <a:t>Vivek Kumart Sharma                BCSE0404X(TOC)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0018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1670C9-A983-4B28-ADAA-17A84C52E7C4}" type="datetime1">
              <a:rPr lang="en-US" smtClean="0"/>
              <a:t>3/20/2026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Vivek Kumart Sharma                BCSE0404X(TOC)                     Unit III</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hyperlink" Target="https://www.youtube.com/watch?v=-aIRqNnUvEg&amp;list=PL85CF9F4A047C7BF7" TargetMode="External"/><Relationship Id="rId2" Type="http://schemas.openxmlformats.org/officeDocument/2006/relationships/hyperlink" Target="https://www.youtube.com/watch?v=6b40kKe2SFg" TargetMode="External"/><Relationship Id="rId1" Type="http://schemas.openxmlformats.org/officeDocument/2006/relationships/slideLayout" Target="../slideLayouts/slideLayout2.xml"/><Relationship Id="rId4" Type="http://schemas.openxmlformats.org/officeDocument/2006/relationships/hyperlink" Target="https://www.youtube.com/watch?v=Xk-MTgB68rQ"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24354" y="1"/>
            <a:ext cx="7719646" cy="800099"/>
          </a:xfrm>
        </p:spPr>
        <p:style>
          <a:lnRef idx="1">
            <a:schemeClr val="accent2"/>
          </a:lnRef>
          <a:fillRef idx="2">
            <a:schemeClr val="accent2"/>
          </a:fillRef>
          <a:effectRef idx="1">
            <a:schemeClr val="accent2"/>
          </a:effectRef>
          <a:fontRef idx="minor">
            <a:schemeClr val="dk1"/>
          </a:fontRef>
        </p:style>
        <p:txBody>
          <a:bodyPr>
            <a:noAutofit/>
          </a:bodyPr>
          <a:lstStyle/>
          <a:p>
            <a:r>
              <a:rPr lang="en-US" sz="2400" b="1" dirty="0">
                <a:latin typeface="Times New Roman" panose="02020603050405020304" pitchFamily="18" charset="0"/>
                <a:cs typeface="Times New Roman" panose="02020603050405020304" pitchFamily="18" charset="0"/>
              </a:rPr>
              <a:t>Noida Institute of Engineering and Technology, Greater Noida</a:t>
            </a:r>
          </a:p>
        </p:txBody>
      </p:sp>
      <p:sp>
        <p:nvSpPr>
          <p:cNvPr id="3" name="Subtitle 2"/>
          <p:cNvSpPr>
            <a:spLocks noGrp="1"/>
          </p:cNvSpPr>
          <p:nvPr>
            <p:ph type="subTitle" idx="1"/>
          </p:nvPr>
        </p:nvSpPr>
        <p:spPr>
          <a:xfrm>
            <a:off x="609600" y="914400"/>
            <a:ext cx="7772400" cy="1404505"/>
          </a:xfrm>
          <a:ln>
            <a:solidFill>
              <a:srgbClr val="FF9999"/>
            </a:solidFill>
          </a:ln>
        </p:spPr>
        <p:style>
          <a:lnRef idx="2">
            <a:schemeClr val="accent5"/>
          </a:lnRef>
          <a:fillRef idx="1">
            <a:schemeClr val="lt1"/>
          </a:fillRef>
          <a:effectRef idx="0">
            <a:schemeClr val="accent5"/>
          </a:effectRef>
          <a:fontRef idx="minor">
            <a:schemeClr val="dk1"/>
          </a:fontRef>
        </p:style>
        <p:txBody>
          <a:bodyPr anchor="ctr">
            <a:normAutofit/>
          </a:bodyPr>
          <a:lstStyle/>
          <a:p>
            <a:pPr lvl="0"/>
            <a:r>
              <a:rPr lang="en-US" sz="2200" b="1" dirty="0">
                <a:solidFill>
                  <a:schemeClr val="tx1"/>
                </a:solidFill>
                <a:latin typeface="Times New Roman" panose="02020603050405020304" pitchFamily="18" charset="0"/>
                <a:cs typeface="Times New Roman" panose="02020603050405020304" pitchFamily="18" charset="0"/>
              </a:rPr>
              <a:t>Theory of Computation</a:t>
            </a:r>
          </a:p>
          <a:p>
            <a:pPr lvl="0"/>
            <a:r>
              <a:rPr lang="en-US" sz="2200" b="1" dirty="0">
                <a:solidFill>
                  <a:schemeClr val="tx1"/>
                </a:solidFill>
                <a:latin typeface="Times New Roman" panose="02020603050405020304" pitchFamily="18" charset="0"/>
                <a:cs typeface="Times New Roman" panose="02020603050405020304" pitchFamily="18" charset="0"/>
              </a:rPr>
              <a:t>(BCSE0404X(TOC))</a:t>
            </a:r>
          </a:p>
          <a:p>
            <a:pPr>
              <a:defRPr/>
            </a:pP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a:xfrm>
            <a:off x="381000" y="6492875"/>
            <a:ext cx="2133600" cy="365125"/>
          </a:xfrm>
        </p:spPr>
        <p:txBody>
          <a:bodyPr/>
          <a:lstStyle/>
          <a:p>
            <a:fld id="{8CB3E4FC-23A3-44B8-B8C1-36FFDB31D251}" type="datetime1">
              <a:rPr lang="en-US" smtClean="0"/>
              <a:t>3/20/2026</a:t>
            </a:fld>
            <a:endParaRPr lang="en-US" dirty="0"/>
          </a:p>
        </p:txBody>
      </p:sp>
      <p:sp>
        <p:nvSpPr>
          <p:cNvPr id="13" name="Footer Placeholder 12"/>
          <p:cNvSpPr>
            <a:spLocks noGrp="1"/>
          </p:cNvSpPr>
          <p:nvPr>
            <p:ph type="ftr" sz="quarter" idx="11"/>
          </p:nvPr>
        </p:nvSpPr>
        <p:spPr>
          <a:xfrm>
            <a:off x="1905000" y="64166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12" name="Subtitle 2"/>
          <p:cNvSpPr txBox="1">
            <a:spLocks/>
          </p:cNvSpPr>
          <p:nvPr/>
        </p:nvSpPr>
        <p:spPr>
          <a:xfrm>
            <a:off x="152400" y="2971800"/>
            <a:ext cx="2057400" cy="533400"/>
          </a:xfrm>
          <a:prstGeom prst="rect">
            <a:avLst/>
          </a:prstGeom>
          <a:ln>
            <a:solidFill>
              <a:srgbClr val="FF9999"/>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a:solidFill>
                  <a:schemeClr val="tx1"/>
                </a:solidFill>
                <a:latin typeface="Times New Roman" panose="02020603050405020304" pitchFamily="18" charset="0"/>
                <a:cs typeface="Times New Roman" panose="02020603050405020304" pitchFamily="18" charset="0"/>
              </a:rPr>
              <a:t>Module</a:t>
            </a: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a:t>
            </a:r>
            <a:r>
              <a:rPr kumimoji="0" lang="en-US" sz="2000" b="1"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lang="en-US" sz="2000" b="1" noProof="0" dirty="0">
                <a:solidFill>
                  <a:schemeClr val="tx1"/>
                </a:solidFill>
                <a:latin typeface="Times New Roman" panose="02020603050405020304" pitchFamily="18" charset="0"/>
                <a:cs typeface="Times New Roman" panose="02020603050405020304" pitchFamily="18" charset="0"/>
              </a:rPr>
              <a:t>3</a:t>
            </a:r>
            <a:endPar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14" name="Subtitle 2"/>
          <p:cNvSpPr txBox="1">
            <a:spLocks/>
          </p:cNvSpPr>
          <p:nvPr/>
        </p:nvSpPr>
        <p:spPr>
          <a:xfrm>
            <a:off x="152400" y="3810000"/>
            <a:ext cx="4191000" cy="838200"/>
          </a:xfrm>
          <a:prstGeom prst="rect">
            <a:avLst/>
          </a:prstGeom>
          <a:ln>
            <a:solidFill>
              <a:srgbClr val="FF9999"/>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p>
            <a:pPr lvl="0" algn="ctr">
              <a:spcBef>
                <a:spcPct val="20000"/>
              </a:spcBef>
              <a:defRPr/>
            </a:pPr>
            <a:r>
              <a:rPr lang="en-US" sz="2000" b="1" dirty="0">
                <a:latin typeface="Times New Roman" panose="02020603050405020304" pitchFamily="18" charset="0"/>
                <a:cs typeface="Times New Roman" panose="02020603050405020304" pitchFamily="18" charset="0"/>
              </a:rPr>
              <a:t>Context Free Grammar and Push Down Automata</a:t>
            </a:r>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15" name="Subtitle 2"/>
          <p:cNvSpPr txBox="1">
            <a:spLocks/>
          </p:cNvSpPr>
          <p:nvPr/>
        </p:nvSpPr>
        <p:spPr>
          <a:xfrm>
            <a:off x="152400" y="4876800"/>
            <a:ext cx="4191000" cy="838200"/>
          </a:xfrm>
          <a:prstGeom prst="rect">
            <a:avLst/>
          </a:prstGeom>
          <a:ln>
            <a:solidFill>
              <a:srgbClr val="FF9999"/>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Course</a:t>
            </a:r>
            <a:r>
              <a:rPr kumimoji="0" lang="en-US" sz="2000" b="1"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Details</a:t>
            </a:r>
            <a:br>
              <a:rPr kumimoji="0" lang="en-US" sz="2000" b="1"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br>
            <a:r>
              <a:rPr kumimoji="0" lang="en-US" sz="2000" b="1"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a:t>
            </a:r>
            <a:r>
              <a:rPr kumimoji="0" lang="en-US" sz="2000" b="1" i="0" u="none" strike="noStrike" kern="1200" cap="none" spc="0" normalizeH="0" noProof="0" dirty="0" err="1">
                <a:ln>
                  <a:noFill/>
                </a:ln>
                <a:solidFill>
                  <a:schemeClr val="tx1"/>
                </a:solidFill>
                <a:effectLst/>
                <a:uLnTx/>
                <a:uFillTx/>
                <a:latin typeface="Times New Roman" panose="02020603050405020304" pitchFamily="18" charset="0"/>
                <a:cs typeface="Times New Roman" panose="02020603050405020304" pitchFamily="18" charset="0"/>
              </a:rPr>
              <a:t>B.Tech</a:t>
            </a:r>
            <a:r>
              <a:rPr kumimoji="0" lang="en-US" sz="2000" b="1"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lang="en-US" sz="2000" b="1" dirty="0" smtClean="0">
                <a:solidFill>
                  <a:schemeClr val="tx1"/>
                </a:solidFill>
                <a:latin typeface="Times New Roman" panose="02020603050405020304" pitchFamily="18" charset="0"/>
                <a:cs typeface="Times New Roman" panose="02020603050405020304" pitchFamily="18" charset="0"/>
              </a:rPr>
              <a:t>CSE</a:t>
            </a:r>
            <a:r>
              <a:rPr kumimoji="0" lang="en-US" sz="2000" b="1" i="0" u="none" strike="noStrike" kern="1200" cap="none" spc="0" normalizeH="0" noProof="0" dirty="0" smtClean="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000" b="1"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4</a:t>
            </a:r>
            <a:r>
              <a:rPr kumimoji="0" lang="en-US" sz="2000" b="1" i="0" u="none" strike="noStrike" kern="1200" cap="none" spc="0" normalizeH="0" baseline="30000" noProof="0" dirty="0">
                <a:ln>
                  <a:noFill/>
                </a:ln>
                <a:solidFill>
                  <a:schemeClr val="tx1"/>
                </a:solidFill>
                <a:effectLst/>
                <a:uLnTx/>
                <a:uFillTx/>
                <a:latin typeface="Times New Roman" panose="02020603050405020304" pitchFamily="18" charset="0"/>
                <a:cs typeface="Times New Roman" panose="02020603050405020304" pitchFamily="18" charset="0"/>
              </a:rPr>
              <a:t>th</a:t>
            </a:r>
            <a:r>
              <a:rPr kumimoji="0" lang="en-US" sz="2000" b="1"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2000" b="1" i="0" u="none" strike="noStrike" kern="1200" cap="none" spc="0" normalizeH="0" noProof="0" dirty="0" err="1">
                <a:ln>
                  <a:noFill/>
                </a:ln>
                <a:solidFill>
                  <a:schemeClr val="tx1"/>
                </a:solidFill>
                <a:effectLst/>
                <a:uLnTx/>
                <a:uFillTx/>
                <a:latin typeface="Times New Roman" panose="02020603050405020304" pitchFamily="18" charset="0"/>
                <a:cs typeface="Times New Roman" panose="02020603050405020304" pitchFamily="18" charset="0"/>
              </a:rPr>
              <a:t>Sem</a:t>
            </a:r>
            <a:r>
              <a:rPr kumimoji="0" lang="en-US" sz="2000" b="1"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a:t>
            </a:r>
            <a:endPar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19" name="Subtitle 2"/>
          <p:cNvSpPr txBox="1">
            <a:spLocks/>
          </p:cNvSpPr>
          <p:nvPr/>
        </p:nvSpPr>
        <p:spPr>
          <a:xfrm>
            <a:off x="5562600" y="4400550"/>
            <a:ext cx="2971800" cy="1314450"/>
          </a:xfrm>
          <a:prstGeom prst="rect">
            <a:avLst/>
          </a:prstGeom>
          <a:ln>
            <a:solidFill>
              <a:srgbClr val="FF9999"/>
            </a:solidFill>
          </a:ln>
        </p:spPr>
        <p:style>
          <a:lnRef idx="2">
            <a:schemeClr val="accent5"/>
          </a:lnRef>
          <a:fillRef idx="1">
            <a:schemeClr val="lt1"/>
          </a:fillRef>
          <a:effectRef idx="0">
            <a:schemeClr val="accent5"/>
          </a:effectRef>
          <a:fontRef idx="minor">
            <a:schemeClr val="dk1"/>
          </a:fontRef>
        </p:style>
        <p:txBody>
          <a:bodyPr vert="horz" lIns="68580" tIns="34290" rIns="68580" bIns="34290" rtlCol="0">
            <a:noAutofit/>
          </a:bodyPr>
          <a:lstStyle/>
          <a:p>
            <a:pPr algn="ctr" fontAlgn="auto">
              <a:spcBef>
                <a:spcPct val="20000"/>
              </a:spcBef>
              <a:spcAft>
                <a:spcPts val="0"/>
              </a:spcAft>
              <a:buFont typeface="Arial" pitchFamily="34" charset="0"/>
              <a:buNone/>
            </a:pPr>
            <a:r>
              <a:rPr lang="en-US" sz="2000" b="1" dirty="0" smtClean="0">
                <a:solidFill>
                  <a:schemeClr val="tx1"/>
                </a:solidFill>
                <a:latin typeface="Times New Roman" panose="02020603050405020304" pitchFamily="18" charset="0"/>
                <a:cs typeface="Times New Roman" panose="02020603050405020304" pitchFamily="18" charset="0"/>
              </a:rPr>
              <a:t>Vivek Kumar Sharma</a:t>
            </a:r>
            <a:endParaRPr lang="en-US" sz="2000" b="1" dirty="0">
              <a:solidFill>
                <a:schemeClr val="tx1"/>
              </a:solidFill>
              <a:latin typeface="Times New Roman" panose="02020603050405020304" pitchFamily="18" charset="0"/>
              <a:cs typeface="Times New Roman" panose="02020603050405020304" pitchFamily="18" charset="0"/>
            </a:endParaRPr>
          </a:p>
          <a:p>
            <a:pPr algn="ctr" fontAlgn="auto">
              <a:spcBef>
                <a:spcPct val="20000"/>
              </a:spcBef>
              <a:spcAft>
                <a:spcPts val="0"/>
              </a:spcAft>
              <a:buFont typeface="Arial" pitchFamily="34" charset="0"/>
              <a:buNone/>
            </a:pPr>
            <a:r>
              <a:rPr lang="en-US" sz="2000" b="1" dirty="0">
                <a:solidFill>
                  <a:schemeClr val="tx1"/>
                </a:solidFill>
                <a:latin typeface="Times New Roman" panose="02020603050405020304" pitchFamily="18" charset="0"/>
                <a:cs typeface="Times New Roman" panose="02020603050405020304" pitchFamily="18" charset="0"/>
              </a:rPr>
              <a:t>Assistant Professor</a:t>
            </a:r>
          </a:p>
          <a:p>
            <a:pPr algn="ctr" fontAlgn="auto">
              <a:spcBef>
                <a:spcPct val="20000"/>
              </a:spcBef>
              <a:spcAft>
                <a:spcPts val="0"/>
              </a:spcAft>
              <a:buFont typeface="Arial" pitchFamily="34" charset="0"/>
              <a:buNone/>
            </a:pPr>
            <a:r>
              <a:rPr lang="en-US" sz="2000" b="1" dirty="0" smtClean="0">
                <a:solidFill>
                  <a:schemeClr val="tx1"/>
                </a:solidFill>
                <a:latin typeface="Times New Roman" panose="02020603050405020304" pitchFamily="18" charset="0"/>
                <a:cs typeface="Times New Roman" panose="02020603050405020304" pitchFamily="18" charset="0"/>
              </a:rPr>
              <a:t>(CSE </a:t>
            </a:r>
            <a:r>
              <a:rPr lang="en-US" sz="2000" b="1" dirty="0">
                <a:solidFill>
                  <a:schemeClr val="tx1"/>
                </a:solidFill>
                <a:latin typeface="Times New Roman" panose="02020603050405020304" pitchFamily="18" charset="0"/>
                <a:cs typeface="Times New Roman" panose="02020603050405020304" pitchFamily="18" charset="0"/>
              </a:rPr>
              <a:t>Department)</a:t>
            </a:r>
          </a:p>
        </p:txBody>
      </p:sp>
    </p:spTree>
    <p:extLst>
      <p:ext uri="{BB962C8B-B14F-4D97-AF65-F5344CB8AC3E}">
        <p14:creationId xmlns:p14="http://schemas.microsoft.com/office/powerpoint/2010/main" val="646788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441175"/>
            <a:ext cx="8229600" cy="3935620"/>
          </a:xfrm>
        </p:spPr>
        <p:txBody>
          <a:bodyPr>
            <a:normAutofit/>
          </a:bodyPr>
          <a:lstStyle/>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289638D-E8A9-41C0-AAC2-89431302E9B3}" type="datetime1">
              <a:rPr lang="en-US" smtClean="0">
                <a:solidFill>
                  <a:schemeClr val="tx1"/>
                </a:solidFill>
              </a:rPr>
              <a:t>3/20/2026</a:t>
            </a:fld>
            <a:endParaRPr lang="en-US">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schemeClr val="tx1"/>
                </a:solidFill>
              </a:rPr>
              <a:pPr/>
              <a:t>2</a:t>
            </a:fld>
            <a:endParaRPr lang="en-US">
              <a:solidFill>
                <a:schemeClr val="tx1"/>
              </a:solidFill>
            </a:endParaRPr>
          </a:p>
        </p:txBody>
      </p:sp>
      <p:sp>
        <p:nvSpPr>
          <p:cNvPr id="7" name="Title 1"/>
          <p:cNvSpPr txBox="1">
            <a:spLocks/>
          </p:cNvSpPr>
          <p:nvPr/>
        </p:nvSpPr>
        <p:spPr>
          <a:xfrm>
            <a:off x="1371600" y="0"/>
            <a:ext cx="7772400" cy="762000"/>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p>
            <a:pPr algn="ctr" defTabSz="795162">
              <a:spcBef>
                <a:spcPct val="0"/>
              </a:spcBef>
              <a:defRPr/>
            </a:pPr>
            <a:r>
              <a:rPr lang="en-US" sz="2400" b="1" dirty="0">
                <a:solidFill>
                  <a:schemeClr val="tx1"/>
                </a:solidFill>
                <a:latin typeface="Times New Roman" panose="02020603050405020304" pitchFamily="18" charset="0"/>
                <a:cs typeface="Times New Roman" panose="02020603050405020304" pitchFamily="18" charset="0"/>
              </a:rPr>
              <a:t>Faculty Profile</a:t>
            </a:r>
          </a:p>
        </p:txBody>
      </p:sp>
      <p:pic>
        <p:nvPicPr>
          <p:cNvPr id="9" name="Picture 15" descr="A black and red logo&#10;&#10;Description automatically generated"/>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3328"/>
            <a:ext cx="1371600" cy="81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ooter Placeholder 12"/>
          <p:cNvSpPr>
            <a:spLocks noGrp="1"/>
          </p:cNvSpPr>
          <p:nvPr>
            <p:ph type="ftr" sz="quarter" idx="11"/>
          </p:nvPr>
        </p:nvSpPr>
        <p:spPr>
          <a:xfrm>
            <a:off x="1905000" y="64008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7170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7E32102-00B1-481F-98D5-CF1B7C3E2C06}" type="datetime1">
              <a:rPr lang="en-US" smtClean="0"/>
              <a:t>3/20/2026</a:t>
            </a:fld>
            <a:endParaRPr lang="en-US"/>
          </a:p>
        </p:txBody>
      </p:sp>
      <p:sp>
        <p:nvSpPr>
          <p:cNvPr id="410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13527817-3BF6-4943-9766-5C5666C99F2B}" type="slidenum">
              <a:rPr lang="en-US" altLang="en-US" smtClean="0">
                <a:solidFill>
                  <a:srgbClr val="898989"/>
                </a:solidFill>
                <a:latin typeface="Calibri" pitchFamily="34" charset="0"/>
              </a:rPr>
              <a:pPr/>
              <a:t>3</a:t>
            </a:fld>
            <a:endParaRPr lang="en-US" altLang="en-US">
              <a:solidFill>
                <a:srgbClr val="898989"/>
              </a:solidFill>
              <a:latin typeface="Calibri" pitchFamily="34" charset="0"/>
            </a:endParaRPr>
          </a:p>
        </p:txBody>
      </p:sp>
      <p:sp>
        <p:nvSpPr>
          <p:cNvPr id="7" name="Title 1"/>
          <p:cNvSpPr txBox="1">
            <a:spLocks/>
          </p:cNvSpPr>
          <p:nvPr/>
        </p:nvSpPr>
        <p:spPr>
          <a:xfrm>
            <a:off x="1600200" y="0"/>
            <a:ext cx="7543800" cy="838202"/>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eaLnBrk="1" fontAlgn="auto" hangingPunct="1">
              <a:spcAft>
                <a:spcPts val="0"/>
              </a:spcAft>
              <a:defRPr/>
            </a:pPr>
            <a:r>
              <a:rPr lang="en-US" sz="2400" b="1" dirty="0">
                <a:latin typeface="Times New Roman" panose="02020603050405020304" pitchFamily="18" charset="0"/>
                <a:cs typeface="Times New Roman" panose="02020603050405020304" pitchFamily="18" charset="0"/>
              </a:rPr>
              <a:t>Evaluation Scheme</a:t>
            </a:r>
          </a:p>
        </p:txBody>
      </p:sp>
      <p:sp>
        <p:nvSpPr>
          <p:cNvPr id="9"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3E13319-798A-FFDE-1ACA-54E1F2028646}"/>
              </a:ext>
            </a:extLst>
          </p:cNvPr>
          <p:cNvPicPr>
            <a:picLocks noChangeAspect="1"/>
          </p:cNvPicPr>
          <p:nvPr/>
        </p:nvPicPr>
        <p:blipFill>
          <a:blip r:embed="rId2"/>
          <a:stretch>
            <a:fillRect/>
          </a:stretch>
        </p:blipFill>
        <p:spPr>
          <a:xfrm>
            <a:off x="457200" y="959906"/>
            <a:ext cx="8381999" cy="5212294"/>
          </a:xfrm>
          <a:prstGeom prst="rect">
            <a:avLst/>
          </a:prstGeom>
        </p:spPr>
      </p:pic>
    </p:spTree>
    <p:extLst>
      <p:ext uri="{BB962C8B-B14F-4D97-AF65-F5344CB8AC3E}">
        <p14:creationId xmlns:p14="http://schemas.microsoft.com/office/powerpoint/2010/main" val="1215183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7DF04B9B-D0B0-4294-B0D3-8E7368143337}" type="datetime1">
              <a:rPr lang="en-US" smtClean="0"/>
              <a:t>3/20/2026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dirty="0"/>
          </a:p>
        </p:txBody>
      </p:sp>
      <p:sp>
        <p:nvSpPr>
          <p:cNvPr id="8" name="Title 1"/>
          <p:cNvSpPr txBox="1">
            <a:spLocks/>
          </p:cNvSpPr>
          <p:nvPr/>
        </p:nvSpPr>
        <p:spPr>
          <a:xfrm>
            <a:off x="1600200" y="1"/>
            <a:ext cx="7543800" cy="838201"/>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Syllabus</a:t>
            </a:r>
          </a:p>
        </p:txBody>
      </p:sp>
      <p:sp>
        <p:nvSpPr>
          <p:cNvPr id="11" name="Footer Placeholder 12"/>
          <p:cNvSpPr>
            <a:spLocks noGrp="1"/>
          </p:cNvSpPr>
          <p:nvPr>
            <p:ph type="ftr" sz="quarter" idx="11"/>
          </p:nvPr>
        </p:nvSpPr>
        <p:spPr>
          <a:xfrm>
            <a:off x="1905000" y="64166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95682DD-B01B-D86E-E46F-7A83CEDF7FA8}"/>
              </a:ext>
            </a:extLst>
          </p:cNvPr>
          <p:cNvPicPr>
            <a:picLocks noChangeAspect="1"/>
          </p:cNvPicPr>
          <p:nvPr/>
        </p:nvPicPr>
        <p:blipFill>
          <a:blip r:embed="rId3"/>
          <a:srcRect t="3243" b="8556"/>
          <a:stretch>
            <a:fillRect/>
          </a:stretch>
        </p:blipFill>
        <p:spPr>
          <a:xfrm>
            <a:off x="228601" y="898527"/>
            <a:ext cx="8839200" cy="5397497"/>
          </a:xfrm>
          <a:prstGeom prst="rect">
            <a:avLst/>
          </a:prstGeom>
        </p:spPr>
      </p:pic>
    </p:spTree>
    <p:extLst>
      <p:ext uri="{BB962C8B-B14F-4D97-AF65-F5344CB8AC3E}">
        <p14:creationId xmlns:p14="http://schemas.microsoft.com/office/powerpoint/2010/main" val="15564964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893C8837-6BD4-4C8E-B427-0C387CA7B267}" type="datetime1">
              <a:rPr lang="en-US" smtClean="0"/>
              <a:t>3/20/2026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a:t>
            </a:fld>
            <a:endParaRPr lang="en-US"/>
          </a:p>
        </p:txBody>
      </p:sp>
      <p:sp>
        <p:nvSpPr>
          <p:cNvPr id="8" name="Title 1"/>
          <p:cNvSpPr txBox="1">
            <a:spLocks/>
          </p:cNvSpPr>
          <p:nvPr/>
        </p:nvSpPr>
        <p:spPr>
          <a:xfrm>
            <a:off x="1676400" y="0"/>
            <a:ext cx="7467600" cy="81716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40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Branch Wise Applications</a:t>
            </a:r>
          </a:p>
        </p:txBody>
      </p:sp>
      <p:sp>
        <p:nvSpPr>
          <p:cNvPr id="9" name="Content Placeholder 2"/>
          <p:cNvSpPr>
            <a:spLocks noGrp="1"/>
          </p:cNvSpPr>
          <p:nvPr>
            <p:ph idx="1"/>
          </p:nvPr>
        </p:nvSpPr>
        <p:spPr>
          <a:xfrm>
            <a:off x="579120" y="1334293"/>
            <a:ext cx="8107680" cy="4525963"/>
          </a:xfrm>
        </p:spPr>
        <p:txBody>
          <a:bodyPr>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It can compute man-made problems as well as natural phenomena. </a:t>
            </a:r>
          </a:p>
          <a:p>
            <a:pPr algn="just">
              <a:lnSpc>
                <a:spcPct val="150000"/>
              </a:lnSpc>
            </a:pPr>
            <a:r>
              <a:rPr lang="en-US" sz="2000" dirty="0">
                <a:latin typeface="Times New Roman" panose="02020603050405020304" pitchFamily="18" charset="0"/>
                <a:cs typeface="Times New Roman" panose="02020603050405020304" pitchFamily="18" charset="0"/>
              </a:rPr>
              <a:t>Automata theory has a lot of applications in real life as well, such that: Lambda calculus, Combinatory logic, Markov algorithm, and Register, Natural Language Processing ,Compiler Design and Lexical analysis and Semantic analysis. Also, the concept of Formal languages and automata theory can overlap with other subjects as well.</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11"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0626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F2812E9-C3BC-40AA-977E-AEC76A9C61C4}"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noGrp="1"/>
          </p:cNvSpPr>
          <p:nvPr>
            <p:ph type="title"/>
          </p:nvPr>
        </p:nvSpPr>
        <p:spPr>
          <a:xfrm>
            <a:off x="1371600" y="0"/>
            <a:ext cx="7772400" cy="7620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r>
              <a:rPr lang="en-US" sz="2400" b="1" dirty="0">
                <a:latin typeface="Times New Roman" panose="02020603050405020304" pitchFamily="18" charset="0"/>
                <a:cs typeface="Times New Roman" panose="02020603050405020304" pitchFamily="18" charset="0"/>
              </a:rPr>
              <a:t>Course Objectives</a:t>
            </a:r>
          </a:p>
        </p:txBody>
      </p:sp>
      <p:pic>
        <p:nvPicPr>
          <p:cNvPr id="8" name="Picture 15" descr="A black and red logo&#10;&#10;Description automatically generated"/>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71600" cy="838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p:cNvSpPr>
            <a:spLocks noGrp="1"/>
          </p:cNvSpPr>
          <p:nvPr>
            <p:ph idx="1"/>
          </p:nvPr>
        </p:nvSpPr>
        <p:spPr>
          <a:xfrm>
            <a:off x="438150" y="1143003"/>
            <a:ext cx="8248650" cy="4525963"/>
          </a:xfrm>
        </p:spPr>
        <p:txBody>
          <a:bodyPr>
            <a:normAutofit/>
          </a:bodyPr>
          <a:lstStyle/>
          <a:p>
            <a:pPr marL="0" indent="0" algn="just">
              <a:buNone/>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The primary objective of this course is to provide a foundational understanding of Automata Theory and its role in the language processing systems, also explores their application in fields like Natural Language Processing (NLP), speech recognition.</a:t>
            </a: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10" name="Footer Placeholder 12"/>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0057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305800" cy="3505200"/>
          </a:xfrm>
        </p:spPr>
        <p:txBody>
          <a:bodyPr>
            <a:normAutofit/>
          </a:bodyPr>
          <a:lstStyle/>
          <a:p>
            <a:pPr marL="0" indent="0" algn="ctr">
              <a:buNone/>
            </a:pPr>
            <a:r>
              <a:rPr lang="en-US" sz="2000" b="1" dirty="0">
                <a:latin typeface="Times New Roman" panose="02020603050405020304" pitchFamily="18" charset="0"/>
                <a:cs typeface="Times New Roman" panose="02020603050405020304" pitchFamily="18" charset="0"/>
              </a:rPr>
              <a:t>Module-3</a:t>
            </a:r>
          </a:p>
          <a:p>
            <a:pPr marL="0" lvl="0" indent="0" algn="ctr">
              <a:buNone/>
            </a:pPr>
            <a:r>
              <a:rPr lang="en-US" sz="2000" b="1" dirty="0">
                <a:latin typeface="Times New Roman" panose="02020603050405020304" pitchFamily="18" charset="0"/>
                <a:cs typeface="Times New Roman" panose="02020603050405020304" pitchFamily="18" charset="0"/>
              </a:rPr>
              <a:t>Context Free Grammar and Push Down Automata</a:t>
            </a:r>
          </a:p>
          <a:p>
            <a:pPr marL="0" lvl="0" indent="0" algn="ctr">
              <a:buNone/>
            </a:pPr>
            <a:endParaRPr lang="en-US" sz="2000" b="1" dirty="0">
              <a:latin typeface="Times New Roman" panose="02020603050405020304" pitchFamily="18" charset="0"/>
              <a:cs typeface="Times New Roman" panose="02020603050405020304" pitchFamily="18" charset="0"/>
            </a:endParaRPr>
          </a:p>
          <a:p>
            <a:pPr marL="0" lvl="0" indent="0" algn="just">
              <a:lnSpc>
                <a:spcPct val="150000"/>
              </a:lnSpc>
              <a:buNone/>
            </a:pPr>
            <a:r>
              <a:rPr lang="en-US" sz="2000" dirty="0">
                <a:latin typeface="Times New Roman" panose="02020603050405020304" pitchFamily="18" charset="0"/>
                <a:cs typeface="Times New Roman" panose="02020603050405020304" pitchFamily="18" charset="0"/>
              </a:rPr>
              <a:t>Context Free Grammar (CFG): Definition and Language, Derivations, Parse Trees and Ambiguity, Simplification of CFG, Push Down Automata: Definition of the Pushdown Automata, Languages of PDA</a:t>
            </a:r>
            <a:endParaRPr lang="en-US" sz="2400" b="1" dirty="0">
              <a:latin typeface="Times New Roman" panose="02020603050405020304" pitchFamily="18" charset="0"/>
              <a:cs typeface="Times New Roman" panose="02020603050405020304" pitchFamily="18" charset="0"/>
            </a:endParaRPr>
          </a:p>
          <a:p>
            <a:endParaRPr lang="en-US" sz="2400" b="1" dirty="0">
              <a:solidFill>
                <a:schemeClr val="dk1"/>
              </a:solidFill>
              <a:latin typeface="Times New Roman" panose="02020603050405020304" pitchFamily="18" charset="0"/>
              <a:cs typeface="Times New Roman" panose="02020603050405020304" pitchFamily="18" charset="0"/>
            </a:endParaRPr>
          </a:p>
          <a:p>
            <a:pPr marL="0" lvl="0" indent="0">
              <a:buNone/>
            </a:pPr>
            <a:endParaRPr lang="en-US" sz="2400" b="1" dirty="0">
              <a:solidFill>
                <a:schemeClr val="dk1"/>
              </a:solidFill>
              <a:latin typeface="Times New Roman" panose="02020603050405020304" pitchFamily="18" charset="0"/>
              <a:cs typeface="Times New Roman" panose="02020603050405020304" pitchFamily="18" charset="0"/>
            </a:endParaRPr>
          </a:p>
          <a:p>
            <a:pPr lvl="0"/>
            <a:endParaRPr lang="en-US" sz="2400" b="1" dirty="0">
              <a:solidFill>
                <a:schemeClr val="dk1"/>
              </a:solidFill>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a:p>
            <a:pPr lvl="0"/>
            <a:endParaRPr lang="en-US" sz="2400" dirty="0">
              <a:solidFill>
                <a:schemeClr val="dk1"/>
              </a:solidFill>
              <a:latin typeface="Times New Roman" panose="02020603050405020304" pitchFamily="18" charset="0"/>
              <a:cs typeface="Times New Roman" panose="02020603050405020304" pitchFamily="18" charset="0"/>
            </a:endParaRPr>
          </a:p>
          <a:p>
            <a:endParaRPr lang="en-US" sz="2400" dirty="0">
              <a:solidFill>
                <a:schemeClr val="dk1"/>
              </a:solidFill>
              <a:latin typeface="Times New Roman" panose="02020603050405020304" pitchFamily="18" charset="0"/>
              <a:cs typeface="Times New Roman" panose="02020603050405020304" pitchFamily="18" charset="0"/>
            </a:endParaRPr>
          </a:p>
          <a:p>
            <a:pPr lvl="0"/>
            <a:endParaRPr lang="en-US" sz="2400" dirty="0">
              <a:solidFill>
                <a:schemeClr val="dk1"/>
              </a:solidFill>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B2065510-677B-4FEE-BB54-A178A1BCA5A2}" type="datetime1">
              <a:rPr lang="en-US" smtClean="0"/>
              <a:t>3/20/2026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a:t>
            </a:fld>
            <a:endParaRPr lang="en-US" dirty="0"/>
          </a:p>
        </p:txBody>
      </p:sp>
      <p:sp>
        <p:nvSpPr>
          <p:cNvPr id="8" name="Title 1"/>
          <p:cNvSpPr txBox="1">
            <a:spLocks/>
          </p:cNvSpPr>
          <p:nvPr/>
        </p:nvSpPr>
        <p:spPr>
          <a:xfrm>
            <a:off x="1371600" y="1"/>
            <a:ext cx="7772400" cy="838201"/>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UNIT III Syllabus</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11" name="Picture 15" descr="A black and red logo&#10;&#10;Description automatically generated"/>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371600" cy="838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ooter Placeholder 12"/>
          <p:cNvSpPr>
            <a:spLocks noGrp="1"/>
          </p:cNvSpPr>
          <p:nvPr>
            <p:ph type="ftr" sz="quarter" idx="11"/>
          </p:nvPr>
        </p:nvSpPr>
        <p:spPr>
          <a:xfrm>
            <a:off x="1905000" y="6324600"/>
            <a:ext cx="5410200" cy="365125"/>
          </a:xfrm>
        </p:spPr>
        <p:txBody>
          <a:bodyPr/>
          <a:lstStyle/>
          <a:p>
            <a:r>
              <a:rPr lang="en-US" smtClean="0"/>
              <a:t>Vivek Kumart Sharma                BCSE0404X(TOC)                     Unit III</a:t>
            </a:r>
            <a:endParaRPr lang="en-US" dirty="0"/>
          </a:p>
        </p:txBody>
      </p:sp>
    </p:spTree>
    <p:extLst>
      <p:ext uri="{BB962C8B-B14F-4D97-AF65-F5344CB8AC3E}">
        <p14:creationId xmlns:p14="http://schemas.microsoft.com/office/powerpoint/2010/main" val="25467535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26BAFC4-2E85-4366-A54D-2FABC198976E}"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600200" y="0"/>
            <a:ext cx="7543800" cy="7620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276828001"/>
              </p:ext>
            </p:extLst>
          </p:nvPr>
        </p:nvGraphicFramePr>
        <p:xfrm>
          <a:off x="744030" y="914400"/>
          <a:ext cx="7978330" cy="5308804"/>
        </p:xfrm>
        <a:graphic>
          <a:graphicData uri="http://schemas.openxmlformats.org/drawingml/2006/table">
            <a:tbl>
              <a:tblPr firstRow="1" bandRow="1">
                <a:tableStyleId>{5C22544A-7EE6-4342-B048-85BDC9FD1C3A}</a:tableStyleId>
              </a:tblPr>
              <a:tblGrid>
                <a:gridCol w="674560">
                  <a:extLst>
                    <a:ext uri="{9D8B030D-6E8A-4147-A177-3AD203B41FA5}">
                      <a16:colId xmlns:a16="http://schemas.microsoft.com/office/drawing/2014/main" val="20000"/>
                    </a:ext>
                  </a:extLst>
                </a:gridCol>
                <a:gridCol w="4732021">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337309">
                  <a:extLst>
                    <a:ext uri="{9D8B030D-6E8A-4147-A177-3AD203B41FA5}">
                      <a16:colId xmlns:a16="http://schemas.microsoft.com/office/drawing/2014/main" val="20003"/>
                    </a:ext>
                  </a:extLst>
                </a:gridCol>
              </a:tblGrid>
              <a:tr h="293665">
                <a:tc gridSpan="4">
                  <a:txBody>
                    <a:bodyPr/>
                    <a:lstStyle/>
                    <a:p>
                      <a:pPr algn="ctr"/>
                      <a:r>
                        <a:rPr lang="en-US" b="1" dirty="0">
                          <a:solidFill>
                            <a:schemeClr val="tx1"/>
                          </a:solidFill>
                          <a:latin typeface="Times New Roman" panose="02020603050405020304" pitchFamily="18" charset="0"/>
                          <a:cs typeface="Times New Roman" panose="02020603050405020304" pitchFamily="18" charset="0"/>
                        </a:rPr>
                        <a:t>Theory of Computation (BCSE0404X)</a:t>
                      </a:r>
                    </a:p>
                  </a:txBody>
                  <a:tcPr anchor="ctr">
                    <a:solidFill>
                      <a:srgbClr val="FF9999"/>
                    </a:solidFill>
                  </a:tcPr>
                </a:tc>
                <a:tc hMerge="1">
                  <a:txBody>
                    <a:bodyPr/>
                    <a:lstStyle/>
                    <a:p>
                      <a:endParaRPr lang="en-US" dirty="0"/>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91815">
                <a:tc gridSpan="2">
                  <a:txBody>
                    <a:bodyPr/>
                    <a:lstStyle/>
                    <a:p>
                      <a:pPr algn="ctr"/>
                      <a:r>
                        <a:rPr lang="en-US" b="1" dirty="0">
                          <a:latin typeface="Times New Roman" panose="02020603050405020304" pitchFamily="18" charset="0"/>
                          <a:cs typeface="Times New Roman" panose="02020603050405020304" pitchFamily="18" charset="0"/>
                        </a:rPr>
                        <a:t>Course Outcome (CO)</a:t>
                      </a:r>
                    </a:p>
                  </a:txBody>
                  <a:tcPr anchor="ctr">
                    <a:solidFill>
                      <a:srgbClr val="FF9999"/>
                    </a:solidFill>
                  </a:tcPr>
                </a:tc>
                <a:tc hMerge="1">
                  <a:txBody>
                    <a:bodyPr/>
                    <a:lstStyle/>
                    <a:p>
                      <a:endParaRPr lang="en-US" dirty="0"/>
                    </a:p>
                  </a:txBody>
                  <a:tcPr/>
                </a:tc>
                <a:tc gridSpan="2">
                  <a:txBody>
                    <a:bodyPr/>
                    <a:lstStyle/>
                    <a:p>
                      <a:r>
                        <a:rPr lang="en-US" b="1" dirty="0">
                          <a:latin typeface="Times New Roman" panose="02020603050405020304" pitchFamily="18" charset="0"/>
                          <a:cs typeface="Times New Roman" panose="02020603050405020304" pitchFamily="18" charset="0"/>
                        </a:rPr>
                        <a:t>Bloom’s Knowledge Level (KL)</a:t>
                      </a:r>
                    </a:p>
                  </a:txBody>
                  <a:tcPr anchor="ctr">
                    <a:solidFill>
                      <a:srgbClr val="FF9999"/>
                    </a:solidFill>
                  </a:tcPr>
                </a:tc>
                <a:tc hMerge="1">
                  <a:txBody>
                    <a:bodyPr/>
                    <a:lstStyle/>
                    <a:p>
                      <a:endParaRPr lang="en-US" dirty="0"/>
                    </a:p>
                  </a:txBody>
                  <a:tcPr/>
                </a:tc>
                <a:extLst>
                  <a:ext uri="{0D108BD9-81ED-4DB2-BD59-A6C34878D82A}">
                    <a16:rowId xmlns:a16="http://schemas.microsoft.com/office/drawing/2014/main" val="10001"/>
                  </a:ext>
                </a:extLst>
              </a:tr>
              <a:tr h="293665">
                <a:tc gridSpan="4">
                  <a:txBody>
                    <a:bodyPr/>
                    <a:lstStyle/>
                    <a:p>
                      <a:r>
                        <a:rPr lang="en-US" sz="1800" b="1" dirty="0">
                          <a:latin typeface="Times New Roman" panose="02020603050405020304" pitchFamily="18" charset="0"/>
                          <a:cs typeface="Times New Roman" panose="02020603050405020304" pitchFamily="18" charset="0"/>
                        </a:rPr>
                        <a:t>After completion of the course, the student will be able to:</a:t>
                      </a:r>
                      <a:endParaRPr lang="en-US" sz="1600" b="1" dirty="0">
                        <a:latin typeface="Times New Roman" panose="02020603050405020304" pitchFamily="18" charset="0"/>
                        <a:cs typeface="Times New Roman" panose="02020603050405020304" pitchFamily="18" charset="0"/>
                      </a:endParaRPr>
                    </a:p>
                  </a:txBody>
                  <a:tcPr anchor="ctr">
                    <a:solidFill>
                      <a:srgbClr val="FF9999"/>
                    </a:solidFill>
                  </a:tcPr>
                </a:tc>
                <a:tc hMerge="1">
                  <a:txBody>
                    <a:bodyPr/>
                    <a:lstStyle/>
                    <a:p>
                      <a:endParaRPr lang="en-US" dirty="0"/>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734162">
                <a:tc>
                  <a:txBody>
                    <a:bodyPr/>
                    <a:lstStyle/>
                    <a:p>
                      <a:pPr algn="ctr"/>
                      <a:r>
                        <a:rPr lang="en-US" sz="1800" b="0" dirty="0">
                          <a:latin typeface="Times New Roman" panose="02020603050405020304" pitchFamily="18" charset="0"/>
                          <a:cs typeface="Times New Roman" panose="02020603050405020304" pitchFamily="18" charset="0"/>
                        </a:rPr>
                        <a:t>CO 1</a:t>
                      </a:r>
                    </a:p>
                  </a:txBody>
                  <a:tcPr anchor="ctr">
                    <a:solidFill>
                      <a:srgbClr val="FF9999"/>
                    </a:solidFill>
                  </a:tcPr>
                </a:tc>
                <a:tc gridSpan="2">
                  <a:txBody>
                    <a:bodyPr/>
                    <a:lstStyle/>
                    <a:p>
                      <a:pPr algn="just"/>
                      <a:r>
                        <a:rPr lang="en-US" dirty="0">
                          <a:latin typeface="Times New Roman" panose="02020603050405020304" pitchFamily="18" charset="0"/>
                          <a:cs typeface="Times New Roman" panose="02020603050405020304" pitchFamily="18" charset="0"/>
                        </a:rPr>
                        <a:t>Identify the fundamental concepts of automata theory, formal languages and compiler components. </a:t>
                      </a:r>
                      <a:endParaRPr lang="en-US" sz="1800" b="0" dirty="0">
                        <a:latin typeface="Times New Roman" panose="02020603050405020304" pitchFamily="18" charset="0"/>
                        <a:cs typeface="Times New Roman" panose="02020603050405020304" pitchFamily="18" charset="0"/>
                      </a:endParaRPr>
                    </a:p>
                  </a:txBody>
                  <a:tcPr anchor="ctr">
                    <a:solidFill>
                      <a:srgbClr val="FF9999"/>
                    </a:solidFill>
                  </a:tcPr>
                </a:tc>
                <a:tc hMerge="1">
                  <a:txBody>
                    <a:bodyPr/>
                    <a:lstStyle/>
                    <a:p>
                      <a:endParaRPr lang="en-US"/>
                    </a:p>
                  </a:txBody>
                  <a:tcPr/>
                </a:tc>
                <a:tc>
                  <a:txBody>
                    <a:bodyPr/>
                    <a:lstStyle/>
                    <a:p>
                      <a:pPr algn="ctr"/>
                      <a:r>
                        <a:rPr lang="en-US" sz="1800" b="0" dirty="0">
                          <a:latin typeface="Times New Roman" panose="02020603050405020304" pitchFamily="18" charset="0"/>
                          <a:cs typeface="Times New Roman" panose="02020603050405020304" pitchFamily="18" charset="0"/>
                        </a:rPr>
                        <a:t>K2</a:t>
                      </a:r>
                    </a:p>
                  </a:txBody>
                  <a:tcPr anchor="ctr">
                    <a:solidFill>
                      <a:srgbClr val="FF9999"/>
                    </a:solidFill>
                  </a:tcPr>
                </a:tc>
                <a:extLst>
                  <a:ext uri="{0D108BD9-81ED-4DB2-BD59-A6C34878D82A}">
                    <a16:rowId xmlns:a16="http://schemas.microsoft.com/office/drawing/2014/main" val="10003"/>
                  </a:ext>
                </a:extLst>
              </a:tr>
              <a:tr h="637438">
                <a:tc>
                  <a:txBody>
                    <a:bodyPr/>
                    <a:lstStyle/>
                    <a:p>
                      <a:pPr algn="ctr"/>
                      <a:r>
                        <a:rPr lang="en-US" sz="1800" b="0" dirty="0">
                          <a:latin typeface="Times New Roman" panose="02020603050405020304" pitchFamily="18" charset="0"/>
                          <a:cs typeface="Times New Roman" panose="02020603050405020304" pitchFamily="18" charset="0"/>
                        </a:rPr>
                        <a:t>CO 2</a:t>
                      </a:r>
                    </a:p>
                  </a:txBody>
                  <a:tcPr anchor="ctr">
                    <a:solidFill>
                      <a:srgbClr val="FF9999"/>
                    </a:solidFill>
                  </a:tcPr>
                </a:tc>
                <a:tc gridSpan="2">
                  <a:txBody>
                    <a:bodyPr/>
                    <a:lstStyle/>
                    <a:p>
                      <a:pPr algn="just"/>
                      <a:r>
                        <a:rPr lang="en-US" dirty="0">
                          <a:latin typeface="Times New Roman" panose="02020603050405020304" pitchFamily="18" charset="0"/>
                          <a:cs typeface="Times New Roman" panose="02020603050405020304" pitchFamily="18" charset="0"/>
                        </a:rPr>
                        <a:t>Understand the role of finite automata, regular expressions, and grammar rules in language processing. </a:t>
                      </a:r>
                      <a:endParaRPr lang="en-US" sz="1800" b="0" dirty="0">
                        <a:latin typeface="Times New Roman" panose="02020603050405020304" pitchFamily="18" charset="0"/>
                        <a:cs typeface="Times New Roman" panose="02020603050405020304" pitchFamily="18" charset="0"/>
                      </a:endParaRPr>
                    </a:p>
                  </a:txBody>
                  <a:tcPr anchor="ctr">
                    <a:solidFill>
                      <a:srgbClr val="FF9999"/>
                    </a:solidFill>
                  </a:tcPr>
                </a:tc>
                <a:tc hMerge="1">
                  <a:txBody>
                    <a:bodyPr/>
                    <a:lstStyle/>
                    <a:p>
                      <a:endParaRPr lang="en-US"/>
                    </a:p>
                  </a:txBody>
                  <a:tcPr/>
                </a:tc>
                <a:tc>
                  <a:txBody>
                    <a:bodyPr/>
                    <a:lstStyle/>
                    <a:p>
                      <a:pPr algn="ctr"/>
                      <a:r>
                        <a:rPr lang="en-US" sz="1800" b="0" dirty="0">
                          <a:latin typeface="Times New Roman" panose="02020603050405020304" pitchFamily="18" charset="0"/>
                          <a:cs typeface="Times New Roman" panose="02020603050405020304" pitchFamily="18" charset="0"/>
                        </a:rPr>
                        <a:t>K2</a:t>
                      </a:r>
                    </a:p>
                  </a:txBody>
                  <a:tcPr anchor="ctr">
                    <a:solidFill>
                      <a:srgbClr val="FF9999"/>
                    </a:solidFill>
                  </a:tcPr>
                </a:tc>
                <a:extLst>
                  <a:ext uri="{0D108BD9-81ED-4DB2-BD59-A6C34878D82A}">
                    <a16:rowId xmlns:a16="http://schemas.microsoft.com/office/drawing/2014/main" val="10004"/>
                  </a:ext>
                </a:extLst>
              </a:tr>
              <a:tr h="661117">
                <a:tc>
                  <a:txBody>
                    <a:bodyPr/>
                    <a:lstStyle/>
                    <a:p>
                      <a:pPr algn="ctr"/>
                      <a:r>
                        <a:rPr lang="en-US" sz="1800" dirty="0">
                          <a:latin typeface="Times New Roman" panose="02020603050405020304" pitchFamily="18" charset="0"/>
                          <a:cs typeface="Times New Roman" panose="02020603050405020304" pitchFamily="18" charset="0"/>
                        </a:rPr>
                        <a:t>CO 3</a:t>
                      </a:r>
                    </a:p>
                  </a:txBody>
                  <a:tcPr anchor="ctr">
                    <a:solidFill>
                      <a:srgbClr val="FF9999"/>
                    </a:solidFill>
                  </a:tcPr>
                </a:tc>
                <a:tc gridSpan="2">
                  <a:txBody>
                    <a:bodyPr/>
                    <a:lstStyle/>
                    <a:p>
                      <a:pPr algn="just"/>
                      <a:r>
                        <a:rPr lang="en-US" dirty="0">
                          <a:latin typeface="Times New Roman" panose="02020603050405020304" pitchFamily="18" charset="0"/>
                          <a:cs typeface="Times New Roman" panose="02020603050405020304" pitchFamily="18" charset="0"/>
                        </a:rPr>
                        <a:t>Demonstrate context-free grammars, pushdown automata, and syntax-directed translation to construct intermediate code for language processors. </a:t>
                      </a:r>
                      <a:endParaRPr lang="en-US" sz="1800" dirty="0">
                        <a:latin typeface="Times New Roman" panose="02020603050405020304" pitchFamily="18" charset="0"/>
                        <a:cs typeface="Times New Roman" panose="02020603050405020304" pitchFamily="18" charset="0"/>
                      </a:endParaRPr>
                    </a:p>
                  </a:txBody>
                  <a:tcPr anchor="ctr">
                    <a:solidFill>
                      <a:srgbClr val="FF9999"/>
                    </a:solidFill>
                  </a:tcPr>
                </a:tc>
                <a:tc hMerge="1">
                  <a:txBody>
                    <a:bodyPr/>
                    <a:lstStyle/>
                    <a:p>
                      <a:endParaRPr lang="en-US"/>
                    </a:p>
                  </a:txBody>
                  <a:tcPr/>
                </a:tc>
                <a:tc>
                  <a:txBody>
                    <a:bodyPr/>
                    <a:lstStyle/>
                    <a:p>
                      <a:pPr algn="ctr"/>
                      <a:r>
                        <a:rPr lang="en-US" sz="1800" dirty="0">
                          <a:latin typeface="Times New Roman" panose="02020603050405020304" pitchFamily="18" charset="0"/>
                          <a:cs typeface="Times New Roman" panose="02020603050405020304" pitchFamily="18" charset="0"/>
                        </a:rPr>
                        <a:t> K3</a:t>
                      </a:r>
                    </a:p>
                  </a:txBody>
                  <a:tcPr anchor="ctr">
                    <a:solidFill>
                      <a:srgbClr val="FF9999"/>
                    </a:solidFill>
                  </a:tcPr>
                </a:tc>
                <a:extLst>
                  <a:ext uri="{0D108BD9-81ED-4DB2-BD59-A6C34878D82A}">
                    <a16:rowId xmlns:a16="http://schemas.microsoft.com/office/drawing/2014/main" val="10005"/>
                  </a:ext>
                </a:extLst>
              </a:tr>
              <a:tr h="734162">
                <a:tc>
                  <a:txBody>
                    <a:bodyPr/>
                    <a:lstStyle/>
                    <a:p>
                      <a:pPr algn="ctr"/>
                      <a:r>
                        <a:rPr lang="en-US" sz="1800" dirty="0">
                          <a:latin typeface="Times New Roman" panose="02020603050405020304" pitchFamily="18" charset="0"/>
                          <a:cs typeface="Times New Roman" panose="02020603050405020304" pitchFamily="18" charset="0"/>
                        </a:rPr>
                        <a:t>CO 4</a:t>
                      </a:r>
                    </a:p>
                  </a:txBody>
                  <a:tcPr anchor="ctr">
                    <a:solidFill>
                      <a:srgbClr val="FF9999"/>
                    </a:solidFill>
                  </a:tcPr>
                </a:tc>
                <a:tc gridSpan="2">
                  <a:txBody>
                    <a:bodyPr/>
                    <a:lstStyle/>
                    <a:p>
                      <a:pPr algn="just"/>
                      <a:r>
                        <a:rPr lang="en-US" dirty="0">
                          <a:latin typeface="Times New Roman" panose="02020603050405020304" pitchFamily="18" charset="0"/>
                          <a:cs typeface="Times New Roman" panose="02020603050405020304" pitchFamily="18" charset="0"/>
                        </a:rPr>
                        <a:t>Analyze various parsing strategies, code translation methods, and intermediate representations in compiler phases.</a:t>
                      </a:r>
                      <a:endParaRPr lang="en-US" sz="1800" dirty="0">
                        <a:latin typeface="Times New Roman" panose="02020603050405020304" pitchFamily="18" charset="0"/>
                        <a:cs typeface="Times New Roman" panose="02020603050405020304" pitchFamily="18" charset="0"/>
                      </a:endParaRPr>
                    </a:p>
                  </a:txBody>
                  <a:tcPr anchor="ctr">
                    <a:solidFill>
                      <a:srgbClr val="FF9999"/>
                    </a:solidFill>
                  </a:tcPr>
                </a:tc>
                <a:tc hMerge="1">
                  <a:txBody>
                    <a:bodyPr/>
                    <a:lstStyle/>
                    <a:p>
                      <a:endParaRPr lang="en-US"/>
                    </a:p>
                  </a:txBody>
                  <a:tcPr/>
                </a:tc>
                <a:tc>
                  <a:txBody>
                    <a:bodyPr/>
                    <a:lstStyle/>
                    <a:p>
                      <a:pPr algn="ctr"/>
                      <a:r>
                        <a:rPr lang="en-US" sz="1800" dirty="0">
                          <a:latin typeface="Times New Roman" panose="02020603050405020304" pitchFamily="18" charset="0"/>
                          <a:cs typeface="Times New Roman" panose="02020603050405020304" pitchFamily="18" charset="0"/>
                        </a:rPr>
                        <a:t>K4</a:t>
                      </a:r>
                    </a:p>
                  </a:txBody>
                  <a:tcPr anchor="ctr">
                    <a:solidFill>
                      <a:srgbClr val="FF9999"/>
                    </a:solidFill>
                  </a:tcPr>
                </a:tc>
                <a:extLst>
                  <a:ext uri="{0D108BD9-81ED-4DB2-BD59-A6C34878D82A}">
                    <a16:rowId xmlns:a16="http://schemas.microsoft.com/office/drawing/2014/main" val="10006"/>
                  </a:ext>
                </a:extLst>
              </a:tr>
              <a:tr h="734162">
                <a:tc>
                  <a:txBody>
                    <a:bodyPr/>
                    <a:lstStyle/>
                    <a:p>
                      <a:pPr algn="ctr"/>
                      <a:r>
                        <a:rPr lang="en-US" sz="1800" dirty="0">
                          <a:latin typeface="Times New Roman" panose="02020603050405020304" pitchFamily="18" charset="0"/>
                          <a:cs typeface="Times New Roman" panose="02020603050405020304" pitchFamily="18" charset="0"/>
                        </a:rPr>
                        <a:t>CO 5</a:t>
                      </a:r>
                    </a:p>
                  </a:txBody>
                  <a:tcPr anchor="ctr">
                    <a:solidFill>
                      <a:srgbClr val="FF9999"/>
                    </a:solidFill>
                  </a:tcPr>
                </a:tc>
                <a:tc gridSpan="2">
                  <a:txBody>
                    <a:bodyPr/>
                    <a:lstStyle/>
                    <a:p>
                      <a:pPr algn="just"/>
                      <a:r>
                        <a:rPr lang="en-US" dirty="0">
                          <a:latin typeface="Times New Roman" panose="02020603050405020304" pitchFamily="18" charset="0"/>
                          <a:cs typeface="Times New Roman" panose="02020603050405020304" pitchFamily="18" charset="0"/>
                        </a:rPr>
                        <a:t>Analyze the functioning of Turing machine models and optimization techniques in code generation for performance improvement. </a:t>
                      </a:r>
                      <a:endParaRPr lang="en-US" sz="1800" dirty="0">
                        <a:latin typeface="Times New Roman" panose="02020603050405020304" pitchFamily="18" charset="0"/>
                        <a:cs typeface="Times New Roman" panose="02020603050405020304" pitchFamily="18" charset="0"/>
                      </a:endParaRPr>
                    </a:p>
                  </a:txBody>
                  <a:tcPr anchor="ctr">
                    <a:solidFill>
                      <a:srgbClr val="FF9999"/>
                    </a:solidFill>
                  </a:tcPr>
                </a:tc>
                <a:tc hMerge="1">
                  <a:txBody>
                    <a:bodyPr/>
                    <a:lstStyle/>
                    <a:p>
                      <a:endParaRPr lang="en-US"/>
                    </a:p>
                  </a:txBody>
                  <a:tcPr/>
                </a:tc>
                <a:tc>
                  <a:txBody>
                    <a:bodyPr/>
                    <a:lstStyle/>
                    <a:p>
                      <a:pPr algn="ctr"/>
                      <a:r>
                        <a:rPr lang="en-US" sz="1800" dirty="0">
                          <a:latin typeface="Times New Roman" panose="02020603050405020304" pitchFamily="18" charset="0"/>
                          <a:cs typeface="Times New Roman" panose="02020603050405020304" pitchFamily="18" charset="0"/>
                        </a:rPr>
                        <a:t>K4</a:t>
                      </a:r>
                    </a:p>
                  </a:txBody>
                  <a:tcPr anchor="ctr">
                    <a:solidFill>
                      <a:srgbClr val="FF9999"/>
                    </a:solidFill>
                  </a:tcPr>
                </a:tc>
                <a:extLst>
                  <a:ext uri="{0D108BD9-81ED-4DB2-BD59-A6C34878D82A}">
                    <a16:rowId xmlns:a16="http://schemas.microsoft.com/office/drawing/2014/main" val="10007"/>
                  </a:ext>
                </a:extLst>
              </a:tr>
            </a:tbl>
          </a:graphicData>
        </a:graphic>
      </p:graphicFrame>
      <p:sp>
        <p:nvSpPr>
          <p:cNvPr id="8"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334908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371600" y="0"/>
            <a:ext cx="7772400" cy="728869"/>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p>
            <a:pPr lvl="3" indent="-1371600" algn="ctr">
              <a:spcBef>
                <a:spcPct val="0"/>
              </a:spcBef>
              <a:defRPr/>
            </a:pPr>
            <a:r>
              <a:rPr lang="en-US" sz="2400" b="1" dirty="0">
                <a:latin typeface="Times New Roman" panose="02020603050405020304" pitchFamily="18" charset="0"/>
                <a:cs typeface="Times New Roman" panose="02020603050405020304" pitchFamily="18" charset="0"/>
              </a:rPr>
              <a:t>Program Outcomes (POs)</a:t>
            </a:r>
          </a:p>
        </p:txBody>
      </p:sp>
      <p:sp>
        <p:nvSpPr>
          <p:cNvPr id="13" name="Date Placeholder 3"/>
          <p:cNvSpPr>
            <a:spLocks noGrp="1"/>
          </p:cNvSpPr>
          <p:nvPr>
            <p:ph type="dt" sz="half" idx="10"/>
          </p:nvPr>
        </p:nvSpPr>
        <p:spPr>
          <a:xfrm>
            <a:off x="457200" y="6388100"/>
            <a:ext cx="2133600" cy="317500"/>
          </a:xfrm>
        </p:spPr>
        <p:txBody>
          <a:bodyPr/>
          <a:lstStyle/>
          <a:p>
            <a:fld id="{94EA4B6E-72B0-4444-ABF4-B0FA76E35ABE}" type="datetime1">
              <a:rPr lang="en-US" smtClean="0"/>
              <a:t>3/20/2026</a:t>
            </a:fld>
            <a:endParaRPr lang="en-US" dirty="0"/>
          </a:p>
        </p:txBody>
      </p:sp>
      <p:sp>
        <p:nvSpPr>
          <p:cNvPr id="16" name="Slide Number Placeholder 5"/>
          <p:cNvSpPr>
            <a:spLocks noGrp="1"/>
          </p:cNvSpPr>
          <p:nvPr>
            <p:ph type="sldNum" sz="quarter" idx="12"/>
          </p:nvPr>
        </p:nvSpPr>
        <p:spPr>
          <a:xfrm>
            <a:off x="6695661" y="6324600"/>
            <a:ext cx="2133600" cy="317500"/>
          </a:xfrm>
        </p:spPr>
        <p:txBody>
          <a:bodyPr/>
          <a:lstStyle/>
          <a:p>
            <a:fld id="{B6F15528-21DE-4FAA-801E-634DDDAF4B2B}" type="slidenum">
              <a:rPr lang="en-US" smtClean="0"/>
              <a:pPr/>
              <a:t>9</a:t>
            </a:fld>
            <a:endParaRPr lang="en-US" dirty="0"/>
          </a:p>
        </p:txBody>
      </p:sp>
      <p:pic>
        <p:nvPicPr>
          <p:cNvPr id="9" name="Picture 15"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12"/>
          <p:cNvSpPr>
            <a:spLocks noGrp="1"/>
          </p:cNvSpPr>
          <p:nvPr>
            <p:ph type="ftr" sz="quarter" idx="11"/>
          </p:nvPr>
        </p:nvSpPr>
        <p:spPr>
          <a:xfrm>
            <a:off x="1905000" y="6324600"/>
            <a:ext cx="5410200" cy="365125"/>
          </a:xfrm>
        </p:spPr>
        <p:txBody>
          <a:bodyPr/>
          <a:lstStyle/>
          <a:p>
            <a:r>
              <a:rPr lang="en-US" smtClean="0"/>
              <a:t>Vivek Kumart Sharma                BCSE0404X(TOC)                     Unit III</a:t>
            </a:r>
            <a:endParaRPr lang="en-US" dirty="0"/>
          </a:p>
        </p:txBody>
      </p:sp>
      <p:sp>
        <p:nvSpPr>
          <p:cNvPr id="6" name="TextBox 4">
            <a:extLst>
              <a:ext uri="{FF2B5EF4-FFF2-40B4-BE49-F238E27FC236}">
                <a16:creationId xmlns:a16="http://schemas.microsoft.com/office/drawing/2014/main" id="{80D79B94-EF3B-D676-C941-888BC50DDD68}"/>
              </a:ext>
            </a:extLst>
          </p:cNvPr>
          <p:cNvSpPr txBox="1">
            <a:spLocks noChangeArrowheads="1"/>
          </p:cNvSpPr>
          <p:nvPr/>
        </p:nvSpPr>
        <p:spPr bwMode="auto">
          <a:xfrm>
            <a:off x="228600" y="762000"/>
            <a:ext cx="8686800" cy="618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PO1: Engineering Knowledge: </a:t>
            </a:r>
            <a:r>
              <a:rPr lang="en-US" altLang="en-US" sz="1800" dirty="0">
                <a:latin typeface="Times New Roman" panose="02020603050405020304" pitchFamily="18" charset="0"/>
                <a:cs typeface="Times New Roman" panose="02020603050405020304" pitchFamily="18" charset="0"/>
              </a:rPr>
              <a:t>Apply knowledge of mathematics, natural science, computing, engineering fundamentals and an engineering specialization as specified in WK1 to WK4 respectively to develop to the solution of complex engineering problems.</a:t>
            </a:r>
          </a:p>
          <a:p>
            <a:pPr algn="just" eaLnBrk="1" hangingPunct="1">
              <a:spcBef>
                <a:spcPct val="0"/>
              </a:spcBef>
              <a:buFontTx/>
              <a:buNone/>
            </a:pP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PO2: Problem Analysis: </a:t>
            </a:r>
            <a:r>
              <a:rPr lang="en-US" altLang="en-US" sz="1800" dirty="0">
                <a:latin typeface="Times New Roman" panose="02020603050405020304" pitchFamily="18" charset="0"/>
                <a:cs typeface="Times New Roman" panose="02020603050405020304" pitchFamily="18" charset="0"/>
              </a:rPr>
              <a:t>Identify, formulate, review research literature and analyze complex engineering problems reaching substantiated conclusions with consideration for sustainable development. (WK1 to WK4)</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PO3: Design/Development of Solutions: </a:t>
            </a:r>
            <a:r>
              <a:rPr lang="en-US" altLang="en-US" sz="1800" dirty="0">
                <a:latin typeface="Times New Roman" panose="02020603050405020304" pitchFamily="18" charset="0"/>
                <a:cs typeface="Times New Roman" panose="02020603050405020304" pitchFamily="18" charset="0"/>
              </a:rPr>
              <a:t>Design creative solutions for complex engineering problems and design/develop systems/components/processes to meet identified needs with consideration for the public health and safety, whole-life cost, net zero carbon, culture, society and environment as required. (WK5)</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PO4: Conduct Investigations of Complex Problems: </a:t>
            </a:r>
            <a:r>
              <a:rPr lang="en-US" altLang="en-US" sz="1800" dirty="0">
                <a:latin typeface="Times New Roman" panose="02020603050405020304" pitchFamily="18" charset="0"/>
                <a:cs typeface="Times New Roman" panose="02020603050405020304" pitchFamily="18" charset="0"/>
              </a:rPr>
              <a:t>Conduct investigations of complex engineering problems using research-based knowledge including design of experiments, modelling, analysis &amp; interpretation of data to provide valid conclusions. (WK8).</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PO5: Engineering Tool Usage: </a:t>
            </a:r>
            <a:r>
              <a:rPr lang="en-US" altLang="en-US" sz="1800" dirty="0">
                <a:latin typeface="Times New Roman" panose="02020603050405020304" pitchFamily="18" charset="0"/>
                <a:cs typeface="Times New Roman" panose="02020603050405020304" pitchFamily="18" charset="0"/>
              </a:rPr>
              <a:t>Create, select and apply appropriate techniques, resources and modern engineering &amp; IT tools, including prediction and modelling recognizing their limitations to solve complex engineering problems. (WK2 and WK6)</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7882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txBox="1">
            <a:spLocks/>
          </p:cNvSpPr>
          <p:nvPr/>
        </p:nvSpPr>
        <p:spPr>
          <a:xfrm>
            <a:off x="1371600" y="0"/>
            <a:ext cx="7772400" cy="728869"/>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p>
            <a:pPr algn="ctr" defTabSz="795162">
              <a:spcBef>
                <a:spcPct val="0"/>
              </a:spcBef>
              <a:defRPr/>
            </a:pPr>
            <a:r>
              <a:rPr lang="en-US" sz="2400" b="1" dirty="0">
                <a:latin typeface="Times New Roman" panose="02020603050405020304" pitchFamily="18" charset="0"/>
                <a:cs typeface="Times New Roman" panose="02020603050405020304" pitchFamily="18" charset="0"/>
              </a:rPr>
              <a:t>Program Outcomes (POs)</a:t>
            </a:r>
          </a:p>
        </p:txBody>
      </p:sp>
      <p:sp>
        <p:nvSpPr>
          <p:cNvPr id="13" name="Date Placeholder 3"/>
          <p:cNvSpPr>
            <a:spLocks noGrp="1"/>
          </p:cNvSpPr>
          <p:nvPr>
            <p:ph type="dt" sz="half" idx="10"/>
          </p:nvPr>
        </p:nvSpPr>
        <p:spPr>
          <a:xfrm>
            <a:off x="457200" y="6324600"/>
            <a:ext cx="2133600" cy="317500"/>
          </a:xfrm>
        </p:spPr>
        <p:txBody>
          <a:bodyPr/>
          <a:lstStyle/>
          <a:p>
            <a:fld id="{8B9FFD40-1B7C-4A50-A7E3-76000B51E2EE}" type="datetime1">
              <a:rPr lang="en-US" smtClean="0"/>
              <a:t>3/20/2026</a:t>
            </a:fld>
            <a:endParaRPr lang="en-US" dirty="0"/>
          </a:p>
        </p:txBody>
      </p:sp>
      <p:sp>
        <p:nvSpPr>
          <p:cNvPr id="16" name="Slide Number Placeholder 5"/>
          <p:cNvSpPr>
            <a:spLocks noGrp="1"/>
          </p:cNvSpPr>
          <p:nvPr>
            <p:ph type="sldNum" sz="quarter" idx="12"/>
          </p:nvPr>
        </p:nvSpPr>
        <p:spPr>
          <a:xfrm>
            <a:off x="6553200" y="6311900"/>
            <a:ext cx="2133600" cy="317500"/>
          </a:xfrm>
        </p:spPr>
        <p:txBody>
          <a:bodyPr/>
          <a:lstStyle/>
          <a:p>
            <a:fld id="{B6F15528-21DE-4FAA-801E-634DDDAF4B2B}" type="slidenum">
              <a:rPr lang="en-US" smtClean="0"/>
              <a:pPr/>
              <a:t>10</a:t>
            </a:fld>
            <a:endParaRPr lang="en-US" dirty="0"/>
          </a:p>
        </p:txBody>
      </p:sp>
      <p:pic>
        <p:nvPicPr>
          <p:cNvPr id="9" name="Picture 15"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
        <p:nvSpPr>
          <p:cNvPr id="4" name="TextBox 4">
            <a:extLst>
              <a:ext uri="{FF2B5EF4-FFF2-40B4-BE49-F238E27FC236}">
                <a16:creationId xmlns:a16="http://schemas.microsoft.com/office/drawing/2014/main" id="{8EFA66C0-F541-2CF8-B64F-7BB0349F0C8B}"/>
              </a:ext>
            </a:extLst>
          </p:cNvPr>
          <p:cNvSpPr txBox="1">
            <a:spLocks noChangeArrowheads="1"/>
          </p:cNvSpPr>
          <p:nvPr/>
        </p:nvSpPr>
        <p:spPr bwMode="auto">
          <a:xfrm>
            <a:off x="533400" y="762000"/>
            <a:ext cx="81534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PO6: The Engineer and The World: </a:t>
            </a:r>
            <a:r>
              <a:rPr lang="en-US" altLang="en-US" sz="1800" dirty="0">
                <a:latin typeface="Times New Roman" panose="02020603050405020304" pitchFamily="18" charset="0"/>
                <a:cs typeface="Times New Roman" panose="02020603050405020304" pitchFamily="18" charset="0"/>
              </a:rPr>
              <a:t>Analyze and evaluate societal and environmental aspects while solving complex engineering problems for its impact on sustainability with reference to economy, health, safety, legal framework, culture and environment. (WK1, WK5, and WK7).</a:t>
            </a:r>
          </a:p>
          <a:p>
            <a:pPr algn="just" eaLnBrk="1" hangingPunct="1">
              <a:spcBef>
                <a:spcPct val="0"/>
              </a:spcBef>
              <a:buFontTx/>
              <a:buNone/>
            </a:pPr>
            <a:endParaRPr lang="en-US"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PO7: Ethics: </a:t>
            </a:r>
            <a:r>
              <a:rPr lang="en-US" altLang="en-US" sz="1800" dirty="0">
                <a:latin typeface="Times New Roman" panose="02020603050405020304" pitchFamily="18" charset="0"/>
                <a:cs typeface="Times New Roman" panose="02020603050405020304" pitchFamily="18" charset="0"/>
              </a:rPr>
              <a:t>Apply ethical principles and commit to professional ethics, human values, diversity and inclusion; adhere to national &amp; international laws. (WK9)</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PO8: Individual and Collaborative Team work: </a:t>
            </a:r>
            <a:r>
              <a:rPr lang="en-US" altLang="en-US" sz="1800" dirty="0">
                <a:latin typeface="Times New Roman" panose="02020603050405020304" pitchFamily="18" charset="0"/>
                <a:cs typeface="Times New Roman" panose="02020603050405020304" pitchFamily="18" charset="0"/>
              </a:rPr>
              <a:t>Function effectively as an individual, and as a member or leader in diverse/multi-disciplinary teams.</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PO9: Communication: </a:t>
            </a:r>
            <a:r>
              <a:rPr lang="en-US" altLang="en-US" sz="1800" dirty="0">
                <a:latin typeface="Times New Roman" panose="02020603050405020304" pitchFamily="18" charset="0"/>
                <a:cs typeface="Times New Roman" panose="02020603050405020304" pitchFamily="18" charset="0"/>
              </a:rPr>
              <a:t>Communicate effectively and inclusively within the engineering community and society at large, such as being able to comprehend and write effective reports and design documentation, make effective presentations considering cultural, language, and learning differences</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PO10: Project Management and Finance: </a:t>
            </a:r>
            <a:r>
              <a:rPr lang="en-US" altLang="en-US" sz="1800" dirty="0">
                <a:latin typeface="Times New Roman" panose="02020603050405020304" pitchFamily="18" charset="0"/>
                <a:cs typeface="Times New Roman" panose="02020603050405020304" pitchFamily="18" charset="0"/>
              </a:rPr>
              <a:t>Apply knowledge and understanding of engineering management principles and economic decision-making and apply these to one’s own work, as a member and leader in a team, and to manage projects and in multidisciplinary environments.</a:t>
            </a:r>
            <a:endParaRPr lang="en-IN" alt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7667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371600" y="0"/>
            <a:ext cx="7772400" cy="728869"/>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p>
            <a:pPr algn="ctr" defTabSz="795162">
              <a:spcBef>
                <a:spcPct val="0"/>
              </a:spcBef>
              <a:defRPr/>
            </a:pPr>
            <a:r>
              <a:rPr lang="en-US" sz="2400" b="1" dirty="0">
                <a:latin typeface="Times New Roman" panose="02020603050405020304" pitchFamily="18" charset="0"/>
                <a:cs typeface="Times New Roman" panose="02020603050405020304" pitchFamily="18" charset="0"/>
              </a:rPr>
              <a:t>Program Outcomes (POs)</a:t>
            </a:r>
          </a:p>
        </p:txBody>
      </p:sp>
      <p:sp>
        <p:nvSpPr>
          <p:cNvPr id="12" name="Date Placeholder 3"/>
          <p:cNvSpPr>
            <a:spLocks noGrp="1"/>
          </p:cNvSpPr>
          <p:nvPr>
            <p:ph type="dt" sz="half" idx="10"/>
          </p:nvPr>
        </p:nvSpPr>
        <p:spPr>
          <a:xfrm>
            <a:off x="457200" y="6388100"/>
            <a:ext cx="2133600" cy="317500"/>
          </a:xfrm>
        </p:spPr>
        <p:txBody>
          <a:bodyPr/>
          <a:lstStyle/>
          <a:p>
            <a:fld id="{E3D0EF7A-F0E7-404F-AA28-9C9B8A5C929A}" type="datetime1">
              <a:rPr lang="en-US" smtClean="0"/>
              <a:t>3/20/2026</a:t>
            </a:fld>
            <a:endParaRPr lang="en-US" dirty="0"/>
          </a:p>
        </p:txBody>
      </p:sp>
      <p:sp>
        <p:nvSpPr>
          <p:cNvPr id="16" name="Slide Number Placeholder 5"/>
          <p:cNvSpPr>
            <a:spLocks noGrp="1"/>
          </p:cNvSpPr>
          <p:nvPr>
            <p:ph type="sldNum" sz="quarter" idx="12"/>
          </p:nvPr>
        </p:nvSpPr>
        <p:spPr>
          <a:xfrm>
            <a:off x="6553200" y="6388100"/>
            <a:ext cx="2133600" cy="317500"/>
          </a:xfrm>
        </p:spPr>
        <p:txBody>
          <a:bodyPr/>
          <a:lstStyle/>
          <a:p>
            <a:fld id="{B6F15528-21DE-4FAA-801E-634DDDAF4B2B}" type="slidenum">
              <a:rPr lang="en-US" smtClean="0"/>
              <a:pPr/>
              <a:t>11</a:t>
            </a:fld>
            <a:endParaRPr lang="en-US" dirty="0"/>
          </a:p>
        </p:txBody>
      </p:sp>
      <p:pic>
        <p:nvPicPr>
          <p:cNvPr id="9" name="Picture 15"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
        <p:nvSpPr>
          <p:cNvPr id="4" name="TextBox 7">
            <a:extLst>
              <a:ext uri="{FF2B5EF4-FFF2-40B4-BE49-F238E27FC236}">
                <a16:creationId xmlns:a16="http://schemas.microsoft.com/office/drawing/2014/main" id="{795BC68F-51B0-C88E-0B69-E4316CB538B5}"/>
              </a:ext>
            </a:extLst>
          </p:cNvPr>
          <p:cNvSpPr txBox="1">
            <a:spLocks noChangeArrowheads="1"/>
          </p:cNvSpPr>
          <p:nvPr/>
        </p:nvSpPr>
        <p:spPr bwMode="auto">
          <a:xfrm>
            <a:off x="457200" y="1219200"/>
            <a:ext cx="8458200"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ct val="0"/>
              </a:spcBef>
              <a:buFontTx/>
              <a:buNone/>
            </a:pPr>
            <a:r>
              <a:rPr lang="en-US" altLang="en-US" sz="1800" b="1" dirty="0">
                <a:latin typeface="Times New Roman" panose="02020603050405020304" pitchFamily="18" charset="0"/>
                <a:ea typeface="Verdana" panose="020B0604030504040204" pitchFamily="34" charset="0"/>
                <a:cs typeface="Times New Roman" panose="02020603050405020304" pitchFamily="18" charset="0"/>
              </a:rPr>
              <a:t>PO11: Life-Long Learning: </a:t>
            </a:r>
            <a:r>
              <a:rPr lang="en-US" altLang="en-US" sz="1800" dirty="0">
                <a:latin typeface="Times New Roman" panose="02020603050405020304" pitchFamily="18" charset="0"/>
                <a:ea typeface="Verdana" panose="020B0604030504040204" pitchFamily="34" charset="0"/>
                <a:cs typeface="Times New Roman" panose="02020603050405020304" pitchFamily="18" charset="0"/>
              </a:rPr>
              <a:t>Recognize the need for, and have the preparation and ability for </a:t>
            </a:r>
            <a:r>
              <a:rPr lang="en-US" altLang="en-US" sz="1800" dirty="0" err="1">
                <a:latin typeface="Times New Roman" panose="02020603050405020304" pitchFamily="18" charset="0"/>
                <a:ea typeface="Verdana" panose="020B0604030504040204" pitchFamily="34" charset="0"/>
                <a:cs typeface="Times New Roman" panose="02020603050405020304" pitchFamily="18" charset="0"/>
              </a:rPr>
              <a:t>i</a:t>
            </a:r>
            <a:r>
              <a:rPr lang="en-US" altLang="en-US" sz="1800" dirty="0">
                <a:latin typeface="Times New Roman" panose="02020603050405020304" pitchFamily="18" charset="0"/>
                <a:ea typeface="Verdana" panose="020B0604030504040204" pitchFamily="34" charset="0"/>
                <a:cs typeface="Times New Roman" panose="02020603050405020304" pitchFamily="18" charset="0"/>
              </a:rPr>
              <a:t>) independent and life-long learning ii) adaptability to new and emerging technologies and iii) critical thinking in the broadest context of technological change. (WK8)</a:t>
            </a:r>
            <a:endParaRPr lang="en-IN" altLang="en-US" sz="1800" dirty="0">
              <a:latin typeface="Times New Roman" panose="02020603050405020304" pitchFamily="18" charset="0"/>
              <a:ea typeface="Verdana" panose="020B0604030504040204" pitchFamily="34"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ea typeface="Verdana" panose="020B0604030504040204" pitchFamily="34" charset="0"/>
                <a:cs typeface="Times New Roman" panose="02020603050405020304" pitchFamily="18" charset="0"/>
              </a:rPr>
              <a:t> </a:t>
            </a:r>
            <a:endParaRPr lang="en-IN" altLang="en-US" sz="1800"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17257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44954AE0-3657-462F-B7A4-A465115E098C}" type="datetime1">
              <a:rPr lang="en-US" smtClean="0"/>
              <a:t>3/20/2026</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12</a:t>
            </a:fld>
            <a:endParaRPr lang="en-US" dirty="0"/>
          </a:p>
        </p:txBody>
      </p:sp>
      <p:sp>
        <p:nvSpPr>
          <p:cNvPr id="11" name="Title 1"/>
          <p:cNvSpPr txBox="1"/>
          <p:nvPr/>
        </p:nvSpPr>
        <p:spPr>
          <a:xfrm>
            <a:off x="1371600" y="0"/>
            <a:ext cx="7772400" cy="728869"/>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p>
            <a:pPr algn="ctr" defTabSz="795162">
              <a:spcBef>
                <a:spcPct val="0"/>
              </a:spcBef>
              <a:defRPr/>
            </a:pPr>
            <a:r>
              <a:rPr lang="en-US" sz="2400" b="1" dirty="0">
                <a:latin typeface="Times New Roman" panose="02020603050405020304" pitchFamily="18" charset="0"/>
                <a:cs typeface="Times New Roman" panose="02020603050405020304" pitchFamily="18" charset="0"/>
              </a:rPr>
              <a:t>CO-PO Correlation Matrix</a:t>
            </a:r>
          </a:p>
        </p:txBody>
      </p:sp>
      <p:pic>
        <p:nvPicPr>
          <p:cNvPr id="8" name="Picture 15"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3C8FEA1-E6F0-E873-C8D3-DDA0F2FD13C6}"/>
              </a:ext>
            </a:extLst>
          </p:cNvPr>
          <p:cNvGraphicFramePr>
            <a:graphicFrameLocks noGrp="1"/>
          </p:cNvGraphicFramePr>
          <p:nvPr>
            <p:extLst>
              <p:ext uri="{D42A27DB-BD31-4B8C-83A1-F6EECF244321}">
                <p14:modId xmlns:p14="http://schemas.microsoft.com/office/powerpoint/2010/main" val="499845606"/>
              </p:ext>
            </p:extLst>
          </p:nvPr>
        </p:nvGraphicFramePr>
        <p:xfrm>
          <a:off x="838200" y="1371600"/>
          <a:ext cx="7696203" cy="3429003"/>
        </p:xfrm>
        <a:graphic>
          <a:graphicData uri="http://schemas.openxmlformats.org/drawingml/2006/table">
            <a:tbl>
              <a:tblPr>
                <a:tableStyleId>{284E427A-3D55-4303-BF80-6455036E1DE7}</a:tableStyleId>
              </a:tblPr>
              <a:tblGrid>
                <a:gridCol w="1250632">
                  <a:extLst>
                    <a:ext uri="{9D8B030D-6E8A-4147-A177-3AD203B41FA5}">
                      <a16:colId xmlns:a16="http://schemas.microsoft.com/office/drawing/2014/main" val="2578774961"/>
                    </a:ext>
                  </a:extLst>
                </a:gridCol>
                <a:gridCol w="557975">
                  <a:extLst>
                    <a:ext uri="{9D8B030D-6E8A-4147-A177-3AD203B41FA5}">
                      <a16:colId xmlns:a16="http://schemas.microsoft.com/office/drawing/2014/main" val="3967286544"/>
                    </a:ext>
                  </a:extLst>
                </a:gridCol>
                <a:gridCol w="557975">
                  <a:extLst>
                    <a:ext uri="{9D8B030D-6E8A-4147-A177-3AD203B41FA5}">
                      <a16:colId xmlns:a16="http://schemas.microsoft.com/office/drawing/2014/main" val="3711230926"/>
                    </a:ext>
                  </a:extLst>
                </a:gridCol>
                <a:gridCol w="557975">
                  <a:extLst>
                    <a:ext uri="{9D8B030D-6E8A-4147-A177-3AD203B41FA5}">
                      <a16:colId xmlns:a16="http://schemas.microsoft.com/office/drawing/2014/main" val="1000073853"/>
                    </a:ext>
                  </a:extLst>
                </a:gridCol>
                <a:gridCol w="557975">
                  <a:extLst>
                    <a:ext uri="{9D8B030D-6E8A-4147-A177-3AD203B41FA5}">
                      <a16:colId xmlns:a16="http://schemas.microsoft.com/office/drawing/2014/main" val="3742569039"/>
                    </a:ext>
                  </a:extLst>
                </a:gridCol>
                <a:gridCol w="557975">
                  <a:extLst>
                    <a:ext uri="{9D8B030D-6E8A-4147-A177-3AD203B41FA5}">
                      <a16:colId xmlns:a16="http://schemas.microsoft.com/office/drawing/2014/main" val="122876253"/>
                    </a:ext>
                  </a:extLst>
                </a:gridCol>
                <a:gridCol w="557975">
                  <a:extLst>
                    <a:ext uri="{9D8B030D-6E8A-4147-A177-3AD203B41FA5}">
                      <a16:colId xmlns:a16="http://schemas.microsoft.com/office/drawing/2014/main" val="1491675565"/>
                    </a:ext>
                  </a:extLst>
                </a:gridCol>
                <a:gridCol w="557975">
                  <a:extLst>
                    <a:ext uri="{9D8B030D-6E8A-4147-A177-3AD203B41FA5}">
                      <a16:colId xmlns:a16="http://schemas.microsoft.com/office/drawing/2014/main" val="964828128"/>
                    </a:ext>
                  </a:extLst>
                </a:gridCol>
                <a:gridCol w="557975">
                  <a:extLst>
                    <a:ext uri="{9D8B030D-6E8A-4147-A177-3AD203B41FA5}">
                      <a16:colId xmlns:a16="http://schemas.microsoft.com/office/drawing/2014/main" val="1947354628"/>
                    </a:ext>
                  </a:extLst>
                </a:gridCol>
                <a:gridCol w="557975">
                  <a:extLst>
                    <a:ext uri="{9D8B030D-6E8A-4147-A177-3AD203B41FA5}">
                      <a16:colId xmlns:a16="http://schemas.microsoft.com/office/drawing/2014/main" val="675069883"/>
                    </a:ext>
                  </a:extLst>
                </a:gridCol>
                <a:gridCol w="711898">
                  <a:extLst>
                    <a:ext uri="{9D8B030D-6E8A-4147-A177-3AD203B41FA5}">
                      <a16:colId xmlns:a16="http://schemas.microsoft.com/office/drawing/2014/main" val="1430296218"/>
                    </a:ext>
                  </a:extLst>
                </a:gridCol>
                <a:gridCol w="711898">
                  <a:extLst>
                    <a:ext uri="{9D8B030D-6E8A-4147-A177-3AD203B41FA5}">
                      <a16:colId xmlns:a16="http://schemas.microsoft.com/office/drawing/2014/main" val="3629623087"/>
                    </a:ext>
                  </a:extLst>
                </a:gridCol>
              </a:tblGrid>
              <a:tr h="824697">
                <a:tc>
                  <a:txBody>
                    <a:bodyPr/>
                    <a:lstStyle/>
                    <a:p>
                      <a:pPr algn="ctr" fontAlgn="ctr">
                        <a:buNone/>
                      </a:pPr>
                      <a:r>
                        <a:rPr lang="en-US" sz="1800" b="1" u="none" strike="noStrike" spc="-10" dirty="0">
                          <a:effectLst/>
                          <a:latin typeface="Times New Roman" panose="02020603050405020304" pitchFamily="18" charset="0"/>
                          <a:cs typeface="Times New Roman" panose="02020603050405020304" pitchFamily="18" charset="0"/>
                        </a:rPr>
                        <a:t>CO-PO Mapping</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dirty="0">
                          <a:effectLst/>
                          <a:latin typeface="Times New Roman" panose="02020603050405020304" pitchFamily="18" charset="0"/>
                          <a:cs typeface="Times New Roman" panose="02020603050405020304" pitchFamily="18" charset="0"/>
                        </a:rPr>
                        <a:t>PO1</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dirty="0">
                          <a:effectLst/>
                          <a:latin typeface="Times New Roman" panose="02020603050405020304" pitchFamily="18" charset="0"/>
                          <a:cs typeface="Times New Roman" panose="02020603050405020304" pitchFamily="18" charset="0"/>
                        </a:rPr>
                        <a:t>PO2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PO3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PO4</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PO5</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PO6</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PO7</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PO8</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PO9</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0">
                          <a:effectLst/>
                          <a:latin typeface="Times New Roman" panose="02020603050405020304" pitchFamily="18" charset="0"/>
                          <a:cs typeface="Times New Roman" panose="02020603050405020304" pitchFamily="18" charset="0"/>
                        </a:rPr>
                        <a:t>PO10</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0">
                          <a:effectLst/>
                          <a:latin typeface="Times New Roman" panose="02020603050405020304" pitchFamily="18" charset="0"/>
                          <a:cs typeface="Times New Roman" panose="02020603050405020304" pitchFamily="18" charset="0"/>
                        </a:rPr>
                        <a:t>PO11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120259250"/>
                  </a:ext>
                </a:extLst>
              </a:tr>
              <a:tr h="434051">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CO1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64738057"/>
                  </a:ext>
                </a:extLst>
              </a:tr>
              <a:tr h="434051">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CO2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1</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855530266"/>
                  </a:ext>
                </a:extLst>
              </a:tr>
              <a:tr h="434051">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CO3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1</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849127267"/>
                  </a:ext>
                </a:extLst>
              </a:tr>
              <a:tr h="434051">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CO4</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711020042"/>
                  </a:ext>
                </a:extLst>
              </a:tr>
              <a:tr h="434051">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CO5</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493991500"/>
                  </a:ext>
                </a:extLst>
              </a:tr>
              <a:tr h="434051">
                <a:tc>
                  <a:txBody>
                    <a:bodyPr/>
                    <a:lstStyle/>
                    <a:p>
                      <a:pPr algn="ctr" fontAlgn="b">
                        <a:buNone/>
                      </a:pPr>
                      <a:r>
                        <a:rPr lang="en-IN" sz="1800" b="1" u="none" strike="noStrike">
                          <a:effectLst/>
                          <a:latin typeface="Times New Roman" panose="02020603050405020304" pitchFamily="18" charset="0"/>
                          <a:cs typeface="Times New Roman" panose="02020603050405020304" pitchFamily="18" charset="0"/>
                        </a:rPr>
                        <a:t>Average</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a:effectLst/>
                          <a:latin typeface="Times New Roman" panose="02020603050405020304" pitchFamily="18" charset="0"/>
                          <a:cs typeface="Times New Roman" panose="02020603050405020304" pitchFamily="18" charset="0"/>
                        </a:rPr>
                        <a:t>2.8</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a:effectLst/>
                          <a:latin typeface="Times New Roman" panose="02020603050405020304" pitchFamily="18" charset="0"/>
                          <a:cs typeface="Times New Roman" panose="02020603050405020304" pitchFamily="18" charset="0"/>
                        </a:rPr>
                        <a:t>2.8</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a:effectLst/>
                          <a:latin typeface="Times New Roman" panose="02020603050405020304" pitchFamily="18" charset="0"/>
                          <a:cs typeface="Times New Roman" panose="02020603050405020304" pitchFamily="18" charset="0"/>
                        </a:rPr>
                        <a:t>2.6</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a:effectLst/>
                          <a:latin typeface="Times New Roman" panose="02020603050405020304" pitchFamily="18" charset="0"/>
                          <a:cs typeface="Times New Roman" panose="02020603050405020304" pitchFamily="18" charset="0"/>
                        </a:rPr>
                        <a:t>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dirty="0">
                          <a:effectLst/>
                          <a:latin typeface="Times New Roman" panose="02020603050405020304" pitchFamily="18" charset="0"/>
                          <a:cs typeface="Times New Roman" panose="02020603050405020304" pitchFamily="18" charset="0"/>
                        </a:rPr>
                        <a:t>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39045718"/>
                  </a:ext>
                </a:extLst>
              </a:tr>
            </a:tbl>
          </a:graphicData>
        </a:graphic>
      </p:graphicFrame>
    </p:spTree>
    <p:extLst>
      <p:ext uri="{BB962C8B-B14F-4D97-AF65-F5344CB8AC3E}">
        <p14:creationId xmlns:p14="http://schemas.microsoft.com/office/powerpoint/2010/main" val="3911004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ontent Placeholder 12"/>
          <p:cNvGraphicFramePr>
            <a:graphicFrameLocks noGrp="1"/>
          </p:cNvGraphicFramePr>
          <p:nvPr>
            <p:ph idx="1"/>
            <p:extLst>
              <p:ext uri="{D42A27DB-BD31-4B8C-83A1-F6EECF244321}">
                <p14:modId xmlns:p14="http://schemas.microsoft.com/office/powerpoint/2010/main" val="1942969850"/>
              </p:ext>
            </p:extLst>
          </p:nvPr>
        </p:nvGraphicFramePr>
        <p:xfrm>
          <a:off x="647783" y="2158853"/>
          <a:ext cx="8153400" cy="2915714"/>
        </p:xfrm>
        <a:graphic>
          <a:graphicData uri="http://schemas.openxmlformats.org/drawingml/2006/table">
            <a:tbl>
              <a:tblPr firstRow="1" bandRow="1">
                <a:tableStyleId>{8A107856-5554-42FB-B03E-39F5DBC370BA}</a:tableStyleId>
              </a:tblPr>
              <a:tblGrid>
                <a:gridCol w="990600">
                  <a:extLst>
                    <a:ext uri="{9D8B030D-6E8A-4147-A177-3AD203B41FA5}">
                      <a16:colId xmlns:a16="http://schemas.microsoft.com/office/drawing/2014/main" val="20000"/>
                    </a:ext>
                  </a:extLst>
                </a:gridCol>
                <a:gridCol w="7162800">
                  <a:extLst>
                    <a:ext uri="{9D8B030D-6E8A-4147-A177-3AD203B41FA5}">
                      <a16:colId xmlns:a16="http://schemas.microsoft.com/office/drawing/2014/main" val="20001"/>
                    </a:ext>
                  </a:extLst>
                </a:gridCol>
              </a:tblGrid>
              <a:tr h="1121937">
                <a:tc>
                  <a:txBody>
                    <a:bodyPr/>
                    <a:lstStyle/>
                    <a:p>
                      <a:pPr marL="0" marR="0" algn="ctr">
                        <a:lnSpc>
                          <a:spcPct val="115000"/>
                        </a:lnSpc>
                        <a:spcBef>
                          <a:spcPts val="0"/>
                        </a:spcBef>
                        <a:spcAft>
                          <a:spcPts val="0"/>
                        </a:spcAft>
                      </a:pPr>
                      <a:r>
                        <a:rPr lang="en-US" sz="1800" b="1" dirty="0">
                          <a:latin typeface="Times New Roman" panose="02020603050405020304" pitchFamily="18" charset="0"/>
                          <a:cs typeface="Times New Roman" panose="02020603050405020304" pitchFamily="18" charset="0"/>
                        </a:rPr>
                        <a:t>PSO1</a:t>
                      </a:r>
                      <a:endParaRPr lang="en-US" sz="1800" b="1" dirty="0">
                        <a:solidFill>
                          <a:schemeClr val="tx1"/>
                        </a:solidFill>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solidFill>
                      <a:srgbClr val="FF9999"/>
                    </a:solidFill>
                  </a:tcPr>
                </a:tc>
                <a:tc>
                  <a:txBody>
                    <a:bodyPr/>
                    <a:lstStyle/>
                    <a:p>
                      <a:pPr marL="0" marR="0" algn="just">
                        <a:lnSpc>
                          <a:spcPct val="100000"/>
                        </a:lnSpc>
                        <a:spcBef>
                          <a:spcPts val="0"/>
                        </a:spcBef>
                        <a:spcAft>
                          <a:spcPts val="0"/>
                        </a:spcAft>
                      </a:pPr>
                      <a:r>
                        <a:rPr lang="en-US" sz="1800" b="0" kern="1200" dirty="0">
                          <a:effectLst/>
                          <a:latin typeface="Times New Roman" panose="02020603050405020304" pitchFamily="18" charset="0"/>
                          <a:cs typeface="Times New Roman" panose="02020603050405020304" pitchFamily="18" charset="0"/>
                        </a:rPr>
                        <a:t>Work as a software engineer in different dimensions of information technology to provide solutions to real-world and industrial problems in an eco-friendly manner</a:t>
                      </a:r>
                      <a:endParaRPr lang="en-US" sz="1800" b="0" i="0" dirty="0">
                        <a:solidFill>
                          <a:schemeClr val="tx1"/>
                        </a:solidFill>
                        <a:latin typeface="Times New Roman" panose="02020603050405020304" pitchFamily="18" charset="0"/>
                        <a:ea typeface="Times New Roman" panose="02020603050405020304"/>
                        <a:cs typeface="Times New Roman" panose="02020603050405020304" pitchFamily="18" charset="0"/>
                      </a:endParaRPr>
                    </a:p>
                  </a:txBody>
                  <a:tcPr marL="68580" marR="68580" marT="0" marB="0">
                    <a:solidFill>
                      <a:srgbClr val="FF9999"/>
                    </a:solidFill>
                  </a:tcPr>
                </a:tc>
                <a:extLst>
                  <a:ext uri="{0D108BD9-81ED-4DB2-BD59-A6C34878D82A}">
                    <a16:rowId xmlns:a16="http://schemas.microsoft.com/office/drawing/2014/main" val="10000"/>
                  </a:ext>
                </a:extLst>
              </a:tr>
              <a:tr h="847373">
                <a:tc>
                  <a:txBody>
                    <a:bodyPr/>
                    <a:lstStyle/>
                    <a:p>
                      <a:pPr marL="0" marR="0" algn="ctr">
                        <a:lnSpc>
                          <a:spcPct val="115000"/>
                        </a:lnSpc>
                        <a:spcBef>
                          <a:spcPts val="0"/>
                        </a:spcBef>
                        <a:spcAft>
                          <a:spcPts val="0"/>
                        </a:spcAft>
                      </a:pPr>
                      <a:r>
                        <a:rPr lang="en-US" sz="1800" b="1" dirty="0">
                          <a:latin typeface="Times New Roman" panose="02020603050405020304" pitchFamily="18" charset="0"/>
                          <a:cs typeface="Times New Roman" panose="02020603050405020304" pitchFamily="18" charset="0"/>
                        </a:rPr>
                        <a:t>PSO2</a:t>
                      </a:r>
                      <a:endParaRPr lang="en-US" sz="1800" b="1" dirty="0">
                        <a:solidFill>
                          <a:schemeClr val="tx1"/>
                        </a:solidFill>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solidFill>
                      <a:srgbClr val="FF9999"/>
                    </a:solidFill>
                  </a:tcPr>
                </a:tc>
                <a:tc>
                  <a:txBody>
                    <a:bodyPr/>
                    <a:lstStyle/>
                    <a:p>
                      <a:pPr marL="0" marR="0" algn="just">
                        <a:lnSpc>
                          <a:spcPct val="100000"/>
                        </a:lnSpc>
                        <a:spcBef>
                          <a:spcPts val="0"/>
                        </a:spcBef>
                        <a:spcAft>
                          <a:spcPts val="0"/>
                        </a:spcAft>
                      </a:pPr>
                      <a:r>
                        <a:rPr lang="en-US" sz="1800" kern="1200" dirty="0">
                          <a:effectLst/>
                          <a:latin typeface="Times New Roman" panose="02020603050405020304" pitchFamily="18" charset="0"/>
                          <a:cs typeface="Times New Roman" panose="02020603050405020304" pitchFamily="18" charset="0"/>
                        </a:rPr>
                        <a:t>Apply knowledge of core subjects with multi-disciplinary and modern computing techniques to solve complex IT problems.</a:t>
                      </a:r>
                      <a:endParaRPr lang="en-US" sz="1800" b="0" i="0" dirty="0">
                        <a:solidFill>
                          <a:schemeClr val="tx1"/>
                        </a:solidFill>
                        <a:latin typeface="Times New Roman" panose="02020603050405020304" pitchFamily="18" charset="0"/>
                        <a:ea typeface="Times New Roman" panose="02020603050405020304"/>
                        <a:cs typeface="Times New Roman" panose="02020603050405020304" pitchFamily="18" charset="0"/>
                      </a:endParaRPr>
                    </a:p>
                  </a:txBody>
                  <a:tcPr marL="68580" marR="68580" marT="0" marB="0">
                    <a:solidFill>
                      <a:srgbClr val="FF9999"/>
                    </a:solidFill>
                  </a:tcPr>
                </a:tc>
                <a:extLst>
                  <a:ext uri="{0D108BD9-81ED-4DB2-BD59-A6C34878D82A}">
                    <a16:rowId xmlns:a16="http://schemas.microsoft.com/office/drawing/2014/main" val="10001"/>
                  </a:ext>
                </a:extLst>
              </a:tr>
              <a:tr h="914400">
                <a:tc>
                  <a:txBody>
                    <a:bodyPr/>
                    <a:lstStyle/>
                    <a:p>
                      <a:pPr marL="0" marR="0" algn="ctr">
                        <a:lnSpc>
                          <a:spcPct val="115000"/>
                        </a:lnSpc>
                        <a:spcBef>
                          <a:spcPts val="0"/>
                        </a:spcBef>
                        <a:spcAft>
                          <a:spcPts val="0"/>
                        </a:spcAft>
                      </a:pPr>
                      <a:r>
                        <a:rPr lang="en-US" sz="1800" b="1" dirty="0">
                          <a:latin typeface="Times New Roman" panose="02020603050405020304" pitchFamily="18" charset="0"/>
                          <a:cs typeface="Times New Roman" panose="02020603050405020304" pitchFamily="18" charset="0"/>
                        </a:rPr>
                        <a:t>PSO3</a:t>
                      </a:r>
                      <a:endParaRPr lang="en-US" sz="1800" b="1" dirty="0">
                        <a:solidFill>
                          <a:schemeClr val="tx1"/>
                        </a:solidFill>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solidFill>
                      <a:srgbClr val="FF9999"/>
                    </a:solidFill>
                  </a:tcPr>
                </a:tc>
                <a:tc>
                  <a:txBody>
                    <a:bodyPr/>
                    <a:lstStyle/>
                    <a:p>
                      <a:pPr marL="0" marR="0" algn="just">
                        <a:lnSpc>
                          <a:spcPct val="115000"/>
                        </a:lnSpc>
                        <a:spcBef>
                          <a:spcPts val="0"/>
                        </a:spcBef>
                        <a:spcAft>
                          <a:spcPts val="1000"/>
                        </a:spcAft>
                      </a:pPr>
                      <a:r>
                        <a:rPr lang="en-US" sz="1800" dirty="0">
                          <a:effectLst/>
                          <a:latin typeface="Times New Roman" panose="02020603050405020304" pitchFamily="18" charset="0"/>
                          <a:cs typeface="Times New Roman" panose="02020603050405020304" pitchFamily="18" charset="0"/>
                        </a:rPr>
                        <a:t>Establish a successful and innovative career by practicing lifelong learning and communicating in a team or as an individual to manage projects with ethical concerns.</a:t>
                      </a:r>
                      <a:endParaRPr lang="en-US" sz="1800" dirty="0">
                        <a:effectLst/>
                        <a:latin typeface="Times New Roman" panose="02020603050405020304" pitchFamily="18" charset="0"/>
                        <a:ea typeface="Calibri"/>
                        <a:cs typeface="Times New Roman" panose="02020603050405020304" pitchFamily="18" charset="0"/>
                      </a:endParaRPr>
                    </a:p>
                  </a:txBody>
                  <a:tcPr marL="59635" marR="59635" marT="0" marB="0">
                    <a:solidFill>
                      <a:srgbClr val="FF9999"/>
                    </a:solidFill>
                  </a:tcPr>
                </a:tc>
                <a:extLst>
                  <a:ext uri="{0D108BD9-81ED-4DB2-BD59-A6C34878D82A}">
                    <a16:rowId xmlns:a16="http://schemas.microsoft.com/office/drawing/2014/main" val="10002"/>
                  </a:ext>
                </a:extLst>
              </a:tr>
            </a:tbl>
          </a:graphicData>
        </a:graphic>
      </p:graphicFrame>
      <p:sp>
        <p:nvSpPr>
          <p:cNvPr id="6" name="Date Placeholder 5"/>
          <p:cNvSpPr>
            <a:spLocks noGrp="1"/>
          </p:cNvSpPr>
          <p:nvPr>
            <p:ph type="dt" sz="half" idx="10"/>
          </p:nvPr>
        </p:nvSpPr>
        <p:spPr/>
        <p:txBody>
          <a:bodyPr/>
          <a:lstStyle/>
          <a:p>
            <a:fld id="{B302C8DB-4D9F-4C37-833C-62AFF0C3D425}" type="datetime1">
              <a:rPr lang="en-US" smtClean="0"/>
              <a:t>3/20/2026</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13</a:t>
            </a:fld>
            <a:endParaRPr lang="en-US" dirty="0"/>
          </a:p>
        </p:txBody>
      </p:sp>
      <p:sp>
        <p:nvSpPr>
          <p:cNvPr id="11" name="Title 1"/>
          <p:cNvSpPr txBox="1"/>
          <p:nvPr/>
        </p:nvSpPr>
        <p:spPr>
          <a:xfrm>
            <a:off x="1371600" y="0"/>
            <a:ext cx="7772400" cy="796727"/>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defPPr>
              <a:defRPr lang="en-US"/>
            </a:defPPr>
            <a:lvl1pPr algn="ctr">
              <a:spcBef>
                <a:spcPct val="0"/>
              </a:spcBef>
              <a:buNone/>
              <a:defRPr sz="2400"/>
            </a:lvl1pPr>
          </a:lstStyle>
          <a:p>
            <a:r>
              <a:rPr lang="en-US" sz="2800" b="1" dirty="0">
                <a:latin typeface="Times New Roman" panose="02020603050405020304" pitchFamily="18" charset="0"/>
                <a:cs typeface="Times New Roman" panose="02020603050405020304" pitchFamily="18" charset="0"/>
              </a:rPr>
              <a:t>Program Specific Outcomes</a:t>
            </a:r>
          </a:p>
        </p:txBody>
      </p:sp>
      <p:sp>
        <p:nvSpPr>
          <p:cNvPr id="8" name="TextBox 7"/>
          <p:cNvSpPr txBox="1"/>
          <p:nvPr/>
        </p:nvSpPr>
        <p:spPr>
          <a:xfrm>
            <a:off x="609600" y="1295400"/>
            <a:ext cx="8153400"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On successful completion of graduation degree, the Information Technology graduates will be able to:</a:t>
            </a:r>
          </a:p>
        </p:txBody>
      </p:sp>
      <p:pic>
        <p:nvPicPr>
          <p:cNvPr id="2" name="Picture 1" descr="A black and red logo&#10;&#10;Description automatically generated">
            <a:extLst>
              <a:ext uri="{FF2B5EF4-FFF2-40B4-BE49-F238E27FC236}">
                <a16:creationId xmlns:a16="http://schemas.microsoft.com/office/drawing/2014/main" id="{1E8D4030-7B29-1EA0-67F1-274E581AE5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5" y="1"/>
            <a:ext cx="1376516" cy="734924"/>
          </a:xfrm>
          <a:prstGeom prst="rect">
            <a:avLst/>
          </a:prstGeom>
        </p:spPr>
      </p:pic>
      <p:sp>
        <p:nvSpPr>
          <p:cNvPr id="9"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5118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54EFE078-944B-478F-89A7-8704461FEEB2}" type="datetime1">
              <a:rPr lang="en-US" smtClean="0"/>
              <a:t>3/20/2026</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14</a:t>
            </a:fld>
            <a:endParaRPr lang="en-US" dirty="0"/>
          </a:p>
        </p:txBody>
      </p:sp>
      <p:sp>
        <p:nvSpPr>
          <p:cNvPr id="11" name="Title 1"/>
          <p:cNvSpPr txBox="1"/>
          <p:nvPr/>
        </p:nvSpPr>
        <p:spPr>
          <a:xfrm>
            <a:off x="1371600" y="0"/>
            <a:ext cx="7772400" cy="728869"/>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p>
            <a:pPr algn="ctr" defTabSz="795162">
              <a:spcBef>
                <a:spcPct val="0"/>
              </a:spcBef>
              <a:defRPr/>
            </a:pPr>
            <a:r>
              <a:rPr lang="en-US" sz="2400" b="1" dirty="0">
                <a:latin typeface="Times New Roman" panose="02020603050405020304" pitchFamily="18" charset="0"/>
                <a:cs typeface="Times New Roman" panose="02020603050405020304" pitchFamily="18" charset="0"/>
              </a:rPr>
              <a:t>CO-PSO Correlation M</a:t>
            </a:r>
            <a:r>
              <a:rPr lang="en-US" sz="2400" b="1" dirty="0" err="1">
                <a:latin typeface="Times New Roman" panose="02020603050405020304" pitchFamily="18" charset="0"/>
                <a:cs typeface="Times New Roman" panose="02020603050405020304" pitchFamily="18" charset="0"/>
              </a:rPr>
              <a:t>atrix</a:t>
            </a:r>
            <a:endParaRPr lang="en-US" sz="2400" b="1" dirty="0">
              <a:latin typeface="Times New Roman" panose="02020603050405020304" pitchFamily="18" charset="0"/>
              <a:cs typeface="Times New Roman" panose="02020603050405020304" pitchFamily="18" charset="0"/>
            </a:endParaRPr>
          </a:p>
        </p:txBody>
      </p:sp>
      <p:pic>
        <p:nvPicPr>
          <p:cNvPr id="8" name="Picture 15"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7E1CB5C2-656C-8C7C-C6D8-53E2321859FE}"/>
              </a:ext>
            </a:extLst>
          </p:cNvPr>
          <p:cNvGraphicFramePr>
            <a:graphicFrameLocks noGrp="1"/>
          </p:cNvGraphicFramePr>
          <p:nvPr>
            <p:extLst>
              <p:ext uri="{D42A27DB-BD31-4B8C-83A1-F6EECF244321}">
                <p14:modId xmlns:p14="http://schemas.microsoft.com/office/powerpoint/2010/main" val="1519448068"/>
              </p:ext>
            </p:extLst>
          </p:nvPr>
        </p:nvGraphicFramePr>
        <p:xfrm>
          <a:off x="1600200" y="1828800"/>
          <a:ext cx="5638799" cy="2895600"/>
        </p:xfrm>
        <a:graphic>
          <a:graphicData uri="http://schemas.openxmlformats.org/drawingml/2006/table">
            <a:tbl>
              <a:tblPr>
                <a:tableStyleId>{284E427A-3D55-4303-BF80-6455036E1DE7}</a:tableStyleId>
              </a:tblPr>
              <a:tblGrid>
                <a:gridCol w="1521580">
                  <a:extLst>
                    <a:ext uri="{9D8B030D-6E8A-4147-A177-3AD203B41FA5}">
                      <a16:colId xmlns:a16="http://schemas.microsoft.com/office/drawing/2014/main" val="2947297037"/>
                    </a:ext>
                  </a:extLst>
                </a:gridCol>
                <a:gridCol w="1581251">
                  <a:extLst>
                    <a:ext uri="{9D8B030D-6E8A-4147-A177-3AD203B41FA5}">
                      <a16:colId xmlns:a16="http://schemas.microsoft.com/office/drawing/2014/main" val="412278009"/>
                    </a:ext>
                  </a:extLst>
                </a:gridCol>
                <a:gridCol w="1581251">
                  <a:extLst>
                    <a:ext uri="{9D8B030D-6E8A-4147-A177-3AD203B41FA5}">
                      <a16:colId xmlns:a16="http://schemas.microsoft.com/office/drawing/2014/main" val="3129407814"/>
                    </a:ext>
                  </a:extLst>
                </a:gridCol>
                <a:gridCol w="954717">
                  <a:extLst>
                    <a:ext uri="{9D8B030D-6E8A-4147-A177-3AD203B41FA5}">
                      <a16:colId xmlns:a16="http://schemas.microsoft.com/office/drawing/2014/main" val="1590529657"/>
                    </a:ext>
                  </a:extLst>
                </a:gridCol>
              </a:tblGrid>
              <a:tr h="723900">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CO-PSO Mapping</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PSO1</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PSO2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PSO3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979338307"/>
                  </a:ext>
                </a:extLst>
              </a:tr>
              <a:tr h="361950">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CO1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729870000"/>
                  </a:ext>
                </a:extLst>
              </a:tr>
              <a:tr h="361950">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CO2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289562944"/>
                  </a:ext>
                </a:extLst>
              </a:tr>
              <a:tr h="361950">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CO3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064598539"/>
                  </a:ext>
                </a:extLst>
              </a:tr>
              <a:tr h="361950">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CO4</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521344649"/>
                  </a:ext>
                </a:extLst>
              </a:tr>
              <a:tr h="361950">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CO5</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71937115"/>
                  </a:ext>
                </a:extLst>
              </a:tr>
              <a:tr h="361950">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Average</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a:effectLst/>
                          <a:latin typeface="Times New Roman" panose="02020603050405020304" pitchFamily="18" charset="0"/>
                          <a:cs typeface="Times New Roman" panose="02020603050405020304" pitchFamily="18" charset="0"/>
                        </a:rPr>
                        <a:t>2.6</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dirty="0">
                          <a:effectLst/>
                          <a:latin typeface="Times New Roman" panose="02020603050405020304" pitchFamily="18" charset="0"/>
                          <a:cs typeface="Times New Roman" panose="02020603050405020304" pitchFamily="18" charset="0"/>
                        </a:rPr>
                        <a:t>2.8</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dirty="0">
                          <a:effectLst/>
                          <a:latin typeface="Times New Roman" panose="02020603050405020304" pitchFamily="18" charset="0"/>
                          <a:cs typeface="Times New Roman" panose="02020603050405020304" pitchFamily="18" charset="0"/>
                        </a:rPr>
                        <a:t>1.6</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085632739"/>
                  </a:ext>
                </a:extLst>
              </a:tr>
            </a:tbl>
          </a:graphicData>
        </a:graphic>
      </p:graphicFrame>
    </p:spTree>
    <p:extLst>
      <p:ext uri="{BB962C8B-B14F-4D97-AF65-F5344CB8AC3E}">
        <p14:creationId xmlns:p14="http://schemas.microsoft.com/office/powerpoint/2010/main" val="3225062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9" name="Date Placeholder 3"/>
          <p:cNvSpPr>
            <a:spLocks noGrp="1"/>
          </p:cNvSpPr>
          <p:nvPr>
            <p:ph type="dt" sz="half" idx="10"/>
          </p:nvPr>
        </p:nvSpPr>
        <p:spPr/>
        <p:txBody>
          <a:bodyPr/>
          <a:lstStyle/>
          <a:p>
            <a:fld id="{38237485-3613-41A8-8576-F4A121AF2F1F}" type="datetime1">
              <a:rPr lang="en-US" smtClean="0"/>
              <a:t>3/20/2026</a:t>
            </a:fld>
            <a:endParaRPr lang="en-US"/>
          </a:p>
        </p:txBody>
      </p:sp>
      <p:sp>
        <p:nvSpPr>
          <p:cNvPr id="1048741" name="Slide Number Placeholder 5"/>
          <p:cNvSpPr>
            <a:spLocks noGrp="1"/>
          </p:cNvSpPr>
          <p:nvPr>
            <p:ph type="sldNum" sz="quarter" idx="12"/>
          </p:nvPr>
        </p:nvSpPr>
        <p:spPr/>
        <p:txBody>
          <a:bodyPr/>
          <a:lstStyle/>
          <a:p>
            <a:fld id="{B6F15528-21DE-4FAA-801E-634DDDAF4B2B}" type="slidenum">
              <a:rPr lang="en-US" smtClean="0"/>
              <a:t>15</a:t>
            </a:fld>
            <a:endParaRPr lang="en-US"/>
          </a:p>
        </p:txBody>
      </p:sp>
      <p:sp>
        <p:nvSpPr>
          <p:cNvPr id="1048742" name="Title 1"/>
          <p:cNvSpPr txBox="1">
            <a:spLocks noGrp="1"/>
          </p:cNvSpPr>
          <p:nvPr>
            <p:ph type="title"/>
          </p:nvPr>
        </p:nvSpPr>
        <p:spPr>
          <a:xfrm>
            <a:off x="1447800" y="553"/>
            <a:ext cx="7696200" cy="688837"/>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p>
            <a:r>
              <a:rPr lang="en-IN" sz="2400" b="1" dirty="0">
                <a:latin typeface="Times New Roman" panose="02020603050405020304" pitchFamily="18" charset="0"/>
                <a:cs typeface="Times New Roman" panose="02020603050405020304" pitchFamily="18" charset="0"/>
                <a:sym typeface="Arial" charset="0"/>
              </a:rPr>
              <a:t>End Semester Question Paper Template </a:t>
            </a:r>
            <a:endParaRPr lang="en-US" sz="2400" b="1" dirty="0">
              <a:latin typeface="Times New Roman" panose="02020603050405020304" pitchFamily="18" charset="0"/>
              <a:cs typeface="Times New Roman" panose="02020603050405020304" pitchFamily="18" charset="0"/>
              <a:sym typeface="Arial" charset="0"/>
            </a:endParaRPr>
          </a:p>
        </p:txBody>
      </p:sp>
      <p:pic>
        <p:nvPicPr>
          <p:cNvPr id="8" name="Picture 15" descr="A black and red logo&#10;&#10;Description automatically generated"/>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14" y="0"/>
            <a:ext cx="1443585"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B3802B86-617F-C28E-F090-E3587B2E5702}"/>
              </a:ext>
            </a:extLst>
          </p:cNvPr>
          <p:cNvGraphicFramePr>
            <a:graphicFrameLocks noGrp="1"/>
          </p:cNvGraphicFramePr>
          <p:nvPr>
            <p:extLst>
              <p:ext uri="{D42A27DB-BD31-4B8C-83A1-F6EECF244321}">
                <p14:modId xmlns:p14="http://schemas.microsoft.com/office/powerpoint/2010/main" val="1143531239"/>
              </p:ext>
            </p:extLst>
          </p:nvPr>
        </p:nvGraphicFramePr>
        <p:xfrm>
          <a:off x="685800" y="1238182"/>
          <a:ext cx="8153400" cy="4501206"/>
        </p:xfrm>
        <a:graphic>
          <a:graphicData uri="http://schemas.openxmlformats.org/drawingml/2006/table">
            <a:tbl>
              <a:tblPr firstRow="1" firstCol="1" lastRow="1" lastCol="1" bandRow="1" bandCol="1">
                <a:tableStyleId>{5940675A-B579-460E-94D1-54222C63F5DA}</a:tableStyleId>
              </a:tblPr>
              <a:tblGrid>
                <a:gridCol w="4218132">
                  <a:extLst>
                    <a:ext uri="{9D8B030D-6E8A-4147-A177-3AD203B41FA5}">
                      <a16:colId xmlns:a16="http://schemas.microsoft.com/office/drawing/2014/main" val="3281605720"/>
                    </a:ext>
                  </a:extLst>
                </a:gridCol>
                <a:gridCol w="3935268">
                  <a:extLst>
                    <a:ext uri="{9D8B030D-6E8A-4147-A177-3AD203B41FA5}">
                      <a16:colId xmlns:a16="http://schemas.microsoft.com/office/drawing/2014/main" val="2550752635"/>
                    </a:ext>
                  </a:extLst>
                </a:gridCol>
              </a:tblGrid>
              <a:tr h="198817">
                <a:tc>
                  <a:txBody>
                    <a:bodyPr/>
                    <a:lstStyle/>
                    <a:p>
                      <a:pPr marL="36195">
                        <a:lnSpc>
                          <a:spcPts val="1430"/>
                        </a:lnSpc>
                        <a:spcBef>
                          <a:spcPts val="195"/>
                        </a:spcBef>
                        <a:buNone/>
                      </a:pPr>
                      <a:r>
                        <a:rPr lang="en-US" sz="1350" b="1" dirty="0">
                          <a:effectLst/>
                          <a:latin typeface="Times New Roman" panose="02020603050405020304" pitchFamily="18" charset="0"/>
                          <a:cs typeface="Times New Roman" panose="02020603050405020304" pitchFamily="18" charset="0"/>
                        </a:rPr>
                        <a:t>Printed Page:</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nSpc>
                          <a:spcPts val="1430"/>
                        </a:lnSpc>
                        <a:spcBef>
                          <a:spcPts val="195"/>
                        </a:spcBef>
                        <a:buNone/>
                      </a:pPr>
                      <a:r>
                        <a:rPr lang="en-US" sz="1350" b="1">
                          <a:effectLst/>
                          <a:latin typeface="Times New Roman" panose="02020603050405020304" pitchFamily="18" charset="0"/>
                          <a:cs typeface="Times New Roman" panose="02020603050405020304" pitchFamily="18" charset="0"/>
                        </a:rPr>
                        <a:t>Subject Code:</a:t>
                      </a:r>
                      <a:endParaRPr lang="en-IN" sz="11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00176750"/>
                  </a:ext>
                </a:extLst>
              </a:tr>
              <a:tr h="213157">
                <a:tc>
                  <a:txBody>
                    <a:bodyPr/>
                    <a:lstStyle/>
                    <a:p>
                      <a:pPr>
                        <a:spcBef>
                          <a:spcPts val="195"/>
                        </a:spcBef>
                        <a:buNone/>
                      </a:pPr>
                      <a:r>
                        <a:rPr lang="en-US" sz="1200" b="1" dirty="0">
                          <a:effectLst/>
                          <a:latin typeface="Times New Roman" panose="02020603050405020304" pitchFamily="18" charset="0"/>
                          <a:cs typeface="Times New Roman" panose="02020603050405020304" pitchFamily="18" charset="0"/>
                        </a:rPr>
                        <a:t> </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nSpc>
                          <a:spcPts val="1515"/>
                        </a:lnSpc>
                        <a:spcBef>
                          <a:spcPts val="195"/>
                        </a:spcBef>
                        <a:buNone/>
                      </a:pPr>
                      <a:r>
                        <a:rPr lang="en-US" sz="1350" b="1">
                          <a:effectLst/>
                          <a:latin typeface="Times New Roman" panose="02020603050405020304" pitchFamily="18" charset="0"/>
                          <a:cs typeface="Times New Roman" panose="02020603050405020304" pitchFamily="18" charset="0"/>
                        </a:rPr>
                        <a:t>Roll. </a:t>
                      </a:r>
                      <a:r>
                        <a:rPr lang="en-US" sz="1350" b="1" spc="-25">
                          <a:effectLst/>
                          <a:latin typeface="Times New Roman" panose="02020603050405020304" pitchFamily="18" charset="0"/>
                          <a:cs typeface="Times New Roman" panose="02020603050405020304" pitchFamily="18" charset="0"/>
                        </a:rPr>
                        <a:t>No:</a:t>
                      </a:r>
                      <a:endParaRPr lang="en-IN" sz="11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320857534"/>
                  </a:ext>
                </a:extLst>
              </a:tr>
              <a:tr h="221632">
                <a:tc>
                  <a:txBody>
                    <a:bodyPr/>
                    <a:lstStyle/>
                    <a:p>
                      <a:pPr>
                        <a:spcBef>
                          <a:spcPts val="195"/>
                        </a:spcBef>
                        <a:buNone/>
                      </a:pPr>
                      <a:r>
                        <a:rPr lang="en-US" sz="1300" b="1" dirty="0">
                          <a:effectLst/>
                          <a:latin typeface="Times New Roman" panose="02020603050405020304" pitchFamily="18" charset="0"/>
                          <a:cs typeface="Times New Roman" panose="02020603050405020304" pitchFamily="18" charset="0"/>
                        </a:rPr>
                        <a:t> </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00660">
                        <a:spcBef>
                          <a:spcPts val="195"/>
                        </a:spcBef>
                        <a:buNone/>
                        <a:tabLst>
                          <a:tab pos="421640" algn="l"/>
                          <a:tab pos="643255" algn="l"/>
                          <a:tab pos="864235" algn="l"/>
                          <a:tab pos="1085215" algn="l"/>
                          <a:tab pos="1306830" algn="l"/>
                          <a:tab pos="1527810" algn="l"/>
                          <a:tab pos="1748790" algn="l"/>
                          <a:tab pos="1970405" algn="l"/>
                          <a:tab pos="2191385" algn="l"/>
                          <a:tab pos="2412365" algn="l"/>
                          <a:tab pos="2633980" algn="l"/>
                          <a:tab pos="2854960" algn="l"/>
                          <a:tab pos="3075940" algn="l"/>
                        </a:tabLst>
                      </a:pP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endParaRPr lang="en-US" sz="11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836540522"/>
                  </a:ext>
                </a:extLst>
              </a:tr>
              <a:tr h="185612">
                <a:tc gridSpan="2">
                  <a:txBody>
                    <a:bodyPr/>
                    <a:lstStyle/>
                    <a:p>
                      <a:pPr algn="ctr">
                        <a:lnSpc>
                          <a:spcPct val="150000"/>
                        </a:lnSpc>
                        <a:spcBef>
                          <a:spcPts val="195"/>
                        </a:spcBef>
                        <a:buNone/>
                      </a:pPr>
                      <a:r>
                        <a:rPr lang="en-US" sz="1350" b="1" dirty="0">
                          <a:effectLst/>
                          <a:latin typeface="Times New Roman" panose="02020603050405020304" pitchFamily="18" charset="0"/>
                          <a:cs typeface="Times New Roman" panose="02020603050405020304" pitchFamily="18" charset="0"/>
                        </a:rPr>
                        <a:t>NOIDA INSTITUTE OF ENGINEERING AND TECHNOLOGY, GREATER </a:t>
                      </a:r>
                      <a:r>
                        <a:rPr lang="en-US" sz="1350" b="1" spc="-10" dirty="0">
                          <a:effectLst/>
                          <a:latin typeface="Times New Roman" panose="02020603050405020304" pitchFamily="18" charset="0"/>
                          <a:cs typeface="Times New Roman" panose="02020603050405020304" pitchFamily="18" charset="0"/>
                        </a:rPr>
                        <a:t>NOIDA</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extLst>
                  <a:ext uri="{0D108BD9-81ED-4DB2-BD59-A6C34878D82A}">
                    <a16:rowId xmlns:a16="http://schemas.microsoft.com/office/drawing/2014/main" val="1545542358"/>
                  </a:ext>
                </a:extLst>
              </a:tr>
              <a:tr h="212350">
                <a:tc gridSpan="2">
                  <a:txBody>
                    <a:bodyPr/>
                    <a:lstStyle/>
                    <a:p>
                      <a:pPr marL="55245" algn="ctr">
                        <a:lnSpc>
                          <a:spcPts val="1450"/>
                        </a:lnSpc>
                        <a:spcBef>
                          <a:spcPts val="195"/>
                        </a:spcBef>
                        <a:buNone/>
                      </a:pPr>
                      <a:r>
                        <a:rPr lang="en-US" sz="1350" b="1" dirty="0">
                          <a:effectLst/>
                          <a:latin typeface="Times New Roman" panose="02020603050405020304" pitchFamily="18" charset="0"/>
                          <a:cs typeface="Times New Roman" panose="02020603050405020304" pitchFamily="18" charset="0"/>
                        </a:rPr>
                        <a:t>(An Autonomous Institute Affiliated to AKTU, </a:t>
                      </a:r>
                      <a:r>
                        <a:rPr lang="en-US" sz="1350" b="1" spc="-10" dirty="0">
                          <a:effectLst/>
                          <a:latin typeface="Times New Roman" panose="02020603050405020304" pitchFamily="18" charset="0"/>
                          <a:cs typeface="Times New Roman" panose="02020603050405020304" pitchFamily="18" charset="0"/>
                        </a:rPr>
                        <a:t>Lucknow)</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extLst>
                  <a:ext uri="{0D108BD9-81ED-4DB2-BD59-A6C34878D82A}">
                    <a16:rowId xmlns:a16="http://schemas.microsoft.com/office/drawing/2014/main" val="1400563555"/>
                  </a:ext>
                </a:extLst>
              </a:tr>
              <a:tr h="212350">
                <a:tc gridSpan="2">
                  <a:txBody>
                    <a:bodyPr/>
                    <a:lstStyle/>
                    <a:p>
                      <a:pPr algn="ctr">
                        <a:lnSpc>
                          <a:spcPts val="1450"/>
                        </a:lnSpc>
                        <a:spcBef>
                          <a:spcPts val="195"/>
                        </a:spcBef>
                        <a:buNone/>
                      </a:pPr>
                      <a:r>
                        <a:rPr lang="en-US" sz="1350" b="1" spc="-10" dirty="0">
                          <a:effectLst/>
                          <a:latin typeface="Times New Roman" panose="02020603050405020304" pitchFamily="18" charset="0"/>
                          <a:cs typeface="Times New Roman" panose="02020603050405020304" pitchFamily="18" charset="0"/>
                        </a:rPr>
                        <a:t>B.Tec</a:t>
                      </a:r>
                      <a:r>
                        <a:rPr lang="en-US" sz="1350" b="1" spc="-50" dirty="0">
                          <a:effectLst/>
                          <a:latin typeface="Times New Roman" panose="02020603050405020304" pitchFamily="18" charset="0"/>
                          <a:cs typeface="Times New Roman" panose="02020603050405020304" pitchFamily="18" charset="0"/>
                        </a:rPr>
                        <a:t>h</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extLst>
                  <a:ext uri="{0D108BD9-81ED-4DB2-BD59-A6C34878D82A}">
                    <a16:rowId xmlns:a16="http://schemas.microsoft.com/office/drawing/2014/main" val="802784262"/>
                  </a:ext>
                </a:extLst>
              </a:tr>
              <a:tr h="453014">
                <a:tc gridSpan="2">
                  <a:txBody>
                    <a:bodyPr/>
                    <a:lstStyle/>
                    <a:p>
                      <a:pPr marL="55245" algn="ctr">
                        <a:lnSpc>
                          <a:spcPts val="1525"/>
                        </a:lnSpc>
                        <a:spcBef>
                          <a:spcPts val="195"/>
                        </a:spcBef>
                        <a:buNone/>
                      </a:pPr>
                      <a:r>
                        <a:rPr lang="en-US" sz="1350" b="1" dirty="0">
                          <a:effectLst/>
                          <a:latin typeface="Times New Roman" panose="02020603050405020304" pitchFamily="18" charset="0"/>
                          <a:cs typeface="Times New Roman" panose="02020603050405020304" pitchFamily="18" charset="0"/>
                        </a:rPr>
                        <a:t>SEM:  - THEORY EXAMINATION (2025 - </a:t>
                      </a:r>
                      <a:r>
                        <a:rPr lang="en-US" sz="1350" b="1" spc="-10" dirty="0">
                          <a:effectLst/>
                          <a:latin typeface="Times New Roman" panose="02020603050405020304" pitchFamily="18" charset="0"/>
                          <a:cs typeface="Times New Roman" panose="02020603050405020304" pitchFamily="18" charset="0"/>
                        </a:rPr>
                        <a:t>2026)</a:t>
                      </a:r>
                      <a:endParaRPr lang="en-IN" sz="1100" b="1" dirty="0">
                        <a:effectLst/>
                        <a:latin typeface="Times New Roman" panose="02020603050405020304" pitchFamily="18" charset="0"/>
                        <a:cs typeface="Times New Roman" panose="02020603050405020304" pitchFamily="18" charset="0"/>
                      </a:endParaRPr>
                    </a:p>
                    <a:p>
                      <a:pPr marL="55245" marR="635" algn="ctr">
                        <a:lnSpc>
                          <a:spcPts val="1480"/>
                        </a:lnSpc>
                        <a:spcBef>
                          <a:spcPts val="195"/>
                        </a:spcBef>
                        <a:buNone/>
                      </a:pPr>
                      <a:r>
                        <a:rPr lang="en-US" sz="1350" b="1" dirty="0">
                          <a:effectLst/>
                          <a:latin typeface="Times New Roman" panose="02020603050405020304" pitchFamily="18" charset="0"/>
                          <a:cs typeface="Times New Roman" panose="02020603050405020304" pitchFamily="18" charset="0"/>
                        </a:rPr>
                        <a:t>Subject:</a:t>
                      </a:r>
                      <a:r>
                        <a:rPr lang="en-US" sz="1350" b="1" spc="-5" dirty="0">
                          <a:effectLst/>
                          <a:latin typeface="Times New Roman" panose="02020603050405020304" pitchFamily="18" charset="0"/>
                          <a:cs typeface="Times New Roman" panose="02020603050405020304" pitchFamily="18" charset="0"/>
                        </a:rPr>
                        <a:t> </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extLst>
                  <a:ext uri="{0D108BD9-81ED-4DB2-BD59-A6C34878D82A}">
                    <a16:rowId xmlns:a16="http://schemas.microsoft.com/office/drawing/2014/main" val="2233155693"/>
                  </a:ext>
                </a:extLst>
              </a:tr>
              <a:tr h="212350">
                <a:tc>
                  <a:txBody>
                    <a:bodyPr/>
                    <a:lstStyle/>
                    <a:p>
                      <a:pPr marL="165100">
                        <a:lnSpc>
                          <a:spcPts val="1450"/>
                        </a:lnSpc>
                        <a:spcBef>
                          <a:spcPts val="195"/>
                        </a:spcBef>
                        <a:buNone/>
                      </a:pPr>
                      <a:r>
                        <a:rPr lang="en-US" sz="1350" b="1">
                          <a:effectLst/>
                          <a:latin typeface="Times New Roman" panose="02020603050405020304" pitchFamily="18" charset="0"/>
                          <a:cs typeface="Times New Roman" panose="02020603050405020304" pitchFamily="18" charset="0"/>
                        </a:rPr>
                        <a:t>Time: 3 </a:t>
                      </a:r>
                      <a:r>
                        <a:rPr lang="en-US" sz="1350" b="1" spc="-10">
                          <a:effectLst/>
                          <a:latin typeface="Times New Roman" panose="02020603050405020304" pitchFamily="18" charset="0"/>
                          <a:cs typeface="Times New Roman" panose="02020603050405020304" pitchFamily="18" charset="0"/>
                        </a:rPr>
                        <a:t>Hours</a:t>
                      </a:r>
                      <a:endParaRPr lang="en-IN" sz="11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078355">
                        <a:lnSpc>
                          <a:spcPts val="1450"/>
                        </a:lnSpc>
                        <a:spcBef>
                          <a:spcPts val="195"/>
                        </a:spcBef>
                        <a:buNone/>
                      </a:pPr>
                      <a:r>
                        <a:rPr lang="en-US" sz="1350" b="1" dirty="0">
                          <a:effectLst/>
                          <a:latin typeface="Times New Roman" panose="02020603050405020304" pitchFamily="18" charset="0"/>
                          <a:cs typeface="Times New Roman" panose="02020603050405020304" pitchFamily="18" charset="0"/>
                        </a:rPr>
                        <a:t>Max. Marks: </a:t>
                      </a:r>
                      <a:r>
                        <a:rPr lang="en-US" sz="1350" b="1" spc="-25" dirty="0">
                          <a:effectLst/>
                          <a:latin typeface="Times New Roman" panose="02020603050405020304" pitchFamily="18" charset="0"/>
                          <a:cs typeface="Times New Roman" panose="02020603050405020304" pitchFamily="18" charset="0"/>
                        </a:rPr>
                        <a:t>100</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974846751"/>
                  </a:ext>
                </a:extLst>
              </a:tr>
              <a:tr h="2468926">
                <a:tc gridSpan="2">
                  <a:txBody>
                    <a:bodyPr/>
                    <a:lstStyle/>
                    <a:p>
                      <a:pPr marL="36195">
                        <a:lnSpc>
                          <a:spcPts val="1525"/>
                        </a:lnSpc>
                        <a:spcBef>
                          <a:spcPts val="195"/>
                        </a:spcBef>
                        <a:buNone/>
                      </a:pPr>
                      <a:r>
                        <a:rPr lang="en-US" sz="1350" b="1" dirty="0">
                          <a:effectLst/>
                          <a:latin typeface="Times New Roman" panose="02020603050405020304" pitchFamily="18" charset="0"/>
                          <a:cs typeface="Times New Roman" panose="02020603050405020304" pitchFamily="18" charset="0"/>
                        </a:rPr>
                        <a:t>General </a:t>
                      </a:r>
                      <a:r>
                        <a:rPr lang="en-US" sz="1350" b="1" spc="-10" dirty="0">
                          <a:effectLst/>
                          <a:latin typeface="Times New Roman" panose="02020603050405020304" pitchFamily="18" charset="0"/>
                          <a:cs typeface="Times New Roman" panose="02020603050405020304" pitchFamily="18" charset="0"/>
                        </a:rPr>
                        <a:t>Instructions:</a:t>
                      </a:r>
                      <a:endParaRPr lang="en-IN" sz="1100" b="1" dirty="0">
                        <a:effectLst/>
                        <a:latin typeface="Times New Roman" panose="02020603050405020304" pitchFamily="18" charset="0"/>
                        <a:cs typeface="Times New Roman" panose="02020603050405020304" pitchFamily="18" charset="0"/>
                      </a:endParaRPr>
                    </a:p>
                    <a:p>
                      <a:pPr marL="36195">
                        <a:spcBef>
                          <a:spcPts val="195"/>
                        </a:spcBef>
                        <a:buNone/>
                      </a:pPr>
                      <a:r>
                        <a:rPr lang="en-US" sz="1350" b="1" dirty="0">
                          <a:effectLst/>
                          <a:latin typeface="Times New Roman" panose="02020603050405020304" pitchFamily="18" charset="0"/>
                          <a:cs typeface="Times New Roman" panose="02020603050405020304" pitchFamily="18" charset="0"/>
                        </a:rPr>
                        <a:t>IMP:</a:t>
                      </a:r>
                      <a:r>
                        <a:rPr lang="en-US" sz="1350" b="1" spc="-5" dirty="0">
                          <a:effectLst/>
                          <a:latin typeface="Times New Roman" panose="02020603050405020304" pitchFamily="18" charset="0"/>
                          <a:cs typeface="Times New Roman" panose="02020603050405020304" pitchFamily="18" charset="0"/>
                        </a:rPr>
                        <a:t> </a:t>
                      </a:r>
                      <a:r>
                        <a:rPr lang="en-US" sz="1350" b="1" dirty="0">
                          <a:effectLst/>
                          <a:latin typeface="Times New Roman" panose="02020603050405020304" pitchFamily="18" charset="0"/>
                          <a:cs typeface="Times New Roman" panose="02020603050405020304" pitchFamily="18" charset="0"/>
                        </a:rPr>
                        <a:t>Verify that you have received the question paper with the correct course, code, branch </a:t>
                      </a:r>
                      <a:r>
                        <a:rPr lang="en-US" sz="1350" b="1" spc="-20" dirty="0">
                          <a:effectLst/>
                          <a:latin typeface="Times New Roman" panose="02020603050405020304" pitchFamily="18" charset="0"/>
                          <a:cs typeface="Times New Roman" panose="02020603050405020304" pitchFamily="18" charset="0"/>
                        </a:rPr>
                        <a:t>etc.</a:t>
                      </a:r>
                      <a:endParaRPr lang="en-IN" sz="1100" b="1" dirty="0">
                        <a:effectLst/>
                        <a:latin typeface="Times New Roman" panose="02020603050405020304" pitchFamily="18" charset="0"/>
                        <a:cs typeface="Times New Roman" panose="02020603050405020304" pitchFamily="18" charset="0"/>
                      </a:endParaRPr>
                    </a:p>
                    <a:p>
                      <a:pPr marL="342900" marR="424180" lvl="0" indent="-342900">
                        <a:spcBef>
                          <a:spcPts val="195"/>
                        </a:spcBef>
                        <a:buSzPts val="1350"/>
                        <a:buFont typeface="Times New Roman" panose="02020603050405020304" pitchFamily="18" charset="0"/>
                        <a:buAutoNum type="arabicPeriod"/>
                        <a:tabLst>
                          <a:tab pos="207645" algn="l"/>
                        </a:tabLst>
                      </a:pPr>
                      <a:r>
                        <a:rPr lang="en-US" sz="1350" b="1" spc="0" dirty="0">
                          <a:effectLst/>
                          <a:latin typeface="Times New Roman" panose="02020603050405020304" pitchFamily="18" charset="0"/>
                          <a:cs typeface="Times New Roman" panose="02020603050405020304" pitchFamily="18" charset="0"/>
                        </a:rPr>
                        <a:t>This</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Question</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paper</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comprises</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of</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three</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Sections</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-A,</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B,</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&amp;</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C.</a:t>
                      </a:r>
                      <a:r>
                        <a:rPr lang="en-US" sz="1350" b="1" spc="-20"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It</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consists</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of</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Multiple</a:t>
                      </a:r>
                      <a:r>
                        <a:rPr lang="en-US" sz="1350" b="1" spc="-15" dirty="0">
                          <a:effectLst/>
                          <a:latin typeface="Times New Roman" panose="02020603050405020304" pitchFamily="18" charset="0"/>
                          <a:cs typeface="Times New Roman" panose="02020603050405020304" pitchFamily="18" charset="0"/>
                        </a:rPr>
                        <a:t>-Choice</a:t>
                      </a:r>
                      <a:r>
                        <a:rPr lang="en-US" sz="1350" b="1" spc="0" dirty="0">
                          <a:effectLst/>
                          <a:latin typeface="Times New Roman" panose="02020603050405020304" pitchFamily="18" charset="0"/>
                          <a:cs typeface="Times New Roman" panose="02020603050405020304" pitchFamily="18" charset="0"/>
                        </a:rPr>
                        <a:t> Questions (MCQ’s) &amp; Subjective type questions.</a:t>
                      </a:r>
                      <a:endParaRPr lang="en-IN" sz="1100" b="1" spc="0" dirty="0">
                        <a:effectLst/>
                        <a:latin typeface="Times New Roman" panose="02020603050405020304" pitchFamily="18" charset="0"/>
                        <a:cs typeface="Times New Roman" panose="02020603050405020304" pitchFamily="18" charset="0"/>
                      </a:endParaRPr>
                    </a:p>
                    <a:p>
                      <a:pPr marL="342900" lvl="0" indent="-342900">
                        <a:spcBef>
                          <a:spcPts val="195"/>
                        </a:spcBef>
                        <a:buSzPts val="1350"/>
                        <a:buFont typeface="Times New Roman" panose="02020603050405020304" pitchFamily="18" charset="0"/>
                        <a:buAutoNum type="arabicPeriod"/>
                        <a:tabLst>
                          <a:tab pos="207645" algn="l"/>
                        </a:tabLst>
                      </a:pPr>
                      <a:r>
                        <a:rPr lang="en-US" sz="1350" b="1" spc="0" dirty="0">
                          <a:effectLst/>
                          <a:latin typeface="Times New Roman" panose="02020603050405020304" pitchFamily="18" charset="0"/>
                          <a:cs typeface="Times New Roman" panose="02020603050405020304" pitchFamily="18" charset="0"/>
                        </a:rPr>
                        <a:t>Maximum marks for each question are indicated on right -hand side of each </a:t>
                      </a:r>
                      <a:r>
                        <a:rPr lang="en-US" sz="1350" b="1" spc="-10" dirty="0">
                          <a:effectLst/>
                          <a:latin typeface="Times New Roman" panose="02020603050405020304" pitchFamily="18" charset="0"/>
                          <a:cs typeface="Times New Roman" panose="02020603050405020304" pitchFamily="18" charset="0"/>
                        </a:rPr>
                        <a:t>question.</a:t>
                      </a:r>
                      <a:endParaRPr lang="en-IN" sz="1100" b="1" spc="0" dirty="0">
                        <a:effectLst/>
                        <a:latin typeface="Times New Roman" panose="02020603050405020304" pitchFamily="18" charset="0"/>
                        <a:cs typeface="Times New Roman" panose="02020603050405020304" pitchFamily="18" charset="0"/>
                      </a:endParaRPr>
                    </a:p>
                    <a:p>
                      <a:pPr marL="342900" lvl="0" indent="-342900">
                        <a:spcBef>
                          <a:spcPts val="195"/>
                        </a:spcBef>
                        <a:buSzPts val="1350"/>
                        <a:buFont typeface="Times New Roman" panose="02020603050405020304" pitchFamily="18" charset="0"/>
                        <a:buAutoNum type="arabicPeriod"/>
                        <a:tabLst>
                          <a:tab pos="207645" algn="l"/>
                        </a:tabLst>
                      </a:pPr>
                      <a:r>
                        <a:rPr lang="en-US" sz="1350" b="1" spc="0" dirty="0">
                          <a:effectLst/>
                          <a:latin typeface="Times New Roman" panose="02020603050405020304" pitchFamily="18" charset="0"/>
                          <a:cs typeface="Times New Roman" panose="02020603050405020304" pitchFamily="18" charset="0"/>
                        </a:rPr>
                        <a:t>Illustrate your answers with neat sketches wherever </a:t>
                      </a:r>
                      <a:r>
                        <a:rPr lang="en-US" sz="1350" b="1" spc="-10" dirty="0">
                          <a:effectLst/>
                          <a:latin typeface="Times New Roman" panose="02020603050405020304" pitchFamily="18" charset="0"/>
                          <a:cs typeface="Times New Roman" panose="02020603050405020304" pitchFamily="18" charset="0"/>
                        </a:rPr>
                        <a:t>necessary.</a:t>
                      </a:r>
                      <a:endParaRPr lang="en-IN" sz="1100" b="1" spc="0" dirty="0">
                        <a:effectLst/>
                        <a:latin typeface="Times New Roman" panose="02020603050405020304" pitchFamily="18" charset="0"/>
                        <a:cs typeface="Times New Roman" panose="02020603050405020304" pitchFamily="18" charset="0"/>
                      </a:endParaRPr>
                    </a:p>
                    <a:p>
                      <a:pPr marL="342900" lvl="0" indent="-342900">
                        <a:spcBef>
                          <a:spcPts val="195"/>
                        </a:spcBef>
                        <a:buSzPts val="1350"/>
                        <a:buFont typeface="Times New Roman" panose="02020603050405020304" pitchFamily="18" charset="0"/>
                        <a:buAutoNum type="arabicPeriod"/>
                        <a:tabLst>
                          <a:tab pos="207645" algn="l"/>
                        </a:tabLst>
                      </a:pPr>
                      <a:r>
                        <a:rPr lang="en-US" sz="1350" b="1" spc="0" dirty="0">
                          <a:effectLst/>
                          <a:latin typeface="Times New Roman" panose="02020603050405020304" pitchFamily="18" charset="0"/>
                          <a:cs typeface="Times New Roman" panose="02020603050405020304" pitchFamily="18" charset="0"/>
                        </a:rPr>
                        <a:t>Assume suitable data if </a:t>
                      </a:r>
                      <a:r>
                        <a:rPr lang="en-US" sz="1350" b="1" spc="-10" dirty="0">
                          <a:effectLst/>
                          <a:latin typeface="Times New Roman" panose="02020603050405020304" pitchFamily="18" charset="0"/>
                          <a:cs typeface="Times New Roman" panose="02020603050405020304" pitchFamily="18" charset="0"/>
                        </a:rPr>
                        <a:t>necessary.</a:t>
                      </a:r>
                      <a:endParaRPr lang="en-IN" sz="1100" b="1" spc="0" dirty="0">
                        <a:effectLst/>
                        <a:latin typeface="Times New Roman" panose="02020603050405020304" pitchFamily="18" charset="0"/>
                        <a:cs typeface="Times New Roman" panose="02020603050405020304" pitchFamily="18" charset="0"/>
                      </a:endParaRPr>
                    </a:p>
                    <a:p>
                      <a:pPr marL="342900" lvl="0" indent="-342900">
                        <a:spcBef>
                          <a:spcPts val="195"/>
                        </a:spcBef>
                        <a:buSzPts val="1350"/>
                        <a:buFont typeface="Times New Roman" panose="02020603050405020304" pitchFamily="18" charset="0"/>
                        <a:buAutoNum type="arabicPeriod"/>
                        <a:tabLst>
                          <a:tab pos="207645" algn="l"/>
                        </a:tabLst>
                      </a:pPr>
                      <a:r>
                        <a:rPr lang="en-US" sz="1350" b="1" spc="0" dirty="0">
                          <a:effectLst/>
                          <a:latin typeface="Times New Roman" panose="02020603050405020304" pitchFamily="18" charset="0"/>
                          <a:cs typeface="Times New Roman" panose="02020603050405020304" pitchFamily="18" charset="0"/>
                        </a:rPr>
                        <a:t>Preferably, write the answers in sequential </a:t>
                      </a:r>
                      <a:r>
                        <a:rPr lang="en-US" sz="1350" b="1" spc="-10" dirty="0">
                          <a:effectLst/>
                          <a:latin typeface="Times New Roman" panose="02020603050405020304" pitchFamily="18" charset="0"/>
                          <a:cs typeface="Times New Roman" panose="02020603050405020304" pitchFamily="18" charset="0"/>
                        </a:rPr>
                        <a:t>order.</a:t>
                      </a:r>
                      <a:endParaRPr lang="en-IN" sz="1100" b="1" spc="0" dirty="0">
                        <a:effectLst/>
                        <a:latin typeface="Times New Roman" panose="02020603050405020304" pitchFamily="18" charset="0"/>
                        <a:cs typeface="Times New Roman" panose="02020603050405020304" pitchFamily="18" charset="0"/>
                      </a:endParaRPr>
                    </a:p>
                    <a:p>
                      <a:pPr marL="342900" marR="1101090" lvl="0" indent="-342900">
                        <a:lnSpc>
                          <a:spcPts val="1550"/>
                        </a:lnSpc>
                        <a:spcBef>
                          <a:spcPts val="195"/>
                        </a:spcBef>
                        <a:buSzPts val="1350"/>
                        <a:buFont typeface="Times New Roman" panose="02020603050405020304" pitchFamily="18" charset="0"/>
                        <a:buAutoNum type="arabicPeriod"/>
                        <a:tabLst>
                          <a:tab pos="207645" algn="l"/>
                        </a:tabLst>
                      </a:pPr>
                      <a:r>
                        <a:rPr lang="en-US" sz="1350" b="1" spc="0" dirty="0">
                          <a:effectLst/>
                          <a:latin typeface="Times New Roman" panose="02020603050405020304" pitchFamily="18" charset="0"/>
                          <a:cs typeface="Times New Roman" panose="02020603050405020304" pitchFamily="18" charset="0"/>
                        </a:rPr>
                        <a:t>No</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sheet</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should</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be</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left</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blank.</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Any</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written</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material</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after</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a</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blank</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sheet</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will</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not</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be </a:t>
                      </a:r>
                      <a:r>
                        <a:rPr lang="en-US" sz="1350" b="1" spc="-10" dirty="0">
                          <a:effectLst/>
                          <a:latin typeface="Times New Roman" panose="02020603050405020304" pitchFamily="18" charset="0"/>
                          <a:cs typeface="Times New Roman" panose="02020603050405020304" pitchFamily="18" charset="0"/>
                        </a:rPr>
                        <a:t>evaluated/checked.</a:t>
                      </a:r>
                      <a:endParaRPr lang="en-IN" sz="1100" b="1" spc="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extLst>
                  <a:ext uri="{0D108BD9-81ED-4DB2-BD59-A6C34878D82A}">
                    <a16:rowId xmlns:a16="http://schemas.microsoft.com/office/drawing/2014/main" val="3922005269"/>
                  </a:ext>
                </a:extLst>
              </a:tr>
            </a:tbl>
          </a:graphicData>
        </a:graphic>
      </p:graphicFrame>
      <p:sp>
        <p:nvSpPr>
          <p:cNvPr id="46" name="Rectangle 32">
            <a:extLst>
              <a:ext uri="{FF2B5EF4-FFF2-40B4-BE49-F238E27FC236}">
                <a16:creationId xmlns:a16="http://schemas.microsoft.com/office/drawing/2014/main" id="{8D42C68E-CE5D-F378-42AE-F355FC1960B8}"/>
              </a:ext>
            </a:extLst>
          </p:cNvPr>
          <p:cNvSpPr>
            <a:spLocks noChangeArrowheads="1"/>
          </p:cNvSpPr>
          <p:nvPr/>
        </p:nvSpPr>
        <p:spPr bwMode="auto">
          <a:xfrm>
            <a:off x="1108075" y="2801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7" name="Rectangle 33">
            <a:extLst>
              <a:ext uri="{FF2B5EF4-FFF2-40B4-BE49-F238E27FC236}">
                <a16:creationId xmlns:a16="http://schemas.microsoft.com/office/drawing/2014/main" id="{171997E9-C72E-E810-9F3F-00C0A4BF7786}"/>
              </a:ext>
            </a:extLst>
          </p:cNvPr>
          <p:cNvSpPr>
            <a:spLocks noChangeArrowheads="1"/>
          </p:cNvSpPr>
          <p:nvPr/>
        </p:nvSpPr>
        <p:spPr bwMode="auto">
          <a:xfrm>
            <a:off x="1108075" y="27987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489987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4" name="Date Placeholder 3"/>
          <p:cNvSpPr>
            <a:spLocks noGrp="1"/>
          </p:cNvSpPr>
          <p:nvPr>
            <p:ph type="dt" sz="quarter" idx="11"/>
          </p:nvPr>
        </p:nvSpPr>
        <p:spPr>
          <a:xfrm>
            <a:off x="-228600" y="6348412"/>
            <a:ext cx="2895600" cy="317500"/>
          </a:xfrm>
          <a:noFill/>
        </p:spPr>
        <p:txBody>
          <a:bodyPr/>
          <a:lstStyle>
            <a:lvl1pPr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646069" indent="-248488"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993953"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391534"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1789115"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186696"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584277"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2981858"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379440"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7A748CEA-5A5D-4DFB-8BFF-C2122995FD4F}" type="datetime1">
              <a:rPr lang="en-US" altLang="en-US" sz="1044" smtClean="0">
                <a:solidFill>
                  <a:srgbClr val="888888"/>
                </a:solidFill>
                <a:latin typeface="Calibri" panose="020F0502020204030204" pitchFamily="34" charset="0"/>
                <a:sym typeface="Calibri" panose="020F0502020204030204" pitchFamily="34" charset="0"/>
              </a:rPr>
              <a:t>3/20/2026</a:t>
            </a:fld>
            <a:endParaRPr lang="en-US" altLang="en-US" sz="1044" dirty="0">
              <a:solidFill>
                <a:srgbClr val="888888"/>
              </a:solidFill>
              <a:latin typeface="Calibri" panose="020F0502020204030204" pitchFamily="34" charset="0"/>
              <a:sym typeface="Calibri" panose="020F0502020204030204" pitchFamily="34" charset="0"/>
            </a:endParaRPr>
          </a:p>
        </p:txBody>
      </p:sp>
      <p:sp>
        <p:nvSpPr>
          <p:cNvPr id="1048745" name="Title 1"/>
          <p:cNvSpPr txBox="1"/>
          <p:nvPr/>
        </p:nvSpPr>
        <p:spPr>
          <a:xfrm>
            <a:off x="1371600" y="0"/>
            <a:ext cx="7772400" cy="72887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r>
              <a:rPr lang="en-IN" sz="2400" b="1" dirty="0">
                <a:latin typeface="Times New Roman" panose="02020603050405020304" pitchFamily="18" charset="0"/>
                <a:cs typeface="Times New Roman" panose="02020603050405020304" pitchFamily="18" charset="0"/>
                <a:sym typeface="Arial" charset="0"/>
              </a:rPr>
              <a:t>End Semester Question Paper Templates </a:t>
            </a:r>
            <a:endParaRPr lang="en-US" sz="2400" b="1" dirty="0">
              <a:latin typeface="Times New Roman" panose="02020603050405020304" pitchFamily="18" charset="0"/>
              <a:cs typeface="Times New Roman" panose="02020603050405020304" pitchFamily="18" charset="0"/>
              <a:sym typeface="Arial" charset="0"/>
            </a:endParaRPr>
          </a:p>
        </p:txBody>
      </p:sp>
      <p:sp>
        <p:nvSpPr>
          <p:cNvPr id="1048746" name="Rectangle 2"/>
          <p:cNvSpPr>
            <a:spLocks noChangeArrowheads="1"/>
          </p:cNvSpPr>
          <p:nvPr/>
        </p:nvSpPr>
        <p:spPr bwMode="auto">
          <a:xfrm>
            <a:off x="0" y="318935"/>
            <a:ext cx="184731" cy="654218"/>
          </a:xfrm>
          <a:prstGeom prst="rect">
            <a:avLst/>
          </a:prstGeom>
          <a:noFill/>
          <a:ln>
            <a:noFill/>
          </a:ln>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217"/>
              <a:t/>
            </a:r>
            <a:br>
              <a:rPr lang="en-US" altLang="en-US" sz="1217"/>
            </a:br>
            <a:endParaRPr lang="en-US" altLang="en-US" sz="1217"/>
          </a:p>
          <a:p>
            <a:pPr eaLnBrk="1" hangingPunct="1"/>
            <a:endParaRPr lang="en-US" altLang="en-US" sz="1217"/>
          </a:p>
        </p:txBody>
      </p:sp>
      <p:sp>
        <p:nvSpPr>
          <p:cNvPr id="1048749" name="Slide Number Placeholder 11"/>
          <p:cNvSpPr>
            <a:spLocks noGrp="1"/>
          </p:cNvSpPr>
          <p:nvPr>
            <p:ph type="sldNum" sz="quarter" idx="4294967295"/>
          </p:nvPr>
        </p:nvSpPr>
        <p:spPr bwMode="auto">
          <a:xfrm>
            <a:off x="6629400" y="6314250"/>
            <a:ext cx="2133600" cy="317500"/>
          </a:xfrm>
          <a:prstGeom prst="rect">
            <a:avLst/>
          </a:prstGeom>
          <a:noFill/>
          <a:ln w="9525">
            <a:noFill/>
            <a:miter lim="800000"/>
            <a:headEnd/>
            <a:tailEnd/>
          </a:ln>
        </p:spPr>
        <p:txBody>
          <a:bodyPr vert="horz" wrap="square" lIns="79500" tIns="39739" rIns="79500" bIns="39739" numCol="1" rtlCol="0"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044"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397581"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795162"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192743"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590324"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1987906"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385487"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2783068"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180649"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16</a:t>
            </a:fld>
            <a:endParaRPr lang="en-US" altLang="en-US"/>
          </a:p>
        </p:txBody>
      </p:sp>
      <p:pic>
        <p:nvPicPr>
          <p:cNvPr id="11" name="Picture 15"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Footer Placeholder 12"/>
          <p:cNvSpPr txBox="1">
            <a:spLocks/>
          </p:cNvSpPr>
          <p:nvPr/>
        </p:nvSpPr>
        <p:spPr>
          <a:xfrm>
            <a:off x="1905000" y="6324600"/>
            <a:ext cx="5410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Ankur Kumar Varshney                 BCSE0404X(TOC)                     Unit III</a:t>
            </a:r>
          </a:p>
        </p:txBody>
      </p:sp>
      <p:graphicFrame>
        <p:nvGraphicFramePr>
          <p:cNvPr id="4" name="Table 3">
            <a:extLst>
              <a:ext uri="{FF2B5EF4-FFF2-40B4-BE49-F238E27FC236}">
                <a16:creationId xmlns:a16="http://schemas.microsoft.com/office/drawing/2014/main" id="{78CF4264-36CC-C589-1E09-F6404D40AA63}"/>
              </a:ext>
            </a:extLst>
          </p:cNvPr>
          <p:cNvGraphicFramePr>
            <a:graphicFrameLocks noGrp="1"/>
          </p:cNvGraphicFramePr>
          <p:nvPr>
            <p:extLst>
              <p:ext uri="{D42A27DB-BD31-4B8C-83A1-F6EECF244321}">
                <p14:modId xmlns:p14="http://schemas.microsoft.com/office/powerpoint/2010/main" val="2072130934"/>
              </p:ext>
            </p:extLst>
          </p:nvPr>
        </p:nvGraphicFramePr>
        <p:xfrm>
          <a:off x="1097280" y="4343400"/>
          <a:ext cx="6926580" cy="1524000"/>
        </p:xfrm>
        <a:graphic>
          <a:graphicData uri="http://schemas.openxmlformats.org/drawingml/2006/table">
            <a:tbl>
              <a:tblPr firstRow="1" firstCol="1" lastRow="1" lastCol="1" bandRow="1" bandCol="1">
                <a:tableStyleId>{5940675A-B579-460E-94D1-54222C63F5DA}</a:tableStyleId>
              </a:tblPr>
              <a:tblGrid>
                <a:gridCol w="588010">
                  <a:extLst>
                    <a:ext uri="{9D8B030D-6E8A-4147-A177-3AD203B41FA5}">
                      <a16:colId xmlns:a16="http://schemas.microsoft.com/office/drawing/2014/main" val="1918987323"/>
                    </a:ext>
                  </a:extLst>
                </a:gridCol>
                <a:gridCol w="5629910">
                  <a:extLst>
                    <a:ext uri="{9D8B030D-6E8A-4147-A177-3AD203B41FA5}">
                      <a16:colId xmlns:a16="http://schemas.microsoft.com/office/drawing/2014/main" val="4181453385"/>
                    </a:ext>
                  </a:extLst>
                </a:gridCol>
                <a:gridCol w="708660">
                  <a:extLst>
                    <a:ext uri="{9D8B030D-6E8A-4147-A177-3AD203B41FA5}">
                      <a16:colId xmlns:a16="http://schemas.microsoft.com/office/drawing/2014/main" val="876851489"/>
                    </a:ext>
                  </a:extLst>
                </a:gridCol>
              </a:tblGrid>
              <a:tr h="254000">
                <a:tc gridSpan="3">
                  <a:txBody>
                    <a:bodyPr/>
                    <a:lstStyle/>
                    <a:p>
                      <a:pPr marL="31750" marR="0" lvl="0" indent="0" algn="l" defTabSz="914400" rtl="0" eaLnBrk="1" fontAlgn="auto" latinLnBrk="0" hangingPunct="1">
                        <a:lnSpc>
                          <a:spcPct val="100000"/>
                        </a:lnSpc>
                        <a:spcBef>
                          <a:spcPts val="195"/>
                        </a:spcBef>
                        <a:spcAft>
                          <a:spcPts val="0"/>
                        </a:spcAft>
                        <a:buClrTx/>
                        <a:buSzTx/>
                        <a:buFontTx/>
                        <a:buNone/>
                        <a:tabLst/>
                        <a:defRPr/>
                      </a:pPr>
                      <a:r>
                        <a:rPr lang="en-US" sz="1400" b="1" dirty="0">
                          <a:effectLst/>
                          <a:latin typeface="Times New Roman" panose="02020603050405020304" pitchFamily="18" charset="0"/>
                          <a:cs typeface="Times New Roman" panose="02020603050405020304" pitchFamily="18" charset="0"/>
                        </a:rPr>
                        <a:t>2 Attempt all </a:t>
                      </a:r>
                      <a:r>
                        <a:rPr lang="en-US" sz="1400" b="1" spc="-10" dirty="0">
                          <a:effectLst/>
                          <a:latin typeface="Times New Roman" panose="02020603050405020304" pitchFamily="18" charset="0"/>
                          <a:cs typeface="Times New Roman" panose="02020603050405020304" pitchFamily="18" charset="0"/>
                        </a:rPr>
                        <a:t>parts:-</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191433580"/>
                  </a:ext>
                </a:extLst>
              </a:tr>
              <a:tr h="254000">
                <a:tc>
                  <a:txBody>
                    <a:bodyPr/>
                    <a:lstStyle/>
                    <a:p>
                      <a:pPr marL="31750" algn="l">
                        <a:spcBef>
                          <a:spcPts val="195"/>
                        </a:spcBef>
                        <a:buNone/>
                      </a:pPr>
                      <a:r>
                        <a:rPr lang="en-US" sz="1400" spc="-20">
                          <a:effectLst/>
                          <a:latin typeface="Times New Roman" panose="02020603050405020304" pitchFamily="18" charset="0"/>
                          <a:cs typeface="Times New Roman" panose="02020603050405020304" pitchFamily="18" charset="0"/>
                        </a:rPr>
                        <a:t>2.a.</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47320" algn="l">
                        <a:spcBef>
                          <a:spcPts val="195"/>
                        </a:spcBef>
                        <a:buNone/>
                      </a:pP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spcBef>
                          <a:spcPts val="195"/>
                        </a:spcBef>
                        <a:buNone/>
                      </a:pPr>
                      <a:r>
                        <a:rPr lang="en-US" sz="1400" spc="-5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503281736"/>
                  </a:ext>
                </a:extLst>
              </a:tr>
              <a:tr h="254000">
                <a:tc>
                  <a:txBody>
                    <a:bodyPr/>
                    <a:lstStyle/>
                    <a:p>
                      <a:pPr marL="31750" algn="l">
                        <a:spcBef>
                          <a:spcPts val="195"/>
                        </a:spcBef>
                        <a:buNone/>
                      </a:pPr>
                      <a:r>
                        <a:rPr lang="en-US" sz="1400" spc="-20">
                          <a:effectLst/>
                          <a:latin typeface="Times New Roman" panose="02020603050405020304" pitchFamily="18" charset="0"/>
                          <a:cs typeface="Times New Roman" panose="02020603050405020304" pitchFamily="18" charset="0"/>
                        </a:rPr>
                        <a:t>2.b.</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47320" algn="l">
                        <a:spcBef>
                          <a:spcPts val="195"/>
                        </a:spcBef>
                        <a:buNone/>
                      </a:pP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spcBef>
                          <a:spcPts val="195"/>
                        </a:spcBef>
                        <a:buNone/>
                      </a:pPr>
                      <a:r>
                        <a:rPr lang="en-US" sz="1400" spc="-5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167847961"/>
                  </a:ext>
                </a:extLst>
              </a:tr>
              <a:tr h="254000">
                <a:tc>
                  <a:txBody>
                    <a:bodyPr/>
                    <a:lstStyle/>
                    <a:p>
                      <a:pPr marL="31750" algn="l">
                        <a:spcBef>
                          <a:spcPts val="195"/>
                        </a:spcBef>
                        <a:buNone/>
                      </a:pPr>
                      <a:r>
                        <a:rPr lang="en-US" sz="1400" spc="-20">
                          <a:effectLst/>
                          <a:latin typeface="Times New Roman" panose="02020603050405020304" pitchFamily="18" charset="0"/>
                          <a:cs typeface="Times New Roman" panose="02020603050405020304" pitchFamily="18" charset="0"/>
                        </a:rPr>
                        <a:t>2.c.</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47320" algn="l">
                        <a:spcBef>
                          <a:spcPts val="195"/>
                        </a:spcBef>
                        <a:buNone/>
                      </a:pP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spcBef>
                          <a:spcPts val="195"/>
                        </a:spcBef>
                        <a:buNone/>
                      </a:pPr>
                      <a:r>
                        <a:rPr lang="en-US" sz="1400" spc="-5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445448421"/>
                  </a:ext>
                </a:extLst>
              </a:tr>
              <a:tr h="254000">
                <a:tc>
                  <a:txBody>
                    <a:bodyPr/>
                    <a:lstStyle/>
                    <a:p>
                      <a:pPr marL="31750" algn="l">
                        <a:spcBef>
                          <a:spcPts val="195"/>
                        </a:spcBef>
                        <a:buNone/>
                      </a:pPr>
                      <a:r>
                        <a:rPr lang="en-US" sz="1400" spc="-20">
                          <a:effectLst/>
                          <a:latin typeface="Times New Roman" panose="02020603050405020304" pitchFamily="18" charset="0"/>
                          <a:cs typeface="Times New Roman" panose="02020603050405020304" pitchFamily="18" charset="0"/>
                        </a:rPr>
                        <a:t>2.d.</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47320" algn="l">
                        <a:spcBef>
                          <a:spcPts val="195"/>
                        </a:spcBef>
                        <a:buNone/>
                      </a:pP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spcBef>
                          <a:spcPts val="195"/>
                        </a:spcBef>
                        <a:buNone/>
                      </a:pPr>
                      <a:r>
                        <a:rPr lang="en-US" sz="1400" spc="-5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723142944"/>
                  </a:ext>
                </a:extLst>
              </a:tr>
              <a:tr h="254000">
                <a:tc>
                  <a:txBody>
                    <a:bodyPr/>
                    <a:lstStyle/>
                    <a:p>
                      <a:pPr marL="31750" algn="l">
                        <a:spcBef>
                          <a:spcPts val="195"/>
                        </a:spcBef>
                        <a:buNone/>
                      </a:pPr>
                      <a:r>
                        <a:rPr lang="en-US" sz="1400" spc="-20">
                          <a:effectLst/>
                          <a:latin typeface="Times New Roman" panose="02020603050405020304" pitchFamily="18" charset="0"/>
                          <a:cs typeface="Times New Roman" panose="02020603050405020304" pitchFamily="18" charset="0"/>
                        </a:rPr>
                        <a:t>2.e.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47320" algn="l">
                        <a:spcBef>
                          <a:spcPts val="195"/>
                        </a:spcBef>
                        <a:buNone/>
                      </a:pP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spcBef>
                          <a:spcPts val="195"/>
                        </a:spcBef>
                        <a:buNone/>
                      </a:pPr>
                      <a:r>
                        <a:rPr lang="en-US" sz="1400" spc="-5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235781174"/>
                  </a:ext>
                </a:extLst>
              </a:tr>
            </a:tbl>
          </a:graphicData>
        </a:graphic>
      </p:graphicFrame>
      <p:graphicFrame>
        <p:nvGraphicFramePr>
          <p:cNvPr id="6" name="Table 5">
            <a:extLst>
              <a:ext uri="{FF2B5EF4-FFF2-40B4-BE49-F238E27FC236}">
                <a16:creationId xmlns:a16="http://schemas.microsoft.com/office/drawing/2014/main" id="{484019DA-B67F-C65F-435F-658F2420787E}"/>
              </a:ext>
            </a:extLst>
          </p:cNvPr>
          <p:cNvGraphicFramePr>
            <a:graphicFrameLocks noGrp="1"/>
          </p:cNvGraphicFramePr>
          <p:nvPr>
            <p:extLst>
              <p:ext uri="{D42A27DB-BD31-4B8C-83A1-F6EECF244321}">
                <p14:modId xmlns:p14="http://schemas.microsoft.com/office/powerpoint/2010/main" val="1687645347"/>
              </p:ext>
            </p:extLst>
          </p:nvPr>
        </p:nvGraphicFramePr>
        <p:xfrm>
          <a:off x="1091882" y="1276667"/>
          <a:ext cx="6928485" cy="3042920"/>
        </p:xfrm>
        <a:graphic>
          <a:graphicData uri="http://schemas.openxmlformats.org/drawingml/2006/table">
            <a:tbl>
              <a:tblPr firstRow="1" firstCol="1" lastRow="1" lastCol="1" bandRow="1" bandCol="1">
                <a:tableStyleId>{5940675A-B579-460E-94D1-54222C63F5DA}</a:tableStyleId>
              </a:tblPr>
              <a:tblGrid>
                <a:gridCol w="519430">
                  <a:extLst>
                    <a:ext uri="{9D8B030D-6E8A-4147-A177-3AD203B41FA5}">
                      <a16:colId xmlns:a16="http://schemas.microsoft.com/office/drawing/2014/main" val="3890871774"/>
                    </a:ext>
                  </a:extLst>
                </a:gridCol>
                <a:gridCol w="5672455">
                  <a:extLst>
                    <a:ext uri="{9D8B030D-6E8A-4147-A177-3AD203B41FA5}">
                      <a16:colId xmlns:a16="http://schemas.microsoft.com/office/drawing/2014/main" val="602193425"/>
                    </a:ext>
                  </a:extLst>
                </a:gridCol>
                <a:gridCol w="736600">
                  <a:extLst>
                    <a:ext uri="{9D8B030D-6E8A-4147-A177-3AD203B41FA5}">
                      <a16:colId xmlns:a16="http://schemas.microsoft.com/office/drawing/2014/main" val="3768997449"/>
                    </a:ext>
                  </a:extLst>
                </a:gridCol>
              </a:tblGrid>
              <a:tr h="221615">
                <a:tc gridSpan="2">
                  <a:txBody>
                    <a:bodyPr/>
                    <a:lstStyle/>
                    <a:p>
                      <a:pPr marL="31750">
                        <a:lnSpc>
                          <a:spcPts val="1495"/>
                        </a:lnSpc>
                        <a:spcBef>
                          <a:spcPts val="195"/>
                        </a:spcBef>
                        <a:buNone/>
                      </a:pPr>
                      <a:r>
                        <a:rPr lang="en-US" sz="1400" b="1" u="sng" dirty="0">
                          <a:effectLst/>
                          <a:latin typeface="Times New Roman" panose="02020603050405020304" pitchFamily="18" charset="0"/>
                          <a:cs typeface="Times New Roman" panose="02020603050405020304" pitchFamily="18" charset="0"/>
                        </a:rPr>
                        <a:t>SECTION-</a:t>
                      </a:r>
                      <a:r>
                        <a:rPr lang="en-US" sz="1400" b="1" u="sng" spc="-50" dirty="0">
                          <a:effectLst/>
                          <a:latin typeface="Times New Roman" panose="02020603050405020304" pitchFamily="18" charset="0"/>
                          <a:cs typeface="Times New Roman" panose="02020603050405020304" pitchFamily="18" charset="0"/>
                        </a:rPr>
                        <a:t>A</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R="31750" algn="ctr">
                        <a:lnSpc>
                          <a:spcPts val="1495"/>
                        </a:lnSpc>
                        <a:spcBef>
                          <a:spcPts val="195"/>
                        </a:spcBef>
                        <a:buNone/>
                      </a:pPr>
                      <a:r>
                        <a:rPr lang="en-US" sz="1400" spc="-25" dirty="0">
                          <a:effectLst/>
                          <a:latin typeface="Times New Roman" panose="02020603050405020304" pitchFamily="18" charset="0"/>
                          <a:cs typeface="Times New Roman" panose="02020603050405020304" pitchFamily="18" charset="0"/>
                        </a:rPr>
                        <a:t>20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119348942"/>
                  </a:ext>
                </a:extLst>
              </a:tr>
              <a:tr h="254000">
                <a:tc gridSpan="3">
                  <a:txBody>
                    <a:bodyPr/>
                    <a:lstStyle/>
                    <a:p>
                      <a:pPr marL="31750">
                        <a:spcBef>
                          <a:spcPts val="195"/>
                        </a:spcBef>
                        <a:buNone/>
                      </a:pPr>
                      <a:r>
                        <a:rPr lang="en-US" sz="1400" b="1" dirty="0">
                          <a:effectLst/>
                          <a:latin typeface="Times New Roman" panose="02020603050405020304" pitchFamily="18" charset="0"/>
                          <a:cs typeface="Times New Roman" panose="02020603050405020304" pitchFamily="18" charset="0"/>
                        </a:rPr>
                        <a:t>1. Attempt all </a:t>
                      </a:r>
                      <a:r>
                        <a:rPr lang="en-US" sz="1400" b="1" spc="-10" dirty="0">
                          <a:effectLst/>
                          <a:latin typeface="Times New Roman" panose="02020603050405020304" pitchFamily="18" charset="0"/>
                          <a:cs typeface="Times New Roman" panose="02020603050405020304" pitchFamily="18" charset="0"/>
                        </a:rPr>
                        <a:t>parts:-</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498972534"/>
                  </a:ext>
                </a:extLst>
              </a:tr>
              <a:tr h="254000">
                <a:tc>
                  <a:txBody>
                    <a:bodyPr/>
                    <a:lstStyle/>
                    <a:p>
                      <a:pPr marL="31750">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a.</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spcBef>
                          <a:spcPts val="195"/>
                        </a:spcBef>
                        <a:buNone/>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spcBef>
                          <a:spcPts val="195"/>
                        </a:spcBef>
                        <a:buNone/>
                      </a:pPr>
                      <a:r>
                        <a:rPr lang="en-US" sz="1400" spc="-5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457246836"/>
                  </a:ext>
                </a:extLst>
              </a:tr>
              <a:tr h="254000">
                <a:tc>
                  <a:txBody>
                    <a:bodyPr/>
                    <a:lstStyle/>
                    <a:p>
                      <a:pPr marL="31750">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b.</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spcBef>
                          <a:spcPts val="195"/>
                        </a:spcBef>
                        <a:buNone/>
                        <a:tabLst>
                          <a:tab pos="4114800"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189524670"/>
                  </a:ext>
                </a:extLst>
              </a:tr>
              <a:tr h="254000">
                <a:tc>
                  <a:txBody>
                    <a:bodyPr/>
                    <a:lstStyle/>
                    <a:p>
                      <a:pPr marL="31750">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c.</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spcBef>
                          <a:spcPts val="195"/>
                        </a:spcBef>
                        <a:buNone/>
                        <a:tabLst>
                          <a:tab pos="246443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783322370"/>
                  </a:ext>
                </a:extLst>
              </a:tr>
              <a:tr h="254000">
                <a:tc>
                  <a:txBody>
                    <a:bodyPr/>
                    <a:lstStyle/>
                    <a:p>
                      <a:pPr marL="31750">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d.</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spcBef>
                          <a:spcPts val="195"/>
                        </a:spcBef>
                        <a:buNone/>
                        <a:tabLst>
                          <a:tab pos="431609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537849570"/>
                  </a:ext>
                </a:extLst>
              </a:tr>
              <a:tr h="221615">
                <a:tc>
                  <a:txBody>
                    <a:bodyPr/>
                    <a:lstStyle/>
                    <a:p>
                      <a:pPr marL="31750">
                        <a:lnSpc>
                          <a:spcPts val="1450"/>
                        </a:lnSpc>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lnSpc>
                          <a:spcPts val="1450"/>
                        </a:lnSpc>
                        <a:spcBef>
                          <a:spcPts val="195"/>
                        </a:spcBef>
                        <a:buNone/>
                        <a:tabLst>
                          <a:tab pos="262445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lnSpc>
                          <a:spcPts val="1450"/>
                        </a:lnSpc>
                        <a:spcBef>
                          <a:spcPts val="195"/>
                        </a:spcBef>
                        <a:buNone/>
                      </a:pPr>
                      <a:r>
                        <a:rPr lang="en-US" sz="1400" spc="-5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502522153"/>
                  </a:ext>
                </a:extLst>
              </a:tr>
              <a:tr h="221615">
                <a:tc>
                  <a:txBody>
                    <a:bodyPr/>
                    <a:lstStyle/>
                    <a:p>
                      <a:pPr marL="31750">
                        <a:lnSpc>
                          <a:spcPts val="1450"/>
                        </a:lnSpc>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f.</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lnSpc>
                          <a:spcPts val="1450"/>
                        </a:lnSpc>
                        <a:spcBef>
                          <a:spcPts val="195"/>
                        </a:spcBef>
                        <a:buNone/>
                        <a:tabLst>
                          <a:tab pos="262445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lnSpc>
                          <a:spcPts val="1450"/>
                        </a:lnSpc>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911647596"/>
                  </a:ext>
                </a:extLst>
              </a:tr>
              <a:tr h="221615">
                <a:tc>
                  <a:txBody>
                    <a:bodyPr/>
                    <a:lstStyle/>
                    <a:p>
                      <a:pPr marL="31750">
                        <a:lnSpc>
                          <a:spcPts val="1450"/>
                        </a:lnSpc>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g.</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lnSpc>
                          <a:spcPts val="1450"/>
                        </a:lnSpc>
                        <a:spcBef>
                          <a:spcPts val="195"/>
                        </a:spcBef>
                        <a:buNone/>
                        <a:tabLst>
                          <a:tab pos="262445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lnSpc>
                          <a:spcPts val="1450"/>
                        </a:lnSpc>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683974600"/>
                  </a:ext>
                </a:extLst>
              </a:tr>
              <a:tr h="221615">
                <a:tc>
                  <a:txBody>
                    <a:bodyPr/>
                    <a:lstStyle/>
                    <a:p>
                      <a:pPr marL="31750">
                        <a:lnSpc>
                          <a:spcPts val="1450"/>
                        </a:lnSpc>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h.</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lnSpc>
                          <a:spcPts val="1450"/>
                        </a:lnSpc>
                        <a:spcBef>
                          <a:spcPts val="195"/>
                        </a:spcBef>
                        <a:buNone/>
                        <a:tabLst>
                          <a:tab pos="262445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lnSpc>
                          <a:spcPts val="1450"/>
                        </a:lnSpc>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205311819"/>
                  </a:ext>
                </a:extLst>
              </a:tr>
              <a:tr h="221615">
                <a:tc>
                  <a:txBody>
                    <a:bodyPr/>
                    <a:lstStyle/>
                    <a:p>
                      <a:pPr marL="31750">
                        <a:lnSpc>
                          <a:spcPts val="1450"/>
                        </a:lnSpc>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i.</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lnSpc>
                          <a:spcPts val="1450"/>
                        </a:lnSpc>
                        <a:spcBef>
                          <a:spcPts val="195"/>
                        </a:spcBef>
                        <a:buNone/>
                        <a:tabLst>
                          <a:tab pos="262445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lnSpc>
                          <a:spcPts val="1450"/>
                        </a:lnSpc>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527462619"/>
                  </a:ext>
                </a:extLst>
              </a:tr>
              <a:tr h="221615">
                <a:tc>
                  <a:txBody>
                    <a:bodyPr/>
                    <a:lstStyle/>
                    <a:p>
                      <a:pPr marL="31750">
                        <a:lnSpc>
                          <a:spcPts val="1450"/>
                        </a:lnSpc>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j.</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lnSpc>
                          <a:spcPts val="1450"/>
                        </a:lnSpc>
                        <a:spcBef>
                          <a:spcPts val="195"/>
                        </a:spcBef>
                        <a:buNone/>
                        <a:tabLst>
                          <a:tab pos="262445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lnSpc>
                          <a:spcPts val="1450"/>
                        </a:lnSpc>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147048183"/>
                  </a:ext>
                </a:extLst>
              </a:tr>
              <a:tr h="221615">
                <a:tc>
                  <a:txBody>
                    <a:bodyPr/>
                    <a:lstStyle/>
                    <a:p>
                      <a:pPr marL="31750">
                        <a:lnSpc>
                          <a:spcPts val="1450"/>
                        </a:lnSpc>
                        <a:spcBef>
                          <a:spcPts val="195"/>
                        </a:spcBef>
                        <a:buNone/>
                      </a:pPr>
                      <a:r>
                        <a:rPr lang="en-US" sz="1400" dirty="0">
                          <a:effectLst/>
                          <a:latin typeface="Times New Roman" panose="02020603050405020304" pitchFamily="18" charset="0"/>
                          <a:cs typeface="Times New Roman" panose="02020603050405020304" pitchFamily="18" charset="0"/>
                        </a:rPr>
                        <a:t>1-</a:t>
                      </a:r>
                      <a:r>
                        <a:rPr lang="en-US" sz="1400" spc="-25" dirty="0">
                          <a:effectLst/>
                          <a:latin typeface="Times New Roman" panose="02020603050405020304" pitchFamily="18" charset="0"/>
                          <a:cs typeface="Times New Roman" panose="02020603050405020304" pitchFamily="18" charset="0"/>
                        </a:rPr>
                        <a:t>f.</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lnSpc>
                          <a:spcPts val="1450"/>
                        </a:lnSpc>
                        <a:spcBef>
                          <a:spcPts val="195"/>
                        </a:spcBef>
                        <a:buNone/>
                        <a:tabLst>
                          <a:tab pos="262445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lnSpc>
                          <a:spcPts val="1450"/>
                        </a:lnSpc>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048269570"/>
                  </a:ext>
                </a:extLst>
              </a:tr>
            </a:tbl>
          </a:graphicData>
        </a:graphic>
      </p:graphicFrame>
      <p:grpSp>
        <p:nvGrpSpPr>
          <p:cNvPr id="8" name="Group 7">
            <a:extLst>
              <a:ext uri="{FF2B5EF4-FFF2-40B4-BE49-F238E27FC236}">
                <a16:creationId xmlns:a16="http://schemas.microsoft.com/office/drawing/2014/main" id="{6D6894BB-DC08-41E3-2695-A7CEE748586A}"/>
              </a:ext>
            </a:extLst>
          </p:cNvPr>
          <p:cNvGrpSpPr>
            <a:grpSpLocks/>
          </p:cNvGrpSpPr>
          <p:nvPr/>
        </p:nvGrpSpPr>
        <p:grpSpPr>
          <a:xfrm>
            <a:off x="1108075" y="2341563"/>
            <a:ext cx="28575" cy="234950"/>
            <a:chOff x="0" y="0"/>
            <a:chExt cx="28575" cy="235585"/>
          </a:xfrm>
        </p:grpSpPr>
        <p:sp>
          <p:nvSpPr>
            <p:cNvPr id="9" name="Graphic 5">
              <a:extLst>
                <a:ext uri="{FF2B5EF4-FFF2-40B4-BE49-F238E27FC236}">
                  <a16:creationId xmlns:a16="http://schemas.microsoft.com/office/drawing/2014/main" id="{E46389DB-346C-F02C-B8DC-BBC55F942A8D}"/>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10" name="Group 9">
            <a:extLst>
              <a:ext uri="{FF2B5EF4-FFF2-40B4-BE49-F238E27FC236}">
                <a16:creationId xmlns:a16="http://schemas.microsoft.com/office/drawing/2014/main" id="{E227B635-1BF6-2ED2-2F92-EF2BDC59AA79}"/>
              </a:ext>
            </a:extLst>
          </p:cNvPr>
          <p:cNvGrpSpPr>
            <a:grpSpLocks/>
          </p:cNvGrpSpPr>
          <p:nvPr/>
        </p:nvGrpSpPr>
        <p:grpSpPr>
          <a:xfrm>
            <a:off x="1108075" y="2341563"/>
            <a:ext cx="28575" cy="234950"/>
            <a:chOff x="0" y="0"/>
            <a:chExt cx="28575" cy="235585"/>
          </a:xfrm>
        </p:grpSpPr>
        <p:sp>
          <p:nvSpPr>
            <p:cNvPr id="15" name="Graphic 7">
              <a:extLst>
                <a:ext uri="{FF2B5EF4-FFF2-40B4-BE49-F238E27FC236}">
                  <a16:creationId xmlns:a16="http://schemas.microsoft.com/office/drawing/2014/main" id="{BD83A156-5322-7FE8-DB13-02395E04A9F6}"/>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16" name="Group 15">
            <a:extLst>
              <a:ext uri="{FF2B5EF4-FFF2-40B4-BE49-F238E27FC236}">
                <a16:creationId xmlns:a16="http://schemas.microsoft.com/office/drawing/2014/main" id="{89AB4B5D-7F46-7854-9BD7-E982F1B2A8CC}"/>
              </a:ext>
            </a:extLst>
          </p:cNvPr>
          <p:cNvGrpSpPr>
            <a:grpSpLocks/>
          </p:cNvGrpSpPr>
          <p:nvPr/>
        </p:nvGrpSpPr>
        <p:grpSpPr>
          <a:xfrm>
            <a:off x="1108075" y="2341563"/>
            <a:ext cx="28575" cy="234950"/>
            <a:chOff x="0" y="0"/>
            <a:chExt cx="28575" cy="235585"/>
          </a:xfrm>
        </p:grpSpPr>
        <p:sp>
          <p:nvSpPr>
            <p:cNvPr id="17" name="Graphic 9">
              <a:extLst>
                <a:ext uri="{FF2B5EF4-FFF2-40B4-BE49-F238E27FC236}">
                  <a16:creationId xmlns:a16="http://schemas.microsoft.com/office/drawing/2014/main" id="{6E5363FB-EB9E-930A-6FBA-FBA45F118B88}"/>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18" name="Group 17">
            <a:extLst>
              <a:ext uri="{FF2B5EF4-FFF2-40B4-BE49-F238E27FC236}">
                <a16:creationId xmlns:a16="http://schemas.microsoft.com/office/drawing/2014/main" id="{6A990F16-72CE-90E1-C270-A24A76B5D446}"/>
              </a:ext>
            </a:extLst>
          </p:cNvPr>
          <p:cNvGrpSpPr>
            <a:grpSpLocks/>
          </p:cNvGrpSpPr>
          <p:nvPr/>
        </p:nvGrpSpPr>
        <p:grpSpPr>
          <a:xfrm>
            <a:off x="1108075" y="2341563"/>
            <a:ext cx="28575" cy="234950"/>
            <a:chOff x="0" y="0"/>
            <a:chExt cx="28575" cy="235585"/>
          </a:xfrm>
        </p:grpSpPr>
        <p:sp>
          <p:nvSpPr>
            <p:cNvPr id="19" name="Graphic 11">
              <a:extLst>
                <a:ext uri="{FF2B5EF4-FFF2-40B4-BE49-F238E27FC236}">
                  <a16:creationId xmlns:a16="http://schemas.microsoft.com/office/drawing/2014/main" id="{2D6A278F-1A0C-1AF4-B635-06CBD4A3E14B}"/>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20" name="Group 19">
            <a:extLst>
              <a:ext uri="{FF2B5EF4-FFF2-40B4-BE49-F238E27FC236}">
                <a16:creationId xmlns:a16="http://schemas.microsoft.com/office/drawing/2014/main" id="{480628E8-CCA2-F862-129D-9794B408AB7D}"/>
              </a:ext>
            </a:extLst>
          </p:cNvPr>
          <p:cNvGrpSpPr>
            <a:grpSpLocks/>
          </p:cNvGrpSpPr>
          <p:nvPr/>
        </p:nvGrpSpPr>
        <p:grpSpPr>
          <a:xfrm>
            <a:off x="1108075" y="2341563"/>
            <a:ext cx="28575" cy="234950"/>
            <a:chOff x="0" y="0"/>
            <a:chExt cx="28575" cy="235585"/>
          </a:xfrm>
        </p:grpSpPr>
        <p:sp>
          <p:nvSpPr>
            <p:cNvPr id="21" name="Graphic 13">
              <a:extLst>
                <a:ext uri="{FF2B5EF4-FFF2-40B4-BE49-F238E27FC236}">
                  <a16:creationId xmlns:a16="http://schemas.microsoft.com/office/drawing/2014/main" id="{642781D0-07EB-10A3-2C96-1644ED0BDE03}"/>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22" name="Group 21">
            <a:extLst>
              <a:ext uri="{FF2B5EF4-FFF2-40B4-BE49-F238E27FC236}">
                <a16:creationId xmlns:a16="http://schemas.microsoft.com/office/drawing/2014/main" id="{47D1DB4D-F5F6-6FD2-2C1B-AFB00EF6B2CD}"/>
              </a:ext>
            </a:extLst>
          </p:cNvPr>
          <p:cNvGrpSpPr>
            <a:grpSpLocks/>
          </p:cNvGrpSpPr>
          <p:nvPr/>
        </p:nvGrpSpPr>
        <p:grpSpPr>
          <a:xfrm>
            <a:off x="1108075" y="2341563"/>
            <a:ext cx="28575" cy="234950"/>
            <a:chOff x="0" y="0"/>
            <a:chExt cx="28575" cy="235585"/>
          </a:xfrm>
        </p:grpSpPr>
        <p:sp>
          <p:nvSpPr>
            <p:cNvPr id="23" name="Graphic 15">
              <a:extLst>
                <a:ext uri="{FF2B5EF4-FFF2-40B4-BE49-F238E27FC236}">
                  <a16:creationId xmlns:a16="http://schemas.microsoft.com/office/drawing/2014/main" id="{FC98B3FE-04CC-2114-7052-04DCD1B041C0}"/>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24" name="Group 23">
            <a:extLst>
              <a:ext uri="{FF2B5EF4-FFF2-40B4-BE49-F238E27FC236}">
                <a16:creationId xmlns:a16="http://schemas.microsoft.com/office/drawing/2014/main" id="{A5A9A9CA-9553-88F2-4F9A-BD795D679CFA}"/>
              </a:ext>
            </a:extLst>
          </p:cNvPr>
          <p:cNvGrpSpPr>
            <a:grpSpLocks/>
          </p:cNvGrpSpPr>
          <p:nvPr/>
        </p:nvGrpSpPr>
        <p:grpSpPr>
          <a:xfrm>
            <a:off x="1108075" y="2341563"/>
            <a:ext cx="28575" cy="234950"/>
            <a:chOff x="0" y="0"/>
            <a:chExt cx="28575" cy="235585"/>
          </a:xfrm>
        </p:grpSpPr>
        <p:sp>
          <p:nvSpPr>
            <p:cNvPr id="25" name="Graphic 17">
              <a:extLst>
                <a:ext uri="{FF2B5EF4-FFF2-40B4-BE49-F238E27FC236}">
                  <a16:creationId xmlns:a16="http://schemas.microsoft.com/office/drawing/2014/main" id="{6983035F-C178-8668-3BD3-A0C33BC0CA70}"/>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26" name="Group 25">
            <a:extLst>
              <a:ext uri="{FF2B5EF4-FFF2-40B4-BE49-F238E27FC236}">
                <a16:creationId xmlns:a16="http://schemas.microsoft.com/office/drawing/2014/main" id="{3A2D457D-70AF-D462-7674-DDDE041CFCEB}"/>
              </a:ext>
            </a:extLst>
          </p:cNvPr>
          <p:cNvGrpSpPr>
            <a:grpSpLocks/>
          </p:cNvGrpSpPr>
          <p:nvPr/>
        </p:nvGrpSpPr>
        <p:grpSpPr>
          <a:xfrm>
            <a:off x="1108075" y="2341563"/>
            <a:ext cx="28575" cy="234950"/>
            <a:chOff x="0" y="0"/>
            <a:chExt cx="28575" cy="235585"/>
          </a:xfrm>
        </p:grpSpPr>
        <p:sp>
          <p:nvSpPr>
            <p:cNvPr id="27" name="Graphic 19">
              <a:extLst>
                <a:ext uri="{FF2B5EF4-FFF2-40B4-BE49-F238E27FC236}">
                  <a16:creationId xmlns:a16="http://schemas.microsoft.com/office/drawing/2014/main" id="{6331D1AB-097A-8CB0-94B2-3B49E7CFE045}"/>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28" name="Group 27">
            <a:extLst>
              <a:ext uri="{FF2B5EF4-FFF2-40B4-BE49-F238E27FC236}">
                <a16:creationId xmlns:a16="http://schemas.microsoft.com/office/drawing/2014/main" id="{3ECD8669-7F24-E7C3-87CA-1740C13659E4}"/>
              </a:ext>
            </a:extLst>
          </p:cNvPr>
          <p:cNvGrpSpPr>
            <a:grpSpLocks/>
          </p:cNvGrpSpPr>
          <p:nvPr/>
        </p:nvGrpSpPr>
        <p:grpSpPr>
          <a:xfrm>
            <a:off x="1108075" y="2341563"/>
            <a:ext cx="28575" cy="234950"/>
            <a:chOff x="0" y="0"/>
            <a:chExt cx="28575" cy="235585"/>
          </a:xfrm>
        </p:grpSpPr>
        <p:sp>
          <p:nvSpPr>
            <p:cNvPr id="29" name="Graphic 21">
              <a:extLst>
                <a:ext uri="{FF2B5EF4-FFF2-40B4-BE49-F238E27FC236}">
                  <a16:creationId xmlns:a16="http://schemas.microsoft.com/office/drawing/2014/main" id="{AA011775-AB2F-576F-5B5D-7659B93DBD5F}"/>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30" name="Group 29">
            <a:extLst>
              <a:ext uri="{FF2B5EF4-FFF2-40B4-BE49-F238E27FC236}">
                <a16:creationId xmlns:a16="http://schemas.microsoft.com/office/drawing/2014/main" id="{F32F16BA-D9B3-E47B-CD44-29B94E1610DE}"/>
              </a:ext>
            </a:extLst>
          </p:cNvPr>
          <p:cNvGrpSpPr>
            <a:grpSpLocks/>
          </p:cNvGrpSpPr>
          <p:nvPr/>
        </p:nvGrpSpPr>
        <p:grpSpPr>
          <a:xfrm>
            <a:off x="1108075" y="2341563"/>
            <a:ext cx="28575" cy="234950"/>
            <a:chOff x="0" y="0"/>
            <a:chExt cx="28575" cy="235585"/>
          </a:xfrm>
        </p:grpSpPr>
        <p:sp>
          <p:nvSpPr>
            <p:cNvPr id="31" name="Graphic 23">
              <a:extLst>
                <a:ext uri="{FF2B5EF4-FFF2-40B4-BE49-F238E27FC236}">
                  <a16:creationId xmlns:a16="http://schemas.microsoft.com/office/drawing/2014/main" id="{9BB36948-1625-44F3-C94C-9F15F2E0441C}"/>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32" name="Group 31">
            <a:extLst>
              <a:ext uri="{FF2B5EF4-FFF2-40B4-BE49-F238E27FC236}">
                <a16:creationId xmlns:a16="http://schemas.microsoft.com/office/drawing/2014/main" id="{3B4B141D-460E-94C0-1F9B-9FE772C26E9A}"/>
              </a:ext>
            </a:extLst>
          </p:cNvPr>
          <p:cNvGrpSpPr>
            <a:grpSpLocks/>
          </p:cNvGrpSpPr>
          <p:nvPr/>
        </p:nvGrpSpPr>
        <p:grpSpPr>
          <a:xfrm>
            <a:off x="1108075" y="2341563"/>
            <a:ext cx="28575" cy="234950"/>
            <a:chOff x="0" y="0"/>
            <a:chExt cx="28575" cy="235585"/>
          </a:xfrm>
        </p:grpSpPr>
        <p:sp>
          <p:nvSpPr>
            <p:cNvPr id="33" name="Graphic 25">
              <a:extLst>
                <a:ext uri="{FF2B5EF4-FFF2-40B4-BE49-F238E27FC236}">
                  <a16:creationId xmlns:a16="http://schemas.microsoft.com/office/drawing/2014/main" id="{81EC54CE-149B-C032-49BC-DA71AD304E19}"/>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sp>
        <p:nvSpPr>
          <p:cNvPr id="41" name="Rectangle 32">
            <a:extLst>
              <a:ext uri="{FF2B5EF4-FFF2-40B4-BE49-F238E27FC236}">
                <a16:creationId xmlns:a16="http://schemas.microsoft.com/office/drawing/2014/main" id="{F577132D-7846-A7FD-CF66-8EB20D3E0CC8}"/>
              </a:ext>
            </a:extLst>
          </p:cNvPr>
          <p:cNvSpPr>
            <a:spLocks noChangeArrowheads="1"/>
          </p:cNvSpPr>
          <p:nvPr/>
        </p:nvSpPr>
        <p:spPr bwMode="auto">
          <a:xfrm>
            <a:off x="1108075" y="2801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2" name="Rectangle 33">
            <a:extLst>
              <a:ext uri="{FF2B5EF4-FFF2-40B4-BE49-F238E27FC236}">
                <a16:creationId xmlns:a16="http://schemas.microsoft.com/office/drawing/2014/main" id="{74C22053-7A67-343D-0C88-D20AE5C24015}"/>
              </a:ext>
            </a:extLst>
          </p:cNvPr>
          <p:cNvSpPr>
            <a:spLocks noChangeArrowheads="1"/>
          </p:cNvSpPr>
          <p:nvPr/>
        </p:nvSpPr>
        <p:spPr bwMode="auto">
          <a:xfrm>
            <a:off x="1108075" y="27987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Footer Placeholder 1"/>
          <p:cNvSpPr>
            <a:spLocks noGrp="1"/>
          </p:cNvSpPr>
          <p:nvPr>
            <p:ph type="ftr" sz="quarter" idx="11"/>
          </p:nvPr>
        </p:nvSpPr>
        <p:spPr/>
        <p:txBody>
          <a:bodyPr/>
          <a:lstStyle/>
          <a:p>
            <a:r>
              <a:rPr lang="en-US" smtClean="0"/>
              <a:t>Vivek Kumart Sharma                BCSE0404X(TOC)                     Unit III</a:t>
            </a:r>
            <a:endParaRPr lang="en-US" dirty="0"/>
          </a:p>
        </p:txBody>
      </p:sp>
    </p:spTree>
    <p:extLst>
      <p:ext uri="{BB962C8B-B14F-4D97-AF65-F5344CB8AC3E}">
        <p14:creationId xmlns:p14="http://schemas.microsoft.com/office/powerpoint/2010/main" val="2980435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0" name="Date Placeholder 3"/>
          <p:cNvSpPr>
            <a:spLocks noGrp="1"/>
          </p:cNvSpPr>
          <p:nvPr>
            <p:ph type="dt" sz="quarter" idx="11"/>
          </p:nvPr>
        </p:nvSpPr>
        <p:spPr>
          <a:xfrm>
            <a:off x="-76200" y="6327813"/>
            <a:ext cx="2895600" cy="317500"/>
          </a:xfrm>
          <a:noFill/>
        </p:spPr>
        <p:txBody>
          <a:bodyPr/>
          <a:lstStyle>
            <a:lvl1pPr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646069" indent="-248488"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993953"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391534"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1789115"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186696"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584277"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2981858"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379440"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46EE3548-E97C-43A4-ABA3-0A995B8E8A6D}" type="datetime1">
              <a:rPr lang="en-US" altLang="en-US" sz="1044" smtClean="0">
                <a:solidFill>
                  <a:srgbClr val="888888"/>
                </a:solidFill>
                <a:latin typeface="Calibri" panose="020F0502020204030204" pitchFamily="34" charset="0"/>
                <a:sym typeface="Calibri" panose="020F0502020204030204" pitchFamily="34" charset="0"/>
              </a:rPr>
              <a:t>3/20/2026</a:t>
            </a:fld>
            <a:endParaRPr lang="en-US" altLang="en-US" sz="1044" dirty="0">
              <a:solidFill>
                <a:srgbClr val="888888"/>
              </a:solidFill>
              <a:latin typeface="Calibri" panose="020F0502020204030204" pitchFamily="34" charset="0"/>
              <a:sym typeface="Calibri" panose="020F0502020204030204" pitchFamily="34" charset="0"/>
            </a:endParaRPr>
          </a:p>
        </p:txBody>
      </p:sp>
      <p:sp>
        <p:nvSpPr>
          <p:cNvPr id="1048751" name="Title 1"/>
          <p:cNvSpPr txBox="1"/>
          <p:nvPr/>
        </p:nvSpPr>
        <p:spPr>
          <a:xfrm>
            <a:off x="1371600" y="0"/>
            <a:ext cx="7772400" cy="726109"/>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r>
              <a:rPr lang="en-IN" sz="2400" b="1" dirty="0">
                <a:latin typeface="Times New Roman" panose="02020603050405020304" pitchFamily="18" charset="0"/>
                <a:cs typeface="Times New Roman" panose="02020603050405020304" pitchFamily="18" charset="0"/>
                <a:sym typeface="Arial" charset="0"/>
              </a:rPr>
              <a:t>End Semester Question Paper Templates </a:t>
            </a:r>
            <a:endParaRPr lang="en-US" sz="2400" b="1" dirty="0">
              <a:latin typeface="Times New Roman" panose="02020603050405020304" pitchFamily="18" charset="0"/>
              <a:cs typeface="Times New Roman" panose="02020603050405020304" pitchFamily="18" charset="0"/>
              <a:sym typeface="Arial" charset="0"/>
            </a:endParaRPr>
          </a:p>
        </p:txBody>
      </p:sp>
      <p:sp>
        <p:nvSpPr>
          <p:cNvPr id="1048752" name="Rectangle 2"/>
          <p:cNvSpPr>
            <a:spLocks noChangeArrowheads="1"/>
          </p:cNvSpPr>
          <p:nvPr/>
        </p:nvSpPr>
        <p:spPr bwMode="auto">
          <a:xfrm>
            <a:off x="0" y="318935"/>
            <a:ext cx="184731" cy="654218"/>
          </a:xfrm>
          <a:prstGeom prst="rect">
            <a:avLst/>
          </a:prstGeom>
          <a:noFill/>
          <a:ln>
            <a:noFill/>
          </a:ln>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217"/>
              <a:t/>
            </a:r>
            <a:br>
              <a:rPr lang="en-US" altLang="en-US" sz="1217"/>
            </a:br>
            <a:endParaRPr lang="en-US" altLang="en-US" sz="1217"/>
          </a:p>
          <a:p>
            <a:pPr eaLnBrk="1" hangingPunct="1"/>
            <a:endParaRPr lang="en-US" altLang="en-US" sz="1217"/>
          </a:p>
        </p:txBody>
      </p:sp>
      <p:sp>
        <p:nvSpPr>
          <p:cNvPr id="1048754" name="Slide Number Placeholder 12"/>
          <p:cNvSpPr>
            <a:spLocks noGrp="1"/>
          </p:cNvSpPr>
          <p:nvPr>
            <p:ph type="sldNum" sz="quarter" idx="4294967295"/>
          </p:nvPr>
        </p:nvSpPr>
        <p:spPr bwMode="auto">
          <a:xfrm>
            <a:off x="6629400" y="6324600"/>
            <a:ext cx="2133600" cy="317500"/>
          </a:xfrm>
          <a:prstGeom prst="rect">
            <a:avLst/>
          </a:prstGeom>
          <a:noFill/>
          <a:ln w="9525">
            <a:noFill/>
            <a:miter lim="800000"/>
            <a:headEnd/>
            <a:tailEnd/>
          </a:ln>
        </p:spPr>
        <p:txBody>
          <a:bodyPr vert="horz" wrap="square" lIns="79500" tIns="39739" rIns="79500" bIns="39739" numCol="1" rtlCol="0"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044"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397581"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795162"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192743"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590324"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1987906"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385487"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2783068"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180649"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17</a:t>
            </a:fld>
            <a:endParaRPr lang="en-US" altLang="en-US" dirty="0"/>
          </a:p>
        </p:txBody>
      </p:sp>
      <p:pic>
        <p:nvPicPr>
          <p:cNvPr id="12" name="Picture 15"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12"/>
          <p:cNvSpPr txBox="1">
            <a:spLocks/>
          </p:cNvSpPr>
          <p:nvPr/>
        </p:nvSpPr>
        <p:spPr>
          <a:xfrm>
            <a:off x="1905000" y="6324600"/>
            <a:ext cx="5410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Ankur Kumar Varshney                 BCSE0404X(TOC)                     Unit III</a:t>
            </a:r>
          </a:p>
        </p:txBody>
      </p:sp>
      <p:graphicFrame>
        <p:nvGraphicFramePr>
          <p:cNvPr id="2" name="Table 1">
            <a:extLst>
              <a:ext uri="{FF2B5EF4-FFF2-40B4-BE49-F238E27FC236}">
                <a16:creationId xmlns:a16="http://schemas.microsoft.com/office/drawing/2014/main" id="{C213F6B8-0B10-1754-F5CA-FF924BB5E73B}"/>
              </a:ext>
            </a:extLst>
          </p:cNvPr>
          <p:cNvGraphicFramePr>
            <a:graphicFrameLocks noGrp="1"/>
          </p:cNvGraphicFramePr>
          <p:nvPr>
            <p:extLst>
              <p:ext uri="{D42A27DB-BD31-4B8C-83A1-F6EECF244321}">
                <p14:modId xmlns:p14="http://schemas.microsoft.com/office/powerpoint/2010/main" val="3895776360"/>
              </p:ext>
            </p:extLst>
          </p:nvPr>
        </p:nvGraphicFramePr>
        <p:xfrm>
          <a:off x="609600" y="1219200"/>
          <a:ext cx="8001001" cy="4606766"/>
        </p:xfrm>
        <a:graphic>
          <a:graphicData uri="http://schemas.openxmlformats.org/drawingml/2006/table">
            <a:tbl>
              <a:tblPr firstRow="1" firstCol="1" lastRow="1" lastCol="1" bandRow="1" bandCol="1">
                <a:tableStyleId>{5940675A-B579-460E-94D1-54222C63F5DA}</a:tableStyleId>
              </a:tblPr>
              <a:tblGrid>
                <a:gridCol w="712227">
                  <a:extLst>
                    <a:ext uri="{9D8B030D-6E8A-4147-A177-3AD203B41FA5}">
                      <a16:colId xmlns:a16="http://schemas.microsoft.com/office/drawing/2014/main" val="2689782083"/>
                    </a:ext>
                  </a:extLst>
                </a:gridCol>
                <a:gridCol w="6936694">
                  <a:extLst>
                    <a:ext uri="{9D8B030D-6E8A-4147-A177-3AD203B41FA5}">
                      <a16:colId xmlns:a16="http://schemas.microsoft.com/office/drawing/2014/main" val="2032571698"/>
                    </a:ext>
                  </a:extLst>
                </a:gridCol>
                <a:gridCol w="352080">
                  <a:extLst>
                    <a:ext uri="{9D8B030D-6E8A-4147-A177-3AD203B41FA5}">
                      <a16:colId xmlns:a16="http://schemas.microsoft.com/office/drawing/2014/main" val="1664607224"/>
                    </a:ext>
                  </a:extLst>
                </a:gridCol>
              </a:tblGrid>
              <a:tr h="261136">
                <a:tc gridSpan="2">
                  <a:txBody>
                    <a:bodyPr/>
                    <a:lstStyle/>
                    <a:p>
                      <a:pPr algn="l">
                        <a:lnSpc>
                          <a:spcPts val="1495"/>
                        </a:lnSpc>
                        <a:spcBef>
                          <a:spcPts val="195"/>
                        </a:spcBef>
                        <a:buNone/>
                      </a:pPr>
                      <a:r>
                        <a:rPr lang="en-US" sz="1400" b="1" u="sng" kern="100" dirty="0">
                          <a:effectLst/>
                          <a:latin typeface="Times New Roman" panose="02020603050405020304" pitchFamily="18" charset="0"/>
                          <a:cs typeface="Times New Roman" panose="02020603050405020304" pitchFamily="18" charset="0"/>
                        </a:rPr>
                        <a:t>SECTION-</a:t>
                      </a:r>
                      <a:r>
                        <a:rPr lang="en-US" sz="1400" b="1" u="sng" kern="100" spc="-50" dirty="0">
                          <a:effectLst/>
                          <a:latin typeface="Times New Roman" panose="02020603050405020304" pitchFamily="18" charset="0"/>
                          <a:cs typeface="Times New Roman" panose="02020603050405020304" pitchFamily="18" charset="0"/>
                        </a:rPr>
                        <a:t>B</a:t>
                      </a:r>
                      <a:endParaRPr lang="en-IN" sz="14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R="29845" algn="r">
                        <a:lnSpc>
                          <a:spcPts val="1495"/>
                        </a:lnSpc>
                        <a:spcBef>
                          <a:spcPts val="195"/>
                        </a:spcBef>
                        <a:buNone/>
                      </a:pPr>
                      <a:r>
                        <a:rPr lang="en-US" sz="1400" kern="100" spc="-50">
                          <a:effectLst/>
                          <a:latin typeface="Times New Roman" panose="02020603050405020304" pitchFamily="18" charset="0"/>
                          <a:cs typeface="Times New Roman" panose="02020603050405020304" pitchFamily="18" charset="0"/>
                        </a:rPr>
                        <a:t>30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815479008"/>
                  </a:ext>
                </a:extLst>
              </a:tr>
              <a:tr h="261136">
                <a:tc gridSpan="2">
                  <a:txBody>
                    <a:bodyPr/>
                    <a:lstStyle/>
                    <a:p>
                      <a:pPr algn="l">
                        <a:lnSpc>
                          <a:spcPts val="1495"/>
                        </a:lnSpc>
                        <a:spcBef>
                          <a:spcPts val="195"/>
                        </a:spcBef>
                        <a:buNone/>
                      </a:pPr>
                      <a:r>
                        <a:rPr lang="en-US" sz="1400" kern="100" dirty="0">
                          <a:effectLst/>
                          <a:latin typeface="Times New Roman" panose="02020603050405020304" pitchFamily="18" charset="0"/>
                          <a:cs typeface="Times New Roman" panose="02020603050405020304" pitchFamily="18" charset="0"/>
                        </a:rPr>
                        <a:t>3. Attempt all parts: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R="29845" algn="r">
                        <a:lnSpc>
                          <a:spcPts val="1495"/>
                        </a:lnSpc>
                        <a:spcBef>
                          <a:spcPts val="195"/>
                        </a:spcBef>
                        <a:buNone/>
                      </a:pPr>
                      <a:r>
                        <a:rPr lang="en-US" sz="1400" kern="100" spc="-5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961842734"/>
                  </a:ext>
                </a:extLst>
              </a:tr>
              <a:tr h="261136">
                <a:tc gridSpan="2">
                  <a:txBody>
                    <a:bodyPr/>
                    <a:lstStyle/>
                    <a:p>
                      <a:pPr algn="l">
                        <a:lnSpc>
                          <a:spcPts val="1495"/>
                        </a:lnSpc>
                        <a:spcBef>
                          <a:spcPts val="195"/>
                        </a:spcBef>
                        <a:buNone/>
                      </a:pPr>
                      <a:r>
                        <a:rPr lang="en-US" sz="1400" kern="100" dirty="0">
                          <a:effectLst/>
                          <a:latin typeface="Times New Roman" panose="02020603050405020304" pitchFamily="18" charset="0"/>
                          <a:cs typeface="Times New Roman" panose="02020603050405020304" pitchFamily="18" charset="0"/>
                        </a:rPr>
                        <a:t>3.a. Answer any one of the 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R="29845" algn="r">
                        <a:lnSpc>
                          <a:spcPts val="1495"/>
                        </a:lnSpc>
                        <a:spcBef>
                          <a:spcPts val="195"/>
                        </a:spcBef>
                        <a:buNone/>
                      </a:pPr>
                      <a:r>
                        <a:rPr lang="en-US" sz="1400" kern="100" spc="-5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879879314"/>
                  </a:ext>
                </a:extLst>
              </a:tr>
              <a:tr h="261136">
                <a:tc>
                  <a:txBody>
                    <a:bodyPr/>
                    <a:lstStyle/>
                    <a:p>
                      <a:pPr marL="31750" algn="l">
                        <a:lnSpc>
                          <a:spcPts val="1495"/>
                        </a:lnSpc>
                        <a:spcBef>
                          <a:spcPts val="195"/>
                        </a:spcBef>
                        <a:buNone/>
                      </a:pPr>
                      <a:r>
                        <a:rPr lang="en-US" sz="1400" kern="100" spc="-10">
                          <a:effectLst/>
                          <a:latin typeface="Times New Roman" panose="02020603050405020304" pitchFamily="18" charset="0"/>
                          <a:cs typeface="Times New Roman" panose="02020603050405020304" pitchFamily="18" charset="0"/>
                        </a:rPr>
                        <a:t>3.a.(i)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ts val="1495"/>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ts val="1495"/>
                        </a:lnSpc>
                        <a:spcBef>
                          <a:spcPts val="195"/>
                        </a:spcBef>
                        <a:buNone/>
                      </a:pPr>
                      <a:r>
                        <a:rPr lang="en-US" sz="1400" kern="100" spc="-50">
                          <a:effectLst/>
                          <a:latin typeface="Times New Roman" panose="02020603050405020304" pitchFamily="18" charset="0"/>
                          <a:cs typeface="Times New Roman" panose="02020603050405020304" pitchFamily="18" charset="0"/>
                        </a:rPr>
                        <a:t>6</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045589524"/>
                  </a:ext>
                </a:extLst>
              </a:tr>
              <a:tr h="261136">
                <a:tc>
                  <a:txBody>
                    <a:bodyPr/>
                    <a:lstStyle/>
                    <a:p>
                      <a:pPr marL="31750" algn="l">
                        <a:lnSpc>
                          <a:spcPts val="1495"/>
                        </a:lnSpc>
                        <a:spcBef>
                          <a:spcPts val="195"/>
                        </a:spcBef>
                        <a:buNone/>
                      </a:pPr>
                      <a:r>
                        <a:rPr lang="en-US" sz="1400" kern="100" spc="-10">
                          <a:effectLst/>
                          <a:latin typeface="Times New Roman" panose="02020603050405020304" pitchFamily="18" charset="0"/>
                          <a:cs typeface="Times New Roman" panose="02020603050405020304" pitchFamily="18" charset="0"/>
                        </a:rPr>
                        <a:t>3.a.(ii)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ts val="1495"/>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ts val="1495"/>
                        </a:lnSpc>
                        <a:spcBef>
                          <a:spcPts val="195"/>
                        </a:spcBef>
                        <a:buNone/>
                      </a:pPr>
                      <a:r>
                        <a:rPr lang="en-US" sz="1400" kern="100" spc="-50">
                          <a:effectLst/>
                          <a:latin typeface="Times New Roman" panose="02020603050405020304" pitchFamily="18" charset="0"/>
                          <a:cs typeface="Times New Roman" panose="02020603050405020304" pitchFamily="18" charset="0"/>
                        </a:rPr>
                        <a:t>6</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829338566"/>
                  </a:ext>
                </a:extLst>
              </a:tr>
              <a:tr h="299296">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3.b. Answer any one 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997342091"/>
                  </a:ext>
                </a:extLst>
              </a:tr>
              <a:tr h="253653">
                <a:tc>
                  <a:txBody>
                    <a:bodyPr/>
                    <a:lstStyle/>
                    <a:p>
                      <a:pPr marL="31750" algn="l">
                        <a:lnSpc>
                          <a:spcPct val="107000"/>
                        </a:lnSpc>
                        <a:spcBef>
                          <a:spcPts val="195"/>
                        </a:spcBef>
                        <a:buNone/>
                      </a:pPr>
                      <a:r>
                        <a:rPr lang="en-US" sz="1400" kern="100" spc="-10">
                          <a:effectLst/>
                          <a:latin typeface="Times New Roman" panose="02020603050405020304" pitchFamily="18" charset="0"/>
                          <a:cs typeface="Times New Roman" panose="02020603050405020304" pitchFamily="18" charset="0"/>
                        </a:rPr>
                        <a:t>3.b.(i)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a:effectLst/>
                          <a:latin typeface="Times New Roman" panose="02020603050405020304" pitchFamily="18" charset="0"/>
                          <a:cs typeface="Times New Roman" panose="02020603050405020304" pitchFamily="18" charset="0"/>
                        </a:rPr>
                        <a:t>6</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316778965"/>
                  </a:ext>
                </a:extLst>
              </a:tr>
              <a:tr h="246695">
                <a:tc>
                  <a:txBody>
                    <a:bodyPr/>
                    <a:lstStyle/>
                    <a:p>
                      <a:pPr marL="31750" algn="l">
                        <a:lnSpc>
                          <a:spcPct val="107000"/>
                        </a:lnSpc>
                        <a:spcBef>
                          <a:spcPts val="195"/>
                        </a:spcBef>
                        <a:buNone/>
                      </a:pPr>
                      <a:r>
                        <a:rPr lang="en-US" sz="1400" kern="100" spc="-10" dirty="0">
                          <a:effectLst/>
                          <a:latin typeface="Times New Roman" panose="02020603050405020304" pitchFamily="18" charset="0"/>
                          <a:cs typeface="Times New Roman" panose="02020603050405020304" pitchFamily="18" charset="0"/>
                        </a:rPr>
                        <a:t>3.b.(ii)</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a:effectLst/>
                          <a:latin typeface="Times New Roman" panose="02020603050405020304" pitchFamily="18" charset="0"/>
                          <a:cs typeface="Times New Roman" panose="02020603050405020304" pitchFamily="18" charset="0"/>
                        </a:rPr>
                        <a:t>6</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432117981"/>
                  </a:ext>
                </a:extLst>
              </a:tr>
              <a:tr h="299296">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3.c. Answer any one 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728379870"/>
                  </a:ext>
                </a:extLst>
              </a:tr>
              <a:tr h="264877">
                <a:tc>
                  <a:txBody>
                    <a:bodyPr/>
                    <a:lstStyle/>
                    <a:p>
                      <a:pPr marL="31750" algn="l">
                        <a:lnSpc>
                          <a:spcPct val="107000"/>
                        </a:lnSpc>
                        <a:spcBef>
                          <a:spcPts val="195"/>
                        </a:spcBef>
                        <a:buNone/>
                      </a:pPr>
                      <a:r>
                        <a:rPr lang="en-US" sz="1400" kern="100" spc="-10">
                          <a:effectLst/>
                          <a:latin typeface="Times New Roman" panose="02020603050405020304" pitchFamily="18" charset="0"/>
                          <a:cs typeface="Times New Roman" panose="02020603050405020304" pitchFamily="18" charset="0"/>
                        </a:rPr>
                        <a:t>3.c.(i)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a:effectLst/>
                          <a:latin typeface="Times New Roman" panose="02020603050405020304" pitchFamily="18" charset="0"/>
                          <a:cs typeface="Times New Roman" panose="02020603050405020304" pitchFamily="18" charset="0"/>
                        </a:rPr>
                        <a:t>6</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994934420"/>
                  </a:ext>
                </a:extLst>
              </a:tr>
              <a:tr h="299296">
                <a:tc>
                  <a:txBody>
                    <a:bodyPr/>
                    <a:lstStyle/>
                    <a:p>
                      <a:pPr marL="31750" algn="l">
                        <a:lnSpc>
                          <a:spcPct val="107000"/>
                        </a:lnSpc>
                        <a:spcBef>
                          <a:spcPts val="195"/>
                        </a:spcBef>
                        <a:buNone/>
                      </a:pPr>
                      <a:r>
                        <a:rPr lang="en-US" sz="1400" kern="100" spc="-10">
                          <a:effectLst/>
                          <a:latin typeface="Times New Roman" panose="02020603050405020304" pitchFamily="18" charset="0"/>
                          <a:cs typeface="Times New Roman" panose="02020603050405020304" pitchFamily="18" charset="0"/>
                        </a:rPr>
                        <a:t>3.c.(ii)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a:effectLst/>
                          <a:latin typeface="Times New Roman" panose="02020603050405020304" pitchFamily="18" charset="0"/>
                          <a:cs typeface="Times New Roman" panose="02020603050405020304" pitchFamily="18" charset="0"/>
                        </a:rPr>
                        <a:t>6</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364234507"/>
                  </a:ext>
                </a:extLst>
              </a:tr>
              <a:tr h="299296">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3.d. Answer any one 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613259364"/>
                  </a:ext>
                </a:extLst>
              </a:tr>
              <a:tr h="246695">
                <a:tc>
                  <a:txBody>
                    <a:bodyPr/>
                    <a:lstStyle/>
                    <a:p>
                      <a:pPr marL="31750" algn="l">
                        <a:lnSpc>
                          <a:spcPct val="107000"/>
                        </a:lnSpc>
                        <a:spcBef>
                          <a:spcPts val="195"/>
                        </a:spcBef>
                        <a:buNone/>
                      </a:pPr>
                      <a:r>
                        <a:rPr lang="en-US" sz="1400" kern="100" spc="-10">
                          <a:effectLst/>
                          <a:latin typeface="Times New Roman" panose="02020603050405020304" pitchFamily="18" charset="0"/>
                          <a:cs typeface="Times New Roman" panose="02020603050405020304" pitchFamily="18" charset="0"/>
                        </a:rPr>
                        <a:t>3.d.(i)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marR="154940" algn="l">
                        <a:lnSpc>
                          <a:spcPct val="107000"/>
                        </a:lnSpc>
                        <a:spcBef>
                          <a:spcPts val="195"/>
                        </a:spcBef>
                        <a:buNone/>
                      </a:pPr>
                      <a:r>
                        <a:rPr lang="en-US" sz="1400" kern="10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dirty="0">
                          <a:effectLst/>
                          <a:latin typeface="Times New Roman" panose="02020603050405020304" pitchFamily="18" charset="0"/>
                          <a:cs typeface="Times New Roman" panose="02020603050405020304" pitchFamily="18" charset="0"/>
                        </a:rPr>
                        <a:t>6</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742213692"/>
                  </a:ext>
                </a:extLst>
              </a:tr>
              <a:tr h="299296">
                <a:tc>
                  <a:txBody>
                    <a:bodyPr/>
                    <a:lstStyle/>
                    <a:p>
                      <a:pPr marL="31750" algn="l">
                        <a:lnSpc>
                          <a:spcPct val="107000"/>
                        </a:lnSpc>
                        <a:spcBef>
                          <a:spcPts val="195"/>
                        </a:spcBef>
                        <a:buNone/>
                      </a:pPr>
                      <a:r>
                        <a:rPr lang="en-US" sz="1400" kern="100" spc="-10">
                          <a:effectLst/>
                          <a:latin typeface="Times New Roman" panose="02020603050405020304" pitchFamily="18" charset="0"/>
                          <a:cs typeface="Times New Roman" panose="02020603050405020304" pitchFamily="18" charset="0"/>
                        </a:rPr>
                        <a:t>3.d.(ii)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dirty="0">
                          <a:effectLst/>
                          <a:latin typeface="Times New Roman" panose="02020603050405020304" pitchFamily="18" charset="0"/>
                          <a:cs typeface="Times New Roman" panose="02020603050405020304" pitchFamily="18" charset="0"/>
                        </a:rPr>
                        <a:t>6</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843811038"/>
                  </a:ext>
                </a:extLst>
              </a:tr>
              <a:tr h="299296">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3.e. Answer any one 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898324928"/>
                  </a:ext>
                </a:extLst>
              </a:tr>
              <a:tr h="246695">
                <a:tc>
                  <a:txBody>
                    <a:bodyPr/>
                    <a:lstStyle/>
                    <a:p>
                      <a:pPr marL="31750" algn="l">
                        <a:lnSpc>
                          <a:spcPct val="107000"/>
                        </a:lnSpc>
                        <a:spcBef>
                          <a:spcPts val="195"/>
                        </a:spcBef>
                        <a:buNone/>
                      </a:pPr>
                      <a:r>
                        <a:rPr lang="en-US" sz="1400" kern="100" spc="-10">
                          <a:effectLst/>
                          <a:latin typeface="Times New Roman" panose="02020603050405020304" pitchFamily="18" charset="0"/>
                          <a:cs typeface="Times New Roman" panose="02020603050405020304" pitchFamily="18" charset="0"/>
                        </a:rPr>
                        <a:t>3.e.(i)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marR="154940" algn="l">
                        <a:lnSpc>
                          <a:spcPct val="107000"/>
                        </a:lnSpc>
                        <a:spcBef>
                          <a:spcPts val="195"/>
                        </a:spcBef>
                        <a:buNone/>
                      </a:pPr>
                      <a:r>
                        <a:rPr lang="en-US" sz="1400" kern="10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dirty="0">
                          <a:effectLst/>
                          <a:latin typeface="Times New Roman" panose="02020603050405020304" pitchFamily="18" charset="0"/>
                          <a:cs typeface="Times New Roman" panose="02020603050405020304" pitchFamily="18" charset="0"/>
                        </a:rPr>
                        <a:t>6</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788275720"/>
                  </a:ext>
                </a:extLst>
              </a:tr>
              <a:tr h="246695">
                <a:tc>
                  <a:txBody>
                    <a:bodyPr/>
                    <a:lstStyle/>
                    <a:p>
                      <a:pPr marL="31750" algn="l">
                        <a:lnSpc>
                          <a:spcPct val="107000"/>
                        </a:lnSpc>
                        <a:spcBef>
                          <a:spcPts val="195"/>
                        </a:spcBef>
                        <a:buNone/>
                      </a:pPr>
                      <a:r>
                        <a:rPr lang="en-US" sz="1400" kern="100" spc="-10" dirty="0">
                          <a:effectLst/>
                          <a:latin typeface="Times New Roman" panose="02020603050405020304" pitchFamily="18" charset="0"/>
                          <a:cs typeface="Times New Roman" panose="02020603050405020304" pitchFamily="18" charset="0"/>
                        </a:rPr>
                        <a:t>3.e.(ii)</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marR="15494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dirty="0">
                          <a:effectLst/>
                          <a:latin typeface="Times New Roman" panose="02020603050405020304" pitchFamily="18" charset="0"/>
                          <a:cs typeface="Times New Roman" panose="02020603050405020304" pitchFamily="18" charset="0"/>
                        </a:rPr>
                        <a:t>6</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75491689"/>
                  </a:ext>
                </a:extLst>
              </a:tr>
            </a:tbl>
          </a:graphicData>
        </a:graphic>
      </p:graphicFrame>
      <p:sp>
        <p:nvSpPr>
          <p:cNvPr id="3" name="Footer Placeholder 2"/>
          <p:cNvSpPr>
            <a:spLocks noGrp="1"/>
          </p:cNvSpPr>
          <p:nvPr>
            <p:ph type="ftr" sz="quarter" idx="11"/>
          </p:nvPr>
        </p:nvSpPr>
        <p:spPr/>
        <p:txBody>
          <a:bodyPr/>
          <a:lstStyle/>
          <a:p>
            <a:r>
              <a:rPr lang="en-US" smtClean="0"/>
              <a:t>Vivek Kumart Sharma                BCSE0404X(TOC)                     Unit III</a:t>
            </a:r>
            <a:endParaRPr lang="en-US" dirty="0"/>
          </a:p>
        </p:txBody>
      </p:sp>
    </p:spTree>
    <p:extLst>
      <p:ext uri="{BB962C8B-B14F-4D97-AF65-F5344CB8AC3E}">
        <p14:creationId xmlns:p14="http://schemas.microsoft.com/office/powerpoint/2010/main" val="3094455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001F9-C65F-8005-8A24-CA0EBC4FB8D1}"/>
            </a:ext>
          </a:extLst>
        </p:cNvPr>
        <p:cNvGrpSpPr/>
        <p:nvPr/>
      </p:nvGrpSpPr>
      <p:grpSpPr>
        <a:xfrm>
          <a:off x="0" y="0"/>
          <a:ext cx="0" cy="0"/>
          <a:chOff x="0" y="0"/>
          <a:chExt cx="0" cy="0"/>
        </a:xfrm>
      </p:grpSpPr>
      <p:sp>
        <p:nvSpPr>
          <p:cNvPr id="1048750" name="Date Placeholder 3">
            <a:extLst>
              <a:ext uri="{FF2B5EF4-FFF2-40B4-BE49-F238E27FC236}">
                <a16:creationId xmlns:a16="http://schemas.microsoft.com/office/drawing/2014/main" id="{88A2C57B-8784-B6E7-2854-8543241BEBCA}"/>
              </a:ext>
            </a:extLst>
          </p:cNvPr>
          <p:cNvSpPr>
            <a:spLocks noGrp="1"/>
          </p:cNvSpPr>
          <p:nvPr>
            <p:ph type="dt" sz="quarter" idx="11"/>
          </p:nvPr>
        </p:nvSpPr>
        <p:spPr>
          <a:xfrm>
            <a:off x="-76200" y="6327813"/>
            <a:ext cx="2895600" cy="317500"/>
          </a:xfrm>
          <a:noFill/>
        </p:spPr>
        <p:txBody>
          <a:bodyPr/>
          <a:lstStyle>
            <a:lvl1pPr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646069" indent="-248488"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993953"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391534"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1789115"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186696"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584277"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2981858"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379440"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306A28D8-8FFF-4814-A844-771DAB451A3F}" type="datetime1">
              <a:rPr lang="en-US" altLang="en-US" sz="1044" smtClean="0">
                <a:solidFill>
                  <a:srgbClr val="888888"/>
                </a:solidFill>
                <a:latin typeface="Calibri" panose="020F0502020204030204" pitchFamily="34" charset="0"/>
                <a:sym typeface="Calibri" panose="020F0502020204030204" pitchFamily="34" charset="0"/>
              </a:rPr>
              <a:t>3/20/2026</a:t>
            </a:fld>
            <a:endParaRPr lang="en-US" altLang="en-US" sz="1044" dirty="0">
              <a:solidFill>
                <a:srgbClr val="888888"/>
              </a:solidFill>
              <a:latin typeface="Calibri" panose="020F0502020204030204" pitchFamily="34" charset="0"/>
              <a:sym typeface="Calibri" panose="020F0502020204030204" pitchFamily="34" charset="0"/>
            </a:endParaRPr>
          </a:p>
        </p:txBody>
      </p:sp>
      <p:sp>
        <p:nvSpPr>
          <p:cNvPr id="1048751" name="Title 1">
            <a:extLst>
              <a:ext uri="{FF2B5EF4-FFF2-40B4-BE49-F238E27FC236}">
                <a16:creationId xmlns:a16="http://schemas.microsoft.com/office/drawing/2014/main" id="{67EA2D8C-D818-0B8B-D95A-2B95A1BDCD7C}"/>
              </a:ext>
            </a:extLst>
          </p:cNvPr>
          <p:cNvSpPr txBox="1"/>
          <p:nvPr/>
        </p:nvSpPr>
        <p:spPr>
          <a:xfrm>
            <a:off x="1371600" y="0"/>
            <a:ext cx="7772400" cy="726109"/>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r>
              <a:rPr lang="en-IN" sz="2400" b="1" dirty="0">
                <a:latin typeface="Times New Roman" panose="02020603050405020304" pitchFamily="18" charset="0"/>
                <a:cs typeface="Times New Roman" panose="02020603050405020304" pitchFamily="18" charset="0"/>
                <a:sym typeface="Arial" charset="0"/>
              </a:rPr>
              <a:t>End Semester Question Paper Templates </a:t>
            </a:r>
            <a:endParaRPr lang="en-US" sz="2400" b="1" dirty="0">
              <a:latin typeface="Times New Roman" panose="02020603050405020304" pitchFamily="18" charset="0"/>
              <a:cs typeface="Times New Roman" panose="02020603050405020304" pitchFamily="18" charset="0"/>
              <a:sym typeface="Arial" charset="0"/>
            </a:endParaRPr>
          </a:p>
        </p:txBody>
      </p:sp>
      <p:sp>
        <p:nvSpPr>
          <p:cNvPr id="1048752" name="Rectangle 2">
            <a:extLst>
              <a:ext uri="{FF2B5EF4-FFF2-40B4-BE49-F238E27FC236}">
                <a16:creationId xmlns:a16="http://schemas.microsoft.com/office/drawing/2014/main" id="{78150349-F550-9E14-632F-825030D917E1}"/>
              </a:ext>
            </a:extLst>
          </p:cNvPr>
          <p:cNvSpPr>
            <a:spLocks noChangeArrowheads="1"/>
          </p:cNvSpPr>
          <p:nvPr/>
        </p:nvSpPr>
        <p:spPr bwMode="auto">
          <a:xfrm>
            <a:off x="0" y="318935"/>
            <a:ext cx="184731" cy="654218"/>
          </a:xfrm>
          <a:prstGeom prst="rect">
            <a:avLst/>
          </a:prstGeom>
          <a:noFill/>
          <a:ln>
            <a:noFill/>
          </a:ln>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217"/>
              <a:t/>
            </a:r>
            <a:br>
              <a:rPr lang="en-US" altLang="en-US" sz="1217"/>
            </a:br>
            <a:endParaRPr lang="en-US" altLang="en-US" sz="1217"/>
          </a:p>
          <a:p>
            <a:pPr eaLnBrk="1" hangingPunct="1"/>
            <a:endParaRPr lang="en-US" altLang="en-US" sz="1217"/>
          </a:p>
        </p:txBody>
      </p:sp>
      <p:sp>
        <p:nvSpPr>
          <p:cNvPr id="1048754" name="Slide Number Placeholder 12">
            <a:extLst>
              <a:ext uri="{FF2B5EF4-FFF2-40B4-BE49-F238E27FC236}">
                <a16:creationId xmlns:a16="http://schemas.microsoft.com/office/drawing/2014/main" id="{FB499671-61F5-A44E-4549-6369C01F1643}"/>
              </a:ext>
            </a:extLst>
          </p:cNvPr>
          <p:cNvSpPr>
            <a:spLocks noGrp="1"/>
          </p:cNvSpPr>
          <p:nvPr>
            <p:ph type="sldNum" sz="quarter" idx="4294967295"/>
          </p:nvPr>
        </p:nvSpPr>
        <p:spPr bwMode="auto">
          <a:xfrm>
            <a:off x="6629400" y="6324600"/>
            <a:ext cx="2133600" cy="317500"/>
          </a:xfrm>
          <a:prstGeom prst="rect">
            <a:avLst/>
          </a:prstGeom>
          <a:noFill/>
          <a:ln w="9525">
            <a:noFill/>
            <a:miter lim="800000"/>
            <a:headEnd/>
            <a:tailEnd/>
          </a:ln>
        </p:spPr>
        <p:txBody>
          <a:bodyPr vert="horz" wrap="square" lIns="79500" tIns="39739" rIns="79500" bIns="39739" numCol="1" rtlCol="0"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044"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397581"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795162"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192743"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590324"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1987906"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385487"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2783068"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180649"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18</a:t>
            </a:fld>
            <a:endParaRPr lang="en-US" altLang="en-US" dirty="0"/>
          </a:p>
        </p:txBody>
      </p:sp>
      <p:pic>
        <p:nvPicPr>
          <p:cNvPr id="12" name="Picture 15" descr="A black and red logo&#10;&#10;Description automatically generated">
            <a:extLst>
              <a:ext uri="{FF2B5EF4-FFF2-40B4-BE49-F238E27FC236}">
                <a16:creationId xmlns:a16="http://schemas.microsoft.com/office/drawing/2014/main" id="{9C4BC63B-0F79-D816-7103-241A309A9F4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12">
            <a:extLst>
              <a:ext uri="{FF2B5EF4-FFF2-40B4-BE49-F238E27FC236}">
                <a16:creationId xmlns:a16="http://schemas.microsoft.com/office/drawing/2014/main" id="{AC128D69-44E6-FC7B-7F8A-C76822840454}"/>
              </a:ext>
            </a:extLst>
          </p:cNvPr>
          <p:cNvSpPr txBox="1">
            <a:spLocks/>
          </p:cNvSpPr>
          <p:nvPr/>
        </p:nvSpPr>
        <p:spPr>
          <a:xfrm>
            <a:off x="1905000" y="6324600"/>
            <a:ext cx="5410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Ankur Kumar Varshney                 BCSE0404X(TOC)                     Unit III</a:t>
            </a:r>
          </a:p>
        </p:txBody>
      </p:sp>
      <p:graphicFrame>
        <p:nvGraphicFramePr>
          <p:cNvPr id="3" name="Table 2">
            <a:extLst>
              <a:ext uri="{FF2B5EF4-FFF2-40B4-BE49-F238E27FC236}">
                <a16:creationId xmlns:a16="http://schemas.microsoft.com/office/drawing/2014/main" id="{E6059512-9CD0-1B96-D17F-7D78F1FB8A11}"/>
              </a:ext>
            </a:extLst>
          </p:cNvPr>
          <p:cNvGraphicFramePr>
            <a:graphicFrameLocks noGrp="1"/>
          </p:cNvGraphicFramePr>
          <p:nvPr>
            <p:extLst>
              <p:ext uri="{D42A27DB-BD31-4B8C-83A1-F6EECF244321}">
                <p14:modId xmlns:p14="http://schemas.microsoft.com/office/powerpoint/2010/main" val="4087540774"/>
              </p:ext>
            </p:extLst>
          </p:nvPr>
        </p:nvGraphicFramePr>
        <p:xfrm>
          <a:off x="685800" y="1371600"/>
          <a:ext cx="7619999" cy="4346731"/>
        </p:xfrm>
        <a:graphic>
          <a:graphicData uri="http://schemas.openxmlformats.org/drawingml/2006/table">
            <a:tbl>
              <a:tblPr firstRow="1" firstCol="1" lastRow="1" lastCol="1" bandRow="1" bandCol="1">
                <a:tableStyleId>{5940675A-B579-460E-94D1-54222C63F5DA}</a:tableStyleId>
              </a:tblPr>
              <a:tblGrid>
                <a:gridCol w="678311">
                  <a:extLst>
                    <a:ext uri="{9D8B030D-6E8A-4147-A177-3AD203B41FA5}">
                      <a16:colId xmlns:a16="http://schemas.microsoft.com/office/drawing/2014/main" val="103475984"/>
                    </a:ext>
                  </a:extLst>
                </a:gridCol>
                <a:gridCol w="6606375">
                  <a:extLst>
                    <a:ext uri="{9D8B030D-6E8A-4147-A177-3AD203B41FA5}">
                      <a16:colId xmlns:a16="http://schemas.microsoft.com/office/drawing/2014/main" val="3637186783"/>
                    </a:ext>
                  </a:extLst>
                </a:gridCol>
                <a:gridCol w="335313">
                  <a:extLst>
                    <a:ext uri="{9D8B030D-6E8A-4147-A177-3AD203B41FA5}">
                      <a16:colId xmlns:a16="http://schemas.microsoft.com/office/drawing/2014/main" val="3772915123"/>
                    </a:ext>
                  </a:extLst>
                </a:gridCol>
              </a:tblGrid>
              <a:tr h="298534">
                <a:tc gridSpan="2">
                  <a:txBody>
                    <a:bodyPr/>
                    <a:lstStyle/>
                    <a:p>
                      <a:pPr marL="31750" algn="l">
                        <a:lnSpc>
                          <a:spcPct val="107000"/>
                        </a:lnSpc>
                        <a:spcBef>
                          <a:spcPts val="195"/>
                        </a:spcBef>
                        <a:buNone/>
                      </a:pPr>
                      <a:r>
                        <a:rPr lang="en-US" sz="1400" b="1" u="sng" kern="100" dirty="0">
                          <a:effectLst/>
                          <a:latin typeface="Times New Roman" panose="02020603050405020304" pitchFamily="18" charset="0"/>
                          <a:cs typeface="Times New Roman" panose="02020603050405020304" pitchFamily="18" charset="0"/>
                        </a:rPr>
                        <a:t>SECTION-</a:t>
                      </a:r>
                      <a:r>
                        <a:rPr lang="en-US" sz="1400" b="1" u="sng" kern="100" spc="-50" dirty="0">
                          <a:effectLst/>
                          <a:latin typeface="Times New Roman" panose="02020603050405020304" pitchFamily="18" charset="0"/>
                          <a:cs typeface="Times New Roman" panose="02020603050405020304" pitchFamily="18" charset="0"/>
                        </a:rPr>
                        <a:t>C</a:t>
                      </a:r>
                      <a:endParaRPr lang="en-IN" sz="14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R="29845" algn="r">
                        <a:lnSpc>
                          <a:spcPct val="107000"/>
                        </a:lnSpc>
                        <a:spcBef>
                          <a:spcPts val="195"/>
                        </a:spcBef>
                        <a:buNone/>
                      </a:pPr>
                      <a:r>
                        <a:rPr lang="en-US" sz="1400" kern="100" spc="-25">
                          <a:effectLst/>
                          <a:latin typeface="Times New Roman" panose="02020603050405020304" pitchFamily="18" charset="0"/>
                          <a:cs typeface="Times New Roman" panose="02020603050405020304" pitchFamily="18" charset="0"/>
                        </a:rPr>
                        <a:t>50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782702005"/>
                  </a:ext>
                </a:extLst>
              </a:tr>
              <a:tr h="298534">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4. Answer any</a:t>
                      </a:r>
                      <a:r>
                        <a:rPr lang="en-US" sz="1400" kern="100" spc="-5" dirty="0">
                          <a:effectLst/>
                          <a:latin typeface="Times New Roman" panose="02020603050405020304" pitchFamily="18" charset="0"/>
                          <a:cs typeface="Times New Roman" panose="02020603050405020304" pitchFamily="18" charset="0"/>
                        </a:rPr>
                        <a:t> </a:t>
                      </a:r>
                      <a:r>
                        <a:rPr lang="en-US" sz="1400" u="sng" kern="100" dirty="0">
                          <a:effectLst/>
                          <a:uFill>
                            <a:solidFill>
                              <a:srgbClr val="323130"/>
                            </a:solidFill>
                          </a:uFill>
                          <a:latin typeface="Times New Roman" panose="02020603050405020304" pitchFamily="18" charset="0"/>
                          <a:cs typeface="Times New Roman" panose="02020603050405020304" pitchFamily="18" charset="0"/>
                        </a:rPr>
                        <a:t>one</a:t>
                      </a:r>
                      <a:r>
                        <a:rPr lang="en-US" sz="1400" kern="100" spc="-5" dirty="0">
                          <a:effectLst/>
                          <a:latin typeface="Times New Roman" panose="02020603050405020304" pitchFamily="18" charset="0"/>
                          <a:cs typeface="Times New Roman" panose="02020603050405020304" pitchFamily="18" charset="0"/>
                        </a:rPr>
                        <a:t> </a:t>
                      </a:r>
                      <a:r>
                        <a:rPr lang="en-US" sz="1400" kern="100" dirty="0">
                          <a:effectLst/>
                          <a:latin typeface="Times New Roman" panose="02020603050405020304" pitchFamily="18" charset="0"/>
                          <a:cs typeface="Times New Roman" panose="02020603050405020304" pitchFamily="18" charset="0"/>
                        </a:rPr>
                        <a:t>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142728007"/>
                  </a:ext>
                </a:extLst>
              </a:tr>
              <a:tr h="246067">
                <a:tc>
                  <a:txBody>
                    <a:bodyPr/>
                    <a:lstStyle/>
                    <a:p>
                      <a:pPr marL="31750" algn="l">
                        <a:lnSpc>
                          <a:spcPct val="107000"/>
                        </a:lnSpc>
                        <a:spcBef>
                          <a:spcPts val="195"/>
                        </a:spcBef>
                        <a:buNone/>
                      </a:pPr>
                      <a:r>
                        <a:rPr lang="en-US" sz="1350" kern="100" dirty="0">
                          <a:effectLst/>
                          <a:latin typeface="Times New Roman" panose="02020603050405020304" pitchFamily="18" charset="0"/>
                          <a:cs typeface="Times New Roman" panose="02020603050405020304" pitchFamily="18" charset="0"/>
                        </a:rPr>
                        <a:t>4-</a:t>
                      </a:r>
                      <a:r>
                        <a:rPr lang="en-US" sz="1350" kern="100" spc="-25" dirty="0">
                          <a:effectLst/>
                          <a:latin typeface="Times New Roman" panose="02020603050405020304" pitchFamily="18" charset="0"/>
                          <a:cs typeface="Times New Roman" panose="02020603050405020304" pitchFamily="18" charset="0"/>
                        </a:rPr>
                        <a:t>a.</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75033067"/>
                  </a:ext>
                </a:extLst>
              </a:tr>
              <a:tr h="256739">
                <a:tc>
                  <a:txBody>
                    <a:bodyPr/>
                    <a:lstStyle/>
                    <a:p>
                      <a:pPr marL="31750" algn="l">
                        <a:lnSpc>
                          <a:spcPct val="107000"/>
                        </a:lnSpc>
                        <a:spcBef>
                          <a:spcPts val="195"/>
                        </a:spcBef>
                        <a:buNone/>
                      </a:pPr>
                      <a:r>
                        <a:rPr lang="en-US" sz="1350" kern="100" dirty="0">
                          <a:effectLst/>
                          <a:latin typeface="Times New Roman" panose="02020603050405020304" pitchFamily="18" charset="0"/>
                          <a:cs typeface="Times New Roman" panose="02020603050405020304" pitchFamily="18" charset="0"/>
                        </a:rPr>
                        <a:t>4-</a:t>
                      </a:r>
                      <a:r>
                        <a:rPr lang="en-US" sz="1350" kern="100" spc="-25" dirty="0">
                          <a:effectLst/>
                          <a:latin typeface="Times New Roman" panose="02020603050405020304" pitchFamily="18" charset="0"/>
                          <a:cs typeface="Times New Roman" panose="02020603050405020304" pitchFamily="18" charset="0"/>
                        </a:rPr>
                        <a:t>b.</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276469385"/>
                  </a:ext>
                </a:extLst>
              </a:tr>
              <a:tr h="298534">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5. Answer any</a:t>
                      </a:r>
                      <a:r>
                        <a:rPr lang="en-US" sz="1400" kern="100" spc="-5" dirty="0">
                          <a:effectLst/>
                          <a:latin typeface="Times New Roman" panose="02020603050405020304" pitchFamily="18" charset="0"/>
                          <a:cs typeface="Times New Roman" panose="02020603050405020304" pitchFamily="18" charset="0"/>
                        </a:rPr>
                        <a:t> </a:t>
                      </a:r>
                      <a:r>
                        <a:rPr lang="en-US" sz="1400" u="sng" kern="100" dirty="0">
                          <a:effectLst/>
                          <a:uFill>
                            <a:solidFill>
                              <a:srgbClr val="323130"/>
                            </a:solidFill>
                          </a:uFill>
                          <a:latin typeface="Times New Roman" panose="02020603050405020304" pitchFamily="18" charset="0"/>
                          <a:cs typeface="Times New Roman" panose="02020603050405020304" pitchFamily="18" charset="0"/>
                        </a:rPr>
                        <a:t>one</a:t>
                      </a:r>
                      <a:r>
                        <a:rPr lang="en-US" sz="1400" kern="100" spc="-5" dirty="0">
                          <a:effectLst/>
                          <a:latin typeface="Times New Roman" panose="02020603050405020304" pitchFamily="18" charset="0"/>
                          <a:cs typeface="Times New Roman" panose="02020603050405020304" pitchFamily="18" charset="0"/>
                        </a:rPr>
                        <a:t> </a:t>
                      </a:r>
                      <a:r>
                        <a:rPr lang="en-US" sz="1400" kern="100" dirty="0">
                          <a:effectLst/>
                          <a:latin typeface="Times New Roman" panose="02020603050405020304" pitchFamily="18" charset="0"/>
                          <a:cs typeface="Times New Roman" panose="02020603050405020304" pitchFamily="18" charset="0"/>
                        </a:rPr>
                        <a:t>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66612941"/>
                  </a:ext>
                </a:extLst>
              </a:tr>
              <a:tr h="246067">
                <a:tc>
                  <a:txBody>
                    <a:bodyPr/>
                    <a:lstStyle/>
                    <a:p>
                      <a:pPr marL="31750" algn="l">
                        <a:lnSpc>
                          <a:spcPct val="107000"/>
                        </a:lnSpc>
                        <a:spcBef>
                          <a:spcPts val="195"/>
                        </a:spcBef>
                        <a:buNone/>
                      </a:pPr>
                      <a:r>
                        <a:rPr lang="en-US" sz="1350" kern="100" dirty="0">
                          <a:effectLst/>
                          <a:latin typeface="Times New Roman" panose="02020603050405020304" pitchFamily="18" charset="0"/>
                          <a:cs typeface="Times New Roman" panose="02020603050405020304" pitchFamily="18" charset="0"/>
                        </a:rPr>
                        <a:t>5-</a:t>
                      </a:r>
                      <a:r>
                        <a:rPr lang="en-US" sz="1350" kern="100" spc="-25" dirty="0">
                          <a:effectLst/>
                          <a:latin typeface="Times New Roman" panose="02020603050405020304" pitchFamily="18" charset="0"/>
                          <a:cs typeface="Times New Roman" panose="02020603050405020304" pitchFamily="18" charset="0"/>
                        </a:rPr>
                        <a:t>a.</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marR="15494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467132371"/>
                  </a:ext>
                </a:extLst>
              </a:tr>
              <a:tr h="258232">
                <a:tc>
                  <a:txBody>
                    <a:bodyPr/>
                    <a:lstStyle/>
                    <a:p>
                      <a:pPr marL="31750" algn="l">
                        <a:lnSpc>
                          <a:spcPct val="107000"/>
                        </a:lnSpc>
                        <a:spcBef>
                          <a:spcPts val="195"/>
                        </a:spcBef>
                        <a:buNone/>
                      </a:pPr>
                      <a:r>
                        <a:rPr lang="en-US" sz="1350" kern="100" dirty="0">
                          <a:effectLst/>
                          <a:latin typeface="Times New Roman" panose="02020603050405020304" pitchFamily="18" charset="0"/>
                          <a:cs typeface="Times New Roman" panose="02020603050405020304" pitchFamily="18" charset="0"/>
                        </a:rPr>
                        <a:t>5-</a:t>
                      </a:r>
                      <a:r>
                        <a:rPr lang="en-US" sz="1350" kern="100" spc="-25" dirty="0">
                          <a:effectLst/>
                          <a:latin typeface="Times New Roman" panose="02020603050405020304" pitchFamily="18" charset="0"/>
                          <a:cs typeface="Times New Roman" panose="02020603050405020304" pitchFamily="18" charset="0"/>
                        </a:rPr>
                        <a:t>b.</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marR="154940" algn="l">
                        <a:lnSpc>
                          <a:spcPct val="93000"/>
                        </a:lnSpc>
                        <a:spcBef>
                          <a:spcPts val="260"/>
                        </a:spcBef>
                        <a:buNone/>
                      </a:pPr>
                      <a:r>
                        <a:rPr lang="en-US" sz="1400" kern="10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82991253"/>
                  </a:ext>
                </a:extLst>
              </a:tr>
              <a:tr h="298534">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6. Answer any</a:t>
                      </a:r>
                      <a:r>
                        <a:rPr lang="en-US" sz="1400" kern="100" spc="-5" dirty="0">
                          <a:effectLst/>
                          <a:latin typeface="Times New Roman" panose="02020603050405020304" pitchFamily="18" charset="0"/>
                          <a:cs typeface="Times New Roman" panose="02020603050405020304" pitchFamily="18" charset="0"/>
                        </a:rPr>
                        <a:t> </a:t>
                      </a:r>
                      <a:r>
                        <a:rPr lang="en-US" sz="1400" u="sng" kern="100" dirty="0">
                          <a:effectLst/>
                          <a:uFill>
                            <a:solidFill>
                              <a:srgbClr val="323130"/>
                            </a:solidFill>
                          </a:uFill>
                          <a:latin typeface="Times New Roman" panose="02020603050405020304" pitchFamily="18" charset="0"/>
                          <a:cs typeface="Times New Roman" panose="02020603050405020304" pitchFamily="18" charset="0"/>
                        </a:rPr>
                        <a:t>one</a:t>
                      </a:r>
                      <a:r>
                        <a:rPr lang="en-US" sz="1400" kern="100" spc="-5" dirty="0">
                          <a:effectLst/>
                          <a:latin typeface="Times New Roman" panose="02020603050405020304" pitchFamily="18" charset="0"/>
                          <a:cs typeface="Times New Roman" panose="02020603050405020304" pitchFamily="18" charset="0"/>
                        </a:rPr>
                        <a:t> </a:t>
                      </a:r>
                      <a:r>
                        <a:rPr lang="en-US" sz="1400" kern="100" dirty="0">
                          <a:effectLst/>
                          <a:latin typeface="Times New Roman" panose="02020603050405020304" pitchFamily="18" charset="0"/>
                          <a:cs typeface="Times New Roman" panose="02020603050405020304" pitchFamily="18" charset="0"/>
                        </a:rPr>
                        <a:t>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494912146"/>
                  </a:ext>
                </a:extLst>
              </a:tr>
              <a:tr h="246067">
                <a:tc>
                  <a:txBody>
                    <a:bodyPr/>
                    <a:lstStyle/>
                    <a:p>
                      <a:pPr marL="31750" algn="l">
                        <a:lnSpc>
                          <a:spcPct val="107000"/>
                        </a:lnSpc>
                        <a:spcBef>
                          <a:spcPts val="195"/>
                        </a:spcBef>
                        <a:buNone/>
                      </a:pPr>
                      <a:r>
                        <a:rPr lang="en-US" sz="1350" kern="100" dirty="0">
                          <a:effectLst/>
                          <a:latin typeface="Times New Roman" panose="02020603050405020304" pitchFamily="18" charset="0"/>
                          <a:cs typeface="Times New Roman" panose="02020603050405020304" pitchFamily="18" charset="0"/>
                        </a:rPr>
                        <a:t>6-</a:t>
                      </a:r>
                      <a:r>
                        <a:rPr lang="en-US" sz="1350" kern="100" spc="-25" dirty="0">
                          <a:effectLst/>
                          <a:latin typeface="Times New Roman" panose="02020603050405020304" pitchFamily="18" charset="0"/>
                          <a:cs typeface="Times New Roman" panose="02020603050405020304" pitchFamily="18" charset="0"/>
                        </a:rPr>
                        <a:t>a.</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marR="5207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97602521"/>
                  </a:ext>
                </a:extLst>
              </a:tr>
              <a:tr h="298534">
                <a:tc>
                  <a:txBody>
                    <a:bodyPr/>
                    <a:lstStyle/>
                    <a:p>
                      <a:pPr marL="31750" algn="l">
                        <a:lnSpc>
                          <a:spcPct val="107000"/>
                        </a:lnSpc>
                        <a:spcBef>
                          <a:spcPts val="195"/>
                        </a:spcBef>
                        <a:buNone/>
                      </a:pPr>
                      <a:r>
                        <a:rPr lang="en-US" sz="1350" kern="100" dirty="0">
                          <a:effectLst/>
                          <a:latin typeface="Times New Roman" panose="02020603050405020304" pitchFamily="18" charset="0"/>
                          <a:cs typeface="Times New Roman" panose="02020603050405020304" pitchFamily="18" charset="0"/>
                        </a:rPr>
                        <a:t>6-</a:t>
                      </a:r>
                      <a:r>
                        <a:rPr lang="en-US" sz="1350" kern="100" spc="-25" dirty="0">
                          <a:effectLst/>
                          <a:latin typeface="Times New Roman" panose="02020603050405020304" pitchFamily="18" charset="0"/>
                          <a:cs typeface="Times New Roman" panose="02020603050405020304" pitchFamily="18" charset="0"/>
                        </a:rPr>
                        <a:t>b.</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374989740"/>
                  </a:ext>
                </a:extLst>
              </a:tr>
              <a:tr h="298534">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7. Answer any</a:t>
                      </a:r>
                      <a:r>
                        <a:rPr lang="en-US" sz="1400" kern="100" spc="-5" dirty="0">
                          <a:effectLst/>
                          <a:latin typeface="Times New Roman" panose="02020603050405020304" pitchFamily="18" charset="0"/>
                          <a:cs typeface="Times New Roman" panose="02020603050405020304" pitchFamily="18" charset="0"/>
                        </a:rPr>
                        <a:t> </a:t>
                      </a:r>
                      <a:r>
                        <a:rPr lang="en-US" sz="1400" u="sng" kern="100" dirty="0">
                          <a:effectLst/>
                          <a:uFill>
                            <a:solidFill>
                              <a:srgbClr val="323130"/>
                            </a:solidFill>
                          </a:uFill>
                          <a:latin typeface="Times New Roman" panose="02020603050405020304" pitchFamily="18" charset="0"/>
                          <a:cs typeface="Times New Roman" panose="02020603050405020304" pitchFamily="18" charset="0"/>
                        </a:rPr>
                        <a:t>one</a:t>
                      </a:r>
                      <a:r>
                        <a:rPr lang="en-US" sz="1400" kern="100" spc="-5" dirty="0">
                          <a:effectLst/>
                          <a:latin typeface="Times New Roman" panose="02020603050405020304" pitchFamily="18" charset="0"/>
                          <a:cs typeface="Times New Roman" panose="02020603050405020304" pitchFamily="18" charset="0"/>
                        </a:rPr>
                        <a:t> </a:t>
                      </a:r>
                      <a:r>
                        <a:rPr lang="en-US" sz="1400" kern="100" dirty="0">
                          <a:effectLst/>
                          <a:latin typeface="Times New Roman" panose="02020603050405020304" pitchFamily="18" charset="0"/>
                          <a:cs typeface="Times New Roman" panose="02020603050405020304" pitchFamily="18" charset="0"/>
                        </a:rPr>
                        <a:t>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73480835"/>
                  </a:ext>
                </a:extLst>
              </a:tr>
              <a:tr h="260471">
                <a:tc>
                  <a:txBody>
                    <a:bodyPr/>
                    <a:lstStyle/>
                    <a:p>
                      <a:pPr marL="31750" algn="l">
                        <a:lnSpc>
                          <a:spcPts val="1450"/>
                        </a:lnSpc>
                        <a:spcBef>
                          <a:spcPts val="195"/>
                        </a:spcBef>
                        <a:buNone/>
                      </a:pPr>
                      <a:r>
                        <a:rPr lang="en-US" sz="1350" kern="100" dirty="0">
                          <a:effectLst/>
                          <a:latin typeface="Times New Roman" panose="02020603050405020304" pitchFamily="18" charset="0"/>
                          <a:cs typeface="Times New Roman" panose="02020603050405020304" pitchFamily="18" charset="0"/>
                        </a:rPr>
                        <a:t>7-</a:t>
                      </a:r>
                      <a:r>
                        <a:rPr lang="en-US" sz="1350" kern="100" spc="-25" dirty="0">
                          <a:effectLst/>
                          <a:latin typeface="Times New Roman" panose="02020603050405020304" pitchFamily="18" charset="0"/>
                          <a:cs typeface="Times New Roman" panose="02020603050405020304" pitchFamily="18" charset="0"/>
                        </a:rPr>
                        <a:t>a.</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ts val="145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ts val="145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440580960"/>
                  </a:ext>
                </a:extLst>
              </a:tr>
              <a:tr h="260471">
                <a:tc>
                  <a:txBody>
                    <a:bodyPr/>
                    <a:lstStyle/>
                    <a:p>
                      <a:pPr marL="31750" algn="l">
                        <a:lnSpc>
                          <a:spcPts val="1450"/>
                        </a:lnSpc>
                        <a:spcBef>
                          <a:spcPts val="195"/>
                        </a:spcBef>
                        <a:buNone/>
                      </a:pPr>
                      <a:r>
                        <a:rPr lang="en-US" sz="1350" kern="100" dirty="0">
                          <a:effectLst/>
                          <a:latin typeface="Times New Roman" panose="02020603050405020304" pitchFamily="18" charset="0"/>
                          <a:cs typeface="Times New Roman" panose="02020603050405020304" pitchFamily="18" charset="0"/>
                        </a:rPr>
                        <a:t>7-b.</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ts val="1450"/>
                        </a:lnSpc>
                        <a:spcBef>
                          <a:spcPts val="195"/>
                        </a:spcBef>
                        <a:buNone/>
                      </a:pPr>
                      <a:r>
                        <a:rPr lang="en-US" sz="1400" kern="10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ts val="145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784353331"/>
                  </a:ext>
                </a:extLst>
              </a:tr>
              <a:tr h="260471">
                <a:tc gridSpan="2">
                  <a:txBody>
                    <a:bodyPr/>
                    <a:lstStyle/>
                    <a:p>
                      <a:pPr algn="l">
                        <a:lnSpc>
                          <a:spcPts val="1450"/>
                        </a:lnSpc>
                        <a:spcBef>
                          <a:spcPts val="195"/>
                        </a:spcBef>
                        <a:buNone/>
                      </a:pPr>
                      <a:r>
                        <a:rPr lang="en-US" sz="1400" kern="100" dirty="0">
                          <a:effectLst/>
                          <a:latin typeface="Times New Roman" panose="02020603050405020304" pitchFamily="18" charset="0"/>
                          <a:cs typeface="Times New Roman" panose="02020603050405020304" pitchFamily="18" charset="0"/>
                        </a:rPr>
                        <a:t>8. Answer any</a:t>
                      </a:r>
                      <a:r>
                        <a:rPr lang="en-US" sz="1400" kern="100" spc="-5" dirty="0">
                          <a:effectLst/>
                          <a:latin typeface="Times New Roman" panose="02020603050405020304" pitchFamily="18" charset="0"/>
                          <a:cs typeface="Times New Roman" panose="02020603050405020304" pitchFamily="18" charset="0"/>
                        </a:rPr>
                        <a:t> </a:t>
                      </a:r>
                      <a:r>
                        <a:rPr lang="en-US" sz="1400" u="sng" kern="100" dirty="0">
                          <a:effectLst/>
                          <a:uFill>
                            <a:solidFill>
                              <a:srgbClr val="323130"/>
                            </a:solidFill>
                          </a:uFill>
                          <a:latin typeface="Times New Roman" panose="02020603050405020304" pitchFamily="18" charset="0"/>
                          <a:cs typeface="Times New Roman" panose="02020603050405020304" pitchFamily="18" charset="0"/>
                        </a:rPr>
                        <a:t>one</a:t>
                      </a:r>
                      <a:r>
                        <a:rPr lang="en-US" sz="1400" kern="100" spc="-5" dirty="0">
                          <a:effectLst/>
                          <a:latin typeface="Times New Roman" panose="02020603050405020304" pitchFamily="18" charset="0"/>
                          <a:cs typeface="Times New Roman" panose="02020603050405020304" pitchFamily="18" charset="0"/>
                        </a:rPr>
                        <a:t> </a:t>
                      </a:r>
                      <a:r>
                        <a:rPr lang="en-US" sz="1400" kern="100" dirty="0">
                          <a:effectLst/>
                          <a:latin typeface="Times New Roman" panose="02020603050405020304" pitchFamily="18" charset="0"/>
                          <a:cs typeface="Times New Roman" panose="02020603050405020304" pitchFamily="18" charset="0"/>
                        </a:rPr>
                        <a:t>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R="29845" algn="r">
                        <a:lnSpc>
                          <a:spcPts val="1450"/>
                        </a:lnSpc>
                        <a:spcBef>
                          <a:spcPts val="195"/>
                        </a:spcBef>
                        <a:buNone/>
                      </a:pPr>
                      <a:r>
                        <a:rPr lang="en-US" sz="1400" kern="100" spc="-25">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51525345"/>
                  </a:ext>
                </a:extLst>
              </a:tr>
              <a:tr h="260471">
                <a:tc>
                  <a:txBody>
                    <a:bodyPr/>
                    <a:lstStyle/>
                    <a:p>
                      <a:pPr marL="31750" algn="l">
                        <a:lnSpc>
                          <a:spcPts val="1450"/>
                        </a:lnSpc>
                        <a:spcBef>
                          <a:spcPts val="195"/>
                        </a:spcBef>
                        <a:buNone/>
                      </a:pPr>
                      <a:r>
                        <a:rPr lang="en-US" sz="1350" kern="100" dirty="0">
                          <a:effectLst/>
                          <a:latin typeface="Times New Roman" panose="02020603050405020304" pitchFamily="18" charset="0"/>
                          <a:cs typeface="Times New Roman" panose="02020603050405020304" pitchFamily="18" charset="0"/>
                        </a:rPr>
                        <a:t>8-</a:t>
                      </a:r>
                      <a:r>
                        <a:rPr lang="en-US" sz="1350" kern="100" spc="-25" dirty="0">
                          <a:effectLst/>
                          <a:latin typeface="Times New Roman" panose="02020603050405020304" pitchFamily="18" charset="0"/>
                          <a:cs typeface="Times New Roman" panose="02020603050405020304" pitchFamily="18" charset="0"/>
                        </a:rPr>
                        <a:t>a.</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ts val="145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r">
                        <a:lnSpc>
                          <a:spcPts val="1450"/>
                        </a:lnSpc>
                        <a:spcBef>
                          <a:spcPts val="195"/>
                        </a:spcBef>
                        <a:buNone/>
                      </a:pPr>
                      <a:r>
                        <a:rPr lang="en-US" sz="1400" kern="100" spc="-25" dirty="0">
                          <a:effectLst/>
                          <a:latin typeface="Times New Roman" panose="02020603050405020304" pitchFamily="18" charset="0"/>
                          <a:cs typeface="Times New Roman" panose="02020603050405020304" pitchFamily="18" charset="0"/>
                        </a:rPr>
                        <a:t>10 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03841594"/>
                  </a:ext>
                </a:extLst>
              </a:tr>
              <a:tr h="260471">
                <a:tc>
                  <a:txBody>
                    <a:bodyPr/>
                    <a:lstStyle/>
                    <a:p>
                      <a:pPr marL="31750" algn="l">
                        <a:lnSpc>
                          <a:spcPts val="1450"/>
                        </a:lnSpc>
                        <a:spcBef>
                          <a:spcPts val="195"/>
                        </a:spcBef>
                        <a:buNone/>
                      </a:pPr>
                      <a:r>
                        <a:rPr lang="en-US" sz="1350" kern="100" dirty="0">
                          <a:effectLst/>
                          <a:latin typeface="Times New Roman" panose="02020603050405020304" pitchFamily="18" charset="0"/>
                          <a:cs typeface="Times New Roman" panose="02020603050405020304" pitchFamily="18" charset="0"/>
                        </a:rPr>
                        <a:t>8-b.</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ts val="145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r">
                        <a:lnSpc>
                          <a:spcPts val="1450"/>
                        </a:lnSpc>
                        <a:spcBef>
                          <a:spcPts val="195"/>
                        </a:spcBef>
                        <a:buNone/>
                      </a:pPr>
                      <a:r>
                        <a:rPr lang="en-US" sz="1400" kern="100" spc="-25" dirty="0">
                          <a:effectLst/>
                          <a:latin typeface="Times New Roman" panose="02020603050405020304" pitchFamily="18" charset="0"/>
                          <a:cs typeface="Times New Roman" panose="02020603050405020304" pitchFamily="18" charset="0"/>
                        </a:rPr>
                        <a:t>10 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27714190"/>
                  </a:ext>
                </a:extLst>
              </a:tr>
            </a:tbl>
          </a:graphicData>
        </a:graphic>
      </p:graphicFrame>
      <p:sp>
        <p:nvSpPr>
          <p:cNvPr id="2" name="Footer Placeholder 1"/>
          <p:cNvSpPr>
            <a:spLocks noGrp="1"/>
          </p:cNvSpPr>
          <p:nvPr>
            <p:ph type="ftr" sz="quarter" idx="11"/>
          </p:nvPr>
        </p:nvSpPr>
        <p:spPr/>
        <p:txBody>
          <a:bodyPr/>
          <a:lstStyle/>
          <a:p>
            <a:r>
              <a:rPr lang="en-US" smtClean="0"/>
              <a:t>Vivek Kumart Sharma                BCSE0404X(TOC)                     Unit III</a:t>
            </a:r>
            <a:endParaRPr lang="en-US" dirty="0"/>
          </a:p>
        </p:txBody>
      </p:sp>
    </p:spTree>
    <p:extLst>
      <p:ext uri="{BB962C8B-B14F-4D97-AF65-F5344CB8AC3E}">
        <p14:creationId xmlns:p14="http://schemas.microsoft.com/office/powerpoint/2010/main" val="4147889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12F5E6-271D-4B6D-BAF8-7D5338DA90B8}"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7" name="Title 1">
            <a:extLst>
              <a:ext uri="{FF2B5EF4-FFF2-40B4-BE49-F238E27FC236}">
                <a16:creationId xmlns:a16="http://schemas.microsoft.com/office/drawing/2014/main" id="{1719417F-C8A4-408C-ABE8-01153A6027D5}"/>
              </a:ext>
            </a:extLst>
          </p:cNvPr>
          <p:cNvSpPr txBox="1">
            <a:spLocks noGrp="1"/>
          </p:cNvSpPr>
          <p:nvPr>
            <p:ph type="title"/>
          </p:nvPr>
        </p:nvSpPr>
        <p:spPr>
          <a:xfrm>
            <a:off x="1676400" y="0"/>
            <a:ext cx="7467600" cy="838202"/>
          </a:xfr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r>
              <a:rPr lang="en-US" sz="2400" b="1" dirty="0">
                <a:latin typeface="Times New Roman" panose="02020603050405020304" pitchFamily="18" charset="0"/>
                <a:cs typeface="Times New Roman" panose="02020603050405020304" pitchFamily="18" charset="0"/>
                <a:sym typeface="Arial" charset="0"/>
              </a:rPr>
              <a:t>Program Educational Objectives</a:t>
            </a:r>
          </a:p>
        </p:txBody>
      </p:sp>
      <p:sp>
        <p:nvSpPr>
          <p:cNvPr id="8" name="Footer Placeholder 12"/>
          <p:cNvSpPr>
            <a:spLocks noGrp="1"/>
          </p:cNvSpPr>
          <p:nvPr>
            <p:ph type="ftr" sz="quarter" idx="11"/>
          </p:nvPr>
        </p:nvSpPr>
        <p:spPr>
          <a:xfrm>
            <a:off x="1905000" y="64166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
        <p:nvSpPr>
          <p:cNvPr id="9" name="Content Placeholder 2"/>
          <p:cNvSpPr>
            <a:spLocks noGrp="1"/>
          </p:cNvSpPr>
          <p:nvPr>
            <p:ph idx="1"/>
          </p:nvPr>
        </p:nvSpPr>
        <p:spPr>
          <a:xfrm>
            <a:off x="457200" y="1143000"/>
            <a:ext cx="8229600" cy="4906965"/>
          </a:xfrm>
        </p:spPr>
        <p:txBody>
          <a:bodyPr>
            <a:noAutofit/>
          </a:bodyPr>
          <a:lstStyle/>
          <a:p>
            <a:pPr marL="0" indent="0" algn="just">
              <a:buNone/>
            </a:pPr>
            <a:r>
              <a:rPr lang="en-US" sz="1800" b="1" dirty="0">
                <a:latin typeface="Times New Roman" panose="02020603050405020304" pitchFamily="18" charset="0"/>
                <a:cs typeface="Times New Roman" panose="02020603050405020304" pitchFamily="18" charset="0"/>
              </a:rPr>
              <a:t>PEO’S of the B. Tech. in Information Technology are:</a:t>
            </a:r>
          </a:p>
          <a:p>
            <a:pPr marL="0" indent="0" algn="just">
              <a:buNone/>
            </a:pPr>
            <a:r>
              <a:rPr lang="en-US" sz="1800" b="1" dirty="0">
                <a:latin typeface="Times New Roman" panose="02020603050405020304" pitchFamily="18" charset="0"/>
                <a:cs typeface="Times New Roman" panose="02020603050405020304" pitchFamily="18" charset="0"/>
              </a:rPr>
              <a:t>The graduates will be:</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PEO1:	</a:t>
            </a:r>
            <a:r>
              <a:rPr lang="en-US" sz="1800" dirty="0">
                <a:latin typeface="Times New Roman" panose="02020603050405020304" pitchFamily="18" charset="0"/>
                <a:cs typeface="Times New Roman" panose="02020603050405020304" pitchFamily="18" charset="0"/>
              </a:rPr>
              <a:t>To apply sound knowledge combining technical expertise, and problem-solving skills to fulfill the needs of the IT industry and stay updated with the latest emerging trends.</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PEO2:</a:t>
            </a:r>
            <a:r>
              <a:rPr lang="en-US" sz="1800" dirty="0">
                <a:latin typeface="Times New Roman" panose="02020603050405020304" pitchFamily="18" charset="0"/>
                <a:cs typeface="Times New Roman" panose="02020603050405020304" pitchFamily="18" charset="0"/>
              </a:rPr>
              <a:t>	To provide sustainable solutions for real-life problems by designing innovative and interdisciplinary systems using the latest digital technologies for serving academia, industry, and society.</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PEO3:	</a:t>
            </a:r>
            <a:r>
              <a:rPr lang="en-US" sz="1800" dirty="0">
                <a:latin typeface="Times New Roman" panose="02020603050405020304" pitchFamily="18" charset="0"/>
                <a:cs typeface="Times New Roman" panose="02020603050405020304" pitchFamily="18" charset="0"/>
              </a:rPr>
              <a:t>To reflect professional attitude, social ethics, communication, teamwork, and leadership skills in research and product development to face global challenges.</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PEO4:</a:t>
            </a:r>
            <a:r>
              <a:rPr lang="en-US" sz="1800" dirty="0">
                <a:latin typeface="Times New Roman" panose="02020603050405020304" pitchFamily="18" charset="0"/>
                <a:cs typeface="Times New Roman" panose="02020603050405020304" pitchFamily="18" charset="0"/>
              </a:rPr>
              <a:t>	To pursue higher studies and develop their career successfully in the software industry and R&amp;D sectors with a lifelong learning frame of mind.</a:t>
            </a:r>
          </a:p>
          <a:p>
            <a:pPr algn="just">
              <a:spcBef>
                <a:spcPct val="0"/>
              </a:spcBef>
              <a:spcAft>
                <a:spcPct val="0"/>
              </a:spcAft>
              <a:buClr>
                <a:srgbClr val="000000"/>
              </a:buClr>
              <a:buNone/>
            </a:pPr>
            <a:r>
              <a:rPr lang="en-US" sz="1800" dirty="0">
                <a:latin typeface="Times New Roman" panose="02020603050405020304" pitchFamily="18" charset="0"/>
                <a:cs typeface="Times New Roman" panose="02020603050405020304" pitchFamily="18" charset="0"/>
              </a:rPr>
              <a:t>.</a:t>
            </a:r>
            <a:endParaRPr lang="en-IN" alt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2733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3468558-215D-44E6-930B-12096B1AA109}"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7" name="Title 1"/>
          <p:cNvSpPr txBox="1">
            <a:spLocks/>
          </p:cNvSpPr>
          <p:nvPr/>
        </p:nvSpPr>
        <p:spPr>
          <a:xfrm>
            <a:off x="1676400" y="0"/>
            <a:ext cx="7467600"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Unit Objective </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4" name="Rectangle 5">
            <a:extLst>
              <a:ext uri="{FF2B5EF4-FFF2-40B4-BE49-F238E27FC236}">
                <a16:creationId xmlns:a16="http://schemas.microsoft.com/office/drawing/2014/main" id="{B5ADC50D-D217-B20D-6C20-350485509DA0}"/>
              </a:ext>
            </a:extLst>
          </p:cNvPr>
          <p:cNvSpPr>
            <a:spLocks noChangeArrowheads="1"/>
          </p:cNvSpPr>
          <p:nvPr/>
        </p:nvSpPr>
        <p:spPr bwMode="auto">
          <a:xfrm>
            <a:off x="304800" y="1171346"/>
            <a:ext cx="8534400" cy="4619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the definition of Context Free Grammar (CFG) and the types of languages generated by CFG.</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explain the concept of derivations in CFG and analyze how strings are generated step by step.</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study parse trees and identify ambiguity in grammars through multiple derivations.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learn the techniques for simplification of CFG by removing useless symbols, null productions, and unit productions.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the definition and structure of Pushdown Automata (PDA) as a computational model.</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analyze the relationship between Pushdown Automata and Context Free Languages, and identify the languages accepted by PDA.</a:t>
            </a:r>
          </a:p>
        </p:txBody>
      </p:sp>
      <p:sp>
        <p:nvSpPr>
          <p:cNvPr id="2" name="Footer Placeholder 12">
            <a:extLst>
              <a:ext uri="{FF2B5EF4-FFF2-40B4-BE49-F238E27FC236}">
                <a16:creationId xmlns:a16="http://schemas.microsoft.com/office/drawing/2014/main" id="{50304823-4DF8-37AA-1DB3-E53AFC93D376}"/>
              </a:ext>
            </a:extLst>
          </p:cNvPr>
          <p:cNvSpPr>
            <a:spLocks noGrp="1"/>
          </p:cNvSpPr>
          <p:nvPr>
            <p:ph type="ftr" sz="quarter" idx="11"/>
          </p:nvPr>
        </p:nvSpPr>
        <p:spPr>
          <a:xfrm>
            <a:off x="1905000" y="64008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221431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3D28935-004D-4F4B-B048-59AAEAB45EAF}"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22" name="Title 1"/>
          <p:cNvSpPr txBox="1"/>
          <p:nvPr/>
        </p:nvSpPr>
        <p:spPr>
          <a:xfrm>
            <a:off x="1676400" y="0"/>
            <a:ext cx="7467600" cy="8382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b="1" dirty="0">
                <a:latin typeface="Times New Roman" panose="02020603050405020304" pitchFamily="18" charset="0"/>
                <a:cs typeface="Times New Roman" panose="02020603050405020304" pitchFamily="18" charset="0"/>
              </a:rPr>
              <a:t>Topic Objective</a:t>
            </a:r>
          </a:p>
        </p:txBody>
      </p:sp>
      <p:graphicFrame>
        <p:nvGraphicFramePr>
          <p:cNvPr id="8" name="Table 7">
            <a:extLst>
              <a:ext uri="{FF2B5EF4-FFF2-40B4-BE49-F238E27FC236}">
                <a16:creationId xmlns:a16="http://schemas.microsoft.com/office/drawing/2014/main" id="{6FF8757F-A1BC-4D2F-E8EA-67AD895BE2E7}"/>
              </a:ext>
            </a:extLst>
          </p:cNvPr>
          <p:cNvGraphicFramePr>
            <a:graphicFrameLocks noGrp="1"/>
          </p:cNvGraphicFramePr>
          <p:nvPr>
            <p:extLst>
              <p:ext uri="{D42A27DB-BD31-4B8C-83A1-F6EECF244321}">
                <p14:modId xmlns:p14="http://schemas.microsoft.com/office/powerpoint/2010/main" val="3097567717"/>
              </p:ext>
            </p:extLst>
          </p:nvPr>
        </p:nvGraphicFramePr>
        <p:xfrm>
          <a:off x="609600" y="1143000"/>
          <a:ext cx="8229600" cy="5065859"/>
        </p:xfrm>
        <a:graphic>
          <a:graphicData uri="http://schemas.openxmlformats.org/drawingml/2006/table">
            <a:tbl>
              <a:tblPr firstRow="1" firstCol="1" bandRow="1">
                <a:tableStyleId>{284E427A-3D55-4303-BF80-6455036E1DE7}</a:tableStyleId>
              </a:tblPr>
              <a:tblGrid>
                <a:gridCol w="3429000">
                  <a:extLst>
                    <a:ext uri="{9D8B030D-6E8A-4147-A177-3AD203B41FA5}">
                      <a16:colId xmlns:a16="http://schemas.microsoft.com/office/drawing/2014/main" val="2695235725"/>
                    </a:ext>
                  </a:extLst>
                </a:gridCol>
                <a:gridCol w="4800600">
                  <a:extLst>
                    <a:ext uri="{9D8B030D-6E8A-4147-A177-3AD203B41FA5}">
                      <a16:colId xmlns:a16="http://schemas.microsoft.com/office/drawing/2014/main" val="1589131539"/>
                    </a:ext>
                  </a:extLst>
                </a:gridCol>
              </a:tblGrid>
              <a:tr h="235586">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Topic</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Objectives</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6893164"/>
                  </a:ext>
                </a:extLst>
              </a:tr>
              <a:tr h="722735">
                <a:tc>
                  <a:txBody>
                    <a:bodyPr/>
                    <a:lstStyle/>
                    <a:p>
                      <a:pPr algn="just">
                        <a:lnSpc>
                          <a:spcPct val="107000"/>
                        </a:lnSpc>
                        <a:spcAft>
                          <a:spcPts val="800"/>
                        </a:spcAft>
                        <a:buNone/>
                      </a:pPr>
                      <a:r>
                        <a:rPr lang="en-IN" sz="1700" kern="100" dirty="0">
                          <a:effectLst/>
                          <a:latin typeface="Times New Roman" panose="02020603050405020304" pitchFamily="18" charset="0"/>
                          <a:cs typeface="Times New Roman" panose="02020603050405020304" pitchFamily="18" charset="0"/>
                        </a:rPr>
                        <a:t>Context Free Grammar (CFG): Definition and Language</a:t>
                      </a:r>
                      <a:endParaRPr lang="en-IN" sz="17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buNone/>
                      </a:pPr>
                      <a:r>
                        <a:rPr lang="en-IN" sz="1700" kern="100">
                          <a:effectLst/>
                          <a:latin typeface="Times New Roman" panose="02020603050405020304" pitchFamily="18" charset="0"/>
                          <a:cs typeface="Times New Roman" panose="02020603050405020304" pitchFamily="18" charset="0"/>
                        </a:rPr>
                        <a:t>To understand the formal definition of Context Free Grammar and identify the class of languages generated by CFG.</a:t>
                      </a:r>
                      <a:endParaRPr lang="en-IN"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1742021"/>
                  </a:ext>
                </a:extLst>
              </a:tr>
              <a:tr h="722735">
                <a:tc>
                  <a:txBody>
                    <a:bodyPr/>
                    <a:lstStyle/>
                    <a:p>
                      <a:pPr algn="just">
                        <a:lnSpc>
                          <a:spcPct val="107000"/>
                        </a:lnSpc>
                        <a:spcAft>
                          <a:spcPts val="800"/>
                        </a:spcAft>
                        <a:buNone/>
                      </a:pPr>
                      <a:r>
                        <a:rPr lang="en-IN" sz="1700" kern="100">
                          <a:effectLst/>
                          <a:latin typeface="Times New Roman" panose="02020603050405020304" pitchFamily="18" charset="0"/>
                          <a:cs typeface="Times New Roman" panose="02020603050405020304" pitchFamily="18" charset="0"/>
                        </a:rPr>
                        <a:t>Derivations in CFG</a:t>
                      </a:r>
                      <a:endParaRPr lang="en-IN"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buNone/>
                      </a:pPr>
                      <a:r>
                        <a:rPr lang="en-IN" sz="1700" kern="100" dirty="0">
                          <a:effectLst/>
                          <a:latin typeface="Times New Roman" panose="02020603050405020304" pitchFamily="18" charset="0"/>
                          <a:cs typeface="Times New Roman" panose="02020603050405020304" pitchFamily="18" charset="0"/>
                        </a:rPr>
                        <a:t>To learn leftmost and rightmost derivations and analyze the step-by-step generation of strings in CFG.</a:t>
                      </a:r>
                      <a:endParaRPr lang="en-IN" sz="17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44594422"/>
                  </a:ext>
                </a:extLst>
              </a:tr>
              <a:tr h="722735">
                <a:tc>
                  <a:txBody>
                    <a:bodyPr/>
                    <a:lstStyle/>
                    <a:p>
                      <a:pPr algn="just">
                        <a:lnSpc>
                          <a:spcPct val="107000"/>
                        </a:lnSpc>
                        <a:spcAft>
                          <a:spcPts val="800"/>
                        </a:spcAft>
                        <a:buNone/>
                      </a:pPr>
                      <a:r>
                        <a:rPr lang="en-IN" sz="1700" kern="100">
                          <a:effectLst/>
                          <a:latin typeface="Times New Roman" panose="02020603050405020304" pitchFamily="18" charset="0"/>
                          <a:cs typeface="Times New Roman" panose="02020603050405020304" pitchFamily="18" charset="0"/>
                        </a:rPr>
                        <a:t>Parse Trees and Ambiguity</a:t>
                      </a:r>
                      <a:endParaRPr lang="en-IN"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buNone/>
                      </a:pPr>
                      <a:r>
                        <a:rPr lang="en-IN" sz="1700" kern="100" dirty="0">
                          <a:effectLst/>
                          <a:latin typeface="Times New Roman" panose="02020603050405020304" pitchFamily="18" charset="0"/>
                          <a:cs typeface="Times New Roman" panose="02020603050405020304" pitchFamily="18" charset="0"/>
                        </a:rPr>
                        <a:t>To construct parse trees and recognize ambiguous grammars through multiple parse trees or derivations.</a:t>
                      </a:r>
                      <a:endParaRPr lang="en-IN" sz="17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4837657"/>
                  </a:ext>
                </a:extLst>
              </a:tr>
              <a:tr h="722735">
                <a:tc>
                  <a:txBody>
                    <a:bodyPr/>
                    <a:lstStyle/>
                    <a:p>
                      <a:pPr algn="just">
                        <a:lnSpc>
                          <a:spcPct val="107000"/>
                        </a:lnSpc>
                        <a:spcAft>
                          <a:spcPts val="800"/>
                        </a:spcAft>
                        <a:buNone/>
                      </a:pPr>
                      <a:r>
                        <a:rPr lang="en-IN" sz="1700" kern="100">
                          <a:effectLst/>
                          <a:latin typeface="Times New Roman" panose="02020603050405020304" pitchFamily="18" charset="0"/>
                          <a:cs typeface="Times New Roman" panose="02020603050405020304" pitchFamily="18" charset="0"/>
                        </a:rPr>
                        <a:t>Simplification of CFG</a:t>
                      </a:r>
                      <a:endParaRPr lang="en-IN"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buNone/>
                      </a:pPr>
                      <a:r>
                        <a:rPr lang="en-IN" sz="1700" kern="100" dirty="0">
                          <a:effectLst/>
                          <a:latin typeface="Times New Roman" panose="02020603050405020304" pitchFamily="18" charset="0"/>
                          <a:cs typeface="Times New Roman" panose="02020603050405020304" pitchFamily="18" charset="0"/>
                        </a:rPr>
                        <a:t>To understand and apply methods for simplifying CFG by eliminating useless symbols, null productions, and unit productions.</a:t>
                      </a:r>
                      <a:endParaRPr lang="en-IN" sz="17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9527342"/>
                  </a:ext>
                </a:extLst>
              </a:tr>
              <a:tr h="722735">
                <a:tc>
                  <a:txBody>
                    <a:bodyPr/>
                    <a:lstStyle/>
                    <a:p>
                      <a:pPr algn="just">
                        <a:lnSpc>
                          <a:spcPct val="107000"/>
                        </a:lnSpc>
                        <a:spcAft>
                          <a:spcPts val="800"/>
                        </a:spcAft>
                        <a:buNone/>
                      </a:pPr>
                      <a:r>
                        <a:rPr lang="en-IN" sz="1700" kern="100">
                          <a:effectLst/>
                          <a:latin typeface="Times New Roman" panose="02020603050405020304" pitchFamily="18" charset="0"/>
                          <a:cs typeface="Times New Roman" panose="02020603050405020304" pitchFamily="18" charset="0"/>
                        </a:rPr>
                        <a:t>Pushdown Automata (PDA): Definition</a:t>
                      </a:r>
                      <a:endParaRPr lang="en-IN"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buNone/>
                      </a:pPr>
                      <a:r>
                        <a:rPr lang="en-IN" sz="1700" kern="100" dirty="0">
                          <a:effectLst/>
                          <a:latin typeface="Times New Roman" panose="02020603050405020304" pitchFamily="18" charset="0"/>
                          <a:cs typeface="Times New Roman" panose="02020603050405020304" pitchFamily="18" charset="0"/>
                        </a:rPr>
                        <a:t>To understand the structure, components, and working of Pushdown Automata as an abstract machine.</a:t>
                      </a:r>
                      <a:endParaRPr lang="en-IN" sz="17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01201990"/>
                  </a:ext>
                </a:extLst>
              </a:tr>
              <a:tr h="722735">
                <a:tc>
                  <a:txBody>
                    <a:bodyPr/>
                    <a:lstStyle/>
                    <a:p>
                      <a:pPr algn="just">
                        <a:lnSpc>
                          <a:spcPct val="107000"/>
                        </a:lnSpc>
                        <a:spcAft>
                          <a:spcPts val="800"/>
                        </a:spcAft>
                        <a:buNone/>
                      </a:pPr>
                      <a:r>
                        <a:rPr lang="en-IN" sz="1700" kern="100">
                          <a:effectLst/>
                          <a:latin typeface="Times New Roman" panose="02020603050405020304" pitchFamily="18" charset="0"/>
                          <a:cs typeface="Times New Roman" panose="02020603050405020304" pitchFamily="18" charset="0"/>
                        </a:rPr>
                        <a:t>Languages of Pushdown Automata</a:t>
                      </a:r>
                      <a:endParaRPr lang="en-IN"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buNone/>
                      </a:pPr>
                      <a:r>
                        <a:rPr lang="en-IN" sz="1700" kern="100" dirty="0">
                          <a:effectLst/>
                          <a:latin typeface="Times New Roman" panose="02020603050405020304" pitchFamily="18" charset="0"/>
                          <a:cs typeface="Times New Roman" panose="02020603050405020304" pitchFamily="18" charset="0"/>
                        </a:rPr>
                        <a:t>To analyze the types of languages accepted by PDA and establish the equivalence between PDA and Context Free Languages.</a:t>
                      </a:r>
                      <a:endParaRPr lang="en-IN" sz="17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5862277"/>
                  </a:ext>
                </a:extLst>
              </a:tr>
            </a:tbl>
          </a:graphicData>
        </a:graphic>
      </p:graphicFrame>
      <p:sp>
        <p:nvSpPr>
          <p:cNvPr id="2" name="Footer Placeholder 12">
            <a:extLst>
              <a:ext uri="{FF2B5EF4-FFF2-40B4-BE49-F238E27FC236}">
                <a16:creationId xmlns:a16="http://schemas.microsoft.com/office/drawing/2014/main" id="{B04C199D-DDFD-C0BE-1726-C3FC10DE3137}"/>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8117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67F4F60-4351-44BE-83D9-DAA21513CE14}"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
        <p:nvSpPr>
          <p:cNvPr id="7" name="Title 1"/>
          <p:cNvSpPr txBox="1">
            <a:spLocks/>
          </p:cNvSpPr>
          <p:nvPr/>
        </p:nvSpPr>
        <p:spPr>
          <a:xfrm>
            <a:off x="1676400" y="0"/>
            <a:ext cx="7467600"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Prerequisite</a:t>
            </a:r>
          </a:p>
        </p:txBody>
      </p:sp>
      <p:sp>
        <p:nvSpPr>
          <p:cNvPr id="2" name="Rectangle 1">
            <a:extLst>
              <a:ext uri="{FF2B5EF4-FFF2-40B4-BE49-F238E27FC236}">
                <a16:creationId xmlns:a16="http://schemas.microsoft.com/office/drawing/2014/main" id="{7A878967-1FBC-76D1-2195-40C59CBF1417}"/>
              </a:ext>
            </a:extLst>
          </p:cNvPr>
          <p:cNvSpPr>
            <a:spLocks noChangeArrowheads="1"/>
          </p:cNvSpPr>
          <p:nvPr/>
        </p:nvSpPr>
        <p:spPr bwMode="auto">
          <a:xfrm>
            <a:off x="152400" y="1309301"/>
            <a:ext cx="869188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US" b="1" dirty="0">
                <a:solidFill>
                  <a:schemeClr val="dk1"/>
                </a:solidFill>
                <a:latin typeface="Times New Roman" panose="02020603050405020304" pitchFamily="18" charset="0"/>
                <a:cs typeface="Times New Roman" panose="02020603050405020304" pitchFamily="18" charset="0"/>
              </a:rPr>
              <a:t>Prerequisite:</a:t>
            </a:r>
          </a:p>
          <a:p>
            <a:pPr algn="just" eaLnBrk="0" fontAlgn="base" hangingPunct="0">
              <a:spcBef>
                <a:spcPct val="0"/>
              </a:spcBef>
              <a:spcAft>
                <a:spcPct val="0"/>
              </a:spcAft>
            </a:pPr>
            <a:endParaRPr lang="en-US" b="1" i="1" dirty="0">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Basic knowledge of formal languages and automata concepts such as alphabets, strings, and languages.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Understanding of regular languages, regular expressions, and finite automata (DFA/NFA).</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Familiarity with grammar basics, including terminals, non-terminals, production rules, and derivations.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Basic understanding of set theory and mathematical notation used in language definitions.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Awareness of language recognition models and their role in classifying languages.</a:t>
            </a:r>
          </a:p>
        </p:txBody>
      </p:sp>
      <p:sp>
        <p:nvSpPr>
          <p:cNvPr id="10" name="Footer Placeholder 12">
            <a:extLst>
              <a:ext uri="{FF2B5EF4-FFF2-40B4-BE49-F238E27FC236}">
                <a16:creationId xmlns:a16="http://schemas.microsoft.com/office/drawing/2014/main" id="{658EBE10-FD8A-9E54-FA1D-C4AB730393BD}"/>
              </a:ext>
            </a:extLst>
          </p:cNvPr>
          <p:cNvSpPr>
            <a:spLocks noGrp="1"/>
          </p:cNvSpPr>
          <p:nvPr>
            <p:ph type="ftr" sz="quarter" idx="11"/>
          </p:nvPr>
        </p:nvSpPr>
        <p:spPr>
          <a:xfrm>
            <a:off x="1905000" y="64008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516463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C6B14-2E29-06C5-05CD-4F53FBE712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78E9DD-0BCC-5C59-8FB6-85A45ABADE59}"/>
              </a:ext>
            </a:extLst>
          </p:cNvPr>
          <p:cNvSpPr>
            <a:spLocks noGrp="1"/>
          </p:cNvSpPr>
          <p:nvPr>
            <p:ph idx="1"/>
          </p:nvPr>
        </p:nvSpPr>
        <p:spPr>
          <a:xfrm>
            <a:off x="457200" y="1121122"/>
            <a:ext cx="8569960" cy="5029200"/>
          </a:xfrm>
        </p:spPr>
        <p:txBody>
          <a:bodyPr>
            <a:normAutofit/>
          </a:bodyPr>
          <a:lstStyle/>
          <a:p>
            <a:pPr marL="0" lvl="0" indent="0" algn="just">
              <a:buNone/>
            </a:pPr>
            <a:r>
              <a:rPr lang="en-US" sz="1800" b="1" dirty="0">
                <a:solidFill>
                  <a:schemeClr val="dk1"/>
                </a:solidFill>
                <a:latin typeface="Times New Roman" panose="02020603050405020304" pitchFamily="18" charset="0"/>
                <a:cs typeface="Times New Roman" panose="02020603050405020304" pitchFamily="18" charset="0"/>
              </a:rPr>
              <a:t>Recap:</a:t>
            </a:r>
          </a:p>
          <a:p>
            <a:pPr marL="0" lvl="0" indent="0" algn="just">
              <a:buNone/>
            </a:pPr>
            <a:endParaRPr lang="en-US" sz="1800" b="1" dirty="0">
              <a:solidFill>
                <a:schemeClr val="dk1"/>
              </a:solidFill>
              <a:latin typeface="Times New Roman" panose="02020603050405020304" pitchFamily="18" charset="0"/>
              <a:cs typeface="Times New Roman" panose="02020603050405020304" pitchFamily="18" charset="0"/>
            </a:endParaRPr>
          </a:p>
          <a:p>
            <a:pPr algn="just"/>
            <a:r>
              <a:rPr lang="en-US" sz="1800" dirty="0">
                <a:solidFill>
                  <a:schemeClr val="dk1"/>
                </a:solidFill>
                <a:latin typeface="Times New Roman" panose="02020603050405020304" pitchFamily="18" charset="0"/>
                <a:cs typeface="Times New Roman" panose="02020603050405020304" pitchFamily="18" charset="0"/>
              </a:rPr>
              <a:t>Regular expressions are the way of representation of the FA.</a:t>
            </a:r>
          </a:p>
          <a:p>
            <a:pPr algn="just"/>
            <a:r>
              <a:rPr lang="en-US" sz="1800" dirty="0">
                <a:solidFill>
                  <a:schemeClr val="dk1"/>
                </a:solidFill>
                <a:latin typeface="Times New Roman" panose="02020603050405020304" pitchFamily="18" charset="0"/>
                <a:cs typeface="Times New Roman" panose="02020603050405020304" pitchFamily="18" charset="0"/>
              </a:rPr>
              <a:t>RE can be converted into FA.</a:t>
            </a:r>
          </a:p>
          <a:p>
            <a:pPr algn="just"/>
            <a:r>
              <a:rPr lang="en-US" sz="1800" dirty="0">
                <a:solidFill>
                  <a:schemeClr val="dk1"/>
                </a:solidFill>
                <a:latin typeface="Times New Roman" panose="02020603050405020304" pitchFamily="18" charset="0"/>
                <a:cs typeface="Times New Roman" panose="02020603050405020304" pitchFamily="18" charset="0"/>
              </a:rPr>
              <a:t>FA can be converted into regular expressions.</a:t>
            </a:r>
          </a:p>
          <a:p>
            <a:pPr algn="just"/>
            <a:r>
              <a:rPr lang="en-US" sz="1800" dirty="0">
                <a:latin typeface="Times New Roman" panose="02020603050405020304" pitchFamily="18" charset="0"/>
                <a:cs typeface="Times New Roman" panose="02020603050405020304" pitchFamily="18" charset="0"/>
              </a:rPr>
              <a:t>Arden’s Theorem is used to solve regular expression equations and obtain expressions from finite automata.</a:t>
            </a:r>
          </a:p>
          <a:p>
            <a:pPr algn="just"/>
            <a:r>
              <a:rPr lang="en-US" sz="1800" dirty="0">
                <a:latin typeface="Times New Roman" panose="02020603050405020304" pitchFamily="18" charset="0"/>
                <a:cs typeface="Times New Roman" panose="02020603050405020304" pitchFamily="18" charset="0"/>
              </a:rPr>
              <a:t>Regular grammars generate regular languages and are classified as right-linear and left-linear grammars.</a:t>
            </a:r>
          </a:p>
          <a:p>
            <a:pPr algn="just"/>
            <a:r>
              <a:rPr lang="en-US" sz="1800" dirty="0">
                <a:latin typeface="Times New Roman" panose="02020603050405020304" pitchFamily="18" charset="0"/>
                <a:cs typeface="Times New Roman" panose="02020603050405020304" pitchFamily="18" charset="0"/>
              </a:rPr>
              <a:t>The lexical analyzer is the first phase of a compiler and converts source code into tokens.</a:t>
            </a:r>
          </a:p>
          <a:p>
            <a:pPr algn="just"/>
            <a:r>
              <a:rPr lang="en-US" sz="1800" dirty="0">
                <a:latin typeface="Times New Roman" panose="02020603050405020304" pitchFamily="18" charset="0"/>
                <a:cs typeface="Times New Roman" panose="02020603050405020304" pitchFamily="18" charset="0"/>
              </a:rPr>
              <a:t>Tokens are specified using regular expressions and recognized using finite automata.</a:t>
            </a:r>
          </a:p>
          <a:p>
            <a:pPr algn="just"/>
            <a:r>
              <a:rPr lang="en-US" sz="1800" dirty="0">
                <a:latin typeface="Times New Roman" panose="02020603050405020304" pitchFamily="18" charset="0"/>
                <a:cs typeface="Times New Roman" panose="02020603050405020304" pitchFamily="18" charset="0"/>
              </a:rPr>
              <a:t>Lex is a tool used to automatically generate lexical analyzers based on token specifications.</a:t>
            </a:r>
          </a:p>
        </p:txBody>
      </p:sp>
      <p:sp>
        <p:nvSpPr>
          <p:cNvPr id="4" name="Date Placeholder 3">
            <a:extLst>
              <a:ext uri="{FF2B5EF4-FFF2-40B4-BE49-F238E27FC236}">
                <a16:creationId xmlns:a16="http://schemas.microsoft.com/office/drawing/2014/main" id="{4FF7A14A-72FE-E472-5BBD-766B1C743EC6}"/>
              </a:ext>
            </a:extLst>
          </p:cNvPr>
          <p:cNvSpPr>
            <a:spLocks noGrp="1"/>
          </p:cNvSpPr>
          <p:nvPr>
            <p:ph type="dt" sz="half" idx="10"/>
          </p:nvPr>
        </p:nvSpPr>
        <p:spPr/>
        <p:txBody>
          <a:bodyPr/>
          <a:lstStyle/>
          <a:p>
            <a:fld id="{9799D09A-0C3C-41F1-8321-7931B48BE4DA}" type="datetime1">
              <a:rPr lang="en-US" smtClean="0"/>
              <a:t>3/20/2026</a:t>
            </a:fld>
            <a:endParaRPr lang="en-US"/>
          </a:p>
        </p:txBody>
      </p:sp>
      <p:sp>
        <p:nvSpPr>
          <p:cNvPr id="6" name="Slide Number Placeholder 5">
            <a:extLst>
              <a:ext uri="{FF2B5EF4-FFF2-40B4-BE49-F238E27FC236}">
                <a16:creationId xmlns:a16="http://schemas.microsoft.com/office/drawing/2014/main" id="{18F77D92-BADC-4A6A-576A-DB4FC0409391}"/>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7" name="Title 1">
            <a:extLst>
              <a:ext uri="{FF2B5EF4-FFF2-40B4-BE49-F238E27FC236}">
                <a16:creationId xmlns:a16="http://schemas.microsoft.com/office/drawing/2014/main" id="{E972105F-D784-F68D-DB20-B6B7D8616C02}"/>
              </a:ext>
            </a:extLst>
          </p:cNvPr>
          <p:cNvSpPr txBox="1">
            <a:spLocks/>
          </p:cNvSpPr>
          <p:nvPr/>
        </p:nvSpPr>
        <p:spPr>
          <a:xfrm>
            <a:off x="1676400" y="0"/>
            <a:ext cx="7467600"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Recap</a:t>
            </a:r>
          </a:p>
        </p:txBody>
      </p:sp>
      <p:sp>
        <p:nvSpPr>
          <p:cNvPr id="5" name="Footer Placeholder 12">
            <a:extLst>
              <a:ext uri="{FF2B5EF4-FFF2-40B4-BE49-F238E27FC236}">
                <a16:creationId xmlns:a16="http://schemas.microsoft.com/office/drawing/2014/main" id="{2DCC5B13-CE5E-D51E-D3CB-88FE83081A82}"/>
              </a:ext>
            </a:extLst>
          </p:cNvPr>
          <p:cNvSpPr>
            <a:spLocks noGrp="1"/>
          </p:cNvSpPr>
          <p:nvPr>
            <p:ph type="ftr" sz="quarter" idx="11"/>
          </p:nvPr>
        </p:nvSpPr>
        <p:spPr>
          <a:xfrm>
            <a:off x="1905000" y="64008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007977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2B06F61-C907-45F4-88A0-6D04481733F7}"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7" name="Title 1"/>
          <p:cNvSpPr txBox="1">
            <a:spLocks/>
          </p:cNvSpPr>
          <p:nvPr/>
        </p:nvSpPr>
        <p:spPr>
          <a:xfrm>
            <a:off x="1676400" y="0"/>
            <a:ext cx="7467600"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Grammar</a:t>
            </a:r>
            <a:r>
              <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p:cNvSpPr/>
          <p:nvPr/>
        </p:nvSpPr>
        <p:spPr>
          <a:xfrm>
            <a:off x="429491" y="1443136"/>
            <a:ext cx="8042564" cy="3477875"/>
          </a:xfrm>
          <a:prstGeom prst="rect">
            <a:avLst/>
          </a:prstGeom>
        </p:spPr>
        <p:txBody>
          <a:bodyPr wrap="square">
            <a:spAutoFit/>
          </a:bodyPr>
          <a:lstStyle/>
          <a:p>
            <a:r>
              <a:rPr lang="en-US" sz="2000" dirty="0">
                <a:solidFill>
                  <a:srgbClr val="001D35"/>
                </a:solidFill>
                <a:latin typeface="+mj-lt"/>
              </a:rPr>
              <a:t> </a:t>
            </a:r>
            <a:endParaRPr lang="en-US" altLang="en-US" sz="2000" dirty="0">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IN" sz="2000" dirty="0">
              <a:latin typeface="+mj-lt"/>
            </a:endParaRPr>
          </a:p>
        </p:txBody>
      </p:sp>
      <p:sp>
        <p:nvSpPr>
          <p:cNvPr id="2" name="Rectangle 1"/>
          <p:cNvSpPr/>
          <p:nvPr/>
        </p:nvSpPr>
        <p:spPr>
          <a:xfrm>
            <a:off x="762000" y="1183481"/>
            <a:ext cx="7924800" cy="4093428"/>
          </a:xfrm>
          <a:prstGeom prst="rect">
            <a:avLst/>
          </a:prstGeom>
        </p:spPr>
        <p:txBody>
          <a:bodyPr wrap="square">
            <a:spAutoFit/>
          </a:bodyPr>
          <a:lstStyle/>
          <a:p>
            <a:pPr algn="just"/>
            <a:r>
              <a:rPr lang="en-US" sz="2000" dirty="0">
                <a:solidFill>
                  <a:srgbClr val="001D35"/>
                </a:solidFill>
                <a:latin typeface="Times New Roman" panose="02020603050405020304" pitchFamily="18" charset="0"/>
                <a:cs typeface="Times New Roman" panose="02020603050405020304" pitchFamily="18" charset="0"/>
              </a:rPr>
              <a:t>A Grammar is a set of formal rules that define how to generate syntactically correct strings or sentences in a language. </a:t>
            </a:r>
          </a:p>
          <a:p>
            <a:pPr algn="just"/>
            <a:endParaRPr lang="en-US" sz="2000" dirty="0">
              <a:solidFill>
                <a:srgbClr val="001D35"/>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sz="2000" dirty="0">
                <a:solidFill>
                  <a:srgbClr val="000000"/>
                </a:solidFill>
                <a:latin typeface="Times New Roman" panose="02020603050405020304" pitchFamily="18" charset="0"/>
                <a:cs typeface="Times New Roman" panose="02020603050405020304" pitchFamily="18" charset="0"/>
              </a:rPr>
              <a:t>A Grammar </a:t>
            </a:r>
            <a:r>
              <a:rPr lang="en-US" altLang="en-US" sz="2000" b="1" dirty="0">
                <a:solidFill>
                  <a:srgbClr val="000000"/>
                </a:solidFill>
                <a:latin typeface="Times New Roman" panose="02020603050405020304" pitchFamily="18" charset="0"/>
                <a:cs typeface="Times New Roman" panose="02020603050405020304" pitchFamily="18" charset="0"/>
              </a:rPr>
              <a:t>G</a:t>
            </a:r>
            <a:r>
              <a:rPr lang="en-US" altLang="en-US" sz="2000" dirty="0">
                <a:solidFill>
                  <a:srgbClr val="000000"/>
                </a:solidFill>
                <a:latin typeface="Times New Roman" panose="02020603050405020304" pitchFamily="18" charset="0"/>
                <a:cs typeface="Times New Roman" panose="02020603050405020304" pitchFamily="18" charset="0"/>
              </a:rPr>
              <a:t> can be formally written as a 4-tuple (N, T, S, P) where −</a:t>
            </a:r>
            <a:endParaRPr lang="en-US" altLang="en-US" sz="2000" dirty="0">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000" b="1" dirty="0">
                <a:solidFill>
                  <a:srgbClr val="000000"/>
                </a:solidFill>
                <a:latin typeface="Times New Roman" panose="02020603050405020304" pitchFamily="18" charset="0"/>
                <a:cs typeface="Times New Roman" panose="02020603050405020304" pitchFamily="18" charset="0"/>
              </a:rPr>
              <a:t>N</a:t>
            </a:r>
            <a:r>
              <a:rPr lang="en-US" altLang="en-US" sz="2000" dirty="0">
                <a:solidFill>
                  <a:srgbClr val="000000"/>
                </a:solidFill>
                <a:latin typeface="Times New Roman" panose="02020603050405020304" pitchFamily="18" charset="0"/>
                <a:cs typeface="Times New Roman" panose="02020603050405020304" pitchFamily="18" charset="0"/>
              </a:rPr>
              <a:t> or </a:t>
            </a:r>
            <a:r>
              <a:rPr lang="en-US" altLang="en-US" sz="2000" b="1" dirty="0">
                <a:solidFill>
                  <a:srgbClr val="000000"/>
                </a:solidFill>
                <a:latin typeface="Times New Roman" panose="02020603050405020304" pitchFamily="18" charset="0"/>
                <a:cs typeface="Times New Roman" panose="02020603050405020304" pitchFamily="18" charset="0"/>
              </a:rPr>
              <a:t>V</a:t>
            </a:r>
            <a:r>
              <a:rPr lang="en-US" altLang="en-US" sz="2000" b="1" i="1" baseline="-30000" dirty="0">
                <a:solidFill>
                  <a:srgbClr val="000000"/>
                </a:solidFill>
                <a:latin typeface="Times New Roman" panose="02020603050405020304" pitchFamily="18" charset="0"/>
                <a:cs typeface="Times New Roman" panose="02020603050405020304" pitchFamily="18" charset="0"/>
              </a:rPr>
              <a:t>N</a:t>
            </a:r>
            <a:r>
              <a:rPr lang="en-US" altLang="en-US" sz="2000" dirty="0">
                <a:solidFill>
                  <a:srgbClr val="000000"/>
                </a:solidFill>
                <a:latin typeface="Times New Roman" panose="02020603050405020304" pitchFamily="18" charset="0"/>
                <a:cs typeface="Times New Roman" panose="02020603050405020304" pitchFamily="18" charset="0"/>
              </a:rPr>
              <a:t> is a set of variables or non-terminal symbols.</a:t>
            </a:r>
          </a:p>
          <a:p>
            <a:pPr marL="342900" lvl="0" indent="-342900" algn="just"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000" b="1" dirty="0">
                <a:solidFill>
                  <a:srgbClr val="000000"/>
                </a:solidFill>
                <a:latin typeface="Times New Roman" panose="02020603050405020304" pitchFamily="18" charset="0"/>
                <a:cs typeface="Times New Roman" panose="02020603050405020304" pitchFamily="18" charset="0"/>
              </a:rPr>
              <a:t>T</a:t>
            </a:r>
            <a:r>
              <a:rPr lang="en-US" altLang="en-US" sz="2000" dirty="0">
                <a:solidFill>
                  <a:srgbClr val="000000"/>
                </a:solidFill>
                <a:latin typeface="Times New Roman" panose="02020603050405020304" pitchFamily="18" charset="0"/>
                <a:cs typeface="Times New Roman" panose="02020603050405020304" pitchFamily="18" charset="0"/>
              </a:rPr>
              <a:t> or </a:t>
            </a:r>
            <a:r>
              <a:rPr lang="en-US" altLang="en-US" sz="2000" b="1" dirty="0">
                <a:solidFill>
                  <a:srgbClr val="000000"/>
                </a:solidFill>
                <a:latin typeface="Times New Roman" panose="02020603050405020304" pitchFamily="18" charset="0"/>
                <a:cs typeface="Times New Roman" panose="02020603050405020304" pitchFamily="18" charset="0"/>
              </a:rPr>
              <a:t>∑</a:t>
            </a:r>
            <a:r>
              <a:rPr lang="en-US" altLang="en-US" sz="2000" dirty="0">
                <a:solidFill>
                  <a:srgbClr val="000000"/>
                </a:solidFill>
                <a:latin typeface="Times New Roman" panose="02020603050405020304" pitchFamily="18" charset="0"/>
                <a:cs typeface="Times New Roman" panose="02020603050405020304" pitchFamily="18" charset="0"/>
              </a:rPr>
              <a:t> is a set of Terminal symbols.</a:t>
            </a:r>
          </a:p>
          <a:p>
            <a:pPr marL="342900" lvl="0" indent="-342900" algn="just"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000" b="1" dirty="0">
                <a:solidFill>
                  <a:srgbClr val="000000"/>
                </a:solidFill>
                <a:latin typeface="Times New Roman" panose="02020603050405020304" pitchFamily="18" charset="0"/>
                <a:cs typeface="Times New Roman" panose="02020603050405020304" pitchFamily="18" charset="0"/>
              </a:rPr>
              <a:t>S</a:t>
            </a:r>
            <a:r>
              <a:rPr lang="en-US" altLang="en-US" sz="2000" dirty="0">
                <a:solidFill>
                  <a:srgbClr val="000000"/>
                </a:solidFill>
                <a:latin typeface="Times New Roman" panose="02020603050405020304" pitchFamily="18" charset="0"/>
                <a:cs typeface="Times New Roman" panose="02020603050405020304" pitchFamily="18" charset="0"/>
              </a:rPr>
              <a:t> is a special variable called the Start symbol, S ∈ N</a:t>
            </a:r>
          </a:p>
          <a:p>
            <a:pPr marL="342900" lvl="0" indent="-342900" algn="just"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000" b="1" dirty="0">
                <a:solidFill>
                  <a:srgbClr val="000000"/>
                </a:solidFill>
                <a:latin typeface="Times New Roman" panose="02020603050405020304" pitchFamily="18" charset="0"/>
                <a:cs typeface="Times New Roman" panose="02020603050405020304" pitchFamily="18" charset="0"/>
              </a:rPr>
              <a:t>P</a:t>
            </a:r>
            <a:r>
              <a:rPr lang="en-US" altLang="en-US" sz="2000" dirty="0">
                <a:solidFill>
                  <a:srgbClr val="000000"/>
                </a:solidFill>
                <a:latin typeface="Times New Roman" panose="02020603050405020304" pitchFamily="18" charset="0"/>
                <a:cs typeface="Times New Roman" panose="02020603050405020304" pitchFamily="18" charset="0"/>
              </a:rPr>
              <a:t> is Production rules for Terminals and Non-terminals. A production rule has the form α → β, where α and β are strings on V</a:t>
            </a:r>
            <a:r>
              <a:rPr lang="en-US" altLang="en-US" sz="2000" i="1" baseline="-30000" dirty="0">
                <a:solidFill>
                  <a:srgbClr val="000000"/>
                </a:solidFill>
                <a:latin typeface="Times New Roman" panose="02020603050405020304" pitchFamily="18" charset="0"/>
                <a:cs typeface="Times New Roman" panose="02020603050405020304" pitchFamily="18" charset="0"/>
              </a:rPr>
              <a:t>N</a:t>
            </a:r>
            <a:r>
              <a:rPr lang="en-US" altLang="en-US" sz="2000" dirty="0">
                <a:solidFill>
                  <a:srgbClr val="000000"/>
                </a:solidFill>
                <a:latin typeface="Times New Roman" panose="02020603050405020304" pitchFamily="18" charset="0"/>
                <a:cs typeface="Times New Roman" panose="02020603050405020304" pitchFamily="18" charset="0"/>
              </a:rPr>
              <a:t> ∪ ∑ and least one symbol of α belongs to V</a:t>
            </a:r>
            <a:r>
              <a:rPr lang="en-US" altLang="en-US" sz="2000" baseline="-30000" dirty="0">
                <a:solidFill>
                  <a:srgbClr val="000000"/>
                </a:solidFill>
                <a:latin typeface="Times New Roman" panose="02020603050405020304" pitchFamily="18" charset="0"/>
                <a:cs typeface="Times New Roman" panose="02020603050405020304" pitchFamily="18" charset="0"/>
              </a:rPr>
              <a:t>N</a:t>
            </a:r>
            <a:r>
              <a:rPr lang="en-US" altLang="en-US" sz="2000" dirty="0">
                <a:solidFill>
                  <a:srgbClr val="000000"/>
                </a:solidFill>
                <a:latin typeface="Times New Roman" panose="02020603050405020304" pitchFamily="18" charset="0"/>
                <a:cs typeface="Times New Roman" panose="02020603050405020304" pitchFamily="18" charset="0"/>
              </a:rPr>
              <a:t>.</a:t>
            </a:r>
          </a:p>
        </p:txBody>
      </p:sp>
      <p:sp>
        <p:nvSpPr>
          <p:cNvPr id="3" name="Footer Placeholder 12">
            <a:extLst>
              <a:ext uri="{FF2B5EF4-FFF2-40B4-BE49-F238E27FC236}">
                <a16:creationId xmlns:a16="http://schemas.microsoft.com/office/drawing/2014/main" id="{911D8666-E38A-941D-EF7D-A16F81A7F4D8}"/>
              </a:ext>
            </a:extLst>
          </p:cNvPr>
          <p:cNvSpPr>
            <a:spLocks noGrp="1"/>
          </p:cNvSpPr>
          <p:nvPr>
            <p:ph type="ftr" sz="quarter" idx="11"/>
          </p:nvPr>
        </p:nvSpPr>
        <p:spPr>
          <a:xfrm>
            <a:off x="1905000" y="64008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20876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BE4BA87-9AC4-4ADF-AAEE-CF4E515AA75E}" type="datetime1">
              <a:rPr lang="en-US" smtClean="0">
                <a:latin typeface="Times New Roman" panose="02020603050405020304" pitchFamily="18" charset="0"/>
                <a:cs typeface="Times New Roman" panose="02020603050405020304" pitchFamily="18" charset="0"/>
              </a:rPr>
              <a:t>3/20/2026</a:t>
            </a:fld>
            <a:endParaRPr lang="en-US">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25</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676400" y="0"/>
            <a:ext cx="7467600"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Examples of Grammar</a:t>
            </a:r>
            <a:r>
              <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p:cNvSpPr/>
          <p:nvPr/>
        </p:nvSpPr>
        <p:spPr>
          <a:xfrm>
            <a:off x="491836" y="914400"/>
            <a:ext cx="3927764" cy="3785652"/>
          </a:xfrm>
          <a:prstGeom prst="rect">
            <a:avLst/>
          </a:prstGeom>
        </p:spPr>
        <p:txBody>
          <a:bodyPr wrap="square">
            <a:spAutoFit/>
          </a:bodyPr>
          <a:lstStyle/>
          <a:p>
            <a:r>
              <a:rPr lang="en-US" sz="2000" dirty="0">
                <a:solidFill>
                  <a:srgbClr val="001D35"/>
                </a:solidFill>
                <a:latin typeface="Times New Roman" panose="02020603050405020304" pitchFamily="18" charset="0"/>
                <a:cs typeface="Times New Roman" panose="02020603050405020304" pitchFamily="18" charset="0"/>
              </a:rPr>
              <a:t> </a:t>
            </a:r>
            <a:endParaRPr lang="en-IN" sz="2000" b="1"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a:p>
            <a:endParaRPr lang="en-US" sz="2000" dirty="0">
              <a:solidFill>
                <a:srgbClr val="001D35"/>
              </a:solidFill>
              <a:latin typeface="Times New Roman" panose="02020603050405020304" pitchFamily="18" charset="0"/>
              <a:cs typeface="Times New Roman" panose="02020603050405020304" pitchFamily="18" charset="0"/>
            </a:endParaRPr>
          </a:p>
          <a:p>
            <a:endParaRPr lang="en-US" sz="2000" dirty="0">
              <a:solidFill>
                <a:srgbClr val="001D35"/>
              </a:solidFill>
              <a:latin typeface="Times New Roman" panose="02020603050405020304" pitchFamily="18" charset="0"/>
              <a:cs typeface="Times New Roman" panose="02020603050405020304" pitchFamily="18" charset="0"/>
            </a:endParaRPr>
          </a:p>
          <a:p>
            <a:endParaRPr lang="en-US" sz="2000" dirty="0">
              <a:solidFill>
                <a:srgbClr val="001D35"/>
              </a:solidFill>
              <a:latin typeface="Times New Roman" panose="02020603050405020304" pitchFamily="18" charset="0"/>
              <a:cs typeface="Times New Roman" panose="02020603050405020304" pitchFamily="18" charset="0"/>
            </a:endParaRPr>
          </a:p>
          <a:p>
            <a:endParaRPr lang="en-US" sz="2000" dirty="0">
              <a:solidFill>
                <a:srgbClr val="001D35"/>
              </a:solidFill>
              <a:latin typeface="Times New Roman" panose="02020603050405020304" pitchFamily="18" charset="0"/>
              <a:cs typeface="Times New Roman" panose="02020603050405020304" pitchFamily="18" charset="0"/>
            </a:endParaRPr>
          </a:p>
          <a:p>
            <a:endParaRPr lang="en-US" sz="2000" dirty="0">
              <a:solidFill>
                <a:srgbClr val="001D35"/>
              </a:solidFill>
              <a:latin typeface="Times New Roman" panose="02020603050405020304" pitchFamily="18" charset="0"/>
              <a:cs typeface="Times New Roman" panose="02020603050405020304" pitchFamily="18" charset="0"/>
            </a:endParaRPr>
          </a:p>
          <a:p>
            <a:endParaRPr lang="en-US" sz="2000" dirty="0">
              <a:solidFill>
                <a:srgbClr val="001D35"/>
              </a:solidFill>
              <a:latin typeface="Times New Roman" panose="02020603050405020304" pitchFamily="18" charset="0"/>
              <a:cs typeface="Times New Roman" panose="02020603050405020304" pitchFamily="18" charset="0"/>
            </a:endParaRPr>
          </a:p>
          <a:p>
            <a:endParaRPr lang="en-US" sz="2000" dirty="0">
              <a:solidFill>
                <a:srgbClr val="001D35"/>
              </a:solidFill>
              <a:latin typeface="Times New Roman" panose="02020603050405020304" pitchFamily="18" charset="0"/>
              <a:cs typeface="Times New Roman" panose="02020603050405020304" pitchFamily="18" charset="0"/>
            </a:endParaRPr>
          </a:p>
          <a:p>
            <a:endParaRPr lang="en-US" sz="2000" dirty="0">
              <a:solidFill>
                <a:srgbClr val="001D35"/>
              </a:solidFill>
              <a:latin typeface="Times New Roman" panose="02020603050405020304" pitchFamily="18" charset="0"/>
              <a:cs typeface="Times New Roman" panose="02020603050405020304" pitchFamily="18" charset="0"/>
            </a:endParaRPr>
          </a:p>
          <a:p>
            <a:endParaRPr lang="en-US" sz="2000" dirty="0">
              <a:solidFill>
                <a:srgbClr val="001D35"/>
              </a:solidFill>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3" name="Rectangle 2"/>
          <p:cNvSpPr/>
          <p:nvPr/>
        </p:nvSpPr>
        <p:spPr>
          <a:xfrm>
            <a:off x="4876800" y="1143000"/>
            <a:ext cx="3810000" cy="426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b="1" dirty="0">
                <a:solidFill>
                  <a:prstClr val="black"/>
                </a:solidFill>
                <a:latin typeface="Times New Roman" panose="02020603050405020304" pitchFamily="18" charset="0"/>
                <a:cs typeface="Times New Roman" panose="02020603050405020304" pitchFamily="18" charset="0"/>
              </a:rPr>
              <a:t>Example 2</a:t>
            </a:r>
            <a:endParaRPr lang="en-IN" sz="2000" dirty="0">
              <a:solidFill>
                <a:prstClr val="black"/>
              </a:solidFill>
              <a:latin typeface="Times New Roman" panose="02020603050405020304" pitchFamily="18" charset="0"/>
              <a:cs typeface="Times New Roman" panose="02020603050405020304" pitchFamily="18" charset="0"/>
            </a:endParaRPr>
          </a:p>
          <a:p>
            <a:pPr lvl="0"/>
            <a:r>
              <a:rPr lang="en-IN" sz="2000" dirty="0">
                <a:solidFill>
                  <a:prstClr val="black"/>
                </a:solidFill>
                <a:latin typeface="Times New Roman" panose="02020603050405020304" pitchFamily="18" charset="0"/>
                <a:cs typeface="Times New Roman" panose="02020603050405020304" pitchFamily="18" charset="0"/>
              </a:rPr>
              <a:t>Grammar G2 −</a:t>
            </a:r>
          </a:p>
          <a:p>
            <a:pPr lvl="0"/>
            <a:r>
              <a:rPr lang="en-IN" sz="2000" dirty="0">
                <a:solidFill>
                  <a:prstClr val="black"/>
                </a:solidFill>
                <a:latin typeface="Times New Roman" panose="02020603050405020304" pitchFamily="18" charset="0"/>
                <a:cs typeface="Times New Roman" panose="02020603050405020304" pitchFamily="18" charset="0"/>
              </a:rPr>
              <a:t>(({S, A}, {a, b}, S,{S → </a:t>
            </a:r>
            <a:r>
              <a:rPr lang="en-IN" sz="2000" dirty="0" err="1">
                <a:solidFill>
                  <a:prstClr val="black"/>
                </a:solidFill>
                <a:latin typeface="Times New Roman" panose="02020603050405020304" pitchFamily="18" charset="0"/>
                <a:cs typeface="Times New Roman" panose="02020603050405020304" pitchFamily="18" charset="0"/>
              </a:rPr>
              <a:t>aAb</a:t>
            </a:r>
            <a:r>
              <a:rPr lang="en-IN" sz="2000" dirty="0">
                <a:solidFill>
                  <a:prstClr val="black"/>
                </a:solidFill>
                <a:latin typeface="Times New Roman" panose="02020603050405020304" pitchFamily="18" charset="0"/>
                <a:cs typeface="Times New Roman" panose="02020603050405020304" pitchFamily="18" charset="0"/>
              </a:rPr>
              <a:t>, </a:t>
            </a:r>
            <a:r>
              <a:rPr lang="en-IN" sz="2000" dirty="0" err="1">
                <a:solidFill>
                  <a:prstClr val="black"/>
                </a:solidFill>
                <a:latin typeface="Times New Roman" panose="02020603050405020304" pitchFamily="18" charset="0"/>
                <a:cs typeface="Times New Roman" panose="02020603050405020304" pitchFamily="18" charset="0"/>
              </a:rPr>
              <a:t>aA</a:t>
            </a:r>
            <a:r>
              <a:rPr lang="en-IN" sz="2000" dirty="0">
                <a:solidFill>
                  <a:prstClr val="black"/>
                </a:solidFill>
                <a:latin typeface="Times New Roman" panose="02020603050405020304" pitchFamily="18" charset="0"/>
                <a:cs typeface="Times New Roman" panose="02020603050405020304" pitchFamily="18" charset="0"/>
              </a:rPr>
              <a:t> → </a:t>
            </a:r>
            <a:r>
              <a:rPr lang="en-IN" sz="2000" dirty="0" err="1">
                <a:solidFill>
                  <a:prstClr val="black"/>
                </a:solidFill>
                <a:latin typeface="Times New Roman" panose="02020603050405020304" pitchFamily="18" charset="0"/>
                <a:cs typeface="Times New Roman" panose="02020603050405020304" pitchFamily="18" charset="0"/>
              </a:rPr>
              <a:t>aaAb</a:t>
            </a:r>
            <a:r>
              <a:rPr lang="en-IN" sz="2000" dirty="0">
                <a:solidFill>
                  <a:prstClr val="black"/>
                </a:solidFill>
                <a:latin typeface="Times New Roman" panose="02020603050405020304" pitchFamily="18" charset="0"/>
                <a:cs typeface="Times New Roman" panose="02020603050405020304" pitchFamily="18" charset="0"/>
              </a:rPr>
              <a:t>, A → </a:t>
            </a:r>
            <a:r>
              <a:rPr lang="el-GR" sz="2000" dirty="0">
                <a:solidFill>
                  <a:prstClr val="black"/>
                </a:solidFill>
                <a:latin typeface="Times New Roman" panose="02020603050405020304" pitchFamily="18" charset="0"/>
                <a:cs typeface="Times New Roman" panose="02020603050405020304" pitchFamily="18" charset="0"/>
              </a:rPr>
              <a:t>ε } )</a:t>
            </a:r>
          </a:p>
          <a:p>
            <a:pPr lvl="0"/>
            <a:r>
              <a:rPr lang="en-IN" sz="2000" dirty="0">
                <a:solidFill>
                  <a:prstClr val="black"/>
                </a:solidFill>
                <a:latin typeface="Times New Roman" panose="02020603050405020304" pitchFamily="18" charset="0"/>
                <a:cs typeface="Times New Roman" panose="02020603050405020304" pitchFamily="18" charset="0"/>
              </a:rPr>
              <a:t>Here,</a:t>
            </a:r>
          </a:p>
          <a:p>
            <a:pPr marL="342900" lvl="0" indent="-342900">
              <a:buFont typeface="Arial" panose="020B0604020202020204" pitchFamily="34" charset="0"/>
              <a:buChar char="•"/>
            </a:pPr>
            <a:r>
              <a:rPr lang="en-IN" sz="2000" b="1" dirty="0">
                <a:solidFill>
                  <a:prstClr val="black"/>
                </a:solidFill>
                <a:latin typeface="Times New Roman" panose="02020603050405020304" pitchFamily="18" charset="0"/>
                <a:cs typeface="Times New Roman" panose="02020603050405020304" pitchFamily="18" charset="0"/>
              </a:rPr>
              <a:t>S</a:t>
            </a:r>
            <a:r>
              <a:rPr lang="en-IN" sz="2000" dirty="0">
                <a:solidFill>
                  <a:prstClr val="black"/>
                </a:solidFill>
                <a:latin typeface="Times New Roman" panose="02020603050405020304" pitchFamily="18" charset="0"/>
                <a:cs typeface="Times New Roman" panose="02020603050405020304" pitchFamily="18" charset="0"/>
              </a:rPr>
              <a:t> and </a:t>
            </a:r>
            <a:r>
              <a:rPr lang="en-IN" sz="2000" b="1" dirty="0">
                <a:solidFill>
                  <a:prstClr val="black"/>
                </a:solidFill>
                <a:latin typeface="Times New Roman" panose="02020603050405020304" pitchFamily="18" charset="0"/>
                <a:cs typeface="Times New Roman" panose="02020603050405020304" pitchFamily="18" charset="0"/>
              </a:rPr>
              <a:t>A</a:t>
            </a:r>
            <a:r>
              <a:rPr lang="en-IN" sz="2000" dirty="0">
                <a:solidFill>
                  <a:prstClr val="black"/>
                </a:solidFill>
                <a:latin typeface="Times New Roman" panose="02020603050405020304" pitchFamily="18" charset="0"/>
                <a:cs typeface="Times New Roman" panose="02020603050405020304" pitchFamily="18" charset="0"/>
              </a:rPr>
              <a:t> are Non-terminal symbols.</a:t>
            </a:r>
          </a:p>
          <a:p>
            <a:pPr marL="342900" lvl="0" indent="-342900">
              <a:buFont typeface="Arial" panose="020B0604020202020204" pitchFamily="34" charset="0"/>
              <a:buChar char="•"/>
            </a:pPr>
            <a:r>
              <a:rPr lang="en-IN" sz="2000" b="1" dirty="0">
                <a:solidFill>
                  <a:prstClr val="black"/>
                </a:solidFill>
                <a:latin typeface="Times New Roman" panose="02020603050405020304" pitchFamily="18" charset="0"/>
                <a:cs typeface="Times New Roman" panose="02020603050405020304" pitchFamily="18" charset="0"/>
              </a:rPr>
              <a:t>a</a:t>
            </a:r>
            <a:r>
              <a:rPr lang="en-IN" sz="2000" dirty="0">
                <a:solidFill>
                  <a:prstClr val="black"/>
                </a:solidFill>
                <a:latin typeface="Times New Roman" panose="02020603050405020304" pitchFamily="18" charset="0"/>
                <a:cs typeface="Times New Roman" panose="02020603050405020304" pitchFamily="18" charset="0"/>
              </a:rPr>
              <a:t> and </a:t>
            </a:r>
            <a:r>
              <a:rPr lang="en-IN" sz="2000" b="1" dirty="0">
                <a:solidFill>
                  <a:prstClr val="black"/>
                </a:solidFill>
                <a:latin typeface="Times New Roman" panose="02020603050405020304" pitchFamily="18" charset="0"/>
                <a:cs typeface="Times New Roman" panose="02020603050405020304" pitchFamily="18" charset="0"/>
              </a:rPr>
              <a:t>b</a:t>
            </a:r>
            <a:r>
              <a:rPr lang="en-IN" sz="2000" dirty="0">
                <a:solidFill>
                  <a:prstClr val="black"/>
                </a:solidFill>
                <a:latin typeface="Times New Roman" panose="02020603050405020304" pitchFamily="18" charset="0"/>
                <a:cs typeface="Times New Roman" panose="02020603050405020304" pitchFamily="18" charset="0"/>
              </a:rPr>
              <a:t> are Terminal symbols.</a:t>
            </a:r>
          </a:p>
          <a:p>
            <a:pPr marL="342900" lvl="0" indent="-342900">
              <a:buFont typeface="Arial" panose="020B0604020202020204" pitchFamily="34" charset="0"/>
              <a:buChar char="•"/>
            </a:pPr>
            <a:r>
              <a:rPr lang="el-GR" sz="2000" b="1" dirty="0">
                <a:solidFill>
                  <a:prstClr val="black"/>
                </a:solidFill>
                <a:latin typeface="Times New Roman" panose="02020603050405020304" pitchFamily="18" charset="0"/>
                <a:cs typeface="Times New Roman" panose="02020603050405020304" pitchFamily="18" charset="0"/>
              </a:rPr>
              <a:t>ε</a:t>
            </a:r>
            <a:r>
              <a:rPr lang="el-GR" sz="2000" dirty="0">
                <a:solidFill>
                  <a:prstClr val="black"/>
                </a:solidFill>
                <a:latin typeface="Times New Roman" panose="02020603050405020304" pitchFamily="18" charset="0"/>
                <a:cs typeface="Times New Roman" panose="02020603050405020304" pitchFamily="18" charset="0"/>
              </a:rPr>
              <a:t> </a:t>
            </a:r>
            <a:r>
              <a:rPr lang="en-IN" sz="2000" dirty="0">
                <a:solidFill>
                  <a:prstClr val="black"/>
                </a:solidFill>
                <a:latin typeface="Times New Roman" panose="02020603050405020304" pitchFamily="18" charset="0"/>
                <a:cs typeface="Times New Roman" panose="02020603050405020304" pitchFamily="18" charset="0"/>
              </a:rPr>
              <a:t>is an empty string.</a:t>
            </a:r>
          </a:p>
          <a:p>
            <a:pPr marL="342900" lvl="0" indent="-342900">
              <a:buFont typeface="Arial" panose="020B0604020202020204" pitchFamily="34" charset="0"/>
              <a:buChar char="•"/>
            </a:pPr>
            <a:r>
              <a:rPr lang="en-IN" sz="2000" b="1" dirty="0">
                <a:solidFill>
                  <a:prstClr val="black"/>
                </a:solidFill>
                <a:latin typeface="Times New Roman" panose="02020603050405020304" pitchFamily="18" charset="0"/>
                <a:cs typeface="Times New Roman" panose="02020603050405020304" pitchFamily="18" charset="0"/>
              </a:rPr>
              <a:t>S</a:t>
            </a:r>
            <a:r>
              <a:rPr lang="en-IN" sz="2000" dirty="0">
                <a:solidFill>
                  <a:prstClr val="black"/>
                </a:solidFill>
                <a:latin typeface="Times New Roman" panose="02020603050405020304" pitchFamily="18" charset="0"/>
                <a:cs typeface="Times New Roman" panose="02020603050405020304" pitchFamily="18" charset="0"/>
              </a:rPr>
              <a:t> is the Start symbol, S ∈ N</a:t>
            </a:r>
          </a:p>
          <a:p>
            <a:pPr marL="342900" lvl="0" indent="-342900">
              <a:buFont typeface="Arial" panose="020B0604020202020204" pitchFamily="34" charset="0"/>
              <a:buChar char="•"/>
            </a:pPr>
            <a:r>
              <a:rPr lang="en-IN" sz="2000" dirty="0">
                <a:solidFill>
                  <a:prstClr val="black"/>
                </a:solidFill>
                <a:latin typeface="Times New Roman" panose="02020603050405020304" pitchFamily="18" charset="0"/>
                <a:cs typeface="Times New Roman" panose="02020603050405020304" pitchFamily="18" charset="0"/>
              </a:rPr>
              <a:t>Production </a:t>
            </a:r>
          </a:p>
          <a:p>
            <a:pPr marL="342900" lvl="0" indent="-342900">
              <a:buFont typeface="Arial" panose="020B0604020202020204" pitchFamily="34" charset="0"/>
              <a:buChar char="•"/>
            </a:pPr>
            <a:r>
              <a:rPr lang="en-IN" sz="2000" b="1" dirty="0">
                <a:solidFill>
                  <a:prstClr val="black"/>
                </a:solidFill>
                <a:latin typeface="Times New Roman" panose="02020603050405020304" pitchFamily="18" charset="0"/>
                <a:cs typeface="Times New Roman" panose="02020603050405020304" pitchFamily="18" charset="0"/>
              </a:rPr>
              <a:t>P : S → </a:t>
            </a:r>
            <a:r>
              <a:rPr lang="en-IN" sz="2000" b="1" dirty="0" err="1">
                <a:solidFill>
                  <a:prstClr val="black"/>
                </a:solidFill>
                <a:latin typeface="Times New Roman" panose="02020603050405020304" pitchFamily="18" charset="0"/>
                <a:cs typeface="Times New Roman" panose="02020603050405020304" pitchFamily="18" charset="0"/>
              </a:rPr>
              <a:t>aAb</a:t>
            </a:r>
            <a:r>
              <a:rPr lang="en-IN" sz="2000" b="1" dirty="0">
                <a:solidFill>
                  <a:prstClr val="black"/>
                </a:solidFill>
                <a:latin typeface="Times New Roman" panose="02020603050405020304" pitchFamily="18" charset="0"/>
                <a:cs typeface="Times New Roman" panose="02020603050405020304" pitchFamily="18" charset="0"/>
              </a:rPr>
              <a:t>, </a:t>
            </a:r>
            <a:r>
              <a:rPr lang="en-IN" sz="2000" b="1" dirty="0" err="1">
                <a:solidFill>
                  <a:prstClr val="black"/>
                </a:solidFill>
                <a:latin typeface="Times New Roman" panose="02020603050405020304" pitchFamily="18" charset="0"/>
                <a:cs typeface="Times New Roman" panose="02020603050405020304" pitchFamily="18" charset="0"/>
              </a:rPr>
              <a:t>aA</a:t>
            </a:r>
            <a:r>
              <a:rPr lang="en-IN" sz="2000" b="1" dirty="0">
                <a:solidFill>
                  <a:prstClr val="black"/>
                </a:solidFill>
                <a:latin typeface="Times New Roman" panose="02020603050405020304" pitchFamily="18" charset="0"/>
                <a:cs typeface="Times New Roman" panose="02020603050405020304" pitchFamily="18" charset="0"/>
              </a:rPr>
              <a:t> → </a:t>
            </a:r>
            <a:r>
              <a:rPr lang="en-IN" sz="2000" b="1" dirty="0" err="1">
                <a:solidFill>
                  <a:prstClr val="black"/>
                </a:solidFill>
                <a:latin typeface="Times New Roman" panose="02020603050405020304" pitchFamily="18" charset="0"/>
                <a:cs typeface="Times New Roman" panose="02020603050405020304" pitchFamily="18" charset="0"/>
              </a:rPr>
              <a:t>aaAb</a:t>
            </a:r>
            <a:r>
              <a:rPr lang="en-IN" sz="2000" b="1" dirty="0">
                <a:solidFill>
                  <a:prstClr val="black"/>
                </a:solidFill>
                <a:latin typeface="Times New Roman" panose="02020603050405020304" pitchFamily="18" charset="0"/>
                <a:cs typeface="Times New Roman" panose="02020603050405020304" pitchFamily="18" charset="0"/>
              </a:rPr>
              <a:t>, A → </a:t>
            </a:r>
            <a:r>
              <a:rPr lang="el-GR" sz="2000" b="1" dirty="0">
                <a:solidFill>
                  <a:prstClr val="black"/>
                </a:solidFill>
                <a:latin typeface="Times New Roman" panose="02020603050405020304" pitchFamily="18" charset="0"/>
                <a:cs typeface="Times New Roman" panose="02020603050405020304" pitchFamily="18" charset="0"/>
              </a:rPr>
              <a:t>ε</a:t>
            </a:r>
            <a:endParaRPr lang="el-GR" sz="2000" dirty="0">
              <a:solidFill>
                <a:prstClr val="black"/>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501996" y="1311275"/>
            <a:ext cx="3810000" cy="34046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000" dirty="0">
                <a:latin typeface="Times New Roman" panose="02020603050405020304" pitchFamily="18" charset="0"/>
                <a:cs typeface="Times New Roman" panose="02020603050405020304" pitchFamily="18" charset="0"/>
              </a:rPr>
              <a:t> ample</a:t>
            </a:r>
            <a:endParaRPr lang="en-IN" sz="2000" b="1" dirty="0">
              <a:solidFill>
                <a:prstClr val="black"/>
              </a:solidFill>
              <a:latin typeface="Times New Roman" panose="02020603050405020304" pitchFamily="18" charset="0"/>
              <a:cs typeface="Times New Roman" panose="02020603050405020304" pitchFamily="18" charset="0"/>
            </a:endParaRPr>
          </a:p>
          <a:p>
            <a:r>
              <a:rPr lang="en-IN" sz="2000" b="1" dirty="0">
                <a:solidFill>
                  <a:prstClr val="black"/>
                </a:solidFill>
                <a:latin typeface="Times New Roman" panose="02020603050405020304" pitchFamily="18" charset="0"/>
                <a:cs typeface="Times New Roman" panose="02020603050405020304" pitchFamily="18" charset="0"/>
              </a:rPr>
              <a:t>Example 1</a:t>
            </a:r>
            <a:endParaRPr lang="en-US" sz="2000" dirty="0">
              <a:solidFill>
                <a:srgbClr val="000000"/>
              </a:solidFill>
              <a:latin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cs typeface="Times New Roman" panose="02020603050405020304" pitchFamily="18" charset="0"/>
              </a:rPr>
              <a:t>Grammar G1 −</a:t>
            </a:r>
          </a:p>
          <a:p>
            <a:r>
              <a:rPr lang="en-US" sz="2000" dirty="0">
                <a:solidFill>
                  <a:srgbClr val="000000"/>
                </a:solidFill>
                <a:latin typeface="Times New Roman" panose="02020603050405020304" pitchFamily="18" charset="0"/>
                <a:cs typeface="Times New Roman" panose="02020603050405020304" pitchFamily="18" charset="0"/>
              </a:rPr>
              <a:t>({S, A, B}, {a, b}, S, {S → AB, A → a, B → b})</a:t>
            </a:r>
          </a:p>
          <a:p>
            <a:r>
              <a:rPr lang="en-US" sz="2000" dirty="0">
                <a:solidFill>
                  <a:srgbClr val="000000"/>
                </a:solidFill>
                <a:latin typeface="Times New Roman" panose="02020603050405020304" pitchFamily="18" charset="0"/>
                <a:cs typeface="Times New Roman" panose="02020603050405020304" pitchFamily="18" charset="0"/>
              </a:rPr>
              <a:t>Here,</a:t>
            </a:r>
          </a:p>
          <a:p>
            <a:pPr marL="342900" indent="-342900" algn="just">
              <a:buFont typeface="Arial" panose="020B0604020202020204" pitchFamily="34" charset="0"/>
              <a:buChar char="•"/>
            </a:pPr>
            <a:r>
              <a:rPr lang="en-US" sz="2000" b="1" dirty="0">
                <a:solidFill>
                  <a:srgbClr val="000000"/>
                </a:solidFill>
                <a:latin typeface="Times New Roman" panose="02020603050405020304" pitchFamily="18" charset="0"/>
                <a:cs typeface="Times New Roman" panose="02020603050405020304" pitchFamily="18" charset="0"/>
              </a:rPr>
              <a:t>S, A,</a:t>
            </a:r>
            <a:r>
              <a:rPr lang="en-US" sz="2000" dirty="0">
                <a:solidFill>
                  <a:srgbClr val="000000"/>
                </a:solidFill>
                <a:latin typeface="Times New Roman" panose="02020603050405020304" pitchFamily="18" charset="0"/>
                <a:cs typeface="Times New Roman" panose="02020603050405020304" pitchFamily="18" charset="0"/>
              </a:rPr>
              <a:t> and </a:t>
            </a:r>
            <a:r>
              <a:rPr lang="en-US" sz="2000" b="1" dirty="0">
                <a:solidFill>
                  <a:srgbClr val="000000"/>
                </a:solidFill>
                <a:latin typeface="Times New Roman" panose="02020603050405020304" pitchFamily="18" charset="0"/>
                <a:cs typeface="Times New Roman" panose="02020603050405020304" pitchFamily="18" charset="0"/>
              </a:rPr>
              <a:t>B</a:t>
            </a:r>
            <a:r>
              <a:rPr lang="en-US" sz="2000" dirty="0">
                <a:solidFill>
                  <a:srgbClr val="000000"/>
                </a:solidFill>
                <a:latin typeface="Times New Roman" panose="02020603050405020304" pitchFamily="18" charset="0"/>
                <a:cs typeface="Times New Roman" panose="02020603050405020304" pitchFamily="18" charset="0"/>
              </a:rPr>
              <a:t> are Non-terminal symbols;</a:t>
            </a:r>
          </a:p>
          <a:p>
            <a:pPr marL="342900" indent="-342900" algn="just">
              <a:buFont typeface="Arial" panose="020B0604020202020204" pitchFamily="34" charset="0"/>
              <a:buChar char="•"/>
            </a:pPr>
            <a:r>
              <a:rPr lang="en-US" sz="2000" b="1" dirty="0">
                <a:solidFill>
                  <a:srgbClr val="000000"/>
                </a:solidFill>
                <a:latin typeface="Times New Roman" panose="02020603050405020304" pitchFamily="18" charset="0"/>
                <a:cs typeface="Times New Roman" panose="02020603050405020304" pitchFamily="18" charset="0"/>
              </a:rPr>
              <a:t>a</a:t>
            </a:r>
            <a:r>
              <a:rPr lang="en-US" sz="2000" dirty="0">
                <a:solidFill>
                  <a:srgbClr val="000000"/>
                </a:solidFill>
                <a:latin typeface="Times New Roman" panose="02020603050405020304" pitchFamily="18" charset="0"/>
                <a:cs typeface="Times New Roman" panose="02020603050405020304" pitchFamily="18" charset="0"/>
              </a:rPr>
              <a:t> and </a:t>
            </a:r>
            <a:r>
              <a:rPr lang="en-US" sz="2000" b="1" dirty="0">
                <a:solidFill>
                  <a:srgbClr val="000000"/>
                </a:solidFill>
                <a:latin typeface="Times New Roman" panose="02020603050405020304" pitchFamily="18" charset="0"/>
                <a:cs typeface="Times New Roman" panose="02020603050405020304" pitchFamily="18" charset="0"/>
              </a:rPr>
              <a:t>b</a:t>
            </a:r>
            <a:r>
              <a:rPr lang="en-US" sz="2000" dirty="0">
                <a:solidFill>
                  <a:srgbClr val="000000"/>
                </a:solidFill>
                <a:latin typeface="Times New Roman" panose="02020603050405020304" pitchFamily="18" charset="0"/>
                <a:cs typeface="Times New Roman" panose="02020603050405020304" pitchFamily="18" charset="0"/>
              </a:rPr>
              <a:t> are Terminal symbols</a:t>
            </a:r>
          </a:p>
          <a:p>
            <a:pPr marL="342900" indent="-342900" algn="just">
              <a:buFont typeface="Arial" panose="020B0604020202020204" pitchFamily="34" charset="0"/>
              <a:buChar char="•"/>
            </a:pPr>
            <a:r>
              <a:rPr lang="en-US" sz="2000" b="1" dirty="0">
                <a:solidFill>
                  <a:srgbClr val="000000"/>
                </a:solidFill>
                <a:latin typeface="Times New Roman" panose="02020603050405020304" pitchFamily="18" charset="0"/>
                <a:cs typeface="Times New Roman" panose="02020603050405020304" pitchFamily="18" charset="0"/>
              </a:rPr>
              <a:t>S</a:t>
            </a:r>
            <a:r>
              <a:rPr lang="en-US" sz="2000" dirty="0">
                <a:solidFill>
                  <a:srgbClr val="000000"/>
                </a:solidFill>
                <a:latin typeface="Times New Roman" panose="02020603050405020304" pitchFamily="18" charset="0"/>
                <a:cs typeface="Times New Roman" panose="02020603050405020304" pitchFamily="18" charset="0"/>
              </a:rPr>
              <a:t> is the Start symbol, S ∈ N</a:t>
            </a:r>
          </a:p>
          <a:p>
            <a:pPr marL="342900" indent="-342900" algn="just">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Productions,</a:t>
            </a:r>
          </a:p>
          <a:p>
            <a:pPr marL="342900" indent="-342900" algn="just">
              <a:buFont typeface="Arial" panose="020B0604020202020204" pitchFamily="34" charset="0"/>
              <a:buChar char="•"/>
            </a:pPr>
            <a:r>
              <a:rPr lang="en-US" sz="2000" b="1" dirty="0">
                <a:solidFill>
                  <a:srgbClr val="000000"/>
                </a:solidFill>
                <a:latin typeface="Times New Roman" panose="02020603050405020304" pitchFamily="18" charset="0"/>
                <a:cs typeface="Times New Roman" panose="02020603050405020304" pitchFamily="18" charset="0"/>
              </a:rPr>
              <a:t>P : S → AB, A → a, B → b</a:t>
            </a:r>
            <a:endParaRPr lang="en-US" sz="2000" dirty="0">
              <a:solidFill>
                <a:srgbClr val="000000"/>
              </a:solidFill>
              <a:latin typeface="Times New Roman" panose="02020603050405020304" pitchFamily="18" charset="0"/>
              <a:cs typeface="Times New Roman" panose="02020603050405020304" pitchFamily="18" charset="0"/>
            </a:endParaRPr>
          </a:p>
          <a:p>
            <a:pPr algn="just"/>
            <a:r>
              <a:rPr lang="en-US" sz="2000" dirty="0">
                <a:solidFill>
                  <a:srgbClr val="000000"/>
                </a:solidFill>
                <a:latin typeface="Times New Roman" panose="02020603050405020304" pitchFamily="18" charset="0"/>
                <a:cs typeface="Times New Roman" panose="02020603050405020304" pitchFamily="18" charset="0"/>
              </a:rPr>
              <a:t> </a:t>
            </a:r>
          </a:p>
        </p:txBody>
      </p:sp>
      <p:sp>
        <p:nvSpPr>
          <p:cNvPr id="2" name="Footer Placeholder 12">
            <a:extLst>
              <a:ext uri="{FF2B5EF4-FFF2-40B4-BE49-F238E27FC236}">
                <a16:creationId xmlns:a16="http://schemas.microsoft.com/office/drawing/2014/main" id="{9CD60625-28DC-7E6C-A278-E2B73C67A263}"/>
              </a:ext>
            </a:extLst>
          </p:cNvPr>
          <p:cNvSpPr>
            <a:spLocks noGrp="1"/>
          </p:cNvSpPr>
          <p:nvPr>
            <p:ph type="ftr" sz="quarter" idx="11"/>
          </p:nvPr>
        </p:nvSpPr>
        <p:spPr>
          <a:xfrm>
            <a:off x="1905000" y="64008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129797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728CCAA-D431-49C3-BEE0-7D3D17CFFDBB}"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7" name="Title 1"/>
          <p:cNvSpPr txBox="1">
            <a:spLocks/>
          </p:cNvSpPr>
          <p:nvPr/>
        </p:nvSpPr>
        <p:spPr>
          <a:xfrm>
            <a:off x="1676400" y="0"/>
            <a:ext cx="7467600"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eaLnBrk="0" fontAlgn="base" hangingPunct="0">
              <a:spcBef>
                <a:spcPct val="0"/>
              </a:spcBef>
              <a:spcAft>
                <a:spcPct val="0"/>
              </a:spcAft>
            </a:pPr>
            <a:r>
              <a:rPr lang="en-US" altLang="en-US" sz="2400" b="1" dirty="0">
                <a:solidFill>
                  <a:srgbClr val="000000"/>
                </a:solidFill>
                <a:latin typeface="Times New Roman" panose="02020603050405020304" pitchFamily="18" charset="0"/>
                <a:cs typeface="Times New Roman" panose="02020603050405020304" pitchFamily="18" charset="0"/>
              </a:rPr>
              <a:t>Types of Grammar</a:t>
            </a:r>
          </a:p>
        </p:txBody>
      </p:sp>
      <p:sp>
        <p:nvSpPr>
          <p:cNvPr id="10" name="Rectangle 9"/>
          <p:cNvSpPr/>
          <p:nvPr/>
        </p:nvSpPr>
        <p:spPr>
          <a:xfrm>
            <a:off x="491836" y="914400"/>
            <a:ext cx="3927764" cy="3785652"/>
          </a:xfrm>
          <a:prstGeom prst="rect">
            <a:avLst/>
          </a:prstGeom>
        </p:spPr>
        <p:txBody>
          <a:bodyPr wrap="square">
            <a:spAutoFit/>
          </a:bodyPr>
          <a:lstStyle/>
          <a:p>
            <a:r>
              <a:rPr lang="en-US" sz="2000" dirty="0">
                <a:solidFill>
                  <a:srgbClr val="001D35"/>
                </a:solidFill>
                <a:latin typeface="+mj-lt"/>
              </a:rPr>
              <a:t> </a:t>
            </a:r>
            <a:endParaRPr lang="en-IN" sz="2000" b="1" dirty="0">
              <a:latin typeface="+mj-lt"/>
            </a:endParaRPr>
          </a:p>
          <a:p>
            <a:endParaRPr lang="en-US" altLang="en-US" sz="2000" dirty="0">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US" sz="2000" dirty="0">
              <a:solidFill>
                <a:srgbClr val="001D35"/>
              </a:solidFill>
              <a:latin typeface="+mj-lt"/>
            </a:endParaRPr>
          </a:p>
          <a:p>
            <a:endParaRPr lang="en-IN" sz="2000" dirty="0">
              <a:latin typeface="+mj-lt"/>
            </a:endParaRPr>
          </a:p>
        </p:txBody>
      </p:sp>
      <p:graphicFrame>
        <p:nvGraphicFramePr>
          <p:cNvPr id="2" name="Table 1"/>
          <p:cNvGraphicFramePr>
            <a:graphicFrameLocks noGrp="1"/>
          </p:cNvGraphicFramePr>
          <p:nvPr>
            <p:extLst>
              <p:ext uri="{D42A27DB-BD31-4B8C-83A1-F6EECF244321}">
                <p14:modId xmlns:p14="http://schemas.microsoft.com/office/powerpoint/2010/main" val="317390550"/>
              </p:ext>
            </p:extLst>
          </p:nvPr>
        </p:nvGraphicFramePr>
        <p:xfrm>
          <a:off x="914400" y="1676400"/>
          <a:ext cx="7543800" cy="4037536"/>
        </p:xfrm>
        <a:graphic>
          <a:graphicData uri="http://schemas.openxmlformats.org/drawingml/2006/table">
            <a:tbl>
              <a:tblPr>
                <a:tableStyleId>{5940675A-B579-460E-94D1-54222C63F5DA}</a:tableStyleId>
              </a:tblPr>
              <a:tblGrid>
                <a:gridCol w="1885950">
                  <a:extLst>
                    <a:ext uri="{9D8B030D-6E8A-4147-A177-3AD203B41FA5}">
                      <a16:colId xmlns:a16="http://schemas.microsoft.com/office/drawing/2014/main" val="3733583130"/>
                    </a:ext>
                  </a:extLst>
                </a:gridCol>
                <a:gridCol w="1885950">
                  <a:extLst>
                    <a:ext uri="{9D8B030D-6E8A-4147-A177-3AD203B41FA5}">
                      <a16:colId xmlns:a16="http://schemas.microsoft.com/office/drawing/2014/main" val="804668802"/>
                    </a:ext>
                  </a:extLst>
                </a:gridCol>
                <a:gridCol w="1885950">
                  <a:extLst>
                    <a:ext uri="{9D8B030D-6E8A-4147-A177-3AD203B41FA5}">
                      <a16:colId xmlns:a16="http://schemas.microsoft.com/office/drawing/2014/main" val="1418310503"/>
                    </a:ext>
                  </a:extLst>
                </a:gridCol>
                <a:gridCol w="1885950">
                  <a:extLst>
                    <a:ext uri="{9D8B030D-6E8A-4147-A177-3AD203B41FA5}">
                      <a16:colId xmlns:a16="http://schemas.microsoft.com/office/drawing/2014/main" val="3135596297"/>
                    </a:ext>
                  </a:extLst>
                </a:gridCol>
              </a:tblGrid>
              <a:tr h="577682">
                <a:tc>
                  <a:txBody>
                    <a:bodyPr/>
                    <a:lstStyle/>
                    <a:p>
                      <a:pPr algn="ctr"/>
                      <a:r>
                        <a:rPr lang="en-IN" sz="1800" b="1">
                          <a:solidFill>
                            <a:srgbClr val="000000"/>
                          </a:solidFill>
                          <a:effectLst/>
                          <a:latin typeface="Times New Roman" panose="02020603050405020304" pitchFamily="18" charset="0"/>
                          <a:cs typeface="Times New Roman" panose="02020603050405020304" pitchFamily="18" charset="0"/>
                        </a:rPr>
                        <a:t>Grammar</a:t>
                      </a:r>
                    </a:p>
                  </a:txBody>
                  <a:tcPr marL="74933" marR="74933" marT="74933" marB="74933" anchor="ctr"/>
                </a:tc>
                <a:tc>
                  <a:txBody>
                    <a:bodyPr/>
                    <a:lstStyle/>
                    <a:p>
                      <a:pPr algn="ctr"/>
                      <a:r>
                        <a:rPr lang="en-IN" sz="1800" b="1">
                          <a:solidFill>
                            <a:srgbClr val="000000"/>
                          </a:solidFill>
                          <a:effectLst/>
                          <a:latin typeface="Times New Roman" panose="02020603050405020304" pitchFamily="18" charset="0"/>
                          <a:cs typeface="Times New Roman" panose="02020603050405020304" pitchFamily="18" charset="0"/>
                        </a:rPr>
                        <a:t>Language</a:t>
                      </a:r>
                    </a:p>
                  </a:txBody>
                  <a:tcPr marL="74933" marR="74933" marT="74933" marB="74933" anchor="ctr"/>
                </a:tc>
                <a:tc>
                  <a:txBody>
                    <a:bodyPr/>
                    <a:lstStyle/>
                    <a:p>
                      <a:pPr algn="ctr"/>
                      <a:r>
                        <a:rPr lang="en-IN" sz="1800" b="1">
                          <a:solidFill>
                            <a:srgbClr val="000000"/>
                          </a:solidFill>
                          <a:effectLst/>
                          <a:latin typeface="Times New Roman" panose="02020603050405020304" pitchFamily="18" charset="0"/>
                          <a:cs typeface="Times New Roman" panose="02020603050405020304" pitchFamily="18" charset="0"/>
                        </a:rPr>
                        <a:t>Automata</a:t>
                      </a:r>
                    </a:p>
                  </a:txBody>
                  <a:tcPr marL="74933" marR="74933" marT="74933" marB="74933" anchor="ctr"/>
                </a:tc>
                <a:tc>
                  <a:txBody>
                    <a:bodyPr/>
                    <a:lstStyle/>
                    <a:p>
                      <a:pPr algn="ctr"/>
                      <a:r>
                        <a:rPr lang="en-IN" sz="1800" b="1">
                          <a:solidFill>
                            <a:srgbClr val="000000"/>
                          </a:solidFill>
                          <a:effectLst/>
                          <a:latin typeface="Times New Roman" panose="02020603050405020304" pitchFamily="18" charset="0"/>
                          <a:cs typeface="Times New Roman" panose="02020603050405020304" pitchFamily="18" charset="0"/>
                        </a:rPr>
                        <a:t>Production rules</a:t>
                      </a:r>
                    </a:p>
                  </a:txBody>
                  <a:tcPr marL="74933" marR="74933" marT="74933" marB="74933" anchor="ctr"/>
                </a:tc>
                <a:extLst>
                  <a:ext uri="{0D108BD9-81ED-4DB2-BD59-A6C34878D82A}">
                    <a16:rowId xmlns:a16="http://schemas.microsoft.com/office/drawing/2014/main" val="686413336"/>
                  </a:ext>
                </a:extLst>
              </a:tr>
              <a:tr h="577682">
                <a:tc>
                  <a:txBody>
                    <a:bodyPr/>
                    <a:lstStyle/>
                    <a:p>
                      <a:pPr algn="ctr"/>
                      <a:r>
                        <a:rPr lang="en-IN" sz="1800">
                          <a:effectLst/>
                          <a:latin typeface="Times New Roman" panose="02020603050405020304" pitchFamily="18" charset="0"/>
                          <a:cs typeface="Times New Roman" panose="02020603050405020304" pitchFamily="18" charset="0"/>
                        </a:rPr>
                        <a:t>Type-0</a:t>
                      </a:r>
                    </a:p>
                  </a:txBody>
                  <a:tcPr marL="74933" marR="74933" marT="74933" marB="74933" anchor="ctr"/>
                </a:tc>
                <a:tc>
                  <a:txBody>
                    <a:bodyPr/>
                    <a:lstStyle/>
                    <a:p>
                      <a:pPr algn="l"/>
                      <a:r>
                        <a:rPr lang="en-IN" sz="1800" dirty="0">
                          <a:effectLst/>
                          <a:latin typeface="Times New Roman" panose="02020603050405020304" pitchFamily="18" charset="0"/>
                          <a:cs typeface="Times New Roman" panose="02020603050405020304" pitchFamily="18" charset="0"/>
                        </a:rPr>
                        <a:t>Recursively enumerable</a:t>
                      </a:r>
                    </a:p>
                  </a:txBody>
                  <a:tcPr marL="74933" marR="74933" marT="74933" marB="74933" anchor="ctr"/>
                </a:tc>
                <a:tc>
                  <a:txBody>
                    <a:bodyPr/>
                    <a:lstStyle/>
                    <a:p>
                      <a:pPr algn="l"/>
                      <a:r>
                        <a:rPr lang="en-IN" sz="1800" dirty="0">
                          <a:effectLst/>
                          <a:latin typeface="Times New Roman" panose="02020603050405020304" pitchFamily="18" charset="0"/>
                          <a:cs typeface="Times New Roman" panose="02020603050405020304" pitchFamily="18" charset="0"/>
                        </a:rPr>
                        <a:t>Turing machine</a:t>
                      </a:r>
                    </a:p>
                  </a:txBody>
                  <a:tcPr marL="74933" marR="74933" marT="74933" marB="74933" anchor="ctr"/>
                </a:tc>
                <a:tc>
                  <a:txBody>
                    <a:bodyPr/>
                    <a:lstStyle/>
                    <a:p>
                      <a:pPr algn="l"/>
                      <a:r>
                        <a:rPr lang="en-IN" sz="1800">
                          <a:effectLst/>
                          <a:latin typeface="Times New Roman" panose="02020603050405020304" pitchFamily="18" charset="0"/>
                          <a:cs typeface="Times New Roman" panose="02020603050405020304" pitchFamily="18" charset="0"/>
                        </a:rPr>
                        <a:t>No restriction</a:t>
                      </a:r>
                    </a:p>
                  </a:txBody>
                  <a:tcPr marL="74933" marR="74933" marT="74933" marB="74933" anchor="ctr"/>
                </a:tc>
                <a:extLst>
                  <a:ext uri="{0D108BD9-81ED-4DB2-BD59-A6C34878D82A}">
                    <a16:rowId xmlns:a16="http://schemas.microsoft.com/office/drawing/2014/main" val="2527240202"/>
                  </a:ext>
                </a:extLst>
              </a:tr>
              <a:tr h="1031421">
                <a:tc>
                  <a:txBody>
                    <a:bodyPr/>
                    <a:lstStyle/>
                    <a:p>
                      <a:pPr algn="ctr"/>
                      <a:r>
                        <a:rPr lang="en-IN" sz="1800">
                          <a:effectLst/>
                          <a:latin typeface="Times New Roman" panose="02020603050405020304" pitchFamily="18" charset="0"/>
                          <a:cs typeface="Times New Roman" panose="02020603050405020304" pitchFamily="18" charset="0"/>
                        </a:rPr>
                        <a:t>Type-1</a:t>
                      </a:r>
                    </a:p>
                  </a:txBody>
                  <a:tcPr marL="74933" marR="74933" marT="74933" marB="74933" anchor="ctr"/>
                </a:tc>
                <a:tc>
                  <a:txBody>
                    <a:bodyPr/>
                    <a:lstStyle/>
                    <a:p>
                      <a:pPr algn="l"/>
                      <a:r>
                        <a:rPr lang="en-IN" sz="1800" dirty="0">
                          <a:effectLst/>
                          <a:latin typeface="Times New Roman" panose="02020603050405020304" pitchFamily="18" charset="0"/>
                          <a:cs typeface="Times New Roman" panose="02020603050405020304" pitchFamily="18" charset="0"/>
                        </a:rPr>
                        <a:t>Context-Sensitive</a:t>
                      </a:r>
                    </a:p>
                  </a:txBody>
                  <a:tcPr marL="74933" marR="74933" marT="74933" marB="74933" anchor="ctr"/>
                </a:tc>
                <a:tc>
                  <a:txBody>
                    <a:bodyPr/>
                    <a:lstStyle/>
                    <a:p>
                      <a:pPr algn="l"/>
                      <a:r>
                        <a:rPr lang="en-IN" sz="1800" dirty="0">
                          <a:effectLst/>
                          <a:latin typeface="Times New Roman" panose="02020603050405020304" pitchFamily="18" charset="0"/>
                          <a:cs typeface="Times New Roman" panose="02020603050405020304" pitchFamily="18" charset="0"/>
                        </a:rPr>
                        <a:t>Linear-bounded non-deterministic machine</a:t>
                      </a:r>
                    </a:p>
                  </a:txBody>
                  <a:tcPr marL="74933" marR="74933" marT="74933" marB="74933" anchor="ctr"/>
                </a:tc>
                <a:tc>
                  <a:txBody>
                    <a:bodyPr/>
                    <a:lstStyle/>
                    <a:p>
                      <a:pPr algn="l"/>
                      <a:r>
                        <a:rPr lang="el-GR" sz="1800" b="1">
                          <a:effectLst/>
                          <a:latin typeface="Times New Roman" panose="02020603050405020304" pitchFamily="18" charset="0"/>
                          <a:cs typeface="Times New Roman" panose="02020603050405020304" pitchFamily="18" charset="0"/>
                        </a:rPr>
                        <a:t>α</a:t>
                      </a:r>
                      <a:r>
                        <a:rPr lang="en-IN" sz="1800" b="1">
                          <a:effectLst/>
                          <a:latin typeface="Times New Roman" panose="02020603050405020304" pitchFamily="18" charset="0"/>
                          <a:cs typeface="Times New Roman" panose="02020603050405020304" pitchFamily="18" charset="0"/>
                        </a:rPr>
                        <a:t>A</a:t>
                      </a:r>
                      <a:r>
                        <a:rPr lang="el-GR" sz="1800" b="1">
                          <a:effectLst/>
                          <a:latin typeface="Times New Roman" panose="02020603050405020304" pitchFamily="18" charset="0"/>
                          <a:cs typeface="Times New Roman" panose="02020603050405020304" pitchFamily="18" charset="0"/>
                        </a:rPr>
                        <a:t>β→αγβ</a:t>
                      </a:r>
                      <a:endParaRPr lang="el-GR" sz="1800">
                        <a:effectLst/>
                        <a:latin typeface="Times New Roman" panose="02020603050405020304" pitchFamily="18" charset="0"/>
                        <a:cs typeface="Times New Roman" panose="02020603050405020304" pitchFamily="18" charset="0"/>
                      </a:endParaRPr>
                    </a:p>
                  </a:txBody>
                  <a:tcPr marL="74933" marR="74933" marT="74933" marB="74933" anchor="ctr"/>
                </a:tc>
                <a:extLst>
                  <a:ext uri="{0D108BD9-81ED-4DB2-BD59-A6C34878D82A}">
                    <a16:rowId xmlns:a16="http://schemas.microsoft.com/office/drawing/2014/main" val="3201319300"/>
                  </a:ext>
                </a:extLst>
              </a:tr>
              <a:tr h="1031421">
                <a:tc>
                  <a:txBody>
                    <a:bodyPr/>
                    <a:lstStyle/>
                    <a:p>
                      <a:pPr algn="ctr"/>
                      <a:r>
                        <a:rPr lang="en-IN" sz="1800">
                          <a:effectLst/>
                          <a:latin typeface="Times New Roman" panose="02020603050405020304" pitchFamily="18" charset="0"/>
                          <a:cs typeface="Times New Roman" panose="02020603050405020304" pitchFamily="18" charset="0"/>
                        </a:rPr>
                        <a:t>Type-2</a:t>
                      </a:r>
                    </a:p>
                  </a:txBody>
                  <a:tcPr marL="74933" marR="74933" marT="74933" marB="74933" anchor="ctr"/>
                </a:tc>
                <a:tc>
                  <a:txBody>
                    <a:bodyPr/>
                    <a:lstStyle/>
                    <a:p>
                      <a:pPr algn="l"/>
                      <a:r>
                        <a:rPr lang="en-IN" sz="1800" dirty="0">
                          <a:effectLst/>
                          <a:latin typeface="Times New Roman" panose="02020603050405020304" pitchFamily="18" charset="0"/>
                          <a:cs typeface="Times New Roman" panose="02020603050405020304" pitchFamily="18" charset="0"/>
                        </a:rPr>
                        <a:t>Context-Free</a:t>
                      </a:r>
                    </a:p>
                  </a:txBody>
                  <a:tcPr marL="74933" marR="74933" marT="74933" marB="74933" anchor="ctr"/>
                </a:tc>
                <a:tc>
                  <a:txBody>
                    <a:bodyPr/>
                    <a:lstStyle/>
                    <a:p>
                      <a:pPr algn="l"/>
                      <a:r>
                        <a:rPr lang="en-IN" sz="1800">
                          <a:effectLst/>
                          <a:latin typeface="Times New Roman" panose="02020603050405020304" pitchFamily="18" charset="0"/>
                          <a:cs typeface="Times New Roman" panose="02020603050405020304" pitchFamily="18" charset="0"/>
                        </a:rPr>
                        <a:t>Non-deterministic push down automata</a:t>
                      </a:r>
                    </a:p>
                  </a:txBody>
                  <a:tcPr marL="74933" marR="74933" marT="74933" marB="74933" anchor="ctr"/>
                </a:tc>
                <a:tc>
                  <a:txBody>
                    <a:bodyPr/>
                    <a:lstStyle/>
                    <a:p>
                      <a:pPr algn="l"/>
                      <a:r>
                        <a:rPr lang="en-IN" sz="1800">
                          <a:effectLst/>
                          <a:latin typeface="Times New Roman" panose="02020603050405020304" pitchFamily="18" charset="0"/>
                          <a:cs typeface="Times New Roman" panose="02020603050405020304" pitchFamily="18" charset="0"/>
                        </a:rPr>
                        <a:t>A→</a:t>
                      </a:r>
                      <a:r>
                        <a:rPr lang="el-GR" sz="1800">
                          <a:effectLst/>
                          <a:latin typeface="Times New Roman" panose="02020603050405020304" pitchFamily="18" charset="0"/>
                          <a:cs typeface="Times New Roman" panose="02020603050405020304" pitchFamily="18" charset="0"/>
                        </a:rPr>
                        <a:t>γ</a:t>
                      </a:r>
                    </a:p>
                  </a:txBody>
                  <a:tcPr marL="74933" marR="74933" marT="74933" marB="74933" anchor="ctr"/>
                </a:tc>
                <a:extLst>
                  <a:ext uri="{0D108BD9-81ED-4DB2-BD59-A6C34878D82A}">
                    <a16:rowId xmlns:a16="http://schemas.microsoft.com/office/drawing/2014/main" val="2894351156"/>
                  </a:ext>
                </a:extLst>
              </a:tr>
              <a:tr h="577682">
                <a:tc>
                  <a:txBody>
                    <a:bodyPr/>
                    <a:lstStyle/>
                    <a:p>
                      <a:pPr algn="ctr"/>
                      <a:r>
                        <a:rPr lang="en-IN" sz="1800">
                          <a:effectLst/>
                          <a:latin typeface="Times New Roman" panose="02020603050405020304" pitchFamily="18" charset="0"/>
                          <a:cs typeface="Times New Roman" panose="02020603050405020304" pitchFamily="18" charset="0"/>
                        </a:rPr>
                        <a:t>Type-3</a:t>
                      </a:r>
                    </a:p>
                  </a:txBody>
                  <a:tcPr marL="74933" marR="74933" marT="74933" marB="74933" anchor="ctr"/>
                </a:tc>
                <a:tc>
                  <a:txBody>
                    <a:bodyPr/>
                    <a:lstStyle/>
                    <a:p>
                      <a:pPr algn="l"/>
                      <a:r>
                        <a:rPr lang="en-IN" sz="1800">
                          <a:effectLst/>
                          <a:latin typeface="Times New Roman" panose="02020603050405020304" pitchFamily="18" charset="0"/>
                          <a:cs typeface="Times New Roman" panose="02020603050405020304" pitchFamily="18" charset="0"/>
                        </a:rPr>
                        <a:t>Regular</a:t>
                      </a:r>
                    </a:p>
                  </a:txBody>
                  <a:tcPr marL="74933" marR="74933" marT="74933" marB="74933" anchor="ctr"/>
                </a:tc>
                <a:tc>
                  <a:txBody>
                    <a:bodyPr/>
                    <a:lstStyle/>
                    <a:p>
                      <a:pPr algn="l"/>
                      <a:r>
                        <a:rPr lang="en-IN" sz="1800">
                          <a:effectLst/>
                          <a:latin typeface="Times New Roman" panose="02020603050405020304" pitchFamily="18" charset="0"/>
                          <a:cs typeface="Times New Roman" panose="02020603050405020304" pitchFamily="18" charset="0"/>
                        </a:rPr>
                        <a:t>Finite state automata</a:t>
                      </a:r>
                    </a:p>
                  </a:txBody>
                  <a:tcPr marL="74933" marR="74933" marT="74933" marB="74933" anchor="ctr"/>
                </a:tc>
                <a:tc>
                  <a:txBody>
                    <a:bodyPr/>
                    <a:lstStyle/>
                    <a:p>
                      <a:pPr algn="l"/>
                      <a:r>
                        <a:rPr lang="en-IN" sz="1800" dirty="0">
                          <a:effectLst/>
                          <a:latin typeface="Times New Roman" panose="02020603050405020304" pitchFamily="18" charset="0"/>
                          <a:cs typeface="Times New Roman" panose="02020603050405020304" pitchFamily="18" charset="0"/>
                        </a:rPr>
                        <a:t>A→</a:t>
                      </a:r>
                      <a:r>
                        <a:rPr lang="el-GR" sz="1800" dirty="0">
                          <a:effectLst/>
                          <a:latin typeface="Times New Roman" panose="02020603050405020304" pitchFamily="18" charset="0"/>
                          <a:cs typeface="Times New Roman" panose="02020603050405020304" pitchFamily="18" charset="0"/>
                        </a:rPr>
                        <a:t>α</a:t>
                      </a:r>
                      <a:r>
                        <a:rPr lang="en-IN" sz="1800" dirty="0">
                          <a:effectLst/>
                          <a:latin typeface="Times New Roman" panose="02020603050405020304" pitchFamily="18" charset="0"/>
                          <a:cs typeface="Times New Roman" panose="02020603050405020304" pitchFamily="18" charset="0"/>
                        </a:rPr>
                        <a:t>B</a:t>
                      </a:r>
                      <a:br>
                        <a:rPr lang="en-IN" sz="1800" dirty="0">
                          <a:effectLst/>
                          <a:latin typeface="Times New Roman" panose="02020603050405020304" pitchFamily="18" charset="0"/>
                          <a:cs typeface="Times New Roman" panose="02020603050405020304" pitchFamily="18" charset="0"/>
                        </a:rPr>
                      </a:br>
                      <a:r>
                        <a:rPr lang="en-IN" sz="1800" dirty="0">
                          <a:effectLst/>
                          <a:latin typeface="Times New Roman" panose="02020603050405020304" pitchFamily="18" charset="0"/>
                          <a:cs typeface="Times New Roman" panose="02020603050405020304" pitchFamily="18" charset="0"/>
                        </a:rPr>
                        <a:t>A→</a:t>
                      </a:r>
                      <a:r>
                        <a:rPr lang="el-GR" sz="1800" dirty="0">
                          <a:effectLst/>
                          <a:latin typeface="Times New Roman" panose="02020603050405020304" pitchFamily="18" charset="0"/>
                          <a:cs typeface="Times New Roman" panose="02020603050405020304" pitchFamily="18" charset="0"/>
                        </a:rPr>
                        <a:t>α</a:t>
                      </a:r>
                    </a:p>
                  </a:txBody>
                  <a:tcPr marL="74933" marR="74933" marT="74933" marB="74933" anchor="ctr"/>
                </a:tc>
                <a:extLst>
                  <a:ext uri="{0D108BD9-81ED-4DB2-BD59-A6C34878D82A}">
                    <a16:rowId xmlns:a16="http://schemas.microsoft.com/office/drawing/2014/main" val="1804463821"/>
                  </a:ext>
                </a:extLst>
              </a:tr>
            </a:tbl>
          </a:graphicData>
        </a:graphic>
      </p:graphicFrame>
      <p:sp>
        <p:nvSpPr>
          <p:cNvPr id="5" name="Rectangle 1"/>
          <p:cNvSpPr>
            <a:spLocks noChangeArrowheads="1"/>
          </p:cNvSpPr>
          <p:nvPr/>
        </p:nvSpPr>
        <p:spPr bwMode="auto">
          <a:xfrm>
            <a:off x="1143001" y="1144488"/>
            <a:ext cx="6172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different types of grammar </a:t>
            </a:r>
            <a:r>
              <a:rPr kumimoji="0" lang="en-US" altLang="en-US" sz="11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Footer Placeholder 12">
            <a:extLst>
              <a:ext uri="{FF2B5EF4-FFF2-40B4-BE49-F238E27FC236}">
                <a16:creationId xmlns:a16="http://schemas.microsoft.com/office/drawing/2014/main" id="{6174B508-62EF-CB31-BB4D-7A766533DAE2}"/>
              </a:ext>
            </a:extLst>
          </p:cNvPr>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644226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BA4D43E-3D37-4D4E-B940-7D9F3C6A6C66}"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
        <p:nvSpPr>
          <p:cNvPr id="7" name="Title 1"/>
          <p:cNvSpPr txBox="1">
            <a:spLocks/>
          </p:cNvSpPr>
          <p:nvPr/>
        </p:nvSpPr>
        <p:spPr>
          <a:xfrm>
            <a:off x="1676400" y="0"/>
            <a:ext cx="7467600" cy="7620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altLang="en-US" sz="2400" b="1" dirty="0">
                <a:latin typeface="Times New Roman" panose="02020603050405020304" pitchFamily="18" charset="0"/>
                <a:cs typeface="Times New Roman" panose="02020603050405020304" pitchFamily="18" charset="0"/>
              </a:rPr>
              <a:t>Context-Free Grammar and Context-Free Language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3" name="Rectangle 2"/>
          <p:cNvSpPr/>
          <p:nvPr/>
        </p:nvSpPr>
        <p:spPr>
          <a:xfrm>
            <a:off x="457200" y="1066800"/>
            <a:ext cx="8229600" cy="4401205"/>
          </a:xfrm>
          <a:prstGeom prst="rect">
            <a:avLst/>
          </a:prstGeom>
        </p:spPr>
        <p:txBody>
          <a:bodyPr wrap="square">
            <a:spAutoFit/>
          </a:bodyPr>
          <a:lstStyle/>
          <a:p>
            <a:pPr marL="342900" indent="-342900" algn="just">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A Grammar G=(N,T,P,S) is said to be Context-Free Grammar(CFG) if the production rules of G are of the form: A</a:t>
            </a:r>
            <a:r>
              <a:rPr lang="en-US" sz="2000" dirty="0">
                <a:latin typeface="Times New Roman" panose="02020603050405020304" pitchFamily="18" charset="0"/>
                <a:cs typeface="Times New Roman" panose="02020603050405020304" pitchFamily="18" charset="0"/>
              </a:rPr>
              <a:t> →</a:t>
            </a:r>
            <a:r>
              <a:rPr lang="el-GR" sz="2000" dirty="0">
                <a:latin typeface="Times New Roman" panose="02020603050405020304" pitchFamily="18" charset="0"/>
                <a:cs typeface="Times New Roman" panose="02020603050405020304" pitchFamily="18" charset="0"/>
              </a:rPr>
              <a:t>α</a:t>
            </a:r>
            <a:r>
              <a:rPr lang="en-US" sz="2000" dirty="0">
                <a:latin typeface="Times New Roman" panose="02020603050405020304" pitchFamily="18" charset="0"/>
                <a:cs typeface="Times New Roman" panose="02020603050405020304" pitchFamily="18" charset="0"/>
              </a:rPr>
              <a:t>, Where </a:t>
            </a:r>
            <a:r>
              <a:rPr lang="el-GR" sz="2000" dirty="0">
                <a:latin typeface="Times New Roman" panose="02020603050405020304" pitchFamily="18" charset="0"/>
                <a:cs typeface="Times New Roman" panose="02020603050405020304" pitchFamily="18" charset="0"/>
              </a:rPr>
              <a:t>α</a:t>
            </a:r>
            <a:r>
              <a:rPr lang="en-US" altLang="en-US" sz="2000" dirty="0">
                <a:solidFill>
                  <a:srgbClr val="000000"/>
                </a:solidFill>
                <a:latin typeface="Times New Roman" panose="02020603050405020304" pitchFamily="18" charset="0"/>
                <a:cs typeface="Times New Roman" panose="02020603050405020304" pitchFamily="18" charset="0"/>
              </a:rPr>
              <a:t> ∈(NUT)</a:t>
            </a:r>
            <a:r>
              <a:rPr lang="en-US" altLang="en-US" sz="2000" baseline="30000" dirty="0">
                <a:solidFill>
                  <a:srgbClr val="000000"/>
                </a:solidFill>
                <a:latin typeface="Times New Roman" panose="02020603050405020304" pitchFamily="18" charset="0"/>
                <a:cs typeface="Times New Roman" panose="02020603050405020304" pitchFamily="18" charset="0"/>
              </a:rPr>
              <a:t>*</a:t>
            </a:r>
            <a:r>
              <a:rPr lang="en-US" altLang="en-US" sz="2000" dirty="0">
                <a:solidFill>
                  <a:srgbClr val="000000"/>
                </a:solidFill>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endParaRPr lang="en-US" altLang="en-US" sz="20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is a formal grammar which is used to generate all possible patterns of strings in a given formal language.</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Context-Free Grammar are very useful in lexical analysis, which is a part of Compiler.</a:t>
            </a:r>
          </a:p>
          <a:p>
            <a:pPr algn="just"/>
            <a:endParaRPr lang="en-US" sz="20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The Language generated by G is denote as L(G).The language L is called Context-Free Language(CFL) if L(G) is for CFG.</a:t>
            </a:r>
          </a:p>
          <a:p>
            <a:pPr algn="ctr"/>
            <a:r>
              <a:rPr lang="en-US" sz="2000" dirty="0">
                <a:solidFill>
                  <a:srgbClr val="000000"/>
                </a:solidFill>
                <a:latin typeface="Times New Roman" panose="02020603050405020304" pitchFamily="18" charset="0"/>
                <a:cs typeface="Times New Roman" panose="02020603050405020304" pitchFamily="18" charset="0"/>
              </a:rPr>
              <a:t>Or</a:t>
            </a:r>
          </a:p>
          <a:p>
            <a:pPr marL="342900" indent="-342900" algn="just">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The Language Generated by Context-Free Grammar(CFG) is Called Context-Free Language(CFL).</a:t>
            </a:r>
          </a:p>
        </p:txBody>
      </p:sp>
      <p:sp>
        <p:nvSpPr>
          <p:cNvPr id="2" name="Footer Placeholder 12">
            <a:extLst>
              <a:ext uri="{FF2B5EF4-FFF2-40B4-BE49-F238E27FC236}">
                <a16:creationId xmlns:a16="http://schemas.microsoft.com/office/drawing/2014/main" id="{AA45D84D-3FAD-4E2B-61C0-CC8D36F95457}"/>
              </a:ext>
            </a:extLst>
          </p:cNvPr>
          <p:cNvSpPr>
            <a:spLocks noGrp="1"/>
          </p:cNvSpPr>
          <p:nvPr>
            <p:ph type="ftr" sz="quarter" idx="11"/>
          </p:nvPr>
        </p:nvSpPr>
        <p:spPr>
          <a:xfrm>
            <a:off x="1905000" y="64008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30707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altLang="en-US" sz="2200" b="1" dirty="0">
                <a:latin typeface="Times New Roman" panose="02020603050405020304" pitchFamily="18" charset="0"/>
                <a:cs typeface="Times New Roman" panose="02020603050405020304" pitchFamily="18" charset="0"/>
              </a:rPr>
              <a:t>Q1:</a:t>
            </a:r>
            <a:r>
              <a:rPr lang="en-US" altLang="en-US" sz="2200" dirty="0">
                <a:latin typeface="Times New Roman" panose="02020603050405020304" pitchFamily="18" charset="0"/>
                <a:cs typeface="Times New Roman" panose="02020603050405020304" pitchFamily="18" charset="0"/>
              </a:rPr>
              <a:t> Write CFG which generates palindrome for binary string.</a:t>
            </a:r>
          </a:p>
          <a:p>
            <a:pPr marL="0" indent="0">
              <a:buFontTx/>
              <a:buNone/>
              <a:defRPr/>
            </a:pPr>
            <a:endParaRPr lang="en-US" sz="2200" dirty="0">
              <a:latin typeface="Times New Roman" panose="02020603050405020304" pitchFamily="18" charset="0"/>
              <a:cs typeface="Times New Roman" panose="02020603050405020304" pitchFamily="18" charset="0"/>
            </a:endParaRPr>
          </a:p>
          <a:p>
            <a:pPr marL="0" indent="0">
              <a:buFontTx/>
              <a:buNone/>
              <a:defRPr/>
            </a:pPr>
            <a:r>
              <a:rPr lang="en-US" sz="2000" dirty="0">
                <a:latin typeface="Times New Roman" panose="02020603050405020304" pitchFamily="18" charset="0"/>
                <a:cs typeface="Times New Roman" panose="02020603050405020304" pitchFamily="18" charset="0"/>
              </a:rPr>
              <a:t>Palindrome is a string which will be same while reading from LHS or RHS example 101, 010…..</a:t>
            </a:r>
          </a:p>
          <a:p>
            <a:pPr marL="0" indent="0">
              <a:buFontTx/>
              <a:buNone/>
              <a:defRPr/>
            </a:pPr>
            <a:endParaRPr lang="en-US" sz="20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S </a:t>
            </a:r>
            <a:r>
              <a:rPr lang="en-US" sz="2000" b="1" dirty="0">
                <a:latin typeface="Times New Roman" panose="02020603050405020304" pitchFamily="18" charset="0"/>
                <a:cs typeface="Times New Roman" panose="02020603050405020304" pitchFamily="18" charset="0"/>
              </a:rPr>
              <a:t>→ 0S0/1S1</a:t>
            </a:r>
          </a:p>
          <a:p>
            <a:pPr>
              <a:defRPr/>
            </a:pPr>
            <a:r>
              <a:rPr lang="en-US" sz="2000" dirty="0">
                <a:latin typeface="Times New Roman" panose="02020603050405020304" pitchFamily="18" charset="0"/>
                <a:cs typeface="Times New Roman" panose="02020603050405020304" pitchFamily="18" charset="0"/>
              </a:rPr>
              <a:t>S </a:t>
            </a:r>
            <a:r>
              <a:rPr lang="en-US" sz="2000" b="1" dirty="0">
                <a:latin typeface="Times New Roman" panose="02020603050405020304" pitchFamily="18" charset="0"/>
                <a:cs typeface="Times New Roman" panose="02020603050405020304" pitchFamily="18" charset="0"/>
              </a:rPr>
              <a:t>→ 0/1/ɛ</a:t>
            </a:r>
          </a:p>
          <a:p>
            <a:pPr>
              <a:defRPr/>
            </a:pPr>
            <a:endParaRPr lang="en-US" sz="2000" b="1" dirty="0">
              <a:latin typeface="Times New Roman" panose="02020603050405020304" pitchFamily="18" charset="0"/>
              <a:cs typeface="Times New Roman" panose="02020603050405020304" pitchFamily="18" charset="0"/>
            </a:endParaRPr>
          </a:p>
          <a:p>
            <a:pPr marL="0" indent="0">
              <a:buNone/>
              <a:defRPr/>
            </a:pPr>
            <a:r>
              <a:rPr lang="en-US" sz="2000" b="1" dirty="0">
                <a:latin typeface="Times New Roman" panose="02020603050405020304" pitchFamily="18" charset="0"/>
                <a:cs typeface="Times New Roman" panose="02020603050405020304" pitchFamily="18" charset="0"/>
              </a:rPr>
              <a:t>Generate 0101010</a:t>
            </a:r>
          </a:p>
          <a:p>
            <a:pPr>
              <a:defRPr/>
            </a:pPr>
            <a:r>
              <a:rPr lang="en-US" sz="2000" dirty="0">
                <a:latin typeface="Times New Roman" panose="02020603050405020304" pitchFamily="18" charset="0"/>
                <a:cs typeface="Times New Roman" panose="02020603050405020304" pitchFamily="18" charset="0"/>
              </a:rPr>
              <a:t>S </a:t>
            </a:r>
            <a:r>
              <a:rPr lang="en-US" sz="2000" b="1" dirty="0">
                <a:latin typeface="Times New Roman" panose="02020603050405020304" pitchFamily="18" charset="0"/>
                <a:cs typeface="Times New Roman" panose="02020603050405020304" pitchFamily="18" charset="0"/>
              </a:rPr>
              <a:t>→ 0S0 [</a:t>
            </a:r>
            <a:r>
              <a:rPr lang="en-US" sz="2000" dirty="0">
                <a:latin typeface="Times New Roman" panose="02020603050405020304" pitchFamily="18" charset="0"/>
                <a:cs typeface="Times New Roman" panose="02020603050405020304" pitchFamily="18" charset="0"/>
              </a:rPr>
              <a:t>S </a:t>
            </a:r>
            <a:r>
              <a:rPr lang="en-US" sz="2000" b="1" dirty="0">
                <a:latin typeface="Times New Roman" panose="02020603050405020304" pitchFamily="18" charset="0"/>
                <a:cs typeface="Times New Roman" panose="02020603050405020304" pitchFamily="18" charset="0"/>
              </a:rPr>
              <a:t>→ 0S0 ]</a:t>
            </a:r>
          </a:p>
          <a:p>
            <a:pPr>
              <a:defRPr/>
            </a:pPr>
            <a:r>
              <a:rPr lang="en-US" sz="2000" dirty="0">
                <a:latin typeface="Times New Roman" panose="02020603050405020304" pitchFamily="18" charset="0"/>
                <a:cs typeface="Times New Roman" panose="02020603050405020304" pitchFamily="18" charset="0"/>
              </a:rPr>
              <a:t>S </a:t>
            </a:r>
            <a:r>
              <a:rPr lang="en-US" sz="2000" b="1" dirty="0">
                <a:latin typeface="Times New Roman" panose="02020603050405020304" pitchFamily="18" charset="0"/>
                <a:cs typeface="Times New Roman" panose="02020603050405020304" pitchFamily="18" charset="0"/>
              </a:rPr>
              <a:t>→ 01S10 [</a:t>
            </a:r>
            <a:r>
              <a:rPr lang="en-US" sz="2000" dirty="0">
                <a:latin typeface="Times New Roman" panose="02020603050405020304" pitchFamily="18" charset="0"/>
                <a:cs typeface="Times New Roman" panose="02020603050405020304" pitchFamily="18" charset="0"/>
              </a:rPr>
              <a:t>S </a:t>
            </a:r>
            <a:r>
              <a:rPr lang="en-US" sz="2000" b="1" dirty="0">
                <a:latin typeface="Times New Roman" panose="02020603050405020304" pitchFamily="18" charset="0"/>
                <a:cs typeface="Times New Roman" panose="02020603050405020304" pitchFamily="18" charset="0"/>
              </a:rPr>
              <a:t>→ 1S1 ]</a:t>
            </a:r>
          </a:p>
          <a:p>
            <a:pPr>
              <a:defRPr/>
            </a:pPr>
            <a:r>
              <a:rPr lang="en-US" sz="2000" dirty="0">
                <a:latin typeface="Times New Roman" panose="02020603050405020304" pitchFamily="18" charset="0"/>
                <a:cs typeface="Times New Roman" panose="02020603050405020304" pitchFamily="18" charset="0"/>
              </a:rPr>
              <a:t>S </a:t>
            </a:r>
            <a:r>
              <a:rPr lang="en-US" sz="2000" b="1" dirty="0">
                <a:latin typeface="Times New Roman" panose="02020603050405020304" pitchFamily="18" charset="0"/>
                <a:cs typeface="Times New Roman" panose="02020603050405020304" pitchFamily="18" charset="0"/>
              </a:rPr>
              <a:t>→ 010S010 [</a:t>
            </a:r>
            <a:r>
              <a:rPr lang="en-US" sz="2000" dirty="0">
                <a:latin typeface="Times New Roman" panose="02020603050405020304" pitchFamily="18" charset="0"/>
                <a:cs typeface="Times New Roman" panose="02020603050405020304" pitchFamily="18" charset="0"/>
              </a:rPr>
              <a:t>S </a:t>
            </a:r>
            <a:r>
              <a:rPr lang="en-US" sz="2000" b="1" dirty="0">
                <a:latin typeface="Times New Roman" panose="02020603050405020304" pitchFamily="18" charset="0"/>
                <a:cs typeface="Times New Roman" panose="02020603050405020304" pitchFamily="18" charset="0"/>
              </a:rPr>
              <a:t>→ 0S0 ]</a:t>
            </a:r>
          </a:p>
          <a:p>
            <a:pPr>
              <a:defRPr/>
            </a:pPr>
            <a:r>
              <a:rPr lang="en-US" sz="2000" dirty="0">
                <a:latin typeface="Times New Roman" panose="02020603050405020304" pitchFamily="18" charset="0"/>
                <a:cs typeface="Times New Roman" panose="02020603050405020304" pitchFamily="18" charset="0"/>
              </a:rPr>
              <a:t>S </a:t>
            </a:r>
            <a:r>
              <a:rPr lang="en-US" sz="2000" b="1" dirty="0">
                <a:latin typeface="Times New Roman" panose="02020603050405020304" pitchFamily="18" charset="0"/>
                <a:cs typeface="Times New Roman" panose="02020603050405020304" pitchFamily="18" charset="0"/>
              </a:rPr>
              <a:t>→ 0101010[</a:t>
            </a:r>
            <a:r>
              <a:rPr lang="en-US" sz="2000" dirty="0">
                <a:latin typeface="Times New Roman" panose="02020603050405020304" pitchFamily="18" charset="0"/>
                <a:cs typeface="Times New Roman" panose="02020603050405020304" pitchFamily="18" charset="0"/>
              </a:rPr>
              <a:t>S </a:t>
            </a:r>
            <a:r>
              <a:rPr lang="en-US" sz="2000" b="1" dirty="0">
                <a:latin typeface="Times New Roman" panose="02020603050405020304" pitchFamily="18" charset="0"/>
                <a:cs typeface="Times New Roman" panose="02020603050405020304" pitchFamily="18" charset="0"/>
              </a:rPr>
              <a:t>→ 1]</a:t>
            </a: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9407C9F-BF93-4504-8D4E-8F18C306993E}"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
        <p:nvSpPr>
          <p:cNvPr id="7" name="Title 1"/>
          <p:cNvSpPr txBox="1">
            <a:spLocks/>
          </p:cNvSpPr>
          <p:nvPr/>
        </p:nvSpPr>
        <p:spPr>
          <a:xfrm>
            <a:off x="1600200" y="0"/>
            <a:ext cx="7543800"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Examples of CFG</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E9044DAB-752F-9CD3-75EE-B3054353A397}"/>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48959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ircle(in)">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circle(in)">
                                      <p:cBhvr>
                                        <p:cTn id="22" dur="20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circle(in)">
                                      <p:cBhvr>
                                        <p:cTn id="27" dur="20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circle(in)">
                                      <p:cBhvr>
                                        <p:cTn id="32" dur="20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circle(in)">
                                      <p:cBhvr>
                                        <p:cTn id="37" dur="20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circle(in)">
                                      <p:cBhvr>
                                        <p:cTn id="42" dur="2000"/>
                                        <p:tgtEl>
                                          <p:spTgt spid="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circle(in)">
                                      <p:cBhvr>
                                        <p:cTn id="47" dur="2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altLang="en-US" sz="2200" b="1" dirty="0">
                <a:latin typeface="Times New Roman" panose="02020603050405020304" pitchFamily="18" charset="0"/>
                <a:cs typeface="Times New Roman" panose="02020603050405020304" pitchFamily="18" charset="0"/>
              </a:rPr>
              <a:t>Q2: </a:t>
            </a:r>
            <a:r>
              <a:rPr lang="en-US" altLang="en-US" sz="2200" dirty="0">
                <a:latin typeface="Times New Roman" panose="02020603050405020304" pitchFamily="18" charset="0"/>
                <a:cs typeface="Times New Roman" panose="02020603050405020304" pitchFamily="18" charset="0"/>
              </a:rPr>
              <a:t>Write CFG for regular expression r = 0*1(0+1)*</a:t>
            </a:r>
          </a:p>
          <a:p>
            <a:pPr marL="0" indent="0">
              <a:buNone/>
            </a:pPr>
            <a:endParaRPr 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r = 0*1(0+1)*</a:t>
            </a:r>
          </a:p>
          <a:p>
            <a:r>
              <a:rPr lang="en-US" altLang="en-US" sz="2000" dirty="0">
                <a:latin typeface="Times New Roman" panose="02020603050405020304" pitchFamily="18" charset="0"/>
                <a:cs typeface="Times New Roman" panose="02020603050405020304" pitchFamily="18" charset="0"/>
              </a:rPr>
              <a:t>0*   1    (0+1)*</a:t>
            </a:r>
          </a:p>
          <a:p>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A                   B</a:t>
            </a:r>
          </a:p>
          <a:p>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S</a:t>
            </a:r>
            <a:r>
              <a:rPr lang="en-US" altLang="en-US" sz="2000" b="1" dirty="0">
                <a:latin typeface="Times New Roman" panose="02020603050405020304" pitchFamily="18" charset="0"/>
                <a:cs typeface="Times New Roman" panose="02020603050405020304" pitchFamily="18" charset="0"/>
              </a:rPr>
              <a:t> →A1B</a:t>
            </a:r>
          </a:p>
          <a:p>
            <a:r>
              <a:rPr lang="en-US" altLang="en-US" sz="2000" b="1" dirty="0">
                <a:latin typeface="Times New Roman" panose="02020603050405020304" pitchFamily="18" charset="0"/>
                <a:cs typeface="Times New Roman" panose="02020603050405020304" pitchFamily="18" charset="0"/>
              </a:rPr>
              <a:t>A →0A/ɛ</a:t>
            </a:r>
          </a:p>
          <a:p>
            <a:r>
              <a:rPr lang="en-US" altLang="en-US" sz="2000" dirty="0">
                <a:latin typeface="Times New Roman" panose="02020603050405020304" pitchFamily="18" charset="0"/>
                <a:cs typeface="Times New Roman" panose="02020603050405020304" pitchFamily="18" charset="0"/>
              </a:rPr>
              <a:t>B</a:t>
            </a:r>
            <a:r>
              <a:rPr lang="en-US" altLang="en-US" sz="2000" b="1" dirty="0">
                <a:latin typeface="Times New Roman" panose="02020603050405020304" pitchFamily="18" charset="0"/>
                <a:cs typeface="Times New Roman" panose="02020603050405020304" pitchFamily="18" charset="0"/>
              </a:rPr>
              <a:t> →0B/1B/ɛ</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6A13643-C701-44F4-ADF6-B3F24CCD9F16}"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7" name="Title 1"/>
          <p:cNvSpPr txBox="1">
            <a:spLocks/>
          </p:cNvSpPr>
          <p:nvPr/>
        </p:nvSpPr>
        <p:spPr>
          <a:xfrm>
            <a:off x="1531938" y="0"/>
            <a:ext cx="7612062" cy="81716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Examples of CFG</a:t>
            </a:r>
          </a:p>
        </p:txBody>
      </p:sp>
      <p:sp>
        <p:nvSpPr>
          <p:cNvPr id="10" name="Left Brace 9"/>
          <p:cNvSpPr/>
          <p:nvPr/>
        </p:nvSpPr>
        <p:spPr>
          <a:xfrm rot="16200000">
            <a:off x="1073150" y="2514601"/>
            <a:ext cx="384175" cy="5334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1" name="Left Brace 10"/>
          <p:cNvSpPr/>
          <p:nvPr/>
        </p:nvSpPr>
        <p:spPr>
          <a:xfrm rot="16200000">
            <a:off x="2055812" y="2514601"/>
            <a:ext cx="384175" cy="5334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2" name="Footer Placeholder 12">
            <a:extLst>
              <a:ext uri="{FF2B5EF4-FFF2-40B4-BE49-F238E27FC236}">
                <a16:creationId xmlns:a16="http://schemas.microsoft.com/office/drawing/2014/main" id="{323F02CD-1ECD-5FD4-898C-5E44F348D22E}"/>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79793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circle(in)">
                                      <p:cBhvr>
                                        <p:cTn id="22" dur="20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circle(in)">
                                      <p:cBhvr>
                                        <p:cTn id="27" dur="20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circle(in)">
                                      <p:cBhvr>
                                        <p:cTn id="32" dur="20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circle(in)">
                                      <p:cBhvr>
                                        <p:cTn id="37"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213350"/>
          </a:xfrm>
        </p:spPr>
        <p:txBody>
          <a:bodyPr>
            <a:normAutofit lnSpcReduction="10000"/>
          </a:bodyPr>
          <a:lstStyle/>
          <a:p>
            <a:pPr marL="0" indent="0">
              <a:buNone/>
            </a:pPr>
            <a:r>
              <a:rPr lang="en-US" altLang="en-US" sz="2000" b="1" dirty="0">
                <a:latin typeface="Times New Roman" panose="02020603050405020304" pitchFamily="18" charset="0"/>
                <a:cs typeface="Times New Roman" panose="02020603050405020304" pitchFamily="18" charset="0"/>
              </a:rPr>
              <a:t>Q3: </a:t>
            </a:r>
            <a:r>
              <a:rPr lang="en-US" altLang="en-US" sz="2000" dirty="0">
                <a:latin typeface="Times New Roman" panose="02020603050405020304" pitchFamily="18" charset="0"/>
                <a:cs typeface="Times New Roman" panose="02020603050405020304" pitchFamily="18" charset="0"/>
              </a:rPr>
              <a:t>Write CFG for regular expression r = (</a:t>
            </a:r>
            <a:r>
              <a:rPr lang="en-US" altLang="en-US" sz="2000" dirty="0" err="1">
                <a:latin typeface="Times New Roman" panose="02020603050405020304" pitchFamily="18" charset="0"/>
                <a:cs typeface="Times New Roman" panose="02020603050405020304" pitchFamily="18" charset="0"/>
              </a:rPr>
              <a:t>a+b</a:t>
            </a:r>
            <a:r>
              <a:rPr lang="en-US" altLang="en-US" sz="2000" dirty="0">
                <a:latin typeface="Times New Roman" panose="02020603050405020304" pitchFamily="18" charset="0"/>
                <a:cs typeface="Times New Roman" panose="02020603050405020304" pitchFamily="18" charset="0"/>
              </a:rPr>
              <a:t>)*aa(</a:t>
            </a:r>
            <a:r>
              <a:rPr lang="en-US" altLang="en-US" sz="2000" dirty="0" err="1">
                <a:latin typeface="Times New Roman" panose="02020603050405020304" pitchFamily="18" charset="0"/>
                <a:cs typeface="Times New Roman" panose="02020603050405020304" pitchFamily="18" charset="0"/>
              </a:rPr>
              <a:t>a+b</a:t>
            </a:r>
            <a:r>
              <a:rPr lang="en-US" alt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S →</a:t>
            </a:r>
            <a:r>
              <a:rPr lang="en-US" altLang="en-US" sz="2000" b="1" dirty="0" err="1">
                <a:latin typeface="Times New Roman" panose="02020603050405020304" pitchFamily="18" charset="0"/>
                <a:cs typeface="Times New Roman" panose="02020603050405020304" pitchFamily="18" charset="0"/>
              </a:rPr>
              <a:t>AaaA</a:t>
            </a:r>
            <a:endParaRPr lang="en-US" altLang="en-US" sz="2000" b="1"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A →</a:t>
            </a:r>
            <a:r>
              <a:rPr lang="en-US" altLang="en-US" sz="2000" b="1" dirty="0" err="1">
                <a:latin typeface="Times New Roman" panose="02020603050405020304" pitchFamily="18" charset="0"/>
                <a:cs typeface="Times New Roman" panose="02020603050405020304" pitchFamily="18" charset="0"/>
              </a:rPr>
              <a:t>aA</a:t>
            </a:r>
            <a:r>
              <a:rPr lang="en-US" altLang="en-US" sz="2000" b="1" dirty="0">
                <a:latin typeface="Times New Roman" panose="02020603050405020304" pitchFamily="18" charset="0"/>
                <a:cs typeface="Times New Roman" panose="02020603050405020304" pitchFamily="18" charset="0"/>
              </a:rPr>
              <a:t>/ɛ</a:t>
            </a:r>
          </a:p>
          <a:p>
            <a:r>
              <a:rPr lang="en-US" altLang="en-US" sz="2000" b="1" dirty="0">
                <a:latin typeface="Times New Roman" panose="02020603050405020304" pitchFamily="18" charset="0"/>
                <a:cs typeface="Times New Roman" panose="02020603050405020304" pitchFamily="18" charset="0"/>
              </a:rPr>
              <a:t>A →</a:t>
            </a:r>
            <a:r>
              <a:rPr lang="en-US" altLang="en-US" sz="2000" b="1" dirty="0" err="1">
                <a:latin typeface="Times New Roman" panose="02020603050405020304" pitchFamily="18" charset="0"/>
                <a:cs typeface="Times New Roman" panose="02020603050405020304" pitchFamily="18" charset="0"/>
              </a:rPr>
              <a:t>bA</a:t>
            </a:r>
            <a:r>
              <a:rPr lang="en-US" altLang="en-US" sz="2000" b="1" dirty="0">
                <a:latin typeface="Times New Roman" panose="02020603050405020304" pitchFamily="18" charset="0"/>
                <a:cs typeface="Times New Roman" panose="02020603050405020304" pitchFamily="18" charset="0"/>
              </a:rPr>
              <a:t>/ɛ</a:t>
            </a:r>
          </a:p>
          <a:p>
            <a:endParaRPr lang="en-US" altLang="en-US" sz="2000" b="1" dirty="0">
              <a:latin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cs typeface="Times New Roman" panose="02020603050405020304" pitchFamily="18" charset="0"/>
              </a:rPr>
              <a:t>Q4: </a:t>
            </a:r>
            <a:r>
              <a:rPr lang="en-US" altLang="en-US" sz="2000" dirty="0">
                <a:latin typeface="Times New Roman" panose="02020603050405020304" pitchFamily="18" charset="0"/>
                <a:cs typeface="Times New Roman" panose="02020603050405020304" pitchFamily="18" charset="0"/>
              </a:rPr>
              <a:t>Set of </a:t>
            </a:r>
            <a:r>
              <a:rPr lang="en-US" altLang="en-US" sz="2000" dirty="0" smtClean="0">
                <a:latin typeface="Times New Roman" panose="02020603050405020304" pitchFamily="18" charset="0"/>
                <a:cs typeface="Times New Roman" panose="02020603050405020304" pitchFamily="18" charset="0"/>
              </a:rPr>
              <a:t>all </a:t>
            </a:r>
            <a:r>
              <a:rPr lang="en-US" altLang="en-US" sz="2000" dirty="0">
                <a:latin typeface="Times New Roman" panose="02020603050405020304" pitchFamily="18" charset="0"/>
                <a:cs typeface="Times New Roman" panose="02020603050405020304" pitchFamily="18" charset="0"/>
              </a:rPr>
              <a:t>strings of length 2</a:t>
            </a:r>
          </a:p>
          <a:p>
            <a:r>
              <a:rPr lang="en-US" altLang="en-US" sz="2000" dirty="0">
                <a:latin typeface="Times New Roman" panose="02020603050405020304" pitchFamily="18" charset="0"/>
                <a:cs typeface="Times New Roman" panose="02020603050405020304" pitchFamily="18" charset="0"/>
              </a:rPr>
              <a:t>R=(</a:t>
            </a:r>
            <a:r>
              <a:rPr lang="en-US" altLang="en-US" sz="2000" dirty="0" err="1">
                <a:latin typeface="Times New Roman" panose="02020603050405020304" pitchFamily="18" charset="0"/>
                <a:cs typeface="Times New Roman" panose="02020603050405020304" pitchFamily="18" charset="0"/>
              </a:rPr>
              <a:t>a+b</a:t>
            </a: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a+b</a:t>
            </a:r>
            <a:r>
              <a:rPr lang="en-US" altLang="en-US" sz="2000" dirty="0">
                <a:latin typeface="Times New Roman" panose="02020603050405020304" pitchFamily="18" charset="0"/>
                <a:cs typeface="Times New Roman" panose="02020603050405020304" pitchFamily="18" charset="0"/>
              </a:rPr>
              <a:t>)</a:t>
            </a:r>
          </a:p>
          <a:p>
            <a:r>
              <a:rPr lang="en-US" altLang="en-US" sz="2000" dirty="0">
                <a:latin typeface="Times New Roman" panose="02020603050405020304" pitchFamily="18" charset="0"/>
                <a:cs typeface="Times New Roman" panose="02020603050405020304" pitchFamily="18" charset="0"/>
              </a:rPr>
              <a:t>S</a:t>
            </a:r>
            <a:r>
              <a:rPr lang="en-US" altLang="en-US" sz="2000" b="1" dirty="0">
                <a:latin typeface="Times New Roman" panose="02020603050405020304" pitchFamily="18" charset="0"/>
                <a:cs typeface="Times New Roman" panose="02020603050405020304" pitchFamily="18" charset="0"/>
              </a:rPr>
              <a:t> →AA</a:t>
            </a:r>
          </a:p>
          <a:p>
            <a:r>
              <a:rPr lang="en-US" altLang="en-US" sz="2000" b="1" dirty="0">
                <a:latin typeface="Times New Roman" panose="02020603050405020304" pitchFamily="18" charset="0"/>
                <a:cs typeface="Times New Roman" panose="02020603050405020304" pitchFamily="18" charset="0"/>
              </a:rPr>
              <a:t>A →a/b</a:t>
            </a:r>
          </a:p>
          <a:p>
            <a:endParaRPr lang="en-US" alt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Q.5</a:t>
            </a:r>
            <a:r>
              <a:rPr lang="en-US" sz="2000" dirty="0">
                <a:latin typeface="Times New Roman" panose="02020603050405020304" pitchFamily="18" charset="0"/>
                <a:cs typeface="Times New Roman" panose="02020603050405020304" pitchFamily="18" charset="0"/>
              </a:rPr>
              <a:t> Let Σ = {(, )} and let L = {w ∈ Σ* | w is a string of balanced parentheses }</a:t>
            </a:r>
          </a:p>
          <a:p>
            <a:r>
              <a:rPr lang="en-IN" sz="2000" dirty="0">
                <a:latin typeface="Times New Roman" panose="02020603050405020304" pitchFamily="18" charset="0"/>
                <a:cs typeface="Times New Roman" panose="02020603050405020304" pitchFamily="18" charset="0"/>
              </a:rPr>
              <a:t>S → (S)S | </a:t>
            </a:r>
            <a:r>
              <a:rPr lang="el-GR" sz="2000" dirty="0">
                <a:latin typeface="Times New Roman" panose="02020603050405020304" pitchFamily="18" charset="0"/>
                <a:cs typeface="Times New Roman" panose="02020603050405020304" pitchFamily="18" charset="0"/>
              </a:rPr>
              <a:t>ε </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Q.6</a:t>
            </a:r>
            <a:r>
              <a:rPr lang="en-US" sz="2000" dirty="0">
                <a:latin typeface="Times New Roman" panose="02020603050405020304" pitchFamily="18" charset="0"/>
                <a:cs typeface="Times New Roman" panose="02020603050405020304" pitchFamily="18" charset="0"/>
              </a:rPr>
              <a:t> Let Σ = {a, b} and let L = {w ∈ Σ* | w is a palindrome }</a:t>
            </a:r>
          </a:p>
          <a:p>
            <a:r>
              <a:rPr lang="pt-BR" sz="2000" dirty="0">
                <a:latin typeface="Times New Roman" panose="02020603050405020304" pitchFamily="18" charset="0"/>
                <a:cs typeface="Times New Roman" panose="02020603050405020304" pitchFamily="18" charset="0"/>
              </a:rPr>
              <a:t>S → ε | a | b | aSa | bSb </a:t>
            </a: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4D4055E-7D79-403C-8DD1-807815A9B336}"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7" name="Title 1"/>
          <p:cNvSpPr txBox="1">
            <a:spLocks/>
          </p:cNvSpPr>
          <p:nvPr/>
        </p:nvSpPr>
        <p:spPr>
          <a:xfrm>
            <a:off x="1676400" y="0"/>
            <a:ext cx="7467600"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cs typeface="Times New Roman" panose="02020603050405020304" pitchFamily="18" charset="0"/>
              </a:rPr>
              <a:t>Examples of CFG  </a:t>
            </a:r>
          </a:p>
        </p:txBody>
      </p:sp>
      <p:sp>
        <p:nvSpPr>
          <p:cNvPr id="2" name="Footer Placeholder 12">
            <a:extLst>
              <a:ext uri="{FF2B5EF4-FFF2-40B4-BE49-F238E27FC236}">
                <a16:creationId xmlns:a16="http://schemas.microsoft.com/office/drawing/2014/main" id="{353153F6-4543-5F3B-F140-D34064E15894}"/>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29478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circle(in)">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circle(in)">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circle(in)">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circle(in)">
                                      <p:cBhvr>
                                        <p:cTn id="42" dur="20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circle(in)">
                                      <p:cBhvr>
                                        <p:cTn id="47" dur="20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circle(in)">
                                      <p:cBhvr>
                                        <p:cTn id="52" dur="2000"/>
                                        <p:tgtEl>
                                          <p:spTgt spid="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animEffect transition="in" filter="circle(in)">
                                      <p:cBhvr>
                                        <p:cTn id="57" dur="2000"/>
                                        <p:tgtEl>
                                          <p:spTgt spid="3">
                                            <p:txEl>
                                              <p:pRg st="13" end="1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3">
                                            <p:txEl>
                                              <p:pRg st="14" end="14"/>
                                            </p:txEl>
                                          </p:spTgt>
                                        </p:tgtEl>
                                        <p:attrNameLst>
                                          <p:attrName>style.visibility</p:attrName>
                                        </p:attrNameLst>
                                      </p:cBhvr>
                                      <p:to>
                                        <p:strVal val="visible"/>
                                      </p:to>
                                    </p:set>
                                    <p:animEffect transition="in" filter="circle(in)">
                                      <p:cBhvr>
                                        <p:cTn id="62" dur="20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95400"/>
            <a:ext cx="8229600" cy="4876800"/>
          </a:xfrm>
        </p:spPr>
        <p:txBody>
          <a:bodyPr>
            <a:noAutofit/>
          </a:bodyPr>
          <a:lstStyle/>
          <a:p>
            <a:pPr marL="0" indent="0">
              <a:buNone/>
            </a:pPr>
            <a:r>
              <a:rPr lang="en-US" altLang="en-US" sz="2000" b="1" dirty="0">
                <a:latin typeface="Times New Roman" panose="02020603050405020304" pitchFamily="18" charset="0"/>
                <a:cs typeface="Times New Roman" panose="02020603050405020304" pitchFamily="18" charset="0"/>
              </a:rPr>
              <a:t>Q.7:</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Set of all strings of L=(</a:t>
            </a:r>
            <a:r>
              <a:rPr lang="en-US" altLang="en-US" sz="2000" b="1" dirty="0" err="1">
                <a:latin typeface="Times New Roman" panose="02020603050405020304" pitchFamily="18" charset="0"/>
                <a:cs typeface="Times New Roman" panose="02020603050405020304" pitchFamily="18" charset="0"/>
              </a:rPr>
              <a:t>a+b</a:t>
            </a:r>
            <a:r>
              <a:rPr lang="en-US" altLang="en-US" sz="2000" b="1"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S →</a:t>
            </a:r>
            <a:r>
              <a:rPr lang="en-US" sz="2000" dirty="0" err="1">
                <a:latin typeface="Times New Roman" panose="02020603050405020304" pitchFamily="18" charset="0"/>
                <a:cs typeface="Times New Roman" panose="02020603050405020304" pitchFamily="18" charset="0"/>
              </a:rPr>
              <a:t>aS</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bS</a:t>
            </a:r>
            <a:r>
              <a:rPr lang="en-US" sz="2000" dirty="0">
                <a:latin typeface="Times New Roman" panose="02020603050405020304" pitchFamily="18" charset="0"/>
                <a:cs typeface="Times New Roman" panose="02020603050405020304" pitchFamily="18" charset="0"/>
              </a:rPr>
              <a:t>/ɛ</a:t>
            </a:r>
          </a:p>
          <a:p>
            <a:endParaRPr lang="en-US" sz="2000" dirty="0">
              <a:latin typeface="Times New Roman" panose="02020603050405020304" pitchFamily="18" charset="0"/>
              <a:cs typeface="Times New Roman" panose="02020603050405020304" pitchFamily="18" charset="0"/>
            </a:endParaRPr>
          </a:p>
          <a:p>
            <a:pPr marL="0" indent="0">
              <a:buFontTx/>
              <a:buNone/>
              <a:defRPr/>
            </a:pPr>
            <a:r>
              <a:rPr lang="en-US" sz="2000" b="1" dirty="0">
                <a:latin typeface="Times New Roman" panose="02020603050405020304" pitchFamily="18" charset="0"/>
                <a:cs typeface="Times New Roman" panose="02020603050405020304" pitchFamily="18" charset="0"/>
              </a:rPr>
              <a:t>Q.8: Set of all strings of length at least 2</a:t>
            </a:r>
          </a:p>
          <a:p>
            <a:pPr>
              <a:defRPr/>
            </a:pPr>
            <a:r>
              <a:rPr lang="en-US" sz="2000" dirty="0">
                <a:latin typeface="Times New Roman" panose="02020603050405020304" pitchFamily="18" charset="0"/>
                <a:cs typeface="Times New Roman" panose="02020603050405020304" pitchFamily="18" charset="0"/>
              </a:rPr>
              <a:t>R= (</a:t>
            </a:r>
            <a:r>
              <a:rPr lang="en-US" sz="2000" dirty="0" err="1">
                <a:latin typeface="Times New Roman" panose="02020603050405020304" pitchFamily="18" charset="0"/>
                <a:cs typeface="Times New Roman" panose="02020603050405020304" pitchFamily="18" charset="0"/>
              </a:rPr>
              <a:t>a+b</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a+b</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a+b</a:t>
            </a:r>
            <a:r>
              <a:rPr lang="en-US" sz="2000" dirty="0">
                <a:latin typeface="Times New Roman" panose="02020603050405020304" pitchFamily="18" charset="0"/>
                <a:cs typeface="Times New Roman" panose="02020603050405020304" pitchFamily="18" charset="0"/>
              </a:rPr>
              <a:t>)*</a:t>
            </a:r>
          </a:p>
          <a:p>
            <a:pPr>
              <a:defRPr/>
            </a:pPr>
            <a:r>
              <a:rPr lang="en-US" sz="2000" dirty="0">
                <a:latin typeface="Times New Roman" panose="02020603050405020304" pitchFamily="18" charset="0"/>
                <a:cs typeface="Times New Roman" panose="02020603050405020304" pitchFamily="18" charset="0"/>
              </a:rPr>
              <a:t>S →AAB</a:t>
            </a:r>
          </a:p>
          <a:p>
            <a:pPr>
              <a:defRPr/>
            </a:pPr>
            <a:r>
              <a:rPr lang="en-US" sz="2000" dirty="0">
                <a:latin typeface="Times New Roman" panose="02020603050405020304" pitchFamily="18" charset="0"/>
                <a:cs typeface="Times New Roman" panose="02020603050405020304" pitchFamily="18" charset="0"/>
              </a:rPr>
              <a:t>A →a/b</a:t>
            </a:r>
          </a:p>
          <a:p>
            <a:pPr>
              <a:defRPr/>
            </a:pPr>
            <a:r>
              <a:rPr lang="en-US" sz="2000" dirty="0">
                <a:latin typeface="Times New Roman" panose="02020603050405020304" pitchFamily="18" charset="0"/>
                <a:cs typeface="Times New Roman" panose="02020603050405020304" pitchFamily="18" charset="0"/>
              </a:rPr>
              <a:t>B →</a:t>
            </a:r>
            <a:r>
              <a:rPr lang="en-US" sz="2000" dirty="0" err="1">
                <a:latin typeface="Times New Roman" panose="02020603050405020304" pitchFamily="18" charset="0"/>
                <a:cs typeface="Times New Roman" panose="02020603050405020304" pitchFamily="18" charset="0"/>
              </a:rPr>
              <a:t>aB</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bB</a:t>
            </a:r>
            <a:r>
              <a:rPr lang="en-US" sz="2000" dirty="0">
                <a:latin typeface="Times New Roman" panose="02020603050405020304" pitchFamily="18" charset="0"/>
                <a:cs typeface="Times New Roman" panose="02020603050405020304" pitchFamily="18" charset="0"/>
              </a:rPr>
              <a:t>/ɛ</a:t>
            </a:r>
          </a:p>
          <a:p>
            <a:pPr>
              <a:defRPr/>
            </a:pPr>
            <a:endParaRPr lang="en-US" sz="2000" dirty="0">
              <a:latin typeface="Times New Roman" panose="02020603050405020304" pitchFamily="18" charset="0"/>
              <a:cs typeface="Times New Roman" panose="02020603050405020304" pitchFamily="18" charset="0"/>
            </a:endParaRPr>
          </a:p>
          <a:p>
            <a:pPr marL="0" indent="0">
              <a:buFontTx/>
              <a:buNone/>
              <a:defRPr/>
            </a:pPr>
            <a:r>
              <a:rPr lang="en-US" sz="2000" b="1" dirty="0">
                <a:latin typeface="Times New Roman" panose="02020603050405020304" pitchFamily="18" charset="0"/>
                <a:cs typeface="Times New Roman" panose="02020603050405020304" pitchFamily="18" charset="0"/>
              </a:rPr>
              <a:t>Q.9: Set of all strings of length at most 2</a:t>
            </a:r>
          </a:p>
          <a:p>
            <a:pPr>
              <a:defRPr/>
            </a:pPr>
            <a:r>
              <a:rPr lang="en-US" sz="2000" dirty="0">
                <a:latin typeface="Times New Roman" panose="02020603050405020304" pitchFamily="18" charset="0"/>
                <a:cs typeface="Times New Roman" panose="02020603050405020304" pitchFamily="18" charset="0"/>
              </a:rPr>
              <a:t>R=(</a:t>
            </a:r>
            <a:r>
              <a:rPr lang="en-US" sz="2000" dirty="0" err="1">
                <a:latin typeface="Times New Roman" panose="02020603050405020304" pitchFamily="18" charset="0"/>
                <a:cs typeface="Times New Roman" panose="02020603050405020304" pitchFamily="18" charset="0"/>
              </a:rPr>
              <a:t>a+b+ɛ</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a+b+ɛ</a:t>
            </a:r>
            <a:r>
              <a:rPr lang="en-US" sz="2000" dirty="0">
                <a:latin typeface="Times New Roman" panose="02020603050405020304" pitchFamily="18" charset="0"/>
                <a:cs typeface="Times New Roman" panose="02020603050405020304" pitchFamily="18" charset="0"/>
              </a:rPr>
              <a:t>)</a:t>
            </a:r>
          </a:p>
          <a:p>
            <a:pPr>
              <a:defRPr/>
            </a:pPr>
            <a:r>
              <a:rPr lang="en-US" sz="2000" dirty="0">
                <a:latin typeface="Times New Roman" panose="02020603050405020304" pitchFamily="18" charset="0"/>
                <a:cs typeface="Times New Roman" panose="02020603050405020304" pitchFamily="18" charset="0"/>
              </a:rPr>
              <a:t>S →AA</a:t>
            </a:r>
          </a:p>
          <a:p>
            <a:pPr>
              <a:defRPr/>
            </a:pPr>
            <a:r>
              <a:rPr lang="en-US" sz="2000" dirty="0">
                <a:latin typeface="Times New Roman" panose="02020603050405020304" pitchFamily="18" charset="0"/>
                <a:cs typeface="Times New Roman" panose="02020603050405020304" pitchFamily="18" charset="0"/>
              </a:rPr>
              <a:t>A →a/b/ɛ</a:t>
            </a:r>
          </a:p>
          <a:p>
            <a:pPr>
              <a:defRPr/>
            </a:pPr>
            <a:endParaRPr lang="en-US" sz="2000" b="1"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13CC23B-720C-45D9-A276-4407219A4F74}" type="datetime1">
              <a:rPr lang="en-US" smtClean="0"/>
              <a:t>3/20/2026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7" name="Title 1"/>
          <p:cNvSpPr txBox="1">
            <a:spLocks/>
          </p:cNvSpPr>
          <p:nvPr/>
        </p:nvSpPr>
        <p:spPr>
          <a:xfrm>
            <a:off x="1600200" y="0"/>
            <a:ext cx="7543800" cy="8382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Examples of CFG</a:t>
            </a:r>
          </a:p>
        </p:txBody>
      </p:sp>
      <p:sp>
        <p:nvSpPr>
          <p:cNvPr id="2" name="Footer Placeholder 12">
            <a:extLst>
              <a:ext uri="{FF2B5EF4-FFF2-40B4-BE49-F238E27FC236}">
                <a16:creationId xmlns:a16="http://schemas.microsoft.com/office/drawing/2014/main" id="{12C4E1EB-4240-27D5-5E5D-75353A819587}"/>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67351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circle(in)">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circle(in)">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circle(in)">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circle(in)">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circle(in)">
                                      <p:cBhvr>
                                        <p:cTn id="42" dur="20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circle(in)">
                                      <p:cBhvr>
                                        <p:cTn id="47" dur="20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circle(in)">
                                      <p:cBhvr>
                                        <p:cTn id="52" dur="2000"/>
                                        <p:tgtEl>
                                          <p:spTgt spid="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circle(in)">
                                      <p:cBhvr>
                                        <p:cTn id="57" dur="2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fontScale="92500" lnSpcReduction="10000"/>
          </a:bodyPr>
          <a:lstStyle/>
          <a:p>
            <a:pPr marL="0" indent="0">
              <a:buFontTx/>
              <a:buNone/>
              <a:defRPr/>
            </a:pPr>
            <a:r>
              <a:rPr lang="en-US" sz="2000" b="1" dirty="0">
                <a:latin typeface="Times New Roman" panose="02020603050405020304" pitchFamily="18" charset="0"/>
                <a:cs typeface="Times New Roman" panose="02020603050405020304" pitchFamily="18" charset="0"/>
              </a:rPr>
              <a:t>Q.10: For R= a(</a:t>
            </a:r>
            <a:r>
              <a:rPr lang="en-US" sz="2000" b="1" dirty="0" err="1">
                <a:latin typeface="Times New Roman" panose="02020603050405020304" pitchFamily="18" charset="0"/>
                <a:cs typeface="Times New Roman" panose="02020603050405020304" pitchFamily="18" charset="0"/>
              </a:rPr>
              <a:t>a+b</a:t>
            </a:r>
            <a:r>
              <a:rPr lang="en-US" sz="2000" b="1" dirty="0">
                <a:latin typeface="Times New Roman" panose="02020603050405020304" pitchFamily="18" charset="0"/>
                <a:cs typeface="Times New Roman" panose="02020603050405020304" pitchFamily="18" charset="0"/>
              </a:rPr>
              <a:t>)*b</a:t>
            </a:r>
          </a:p>
          <a:p>
            <a:pPr>
              <a:defRPr/>
            </a:pPr>
            <a:r>
              <a:rPr lang="en-US" sz="2000" dirty="0">
                <a:latin typeface="Times New Roman" panose="02020603050405020304" pitchFamily="18" charset="0"/>
                <a:cs typeface="Times New Roman" panose="02020603050405020304" pitchFamily="18" charset="0"/>
              </a:rPr>
              <a:t>S →</a:t>
            </a:r>
            <a:r>
              <a:rPr lang="en-US" sz="2000" dirty="0" err="1">
                <a:latin typeface="Times New Roman" panose="02020603050405020304" pitchFamily="18" charset="0"/>
                <a:cs typeface="Times New Roman" panose="02020603050405020304" pitchFamily="18" charset="0"/>
              </a:rPr>
              <a:t>aAb</a:t>
            </a:r>
            <a:endParaRPr lang="en-US" sz="20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A →</a:t>
            </a:r>
            <a:r>
              <a:rPr lang="en-US" sz="2000" dirty="0" err="1">
                <a:latin typeface="Times New Roman" panose="02020603050405020304" pitchFamily="18" charset="0"/>
                <a:cs typeface="Times New Roman" panose="02020603050405020304" pitchFamily="18" charset="0"/>
              </a:rPr>
              <a:t>aA</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bA</a:t>
            </a:r>
            <a:r>
              <a:rPr lang="en-US" sz="2000" dirty="0">
                <a:latin typeface="Times New Roman" panose="02020603050405020304" pitchFamily="18" charset="0"/>
                <a:cs typeface="Times New Roman" panose="02020603050405020304" pitchFamily="18" charset="0"/>
              </a:rPr>
              <a:t>/ɛ</a:t>
            </a:r>
          </a:p>
          <a:p>
            <a:pPr>
              <a:defRPr/>
            </a:pPr>
            <a:endParaRPr lang="en-US" sz="2000" b="1" dirty="0">
              <a:latin typeface="Times New Roman" panose="02020603050405020304" pitchFamily="18" charset="0"/>
              <a:cs typeface="Times New Roman" panose="02020603050405020304" pitchFamily="18" charset="0"/>
            </a:endParaRPr>
          </a:p>
          <a:p>
            <a:pPr marL="0" indent="0">
              <a:buNone/>
              <a:defRPr/>
            </a:pPr>
            <a:r>
              <a:rPr lang="en-US" sz="2000" b="1" dirty="0">
                <a:latin typeface="Times New Roman" panose="02020603050405020304" pitchFamily="18" charset="0"/>
                <a:cs typeface="Times New Roman" panose="02020603050405020304" pitchFamily="18" charset="0"/>
              </a:rPr>
              <a:t>Q.11:</a:t>
            </a:r>
            <a:r>
              <a:rPr lang="en-US" sz="2000" b="1" dirty="0">
                <a:solidFill>
                  <a:srgbClr val="333333"/>
                </a:solidFill>
                <a:latin typeface="Times New Roman" panose="02020603050405020304" pitchFamily="18" charset="0"/>
                <a:cs typeface="Times New Roman" panose="02020603050405020304" pitchFamily="18" charset="0"/>
              </a:rPr>
              <a:t>Construct a CFG for the regular expression (0+1)*</a:t>
            </a:r>
          </a:p>
          <a:p>
            <a:pPr marL="0" indent="0" algn="just">
              <a:buNone/>
            </a:pPr>
            <a:r>
              <a:rPr lang="en-US" sz="2000" dirty="0">
                <a:latin typeface="Times New Roman" panose="02020603050405020304" pitchFamily="18" charset="0"/>
                <a:cs typeface="Times New Roman" panose="02020603050405020304" pitchFamily="18" charset="0"/>
              </a:rPr>
              <a:t>The CFG can be given by,</a:t>
            </a:r>
          </a:p>
          <a:p>
            <a:pPr marL="0" indent="0" algn="just">
              <a:buNone/>
            </a:pPr>
            <a:r>
              <a:rPr lang="en-US" sz="2000" dirty="0">
                <a:latin typeface="Times New Roman" panose="02020603050405020304" pitchFamily="18" charset="0"/>
                <a:cs typeface="Times New Roman" panose="02020603050405020304" pitchFamily="18" charset="0"/>
              </a:rPr>
              <a:t>Production rule (P):  </a:t>
            </a:r>
          </a:p>
          <a:p>
            <a:pPr algn="just"/>
            <a:r>
              <a:rPr lang="en-US" sz="2000" dirty="0">
                <a:latin typeface="Times New Roman" panose="02020603050405020304" pitchFamily="18" charset="0"/>
                <a:cs typeface="Times New Roman" panose="02020603050405020304" pitchFamily="18" charset="0"/>
              </a:rPr>
              <a:t>S → 0S | 1S  </a:t>
            </a:r>
          </a:p>
          <a:p>
            <a:pPr algn="just"/>
            <a:r>
              <a:rPr lang="en-US" sz="2000" dirty="0">
                <a:latin typeface="Times New Roman" panose="02020603050405020304" pitchFamily="18" charset="0"/>
                <a:cs typeface="Times New Roman" panose="02020603050405020304" pitchFamily="18" charset="0"/>
              </a:rPr>
              <a:t>S → ε  </a:t>
            </a:r>
          </a:p>
          <a:p>
            <a:pPr marL="0" indent="0">
              <a:buNone/>
              <a:defRPr/>
            </a:pPr>
            <a:endParaRPr lang="en-US" sz="2000" b="1" dirty="0">
              <a:latin typeface="Times New Roman" panose="02020603050405020304" pitchFamily="18" charset="0"/>
              <a:cs typeface="Times New Roman" panose="02020603050405020304" pitchFamily="18" charset="0"/>
            </a:endParaRPr>
          </a:p>
          <a:p>
            <a:pPr marL="0" indent="0">
              <a:buNone/>
              <a:defRPr/>
            </a:pPr>
            <a:r>
              <a:rPr lang="en-US" sz="2100" b="1" dirty="0">
                <a:solidFill>
                  <a:srgbClr val="333333"/>
                </a:solidFill>
                <a:latin typeface="Times New Roman" panose="02020603050405020304" pitchFamily="18" charset="0"/>
                <a:cs typeface="Times New Roman" panose="02020603050405020304" pitchFamily="18" charset="0"/>
              </a:rPr>
              <a:t>Q.12:Construct a CFG for a language L = {</a:t>
            </a:r>
            <a:r>
              <a:rPr lang="en-US" sz="2100" b="1" dirty="0" err="1">
                <a:solidFill>
                  <a:srgbClr val="333333"/>
                </a:solidFill>
                <a:latin typeface="Times New Roman" panose="02020603050405020304" pitchFamily="18" charset="0"/>
                <a:cs typeface="Times New Roman" panose="02020603050405020304" pitchFamily="18" charset="0"/>
              </a:rPr>
              <a:t>wcwR</a:t>
            </a:r>
            <a:r>
              <a:rPr lang="en-US" sz="2100" b="1" dirty="0">
                <a:solidFill>
                  <a:srgbClr val="333333"/>
                </a:solidFill>
                <a:latin typeface="Times New Roman" panose="02020603050405020304" pitchFamily="18" charset="0"/>
                <a:cs typeface="Times New Roman" panose="02020603050405020304" pitchFamily="18" charset="0"/>
              </a:rPr>
              <a:t> | where w € (a, b)*}.</a:t>
            </a:r>
          </a:p>
          <a:p>
            <a:pPr algn="just"/>
            <a:r>
              <a:rPr lang="en-US" sz="2100" dirty="0">
                <a:solidFill>
                  <a:srgbClr val="333333"/>
                </a:solidFill>
                <a:latin typeface="Times New Roman" panose="02020603050405020304" pitchFamily="18" charset="0"/>
                <a:cs typeface="Times New Roman" panose="02020603050405020304" pitchFamily="18" charset="0"/>
              </a:rPr>
              <a:t>S → </a:t>
            </a:r>
            <a:r>
              <a:rPr lang="en-US" sz="2100" dirty="0" err="1">
                <a:solidFill>
                  <a:srgbClr val="333333"/>
                </a:solidFill>
                <a:latin typeface="Times New Roman" panose="02020603050405020304" pitchFamily="18" charset="0"/>
                <a:cs typeface="Times New Roman" panose="02020603050405020304" pitchFamily="18" charset="0"/>
              </a:rPr>
              <a:t>aSa</a:t>
            </a:r>
            <a:r>
              <a:rPr lang="en-US" sz="2100" dirty="0">
                <a:solidFill>
                  <a:srgbClr val="333333"/>
                </a:solidFill>
                <a:latin typeface="Times New Roman" panose="02020603050405020304" pitchFamily="18" charset="0"/>
                <a:cs typeface="Times New Roman" panose="02020603050405020304" pitchFamily="18" charset="0"/>
              </a:rPr>
              <a:t>    rule 1  </a:t>
            </a:r>
          </a:p>
          <a:p>
            <a:pPr algn="just"/>
            <a:r>
              <a:rPr lang="en-US" sz="2100" dirty="0">
                <a:solidFill>
                  <a:srgbClr val="333333"/>
                </a:solidFill>
                <a:latin typeface="Times New Roman" panose="02020603050405020304" pitchFamily="18" charset="0"/>
                <a:cs typeface="Times New Roman" panose="02020603050405020304" pitchFamily="18" charset="0"/>
              </a:rPr>
              <a:t>S → </a:t>
            </a:r>
            <a:r>
              <a:rPr lang="en-US" sz="2100" dirty="0" err="1">
                <a:solidFill>
                  <a:srgbClr val="333333"/>
                </a:solidFill>
                <a:latin typeface="Times New Roman" panose="02020603050405020304" pitchFamily="18" charset="0"/>
                <a:cs typeface="Times New Roman" panose="02020603050405020304" pitchFamily="18" charset="0"/>
              </a:rPr>
              <a:t>bSb</a:t>
            </a:r>
            <a:r>
              <a:rPr lang="en-US" sz="2100" dirty="0">
                <a:solidFill>
                  <a:srgbClr val="333333"/>
                </a:solidFill>
                <a:latin typeface="Times New Roman" panose="02020603050405020304" pitchFamily="18" charset="0"/>
                <a:cs typeface="Times New Roman" panose="02020603050405020304" pitchFamily="18" charset="0"/>
              </a:rPr>
              <a:t>   rule 2  </a:t>
            </a:r>
          </a:p>
          <a:p>
            <a:pPr algn="just"/>
            <a:r>
              <a:rPr lang="en-US" sz="2100" dirty="0">
                <a:solidFill>
                  <a:srgbClr val="333333"/>
                </a:solidFill>
                <a:latin typeface="Times New Roman" panose="02020603050405020304" pitchFamily="18" charset="0"/>
                <a:cs typeface="Times New Roman" panose="02020603050405020304" pitchFamily="18" charset="0"/>
              </a:rPr>
              <a:t>S → c       rule 3  </a:t>
            </a:r>
          </a:p>
          <a:p>
            <a:pPr marL="0" indent="0">
              <a:buNone/>
              <a:defRPr/>
            </a:pPr>
            <a:endParaRPr lang="en-US" sz="2100" dirty="0">
              <a:solidFill>
                <a:srgbClr val="333333"/>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4C29D08-EE1D-4F38-AEB5-622CBE4BD7DE}"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
        <p:nvSpPr>
          <p:cNvPr id="7" name="Title 1"/>
          <p:cNvSpPr txBox="1">
            <a:spLocks/>
          </p:cNvSpPr>
          <p:nvPr/>
        </p:nvSpPr>
        <p:spPr>
          <a:xfrm>
            <a:off x="1752600" y="0"/>
            <a:ext cx="7391400"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Examples of CFG</a:t>
            </a:r>
          </a:p>
        </p:txBody>
      </p:sp>
      <p:sp>
        <p:nvSpPr>
          <p:cNvPr id="2" name="Footer Placeholder 12">
            <a:extLst>
              <a:ext uri="{FF2B5EF4-FFF2-40B4-BE49-F238E27FC236}">
                <a16:creationId xmlns:a16="http://schemas.microsoft.com/office/drawing/2014/main" id="{8874AFE6-B8D8-44E2-6BC7-A9F3465B19AC}"/>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93214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circle(in)">
                                      <p:cBhvr>
                                        <p:cTn id="7" dur="20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ircle(in)">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circle(in)">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circle(in)">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circle(in)">
                                      <p:cBhvr>
                                        <p:cTn id="52" dur="20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circle(in)">
                                      <p:cBhvr>
                                        <p:cTn id="57" dur="20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circle(in)">
                                      <p:cBhvr>
                                        <p:cTn id="62" dur="2000"/>
                                        <p:tgtEl>
                                          <p:spTgt spid="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circle(in)">
                                      <p:cBhvr>
                                        <p:cTn id="67" dur="20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buNone/>
            </a:pPr>
            <a:r>
              <a:rPr lang="en-IN" sz="2000" b="1" dirty="0">
                <a:latin typeface="Times New Roman" panose="02020603050405020304" pitchFamily="18" charset="0"/>
                <a:cs typeface="Times New Roman" panose="02020603050405020304" pitchFamily="18" charset="0"/>
              </a:rPr>
              <a:t>Example 1</a:t>
            </a:r>
          </a:p>
          <a:p>
            <a:pPr marL="0" indent="0">
              <a:buNone/>
            </a:pPr>
            <a:r>
              <a:rPr lang="en-IN" sz="2000" dirty="0">
                <a:latin typeface="Times New Roman" panose="02020603050405020304" pitchFamily="18" charset="0"/>
                <a:cs typeface="Times New Roman" panose="02020603050405020304" pitchFamily="18" charset="0"/>
              </a:rPr>
              <a:t>If there is a grammar</a:t>
            </a:r>
          </a:p>
          <a:p>
            <a:pPr marL="0" indent="0">
              <a:buNone/>
            </a:pPr>
            <a:r>
              <a:rPr lang="en-IN" sz="2000" dirty="0">
                <a:latin typeface="Times New Roman" panose="02020603050405020304" pitchFamily="18" charset="0"/>
                <a:cs typeface="Times New Roman" panose="02020603050405020304" pitchFamily="18" charset="0"/>
              </a:rPr>
              <a:t>G: N = {S, A, B} T = {a, b} P = {S → AB, A → a, B → b}</a:t>
            </a:r>
          </a:p>
          <a:p>
            <a:pPr marL="0" indent="0">
              <a:buNone/>
            </a:pPr>
            <a:r>
              <a:rPr lang="en-IN" sz="2000" dirty="0">
                <a:latin typeface="Times New Roman" panose="02020603050405020304" pitchFamily="18" charset="0"/>
                <a:cs typeface="Times New Roman" panose="02020603050405020304" pitchFamily="18" charset="0"/>
              </a:rPr>
              <a:t>Here </a:t>
            </a:r>
            <a:r>
              <a:rPr lang="en-IN" sz="2000" b="1" dirty="0">
                <a:latin typeface="Times New Roman" panose="02020603050405020304" pitchFamily="18" charset="0"/>
                <a:cs typeface="Times New Roman" panose="02020603050405020304" pitchFamily="18" charset="0"/>
              </a:rPr>
              <a:t>S</a:t>
            </a:r>
            <a:r>
              <a:rPr lang="en-IN" sz="2000" dirty="0">
                <a:latin typeface="Times New Roman" panose="02020603050405020304" pitchFamily="18" charset="0"/>
                <a:cs typeface="Times New Roman" panose="02020603050405020304" pitchFamily="18" charset="0"/>
              </a:rPr>
              <a:t> produces </a:t>
            </a:r>
            <a:r>
              <a:rPr lang="en-IN" sz="2000" b="1" dirty="0">
                <a:latin typeface="Times New Roman" panose="02020603050405020304" pitchFamily="18" charset="0"/>
                <a:cs typeface="Times New Roman" panose="02020603050405020304" pitchFamily="18" charset="0"/>
              </a:rPr>
              <a:t>AB</a:t>
            </a:r>
            <a:r>
              <a:rPr lang="en-IN" sz="2000" dirty="0">
                <a:latin typeface="Times New Roman" panose="02020603050405020304" pitchFamily="18" charset="0"/>
                <a:cs typeface="Times New Roman" panose="02020603050405020304" pitchFamily="18" charset="0"/>
              </a:rPr>
              <a:t>, and we can replace </a:t>
            </a:r>
            <a:r>
              <a:rPr lang="en-IN" sz="2000" b="1" dirty="0">
                <a:latin typeface="Times New Roman" panose="02020603050405020304" pitchFamily="18" charset="0"/>
                <a:cs typeface="Times New Roman" panose="02020603050405020304" pitchFamily="18" charset="0"/>
              </a:rPr>
              <a:t>A</a:t>
            </a:r>
            <a:r>
              <a:rPr lang="en-IN" sz="2000" dirty="0">
                <a:latin typeface="Times New Roman" panose="02020603050405020304" pitchFamily="18" charset="0"/>
                <a:cs typeface="Times New Roman" panose="02020603050405020304" pitchFamily="18" charset="0"/>
              </a:rPr>
              <a:t> by </a:t>
            </a:r>
            <a:r>
              <a:rPr lang="en-IN" sz="2000" b="1" dirty="0">
                <a:latin typeface="Times New Roman" panose="02020603050405020304" pitchFamily="18" charset="0"/>
                <a:cs typeface="Times New Roman" panose="02020603050405020304" pitchFamily="18" charset="0"/>
              </a:rPr>
              <a:t>a</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B</a:t>
            </a:r>
            <a:r>
              <a:rPr lang="en-IN" sz="2000" dirty="0">
                <a:latin typeface="Times New Roman" panose="02020603050405020304" pitchFamily="18" charset="0"/>
                <a:cs typeface="Times New Roman" panose="02020603050405020304" pitchFamily="18" charset="0"/>
              </a:rPr>
              <a:t> by </a:t>
            </a:r>
            <a:r>
              <a:rPr lang="en-IN" sz="2000" b="1" dirty="0">
                <a:latin typeface="Times New Roman" panose="02020603050405020304" pitchFamily="18" charset="0"/>
                <a:cs typeface="Times New Roman" panose="02020603050405020304" pitchFamily="18" charset="0"/>
              </a:rPr>
              <a:t>b</a:t>
            </a:r>
            <a:r>
              <a:rPr lang="en-IN" sz="2000" dirty="0">
                <a:latin typeface="Times New Roman" panose="02020603050405020304" pitchFamily="18" charset="0"/>
                <a:cs typeface="Times New Roman" panose="02020603050405020304" pitchFamily="18" charset="0"/>
              </a:rPr>
              <a:t>. Here, the only accepted string is </a:t>
            </a:r>
            <a:r>
              <a:rPr lang="en-IN" sz="2000" b="1" dirty="0">
                <a:latin typeface="Times New Roman" panose="02020603050405020304" pitchFamily="18" charset="0"/>
                <a:cs typeface="Times New Roman" panose="02020603050405020304" pitchFamily="18" charset="0"/>
              </a:rPr>
              <a:t>ab</a:t>
            </a:r>
            <a:r>
              <a:rPr lang="en-IN" sz="2000" dirty="0">
                <a:latin typeface="Times New Roman" panose="02020603050405020304" pitchFamily="18" charset="0"/>
                <a:cs typeface="Times New Roman" panose="02020603050405020304" pitchFamily="18" charset="0"/>
              </a:rPr>
              <a:t>, i.e.,</a:t>
            </a:r>
          </a:p>
          <a:p>
            <a:pPr marL="0" indent="0">
              <a:buNone/>
            </a:pPr>
            <a:r>
              <a:rPr lang="en-IN" sz="2000" dirty="0">
                <a:latin typeface="Times New Roman" panose="02020603050405020304" pitchFamily="18" charset="0"/>
                <a:cs typeface="Times New Roman" panose="02020603050405020304" pitchFamily="18" charset="0"/>
              </a:rPr>
              <a:t>L(G) = {ab}</a:t>
            </a:r>
          </a:p>
          <a:p>
            <a:pPr marL="0" indent="0">
              <a:buNone/>
            </a:pPr>
            <a:r>
              <a:rPr lang="en-IN" sz="2000" b="1" dirty="0">
                <a:latin typeface="Times New Roman" panose="02020603050405020304" pitchFamily="18" charset="0"/>
                <a:cs typeface="Times New Roman" panose="02020603050405020304" pitchFamily="18" charset="0"/>
              </a:rPr>
              <a:t>Example 2</a:t>
            </a:r>
          </a:p>
          <a:p>
            <a:pPr marL="0" indent="0">
              <a:buNone/>
            </a:pPr>
            <a:r>
              <a:rPr lang="en-IN" sz="2000" dirty="0">
                <a:latin typeface="Times New Roman" panose="02020603050405020304" pitchFamily="18" charset="0"/>
                <a:cs typeface="Times New Roman" panose="02020603050405020304" pitchFamily="18" charset="0"/>
              </a:rPr>
              <a:t>Suppose we have the following grammar −</a:t>
            </a:r>
          </a:p>
          <a:p>
            <a:pPr marL="0" indent="0">
              <a:buNone/>
            </a:pPr>
            <a:r>
              <a:rPr lang="en-IN" sz="2000" dirty="0">
                <a:latin typeface="Times New Roman" panose="02020603050405020304" pitchFamily="18" charset="0"/>
                <a:cs typeface="Times New Roman" panose="02020603050405020304" pitchFamily="18" charset="0"/>
              </a:rPr>
              <a:t>G: N = {S, A, B} T = {a, b} P = {S → AB, A → </a:t>
            </a:r>
            <a:r>
              <a:rPr lang="en-IN" sz="2000" dirty="0" err="1">
                <a:latin typeface="Times New Roman" panose="02020603050405020304" pitchFamily="18" charset="0"/>
                <a:cs typeface="Times New Roman" panose="02020603050405020304" pitchFamily="18" charset="0"/>
              </a:rPr>
              <a:t>aA|a</a:t>
            </a:r>
            <a:r>
              <a:rPr lang="en-IN" sz="2000" dirty="0">
                <a:latin typeface="Times New Roman" panose="02020603050405020304" pitchFamily="18" charset="0"/>
                <a:cs typeface="Times New Roman" panose="02020603050405020304" pitchFamily="18" charset="0"/>
              </a:rPr>
              <a:t>, B → </a:t>
            </a:r>
            <a:r>
              <a:rPr lang="en-IN" sz="2000" dirty="0" err="1">
                <a:latin typeface="Times New Roman" panose="02020603050405020304" pitchFamily="18" charset="0"/>
                <a:cs typeface="Times New Roman" panose="02020603050405020304" pitchFamily="18" charset="0"/>
              </a:rPr>
              <a:t>bB|b</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The language generated by this grammar −</a:t>
            </a:r>
          </a:p>
          <a:p>
            <a:pPr marL="0" indent="0">
              <a:buNone/>
            </a:pPr>
            <a:r>
              <a:rPr lang="en-IN" sz="2000" dirty="0">
                <a:latin typeface="Times New Roman" panose="02020603050405020304" pitchFamily="18" charset="0"/>
                <a:cs typeface="Times New Roman" panose="02020603050405020304" pitchFamily="18" charset="0"/>
              </a:rPr>
              <a:t>L(G) = {ab, a</a:t>
            </a:r>
            <a:r>
              <a:rPr lang="en-IN" sz="2000" baseline="30000"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b, ab</a:t>
            </a:r>
            <a:r>
              <a:rPr lang="en-IN" sz="2000" baseline="30000"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 a</a:t>
            </a:r>
            <a:r>
              <a:rPr lang="en-IN" sz="2000" baseline="30000"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b</a:t>
            </a:r>
            <a:r>
              <a:rPr lang="en-IN" sz="2000" baseline="30000"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L(G) = {a</a:t>
            </a:r>
            <a:r>
              <a:rPr lang="en-IN" sz="2000" baseline="30000" dirty="0">
                <a:latin typeface="Times New Roman" panose="02020603050405020304" pitchFamily="18" charset="0"/>
                <a:cs typeface="Times New Roman" panose="02020603050405020304" pitchFamily="18" charset="0"/>
              </a:rPr>
              <a:t>m</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b</a:t>
            </a:r>
            <a:r>
              <a:rPr lang="en-IN" sz="2000" baseline="30000" dirty="0" err="1">
                <a:latin typeface="Times New Roman" panose="02020603050405020304" pitchFamily="18" charset="0"/>
                <a:cs typeface="Times New Roman" panose="02020603050405020304" pitchFamily="18" charset="0"/>
              </a:rPr>
              <a:t>n</a:t>
            </a:r>
            <a:r>
              <a:rPr lang="en-IN" sz="2000" dirty="0">
                <a:latin typeface="Times New Roman" panose="02020603050405020304" pitchFamily="18" charset="0"/>
                <a:cs typeface="Times New Roman" panose="02020603050405020304" pitchFamily="18" charset="0"/>
              </a:rPr>
              <a:t> | m ≥ 1 and n ≥ 1}</a:t>
            </a:r>
          </a:p>
          <a:p>
            <a:endParaRPr lang="en-US" sz="2200" dirty="0">
              <a:latin typeface="Times New Roman" panose="02020603050405020304" pitchFamily="18" charset="0"/>
              <a:cs typeface="Times New Roman" panose="02020603050405020304" pitchFamily="18" charset="0"/>
            </a:endParaRPr>
          </a:p>
          <a:p>
            <a:pPr marL="457200" lvl="1" indent="0">
              <a:buNone/>
            </a:pPr>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109ABCC-8BF2-455D-B96D-536AE86E6189}"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
        <p:nvSpPr>
          <p:cNvPr id="7" name="Title 1"/>
          <p:cNvSpPr txBox="1">
            <a:spLocks/>
          </p:cNvSpPr>
          <p:nvPr/>
        </p:nvSpPr>
        <p:spPr>
          <a:xfrm>
            <a:off x="1752600" y="0"/>
            <a:ext cx="7391400"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altLang="en-US" sz="2400" b="1" dirty="0">
                <a:latin typeface="Times New Roman" panose="02020603050405020304" pitchFamily="18" charset="0"/>
                <a:cs typeface="Times New Roman" panose="02020603050405020304" pitchFamily="18" charset="0"/>
              </a:rPr>
              <a:t>Context-Free Languages: Example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6621799E-1CF8-21F7-AA71-B6E703A013CE}"/>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18364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just">
              <a:lnSpc>
                <a:spcPct val="150000"/>
              </a:lnSpc>
              <a:buNone/>
            </a:pPr>
            <a:r>
              <a:rPr lang="en-US" sz="2000" dirty="0">
                <a:solidFill>
                  <a:srgbClr val="333333"/>
                </a:solidFill>
                <a:latin typeface="Times New Roman" panose="02020603050405020304" pitchFamily="18" charset="0"/>
                <a:cs typeface="Times New Roman" panose="02020603050405020304" pitchFamily="18" charset="0"/>
              </a:rPr>
              <a:t>The grammar rule x - &gt; y is called production rule and application of production rule is called derivation.</a:t>
            </a:r>
          </a:p>
          <a:p>
            <a:pPr marL="0" indent="0" algn="just">
              <a:lnSpc>
                <a:spcPct val="150000"/>
              </a:lnSpc>
              <a:buNone/>
            </a:pPr>
            <a:r>
              <a:rPr lang="en-US" sz="2000" dirty="0">
                <a:solidFill>
                  <a:srgbClr val="333333"/>
                </a:solidFill>
                <a:latin typeface="Times New Roman" panose="02020603050405020304" pitchFamily="18" charset="0"/>
                <a:cs typeface="Times New Roman" panose="02020603050405020304" pitchFamily="18" charset="0"/>
              </a:rPr>
              <a:t>Derivation is a sequence of production rules. It is used to get the input string through these production rules. During parsing, we have to take two decisions. These are as follows:</a:t>
            </a:r>
          </a:p>
          <a:p>
            <a:pPr algn="just">
              <a:lnSpc>
                <a:spcPct val="150000"/>
              </a:lnSpc>
            </a:pPr>
            <a:r>
              <a:rPr lang="en-US" sz="2000" dirty="0">
                <a:solidFill>
                  <a:srgbClr val="333333"/>
                </a:solidFill>
                <a:latin typeface="Times New Roman" panose="02020603050405020304" pitchFamily="18" charset="0"/>
                <a:cs typeface="Times New Roman" panose="02020603050405020304" pitchFamily="18" charset="0"/>
              </a:rPr>
              <a:t>We have to decide the non-terminal which is to be replaced.</a:t>
            </a:r>
          </a:p>
          <a:p>
            <a:pPr algn="just">
              <a:lnSpc>
                <a:spcPct val="150000"/>
              </a:lnSpc>
            </a:pPr>
            <a:r>
              <a:rPr lang="en-US" sz="2000" dirty="0">
                <a:solidFill>
                  <a:srgbClr val="333333"/>
                </a:solidFill>
                <a:latin typeface="Times New Roman" panose="02020603050405020304" pitchFamily="18" charset="0"/>
                <a:cs typeface="Times New Roman" panose="02020603050405020304" pitchFamily="18" charset="0"/>
              </a:rPr>
              <a:t>We have to decide the production rule by which the non-terminal will be replaced.</a:t>
            </a:r>
            <a:endParaRPr lang="en-US" sz="2000" b="0" i="0" dirty="0">
              <a:solidFill>
                <a:srgbClr val="333333"/>
              </a:solidFill>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3B35906-E76C-457A-A95E-D24D93A46B9E}"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
        <p:nvSpPr>
          <p:cNvPr id="7" name="Title 1"/>
          <p:cNvSpPr txBox="1">
            <a:spLocks/>
          </p:cNvSpPr>
          <p:nvPr/>
        </p:nvSpPr>
        <p:spPr>
          <a:xfrm>
            <a:off x="1600200" y="0"/>
            <a:ext cx="7552944"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Derivation </a:t>
            </a:r>
          </a:p>
        </p:txBody>
      </p:sp>
      <p:sp>
        <p:nvSpPr>
          <p:cNvPr id="2" name="Footer Placeholder 12">
            <a:extLst>
              <a:ext uri="{FF2B5EF4-FFF2-40B4-BE49-F238E27FC236}">
                <a16:creationId xmlns:a16="http://schemas.microsoft.com/office/drawing/2014/main" id="{B97933D7-8540-C139-5D1D-584BCE644EA5}"/>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20077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953000"/>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A string can be derived in many ways . But we restrict ourselves to : </a:t>
            </a:r>
          </a:p>
          <a:p>
            <a:pPr marL="0" indent="0">
              <a:buNone/>
            </a:pPr>
            <a:r>
              <a:rPr lang="en-US" sz="2000" dirty="0">
                <a:latin typeface="Times New Roman" panose="02020603050405020304" pitchFamily="18" charset="0"/>
                <a:cs typeface="Times New Roman" panose="02020603050405020304" pitchFamily="18" charset="0"/>
              </a:rPr>
              <a:t>	1. Rightmost Derivations</a:t>
            </a:r>
          </a:p>
          <a:p>
            <a:pPr marL="0" indent="0">
              <a:buNone/>
            </a:pPr>
            <a:r>
              <a:rPr lang="en-US" sz="2000" dirty="0">
                <a:latin typeface="Times New Roman" panose="02020603050405020304" pitchFamily="18" charset="0"/>
                <a:cs typeface="Times New Roman" panose="02020603050405020304" pitchFamily="18" charset="0"/>
              </a:rPr>
              <a:t>	2. Leftmost Derivations </a:t>
            </a:r>
          </a:p>
          <a:p>
            <a:pPr marL="0" indent="0">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1. Left-most Derivation</a:t>
            </a:r>
          </a:p>
          <a:p>
            <a:pPr algn="just"/>
            <a:r>
              <a:rPr lang="en-US" sz="2000" dirty="0">
                <a:latin typeface="Times New Roman" panose="02020603050405020304" pitchFamily="18" charset="0"/>
                <a:cs typeface="Times New Roman" panose="02020603050405020304" pitchFamily="18" charset="0"/>
              </a:rPr>
              <a:t>In the left most derivation, the input is scanned and replaced with the production rule from left to right. So, in left most derivatives we read the input string from left to right.</a:t>
            </a:r>
          </a:p>
          <a:p>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2. Right-most Derivation</a:t>
            </a:r>
          </a:p>
          <a:p>
            <a:r>
              <a:rPr lang="en-US" sz="2000" dirty="0">
                <a:latin typeface="Times New Roman" panose="02020603050405020304" pitchFamily="18" charset="0"/>
                <a:cs typeface="Times New Roman" panose="02020603050405020304" pitchFamily="18" charset="0"/>
              </a:rPr>
              <a:t>In the right most derivation, the input is scanned and replaced with the production rule from right to left. So, in right most derivatives we read the input string from right to left.</a:t>
            </a: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1F63BB2-4A98-4015-A33E-9EC73F5C70CC}"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
        <p:nvSpPr>
          <p:cNvPr id="7" name="Title 1"/>
          <p:cNvSpPr txBox="1">
            <a:spLocks/>
          </p:cNvSpPr>
          <p:nvPr/>
        </p:nvSpPr>
        <p:spPr>
          <a:xfrm>
            <a:off x="1600200" y="0"/>
            <a:ext cx="7552944"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Left Most ad Right Most derivations </a:t>
            </a:r>
          </a:p>
        </p:txBody>
      </p:sp>
      <p:sp>
        <p:nvSpPr>
          <p:cNvPr id="2" name="Footer Placeholder 12">
            <a:extLst>
              <a:ext uri="{FF2B5EF4-FFF2-40B4-BE49-F238E27FC236}">
                <a16:creationId xmlns:a16="http://schemas.microsoft.com/office/drawing/2014/main" id="{C0A0E1DB-F993-76AC-C1F0-5AE1F782A86F}"/>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748457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181600"/>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For the grammar given below :</a:t>
            </a:r>
          </a:p>
          <a:p>
            <a:pPr marL="0" indent="0">
              <a:buNone/>
            </a:pPr>
            <a:r>
              <a:rPr lang="en-US" sz="2000" dirty="0">
                <a:latin typeface="Times New Roman" panose="02020603050405020304" pitchFamily="18" charset="0"/>
                <a:cs typeface="Times New Roman" panose="02020603050405020304" pitchFamily="18" charset="0"/>
              </a:rPr>
              <a:t>S →A1B</a:t>
            </a:r>
          </a:p>
          <a:p>
            <a:pPr marL="0" indent="0">
              <a:buNone/>
            </a:pPr>
            <a:r>
              <a:rPr lang="en-US" sz="2000" dirty="0">
                <a:latin typeface="Times New Roman" panose="02020603050405020304" pitchFamily="18" charset="0"/>
                <a:cs typeface="Times New Roman" panose="02020603050405020304" pitchFamily="18" charset="0"/>
              </a:rPr>
              <a:t>A →0A|ɛ</a:t>
            </a:r>
          </a:p>
          <a:p>
            <a:pPr marL="0" indent="0">
              <a:buNone/>
            </a:pPr>
            <a:r>
              <a:rPr lang="en-US" sz="2000" dirty="0">
                <a:latin typeface="Times New Roman" panose="02020603050405020304" pitchFamily="18" charset="0"/>
                <a:cs typeface="Times New Roman" panose="02020603050405020304" pitchFamily="18" charset="0"/>
              </a:rPr>
              <a:t>B →0B|1B|ɛ</a:t>
            </a:r>
          </a:p>
          <a:p>
            <a:pPr marL="0" indent="0">
              <a:buNone/>
            </a:pPr>
            <a:r>
              <a:rPr lang="en-US" sz="2000" dirty="0">
                <a:latin typeface="Times New Roman" panose="02020603050405020304" pitchFamily="18" charset="0"/>
                <a:cs typeface="Times New Roman" panose="02020603050405020304" pitchFamily="18" charset="0"/>
              </a:rPr>
              <a:t>Give Leftmost derivation and rightmost derivation of string 1001.</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Solution</a:t>
            </a:r>
          </a:p>
          <a:p>
            <a:pPr marL="0" indent="0">
              <a:buNone/>
            </a:pPr>
            <a:r>
              <a:rPr lang="en-US" sz="2000" b="1" dirty="0">
                <a:latin typeface="Times New Roman" panose="02020603050405020304" pitchFamily="18" charset="0"/>
                <a:cs typeface="Times New Roman" panose="02020603050405020304" pitchFamily="18" charset="0"/>
              </a:rPr>
              <a:t>Leftmost derivation of 1001:</a:t>
            </a:r>
          </a:p>
          <a:p>
            <a:pPr marL="0" indent="0">
              <a:buNone/>
            </a:pPr>
            <a:r>
              <a:rPr lang="en-US" sz="2000" dirty="0">
                <a:latin typeface="Times New Roman" panose="02020603050405020304" pitchFamily="18" charset="0"/>
                <a:cs typeface="Times New Roman" panose="02020603050405020304" pitchFamily="18" charset="0"/>
              </a:rPr>
              <a:t>S →A1B</a:t>
            </a:r>
          </a:p>
          <a:p>
            <a:pPr marL="0" indent="0">
              <a:buNone/>
            </a:pPr>
            <a:r>
              <a:rPr lang="en-US" sz="2000" dirty="0">
                <a:latin typeface="Times New Roman" panose="02020603050405020304" pitchFamily="18" charset="0"/>
                <a:cs typeface="Times New Roman" panose="02020603050405020304" pitchFamily="18" charset="0"/>
              </a:rPr>
              <a:t>S →1B       [A →ɛ]</a:t>
            </a:r>
          </a:p>
          <a:p>
            <a:pPr marL="0" indent="0">
              <a:buNone/>
            </a:pPr>
            <a:r>
              <a:rPr lang="en-US" sz="2000" dirty="0">
                <a:latin typeface="Times New Roman" panose="02020603050405020304" pitchFamily="18" charset="0"/>
                <a:cs typeface="Times New Roman" panose="02020603050405020304" pitchFamily="18" charset="0"/>
              </a:rPr>
              <a:t>   →10B     [B →0B]</a:t>
            </a:r>
          </a:p>
          <a:p>
            <a:pPr marL="0" indent="0">
              <a:buNone/>
            </a:pPr>
            <a:r>
              <a:rPr lang="en-US" sz="2000" dirty="0">
                <a:latin typeface="Times New Roman" panose="02020603050405020304" pitchFamily="18" charset="0"/>
                <a:cs typeface="Times New Roman" panose="02020603050405020304" pitchFamily="18" charset="0"/>
              </a:rPr>
              <a:t>   →100B   [B →0B]</a:t>
            </a:r>
          </a:p>
          <a:p>
            <a:pPr marL="0" indent="0">
              <a:buNone/>
            </a:pPr>
            <a:r>
              <a:rPr lang="en-US" sz="2000" dirty="0">
                <a:latin typeface="Times New Roman" panose="02020603050405020304" pitchFamily="18" charset="0"/>
                <a:cs typeface="Times New Roman" panose="02020603050405020304" pitchFamily="18" charset="0"/>
              </a:rPr>
              <a:t>   →1001B [B →1B]</a:t>
            </a:r>
          </a:p>
          <a:p>
            <a:pPr marL="0" indent="0">
              <a:buNone/>
            </a:pPr>
            <a:r>
              <a:rPr lang="en-US" sz="2000" dirty="0">
                <a:latin typeface="Times New Roman" panose="02020603050405020304" pitchFamily="18" charset="0"/>
                <a:cs typeface="Times New Roman" panose="02020603050405020304" pitchFamily="18" charset="0"/>
              </a:rPr>
              <a:t>   →1001    [B →ɛ]</a:t>
            </a:r>
          </a:p>
          <a:p>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6074FF0-DF22-4BF6-9DB8-FD5035F665B7}"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7" name="Title 1"/>
          <p:cNvSpPr txBox="1">
            <a:spLocks/>
          </p:cNvSpPr>
          <p:nvPr/>
        </p:nvSpPr>
        <p:spPr>
          <a:xfrm>
            <a:off x="1600200" y="0"/>
            <a:ext cx="7543800"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Left Most Derivations [Example]</a:t>
            </a:r>
          </a:p>
        </p:txBody>
      </p:sp>
      <p:sp>
        <p:nvSpPr>
          <p:cNvPr id="2" name="Footer Placeholder 12">
            <a:extLst>
              <a:ext uri="{FF2B5EF4-FFF2-40B4-BE49-F238E27FC236}">
                <a16:creationId xmlns:a16="http://schemas.microsoft.com/office/drawing/2014/main" id="{8B7D2A33-CD72-9D0F-3D65-3CCD64668CD1}"/>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955169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circle(in)">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circle(in)">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circle(in)">
                                      <p:cBhvr>
                                        <p:cTn id="42" dur="20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circle(in)">
                                      <p:cBhvr>
                                        <p:cTn id="47" dur="20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circle(in)">
                                      <p:cBhvr>
                                        <p:cTn id="52" dur="20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circle(in)">
                                      <p:cBhvr>
                                        <p:cTn id="57" dur="20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circle(in)">
                                      <p:cBhvr>
                                        <p:cTn id="62" dur="2000"/>
                                        <p:tgtEl>
                                          <p:spTgt spid="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circle(in)">
                                      <p:cBhvr>
                                        <p:cTn id="67" dur="20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181600"/>
          </a:xfrm>
        </p:spPr>
        <p:txBody>
          <a:bodyPr>
            <a:normAutofit lnSpcReduction="10000"/>
          </a:bodyPr>
          <a:lstStyle/>
          <a:p>
            <a:pPr marL="0" indent="0">
              <a:buNone/>
            </a:pPr>
            <a:r>
              <a:rPr lang="en-US" sz="2000" b="1" dirty="0">
                <a:latin typeface="Times New Roman" panose="02020603050405020304" pitchFamily="18" charset="0"/>
                <a:cs typeface="Times New Roman" panose="02020603050405020304" pitchFamily="18" charset="0"/>
              </a:rPr>
              <a:t>Rightmost derivation of 1001:</a:t>
            </a:r>
          </a:p>
          <a:p>
            <a:pPr marL="0" indent="0">
              <a:buNone/>
            </a:pPr>
            <a:r>
              <a:rPr lang="en-US" sz="2000" dirty="0">
                <a:latin typeface="Times New Roman" panose="02020603050405020304" pitchFamily="18" charset="0"/>
                <a:cs typeface="Times New Roman" panose="02020603050405020304" pitchFamily="18" charset="0"/>
              </a:rPr>
              <a:t>S →A1B</a:t>
            </a:r>
          </a:p>
          <a:p>
            <a:pPr marL="0" indent="0">
              <a:buNone/>
            </a:pPr>
            <a:r>
              <a:rPr lang="en-US" sz="2000" dirty="0">
                <a:latin typeface="Times New Roman" panose="02020603050405020304" pitchFamily="18" charset="0"/>
                <a:cs typeface="Times New Roman" panose="02020603050405020304" pitchFamily="18" charset="0"/>
              </a:rPr>
              <a:t>S →A10B     [B →0B]</a:t>
            </a:r>
          </a:p>
          <a:p>
            <a:pPr marL="0" indent="0">
              <a:buNone/>
            </a:pPr>
            <a:r>
              <a:rPr lang="en-US" sz="2000" dirty="0">
                <a:latin typeface="Times New Roman" panose="02020603050405020304" pitchFamily="18" charset="0"/>
                <a:cs typeface="Times New Roman" panose="02020603050405020304" pitchFamily="18" charset="0"/>
              </a:rPr>
              <a:t>   →A100B   [B →0B]</a:t>
            </a:r>
          </a:p>
          <a:p>
            <a:pPr marL="0" indent="0">
              <a:buNone/>
            </a:pPr>
            <a:r>
              <a:rPr lang="en-US" sz="2000" dirty="0">
                <a:latin typeface="Times New Roman" panose="02020603050405020304" pitchFamily="18" charset="0"/>
                <a:cs typeface="Times New Roman" panose="02020603050405020304" pitchFamily="18" charset="0"/>
              </a:rPr>
              <a:t>   →A1001B [B →1B]</a:t>
            </a:r>
          </a:p>
          <a:p>
            <a:pPr marL="0" indent="0">
              <a:buNone/>
            </a:pPr>
            <a:r>
              <a:rPr lang="en-US" sz="2000" dirty="0">
                <a:latin typeface="Times New Roman" panose="02020603050405020304" pitchFamily="18" charset="0"/>
                <a:cs typeface="Times New Roman" panose="02020603050405020304" pitchFamily="18" charset="0"/>
              </a:rPr>
              <a:t>   →A1001    [A →ɛ]</a:t>
            </a:r>
          </a:p>
          <a:p>
            <a:pPr marL="0" indent="0">
              <a:buNone/>
            </a:pPr>
            <a:r>
              <a:rPr lang="en-US" sz="2000" dirty="0">
                <a:latin typeface="Times New Roman" panose="02020603050405020304" pitchFamily="18" charset="0"/>
                <a:cs typeface="Times New Roman" panose="02020603050405020304" pitchFamily="18" charset="0"/>
              </a:rPr>
              <a:t>   →1001      [B →ɛ] </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Q. Give the LMD and RMD for the following </a:t>
            </a:r>
          </a:p>
          <a:p>
            <a:pPr marL="0" indent="0">
              <a:buNone/>
            </a:pPr>
            <a:r>
              <a:rPr lang="en-US" sz="2200" b="1" dirty="0">
                <a:latin typeface="Times New Roman" panose="02020603050405020304" pitchFamily="18" charset="0"/>
                <a:cs typeface="Times New Roman" panose="02020603050405020304" pitchFamily="18" charset="0"/>
              </a:rPr>
              <a:t>Production rules:</a:t>
            </a:r>
          </a:p>
          <a:p>
            <a:pPr marL="0" indent="0">
              <a:buNone/>
            </a:pPr>
            <a:r>
              <a:rPr lang="en-US" sz="2200" dirty="0">
                <a:latin typeface="Times New Roman" panose="02020603050405020304" pitchFamily="18" charset="0"/>
                <a:cs typeface="Times New Roman" panose="02020603050405020304" pitchFamily="18" charset="0"/>
              </a:rPr>
              <a:t>S = S + S  </a:t>
            </a:r>
          </a:p>
          <a:p>
            <a:pPr marL="0" indent="0">
              <a:buNone/>
            </a:pPr>
            <a:r>
              <a:rPr lang="en-US" sz="2200" dirty="0">
                <a:latin typeface="Times New Roman" panose="02020603050405020304" pitchFamily="18" charset="0"/>
                <a:cs typeface="Times New Roman" panose="02020603050405020304" pitchFamily="18" charset="0"/>
              </a:rPr>
              <a:t>S = S - S  </a:t>
            </a:r>
          </a:p>
          <a:p>
            <a:pPr marL="0" indent="0">
              <a:buNone/>
            </a:pPr>
            <a:r>
              <a:rPr lang="en-US" sz="2200" dirty="0">
                <a:latin typeface="Times New Roman" panose="02020603050405020304" pitchFamily="18" charset="0"/>
                <a:cs typeface="Times New Roman" panose="02020603050405020304" pitchFamily="18" charset="0"/>
              </a:rPr>
              <a:t>S = a | b |c  </a:t>
            </a:r>
          </a:p>
          <a:p>
            <a:pPr marL="0" indent="0">
              <a:buNone/>
            </a:pPr>
            <a:r>
              <a:rPr lang="en-US" sz="2200" dirty="0">
                <a:latin typeface="Times New Roman" panose="02020603050405020304" pitchFamily="18" charset="0"/>
                <a:cs typeface="Times New Roman" panose="02020603050405020304" pitchFamily="18" charset="0"/>
              </a:rPr>
              <a:t>Input: </a:t>
            </a:r>
            <a:r>
              <a:rPr lang="en-US" sz="2200" i="1" dirty="0">
                <a:latin typeface="Times New Roman" panose="02020603050405020304" pitchFamily="18" charset="0"/>
                <a:cs typeface="Times New Roman" panose="02020603050405020304" pitchFamily="18" charset="0"/>
              </a:rPr>
              <a:t>a - b + c</a:t>
            </a: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67DBB50-326D-479A-AF60-FCC455A8C853}"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
        <p:nvSpPr>
          <p:cNvPr id="7" name="Title 1"/>
          <p:cNvSpPr txBox="1">
            <a:spLocks/>
          </p:cNvSpPr>
          <p:nvPr/>
        </p:nvSpPr>
        <p:spPr>
          <a:xfrm>
            <a:off x="1676400" y="0"/>
            <a:ext cx="7467600" cy="9144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Right Most derivations [Example]</a:t>
            </a:r>
            <a:r>
              <a:rPr lang="en-US" alt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A2E0DAD9-89BA-0742-537B-5A8F3096BD35}"/>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51628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ircle(in)">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circle(in)">
                                      <p:cBhvr>
                                        <p:cTn id="42" dur="20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circle(in)">
                                      <p:cBhvr>
                                        <p:cTn id="47" dur="20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circle(in)">
                                      <p:cBhvr>
                                        <p:cTn id="52" dur="20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circle(in)">
                                      <p:cBhvr>
                                        <p:cTn id="57" dur="20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circle(in)">
                                      <p:cBhvr>
                                        <p:cTn id="62" dur="2000"/>
                                        <p:tgtEl>
                                          <p:spTgt spid="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circle(in)">
                                      <p:cBhvr>
                                        <p:cTn id="67" dur="20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066800"/>
            <a:ext cx="8229600" cy="4525963"/>
          </a:xfrm>
        </p:spPr>
        <p:txBody>
          <a:bodyPr>
            <a:noAutofit/>
          </a:bodyPr>
          <a:lstStyle/>
          <a:p>
            <a:pPr marL="0" indent="0" algn="just">
              <a:buNone/>
            </a:pPr>
            <a:r>
              <a:rPr lang="en-US" sz="2000" dirty="0">
                <a:latin typeface="Times New Roman" panose="02020603050405020304" pitchFamily="18" charset="0"/>
                <a:cs typeface="Times New Roman" panose="02020603050405020304" pitchFamily="18" charset="0"/>
              </a:rPr>
              <a:t>Derivation tree is a graphical representation for the derivation of the given production rules for a given CFG. It is the simple way to show how the derivation can be done to obtain some string from a given set of production rules. The derivation tree is also called a parse tree.</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A parse tree contains the following properties:</a:t>
            </a:r>
          </a:p>
          <a:p>
            <a:pPr algn="just">
              <a:lnSpc>
                <a:spcPct val="150000"/>
              </a:lnSpc>
            </a:pPr>
            <a:r>
              <a:rPr lang="en-US" sz="2000" dirty="0">
                <a:latin typeface="Times New Roman" panose="02020603050405020304" pitchFamily="18" charset="0"/>
                <a:cs typeface="Times New Roman" panose="02020603050405020304" pitchFamily="18" charset="0"/>
              </a:rPr>
              <a:t>The root node is always a node indicating start symbols.</a:t>
            </a:r>
          </a:p>
          <a:p>
            <a:pPr algn="just">
              <a:lnSpc>
                <a:spcPct val="150000"/>
              </a:lnSpc>
            </a:pPr>
            <a:r>
              <a:rPr lang="en-US" sz="2000" dirty="0">
                <a:latin typeface="Times New Roman" panose="02020603050405020304" pitchFamily="18" charset="0"/>
                <a:cs typeface="Times New Roman" panose="02020603050405020304" pitchFamily="18" charset="0"/>
              </a:rPr>
              <a:t>The derivation is read from left to right.</a:t>
            </a:r>
          </a:p>
          <a:p>
            <a:pPr algn="just">
              <a:lnSpc>
                <a:spcPct val="150000"/>
              </a:lnSpc>
            </a:pPr>
            <a:r>
              <a:rPr lang="en-US" sz="2000" dirty="0">
                <a:latin typeface="Times New Roman" panose="02020603050405020304" pitchFamily="18" charset="0"/>
                <a:cs typeface="Times New Roman" panose="02020603050405020304" pitchFamily="18" charset="0"/>
              </a:rPr>
              <a:t>The leaf node is always terminal nodes.</a:t>
            </a:r>
          </a:p>
          <a:p>
            <a:pPr algn="just">
              <a:lnSpc>
                <a:spcPct val="150000"/>
              </a:lnSpc>
            </a:pPr>
            <a:r>
              <a:rPr lang="en-US" sz="2000" dirty="0">
                <a:latin typeface="Times New Roman" panose="02020603050405020304" pitchFamily="18" charset="0"/>
                <a:cs typeface="Times New Roman" panose="02020603050405020304" pitchFamily="18" charset="0"/>
              </a:rPr>
              <a:t>The interior nodes are always the non-terminal nodes.</a:t>
            </a:r>
          </a:p>
          <a:p>
            <a:pPr marL="0" indent="0" algn="just">
              <a:buNone/>
            </a:pPr>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0EDC626-BA68-4FD1-BF5F-56005C0BC521}"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7" name="Title 1"/>
          <p:cNvSpPr txBox="1">
            <a:spLocks/>
          </p:cNvSpPr>
          <p:nvPr/>
        </p:nvSpPr>
        <p:spPr>
          <a:xfrm>
            <a:off x="1752600" y="0"/>
            <a:ext cx="7391400" cy="81716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anose="02020603050405020304" pitchFamily="18" charset="0"/>
                <a:cs typeface="Times New Roman" panose="02020603050405020304" pitchFamily="18" charset="0"/>
              </a:rPr>
              <a:t>Derivation Tree or Parse Tree   </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64F23076-7EF4-C96C-B9AE-52F34491768B}"/>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929830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circle(in)">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circle(in)">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circle(in)">
                                      <p:cBhvr>
                                        <p:cTn id="3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186D3-358A-53DF-6FDB-28A246EF06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5FF639-5A82-9911-A0A3-DE2C52DFAE44}"/>
              </a:ext>
            </a:extLst>
          </p:cNvPr>
          <p:cNvSpPr>
            <a:spLocks noGrp="1"/>
          </p:cNvSpPr>
          <p:nvPr>
            <p:ph idx="1"/>
          </p:nvPr>
        </p:nvSpPr>
        <p:spPr>
          <a:xfrm>
            <a:off x="533400" y="1066800"/>
            <a:ext cx="8229600" cy="4525963"/>
          </a:xfrm>
        </p:spPr>
        <p:txBody>
          <a:bodyPr>
            <a:noAutofit/>
          </a:bodyPr>
          <a:lstStyle/>
          <a:p>
            <a:pPr marL="0" indent="0" algn="just">
              <a:buNone/>
            </a:pPr>
            <a:r>
              <a:rPr lang="en-US" sz="2000" b="1" dirty="0">
                <a:latin typeface="Times New Roman" panose="02020603050405020304" pitchFamily="18" charset="0"/>
                <a:cs typeface="Times New Roman" panose="02020603050405020304" pitchFamily="18" charset="0"/>
              </a:rPr>
              <a:t>Following are the main rules for constructing a parse tree:</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First, place the initial symbol of the grammar as the root node of the parse tree.</a:t>
            </a:r>
          </a:p>
          <a:p>
            <a:pPr algn="just"/>
            <a:r>
              <a:rPr lang="en-US" sz="2000" dirty="0">
                <a:latin typeface="Times New Roman" panose="02020603050405020304" pitchFamily="18" charset="0"/>
                <a:cs typeface="Times New Roman" panose="02020603050405020304" pitchFamily="18" charset="0"/>
              </a:rPr>
              <a:t>For each non-terminal symbol, create child nodes based on the grammar's production rules.</a:t>
            </a:r>
          </a:p>
          <a:p>
            <a:pPr algn="just"/>
            <a:r>
              <a:rPr lang="en-US" sz="2000" dirty="0">
                <a:latin typeface="Times New Roman" panose="02020603050405020304" pitchFamily="18" charset="0"/>
                <a:cs typeface="Times New Roman" panose="02020603050405020304" pitchFamily="18" charset="0"/>
              </a:rPr>
              <a:t>Search for the appropriate production rule in the grammar that matches the non-terminal symbol being expanded.</a:t>
            </a:r>
          </a:p>
          <a:p>
            <a:pPr algn="just"/>
            <a:r>
              <a:rPr lang="en-US" sz="2000" dirty="0">
                <a:latin typeface="Times New Roman" panose="02020603050405020304" pitchFamily="18" charset="0"/>
                <a:cs typeface="Times New Roman" panose="02020603050405020304" pitchFamily="18" charset="0"/>
              </a:rPr>
              <a:t>Repeat steps 2 and 3 for each non-terminal symbol until all non-terminal symbols have been expanded and only terminal symbols remain as leaf nodes.</a:t>
            </a:r>
          </a:p>
          <a:p>
            <a:pPr algn="just"/>
            <a:r>
              <a:rPr lang="en-US" sz="2000" dirty="0">
                <a:latin typeface="Times New Roman" panose="02020603050405020304" pitchFamily="18" charset="0"/>
                <a:cs typeface="Times New Roman" panose="02020603050405020304" pitchFamily="18" charset="0"/>
              </a:rPr>
              <a:t>Finally verify the parse tree which ensures that the resulting parse tree conforms to the grammar rules and correctly represents the syntactic structure of the program.</a:t>
            </a:r>
          </a:p>
        </p:txBody>
      </p:sp>
      <p:sp>
        <p:nvSpPr>
          <p:cNvPr id="4" name="Date Placeholder 3">
            <a:extLst>
              <a:ext uri="{FF2B5EF4-FFF2-40B4-BE49-F238E27FC236}">
                <a16:creationId xmlns:a16="http://schemas.microsoft.com/office/drawing/2014/main" id="{A74A246E-AF1D-373C-89B5-12D6CCA344C3}"/>
              </a:ext>
            </a:extLst>
          </p:cNvPr>
          <p:cNvSpPr>
            <a:spLocks noGrp="1"/>
          </p:cNvSpPr>
          <p:nvPr>
            <p:ph type="dt" sz="half" idx="10"/>
          </p:nvPr>
        </p:nvSpPr>
        <p:spPr/>
        <p:txBody>
          <a:bodyPr/>
          <a:lstStyle/>
          <a:p>
            <a:fld id="{06F08EC2-E0DA-47E5-871C-223FF725A9FD}" type="datetime1">
              <a:rPr lang="en-US" smtClean="0"/>
              <a:t>3/20/2026</a:t>
            </a:fld>
            <a:endParaRPr lang="en-US"/>
          </a:p>
        </p:txBody>
      </p:sp>
      <p:sp>
        <p:nvSpPr>
          <p:cNvPr id="6" name="Slide Number Placeholder 5">
            <a:extLst>
              <a:ext uri="{FF2B5EF4-FFF2-40B4-BE49-F238E27FC236}">
                <a16:creationId xmlns:a16="http://schemas.microsoft.com/office/drawing/2014/main" id="{5B411CBD-0B0A-6FF2-5FDE-506430990C35}"/>
              </a:ext>
            </a:extLst>
          </p:cNvPr>
          <p:cNvSpPr>
            <a:spLocks noGrp="1"/>
          </p:cNvSpPr>
          <p:nvPr>
            <p:ph type="sldNum" sz="quarter" idx="12"/>
          </p:nvPr>
        </p:nvSpPr>
        <p:spPr/>
        <p:txBody>
          <a:bodyPr/>
          <a:lstStyle/>
          <a:p>
            <a:fld id="{B6F15528-21DE-4FAA-801E-634DDDAF4B2B}" type="slidenum">
              <a:rPr lang="en-US" smtClean="0"/>
              <a:pPr/>
              <a:t>39</a:t>
            </a:fld>
            <a:endParaRPr lang="en-US"/>
          </a:p>
        </p:txBody>
      </p:sp>
      <p:sp>
        <p:nvSpPr>
          <p:cNvPr id="7" name="Title 1">
            <a:extLst>
              <a:ext uri="{FF2B5EF4-FFF2-40B4-BE49-F238E27FC236}">
                <a16:creationId xmlns:a16="http://schemas.microsoft.com/office/drawing/2014/main" id="{EF44A551-7F0E-BCE1-DAE6-B172D13AEA57}"/>
              </a:ext>
            </a:extLst>
          </p:cNvPr>
          <p:cNvSpPr txBox="1">
            <a:spLocks/>
          </p:cNvSpPr>
          <p:nvPr/>
        </p:nvSpPr>
        <p:spPr>
          <a:xfrm>
            <a:off x="1752600" y="0"/>
            <a:ext cx="7391400" cy="81716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b="1" dirty="0">
                <a:latin typeface="Times New Roman" panose="02020603050405020304" pitchFamily="18" charset="0"/>
                <a:cs typeface="Times New Roman" panose="02020603050405020304" pitchFamily="18" charset="0"/>
              </a:rPr>
              <a:t>Rules for Constructing a Parse tree</a:t>
            </a:r>
          </a:p>
        </p:txBody>
      </p:sp>
      <p:sp>
        <p:nvSpPr>
          <p:cNvPr id="2" name="Footer Placeholder 12">
            <a:extLst>
              <a:ext uri="{FF2B5EF4-FFF2-40B4-BE49-F238E27FC236}">
                <a16:creationId xmlns:a16="http://schemas.microsoft.com/office/drawing/2014/main" id="{A2896746-1EC1-2BB2-2417-4A9E804CB629}"/>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280856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circle(in)">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circle(in)">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circle(in)">
                                      <p:cBhvr>
                                        <p:cTn id="3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rPr>
              <a:t>For a grammar given below S →0S1|01</a:t>
            </a:r>
          </a:p>
          <a:p>
            <a:r>
              <a:rPr lang="en-US" sz="2200" dirty="0">
                <a:latin typeface="Times New Roman" panose="02020603050405020304" pitchFamily="18" charset="0"/>
                <a:cs typeface="Times New Roman" panose="02020603050405020304" pitchFamily="18" charset="0"/>
              </a:rPr>
              <a:t>Give Parse tree derivation of 000111</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Derivation using parse tree:</a:t>
            </a: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8BD150A-9837-4BF4-920A-10E820A5144E}"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7" name="Title 1"/>
          <p:cNvSpPr txBox="1">
            <a:spLocks/>
          </p:cNvSpPr>
          <p:nvPr/>
        </p:nvSpPr>
        <p:spPr>
          <a:xfrm>
            <a:off x="1524001" y="0"/>
            <a:ext cx="7633854" cy="79636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Parse Tree [Example]</a:t>
            </a:r>
          </a:p>
        </p:txBody>
      </p:sp>
      <p:sp>
        <p:nvSpPr>
          <p:cNvPr id="2" name="TextBox 1"/>
          <p:cNvSpPr txBox="1"/>
          <p:nvPr/>
        </p:nvSpPr>
        <p:spPr>
          <a:xfrm>
            <a:off x="3276600" y="3048000"/>
            <a:ext cx="290464" cy="369332"/>
          </a:xfrm>
          <a:prstGeom prst="rect">
            <a:avLst/>
          </a:prstGeom>
          <a:noFill/>
        </p:spPr>
        <p:txBody>
          <a:bodyPr wrap="none" rtlCol="0">
            <a:spAutoFit/>
          </a:bodyPr>
          <a:lstStyle/>
          <a:p>
            <a:r>
              <a:rPr lang="en-US" dirty="0"/>
              <a:t>S</a:t>
            </a:r>
          </a:p>
        </p:txBody>
      </p:sp>
      <p:sp>
        <p:nvSpPr>
          <p:cNvPr id="10" name="TextBox 9"/>
          <p:cNvSpPr txBox="1"/>
          <p:nvPr/>
        </p:nvSpPr>
        <p:spPr>
          <a:xfrm>
            <a:off x="2819400" y="3810000"/>
            <a:ext cx="301686" cy="369332"/>
          </a:xfrm>
          <a:prstGeom prst="rect">
            <a:avLst/>
          </a:prstGeom>
          <a:noFill/>
        </p:spPr>
        <p:txBody>
          <a:bodyPr wrap="none" rtlCol="0">
            <a:spAutoFit/>
          </a:bodyPr>
          <a:lstStyle/>
          <a:p>
            <a:r>
              <a:rPr lang="en-US" dirty="0"/>
              <a:t>0</a:t>
            </a:r>
          </a:p>
        </p:txBody>
      </p:sp>
      <p:sp>
        <p:nvSpPr>
          <p:cNvPr id="11" name="TextBox 10"/>
          <p:cNvSpPr txBox="1"/>
          <p:nvPr/>
        </p:nvSpPr>
        <p:spPr>
          <a:xfrm>
            <a:off x="3548776" y="3813048"/>
            <a:ext cx="290464" cy="369332"/>
          </a:xfrm>
          <a:prstGeom prst="rect">
            <a:avLst/>
          </a:prstGeom>
          <a:noFill/>
        </p:spPr>
        <p:txBody>
          <a:bodyPr wrap="none" rtlCol="0">
            <a:spAutoFit/>
          </a:bodyPr>
          <a:lstStyle/>
          <a:p>
            <a:r>
              <a:rPr lang="en-US" dirty="0"/>
              <a:t>S</a:t>
            </a:r>
          </a:p>
        </p:txBody>
      </p:sp>
      <p:sp>
        <p:nvSpPr>
          <p:cNvPr id="12" name="TextBox 11"/>
          <p:cNvSpPr txBox="1"/>
          <p:nvPr/>
        </p:nvSpPr>
        <p:spPr>
          <a:xfrm>
            <a:off x="4267200" y="3795284"/>
            <a:ext cx="301686" cy="369332"/>
          </a:xfrm>
          <a:prstGeom prst="rect">
            <a:avLst/>
          </a:prstGeom>
          <a:noFill/>
        </p:spPr>
        <p:txBody>
          <a:bodyPr wrap="none" rtlCol="0">
            <a:spAutoFit/>
          </a:bodyPr>
          <a:lstStyle/>
          <a:p>
            <a:r>
              <a:rPr lang="en-US" dirty="0"/>
              <a:t>1</a:t>
            </a:r>
          </a:p>
        </p:txBody>
      </p:sp>
      <p:cxnSp>
        <p:nvCxnSpPr>
          <p:cNvPr id="13" name="Straight Arrow Connector 12"/>
          <p:cNvCxnSpPr>
            <a:stCxn id="2" idx="2"/>
            <a:endCxn id="10" idx="0"/>
          </p:cNvCxnSpPr>
          <p:nvPr/>
        </p:nvCxnSpPr>
        <p:spPr>
          <a:xfrm flipH="1">
            <a:off x="2970243" y="3417332"/>
            <a:ext cx="451589" cy="3926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2" idx="2"/>
            <a:endCxn id="11" idx="0"/>
          </p:cNvCxnSpPr>
          <p:nvPr/>
        </p:nvCxnSpPr>
        <p:spPr>
          <a:xfrm>
            <a:off x="3421832" y="3417332"/>
            <a:ext cx="272176" cy="3957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12" idx="0"/>
          </p:cNvCxnSpPr>
          <p:nvPr/>
        </p:nvCxnSpPr>
        <p:spPr>
          <a:xfrm>
            <a:off x="3421832" y="3417332"/>
            <a:ext cx="996211" cy="3779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3241757" y="4114800"/>
            <a:ext cx="451589" cy="3926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3693346" y="4114800"/>
            <a:ext cx="272176" cy="3957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3693346" y="4114800"/>
            <a:ext cx="996211" cy="3779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120146" y="4648200"/>
            <a:ext cx="301686" cy="369332"/>
          </a:xfrm>
          <a:prstGeom prst="rect">
            <a:avLst/>
          </a:prstGeom>
          <a:noFill/>
        </p:spPr>
        <p:txBody>
          <a:bodyPr wrap="none" rtlCol="0">
            <a:spAutoFit/>
          </a:bodyPr>
          <a:lstStyle/>
          <a:p>
            <a:r>
              <a:rPr lang="en-US" dirty="0"/>
              <a:t>0</a:t>
            </a:r>
          </a:p>
        </p:txBody>
      </p:sp>
      <p:sp>
        <p:nvSpPr>
          <p:cNvPr id="27" name="TextBox 26"/>
          <p:cNvSpPr txBox="1"/>
          <p:nvPr/>
        </p:nvSpPr>
        <p:spPr>
          <a:xfrm>
            <a:off x="3849522" y="4651248"/>
            <a:ext cx="290464" cy="369332"/>
          </a:xfrm>
          <a:prstGeom prst="rect">
            <a:avLst/>
          </a:prstGeom>
          <a:noFill/>
        </p:spPr>
        <p:txBody>
          <a:bodyPr wrap="none" rtlCol="0">
            <a:spAutoFit/>
          </a:bodyPr>
          <a:lstStyle/>
          <a:p>
            <a:r>
              <a:rPr lang="en-US" dirty="0"/>
              <a:t>S</a:t>
            </a:r>
          </a:p>
        </p:txBody>
      </p:sp>
      <p:sp>
        <p:nvSpPr>
          <p:cNvPr id="28" name="TextBox 27"/>
          <p:cNvSpPr txBox="1"/>
          <p:nvPr/>
        </p:nvSpPr>
        <p:spPr>
          <a:xfrm>
            <a:off x="4567946" y="4599956"/>
            <a:ext cx="301686" cy="369332"/>
          </a:xfrm>
          <a:prstGeom prst="rect">
            <a:avLst/>
          </a:prstGeom>
          <a:noFill/>
        </p:spPr>
        <p:txBody>
          <a:bodyPr wrap="none" rtlCol="0">
            <a:spAutoFit/>
          </a:bodyPr>
          <a:lstStyle/>
          <a:p>
            <a:r>
              <a:rPr lang="en-US" dirty="0"/>
              <a:t>1</a:t>
            </a:r>
          </a:p>
        </p:txBody>
      </p:sp>
      <p:cxnSp>
        <p:nvCxnSpPr>
          <p:cNvPr id="29" name="Straight Arrow Connector 28"/>
          <p:cNvCxnSpPr/>
          <p:nvPr/>
        </p:nvCxnSpPr>
        <p:spPr>
          <a:xfrm flipH="1">
            <a:off x="3567064" y="5002816"/>
            <a:ext cx="451589" cy="3926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018653" y="5002816"/>
            <a:ext cx="272176" cy="3957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397933" y="5486400"/>
            <a:ext cx="301686" cy="369332"/>
          </a:xfrm>
          <a:prstGeom prst="rect">
            <a:avLst/>
          </a:prstGeom>
          <a:noFill/>
        </p:spPr>
        <p:txBody>
          <a:bodyPr wrap="none" rtlCol="0">
            <a:spAutoFit/>
          </a:bodyPr>
          <a:lstStyle/>
          <a:p>
            <a:r>
              <a:rPr lang="en-US" dirty="0"/>
              <a:t>0</a:t>
            </a:r>
          </a:p>
        </p:txBody>
      </p:sp>
      <p:sp>
        <p:nvSpPr>
          <p:cNvPr id="32" name="TextBox 31"/>
          <p:cNvSpPr txBox="1"/>
          <p:nvPr/>
        </p:nvSpPr>
        <p:spPr>
          <a:xfrm>
            <a:off x="4165861" y="5486400"/>
            <a:ext cx="301686" cy="369332"/>
          </a:xfrm>
          <a:prstGeom prst="rect">
            <a:avLst/>
          </a:prstGeom>
          <a:noFill/>
        </p:spPr>
        <p:txBody>
          <a:bodyPr wrap="none" rtlCol="0">
            <a:spAutoFit/>
          </a:bodyPr>
          <a:lstStyle/>
          <a:p>
            <a:r>
              <a:rPr lang="en-US" dirty="0"/>
              <a:t>1</a:t>
            </a:r>
          </a:p>
        </p:txBody>
      </p:sp>
      <p:sp>
        <p:nvSpPr>
          <p:cNvPr id="33" name="TextBox 32"/>
          <p:cNvSpPr txBox="1"/>
          <p:nvPr/>
        </p:nvSpPr>
        <p:spPr>
          <a:xfrm>
            <a:off x="6000920" y="3048000"/>
            <a:ext cx="891591" cy="369332"/>
          </a:xfrm>
          <a:prstGeom prst="rect">
            <a:avLst/>
          </a:prstGeom>
          <a:noFill/>
        </p:spPr>
        <p:txBody>
          <a:bodyPr wrap="none" rtlCol="0">
            <a:spAutoFit/>
          </a:bodyPr>
          <a:lstStyle/>
          <a:p>
            <a:r>
              <a:rPr lang="en-US" dirty="0"/>
              <a:t>S →0S1</a:t>
            </a:r>
          </a:p>
        </p:txBody>
      </p:sp>
      <p:sp>
        <p:nvSpPr>
          <p:cNvPr id="34" name="TextBox 33"/>
          <p:cNvSpPr txBox="1"/>
          <p:nvPr/>
        </p:nvSpPr>
        <p:spPr>
          <a:xfrm>
            <a:off x="6105143" y="3718036"/>
            <a:ext cx="891591" cy="369332"/>
          </a:xfrm>
          <a:prstGeom prst="rect">
            <a:avLst/>
          </a:prstGeom>
          <a:noFill/>
        </p:spPr>
        <p:txBody>
          <a:bodyPr wrap="none" rtlCol="0">
            <a:spAutoFit/>
          </a:bodyPr>
          <a:lstStyle/>
          <a:p>
            <a:r>
              <a:rPr lang="en-US" dirty="0"/>
              <a:t>S →0S1</a:t>
            </a:r>
          </a:p>
        </p:txBody>
      </p:sp>
      <p:sp>
        <p:nvSpPr>
          <p:cNvPr id="35" name="TextBox 34"/>
          <p:cNvSpPr txBox="1"/>
          <p:nvPr/>
        </p:nvSpPr>
        <p:spPr>
          <a:xfrm>
            <a:off x="6106718" y="4511040"/>
            <a:ext cx="785793" cy="369332"/>
          </a:xfrm>
          <a:prstGeom prst="rect">
            <a:avLst/>
          </a:prstGeom>
          <a:noFill/>
        </p:spPr>
        <p:txBody>
          <a:bodyPr wrap="none" rtlCol="0">
            <a:spAutoFit/>
          </a:bodyPr>
          <a:lstStyle/>
          <a:p>
            <a:r>
              <a:rPr lang="en-US" dirty="0"/>
              <a:t>S →01</a:t>
            </a:r>
          </a:p>
        </p:txBody>
      </p:sp>
      <p:cxnSp>
        <p:nvCxnSpPr>
          <p:cNvPr id="37" name="Straight Arrow Connector 36"/>
          <p:cNvCxnSpPr>
            <a:stCxn id="33" idx="1"/>
          </p:cNvCxnSpPr>
          <p:nvPr/>
        </p:nvCxnSpPr>
        <p:spPr>
          <a:xfrm flipH="1">
            <a:off x="5407579" y="3232666"/>
            <a:ext cx="59334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5486400" y="3902702"/>
            <a:ext cx="59334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a:off x="5486400" y="4701064"/>
            <a:ext cx="61874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 name="Footer Placeholder 12">
            <a:extLst>
              <a:ext uri="{FF2B5EF4-FFF2-40B4-BE49-F238E27FC236}">
                <a16:creationId xmlns:a16="http://schemas.microsoft.com/office/drawing/2014/main" id="{42C51576-C3A3-F15D-D66A-2A2388E5C7C6}"/>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37291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circle(in)">
                                      <p:cBhvr>
                                        <p:cTn id="22" dur="2000"/>
                                        <p:tgtEl>
                                          <p:spTgt spid="2"/>
                                        </p:tgtEl>
                                      </p:cBhvr>
                                    </p:animEffect>
                                  </p:childTnLst>
                                </p:cTn>
                              </p:par>
                              <p:par>
                                <p:cTn id="23" presetID="6" presetClass="entr" presetSubtype="16"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circle(in)">
                                      <p:cBhvr>
                                        <p:cTn id="25" dur="2000"/>
                                        <p:tgtEl>
                                          <p:spTgt spid="13"/>
                                        </p:tgtEl>
                                      </p:cBhvr>
                                    </p:animEffect>
                                  </p:childTnLst>
                                </p:cTn>
                              </p:par>
                              <p:par>
                                <p:cTn id="26" presetID="6" presetClass="entr" presetSubtype="16"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circle(in)">
                                      <p:cBhvr>
                                        <p:cTn id="28" dur="2000"/>
                                        <p:tgtEl>
                                          <p:spTgt spid="17"/>
                                        </p:tgtEl>
                                      </p:cBhvr>
                                    </p:animEffect>
                                  </p:childTnLst>
                                </p:cTn>
                              </p:par>
                              <p:par>
                                <p:cTn id="29" presetID="6" presetClass="entr" presetSubtype="16"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circle(in)">
                                      <p:cBhvr>
                                        <p:cTn id="31" dur="2000"/>
                                        <p:tgtEl>
                                          <p:spTgt spid="20"/>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circle(in)">
                                      <p:cBhvr>
                                        <p:cTn id="34" dur="2000"/>
                                        <p:tgtEl>
                                          <p:spTgt spid="10"/>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circle(in)">
                                      <p:cBhvr>
                                        <p:cTn id="37" dur="2000"/>
                                        <p:tgtEl>
                                          <p:spTgt spid="11"/>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circle(in)">
                                      <p:cBhvr>
                                        <p:cTn id="40" dur="2000"/>
                                        <p:tgtEl>
                                          <p:spTgt spid="12"/>
                                        </p:tgtEl>
                                      </p:cBhvr>
                                    </p:animEffect>
                                  </p:childTnLst>
                                </p:cTn>
                              </p:par>
                              <p:par>
                                <p:cTn id="41" presetID="6" presetClass="entr" presetSubtype="16"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circle(in)">
                                      <p:cBhvr>
                                        <p:cTn id="43" dur="2000"/>
                                        <p:tgtEl>
                                          <p:spTgt spid="25"/>
                                        </p:tgtEl>
                                      </p:cBhvr>
                                    </p:animEffect>
                                  </p:childTnLst>
                                </p:cTn>
                              </p:par>
                              <p:par>
                                <p:cTn id="44" presetID="6" presetClass="entr" presetSubtype="16" fill="hold"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circle(in)">
                                      <p:cBhvr>
                                        <p:cTn id="46" dur="2000"/>
                                        <p:tgtEl>
                                          <p:spTgt spid="24"/>
                                        </p:tgtEl>
                                      </p:cBhvr>
                                    </p:animEffect>
                                  </p:childTnLst>
                                </p:cTn>
                              </p:par>
                              <p:par>
                                <p:cTn id="47" presetID="6" presetClass="entr" presetSubtype="16"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circle(in)">
                                      <p:cBhvr>
                                        <p:cTn id="49" dur="2000"/>
                                        <p:tgtEl>
                                          <p:spTgt spid="23"/>
                                        </p:tgtEl>
                                      </p:cBhvr>
                                    </p:animEffect>
                                  </p:childTnLst>
                                </p:cTn>
                              </p:par>
                              <p:par>
                                <p:cTn id="50" presetID="6" presetClass="entr" presetSubtype="16"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circle(in)">
                                      <p:cBhvr>
                                        <p:cTn id="52" dur="2000"/>
                                        <p:tgtEl>
                                          <p:spTgt spid="26"/>
                                        </p:tgtEl>
                                      </p:cBhvr>
                                    </p:animEffect>
                                  </p:childTnLst>
                                </p:cTn>
                              </p:par>
                              <p:par>
                                <p:cTn id="53" presetID="6" presetClass="entr" presetSubtype="16"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circle(in)">
                                      <p:cBhvr>
                                        <p:cTn id="55" dur="2000"/>
                                        <p:tgtEl>
                                          <p:spTgt spid="27"/>
                                        </p:tgtEl>
                                      </p:cBhvr>
                                    </p:animEffect>
                                  </p:childTnLst>
                                </p:cTn>
                              </p:par>
                              <p:par>
                                <p:cTn id="56" presetID="6" presetClass="entr" presetSubtype="16"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circle(in)">
                                      <p:cBhvr>
                                        <p:cTn id="58" dur="2000"/>
                                        <p:tgtEl>
                                          <p:spTgt spid="28"/>
                                        </p:tgtEl>
                                      </p:cBhvr>
                                    </p:animEffect>
                                  </p:childTnLst>
                                </p:cTn>
                              </p:par>
                              <p:par>
                                <p:cTn id="59" presetID="6" presetClass="entr" presetSubtype="16" fill="hold"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circle(in)">
                                      <p:cBhvr>
                                        <p:cTn id="61" dur="2000"/>
                                        <p:tgtEl>
                                          <p:spTgt spid="30"/>
                                        </p:tgtEl>
                                      </p:cBhvr>
                                    </p:animEffect>
                                  </p:childTnLst>
                                </p:cTn>
                              </p:par>
                              <p:par>
                                <p:cTn id="62" presetID="6" presetClass="entr" presetSubtype="16"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circle(in)">
                                      <p:cBhvr>
                                        <p:cTn id="64" dur="2000"/>
                                        <p:tgtEl>
                                          <p:spTgt spid="29"/>
                                        </p:tgtEl>
                                      </p:cBhvr>
                                    </p:animEffect>
                                  </p:childTnLst>
                                </p:cTn>
                              </p:par>
                              <p:par>
                                <p:cTn id="65" presetID="6" presetClass="entr" presetSubtype="16"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circle(in)">
                                      <p:cBhvr>
                                        <p:cTn id="67" dur="2000"/>
                                        <p:tgtEl>
                                          <p:spTgt spid="31"/>
                                        </p:tgtEl>
                                      </p:cBhvr>
                                    </p:animEffect>
                                  </p:childTnLst>
                                </p:cTn>
                              </p:par>
                              <p:par>
                                <p:cTn id="68" presetID="6" presetClass="entr" presetSubtype="16"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circle(in)">
                                      <p:cBhvr>
                                        <p:cTn id="70" dur="2000"/>
                                        <p:tgtEl>
                                          <p:spTgt spid="32"/>
                                        </p:tgtEl>
                                      </p:cBhvr>
                                    </p:animEffect>
                                  </p:childTnLst>
                                </p:cTn>
                              </p:par>
                              <p:par>
                                <p:cTn id="71" presetID="6" presetClass="entr" presetSubtype="16" fill="hold" nodeType="with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circle(in)">
                                      <p:cBhvr>
                                        <p:cTn id="73" dur="2000"/>
                                        <p:tgtEl>
                                          <p:spTgt spid="43"/>
                                        </p:tgtEl>
                                      </p:cBhvr>
                                    </p:animEffect>
                                  </p:childTnLst>
                                </p:cTn>
                              </p:par>
                              <p:par>
                                <p:cTn id="74" presetID="6" presetClass="entr" presetSubtype="16" fill="hold" nodeType="with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circle(in)">
                                      <p:cBhvr>
                                        <p:cTn id="76" dur="2000"/>
                                        <p:tgtEl>
                                          <p:spTgt spid="42"/>
                                        </p:tgtEl>
                                      </p:cBhvr>
                                    </p:animEffect>
                                  </p:childTnLst>
                                </p:cTn>
                              </p:par>
                              <p:par>
                                <p:cTn id="77" presetID="6" presetClass="entr" presetSubtype="16" fill="hold" nodeType="with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circle(in)">
                                      <p:cBhvr>
                                        <p:cTn id="79" dur="2000"/>
                                        <p:tgtEl>
                                          <p:spTgt spid="37"/>
                                        </p:tgtEl>
                                      </p:cBhvr>
                                    </p:animEffect>
                                  </p:childTnLst>
                                </p:cTn>
                              </p:par>
                              <p:par>
                                <p:cTn id="80" presetID="6" presetClass="entr" presetSubtype="16"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circle(in)">
                                      <p:cBhvr>
                                        <p:cTn id="82" dur="2000"/>
                                        <p:tgtEl>
                                          <p:spTgt spid="33"/>
                                        </p:tgtEl>
                                      </p:cBhvr>
                                    </p:animEffect>
                                  </p:childTnLst>
                                </p:cTn>
                              </p:par>
                              <p:par>
                                <p:cTn id="83" presetID="6" presetClass="entr" presetSubtype="16"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circle(in)">
                                      <p:cBhvr>
                                        <p:cTn id="85" dur="2000"/>
                                        <p:tgtEl>
                                          <p:spTgt spid="34"/>
                                        </p:tgtEl>
                                      </p:cBhvr>
                                    </p:animEffect>
                                  </p:childTnLst>
                                </p:cTn>
                              </p:par>
                              <p:par>
                                <p:cTn id="86" presetID="6" presetClass="entr" presetSubtype="16"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circle(in)">
                                      <p:cBhvr>
                                        <p:cTn id="88" dur="2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P spid="10" grpId="0"/>
      <p:bldP spid="11" grpId="0"/>
      <p:bldP spid="12" grpId="0"/>
      <p:bldP spid="26" grpId="0"/>
      <p:bldP spid="27" grpId="0"/>
      <p:bldP spid="28" grpId="0"/>
      <p:bldP spid="31" grpId="0"/>
      <p:bldP spid="32" grpId="0"/>
      <p:bldP spid="33" grpId="0"/>
      <p:bldP spid="34" grpId="0"/>
      <p:bldP spid="3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382000" cy="4525963"/>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A grammar is said to be ambiguous if there exists more than one leftmost derivation or more than one rightmost derivative or more than one </a:t>
            </a:r>
            <a:r>
              <a:rPr lang="en-US" sz="2000" dirty="0" smtClean="0">
                <a:latin typeface="Times New Roman" panose="02020603050405020304" pitchFamily="18" charset="0"/>
                <a:cs typeface="Times New Roman" panose="02020603050405020304" pitchFamily="18" charset="0"/>
              </a:rPr>
              <a:t>Left Most parse </a:t>
            </a:r>
            <a:r>
              <a:rPr lang="en-US" sz="2000" dirty="0">
                <a:latin typeface="Times New Roman" panose="02020603050405020304" pitchFamily="18" charset="0"/>
                <a:cs typeface="Times New Roman" panose="02020603050405020304" pitchFamily="18" charset="0"/>
              </a:rPr>
              <a:t>tree </a:t>
            </a:r>
            <a:r>
              <a:rPr lang="en-US" sz="2000" dirty="0" smtClean="0">
                <a:latin typeface="Times New Roman" panose="02020603050405020304" pitchFamily="18" charset="0"/>
                <a:cs typeface="Times New Roman" panose="02020603050405020304" pitchFamily="18" charset="0"/>
              </a:rPr>
              <a:t>or Right Most parse Tree for </a:t>
            </a:r>
            <a:r>
              <a:rPr lang="en-US" sz="2000" dirty="0">
                <a:latin typeface="Times New Roman" panose="02020603050405020304" pitchFamily="18" charset="0"/>
                <a:cs typeface="Times New Roman" panose="02020603050405020304" pitchFamily="18" charset="0"/>
              </a:rPr>
              <a:t>the given input string. If the grammar is not ambiguous then it is </a:t>
            </a:r>
            <a:r>
              <a:rPr lang="en-US" sz="2000" dirty="0" smtClean="0">
                <a:latin typeface="Times New Roman" panose="02020603050405020304" pitchFamily="18" charset="0"/>
                <a:cs typeface="Times New Roman" panose="02020603050405020304" pitchFamily="18" charset="0"/>
              </a:rPr>
              <a:t>called unambiguous</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Definition:</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G = (N,T,P,S) is a CFG is said to be ambiguous if and only if there exist a string in T* that has more than one parse tree.</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where N is a finite set of variables.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 is a finite set of terminals.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 is a finite set of productions of the form, A -&gt; α, where A is a variable and α ∈ (N ∪ T)* S is a designated variable called the start symbol.  </a:t>
            </a:r>
          </a:p>
        </p:txBody>
      </p:sp>
      <p:sp>
        <p:nvSpPr>
          <p:cNvPr id="4" name="Date Placeholder 3"/>
          <p:cNvSpPr>
            <a:spLocks noGrp="1"/>
          </p:cNvSpPr>
          <p:nvPr>
            <p:ph type="dt" sz="half" idx="10"/>
          </p:nvPr>
        </p:nvSpPr>
        <p:spPr/>
        <p:txBody>
          <a:bodyPr/>
          <a:lstStyle/>
          <a:p>
            <a:fld id="{ED395EE5-40C2-496C-ABCB-F4B17ACB3702}"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7" name="Title 1"/>
          <p:cNvSpPr txBox="1">
            <a:spLocks/>
          </p:cNvSpPr>
          <p:nvPr/>
        </p:nvSpPr>
        <p:spPr>
          <a:xfrm>
            <a:off x="1676400" y="0"/>
            <a:ext cx="74676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Ambiguous Grammar</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EF10F702-9F81-2A84-C630-BAF997B2BDA8}"/>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73876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6425" y="914401"/>
            <a:ext cx="8229600" cy="5441950"/>
          </a:xfrm>
        </p:spPr>
        <p:txBody>
          <a:bodyPr>
            <a:normAutofit/>
          </a:bodyPr>
          <a:lstStyle/>
          <a:p>
            <a:pPr algn="just">
              <a:buFont typeface="+mj-lt"/>
              <a:buAutoNum type="arabicPeriod"/>
            </a:pPr>
            <a:r>
              <a:rPr lang="en-US" sz="2000" dirty="0">
                <a:latin typeface="Times New Roman" panose="02020603050405020304" pitchFamily="18" charset="0"/>
                <a:cs typeface="Times New Roman" panose="02020603050405020304" pitchFamily="18" charset="0"/>
              </a:rPr>
              <a:t>S → </a:t>
            </a:r>
            <a:r>
              <a:rPr lang="en-US" sz="2000" dirty="0" err="1">
                <a:latin typeface="Times New Roman" panose="02020603050405020304" pitchFamily="18" charset="0"/>
                <a:cs typeface="Times New Roman" panose="02020603050405020304" pitchFamily="18" charset="0"/>
              </a:rPr>
              <a:t>aSb</a:t>
            </a:r>
            <a:r>
              <a:rPr lang="en-US" sz="2000" dirty="0">
                <a:latin typeface="Times New Roman" panose="02020603050405020304" pitchFamily="18" charset="0"/>
                <a:cs typeface="Times New Roman" panose="02020603050405020304" pitchFamily="18" charset="0"/>
              </a:rPr>
              <a:t> | SS  </a:t>
            </a:r>
          </a:p>
          <a:p>
            <a:pPr algn="just">
              <a:buFont typeface="+mj-lt"/>
              <a:buAutoNum type="arabicPeriod"/>
            </a:pPr>
            <a:r>
              <a:rPr lang="en-US" sz="2000" dirty="0">
                <a:latin typeface="Times New Roman" panose="02020603050405020304" pitchFamily="18" charset="0"/>
                <a:cs typeface="Times New Roman" panose="02020603050405020304" pitchFamily="18" charset="0"/>
              </a:rPr>
              <a:t>S → ε </a:t>
            </a:r>
          </a:p>
          <a:p>
            <a:pPr marL="0" indent="0">
              <a:buNone/>
            </a:pPr>
            <a:r>
              <a:rPr lang="en-US" sz="2200" b="1" dirty="0">
                <a:latin typeface="Times New Roman" panose="02020603050405020304" pitchFamily="18" charset="0"/>
                <a:cs typeface="Times New Roman" panose="02020603050405020304" pitchFamily="18" charset="0"/>
              </a:rPr>
              <a:t>Is this grammar ambiguous or not? </a:t>
            </a:r>
            <a:endParaRPr lang="en-US" sz="2200" dirty="0">
              <a:latin typeface="Times New Roman" panose="02020603050405020304" pitchFamily="18" charset="0"/>
              <a:cs typeface="Times New Roman" panose="02020603050405020304" pitchFamily="18" charset="0"/>
            </a:endParaRPr>
          </a:p>
          <a:p>
            <a:pPr marL="0" indent="0" algn="just">
              <a:buNone/>
            </a:pPr>
            <a:r>
              <a:rPr lang="en-US" sz="2000" b="1" dirty="0">
                <a:solidFill>
                  <a:srgbClr val="333333"/>
                </a:solidFill>
                <a:latin typeface="Times New Roman" panose="02020603050405020304" pitchFamily="18" charset="0"/>
                <a:cs typeface="Times New Roman" panose="02020603050405020304" pitchFamily="18" charset="0"/>
              </a:rPr>
              <a:t>Solution:</a:t>
            </a:r>
            <a:endParaRPr lang="en-US" sz="20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000" dirty="0">
                <a:solidFill>
                  <a:srgbClr val="333333"/>
                </a:solidFill>
                <a:latin typeface="Times New Roman" panose="02020603050405020304" pitchFamily="18" charset="0"/>
                <a:cs typeface="Times New Roman" panose="02020603050405020304" pitchFamily="18" charset="0"/>
              </a:rPr>
              <a:t>For the string "</a:t>
            </a:r>
            <a:r>
              <a:rPr lang="en-US" sz="2000" dirty="0" err="1">
                <a:solidFill>
                  <a:srgbClr val="333333"/>
                </a:solidFill>
                <a:latin typeface="Times New Roman" panose="02020603050405020304" pitchFamily="18" charset="0"/>
                <a:cs typeface="Times New Roman" panose="02020603050405020304" pitchFamily="18" charset="0"/>
              </a:rPr>
              <a:t>aabb</a:t>
            </a:r>
            <a:r>
              <a:rPr lang="en-US" sz="2000" dirty="0">
                <a:solidFill>
                  <a:srgbClr val="333333"/>
                </a:solidFill>
                <a:latin typeface="Times New Roman" panose="02020603050405020304" pitchFamily="18" charset="0"/>
                <a:cs typeface="Times New Roman" panose="02020603050405020304" pitchFamily="18" charset="0"/>
              </a:rPr>
              <a:t>" the above grammar can generate two parse trees</a:t>
            </a: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3436DB3-A109-44E7-A0F5-536D16023720}"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7" name="Title 1"/>
          <p:cNvSpPr txBox="1">
            <a:spLocks/>
          </p:cNvSpPr>
          <p:nvPr/>
        </p:nvSpPr>
        <p:spPr>
          <a:xfrm>
            <a:off x="1553266" y="0"/>
            <a:ext cx="7590733"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Ambiguous Grammar Example</a:t>
            </a:r>
            <a:endParaRPr lang="en-US" sz="2400" dirty="0">
              <a:latin typeface="Times New Roman" panose="02020603050405020304" pitchFamily="18" charset="0"/>
              <a:cs typeface="Times New Roman" panose="02020603050405020304" pitchFamily="18" charset="0"/>
            </a:endParaRPr>
          </a:p>
        </p:txBody>
      </p:sp>
      <p:pic>
        <p:nvPicPr>
          <p:cNvPr id="49" name="Picture 2" descr="Ambiguity in Gramm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120450"/>
            <a:ext cx="3695700" cy="21526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762000" y="5486400"/>
            <a:ext cx="7543800" cy="70788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Since there are two parse trees for a single string "</a:t>
            </a:r>
            <a:r>
              <a:rPr lang="en-US" sz="2000" dirty="0" err="1">
                <a:latin typeface="Times New Roman" panose="02020603050405020304" pitchFamily="18" charset="0"/>
                <a:cs typeface="Times New Roman" panose="02020603050405020304" pitchFamily="18" charset="0"/>
              </a:rPr>
              <a:t>aabb</a:t>
            </a:r>
            <a:r>
              <a:rPr lang="en-US" sz="2000" dirty="0">
                <a:latin typeface="Times New Roman" panose="02020603050405020304" pitchFamily="18" charset="0"/>
                <a:cs typeface="Times New Roman" panose="02020603050405020304" pitchFamily="18" charset="0"/>
              </a:rPr>
              <a:t>", the grammar G is ambiguous.</a:t>
            </a:r>
            <a:endParaRPr lang="en-IN" sz="2000" dirty="0">
              <a:latin typeface="Times New Roman" panose="02020603050405020304" pitchFamily="18" charset="0"/>
              <a:cs typeface="Times New Roman" panose="02020603050405020304" pitchFamily="18" charset="0"/>
            </a:endParaRPr>
          </a:p>
        </p:txBody>
      </p:sp>
      <p:sp>
        <p:nvSpPr>
          <p:cNvPr id="5" name="Footer Placeholder 12">
            <a:extLst>
              <a:ext uri="{FF2B5EF4-FFF2-40B4-BE49-F238E27FC236}">
                <a16:creationId xmlns:a16="http://schemas.microsoft.com/office/drawing/2014/main" id="{06E1D4EE-B27A-1F4D-36B4-BFE458302BF1}"/>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35806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305800" cy="4610725"/>
          </a:xfrm>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Ques. Show that the given grammar is ambiguous. Also, find an equivalent unambiguous grammar.</a:t>
            </a:r>
          </a:p>
          <a:p>
            <a:pPr algn="just">
              <a:buFont typeface="+mj-lt"/>
              <a:buAutoNum type="arabicPeriod"/>
            </a:pPr>
            <a:r>
              <a:rPr lang="en-IN" sz="2000" dirty="0">
                <a:latin typeface="Times New Roman" panose="02020603050405020304" pitchFamily="18" charset="0"/>
                <a:cs typeface="Times New Roman" panose="02020603050405020304" pitchFamily="18" charset="0"/>
              </a:rPr>
              <a:t>E → E + E  </a:t>
            </a:r>
          </a:p>
          <a:p>
            <a:pPr algn="just">
              <a:buFont typeface="+mj-lt"/>
              <a:buAutoNum type="arabicPeriod"/>
            </a:pPr>
            <a:r>
              <a:rPr lang="en-IN" sz="2000" dirty="0">
                <a:latin typeface="Times New Roman" panose="02020603050405020304" pitchFamily="18" charset="0"/>
                <a:cs typeface="Times New Roman" panose="02020603050405020304" pitchFamily="18" charset="0"/>
              </a:rPr>
              <a:t>E → E * E  </a:t>
            </a:r>
          </a:p>
          <a:p>
            <a:pPr algn="just">
              <a:buFont typeface="+mj-lt"/>
              <a:buAutoNum type="arabicPeriod"/>
            </a:pPr>
            <a:r>
              <a:rPr lang="en-IN" sz="2000" dirty="0">
                <a:latin typeface="Times New Roman" panose="02020603050405020304" pitchFamily="18" charset="0"/>
                <a:cs typeface="Times New Roman" panose="02020603050405020304" pitchFamily="18" charset="0"/>
              </a:rPr>
              <a:t>E → id  </a:t>
            </a:r>
          </a:p>
          <a:p>
            <a:pPr marL="0" indent="0" algn="just">
              <a:buNone/>
            </a:pPr>
            <a:r>
              <a:rPr lang="en-US" sz="2000" b="1" dirty="0">
                <a:latin typeface="Times New Roman" panose="02020603050405020304" pitchFamily="18" charset="0"/>
                <a:cs typeface="Times New Roman" panose="02020603050405020304" pitchFamily="18" charset="0"/>
              </a:rPr>
              <a:t>Solution:</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Let us derive the string "id + id * id“</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1AF54F6-2062-43DD-86B4-124D0E3FA4AD}" type="datetime1">
              <a:rPr lang="en-US" smtClean="0">
                <a:latin typeface="Times New Roman" panose="02020603050405020304" pitchFamily="18" charset="0"/>
                <a:cs typeface="Times New Roman" panose="02020603050405020304" pitchFamily="18" charset="0"/>
              </a:rPr>
              <a:t>3/20/2026</a:t>
            </a:fld>
            <a:endParaRPr lang="en-US">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43</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553266" y="0"/>
            <a:ext cx="7590733"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Ambiguous to Unambiguous Grammar Example</a:t>
            </a:r>
            <a:endParaRPr lang="en-US" sz="2400" dirty="0">
              <a:latin typeface="Times New Roman" panose="02020603050405020304" pitchFamily="18" charset="0"/>
              <a:cs typeface="Times New Roman" panose="02020603050405020304" pitchFamily="18" charset="0"/>
            </a:endParaRPr>
          </a:p>
        </p:txBody>
      </p:sp>
      <p:pic>
        <p:nvPicPr>
          <p:cNvPr id="3074" name="Picture 2" descr="Unambiguous Gramm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2819400"/>
            <a:ext cx="4190999" cy="26295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77981" y="3352800"/>
            <a:ext cx="3941617" cy="4062651"/>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As there are two different parse tree for deriving the same string, the given grammar is ambiguous.</a:t>
            </a:r>
          </a:p>
          <a:p>
            <a:pPr algn="just"/>
            <a:r>
              <a:rPr lang="en-US" sz="2000" dirty="0">
                <a:latin typeface="Times New Roman" panose="02020603050405020304" pitchFamily="18" charset="0"/>
                <a:cs typeface="Times New Roman" panose="02020603050405020304" pitchFamily="18" charset="0"/>
              </a:rPr>
              <a:t>Unambiguous grammar will be:</a:t>
            </a:r>
          </a:p>
          <a:p>
            <a:r>
              <a:rPr lang="en-IN" sz="2000" dirty="0">
                <a:latin typeface="Times New Roman" panose="02020603050405020304" pitchFamily="18" charset="0"/>
                <a:cs typeface="Times New Roman" panose="02020603050405020304" pitchFamily="18" charset="0"/>
              </a:rPr>
              <a:t>E → E + T  </a:t>
            </a:r>
          </a:p>
          <a:p>
            <a:r>
              <a:rPr lang="en-IN" sz="2000" dirty="0">
                <a:latin typeface="Times New Roman" panose="02020603050405020304" pitchFamily="18" charset="0"/>
                <a:cs typeface="Times New Roman" panose="02020603050405020304" pitchFamily="18" charset="0"/>
              </a:rPr>
              <a:t>E → T  </a:t>
            </a:r>
          </a:p>
          <a:p>
            <a:r>
              <a:rPr lang="en-IN" sz="2000" dirty="0">
                <a:latin typeface="Times New Roman" panose="02020603050405020304" pitchFamily="18" charset="0"/>
                <a:cs typeface="Times New Roman" panose="02020603050405020304" pitchFamily="18" charset="0"/>
              </a:rPr>
              <a:t>T → T * F  </a:t>
            </a:r>
          </a:p>
          <a:p>
            <a:r>
              <a:rPr lang="en-IN" sz="2000" dirty="0">
                <a:latin typeface="Times New Roman" panose="02020603050405020304" pitchFamily="18" charset="0"/>
                <a:cs typeface="Times New Roman" panose="02020603050405020304" pitchFamily="18" charset="0"/>
              </a:rPr>
              <a:t>T → F  </a:t>
            </a:r>
          </a:p>
          <a:p>
            <a:r>
              <a:rPr lang="en-IN" sz="2000" dirty="0">
                <a:latin typeface="Times New Roman" panose="02020603050405020304" pitchFamily="18" charset="0"/>
                <a:cs typeface="Times New Roman" panose="02020603050405020304" pitchFamily="18" charset="0"/>
              </a:rPr>
              <a:t>F → id  </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D6E4E1E4-6843-74C9-1D35-A68F98482C8E}"/>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02667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149850"/>
          </a:xfrm>
        </p:spPr>
        <p:txBody>
          <a:bodyPr>
            <a:normAutofit/>
          </a:bodyPr>
          <a:lstStyle/>
          <a:p>
            <a:pPr algn="just"/>
            <a:r>
              <a:rPr lang="en-US" sz="2000" dirty="0" smtClean="0">
                <a:solidFill>
                  <a:srgbClr val="333333"/>
                </a:solidFill>
                <a:latin typeface="Times New Roman" panose="02020603050405020304" pitchFamily="18" charset="0"/>
                <a:cs typeface="Times New Roman" panose="02020603050405020304" pitchFamily="18" charset="0"/>
              </a:rPr>
              <a:t>We must eliminate useless symbols, those variables or terminals that do not appears in any derivation of a terminal string from the start symbol.</a:t>
            </a:r>
          </a:p>
          <a:p>
            <a:pPr algn="just"/>
            <a:r>
              <a:rPr lang="en-US" sz="2000" dirty="0" smtClean="0">
                <a:solidFill>
                  <a:srgbClr val="333333"/>
                </a:solidFill>
                <a:latin typeface="Times New Roman" panose="02020603050405020304" pitchFamily="18" charset="0"/>
                <a:cs typeface="Times New Roman" panose="02020603050405020304" pitchFamily="18" charset="0"/>
              </a:rPr>
              <a:t>We must eliminate Null </a:t>
            </a:r>
            <a:r>
              <a:rPr lang="en-US" sz="2000" dirty="0">
                <a:solidFill>
                  <a:srgbClr val="333333"/>
                </a:solidFill>
                <a:latin typeface="Times New Roman" panose="02020603050405020304" pitchFamily="18" charset="0"/>
                <a:cs typeface="Times New Roman" panose="02020603050405020304" pitchFamily="18" charset="0"/>
                <a:sym typeface="Wingdings" panose="05000000000000000000" pitchFamily="2" charset="2"/>
              </a:rPr>
              <a:t>Ɛ </a:t>
            </a:r>
            <a:r>
              <a:rPr lang="en-US" sz="2000" dirty="0" smtClean="0">
                <a:solidFill>
                  <a:srgbClr val="333333"/>
                </a:solidFill>
                <a:latin typeface="Times New Roman" panose="02020603050405020304" pitchFamily="18" charset="0"/>
                <a:cs typeface="Times New Roman" panose="02020603050405020304" pitchFamily="18" charset="0"/>
                <a:sym typeface="Wingdings" panose="05000000000000000000" pitchFamily="2" charset="2"/>
              </a:rPr>
              <a:t> </a:t>
            </a:r>
            <a:r>
              <a:rPr lang="en-US" sz="2000" dirty="0" smtClean="0">
                <a:solidFill>
                  <a:srgbClr val="333333"/>
                </a:solidFill>
                <a:latin typeface="Times New Roman" panose="02020603050405020304" pitchFamily="18" charset="0"/>
                <a:cs typeface="Times New Roman" panose="02020603050405020304" pitchFamily="18" charset="0"/>
              </a:rPr>
              <a:t>production , those of the form X </a:t>
            </a:r>
            <a:r>
              <a:rPr lang="en-US" sz="2000" dirty="0" smtClean="0">
                <a:solidFill>
                  <a:srgbClr val="333333"/>
                </a:solidFill>
                <a:latin typeface="Times New Roman" panose="02020603050405020304" pitchFamily="18" charset="0"/>
                <a:cs typeface="Times New Roman" panose="02020603050405020304" pitchFamily="18" charset="0"/>
                <a:sym typeface="Wingdings" panose="05000000000000000000" pitchFamily="2" charset="2"/>
              </a:rPr>
              <a:t> Ɛ  for some variables X.</a:t>
            </a:r>
            <a:endParaRPr lang="en-US" sz="2000" dirty="0">
              <a:solidFill>
                <a:srgbClr val="333333"/>
              </a:solidFill>
              <a:latin typeface="Times New Roman" panose="02020603050405020304" pitchFamily="18" charset="0"/>
              <a:cs typeface="Times New Roman" panose="02020603050405020304" pitchFamily="18" charset="0"/>
            </a:endParaRPr>
          </a:p>
          <a:p>
            <a:pPr algn="just"/>
            <a:r>
              <a:rPr lang="en-US" sz="2000" dirty="0" smtClean="0">
                <a:solidFill>
                  <a:srgbClr val="333333"/>
                </a:solidFill>
                <a:latin typeface="Times New Roman" panose="02020603050405020304" pitchFamily="18" charset="0"/>
                <a:cs typeface="Times New Roman" panose="02020603050405020304" pitchFamily="18" charset="0"/>
              </a:rPr>
              <a:t>We must eliminate unit production those of the form X </a:t>
            </a:r>
            <a:r>
              <a:rPr lang="en-US" sz="2000" dirty="0" smtClean="0">
                <a:solidFill>
                  <a:srgbClr val="333333"/>
                </a:solidFill>
                <a:latin typeface="Times New Roman" panose="02020603050405020304" pitchFamily="18" charset="0"/>
                <a:cs typeface="Times New Roman" panose="02020603050405020304" pitchFamily="18" charset="0"/>
                <a:sym typeface="Wingdings" panose="05000000000000000000" pitchFamily="2" charset="2"/>
              </a:rPr>
              <a:t> Y for variables X and Y.</a:t>
            </a:r>
            <a:endParaRPr lang="en-US" sz="2000" dirty="0">
              <a:solidFill>
                <a:srgbClr val="333333"/>
              </a:solidFill>
              <a:latin typeface="Times New Roman" panose="02020603050405020304" pitchFamily="18" charset="0"/>
              <a:cs typeface="Times New Roman" panose="02020603050405020304" pitchFamily="18" charset="0"/>
            </a:endParaRPr>
          </a:p>
          <a:p>
            <a:pPr algn="just">
              <a:buFont typeface="+mj-lt"/>
              <a:buAutoNum type="arabicPeriod"/>
            </a:pPr>
            <a:endParaRPr lang="en-US" sz="2000" dirty="0">
              <a:solidFill>
                <a:srgbClr val="333333"/>
              </a:solidFill>
              <a:latin typeface="Times New Roman" panose="02020603050405020304" pitchFamily="18" charset="0"/>
              <a:cs typeface="Times New Roman" panose="02020603050405020304" pitchFamily="18" charset="0"/>
            </a:endParaRPr>
          </a:p>
          <a:p>
            <a:pPr algn="just">
              <a:buFont typeface="+mj-lt"/>
              <a:buAutoNum type="arabicPeriod"/>
            </a:pPr>
            <a:endParaRPr lang="en-US" sz="2000" dirty="0">
              <a:solidFill>
                <a:srgbClr val="333333"/>
              </a:solidFill>
              <a:latin typeface="Times New Roman" panose="02020603050405020304" pitchFamily="18" charset="0"/>
              <a:cs typeface="Times New Roman" panose="02020603050405020304" pitchFamily="18" charset="0"/>
            </a:endParaRPr>
          </a:p>
          <a:p>
            <a:pPr algn="just">
              <a:buFont typeface="+mj-lt"/>
              <a:buAutoNum type="arabicPeriod"/>
            </a:pPr>
            <a:endParaRPr lang="en-US" sz="2000" dirty="0">
              <a:solidFill>
                <a:srgbClr val="333333"/>
              </a:solidFill>
              <a:latin typeface="Times New Roman" panose="02020603050405020304" pitchFamily="18" charset="0"/>
              <a:cs typeface="Times New Roman" panose="02020603050405020304" pitchFamily="18" charset="0"/>
            </a:endParaRPr>
          </a:p>
          <a:p>
            <a:pPr algn="just">
              <a:buFont typeface="+mj-lt"/>
              <a:buAutoNum type="arabicPeriod"/>
            </a:pPr>
            <a:endParaRPr lang="en-US" sz="2000" dirty="0">
              <a:solidFill>
                <a:srgbClr val="333333"/>
              </a:solidFill>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6239EE1-82EB-432C-9BFE-C2B79507930A}"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7" name="Title 1"/>
          <p:cNvSpPr txBox="1">
            <a:spLocks/>
          </p:cNvSpPr>
          <p:nvPr/>
        </p:nvSpPr>
        <p:spPr>
          <a:xfrm>
            <a:off x="1676400" y="0"/>
            <a:ext cx="7482840" cy="8382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b="1" dirty="0">
                <a:latin typeface="Times New Roman" panose="02020603050405020304" pitchFamily="18" charset="0"/>
                <a:cs typeface="Times New Roman" panose="02020603050405020304" pitchFamily="18" charset="0"/>
              </a:rPr>
              <a:t>Simplification of CFG</a:t>
            </a:r>
          </a:p>
        </p:txBody>
      </p:sp>
      <p:pic>
        <p:nvPicPr>
          <p:cNvPr id="10" name="Picture 9" descr="Simplification of CFG"/>
          <p:cNvPicPr/>
          <p:nvPr/>
        </p:nvPicPr>
        <p:blipFill>
          <a:blip r:embed="rId2">
            <a:extLst>
              <a:ext uri="{28A0092B-C50C-407E-A947-70E740481C1C}">
                <a14:useLocalDpi xmlns:a14="http://schemas.microsoft.com/office/drawing/2010/main" val="0"/>
              </a:ext>
            </a:extLst>
          </a:blip>
          <a:srcRect/>
          <a:stretch>
            <a:fillRect/>
          </a:stretch>
        </p:blipFill>
        <p:spPr bwMode="auto">
          <a:xfrm>
            <a:off x="1676401" y="3352800"/>
            <a:ext cx="5257800" cy="2743200"/>
          </a:xfrm>
          <a:prstGeom prst="rect">
            <a:avLst/>
          </a:prstGeom>
          <a:noFill/>
        </p:spPr>
      </p:pic>
      <p:sp>
        <p:nvSpPr>
          <p:cNvPr id="2" name="Footer Placeholder 12">
            <a:extLst>
              <a:ext uri="{FF2B5EF4-FFF2-40B4-BE49-F238E27FC236}">
                <a16:creationId xmlns:a16="http://schemas.microsoft.com/office/drawing/2014/main" id="{BA3C320C-5137-36C7-FD32-8E8DB43CEDF0}"/>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630851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077200" cy="5302250"/>
          </a:xfrm>
        </p:spPr>
        <p:txBody>
          <a:bodyPr>
            <a:normAutofit/>
          </a:bodyPr>
          <a:lstStyle/>
          <a:p>
            <a:pPr marL="457200" indent="-457200" algn="just">
              <a:buAutoNum type="alphaLcParenBoth"/>
            </a:pPr>
            <a:r>
              <a:rPr lang="en-US" sz="2000" b="1" dirty="0" smtClean="0">
                <a:solidFill>
                  <a:srgbClr val="333333"/>
                </a:solidFill>
                <a:latin typeface="Times New Roman" panose="02020603050405020304" pitchFamily="18" charset="0"/>
                <a:cs typeface="Times New Roman" panose="02020603050405020304" pitchFamily="18" charset="0"/>
              </a:rPr>
              <a:t>Identified non generating symbols in given CFG and eliminate those productions which contains non generating symbols.</a:t>
            </a:r>
          </a:p>
          <a:p>
            <a:pPr marL="457200" indent="-457200" algn="just">
              <a:buAutoNum type="alphaLcParenBoth"/>
            </a:pPr>
            <a:r>
              <a:rPr lang="en-US" sz="2000" b="1" dirty="0" smtClean="0">
                <a:solidFill>
                  <a:srgbClr val="333333"/>
                </a:solidFill>
                <a:latin typeface="Times New Roman" panose="02020603050405020304" pitchFamily="18" charset="0"/>
                <a:cs typeface="Times New Roman" panose="02020603050405020304" pitchFamily="18" charset="0"/>
              </a:rPr>
              <a:t>Identified non reachable symbols in grammar and eliminate those productions which contain non reachable symbols.</a:t>
            </a:r>
          </a:p>
          <a:p>
            <a:pPr marL="0" indent="0" algn="just">
              <a:buNone/>
            </a:pPr>
            <a:r>
              <a:rPr lang="en-US" sz="2000" b="1" dirty="0" smtClean="0">
                <a:solidFill>
                  <a:srgbClr val="333333"/>
                </a:solidFill>
                <a:latin typeface="Times New Roman" panose="02020603050405020304" pitchFamily="18" charset="0"/>
                <a:cs typeface="Times New Roman" panose="02020603050405020304" pitchFamily="18" charset="0"/>
              </a:rPr>
              <a:t>Example</a:t>
            </a:r>
            <a:endParaRPr lang="en-US" sz="2000" b="1" dirty="0">
              <a:solidFill>
                <a:srgbClr val="333333"/>
              </a:solidFill>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None/>
            </a:pPr>
            <a:r>
              <a:rPr lang="en-US" altLang="en-US" sz="2000" dirty="0" err="1">
                <a:latin typeface="Times New Roman" panose="02020603050405020304" pitchFamily="18" charset="0"/>
                <a:cs typeface="Times New Roman" panose="02020603050405020304" pitchFamily="18" charset="0"/>
              </a:rPr>
              <a:t>S→aA|BC</a:t>
            </a: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None/>
            </a:pPr>
            <a:r>
              <a:rPr lang="en-US" altLang="en-US" sz="2000" dirty="0" err="1">
                <a:latin typeface="Times New Roman" panose="02020603050405020304" pitchFamily="18" charset="0"/>
                <a:cs typeface="Times New Roman" panose="02020603050405020304" pitchFamily="18" charset="0"/>
              </a:rPr>
              <a:t>A→b|bB</a:t>
            </a: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None/>
            </a:pPr>
            <a:r>
              <a:rPr lang="en-US" altLang="en-US" sz="2000" dirty="0" err="1">
                <a:latin typeface="Times New Roman" panose="02020603050405020304" pitchFamily="18" charset="0"/>
                <a:cs typeface="Times New Roman" panose="02020603050405020304" pitchFamily="18" charset="0"/>
              </a:rPr>
              <a:t>B→aB|ε</a:t>
            </a: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None/>
            </a:pPr>
            <a:endParaRPr lang="en-US" altLang="en-US" sz="105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None/>
            </a:pPr>
            <a:r>
              <a:rPr lang="en-US" altLang="en-US" sz="2000" dirty="0">
                <a:solidFill>
                  <a:srgbClr val="000000"/>
                </a:solidFill>
                <a:latin typeface="Times New Roman" panose="02020603050405020304" pitchFamily="18" charset="0"/>
                <a:cs typeface="Times New Roman" panose="02020603050405020304" pitchFamily="18" charset="0"/>
              </a:rPr>
              <a:t>The final simplified grammar becomes −</a:t>
            </a: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None/>
            </a:pPr>
            <a:r>
              <a:rPr lang="en-US" altLang="en-US" sz="2000" dirty="0" err="1">
                <a:latin typeface="Times New Roman" panose="02020603050405020304" pitchFamily="18" charset="0"/>
                <a:cs typeface="Times New Roman" panose="02020603050405020304" pitchFamily="18" charset="0"/>
              </a:rPr>
              <a:t>S→aA</a:t>
            </a: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None/>
            </a:pPr>
            <a:r>
              <a:rPr lang="en-US" altLang="en-US" sz="2000" dirty="0" err="1">
                <a:latin typeface="Times New Roman" panose="02020603050405020304" pitchFamily="18" charset="0"/>
                <a:cs typeface="Times New Roman" panose="02020603050405020304" pitchFamily="18" charset="0"/>
              </a:rPr>
              <a:t>A→b|bB</a:t>
            </a: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None/>
            </a:pPr>
            <a:r>
              <a:rPr lang="en-US" altLang="en-US" sz="2000" dirty="0" err="1">
                <a:latin typeface="Times New Roman" panose="02020603050405020304" pitchFamily="18" charset="0"/>
                <a:cs typeface="Times New Roman" panose="02020603050405020304" pitchFamily="18" charset="0"/>
              </a:rPr>
              <a:t>B→aB|ε</a:t>
            </a:r>
            <a:endParaRPr lang="en-US" alt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0E5FDB4-9692-444A-A132-9512F1B76123}"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7" name="Title 1"/>
          <p:cNvSpPr txBox="1">
            <a:spLocks/>
          </p:cNvSpPr>
          <p:nvPr/>
        </p:nvSpPr>
        <p:spPr>
          <a:xfrm>
            <a:off x="1676400" y="0"/>
            <a:ext cx="7482840" cy="8382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b="1" dirty="0">
                <a:latin typeface="Times New Roman" panose="02020603050405020304" pitchFamily="18" charset="0"/>
                <a:cs typeface="Times New Roman" panose="02020603050405020304" pitchFamily="18" charset="0"/>
              </a:rPr>
              <a:t>Removal of Useless Symbols</a:t>
            </a:r>
          </a:p>
        </p:txBody>
      </p:sp>
      <p:sp>
        <p:nvSpPr>
          <p:cNvPr id="5" name="Rectangle 2"/>
          <p:cNvSpPr>
            <a:spLocks noChangeArrowheads="1"/>
          </p:cNvSpPr>
          <p:nvPr/>
        </p:nvSpPr>
        <p:spPr bwMode="auto">
          <a:xfrm>
            <a:off x="-609600" y="1353234"/>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p:cNvSpPr>
            <a:spLocks noChangeArrowheads="1"/>
          </p:cNvSpPr>
          <p:nvPr/>
        </p:nvSpPr>
        <p:spPr bwMode="auto">
          <a:xfrm>
            <a:off x="0" y="-945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Footer Placeholder 12">
            <a:extLst>
              <a:ext uri="{FF2B5EF4-FFF2-40B4-BE49-F238E27FC236}">
                <a16:creationId xmlns:a16="http://schemas.microsoft.com/office/drawing/2014/main" id="{4BC0A286-85DD-DB65-1A56-AA9B2B0EC63E}"/>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894835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29200"/>
          </a:xfrm>
        </p:spPr>
        <p:txBody>
          <a:bodyPr>
            <a:noAutofit/>
          </a:bodyPr>
          <a:lstStyle/>
          <a:p>
            <a:pPr algn="just"/>
            <a:r>
              <a:rPr lang="en-US" sz="1800" b="1" dirty="0" smtClean="0">
                <a:latin typeface="Times New Roman" panose="02020603050405020304" pitchFamily="18" charset="0"/>
                <a:cs typeface="Times New Roman" panose="02020603050405020304" pitchFamily="18" charset="0"/>
              </a:rPr>
              <a:t>“If A </a:t>
            </a:r>
            <a:r>
              <a:rPr lang="en-US" sz="1800" b="1" dirty="0" smtClean="0">
                <a:latin typeface="Times New Roman" panose="02020603050405020304" pitchFamily="18" charset="0"/>
                <a:cs typeface="Times New Roman" panose="02020603050405020304" pitchFamily="18" charset="0"/>
                <a:sym typeface="Wingdings" panose="05000000000000000000" pitchFamily="2" charset="2"/>
              </a:rPr>
              <a:t> Ɛ is a production to be eliminate then we look for all productions, whose right side contain A and replace each occurrence of A in each of these productions to obtain the </a:t>
            </a:r>
            <a:r>
              <a:rPr lang="en-US" sz="1800" b="1" dirty="0">
                <a:latin typeface="Times New Roman" panose="02020603050405020304" pitchFamily="18" charset="0"/>
                <a:cs typeface="Times New Roman" panose="02020603050405020304" pitchFamily="18" charset="0"/>
                <a:sym typeface="Wingdings" panose="05000000000000000000" pitchFamily="2" charset="2"/>
              </a:rPr>
              <a:t>non Ɛ productions</a:t>
            </a:r>
            <a:r>
              <a:rPr lang="en-US" sz="1800" b="1" dirty="0" smtClean="0">
                <a:latin typeface="Times New Roman" panose="02020603050405020304" pitchFamily="18" charset="0"/>
                <a:cs typeface="Times New Roman" panose="02020603050405020304" pitchFamily="18" charset="0"/>
                <a:sym typeface="Wingdings" panose="05000000000000000000" pitchFamily="2" charset="2"/>
              </a:rPr>
              <a:t>. </a:t>
            </a:r>
          </a:p>
          <a:p>
            <a:pPr algn="just"/>
            <a:r>
              <a:rPr lang="en-US" sz="1800" b="1" dirty="0" smtClean="0">
                <a:latin typeface="Times New Roman" panose="02020603050405020304" pitchFamily="18" charset="0"/>
                <a:cs typeface="Times New Roman" panose="02020603050405020304" pitchFamily="18" charset="0"/>
                <a:sym typeface="Wingdings" panose="05000000000000000000" pitchFamily="2" charset="2"/>
              </a:rPr>
              <a:t>Now these resultant non Ɛ production must be added to the grammar to keep the language generated, the same.”</a:t>
            </a:r>
          </a:p>
          <a:p>
            <a:pPr marL="0" indent="0">
              <a:buNone/>
            </a:pPr>
            <a:r>
              <a:rPr lang="en-US" sz="1600" b="1" dirty="0" smtClean="0">
                <a:latin typeface="Times New Roman" panose="02020603050405020304" pitchFamily="18" charset="0"/>
                <a:cs typeface="Times New Roman" panose="02020603050405020304" pitchFamily="18" charset="0"/>
              </a:rPr>
              <a:t>Given </a:t>
            </a:r>
            <a:r>
              <a:rPr lang="en-US" sz="1600" b="1" dirty="0">
                <a:latin typeface="Times New Roman" panose="02020603050405020304" pitchFamily="18" charset="0"/>
                <a:cs typeface="Times New Roman" panose="02020603050405020304" pitchFamily="18" charset="0"/>
              </a:rPr>
              <a:t>Grammar:</a:t>
            </a:r>
          </a:p>
          <a:p>
            <a:r>
              <a:rPr lang="en-US" sz="1600" dirty="0" err="1">
                <a:latin typeface="Times New Roman" panose="02020603050405020304" pitchFamily="18" charset="0"/>
                <a:cs typeface="Times New Roman" panose="02020603050405020304" pitchFamily="18" charset="0"/>
              </a:rPr>
              <a:t>S→aA</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 →</a:t>
            </a:r>
            <a:r>
              <a:rPr lang="en-US" sz="1600" dirty="0" err="1">
                <a:latin typeface="Times New Roman" panose="02020603050405020304" pitchFamily="18" charset="0"/>
                <a:cs typeface="Times New Roman" panose="02020603050405020304" pitchFamily="18" charset="0"/>
              </a:rPr>
              <a:t>b|</a:t>
            </a:r>
            <a:r>
              <a:rPr lang="en-US" sz="1600" dirty="0" err="1">
                <a:solidFill>
                  <a:schemeClr val="dk1"/>
                </a:solidFill>
                <a:latin typeface="Times New Roman" panose="02020603050405020304" pitchFamily="18" charset="0"/>
                <a:cs typeface="Times New Roman" panose="02020603050405020304" pitchFamily="18" charset="0"/>
              </a:rPr>
              <a:t>ɛ</a:t>
            </a:r>
            <a:endParaRPr lang="en-US" sz="1600" dirty="0">
              <a:solidFill>
                <a:schemeClr val="dk1"/>
              </a:solidFill>
              <a:latin typeface="Times New Roman" panose="02020603050405020304" pitchFamily="18" charset="0"/>
              <a:cs typeface="Times New Roman" panose="02020603050405020304" pitchFamily="18" charset="0"/>
            </a:endParaRPr>
          </a:p>
          <a:p>
            <a:pPr marL="0" indent="0">
              <a:buNone/>
            </a:pPr>
            <a:endParaRPr lang="en-US" sz="1600" dirty="0">
              <a:solidFill>
                <a:schemeClr val="dk1"/>
              </a:solidFill>
              <a:latin typeface="Times New Roman" panose="02020603050405020304" pitchFamily="18" charset="0"/>
              <a:cs typeface="Times New Roman" panose="02020603050405020304" pitchFamily="18" charset="0"/>
            </a:endParaRPr>
          </a:p>
          <a:p>
            <a:pPr marL="0" indent="0">
              <a:buNone/>
            </a:pPr>
            <a:r>
              <a:rPr lang="en-US" sz="1600" b="1" dirty="0">
                <a:solidFill>
                  <a:schemeClr val="dk1"/>
                </a:solidFill>
                <a:latin typeface="Times New Roman" panose="02020603050405020304" pitchFamily="18" charset="0"/>
                <a:cs typeface="Times New Roman" panose="02020603050405020304" pitchFamily="18" charset="0"/>
              </a:rPr>
              <a:t>Solution:</a:t>
            </a:r>
          </a:p>
          <a:p>
            <a:pPr marL="0" indent="0">
              <a:buNone/>
            </a:pPr>
            <a:r>
              <a:rPr lang="en-US" sz="1600" dirty="0">
                <a:latin typeface="Times New Roman" panose="02020603050405020304" pitchFamily="18" charset="0"/>
                <a:cs typeface="Times New Roman" panose="02020603050405020304" pitchFamily="18" charset="0"/>
              </a:rPr>
              <a:t>Substitute </a:t>
            </a:r>
            <a:r>
              <a:rPr lang="en-US" sz="1600" dirty="0">
                <a:solidFill>
                  <a:schemeClr val="dk1"/>
                </a:solidFill>
                <a:latin typeface="Times New Roman" panose="02020603050405020304" pitchFamily="18" charset="0"/>
                <a:cs typeface="Times New Roman" panose="02020603050405020304" pitchFamily="18" charset="0"/>
              </a:rPr>
              <a:t>ɛ on production </a:t>
            </a:r>
            <a:r>
              <a:rPr lang="en-US" sz="1600" dirty="0" err="1">
                <a:latin typeface="Times New Roman" panose="02020603050405020304" pitchFamily="18" charset="0"/>
                <a:cs typeface="Times New Roman" panose="02020603050405020304" pitchFamily="18" charset="0"/>
              </a:rPr>
              <a:t>S→aA</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err="1">
                <a:latin typeface="Times New Roman" panose="02020603050405020304" pitchFamily="18" charset="0"/>
                <a:cs typeface="Times New Roman" panose="02020603050405020304" pitchFamily="18" charset="0"/>
              </a:rPr>
              <a:t>S→a</a:t>
            </a:r>
            <a:r>
              <a:rPr lang="en-US" sz="1600" dirty="0">
                <a:latin typeface="Times New Roman" panose="02020603050405020304" pitchFamily="18" charset="0"/>
                <a:cs typeface="Times New Roman" panose="02020603050405020304" pitchFamily="18" charset="0"/>
              </a:rPr>
              <a:t>[</a:t>
            </a:r>
            <a:r>
              <a:rPr lang="en-US" sz="1600" dirty="0">
                <a:solidFill>
                  <a:schemeClr val="dk1"/>
                </a:solidFill>
                <a:latin typeface="Times New Roman" panose="02020603050405020304" pitchFamily="18" charset="0"/>
                <a:cs typeface="Times New Roman" panose="02020603050405020304" pitchFamily="18" charset="0"/>
              </a:rPr>
              <a:t>ɛ</a:t>
            </a:r>
            <a:r>
              <a:rPr lang="en-US" sz="1600" dirty="0">
                <a:latin typeface="Times New Roman" panose="02020603050405020304" pitchFamily="18" charset="0"/>
                <a:cs typeface="Times New Roman" panose="02020603050405020304" pitchFamily="18" charset="0"/>
              </a:rPr>
              <a:t>]</a:t>
            </a:r>
          </a:p>
          <a:p>
            <a:pPr marL="0" indent="0">
              <a:buNone/>
            </a:pPr>
            <a:r>
              <a:rPr lang="en-US" sz="1600" dirty="0" err="1">
                <a:latin typeface="Times New Roman" panose="02020603050405020304" pitchFamily="18" charset="0"/>
                <a:cs typeface="Times New Roman" panose="02020603050405020304" pitchFamily="18" charset="0"/>
              </a:rPr>
              <a:t>S→</a:t>
            </a:r>
            <a:r>
              <a:rPr lang="en-US" sz="1600" dirty="0" err="1" smtClean="0">
                <a:latin typeface="Times New Roman" panose="02020603050405020304" pitchFamily="18" charset="0"/>
                <a:cs typeface="Times New Roman" panose="02020603050405020304" pitchFamily="18" charset="0"/>
              </a:rPr>
              <a:t>a</a:t>
            </a: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Then add this production into main one:</a:t>
            </a:r>
          </a:p>
          <a:p>
            <a:pPr marL="0" indent="0">
              <a:buNone/>
            </a:pPr>
            <a:r>
              <a:rPr lang="en-US" sz="1600" dirty="0" err="1">
                <a:latin typeface="Times New Roman" panose="02020603050405020304" pitchFamily="18" charset="0"/>
                <a:cs typeface="Times New Roman" panose="02020603050405020304" pitchFamily="18" charset="0"/>
              </a:rPr>
              <a:t>S→aA|a</a:t>
            </a:r>
            <a:endParaRPr lang="en-US" sz="16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A →b</a:t>
            </a:r>
            <a:endParaRPr lang="en-US" sz="1800" dirty="0">
              <a:solidFill>
                <a:schemeClr val="dk1"/>
              </a:solidFill>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solidFill>
                <a:schemeClr val="dk1"/>
              </a:solidFill>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2CA3D67-400E-47E3-B609-36833678CF0F}"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7" name="Title 1"/>
          <p:cNvSpPr txBox="1">
            <a:spLocks/>
          </p:cNvSpPr>
          <p:nvPr/>
        </p:nvSpPr>
        <p:spPr>
          <a:xfrm>
            <a:off x="1600200" y="1"/>
            <a:ext cx="7543800" cy="8381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Removal of ɛ Productions[Example] </a:t>
            </a:r>
          </a:p>
        </p:txBody>
      </p:sp>
      <p:sp>
        <p:nvSpPr>
          <p:cNvPr id="2" name="Footer Placeholder 12">
            <a:extLst>
              <a:ext uri="{FF2B5EF4-FFF2-40B4-BE49-F238E27FC236}">
                <a16:creationId xmlns:a16="http://schemas.microsoft.com/office/drawing/2014/main" id="{DFED8DC6-4709-674E-AA44-102CBA43EDDD}"/>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38222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r>
              <a:rPr lang="en-US" sz="2000" dirty="0">
                <a:latin typeface="Times New Roman" panose="02020603050405020304" pitchFamily="18" charset="0"/>
                <a:cs typeface="Times New Roman" panose="02020603050405020304" pitchFamily="18" charset="0"/>
              </a:rPr>
              <a:t>Any production rule in the form A → B where A, B ∈ Non-terminal is called </a:t>
            </a:r>
            <a:r>
              <a:rPr lang="en-US" sz="2000" b="1" dirty="0">
                <a:latin typeface="Times New Roman" panose="02020603050405020304" pitchFamily="18" charset="0"/>
                <a:cs typeface="Times New Roman" panose="02020603050405020304" pitchFamily="18" charset="0"/>
              </a:rPr>
              <a:t>unit production.</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Removal Procedure −</a:t>
            </a:r>
          </a:p>
          <a:p>
            <a:r>
              <a:rPr lang="en-US" sz="2000" b="1" dirty="0">
                <a:latin typeface="Times New Roman" panose="02020603050405020304" pitchFamily="18" charset="0"/>
                <a:cs typeface="Times New Roman" panose="02020603050405020304" pitchFamily="18" charset="0"/>
              </a:rPr>
              <a:t>Step 1</a:t>
            </a:r>
            <a:r>
              <a:rPr lang="en-US" sz="2000" dirty="0">
                <a:latin typeface="Times New Roman" panose="02020603050405020304" pitchFamily="18" charset="0"/>
                <a:cs typeface="Times New Roman" panose="02020603050405020304" pitchFamily="18" charset="0"/>
              </a:rPr>
              <a:t> − To remove </a:t>
            </a:r>
            <a:r>
              <a:rPr lang="en-US" sz="2000" b="1" dirty="0">
                <a:latin typeface="Times New Roman" panose="02020603050405020304" pitchFamily="18" charset="0"/>
                <a:cs typeface="Times New Roman" panose="02020603050405020304" pitchFamily="18" charset="0"/>
              </a:rPr>
              <a:t>A → B</a:t>
            </a:r>
            <a:r>
              <a:rPr lang="en-US" sz="2000" dirty="0">
                <a:latin typeface="Times New Roman" panose="02020603050405020304" pitchFamily="18" charset="0"/>
                <a:cs typeface="Times New Roman" panose="02020603050405020304" pitchFamily="18" charset="0"/>
              </a:rPr>
              <a:t>, add production </a:t>
            </a:r>
            <a:r>
              <a:rPr lang="en-US" sz="2000" b="1" dirty="0">
                <a:latin typeface="Times New Roman" panose="02020603050405020304" pitchFamily="18" charset="0"/>
                <a:cs typeface="Times New Roman" panose="02020603050405020304" pitchFamily="18" charset="0"/>
              </a:rPr>
              <a:t>A → x</a:t>
            </a:r>
            <a:r>
              <a:rPr lang="en-US" sz="2000" dirty="0">
                <a:latin typeface="Times New Roman" panose="02020603050405020304" pitchFamily="18" charset="0"/>
                <a:cs typeface="Times New Roman" panose="02020603050405020304" pitchFamily="18" charset="0"/>
              </a:rPr>
              <a:t> to the grammar rule whenever </a:t>
            </a:r>
            <a:r>
              <a:rPr lang="en-US" sz="2000" b="1" dirty="0">
                <a:latin typeface="Times New Roman" panose="02020603050405020304" pitchFamily="18" charset="0"/>
                <a:cs typeface="Times New Roman" panose="02020603050405020304" pitchFamily="18" charset="0"/>
              </a:rPr>
              <a:t>B → x</a:t>
            </a:r>
            <a:r>
              <a:rPr lang="en-US" sz="2000" dirty="0">
                <a:latin typeface="Times New Roman" panose="02020603050405020304" pitchFamily="18" charset="0"/>
                <a:cs typeface="Times New Roman" panose="02020603050405020304" pitchFamily="18" charset="0"/>
              </a:rPr>
              <a:t> occurs in the grammar. [x ∈ Terminal, x can be Null]</a:t>
            </a:r>
          </a:p>
          <a:p>
            <a:r>
              <a:rPr lang="en-US" sz="2000" b="1" dirty="0">
                <a:latin typeface="Times New Roman" panose="02020603050405020304" pitchFamily="18" charset="0"/>
                <a:cs typeface="Times New Roman" panose="02020603050405020304" pitchFamily="18" charset="0"/>
              </a:rPr>
              <a:t>Step 2</a:t>
            </a:r>
            <a:r>
              <a:rPr lang="en-US" sz="2000" dirty="0">
                <a:latin typeface="Times New Roman" panose="02020603050405020304" pitchFamily="18" charset="0"/>
                <a:cs typeface="Times New Roman" panose="02020603050405020304" pitchFamily="18" charset="0"/>
              </a:rPr>
              <a:t> − Delete </a:t>
            </a:r>
            <a:r>
              <a:rPr lang="en-US" sz="2000" b="1" dirty="0">
                <a:latin typeface="Times New Roman" panose="02020603050405020304" pitchFamily="18" charset="0"/>
                <a:cs typeface="Times New Roman" panose="02020603050405020304" pitchFamily="18" charset="0"/>
              </a:rPr>
              <a:t>A → B</a:t>
            </a:r>
            <a:r>
              <a:rPr lang="en-US" sz="2000" dirty="0">
                <a:latin typeface="Times New Roman" panose="02020603050405020304" pitchFamily="18" charset="0"/>
                <a:cs typeface="Times New Roman" panose="02020603050405020304" pitchFamily="18" charset="0"/>
              </a:rPr>
              <a:t> from the grammar.</a:t>
            </a:r>
          </a:p>
          <a:p>
            <a:r>
              <a:rPr lang="en-US" sz="2000" b="1" dirty="0">
                <a:latin typeface="Times New Roman" panose="02020603050405020304" pitchFamily="18" charset="0"/>
                <a:cs typeface="Times New Roman" panose="02020603050405020304" pitchFamily="18" charset="0"/>
              </a:rPr>
              <a:t>Step 3</a:t>
            </a:r>
            <a:r>
              <a:rPr lang="en-US" sz="2000" dirty="0">
                <a:latin typeface="Times New Roman" panose="02020603050405020304" pitchFamily="18" charset="0"/>
                <a:cs typeface="Times New Roman" panose="02020603050405020304" pitchFamily="18" charset="0"/>
              </a:rPr>
              <a:t> − Repeat from step 1 until all unit productions are removed.</a:t>
            </a: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7BEA267-40DE-4BB5-847F-888FDE10D8DE}"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
        <p:nvSpPr>
          <p:cNvPr id="7" name="Title 1"/>
          <p:cNvSpPr txBox="1">
            <a:spLocks/>
          </p:cNvSpPr>
          <p:nvPr/>
        </p:nvSpPr>
        <p:spPr>
          <a:xfrm>
            <a:off x="1676400" y="0"/>
            <a:ext cx="7482840" cy="8382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b="1" dirty="0">
                <a:latin typeface="Times New Roman" panose="02020603050405020304" pitchFamily="18" charset="0"/>
                <a:cs typeface="Times New Roman" panose="02020603050405020304" pitchFamily="18" charset="0"/>
              </a:rPr>
              <a:t>Removal of Unit Productions</a:t>
            </a:r>
          </a:p>
        </p:txBody>
      </p:sp>
      <p:sp>
        <p:nvSpPr>
          <p:cNvPr id="2" name="Footer Placeholder 12">
            <a:extLst>
              <a:ext uri="{FF2B5EF4-FFF2-40B4-BE49-F238E27FC236}">
                <a16:creationId xmlns:a16="http://schemas.microsoft.com/office/drawing/2014/main" id="{2EB515E2-66DB-2E14-6841-C321D0FFD043}"/>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0893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777875"/>
            <a:ext cx="8229600" cy="4437235"/>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Problem</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Remove unit production from the following −</a:t>
            </a:r>
          </a:p>
          <a:p>
            <a:pPr marL="0" indent="0">
              <a:buNone/>
            </a:pPr>
            <a:r>
              <a:rPr lang="en-US" sz="2000" dirty="0">
                <a:latin typeface="Times New Roman" panose="02020603050405020304" pitchFamily="18" charset="0"/>
                <a:cs typeface="Times New Roman" panose="02020603050405020304" pitchFamily="18" charset="0"/>
              </a:rPr>
              <a:t>S → XY, </a:t>
            </a:r>
          </a:p>
          <a:p>
            <a:pPr marL="0" indent="0">
              <a:buNone/>
            </a:pPr>
            <a:r>
              <a:rPr lang="en-US" sz="2000" dirty="0">
                <a:latin typeface="Times New Roman" panose="02020603050405020304" pitchFamily="18" charset="0"/>
                <a:cs typeface="Times New Roman" panose="02020603050405020304" pitchFamily="18" charset="0"/>
              </a:rPr>
              <a:t>X → a, </a:t>
            </a:r>
          </a:p>
          <a:p>
            <a:pPr marL="0" indent="0">
              <a:buNone/>
            </a:pPr>
            <a:r>
              <a:rPr lang="en-US" sz="2000" dirty="0">
                <a:latin typeface="Times New Roman" panose="02020603050405020304" pitchFamily="18" charset="0"/>
                <a:cs typeface="Times New Roman" panose="02020603050405020304" pitchFamily="18" charset="0"/>
              </a:rPr>
              <a:t>Y → Z | b, </a:t>
            </a:r>
          </a:p>
          <a:p>
            <a:pPr marL="0" indent="0">
              <a:buNone/>
            </a:pPr>
            <a:r>
              <a:rPr lang="en-US" sz="2000" dirty="0">
                <a:latin typeface="Times New Roman" panose="02020603050405020304" pitchFamily="18" charset="0"/>
                <a:cs typeface="Times New Roman" panose="02020603050405020304" pitchFamily="18" charset="0"/>
              </a:rPr>
              <a:t>Z → M, </a:t>
            </a:r>
          </a:p>
          <a:p>
            <a:pPr marL="0" indent="0">
              <a:buNone/>
            </a:pPr>
            <a:r>
              <a:rPr lang="en-US" sz="2000" dirty="0">
                <a:latin typeface="Times New Roman" panose="02020603050405020304" pitchFamily="18" charset="0"/>
                <a:cs typeface="Times New Roman" panose="02020603050405020304" pitchFamily="18" charset="0"/>
              </a:rPr>
              <a:t>M → N, </a:t>
            </a:r>
          </a:p>
          <a:p>
            <a:pPr marL="0" indent="0">
              <a:buNone/>
            </a:pPr>
            <a:r>
              <a:rPr lang="en-US" sz="2000" dirty="0">
                <a:latin typeface="Times New Roman" panose="02020603050405020304" pitchFamily="18" charset="0"/>
                <a:cs typeface="Times New Roman" panose="02020603050405020304" pitchFamily="18" charset="0"/>
              </a:rPr>
              <a:t>N → a</a:t>
            </a:r>
          </a:p>
          <a:p>
            <a:pPr marL="0" indent="0">
              <a:buNone/>
            </a:pPr>
            <a:r>
              <a:rPr lang="en-US" sz="2000" b="1" dirty="0">
                <a:latin typeface="Times New Roman" panose="02020603050405020304" pitchFamily="18" charset="0"/>
                <a:cs typeface="Times New Roman" panose="02020603050405020304" pitchFamily="18" charset="0"/>
              </a:rPr>
              <a:t>Solution</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There are 3-unit productions in the grammar −</a:t>
            </a:r>
          </a:p>
          <a:p>
            <a:r>
              <a:rPr lang="en-US" sz="2000" dirty="0">
                <a:latin typeface="Times New Roman" panose="02020603050405020304" pitchFamily="18" charset="0"/>
                <a:cs typeface="Times New Roman" panose="02020603050405020304" pitchFamily="18" charset="0"/>
              </a:rPr>
              <a:t>Y → Z, Z → M, and M → N</a:t>
            </a:r>
          </a:p>
          <a:p>
            <a:pPr marL="0" indent="0">
              <a:buNone/>
            </a:pPr>
            <a:r>
              <a:rPr lang="en-US" sz="2000" b="1" dirty="0">
                <a:latin typeface="Times New Roman" panose="02020603050405020304" pitchFamily="18" charset="0"/>
                <a:cs typeface="Times New Roman" panose="02020603050405020304" pitchFamily="18" charset="0"/>
              </a:rPr>
              <a:t>At first, we will remove M → 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As N → a, we add M → a, and M → N is removed.</a:t>
            </a:r>
          </a:p>
          <a:p>
            <a:pPr marL="0" indent="0">
              <a:buNone/>
            </a:pPr>
            <a:r>
              <a:rPr lang="en-US" sz="2000" dirty="0">
                <a:latin typeface="Times New Roman" panose="02020603050405020304" pitchFamily="18" charset="0"/>
                <a:cs typeface="Times New Roman" panose="02020603050405020304" pitchFamily="18" charset="0"/>
              </a:rPr>
              <a:t>The production set becomes</a:t>
            </a:r>
          </a:p>
          <a:p>
            <a:r>
              <a:rPr lang="en-US" sz="2000" dirty="0">
                <a:latin typeface="Times New Roman" panose="02020603050405020304" pitchFamily="18" charset="0"/>
                <a:cs typeface="Times New Roman" panose="02020603050405020304" pitchFamily="18" charset="0"/>
              </a:rPr>
              <a:t>S → XY, X → a, Y → Z | b, Z → M, M → a, N → a</a:t>
            </a:r>
          </a:p>
          <a:p>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E3AB797-1029-46DD-AE90-E9BBEF33F6E5}"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7" name="Title 1"/>
          <p:cNvSpPr txBox="1">
            <a:spLocks/>
          </p:cNvSpPr>
          <p:nvPr/>
        </p:nvSpPr>
        <p:spPr>
          <a:xfrm>
            <a:off x="1752600" y="1"/>
            <a:ext cx="7391400" cy="7619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b="1" dirty="0">
                <a:latin typeface="Times New Roman" panose="02020603050405020304" pitchFamily="18" charset="0"/>
                <a:cs typeface="Times New Roman" panose="02020603050405020304" pitchFamily="18" charset="0"/>
              </a:rPr>
              <a:t>Removal of Unit Productions[Example]</a:t>
            </a:r>
          </a:p>
        </p:txBody>
      </p:sp>
      <p:sp>
        <p:nvSpPr>
          <p:cNvPr id="2" name="Footer Placeholder 12">
            <a:extLst>
              <a:ext uri="{FF2B5EF4-FFF2-40B4-BE49-F238E27FC236}">
                <a16:creationId xmlns:a16="http://schemas.microsoft.com/office/drawing/2014/main" id="{22A2E910-4D85-1597-D370-C1231D462556}"/>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14350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Now we will remove Z → M.</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As M → a, we add Z→ a, and Z → M is removed.</a:t>
            </a:r>
          </a:p>
          <a:p>
            <a:pPr marL="0" indent="0">
              <a:buNone/>
            </a:pPr>
            <a:r>
              <a:rPr lang="en-US" sz="2000" dirty="0">
                <a:latin typeface="Times New Roman" panose="02020603050405020304" pitchFamily="18" charset="0"/>
                <a:cs typeface="Times New Roman" panose="02020603050405020304" pitchFamily="18" charset="0"/>
              </a:rPr>
              <a:t>The production set becomes</a:t>
            </a:r>
          </a:p>
          <a:p>
            <a:r>
              <a:rPr lang="en-US" sz="2000" dirty="0">
                <a:latin typeface="Times New Roman" panose="02020603050405020304" pitchFamily="18" charset="0"/>
                <a:cs typeface="Times New Roman" panose="02020603050405020304" pitchFamily="18" charset="0"/>
              </a:rPr>
              <a:t>S → XY, X → a, Y → Z | b, Z → a, M → a, N → a</a:t>
            </a:r>
          </a:p>
          <a:p>
            <a:pPr marL="0" indent="0">
              <a:buNone/>
            </a:pPr>
            <a:r>
              <a:rPr lang="en-US" sz="2000" b="1" dirty="0">
                <a:latin typeface="Times New Roman" panose="02020603050405020304" pitchFamily="18" charset="0"/>
                <a:cs typeface="Times New Roman" panose="02020603050405020304" pitchFamily="18" charset="0"/>
              </a:rPr>
              <a:t>Now we will remove Y → Z.</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As Z → a, we add Y→ a, and Y → Z is removed.</a:t>
            </a:r>
          </a:p>
          <a:p>
            <a:pPr marL="0" indent="0">
              <a:buNone/>
            </a:pPr>
            <a:r>
              <a:rPr lang="en-US" sz="2000" dirty="0">
                <a:latin typeface="Times New Roman" panose="02020603050405020304" pitchFamily="18" charset="0"/>
                <a:cs typeface="Times New Roman" panose="02020603050405020304" pitchFamily="18" charset="0"/>
              </a:rPr>
              <a:t>The production set becomes</a:t>
            </a:r>
          </a:p>
          <a:p>
            <a:r>
              <a:rPr lang="en-US" sz="2000" dirty="0">
                <a:latin typeface="Times New Roman" panose="02020603050405020304" pitchFamily="18" charset="0"/>
                <a:cs typeface="Times New Roman" panose="02020603050405020304" pitchFamily="18" charset="0"/>
              </a:rPr>
              <a:t>S → XY, X → a, Y → a | b, Z → a, M → a, N → a</a:t>
            </a:r>
          </a:p>
          <a:p>
            <a:r>
              <a:rPr lang="en-US" sz="2000" dirty="0">
                <a:latin typeface="Times New Roman" panose="02020603050405020304" pitchFamily="18" charset="0"/>
                <a:cs typeface="Times New Roman" panose="02020603050405020304" pitchFamily="18" charset="0"/>
              </a:rPr>
              <a:t>Now Z, M, and N are unreachable, hence we can remove those.</a:t>
            </a:r>
          </a:p>
          <a:p>
            <a:pPr marL="0" indent="0">
              <a:buNone/>
            </a:pPr>
            <a:r>
              <a:rPr lang="en-US" sz="2000" dirty="0">
                <a:latin typeface="Times New Roman" panose="02020603050405020304" pitchFamily="18" charset="0"/>
                <a:cs typeface="Times New Roman" panose="02020603050405020304" pitchFamily="18" charset="0"/>
              </a:rPr>
              <a:t>The final CFG is unit production free −</a:t>
            </a:r>
          </a:p>
          <a:p>
            <a:r>
              <a:rPr lang="en-US" sz="2000" dirty="0">
                <a:latin typeface="Times New Roman" panose="02020603050405020304" pitchFamily="18" charset="0"/>
                <a:cs typeface="Times New Roman" panose="02020603050405020304" pitchFamily="18" charset="0"/>
              </a:rPr>
              <a:t>S → XY, X → a, Y → a | b</a:t>
            </a: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0F544E9-820D-4D3D-BE7C-CB6791621542}"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7" name="Title 1"/>
          <p:cNvSpPr txBox="1">
            <a:spLocks/>
          </p:cNvSpPr>
          <p:nvPr/>
        </p:nvSpPr>
        <p:spPr>
          <a:xfrm>
            <a:off x="1600200" y="1"/>
            <a:ext cx="75438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b="1" dirty="0">
                <a:latin typeface="Times New Roman" panose="02020603050405020304" pitchFamily="18" charset="0"/>
                <a:cs typeface="Times New Roman" panose="02020603050405020304" pitchFamily="18" charset="0"/>
              </a:rPr>
              <a:t>Removal of Unit Productions[Example]Continue…</a:t>
            </a:r>
          </a:p>
        </p:txBody>
      </p:sp>
      <p:sp>
        <p:nvSpPr>
          <p:cNvPr id="2" name="Footer Placeholder 12">
            <a:extLst>
              <a:ext uri="{FF2B5EF4-FFF2-40B4-BE49-F238E27FC236}">
                <a16:creationId xmlns:a16="http://schemas.microsoft.com/office/drawing/2014/main" id="{88C82723-6ACF-FC30-480C-F18CF6647CA5}"/>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557419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219200"/>
            <a:ext cx="8153400" cy="4525963"/>
          </a:xfrm>
        </p:spPr>
        <p:txBody>
          <a:bodyPr>
            <a:normAutofit/>
          </a:bodyPr>
          <a:lstStyle/>
          <a:p>
            <a:pPr algn="just"/>
            <a:r>
              <a:rPr lang="en-US" sz="2200" dirty="0">
                <a:latin typeface="Times New Roman" panose="02020603050405020304" pitchFamily="18" charset="0"/>
                <a:cs typeface="Times New Roman" panose="02020603050405020304" pitchFamily="18" charset="0"/>
              </a:rPr>
              <a:t>Informally a pushdown automata (PDA) is </a:t>
            </a:r>
            <a:r>
              <a:rPr lang="en-US" sz="2200" dirty="0" smtClean="0">
                <a:latin typeface="Times New Roman" panose="02020603050405020304" pitchFamily="18" charset="0"/>
                <a:cs typeface="Times New Roman" panose="02020603050405020304" pitchFamily="18" charset="0"/>
              </a:rPr>
              <a:t>Finite Automata with control of both an input tape and a Stack to store what it has read.</a:t>
            </a:r>
            <a:endParaRPr lang="en-US" sz="2200" dirty="0">
              <a:latin typeface="Times New Roman" panose="02020603050405020304" pitchFamily="18" charset="0"/>
              <a:cs typeface="Times New Roman" panose="02020603050405020304" pitchFamily="18" charset="0"/>
            </a:endParaRPr>
          </a:p>
        </p:txBody>
      </p:sp>
      <p:graphicFrame>
        <p:nvGraphicFramePr>
          <p:cNvPr id="17" name="Content Placeholder 16"/>
          <p:cNvGraphicFramePr>
            <a:graphicFrameLocks noGrp="1"/>
          </p:cNvGraphicFramePr>
          <p:nvPr>
            <p:ph sz="half" idx="2"/>
          </p:nvPr>
        </p:nvGraphicFramePr>
        <p:xfrm>
          <a:off x="1752600" y="2677160"/>
          <a:ext cx="5410200" cy="370840"/>
        </p:xfrm>
        <a:graphic>
          <a:graphicData uri="http://schemas.openxmlformats.org/drawingml/2006/table">
            <a:tbl>
              <a:tblPr firstRow="1" bandRow="1">
                <a:tableStyleId>{5C22544A-7EE6-4342-B048-85BDC9FD1C3A}</a:tableStyleId>
              </a:tblPr>
              <a:tblGrid>
                <a:gridCol w="541020">
                  <a:extLst>
                    <a:ext uri="{9D8B030D-6E8A-4147-A177-3AD203B41FA5}">
                      <a16:colId xmlns:a16="http://schemas.microsoft.com/office/drawing/2014/main" val="20000"/>
                    </a:ext>
                  </a:extLst>
                </a:gridCol>
                <a:gridCol w="541020">
                  <a:extLst>
                    <a:ext uri="{9D8B030D-6E8A-4147-A177-3AD203B41FA5}">
                      <a16:colId xmlns:a16="http://schemas.microsoft.com/office/drawing/2014/main" val="20001"/>
                    </a:ext>
                  </a:extLst>
                </a:gridCol>
                <a:gridCol w="541020">
                  <a:extLst>
                    <a:ext uri="{9D8B030D-6E8A-4147-A177-3AD203B41FA5}">
                      <a16:colId xmlns:a16="http://schemas.microsoft.com/office/drawing/2014/main" val="20002"/>
                    </a:ext>
                  </a:extLst>
                </a:gridCol>
                <a:gridCol w="541020">
                  <a:extLst>
                    <a:ext uri="{9D8B030D-6E8A-4147-A177-3AD203B41FA5}">
                      <a16:colId xmlns:a16="http://schemas.microsoft.com/office/drawing/2014/main" val="20003"/>
                    </a:ext>
                  </a:extLst>
                </a:gridCol>
                <a:gridCol w="541020">
                  <a:extLst>
                    <a:ext uri="{9D8B030D-6E8A-4147-A177-3AD203B41FA5}">
                      <a16:colId xmlns:a16="http://schemas.microsoft.com/office/drawing/2014/main" val="20004"/>
                    </a:ext>
                  </a:extLst>
                </a:gridCol>
                <a:gridCol w="541020">
                  <a:extLst>
                    <a:ext uri="{9D8B030D-6E8A-4147-A177-3AD203B41FA5}">
                      <a16:colId xmlns:a16="http://schemas.microsoft.com/office/drawing/2014/main" val="20005"/>
                    </a:ext>
                  </a:extLst>
                </a:gridCol>
                <a:gridCol w="541020">
                  <a:extLst>
                    <a:ext uri="{9D8B030D-6E8A-4147-A177-3AD203B41FA5}">
                      <a16:colId xmlns:a16="http://schemas.microsoft.com/office/drawing/2014/main" val="20006"/>
                    </a:ext>
                  </a:extLst>
                </a:gridCol>
                <a:gridCol w="541020">
                  <a:extLst>
                    <a:ext uri="{9D8B030D-6E8A-4147-A177-3AD203B41FA5}">
                      <a16:colId xmlns:a16="http://schemas.microsoft.com/office/drawing/2014/main" val="20007"/>
                    </a:ext>
                  </a:extLst>
                </a:gridCol>
                <a:gridCol w="541020">
                  <a:extLst>
                    <a:ext uri="{9D8B030D-6E8A-4147-A177-3AD203B41FA5}">
                      <a16:colId xmlns:a16="http://schemas.microsoft.com/office/drawing/2014/main" val="20008"/>
                    </a:ext>
                  </a:extLst>
                </a:gridCol>
                <a:gridCol w="541020">
                  <a:extLst>
                    <a:ext uri="{9D8B030D-6E8A-4147-A177-3AD203B41FA5}">
                      <a16:colId xmlns:a16="http://schemas.microsoft.com/office/drawing/2014/main" val="20009"/>
                    </a:ext>
                  </a:extLst>
                </a:gridCol>
              </a:tblGrid>
              <a:tr h="370840">
                <a:tc>
                  <a:txBody>
                    <a:bodyPr/>
                    <a:lstStyle/>
                    <a:p>
                      <a:pPr algn="ctr"/>
                      <a:r>
                        <a:rPr lang="en-US" dirty="0">
                          <a:solidFill>
                            <a:schemeClr val="tx1"/>
                          </a:solidFill>
                        </a:rPr>
                        <a:t>a</a:t>
                      </a:r>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9000"/>
                      </a:srgbClr>
                    </a:solidFill>
                  </a:tcPr>
                </a:tc>
                <a:tc>
                  <a:txBody>
                    <a:bodyPr/>
                    <a:lstStyle/>
                    <a:p>
                      <a:pPr algn="ctr"/>
                      <a:r>
                        <a:rPr lang="en-US" dirty="0">
                          <a:solidFill>
                            <a:schemeClr val="tx1"/>
                          </a:solidFill>
                        </a:rPr>
                        <a:t>b</a:t>
                      </a:r>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9000"/>
                      </a:srgbClr>
                    </a:solidFill>
                  </a:tcPr>
                </a:tc>
                <a:tc>
                  <a:txBody>
                    <a:bodyPr/>
                    <a:lstStyle/>
                    <a:p>
                      <a:pPr algn="ctr"/>
                      <a:r>
                        <a:rPr lang="en-US" dirty="0">
                          <a:solidFill>
                            <a:schemeClr val="tx1"/>
                          </a:solidFill>
                        </a:rPr>
                        <a:t>a</a:t>
                      </a:r>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9000"/>
                      </a:srgbClr>
                    </a:solidFill>
                  </a:tcPr>
                </a:tc>
                <a:tc>
                  <a:txBody>
                    <a:bodyPr/>
                    <a:lstStyle/>
                    <a:p>
                      <a:pPr algn="ctr"/>
                      <a:r>
                        <a:rPr lang="en-US" dirty="0">
                          <a:solidFill>
                            <a:schemeClr val="tx1"/>
                          </a:solidFill>
                        </a:rPr>
                        <a:t>b</a:t>
                      </a:r>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9000"/>
                      </a:srgbClr>
                    </a:solidFill>
                  </a:tcPr>
                </a:tc>
                <a:tc>
                  <a:txBody>
                    <a:bodyPr/>
                    <a:lstStyle/>
                    <a:p>
                      <a:pPr algn="ctr"/>
                      <a:r>
                        <a:rPr lang="en-US" dirty="0">
                          <a:solidFill>
                            <a:schemeClr val="tx1"/>
                          </a:solidFill>
                        </a:rPr>
                        <a:t>b</a:t>
                      </a:r>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9000"/>
                      </a:srgbClr>
                    </a:solidFill>
                  </a:tcPr>
                </a:tc>
                <a:tc>
                  <a:txBody>
                    <a:bodyPr/>
                    <a:lstStyle/>
                    <a:p>
                      <a:pPr algn="ctr"/>
                      <a:r>
                        <a:rPr lang="en-US" dirty="0">
                          <a:solidFill>
                            <a:schemeClr val="tx1"/>
                          </a:solidFill>
                        </a:rPr>
                        <a:t>b</a:t>
                      </a:r>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9000"/>
                      </a:srgbClr>
                    </a:solidFill>
                  </a:tcPr>
                </a:tc>
                <a:tc>
                  <a:txBody>
                    <a:bodyPr/>
                    <a:lstStyle/>
                    <a:p>
                      <a:pPr algn="ctr"/>
                      <a:r>
                        <a:rPr lang="en-US" dirty="0">
                          <a:solidFill>
                            <a:schemeClr val="tx1"/>
                          </a:solidFill>
                        </a:rPr>
                        <a:t>a</a:t>
                      </a:r>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9000"/>
                      </a:srgbClr>
                    </a:solidFill>
                  </a:tcPr>
                </a:tc>
                <a:tc>
                  <a:txBody>
                    <a:bodyPr/>
                    <a:lstStyle/>
                    <a:p>
                      <a:pPr algn="ctr"/>
                      <a:r>
                        <a:rPr lang="en-US" dirty="0">
                          <a:solidFill>
                            <a:schemeClr val="tx1"/>
                          </a:solidFill>
                        </a:rPr>
                        <a:t>a</a:t>
                      </a:r>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9000"/>
                      </a:srgbClr>
                    </a:solidFill>
                  </a:tcPr>
                </a:tc>
                <a:tc>
                  <a:txBody>
                    <a:bodyPr/>
                    <a:lstStyle/>
                    <a:p>
                      <a:pPr algn="ctr"/>
                      <a:r>
                        <a:rPr lang="en-US" dirty="0">
                          <a:solidFill>
                            <a:schemeClr val="tx1"/>
                          </a:solidFill>
                        </a:rPr>
                        <a:t>a</a:t>
                      </a:r>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9000"/>
                      </a:srgbClr>
                    </a:solidFill>
                  </a:tcPr>
                </a:tc>
                <a:tc>
                  <a:txBody>
                    <a:bodyPr/>
                    <a:lstStyle/>
                    <a:p>
                      <a:pPr algn="ctr"/>
                      <a:r>
                        <a:rPr lang="en-US" dirty="0">
                          <a:solidFill>
                            <a:schemeClr val="tx1"/>
                          </a:solidFill>
                        </a:rPr>
                        <a:t>b</a:t>
                      </a:r>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9000"/>
                      </a:srgbClr>
                    </a:solidFill>
                  </a:tcPr>
                </a:tc>
                <a:extLst>
                  <a:ext uri="{0D108BD9-81ED-4DB2-BD59-A6C34878D82A}">
                    <a16:rowId xmlns:a16="http://schemas.microsoft.com/office/drawing/2014/main" val="10000"/>
                  </a:ext>
                </a:extLst>
              </a:tr>
            </a:tbl>
          </a:graphicData>
        </a:graphic>
      </p:graphicFrame>
      <p:sp>
        <p:nvSpPr>
          <p:cNvPr id="4" name="Date Placeholder 3"/>
          <p:cNvSpPr>
            <a:spLocks noGrp="1"/>
          </p:cNvSpPr>
          <p:nvPr>
            <p:ph type="dt" sz="half" idx="10"/>
          </p:nvPr>
        </p:nvSpPr>
        <p:spPr/>
        <p:txBody>
          <a:bodyPr/>
          <a:lstStyle/>
          <a:p>
            <a:fld id="{EEDB298A-C866-4B37-8A42-5E8318C2CC15}"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dirty="0"/>
          </a:p>
        </p:txBody>
      </p:sp>
      <p:sp>
        <p:nvSpPr>
          <p:cNvPr id="22" name="Title 1"/>
          <p:cNvSpPr txBox="1">
            <a:spLocks/>
          </p:cNvSpPr>
          <p:nvPr/>
        </p:nvSpPr>
        <p:spPr>
          <a:xfrm>
            <a:off x="1371600" y="0"/>
            <a:ext cx="7772400" cy="8382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 Pushdown Automata</a:t>
            </a:r>
          </a:p>
        </p:txBody>
      </p:sp>
      <p:sp>
        <p:nvSpPr>
          <p:cNvPr id="13" name="TextBox 12">
            <a:extLst>
              <a:ext uri="{FF2B5EF4-FFF2-40B4-BE49-F238E27FC236}">
                <a16:creationId xmlns:a16="http://schemas.microsoft.com/office/drawing/2014/main" id="{951A265B-B20E-40F1-852F-EF2020859399}"/>
              </a:ext>
            </a:extLst>
          </p:cNvPr>
          <p:cNvSpPr txBox="1"/>
          <p:nvPr/>
        </p:nvSpPr>
        <p:spPr>
          <a:xfrm>
            <a:off x="6324600" y="5528795"/>
            <a:ext cx="1066800" cy="430887"/>
          </a:xfrm>
          <a:prstGeom prst="rect">
            <a:avLst/>
          </a:prstGeom>
          <a:noFill/>
        </p:spPr>
        <p:txBody>
          <a:bodyPr wrap="square" rtlCol="0">
            <a:spAutoFit/>
          </a:bodyPr>
          <a:lstStyle/>
          <a:p>
            <a:pPr algn="ctr"/>
            <a:r>
              <a:rPr lang="en-US" sz="2200" dirty="0"/>
              <a:t>Stack</a:t>
            </a:r>
          </a:p>
        </p:txBody>
      </p:sp>
      <p:grpSp>
        <p:nvGrpSpPr>
          <p:cNvPr id="33" name="Group 32"/>
          <p:cNvGrpSpPr/>
          <p:nvPr/>
        </p:nvGrpSpPr>
        <p:grpSpPr>
          <a:xfrm>
            <a:off x="3537529" y="2133600"/>
            <a:ext cx="2863271" cy="3214251"/>
            <a:chOff x="3537529" y="2133600"/>
            <a:chExt cx="2863271" cy="3214251"/>
          </a:xfrm>
        </p:grpSpPr>
        <p:sp>
          <p:nvSpPr>
            <p:cNvPr id="10" name="Rectangle 9">
              <a:extLst>
                <a:ext uri="{FF2B5EF4-FFF2-40B4-BE49-F238E27FC236}">
                  <a16:creationId xmlns:a16="http://schemas.microsoft.com/office/drawing/2014/main" id="{48084C23-5414-4CCE-A739-AB27AFB5564A}"/>
                </a:ext>
              </a:extLst>
            </p:cNvPr>
            <p:cNvSpPr/>
            <p:nvPr/>
          </p:nvSpPr>
          <p:spPr>
            <a:xfrm>
              <a:off x="4140193" y="3962400"/>
              <a:ext cx="1295400" cy="1295400"/>
            </a:xfrm>
            <a:prstGeom prst="rect">
              <a:avLst/>
            </a:prstGeom>
            <a:solidFill>
              <a:srgbClr val="FF9999">
                <a:alpha val="40000"/>
              </a:srgbClr>
            </a:solidFill>
            <a:ln>
              <a:solidFill>
                <a:srgbClr val="7BE5E5">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Finite Control</a:t>
              </a:r>
            </a:p>
          </p:txBody>
        </p:sp>
        <p:sp>
          <p:nvSpPr>
            <p:cNvPr id="12" name="TextBox 11">
              <a:extLst>
                <a:ext uri="{FF2B5EF4-FFF2-40B4-BE49-F238E27FC236}">
                  <a16:creationId xmlns:a16="http://schemas.microsoft.com/office/drawing/2014/main" id="{C24E7FF5-4A5F-48E2-A95E-C4EDDE070872}"/>
                </a:ext>
              </a:extLst>
            </p:cNvPr>
            <p:cNvSpPr txBox="1"/>
            <p:nvPr/>
          </p:nvSpPr>
          <p:spPr>
            <a:xfrm>
              <a:off x="3537529" y="2133600"/>
              <a:ext cx="2770908" cy="430887"/>
            </a:xfrm>
            <a:prstGeom prst="rect">
              <a:avLst/>
            </a:prstGeom>
            <a:noFill/>
            <a:ln>
              <a:noFill/>
            </a:ln>
          </p:spPr>
          <p:txBody>
            <a:bodyPr wrap="square" rtlCol="0">
              <a:spAutoFit/>
            </a:bodyPr>
            <a:lstStyle/>
            <a:p>
              <a:r>
                <a:rPr lang="en-US" sz="2200" dirty="0"/>
                <a:t>             Input Tape</a:t>
              </a:r>
            </a:p>
          </p:txBody>
        </p:sp>
        <p:cxnSp>
          <p:nvCxnSpPr>
            <p:cNvPr id="14" name="Connector: Elbow 18">
              <a:extLst>
                <a:ext uri="{FF2B5EF4-FFF2-40B4-BE49-F238E27FC236}">
                  <a16:creationId xmlns:a16="http://schemas.microsoft.com/office/drawing/2014/main" id="{7286F613-2E52-4881-A719-ED577EBD2859}"/>
                </a:ext>
              </a:extLst>
            </p:cNvPr>
            <p:cNvCxnSpPr>
              <a:cxnSpLocks/>
            </p:cNvCxnSpPr>
            <p:nvPr/>
          </p:nvCxnSpPr>
          <p:spPr>
            <a:xfrm rot="16200000" flipV="1">
              <a:off x="4032246" y="3206754"/>
              <a:ext cx="914400" cy="596892"/>
            </a:xfrm>
            <a:prstGeom prst="bentConnector3">
              <a:avLst>
                <a:gd name="adj1" fmla="val 50000"/>
              </a:avLst>
            </a:prstGeom>
            <a:ln w="31750">
              <a:solidFill>
                <a:srgbClr val="7BE5E5"/>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45">
              <a:extLst>
                <a:ext uri="{FF2B5EF4-FFF2-40B4-BE49-F238E27FC236}">
                  <a16:creationId xmlns:a16="http://schemas.microsoft.com/office/drawing/2014/main" id="{60307CB1-46AE-4A5A-B0AF-D81D60520040}"/>
                </a:ext>
              </a:extLst>
            </p:cNvPr>
            <p:cNvCxnSpPr>
              <a:cxnSpLocks/>
              <a:stCxn id="10" idx="3"/>
            </p:cNvCxnSpPr>
            <p:nvPr/>
          </p:nvCxnSpPr>
          <p:spPr>
            <a:xfrm>
              <a:off x="5435593" y="4610100"/>
              <a:ext cx="965207" cy="737751"/>
            </a:xfrm>
            <a:prstGeom prst="bentConnector3">
              <a:avLst>
                <a:gd name="adj1" fmla="val 50000"/>
              </a:avLst>
            </a:prstGeom>
            <a:ln w="31750">
              <a:solidFill>
                <a:srgbClr val="7BE5E5"/>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19" name="Table 18"/>
          <p:cNvGraphicFramePr>
            <a:graphicFrameLocks noGrp="1"/>
          </p:cNvGraphicFramePr>
          <p:nvPr/>
        </p:nvGraphicFramePr>
        <p:xfrm>
          <a:off x="6400800" y="3606800"/>
          <a:ext cx="762000" cy="1879600"/>
        </p:xfrm>
        <a:graphic>
          <a:graphicData uri="http://schemas.openxmlformats.org/drawingml/2006/table">
            <a:tbl>
              <a:tblPr>
                <a:tableStyleId>{5C22544A-7EE6-4342-B048-85BDC9FD1C3A}</a:tableStyleId>
              </a:tblPr>
              <a:tblGrid>
                <a:gridCol w="762000">
                  <a:extLst>
                    <a:ext uri="{9D8B030D-6E8A-4147-A177-3AD203B41FA5}">
                      <a16:colId xmlns:a16="http://schemas.microsoft.com/office/drawing/2014/main" val="20000"/>
                    </a:ext>
                  </a:extLst>
                </a:gridCol>
              </a:tblGrid>
              <a:tr h="375920">
                <a:tc>
                  <a:txBody>
                    <a:bodyPr/>
                    <a:lstStyle/>
                    <a:p>
                      <a:endParaRPr lang="en-US" dirty="0"/>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0000"/>
                      </a:srgbClr>
                    </a:solidFill>
                  </a:tcPr>
                </a:tc>
                <a:extLst>
                  <a:ext uri="{0D108BD9-81ED-4DB2-BD59-A6C34878D82A}">
                    <a16:rowId xmlns:a16="http://schemas.microsoft.com/office/drawing/2014/main" val="10000"/>
                  </a:ext>
                </a:extLst>
              </a:tr>
              <a:tr h="375920">
                <a:tc>
                  <a:txBody>
                    <a:bodyPr/>
                    <a:lstStyle/>
                    <a:p>
                      <a:endParaRPr lang="en-US"/>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0000"/>
                      </a:srgbClr>
                    </a:solidFill>
                  </a:tcPr>
                </a:tc>
                <a:extLst>
                  <a:ext uri="{0D108BD9-81ED-4DB2-BD59-A6C34878D82A}">
                    <a16:rowId xmlns:a16="http://schemas.microsoft.com/office/drawing/2014/main" val="10001"/>
                  </a:ext>
                </a:extLst>
              </a:tr>
              <a:tr h="375920">
                <a:tc>
                  <a:txBody>
                    <a:bodyPr/>
                    <a:lstStyle/>
                    <a:p>
                      <a:endParaRPr lang="en-US" dirty="0"/>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0000"/>
                      </a:srgbClr>
                    </a:solidFill>
                  </a:tcPr>
                </a:tc>
                <a:extLst>
                  <a:ext uri="{0D108BD9-81ED-4DB2-BD59-A6C34878D82A}">
                    <a16:rowId xmlns:a16="http://schemas.microsoft.com/office/drawing/2014/main" val="10002"/>
                  </a:ext>
                </a:extLst>
              </a:tr>
              <a:tr h="375920">
                <a:tc>
                  <a:txBody>
                    <a:bodyPr/>
                    <a:lstStyle/>
                    <a:p>
                      <a:endParaRPr lang="en-US"/>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0000"/>
                      </a:srgbClr>
                    </a:solidFill>
                  </a:tcPr>
                </a:tc>
                <a:extLst>
                  <a:ext uri="{0D108BD9-81ED-4DB2-BD59-A6C34878D82A}">
                    <a16:rowId xmlns:a16="http://schemas.microsoft.com/office/drawing/2014/main" val="10003"/>
                  </a:ext>
                </a:extLst>
              </a:tr>
              <a:tr h="375920">
                <a:tc>
                  <a:txBody>
                    <a:bodyPr/>
                    <a:lstStyle/>
                    <a:p>
                      <a:pPr algn="ctr"/>
                      <a:r>
                        <a:rPr lang="en-US" b="1" dirty="0"/>
                        <a:t>Z</a:t>
                      </a:r>
                      <a:r>
                        <a:rPr lang="en-US" b="1" baseline="-12000" dirty="0"/>
                        <a:t>0</a:t>
                      </a:r>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FF9999">
                        <a:alpha val="40000"/>
                      </a:srgbClr>
                    </a:solidFill>
                  </a:tcPr>
                </a:tc>
                <a:extLst>
                  <a:ext uri="{0D108BD9-81ED-4DB2-BD59-A6C34878D82A}">
                    <a16:rowId xmlns:a16="http://schemas.microsoft.com/office/drawing/2014/main" val="10004"/>
                  </a:ext>
                </a:extLst>
              </a:tr>
            </a:tbl>
          </a:graphicData>
        </a:graphic>
      </p:graphicFrame>
      <p:pic>
        <p:nvPicPr>
          <p:cNvPr id="2" name="object 20">
            <a:extLst>
              <a:ext uri="{FF2B5EF4-FFF2-40B4-BE49-F238E27FC236}">
                <a16:creationId xmlns:a16="http://schemas.microsoft.com/office/drawing/2014/main" id="{A0713746-38CC-D8E5-B2F5-E9F77D9D37E4}"/>
              </a:ext>
            </a:extLst>
          </p:cNvPr>
          <p:cNvPicPr/>
          <p:nvPr/>
        </p:nvPicPr>
        <p:blipFill>
          <a:blip r:embed="rId2" cstate="print"/>
          <a:stretch>
            <a:fillRect/>
          </a:stretch>
        </p:blipFill>
        <p:spPr>
          <a:xfrm>
            <a:off x="0" y="-18108"/>
            <a:ext cx="1676400" cy="888057"/>
          </a:xfrm>
          <a:prstGeom prst="rect">
            <a:avLst/>
          </a:prstGeom>
        </p:spPr>
      </p:pic>
      <p:sp>
        <p:nvSpPr>
          <p:cNvPr id="5" name="Footer Placeholder 12">
            <a:extLst>
              <a:ext uri="{FF2B5EF4-FFF2-40B4-BE49-F238E27FC236}">
                <a16:creationId xmlns:a16="http://schemas.microsoft.com/office/drawing/2014/main" id="{F12A86F6-FE6E-73AF-C9A6-0D7D41D003EE}"/>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algn="just"/>
            <a:endParaRPr lang="en-US" dirty="0"/>
          </a:p>
          <a:p>
            <a:pPr algn="just"/>
            <a:endParaRPr lang="en-US" sz="2000" dirty="0"/>
          </a:p>
        </p:txBody>
      </p:sp>
      <p:sp>
        <p:nvSpPr>
          <p:cNvPr id="9" name="Content Placeholder 8"/>
          <p:cNvSpPr>
            <a:spLocks noGrp="1"/>
          </p:cNvSpPr>
          <p:nvPr>
            <p:ph sz="half" idx="2"/>
          </p:nvPr>
        </p:nvSpPr>
        <p:spPr>
          <a:xfrm>
            <a:off x="609600" y="1447800"/>
            <a:ext cx="8077200" cy="4525963"/>
          </a:xfrm>
        </p:spPr>
        <p:txBody>
          <a:bodyPr>
            <a:normAutofit/>
          </a:bodyPr>
          <a:lstStyle/>
          <a:p>
            <a:pPr marL="176213" indent="-176213">
              <a:lnSpc>
                <a:spcPct val="150000"/>
              </a:lnSpc>
              <a:spcBef>
                <a:spcPts val="0"/>
              </a:spcBef>
            </a:pPr>
            <a:r>
              <a:rPr lang="en-US" sz="2000" dirty="0">
                <a:latin typeface="Times New Roman" panose="02020603050405020304" pitchFamily="18" charset="0"/>
                <a:cs typeface="Times New Roman" panose="02020603050405020304" pitchFamily="18" charset="0"/>
              </a:rPr>
              <a:t>A pushdown automaton (PDA) is a finite automaton equipped with a stack-based memory. </a:t>
            </a:r>
          </a:p>
          <a:p>
            <a:pPr marL="176213" indent="-176213">
              <a:lnSpc>
                <a:spcPct val="150000"/>
              </a:lnSpc>
              <a:spcBef>
                <a:spcPts val="0"/>
              </a:spcBef>
            </a:pPr>
            <a:r>
              <a:rPr lang="en-US" sz="2000" dirty="0">
                <a:latin typeface="Times New Roman" panose="02020603050405020304" pitchFamily="18" charset="0"/>
                <a:cs typeface="Times New Roman" panose="02020603050405020304" pitchFamily="18" charset="0"/>
              </a:rPr>
              <a:t>Each transition </a:t>
            </a:r>
          </a:p>
          <a:p>
            <a:pPr marL="738188" lvl="1" indent="-176213">
              <a:lnSpc>
                <a:spcPct val="150000"/>
              </a:lnSpc>
              <a:spcBef>
                <a:spcPts val="0"/>
              </a:spcBef>
              <a:buFont typeface="Arial" pitchFamily="34" charset="0"/>
              <a:buChar char="•"/>
            </a:pPr>
            <a:r>
              <a:rPr lang="en-US" sz="2000" dirty="0">
                <a:latin typeface="Times New Roman" panose="02020603050405020304" pitchFamily="18" charset="0"/>
                <a:cs typeface="Times New Roman" panose="02020603050405020304" pitchFamily="18" charset="0"/>
              </a:rPr>
              <a:t> is based on the current input symbol and the top of the stack, </a:t>
            </a:r>
          </a:p>
          <a:p>
            <a:pPr marL="738188" lvl="1" indent="-176213">
              <a:lnSpc>
                <a:spcPct val="150000"/>
              </a:lnSpc>
              <a:spcBef>
                <a:spcPts val="0"/>
              </a:spcBef>
              <a:buFont typeface="Arial" pitchFamily="34" charset="0"/>
              <a:buChar char="•"/>
            </a:pPr>
            <a:r>
              <a:rPr lang="en-US" sz="2000" dirty="0">
                <a:latin typeface="Times New Roman" panose="02020603050405020304" pitchFamily="18" charset="0"/>
                <a:cs typeface="Times New Roman" panose="02020603050405020304" pitchFamily="18" charset="0"/>
              </a:rPr>
              <a:t> optionally pops the top of the stack, and </a:t>
            </a:r>
          </a:p>
          <a:p>
            <a:pPr marL="738188" lvl="1" indent="-176213">
              <a:lnSpc>
                <a:spcPct val="150000"/>
              </a:lnSpc>
              <a:spcBef>
                <a:spcPts val="0"/>
              </a:spcBef>
              <a:buFont typeface="Arial" pitchFamily="34" charset="0"/>
              <a:buChar char="•"/>
            </a:pPr>
            <a:r>
              <a:rPr lang="en-US" sz="2000" dirty="0">
                <a:latin typeface="Times New Roman" panose="02020603050405020304" pitchFamily="18" charset="0"/>
                <a:cs typeface="Times New Roman" panose="02020603050405020304" pitchFamily="18" charset="0"/>
              </a:rPr>
              <a:t> optionally pushes new symbols onto the stack. </a:t>
            </a:r>
          </a:p>
          <a:p>
            <a:pPr marL="176213" indent="-176213">
              <a:lnSpc>
                <a:spcPct val="150000"/>
              </a:lnSpc>
              <a:spcBef>
                <a:spcPts val="0"/>
              </a:spcBef>
            </a:pPr>
            <a:r>
              <a:rPr lang="en-US" sz="2000" dirty="0">
                <a:latin typeface="Times New Roman" panose="02020603050405020304" pitchFamily="18" charset="0"/>
                <a:cs typeface="Times New Roman" panose="02020603050405020304" pitchFamily="18" charset="0"/>
              </a:rPr>
              <a:t> Initially, the stack holds a special symbol </a:t>
            </a:r>
            <a:r>
              <a:rPr lang="en-US" sz="2000" b="1" dirty="0">
                <a:latin typeface="Times New Roman" panose="02020603050405020304" pitchFamily="18" charset="0"/>
                <a:cs typeface="Times New Roman" panose="02020603050405020304" pitchFamily="18" charset="0"/>
              </a:rPr>
              <a:t>Z</a:t>
            </a:r>
            <a:r>
              <a:rPr lang="en-US" sz="2000" b="1" baseline="-25000" dirty="0">
                <a:latin typeface="Times New Roman" panose="02020603050405020304" pitchFamily="18" charset="0"/>
                <a:cs typeface="Times New Roman" panose="02020603050405020304" pitchFamily="18" charset="0"/>
              </a:rPr>
              <a:t>0</a:t>
            </a:r>
            <a:r>
              <a:rPr lang="en-US" sz="2000" baseline="-25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that indicates the bottom of the stack.</a:t>
            </a:r>
          </a:p>
          <a:p>
            <a:pPr>
              <a:buNone/>
            </a:pP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20B4C9F-F89A-4110-86C6-98DFAD25383F}"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dirty="0"/>
          </a:p>
        </p:txBody>
      </p:sp>
      <p:sp>
        <p:nvSpPr>
          <p:cNvPr id="22" name="Title 1"/>
          <p:cNvSpPr txBox="1">
            <a:spLocks/>
          </p:cNvSpPr>
          <p:nvPr/>
        </p:nvSpPr>
        <p:spPr>
          <a:xfrm>
            <a:off x="1371600" y="0"/>
            <a:ext cx="7772400" cy="8382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 Pushdown Automata</a:t>
            </a:r>
          </a:p>
        </p:txBody>
      </p:sp>
      <p:pic>
        <p:nvPicPr>
          <p:cNvPr id="2" name="object 20">
            <a:extLst>
              <a:ext uri="{FF2B5EF4-FFF2-40B4-BE49-F238E27FC236}">
                <a16:creationId xmlns:a16="http://schemas.microsoft.com/office/drawing/2014/main" id="{33D9326E-DA2D-ECE8-55ED-BCFD047B8CF9}"/>
              </a:ext>
            </a:extLst>
          </p:cNvPr>
          <p:cNvPicPr/>
          <p:nvPr/>
        </p:nvPicPr>
        <p:blipFill>
          <a:blip r:embed="rId2" cstate="print"/>
          <a:stretch>
            <a:fillRect/>
          </a:stretch>
        </p:blipFill>
        <p:spPr>
          <a:xfrm>
            <a:off x="0" y="-18108"/>
            <a:ext cx="1676400" cy="888057"/>
          </a:xfrm>
          <a:prstGeom prst="rect">
            <a:avLst/>
          </a:prstGeom>
        </p:spPr>
      </p:pic>
      <p:sp>
        <p:nvSpPr>
          <p:cNvPr id="5" name="Footer Placeholder 12">
            <a:extLst>
              <a:ext uri="{FF2B5EF4-FFF2-40B4-BE49-F238E27FC236}">
                <a16:creationId xmlns:a16="http://schemas.microsoft.com/office/drawing/2014/main" id="{9A533C2C-D3E4-C81C-292A-196306E97D13}"/>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algn="just"/>
            <a:endParaRPr lang="en-US" dirty="0"/>
          </a:p>
          <a:p>
            <a:pPr algn="just"/>
            <a:endParaRPr lang="en-US" sz="2000" dirty="0"/>
          </a:p>
        </p:txBody>
      </p:sp>
      <p:sp>
        <p:nvSpPr>
          <p:cNvPr id="9" name="Content Placeholder 8"/>
          <p:cNvSpPr>
            <a:spLocks noGrp="1"/>
          </p:cNvSpPr>
          <p:nvPr>
            <p:ph sz="half" idx="2"/>
          </p:nvPr>
        </p:nvSpPr>
        <p:spPr>
          <a:xfrm>
            <a:off x="533400" y="1066800"/>
            <a:ext cx="8153400" cy="5059363"/>
          </a:xfrm>
        </p:spPr>
        <p:txBody>
          <a:bodyPr>
            <a:normAutofit/>
          </a:bodyPr>
          <a:lstStyle/>
          <a:p>
            <a:pPr>
              <a:lnSpc>
                <a:spcPct val="150000"/>
              </a:lnSpc>
              <a:spcBef>
                <a:spcPts val="0"/>
              </a:spcBef>
              <a:buNone/>
            </a:pPr>
            <a:r>
              <a:rPr lang="en-US" sz="2000" dirty="0">
                <a:latin typeface="Times New Roman" panose="02020603050405020304" pitchFamily="18" charset="0"/>
                <a:cs typeface="Times New Roman" panose="02020603050405020304" pitchFamily="18" charset="0"/>
              </a:rPr>
              <a:t>PDA is a machine with 7-tuples </a:t>
            </a:r>
            <a:r>
              <a:rPr lang="en-US" sz="2000" b="1" dirty="0">
                <a:latin typeface="Times New Roman" panose="02020603050405020304" pitchFamily="18" charset="0"/>
                <a:cs typeface="Times New Roman" panose="02020603050405020304" pitchFamily="18" charset="0"/>
              </a:rPr>
              <a:t>M= (Q, Σ, Γ, δ, q</a:t>
            </a:r>
            <a:r>
              <a:rPr lang="en-US" sz="2000" b="1" baseline="-25000" dirty="0">
                <a:latin typeface="Times New Roman" panose="02020603050405020304" pitchFamily="18" charset="0"/>
                <a:cs typeface="Times New Roman" panose="02020603050405020304" pitchFamily="18" charset="0"/>
              </a:rPr>
              <a:t>0</a:t>
            </a:r>
            <a:r>
              <a:rPr lang="en-US" sz="2000" b="1" dirty="0">
                <a:latin typeface="Times New Roman" panose="02020603050405020304" pitchFamily="18" charset="0"/>
                <a:cs typeface="Times New Roman" panose="02020603050405020304" pitchFamily="18" charset="0"/>
              </a:rPr>
              <a:t>, Z</a:t>
            </a:r>
            <a:r>
              <a:rPr lang="en-US" sz="2000" b="1" baseline="-25000" dirty="0">
                <a:latin typeface="Times New Roman" panose="02020603050405020304" pitchFamily="18" charset="0"/>
                <a:cs typeface="Times New Roman" panose="02020603050405020304" pitchFamily="18" charset="0"/>
              </a:rPr>
              <a:t>0</a:t>
            </a:r>
            <a:r>
              <a:rPr lang="en-US" sz="2000" b="1" dirty="0">
                <a:latin typeface="Times New Roman" panose="02020603050405020304" pitchFamily="18" charset="0"/>
                <a:cs typeface="Times New Roman" panose="02020603050405020304" pitchFamily="18" charset="0"/>
              </a:rPr>
              <a:t>, F),</a:t>
            </a:r>
            <a:r>
              <a:rPr lang="en-US" sz="2000" dirty="0">
                <a:latin typeface="Times New Roman" panose="02020603050405020304" pitchFamily="18" charset="0"/>
                <a:cs typeface="Times New Roman" panose="02020603050405020304" pitchFamily="18" charset="0"/>
              </a:rPr>
              <a:t> where </a:t>
            </a:r>
          </a:p>
          <a:p>
            <a:pPr lvl="1">
              <a:lnSpc>
                <a:spcPct val="150000"/>
              </a:lnSpc>
              <a:spcBef>
                <a:spcPts val="0"/>
              </a:spcBef>
              <a:buFont typeface="Arial" pitchFamily="34" charset="0"/>
              <a:buChar char="•"/>
            </a:pPr>
            <a:r>
              <a:rPr lang="en-US" sz="2000" dirty="0">
                <a:latin typeface="Times New Roman" panose="02020603050405020304" pitchFamily="18" charset="0"/>
                <a:cs typeface="Times New Roman" panose="02020603050405020304" pitchFamily="18" charset="0"/>
              </a:rPr>
              <a:t>Q is a </a:t>
            </a:r>
            <a:r>
              <a:rPr lang="en-US" sz="2000" dirty="0" smtClean="0">
                <a:latin typeface="Times New Roman" panose="02020603050405020304" pitchFamily="18" charset="0"/>
                <a:cs typeface="Times New Roman" panose="02020603050405020304" pitchFamily="18" charset="0"/>
              </a:rPr>
              <a:t>non empty finite </a:t>
            </a:r>
            <a:r>
              <a:rPr lang="en-US" sz="2000" dirty="0">
                <a:latin typeface="Times New Roman" panose="02020603050405020304" pitchFamily="18" charset="0"/>
                <a:cs typeface="Times New Roman" panose="02020603050405020304" pitchFamily="18" charset="0"/>
              </a:rPr>
              <a:t>set of states, </a:t>
            </a:r>
          </a:p>
          <a:p>
            <a:pPr lvl="1">
              <a:lnSpc>
                <a:spcPct val="150000"/>
              </a:lnSpc>
              <a:spcBef>
                <a:spcPts val="0"/>
              </a:spcBef>
              <a:buFont typeface="Arial" pitchFamily="34" charset="0"/>
              <a:buChar char="•"/>
            </a:pPr>
            <a:r>
              <a:rPr lang="en-US" sz="2000" dirty="0">
                <a:latin typeface="Times New Roman" panose="02020603050405020304" pitchFamily="18" charset="0"/>
                <a:cs typeface="Times New Roman" panose="02020603050405020304" pitchFamily="18" charset="0"/>
              </a:rPr>
              <a:t> Σ is an </a:t>
            </a:r>
            <a:r>
              <a:rPr lang="en-US" sz="2000" dirty="0" smtClean="0">
                <a:latin typeface="Times New Roman" panose="02020603050405020304" pitchFamily="18" charset="0"/>
                <a:cs typeface="Times New Roman" panose="02020603050405020304" pitchFamily="18" charset="0"/>
              </a:rPr>
              <a:t>non empty finite set of input symbols, </a:t>
            </a:r>
            <a:endParaRPr lang="en-US" sz="2000" dirty="0">
              <a:latin typeface="Times New Roman" panose="02020603050405020304" pitchFamily="18" charset="0"/>
              <a:cs typeface="Times New Roman" panose="02020603050405020304" pitchFamily="18" charset="0"/>
            </a:endParaRPr>
          </a:p>
          <a:p>
            <a:pPr lvl="1">
              <a:lnSpc>
                <a:spcPct val="150000"/>
              </a:lnSpc>
              <a:spcBef>
                <a:spcPts val="0"/>
              </a:spcBef>
              <a:buFont typeface="Arial" pitchFamily="34" charset="0"/>
              <a:buChar char="•"/>
            </a:pPr>
            <a:r>
              <a:rPr lang="en-US" sz="2000" dirty="0">
                <a:latin typeface="Times New Roman" panose="02020603050405020304" pitchFamily="18" charset="0"/>
                <a:cs typeface="Times New Roman" panose="02020603050405020304" pitchFamily="18" charset="0"/>
              </a:rPr>
              <a:t> Γ is the stack alphabet of symbols that can be pushed on to the stack, </a:t>
            </a:r>
          </a:p>
          <a:p>
            <a:pPr lvl="1">
              <a:lnSpc>
                <a:spcPct val="150000"/>
              </a:lnSpc>
              <a:spcBef>
                <a:spcPts val="0"/>
              </a:spcBef>
              <a:buFont typeface="Arial" pitchFamily="34" charset="0"/>
              <a:buChar char="•"/>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δ :</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Q ×{ Σ ∪ Ɛ} × Γ *</a:t>
            </a:r>
            <a:r>
              <a:rPr lang="en-US" sz="2000" b="1" dirty="0" smtClean="0">
                <a:latin typeface="Times New Roman" panose="02020603050405020304" pitchFamily="18" charset="0"/>
                <a:cs typeface="Times New Roman" panose="02020603050405020304" pitchFamily="18" charset="0"/>
                <a:sym typeface="Symbol"/>
              </a:rPr>
              <a:t></a:t>
            </a: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(Q × Γ*)</a:t>
            </a:r>
            <a:r>
              <a:rPr lang="en-US" sz="2000" dirty="0">
                <a:latin typeface="Times New Roman" panose="02020603050405020304" pitchFamily="18" charset="0"/>
                <a:cs typeface="Times New Roman" panose="02020603050405020304" pitchFamily="18" charset="0"/>
              </a:rPr>
              <a:t> is the transition function,</a:t>
            </a:r>
          </a:p>
          <a:p>
            <a:pPr lvl="1">
              <a:lnSpc>
                <a:spcPct val="150000"/>
              </a:lnSpc>
              <a:spcBef>
                <a:spcPts val="0"/>
              </a:spcBef>
              <a:buFont typeface="Arial" pitchFamily="34" charset="0"/>
              <a:buChar char="•"/>
            </a:pPr>
            <a:r>
              <a:rPr lang="en-US" sz="2000" dirty="0">
                <a:latin typeface="Times New Roman" panose="02020603050405020304" pitchFamily="18" charset="0"/>
                <a:cs typeface="Times New Roman" panose="02020603050405020304" pitchFamily="18" charset="0"/>
              </a:rPr>
              <a:t> q</a:t>
            </a:r>
            <a:r>
              <a:rPr lang="en-US" sz="2000" baseline="-25000" dirty="0">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 Q is the start state, </a:t>
            </a:r>
          </a:p>
          <a:p>
            <a:pPr lvl="1">
              <a:lnSpc>
                <a:spcPct val="150000"/>
              </a:lnSpc>
              <a:spcBef>
                <a:spcPts val="0"/>
              </a:spcBef>
              <a:buFont typeface="Arial" pitchFamily="34" charset="0"/>
              <a:buChar char="•"/>
            </a:pPr>
            <a:r>
              <a:rPr lang="en-US" sz="2000" dirty="0">
                <a:latin typeface="Times New Roman" panose="02020603050405020304" pitchFamily="18" charset="0"/>
                <a:cs typeface="Times New Roman" panose="02020603050405020304" pitchFamily="18" charset="0"/>
              </a:rPr>
              <a:t> Z</a:t>
            </a:r>
            <a:r>
              <a:rPr lang="en-US" sz="2000" baseline="-25000" dirty="0">
                <a:latin typeface="Times New Roman" panose="02020603050405020304" pitchFamily="18" charset="0"/>
                <a:cs typeface="Times New Roman" panose="02020603050405020304" pitchFamily="18" charset="0"/>
              </a:rPr>
              <a:t>0 </a:t>
            </a:r>
            <a:r>
              <a:rPr lang="en-US" sz="2000" dirty="0">
                <a:latin typeface="Times New Roman" panose="02020603050405020304" pitchFamily="18" charset="0"/>
                <a:cs typeface="Times New Roman" panose="02020603050405020304" pitchFamily="18" charset="0"/>
              </a:rPr>
              <a:t>∈ Γ is the stack start symbol, and</a:t>
            </a:r>
          </a:p>
          <a:p>
            <a:pPr lvl="1">
              <a:lnSpc>
                <a:spcPct val="150000"/>
              </a:lnSpc>
              <a:spcBef>
                <a:spcPts val="0"/>
              </a:spcBef>
              <a:buFont typeface="Arial" pitchFamily="34" charset="0"/>
              <a:buChar char="•"/>
            </a:pPr>
            <a:r>
              <a:rPr lang="en-US" sz="2000" dirty="0">
                <a:latin typeface="Times New Roman" panose="02020603050405020304" pitchFamily="18" charset="0"/>
                <a:cs typeface="Times New Roman" panose="02020603050405020304" pitchFamily="18" charset="0"/>
              </a:rPr>
              <a:t> F ⊆ Q is the set of accepting states. </a:t>
            </a:r>
          </a:p>
        </p:txBody>
      </p:sp>
      <p:sp>
        <p:nvSpPr>
          <p:cNvPr id="4" name="Date Placeholder 3"/>
          <p:cNvSpPr>
            <a:spLocks noGrp="1"/>
          </p:cNvSpPr>
          <p:nvPr>
            <p:ph type="dt" sz="half" idx="10"/>
          </p:nvPr>
        </p:nvSpPr>
        <p:spPr/>
        <p:txBody>
          <a:bodyPr/>
          <a:lstStyle/>
          <a:p>
            <a:fld id="{55A112FE-1838-4DEB-A968-41C915DF4A15}"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dirty="0"/>
          </a:p>
        </p:txBody>
      </p:sp>
      <p:sp>
        <p:nvSpPr>
          <p:cNvPr id="22" name="Title 1"/>
          <p:cNvSpPr txBox="1">
            <a:spLocks/>
          </p:cNvSpPr>
          <p:nvPr/>
        </p:nvSpPr>
        <p:spPr>
          <a:xfrm>
            <a:off x="1371600" y="0"/>
            <a:ext cx="7772400" cy="8382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b="1" dirty="0"/>
              <a:t> Formal Definition of PDA</a:t>
            </a:r>
          </a:p>
        </p:txBody>
      </p:sp>
      <p:pic>
        <p:nvPicPr>
          <p:cNvPr id="2" name="object 20">
            <a:extLst>
              <a:ext uri="{FF2B5EF4-FFF2-40B4-BE49-F238E27FC236}">
                <a16:creationId xmlns:a16="http://schemas.microsoft.com/office/drawing/2014/main" id="{26F1FF81-BBBF-06E0-451C-4FB0BE4EB470}"/>
              </a:ext>
            </a:extLst>
          </p:cNvPr>
          <p:cNvPicPr/>
          <p:nvPr/>
        </p:nvPicPr>
        <p:blipFill>
          <a:blip r:embed="rId2" cstate="print"/>
          <a:stretch>
            <a:fillRect/>
          </a:stretch>
        </p:blipFill>
        <p:spPr>
          <a:xfrm>
            <a:off x="0" y="-18108"/>
            <a:ext cx="1371600" cy="888057"/>
          </a:xfrm>
          <a:prstGeom prst="rect">
            <a:avLst/>
          </a:prstGeom>
        </p:spPr>
      </p:pic>
      <p:sp>
        <p:nvSpPr>
          <p:cNvPr id="5" name="Footer Placeholder 12">
            <a:extLst>
              <a:ext uri="{FF2B5EF4-FFF2-40B4-BE49-F238E27FC236}">
                <a16:creationId xmlns:a16="http://schemas.microsoft.com/office/drawing/2014/main" id="{CCF6BF82-5EFD-6056-0790-0F3926253D04}"/>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EE90FF-5B6C-4E42-9CD0-CE31AB6AADA0}"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p:cNvSpPr txBox="1">
            <a:spLocks/>
          </p:cNvSpPr>
          <p:nvPr/>
        </p:nvSpPr>
        <p:spPr>
          <a:xfrm>
            <a:off x="1432560" y="0"/>
            <a:ext cx="7772400" cy="9144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Instantaneous Description of a PDA</a:t>
            </a:r>
          </a:p>
        </p:txBody>
      </p:sp>
      <p:pic>
        <p:nvPicPr>
          <p:cNvPr id="5" name="object 20">
            <a:extLst>
              <a:ext uri="{FF2B5EF4-FFF2-40B4-BE49-F238E27FC236}">
                <a16:creationId xmlns:a16="http://schemas.microsoft.com/office/drawing/2014/main" id="{DF271709-4ECA-A04D-6753-107256D3665B}"/>
              </a:ext>
            </a:extLst>
          </p:cNvPr>
          <p:cNvPicPr/>
          <p:nvPr/>
        </p:nvPicPr>
        <p:blipFill>
          <a:blip r:embed="rId2" cstate="print"/>
          <a:stretch>
            <a:fillRect/>
          </a:stretch>
        </p:blipFill>
        <p:spPr>
          <a:xfrm>
            <a:off x="0" y="-18108"/>
            <a:ext cx="1432560" cy="888057"/>
          </a:xfrm>
          <a:prstGeom prst="rect">
            <a:avLst/>
          </a:prstGeom>
        </p:spPr>
      </p:pic>
      <p:sp>
        <p:nvSpPr>
          <p:cNvPr id="9" name="Content Placeholder 1"/>
          <p:cNvSpPr>
            <a:spLocks noGrp="1"/>
          </p:cNvSpPr>
          <p:nvPr>
            <p:ph idx="1"/>
          </p:nvPr>
        </p:nvSpPr>
        <p:spPr>
          <a:xfrm>
            <a:off x="685800" y="1143000"/>
            <a:ext cx="8001000" cy="4983163"/>
          </a:xfrm>
        </p:spPr>
        <p:txBody>
          <a:bodyPr>
            <a:normAutofit/>
          </a:bodyPr>
          <a:lstStyle/>
          <a:p>
            <a:pPr algn="just"/>
            <a:r>
              <a:rPr lang="en-US" sz="2000" dirty="0">
                <a:latin typeface="Times New Roman" panose="02020603050405020304" pitchFamily="18" charset="0"/>
                <a:cs typeface="Times New Roman" panose="02020603050405020304" pitchFamily="18" charset="0"/>
              </a:rPr>
              <a:t>The Instantaneous description is called as an informal notation, and explains how a Push down automata (PDA) computes the given input string and makes a decision that the given string is accepted or rejected.</a:t>
            </a:r>
          </a:p>
          <a:p>
            <a:pPr algn="just"/>
            <a:r>
              <a:rPr lang="en-US" sz="2000" dirty="0">
                <a:latin typeface="Times New Roman" panose="02020603050405020304" pitchFamily="18" charset="0"/>
                <a:cs typeface="Times New Roman" panose="02020603050405020304" pitchFamily="18" charset="0"/>
              </a:rPr>
              <a:t>The PDA involves both state and content of the stack.</a:t>
            </a:r>
          </a:p>
          <a:p>
            <a:pPr algn="just"/>
            <a:r>
              <a:rPr lang="en-US" sz="2000" dirty="0">
                <a:latin typeface="Times New Roman" panose="02020603050405020304" pitchFamily="18" charset="0"/>
                <a:cs typeface="Times New Roman" panose="02020603050405020304" pitchFamily="18" charset="0"/>
              </a:rPr>
              <a:t>Stack is often one of the important parts of PDA at any time.</a:t>
            </a:r>
          </a:p>
          <a:p>
            <a:pPr algn="just"/>
            <a:r>
              <a:rPr lang="en-US" sz="2000" dirty="0">
                <a:latin typeface="Times New Roman" panose="02020603050405020304" pitchFamily="18" charset="0"/>
                <a:cs typeface="Times New Roman" panose="02020603050405020304" pitchFamily="18" charset="0"/>
              </a:rPr>
              <a:t>So, we make a convenient notation for describing the successive configurations of PDA for string processing.</a:t>
            </a:r>
          </a:p>
          <a:p>
            <a:pPr algn="just"/>
            <a:r>
              <a:rPr lang="en-US" sz="2000" dirty="0">
                <a:latin typeface="Times New Roman" panose="02020603050405020304" pitchFamily="18" charset="0"/>
                <a:cs typeface="Times New Roman" panose="02020603050405020304" pitchFamily="18" charset="0"/>
              </a:rPr>
              <a:t>The factors of PDA notation by triple (q, w, γ) were</a:t>
            </a:r>
          </a:p>
          <a:p>
            <a:pPr lvl="1" algn="just"/>
            <a:r>
              <a:rPr lang="en-US" sz="2000" dirty="0">
                <a:latin typeface="Times New Roman" panose="02020603050405020304" pitchFamily="18" charset="0"/>
                <a:cs typeface="Times New Roman" panose="02020603050405020304" pitchFamily="18" charset="0"/>
              </a:rPr>
              <a:t>q is the current state.</a:t>
            </a:r>
          </a:p>
          <a:p>
            <a:pPr lvl="1" algn="just"/>
            <a:r>
              <a:rPr lang="en-US" sz="2000" dirty="0">
                <a:latin typeface="Times New Roman" panose="02020603050405020304" pitchFamily="18" charset="0"/>
                <a:cs typeface="Times New Roman" panose="02020603050405020304" pitchFamily="18" charset="0"/>
              </a:rPr>
              <a:t>w is the remaining input alphabet.</a:t>
            </a:r>
          </a:p>
          <a:p>
            <a:pPr lvl="1" algn="just"/>
            <a:r>
              <a:rPr lang="en-US" sz="2000" dirty="0">
                <a:latin typeface="Times New Roman" panose="02020603050405020304" pitchFamily="18" charset="0"/>
                <a:cs typeface="Times New Roman" panose="02020603050405020304" pitchFamily="18" charset="0"/>
              </a:rPr>
              <a:t>γ is the current contents of the PDA stack.</a:t>
            </a:r>
          </a:p>
          <a:p>
            <a:pPr algn="just">
              <a:lnSpc>
                <a:spcPct val="80000"/>
              </a:lnSpc>
            </a:pPr>
            <a:endParaRPr lang="en-US" altLang="en-US" sz="2000" dirty="0">
              <a:latin typeface="Times New Roman" panose="02020603050405020304" pitchFamily="18" charset="0"/>
              <a:cs typeface="Times New Roman" panose="02020603050405020304" pitchFamily="18" charset="0"/>
            </a:endParaRPr>
          </a:p>
          <a:p>
            <a:pPr algn="just">
              <a:lnSpc>
                <a:spcPct val="80000"/>
              </a:lnSpc>
            </a:pPr>
            <a:r>
              <a:rPr lang="en-US" altLang="en-US" sz="2000" dirty="0">
                <a:latin typeface="Times New Roman" panose="02020603050405020304" pitchFamily="18" charset="0"/>
                <a:cs typeface="Times New Roman" panose="02020603050405020304" pitchFamily="18" charset="0"/>
              </a:rPr>
              <a:t>Generally, the leftmost symbol indicates the top of the stack γ and the bottom at the right end. This type of triple notation is called an instantaneous description or ID of the pushdown automata.</a:t>
            </a:r>
            <a:endParaRPr lang="en-US" sz="2000" dirty="0">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0BF52F16-BEA9-081B-04FA-D9FAF915E25A}"/>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122012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circle(in)">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circle(in)">
                                      <p:cBhvr>
                                        <p:cTn id="12" dur="20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circle(in)">
                                      <p:cBhvr>
                                        <p:cTn id="17" dur="20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circle(in)">
                                      <p:cBhvr>
                                        <p:cTn id="22" dur="20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circle(in)">
                                      <p:cBhvr>
                                        <p:cTn id="27" dur="2000"/>
                                        <p:tgtEl>
                                          <p:spTgt spid="9">
                                            <p:txEl>
                                              <p:pRg st="4" end="4"/>
                                            </p:txEl>
                                          </p:spTgt>
                                        </p:tgtEl>
                                      </p:cBhvr>
                                    </p:animEffect>
                                  </p:childTnLst>
                                </p:cTn>
                              </p:par>
                              <p:par>
                                <p:cTn id="28" presetID="6" presetClass="entr" presetSubtype="16" fill="hold" grpId="0" nodeType="withEffect">
                                  <p:stCondLst>
                                    <p:cond delay="0"/>
                                  </p:stCondLst>
                                  <p:childTnLst>
                                    <p:set>
                                      <p:cBhvr>
                                        <p:cTn id="29" dur="1" fill="hold">
                                          <p:stCondLst>
                                            <p:cond delay="0"/>
                                          </p:stCondLst>
                                        </p:cTn>
                                        <p:tgtEl>
                                          <p:spTgt spid="9">
                                            <p:txEl>
                                              <p:pRg st="5" end="5"/>
                                            </p:txEl>
                                          </p:spTgt>
                                        </p:tgtEl>
                                        <p:attrNameLst>
                                          <p:attrName>style.visibility</p:attrName>
                                        </p:attrNameLst>
                                      </p:cBhvr>
                                      <p:to>
                                        <p:strVal val="visible"/>
                                      </p:to>
                                    </p:set>
                                    <p:animEffect transition="in" filter="circle(in)">
                                      <p:cBhvr>
                                        <p:cTn id="30" dur="2000"/>
                                        <p:tgtEl>
                                          <p:spTgt spid="9">
                                            <p:txEl>
                                              <p:pRg st="5" end="5"/>
                                            </p:txEl>
                                          </p:spTgt>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9">
                                            <p:txEl>
                                              <p:pRg st="6" end="6"/>
                                            </p:txEl>
                                          </p:spTgt>
                                        </p:tgtEl>
                                        <p:attrNameLst>
                                          <p:attrName>style.visibility</p:attrName>
                                        </p:attrNameLst>
                                      </p:cBhvr>
                                      <p:to>
                                        <p:strVal val="visible"/>
                                      </p:to>
                                    </p:set>
                                    <p:animEffect transition="in" filter="circle(in)">
                                      <p:cBhvr>
                                        <p:cTn id="33" dur="2000"/>
                                        <p:tgtEl>
                                          <p:spTgt spid="9">
                                            <p:txEl>
                                              <p:pRg st="6" end="6"/>
                                            </p:txEl>
                                          </p:spTgt>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9">
                                            <p:txEl>
                                              <p:pRg st="7" end="7"/>
                                            </p:txEl>
                                          </p:spTgt>
                                        </p:tgtEl>
                                        <p:attrNameLst>
                                          <p:attrName>style.visibility</p:attrName>
                                        </p:attrNameLst>
                                      </p:cBhvr>
                                      <p:to>
                                        <p:strVal val="visible"/>
                                      </p:to>
                                    </p:set>
                                    <p:animEffect transition="in" filter="circle(in)">
                                      <p:cBhvr>
                                        <p:cTn id="36" dur="20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23900" y="1143000"/>
            <a:ext cx="7962900" cy="4983163"/>
          </a:xfrm>
        </p:spPr>
        <p:txBody>
          <a:bodyPr>
            <a:normAutofit/>
          </a:bodyPr>
          <a:lstStyle/>
          <a:p>
            <a:r>
              <a:rPr lang="en-US" sz="2200" dirty="0">
                <a:latin typeface="Times New Roman" panose="02020603050405020304" pitchFamily="18" charset="0"/>
                <a:cs typeface="Times New Roman" panose="02020603050405020304" pitchFamily="18" charset="0"/>
              </a:rPr>
              <a:t>Write down the IDs or moves for input string w = “</a:t>
            </a:r>
            <a:r>
              <a:rPr lang="en-US" sz="2200" dirty="0" err="1">
                <a:latin typeface="Times New Roman" panose="02020603050405020304" pitchFamily="18" charset="0"/>
                <a:cs typeface="Times New Roman" panose="02020603050405020304" pitchFamily="18" charset="0"/>
              </a:rPr>
              <a:t>aabb</a:t>
            </a:r>
            <a:r>
              <a:rPr lang="en-US" sz="2200" dirty="0">
                <a:latin typeface="Times New Roman" panose="02020603050405020304" pitchFamily="18" charset="0"/>
                <a:cs typeface="Times New Roman" panose="02020603050405020304" pitchFamily="18" charset="0"/>
              </a:rPr>
              <a:t>” of PDA as M = ({q</a:t>
            </a:r>
            <a:r>
              <a:rPr lang="en-US" sz="2200" baseline="-25000"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q</a:t>
            </a:r>
            <a:r>
              <a:rPr lang="en-US" sz="2200" baseline="-25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 q</a:t>
            </a:r>
            <a:r>
              <a:rPr lang="en-US" sz="2200" baseline="-250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 {a, b}, {a, b, Z</a:t>
            </a:r>
            <a:r>
              <a:rPr lang="en-US" sz="2200" baseline="-25000"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a:t>
            </a:r>
            <a:r>
              <a:rPr lang="el-GR" sz="2200" dirty="0">
                <a:latin typeface="Times New Roman" panose="02020603050405020304" pitchFamily="18" charset="0"/>
                <a:cs typeface="Times New Roman" panose="02020603050405020304" pitchFamily="18" charset="0"/>
              </a:rPr>
              <a:t>δ, </a:t>
            </a:r>
            <a:r>
              <a:rPr lang="en-US" sz="2200" dirty="0">
                <a:latin typeface="Times New Roman" panose="02020603050405020304" pitchFamily="18" charset="0"/>
                <a:cs typeface="Times New Roman" panose="02020603050405020304" pitchFamily="18" charset="0"/>
              </a:rPr>
              <a:t>q0, Z</a:t>
            </a:r>
            <a:r>
              <a:rPr lang="en-US" sz="2200" baseline="-25000"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{q</a:t>
            </a:r>
            <a:r>
              <a:rPr lang="en-US" sz="2200" baseline="-250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 where </a:t>
            </a:r>
            <a:r>
              <a:rPr lang="el-GR" sz="2200" dirty="0">
                <a:latin typeface="Times New Roman" panose="02020603050405020304" pitchFamily="18" charset="0"/>
                <a:cs typeface="Times New Roman" panose="02020603050405020304" pitchFamily="18" charset="0"/>
              </a:rPr>
              <a:t>δ </a:t>
            </a:r>
            <a:r>
              <a:rPr lang="en-US" sz="2200" dirty="0">
                <a:latin typeface="Times New Roman" panose="02020603050405020304" pitchFamily="18" charset="0"/>
                <a:cs typeface="Times New Roman" panose="02020603050405020304" pitchFamily="18" charset="0"/>
              </a:rPr>
              <a:t>is defined by following rules:</a:t>
            </a:r>
          </a:p>
          <a:p>
            <a:endParaRPr lang="en-US" sz="2200" dirty="0">
              <a:latin typeface="Times New Roman" panose="02020603050405020304" pitchFamily="18" charset="0"/>
              <a:cs typeface="Times New Roman" panose="02020603050405020304" pitchFamily="18" charset="0"/>
            </a:endParaRPr>
          </a:p>
          <a:p>
            <a:r>
              <a:rPr lang="el-GR" sz="2200" dirty="0">
                <a:latin typeface="Times New Roman" panose="02020603050405020304" pitchFamily="18" charset="0"/>
                <a:cs typeface="Times New Roman" panose="02020603050405020304" pitchFamily="18" charset="0"/>
              </a:rPr>
              <a:t>δ(</a:t>
            </a:r>
            <a:r>
              <a:rPr lang="en-US" sz="2200" dirty="0">
                <a:latin typeface="Times New Roman" panose="02020603050405020304" pitchFamily="18" charset="0"/>
                <a:cs typeface="Times New Roman" panose="02020603050405020304" pitchFamily="18" charset="0"/>
              </a:rPr>
              <a:t>q</a:t>
            </a:r>
            <a:r>
              <a:rPr lang="en-US" sz="2200" baseline="-25000"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a, Z</a:t>
            </a:r>
            <a:r>
              <a:rPr lang="en-US" sz="2200" baseline="-25000"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 {(</a:t>
            </a:r>
            <a:r>
              <a:rPr lang="en-US" sz="2200" dirty="0" smtClean="0">
                <a:latin typeface="Times New Roman" panose="02020603050405020304" pitchFamily="18" charset="0"/>
                <a:cs typeface="Times New Roman" panose="02020603050405020304" pitchFamily="18" charset="0"/>
              </a:rPr>
              <a:t>q</a:t>
            </a:r>
            <a:r>
              <a:rPr lang="en-US" sz="2200" baseline="-25000" dirty="0">
                <a:latin typeface="Times New Roman" panose="02020603050405020304" pitchFamily="18" charset="0"/>
                <a:cs typeface="Times New Roman" panose="02020603050405020304" pitchFamily="18" charset="0"/>
              </a:rPr>
              <a:t>1</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aZ</a:t>
            </a:r>
            <a:r>
              <a:rPr lang="en-US" sz="2200" baseline="-25000"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Rule (1)</a:t>
            </a:r>
            <a:br>
              <a:rPr lang="en-US" sz="2200" dirty="0">
                <a:latin typeface="Times New Roman" panose="02020603050405020304" pitchFamily="18" charset="0"/>
                <a:cs typeface="Times New Roman" panose="02020603050405020304" pitchFamily="18" charset="0"/>
              </a:rPr>
            </a:br>
            <a:r>
              <a:rPr lang="el-GR" sz="2200" dirty="0">
                <a:latin typeface="Times New Roman" panose="02020603050405020304" pitchFamily="18" charset="0"/>
                <a:cs typeface="Times New Roman" panose="02020603050405020304" pitchFamily="18" charset="0"/>
              </a:rPr>
              <a:t>δ(</a:t>
            </a:r>
            <a:r>
              <a:rPr lang="en-US" sz="2200" dirty="0" smtClean="0">
                <a:latin typeface="Times New Roman" panose="02020603050405020304" pitchFamily="18" charset="0"/>
                <a:cs typeface="Times New Roman" panose="02020603050405020304" pitchFamily="18" charset="0"/>
              </a:rPr>
              <a:t>q</a:t>
            </a:r>
            <a:r>
              <a:rPr lang="en-US" sz="2200" baseline="-25000" dirty="0">
                <a:latin typeface="Times New Roman" panose="02020603050405020304" pitchFamily="18" charset="0"/>
                <a:cs typeface="Times New Roman" panose="02020603050405020304" pitchFamily="18" charset="0"/>
              </a:rPr>
              <a:t>1</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 a)         = {(</a:t>
            </a:r>
            <a:r>
              <a:rPr lang="en-US" sz="2200" dirty="0" smtClean="0">
                <a:latin typeface="Times New Roman" panose="02020603050405020304" pitchFamily="18" charset="0"/>
                <a:cs typeface="Times New Roman" panose="02020603050405020304" pitchFamily="18" charset="0"/>
              </a:rPr>
              <a:t>q</a:t>
            </a:r>
            <a:r>
              <a:rPr lang="en-US" sz="2200" baseline="-25000" dirty="0">
                <a:latin typeface="Times New Roman" panose="02020603050405020304" pitchFamily="18" charset="0"/>
                <a:cs typeface="Times New Roman" panose="02020603050405020304" pitchFamily="18" charset="0"/>
              </a:rPr>
              <a:t>1</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aa)}      Rule (2)</a:t>
            </a:r>
            <a:br>
              <a:rPr lang="en-US" sz="2200" dirty="0">
                <a:latin typeface="Times New Roman" panose="02020603050405020304" pitchFamily="18" charset="0"/>
                <a:cs typeface="Times New Roman" panose="02020603050405020304" pitchFamily="18" charset="0"/>
              </a:rPr>
            </a:br>
            <a:r>
              <a:rPr lang="el-GR" sz="2200" dirty="0">
                <a:latin typeface="Times New Roman" panose="02020603050405020304" pitchFamily="18" charset="0"/>
                <a:cs typeface="Times New Roman" panose="02020603050405020304" pitchFamily="18" charset="0"/>
              </a:rPr>
              <a:t>δ(</a:t>
            </a:r>
            <a:r>
              <a:rPr lang="en-US" sz="2200" dirty="0" smtClean="0">
                <a:latin typeface="Times New Roman" panose="02020603050405020304" pitchFamily="18" charset="0"/>
                <a:cs typeface="Times New Roman" panose="02020603050405020304" pitchFamily="18" charset="0"/>
              </a:rPr>
              <a:t>q</a:t>
            </a:r>
            <a:r>
              <a:rPr lang="en-US" sz="2200" baseline="-25000" dirty="0">
                <a:latin typeface="Times New Roman" panose="02020603050405020304" pitchFamily="18" charset="0"/>
                <a:cs typeface="Times New Roman" panose="02020603050405020304" pitchFamily="18" charset="0"/>
              </a:rPr>
              <a:t>1</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 a)         = {(</a:t>
            </a:r>
            <a:r>
              <a:rPr lang="en-US" sz="2200" dirty="0" smtClean="0">
                <a:latin typeface="Times New Roman" panose="02020603050405020304" pitchFamily="18" charset="0"/>
                <a:cs typeface="Times New Roman" panose="02020603050405020304" pitchFamily="18" charset="0"/>
              </a:rPr>
              <a:t>q</a:t>
            </a:r>
            <a:r>
              <a:rPr lang="en-US" sz="2200" baseline="-25000" dirty="0">
                <a:latin typeface="Times New Roman" panose="02020603050405020304" pitchFamily="18" charset="0"/>
                <a:cs typeface="Times New Roman" panose="02020603050405020304" pitchFamily="18" charset="0"/>
              </a:rPr>
              <a:t>2</a:t>
            </a:r>
            <a:r>
              <a:rPr lang="en-US" sz="2200" dirty="0" smtClean="0">
                <a:latin typeface="Times New Roman" panose="02020603050405020304" pitchFamily="18" charset="0"/>
                <a:cs typeface="Times New Roman" panose="02020603050405020304" pitchFamily="18" charset="0"/>
              </a:rPr>
              <a:t>, </a:t>
            </a:r>
            <a:r>
              <a:rPr lang="el-GR" sz="2200" dirty="0">
                <a:latin typeface="Times New Roman" panose="02020603050405020304" pitchFamily="18" charset="0"/>
                <a:cs typeface="Times New Roman" panose="02020603050405020304" pitchFamily="18" charset="0"/>
              </a:rPr>
              <a:t>λ)}        </a:t>
            </a:r>
            <a:r>
              <a:rPr lang="en-US" sz="2200" dirty="0">
                <a:latin typeface="Times New Roman" panose="02020603050405020304" pitchFamily="18" charset="0"/>
                <a:cs typeface="Times New Roman" panose="02020603050405020304" pitchFamily="18" charset="0"/>
              </a:rPr>
              <a:t>Rule (3)</a:t>
            </a:r>
            <a:br>
              <a:rPr lang="en-US" sz="2200" dirty="0">
                <a:latin typeface="Times New Roman" panose="02020603050405020304" pitchFamily="18" charset="0"/>
                <a:cs typeface="Times New Roman" panose="02020603050405020304" pitchFamily="18" charset="0"/>
              </a:rPr>
            </a:br>
            <a:r>
              <a:rPr lang="el-GR" sz="2200" dirty="0">
                <a:latin typeface="Times New Roman" panose="02020603050405020304" pitchFamily="18" charset="0"/>
                <a:cs typeface="Times New Roman" panose="02020603050405020304" pitchFamily="18" charset="0"/>
              </a:rPr>
              <a:t>δ(</a:t>
            </a:r>
            <a:r>
              <a:rPr lang="en-US" sz="2200" dirty="0" smtClean="0">
                <a:latin typeface="Times New Roman" panose="02020603050405020304" pitchFamily="18" charset="0"/>
                <a:cs typeface="Times New Roman" panose="02020603050405020304" pitchFamily="18" charset="0"/>
              </a:rPr>
              <a:t>q</a:t>
            </a:r>
            <a:r>
              <a:rPr lang="en-US" sz="2200" baseline="-25000" dirty="0">
                <a:latin typeface="Times New Roman" panose="02020603050405020304" pitchFamily="18" charset="0"/>
                <a:cs typeface="Times New Roman" panose="02020603050405020304" pitchFamily="18" charset="0"/>
              </a:rPr>
              <a:t>2</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 a)         = {(</a:t>
            </a:r>
            <a:r>
              <a:rPr lang="en-US" sz="2200" dirty="0" smtClean="0">
                <a:latin typeface="Times New Roman" panose="02020603050405020304" pitchFamily="18" charset="0"/>
                <a:cs typeface="Times New Roman" panose="02020603050405020304" pitchFamily="18" charset="0"/>
              </a:rPr>
              <a:t>q</a:t>
            </a:r>
            <a:r>
              <a:rPr lang="en-US" sz="2200" baseline="-25000" dirty="0">
                <a:latin typeface="Times New Roman" panose="02020603050405020304" pitchFamily="18" charset="0"/>
                <a:cs typeface="Times New Roman" panose="02020603050405020304" pitchFamily="18" charset="0"/>
              </a:rPr>
              <a:t>2</a:t>
            </a:r>
            <a:r>
              <a:rPr lang="en-US" sz="2200" dirty="0" smtClean="0">
                <a:latin typeface="Times New Roman" panose="02020603050405020304" pitchFamily="18" charset="0"/>
                <a:cs typeface="Times New Roman" panose="02020603050405020304" pitchFamily="18" charset="0"/>
              </a:rPr>
              <a:t>, </a:t>
            </a:r>
            <a:r>
              <a:rPr lang="el-GR" sz="2200" dirty="0">
                <a:latin typeface="Times New Roman" panose="02020603050405020304" pitchFamily="18" charset="0"/>
                <a:cs typeface="Times New Roman" panose="02020603050405020304" pitchFamily="18" charset="0"/>
              </a:rPr>
              <a:t>λ)}        </a:t>
            </a:r>
            <a:r>
              <a:rPr lang="en-US" sz="2200" dirty="0">
                <a:latin typeface="Times New Roman" panose="02020603050405020304" pitchFamily="18" charset="0"/>
                <a:cs typeface="Times New Roman" panose="02020603050405020304" pitchFamily="18" charset="0"/>
              </a:rPr>
              <a:t>Rule (4)</a:t>
            </a:r>
            <a:br>
              <a:rPr lang="en-US" sz="2200" dirty="0">
                <a:latin typeface="Times New Roman" panose="02020603050405020304" pitchFamily="18" charset="0"/>
                <a:cs typeface="Times New Roman" panose="02020603050405020304" pitchFamily="18" charset="0"/>
              </a:rPr>
            </a:br>
            <a:r>
              <a:rPr lang="el-GR" sz="2200" dirty="0">
                <a:latin typeface="Times New Roman" panose="02020603050405020304" pitchFamily="18" charset="0"/>
                <a:cs typeface="Times New Roman" panose="02020603050405020304" pitchFamily="18" charset="0"/>
              </a:rPr>
              <a:t>δ(</a:t>
            </a:r>
            <a:r>
              <a:rPr lang="en-US" sz="2200" dirty="0" smtClean="0">
                <a:latin typeface="Times New Roman" panose="02020603050405020304" pitchFamily="18" charset="0"/>
                <a:cs typeface="Times New Roman" panose="02020603050405020304" pitchFamily="18" charset="0"/>
              </a:rPr>
              <a:t>q</a:t>
            </a:r>
            <a:r>
              <a:rPr lang="en-US" sz="2200" baseline="-25000" dirty="0">
                <a:latin typeface="Times New Roman" panose="02020603050405020304" pitchFamily="18" charset="0"/>
                <a:cs typeface="Times New Roman" panose="02020603050405020304" pitchFamily="18" charset="0"/>
              </a:rPr>
              <a:t>2</a:t>
            </a:r>
            <a:r>
              <a:rPr lang="en-US" sz="2200" dirty="0" smtClean="0">
                <a:latin typeface="Times New Roman" panose="02020603050405020304" pitchFamily="18" charset="0"/>
                <a:cs typeface="Times New Roman" panose="02020603050405020304" pitchFamily="18" charset="0"/>
              </a:rPr>
              <a:t>, </a:t>
            </a:r>
            <a:r>
              <a:rPr lang="el-GR" sz="2200" dirty="0">
                <a:latin typeface="Times New Roman" panose="02020603050405020304" pitchFamily="18" charset="0"/>
                <a:cs typeface="Times New Roman" panose="02020603050405020304" pitchFamily="18" charset="0"/>
              </a:rPr>
              <a:t>λ, </a:t>
            </a:r>
            <a:r>
              <a:rPr lang="en-US" sz="2200" dirty="0">
                <a:latin typeface="Times New Roman" panose="02020603050405020304" pitchFamily="18" charset="0"/>
                <a:cs typeface="Times New Roman" panose="02020603050405020304" pitchFamily="18" charset="0"/>
              </a:rPr>
              <a:t>Z</a:t>
            </a:r>
            <a:r>
              <a:rPr lang="en-US" sz="2200" baseline="-25000"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 {(q</a:t>
            </a:r>
            <a:r>
              <a:rPr lang="en-US" sz="2200" baseline="-250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 </a:t>
            </a:r>
            <a:r>
              <a:rPr lang="el-GR" sz="2200" dirty="0">
                <a:latin typeface="Times New Roman" panose="02020603050405020304" pitchFamily="18" charset="0"/>
                <a:cs typeface="Times New Roman" panose="02020603050405020304" pitchFamily="18" charset="0"/>
              </a:rPr>
              <a:t>λ)}        </a:t>
            </a:r>
            <a:r>
              <a:rPr lang="en-US" sz="2200" dirty="0">
                <a:latin typeface="Times New Roman" panose="02020603050405020304" pitchFamily="18" charset="0"/>
                <a:cs typeface="Times New Roman" panose="02020603050405020304" pitchFamily="18" charset="0"/>
              </a:rPr>
              <a:t>Rule (5)</a:t>
            </a:r>
            <a:br>
              <a:rPr lang="en-US" sz="2200" dirty="0">
                <a:latin typeface="Times New Roman" panose="02020603050405020304" pitchFamily="18" charset="0"/>
                <a:cs typeface="Times New Roman" panose="02020603050405020304" pitchFamily="18" charset="0"/>
              </a:rPr>
            </a:br>
            <a:r>
              <a:rPr lang="el-GR"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Also check string w is accepted by PDA or not?</a:t>
            </a: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CAA18D6-5A02-4E6E-BC51-D719010B6A51}"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7" name="Title 1"/>
          <p:cNvSpPr txBox="1">
            <a:spLocks/>
          </p:cNvSpPr>
          <p:nvPr/>
        </p:nvSpPr>
        <p:spPr>
          <a:xfrm>
            <a:off x="1432560" y="0"/>
            <a:ext cx="7772400" cy="86994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Instantaneous Description of a PDA </a:t>
            </a:r>
          </a:p>
        </p:txBody>
      </p:sp>
      <p:pic>
        <p:nvPicPr>
          <p:cNvPr id="5" name="object 20">
            <a:extLst>
              <a:ext uri="{FF2B5EF4-FFF2-40B4-BE49-F238E27FC236}">
                <a16:creationId xmlns:a16="http://schemas.microsoft.com/office/drawing/2014/main" id="{8AF97AD5-9F48-2E37-761C-C898389715B9}"/>
              </a:ext>
            </a:extLst>
          </p:cNvPr>
          <p:cNvPicPr/>
          <p:nvPr/>
        </p:nvPicPr>
        <p:blipFill>
          <a:blip r:embed="rId2" cstate="print"/>
          <a:stretch>
            <a:fillRect/>
          </a:stretch>
        </p:blipFill>
        <p:spPr>
          <a:xfrm>
            <a:off x="0" y="-18108"/>
            <a:ext cx="1432560" cy="888057"/>
          </a:xfrm>
          <a:prstGeom prst="rect">
            <a:avLst/>
          </a:prstGeom>
        </p:spPr>
      </p:pic>
      <p:sp>
        <p:nvSpPr>
          <p:cNvPr id="8" name="Footer Placeholder 12">
            <a:extLst>
              <a:ext uri="{FF2B5EF4-FFF2-40B4-BE49-F238E27FC236}">
                <a16:creationId xmlns:a16="http://schemas.microsoft.com/office/drawing/2014/main" id="{CEEF199A-52BF-561B-F4C5-B3178372AE22}"/>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496829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circle(in)">
                                      <p:cBhvr>
                                        <p:cTn id="12" dur="20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circle(in)">
                                      <p:cBhvr>
                                        <p:cTn id="17" dur="2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23900" y="1143000"/>
            <a:ext cx="7962900" cy="4983163"/>
          </a:xfrm>
        </p:spPr>
        <p:txBody>
          <a:bodyPr>
            <a:normAutofit/>
          </a:bodyPr>
          <a:lstStyle/>
          <a:p>
            <a:r>
              <a:rPr lang="en-US" sz="2200" b="1" dirty="0">
                <a:latin typeface="Times New Roman" panose="02020603050405020304" pitchFamily="18" charset="0"/>
                <a:cs typeface="Times New Roman" panose="02020603050405020304" pitchFamily="18" charset="0"/>
              </a:rPr>
              <a:t>Solution:</a:t>
            </a:r>
            <a:r>
              <a:rPr lang="en-US" sz="2200" dirty="0">
                <a:latin typeface="Times New Roman" panose="02020603050405020304" pitchFamily="18" charset="0"/>
                <a:cs typeface="Times New Roman" panose="02020603050405020304" pitchFamily="18" charset="0"/>
              </a:rPr>
              <a:t> Instantaneous Description for string w = “</a:t>
            </a:r>
            <a:r>
              <a:rPr lang="en-US" sz="2200" dirty="0" err="1">
                <a:latin typeface="Times New Roman" panose="02020603050405020304" pitchFamily="18" charset="0"/>
                <a:cs typeface="Times New Roman" panose="02020603050405020304" pitchFamily="18" charset="0"/>
              </a:rPr>
              <a:t>aabb</a:t>
            </a:r>
            <a:r>
              <a:rPr lang="en-US" sz="2200" dirty="0">
                <a:latin typeface="Times New Roman" panose="02020603050405020304" pitchFamily="18" charset="0"/>
                <a:cs typeface="Times New Roman" panose="02020603050405020304" pitchFamily="18" charset="0"/>
              </a:rPr>
              <a:t>”</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(q</a:t>
            </a:r>
            <a:r>
              <a:rPr lang="en-US" sz="2200" baseline="-25000"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aabb</a:t>
            </a:r>
            <a:r>
              <a:rPr lang="en-US" sz="2200" dirty="0">
                <a:latin typeface="Times New Roman" panose="02020603050405020304" pitchFamily="18" charset="0"/>
                <a:cs typeface="Times New Roman" panose="02020603050405020304" pitchFamily="18" charset="0"/>
              </a:rPr>
              <a:t>, Z</a:t>
            </a:r>
            <a:r>
              <a:rPr lang="en-US" sz="2200" baseline="-25000"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q</a:t>
            </a:r>
            <a:r>
              <a:rPr lang="en-US" sz="2200" baseline="-25000" dirty="0">
                <a:latin typeface="Times New Roman" panose="02020603050405020304" pitchFamily="18" charset="0"/>
                <a:cs typeface="Times New Roman" panose="02020603050405020304" pitchFamily="18" charset="0"/>
              </a:rPr>
              <a:t>1</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abb</a:t>
            </a:r>
            <a:r>
              <a:rPr lang="en-US" sz="2200" dirty="0">
                <a:latin typeface="Times New Roman" panose="02020603050405020304" pitchFamily="18" charset="0"/>
                <a:cs typeface="Times New Roman" panose="02020603050405020304" pitchFamily="18" charset="0"/>
              </a:rPr>
              <a:t>, aZ</a:t>
            </a:r>
            <a:r>
              <a:rPr lang="en-US" sz="2200" baseline="-25000"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as per Rule (1)</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q</a:t>
            </a:r>
            <a:r>
              <a:rPr lang="en-US" sz="2200" baseline="-25000" dirty="0">
                <a:latin typeface="Times New Roman" panose="02020603050405020304" pitchFamily="18" charset="0"/>
                <a:cs typeface="Times New Roman" panose="02020603050405020304" pitchFamily="18" charset="0"/>
              </a:rPr>
              <a:t>1</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bb, aaZ</a:t>
            </a:r>
            <a:r>
              <a:rPr lang="en-US" sz="2200" baseline="-25000"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as per Rule (2)</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q</a:t>
            </a:r>
            <a:r>
              <a:rPr lang="en-US" sz="2200" baseline="-25000" dirty="0">
                <a:latin typeface="Times New Roman" panose="02020603050405020304" pitchFamily="18" charset="0"/>
                <a:cs typeface="Times New Roman" panose="02020603050405020304" pitchFamily="18" charset="0"/>
              </a:rPr>
              <a:t>2</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 aZ</a:t>
            </a:r>
            <a:r>
              <a:rPr lang="en-US" sz="2200" baseline="-25000"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as per Rule (3)</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q</a:t>
            </a:r>
            <a:r>
              <a:rPr lang="en-US" sz="2200" baseline="-25000" dirty="0">
                <a:latin typeface="Times New Roman" panose="02020603050405020304" pitchFamily="18" charset="0"/>
                <a:cs typeface="Times New Roman" panose="02020603050405020304" pitchFamily="18" charset="0"/>
              </a:rPr>
              <a:t>2</a:t>
            </a:r>
            <a:r>
              <a:rPr lang="en-US" sz="2200" dirty="0" smtClean="0">
                <a:latin typeface="Times New Roman" panose="02020603050405020304" pitchFamily="18" charset="0"/>
                <a:cs typeface="Times New Roman" panose="02020603050405020304" pitchFamily="18" charset="0"/>
              </a:rPr>
              <a:t>, </a:t>
            </a:r>
            <a:r>
              <a:rPr lang="el-GR" sz="2200" dirty="0">
                <a:latin typeface="Times New Roman" panose="02020603050405020304" pitchFamily="18" charset="0"/>
                <a:cs typeface="Times New Roman" panose="02020603050405020304" pitchFamily="18" charset="0"/>
              </a:rPr>
              <a:t>λ, </a:t>
            </a:r>
            <a:r>
              <a:rPr lang="en-US" sz="2200" dirty="0">
                <a:latin typeface="Times New Roman" panose="02020603050405020304" pitchFamily="18" charset="0"/>
                <a:cs typeface="Times New Roman" panose="02020603050405020304" pitchFamily="18" charset="0"/>
              </a:rPr>
              <a:t>Z</a:t>
            </a:r>
            <a:r>
              <a:rPr lang="en-US" sz="2200" baseline="-25000" dirty="0">
                <a:latin typeface="Times New Roman" panose="02020603050405020304" pitchFamily="18" charset="0"/>
                <a:cs typeface="Times New Roman" panose="02020603050405020304" pitchFamily="18" charset="0"/>
              </a:rPr>
              <a:t>0</a:t>
            </a:r>
            <a:r>
              <a:rPr lang="en-US" sz="2200" dirty="0">
                <a:latin typeface="Times New Roman" panose="02020603050405020304" pitchFamily="18" charset="0"/>
                <a:cs typeface="Times New Roman" panose="02020603050405020304" pitchFamily="18" charset="0"/>
              </a:rPr>
              <a:t>)                  as per Rule (3)</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Finally, PDA reached a configuration of (q</a:t>
            </a:r>
            <a:r>
              <a:rPr lang="en-US" sz="2200" baseline="-250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 λ, </a:t>
            </a:r>
            <a:r>
              <a:rPr lang="en-US" sz="2200" dirty="0">
                <a:latin typeface="Times New Roman" panose="02020603050405020304" pitchFamily="18" charset="0"/>
                <a:cs typeface="Times New Roman" panose="02020603050405020304" pitchFamily="18" charset="0"/>
              </a:rPr>
              <a:t>Z</a:t>
            </a:r>
            <a:r>
              <a:rPr lang="en-US" sz="2200" baseline="-25000" dirty="0">
                <a:latin typeface="Times New Roman" panose="02020603050405020304" pitchFamily="18" charset="0"/>
                <a:cs typeface="Times New Roman" panose="02020603050405020304" pitchFamily="18" charset="0"/>
              </a:rPr>
              <a:t>0</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i.e. the input tape is empty or input string w is completed, PDA stack is empty and PDA has reached a final state. So the string ‘w’ is </a:t>
            </a:r>
            <a:r>
              <a:rPr lang="en-US" sz="2200" b="1" dirty="0">
                <a:latin typeface="Times New Roman" panose="02020603050405020304" pitchFamily="18" charset="0"/>
                <a:cs typeface="Times New Roman" panose="02020603050405020304" pitchFamily="18" charset="0"/>
              </a:rPr>
              <a:t>accepted</a:t>
            </a:r>
            <a:r>
              <a:rPr lang="en-US" sz="2200" dirty="0">
                <a:latin typeface="Times New Roman" panose="02020603050405020304" pitchFamily="18" charset="0"/>
                <a:cs typeface="Times New Roman" panose="02020603050405020304" pitchFamily="18" charset="0"/>
              </a:rPr>
              <a:t>.</a:t>
            </a:r>
          </a:p>
        </p:txBody>
      </p:sp>
      <p:sp>
        <p:nvSpPr>
          <p:cNvPr id="4" name="Date Placeholder 3"/>
          <p:cNvSpPr>
            <a:spLocks noGrp="1"/>
          </p:cNvSpPr>
          <p:nvPr>
            <p:ph type="dt" sz="half" idx="10"/>
          </p:nvPr>
        </p:nvSpPr>
        <p:spPr/>
        <p:txBody>
          <a:bodyPr/>
          <a:lstStyle/>
          <a:p>
            <a:fld id="{D461961B-E981-4226-B3BC-3BBCAD554CA3}"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7" name="Title 1"/>
          <p:cNvSpPr txBox="1">
            <a:spLocks/>
          </p:cNvSpPr>
          <p:nvPr/>
        </p:nvSpPr>
        <p:spPr>
          <a:xfrm>
            <a:off x="1432560" y="-1"/>
            <a:ext cx="7772400" cy="86994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Instantaneous Description of a PDA </a:t>
            </a:r>
          </a:p>
        </p:txBody>
      </p:sp>
      <p:pic>
        <p:nvPicPr>
          <p:cNvPr id="5" name="object 20">
            <a:extLst>
              <a:ext uri="{FF2B5EF4-FFF2-40B4-BE49-F238E27FC236}">
                <a16:creationId xmlns:a16="http://schemas.microsoft.com/office/drawing/2014/main" id="{0D660181-58AB-D047-EE00-99E7E101E715}"/>
              </a:ext>
            </a:extLst>
          </p:cNvPr>
          <p:cNvPicPr/>
          <p:nvPr/>
        </p:nvPicPr>
        <p:blipFill>
          <a:blip r:embed="rId2" cstate="print"/>
          <a:stretch>
            <a:fillRect/>
          </a:stretch>
        </p:blipFill>
        <p:spPr>
          <a:xfrm>
            <a:off x="0" y="-18108"/>
            <a:ext cx="1432560" cy="888057"/>
          </a:xfrm>
          <a:prstGeom prst="rect">
            <a:avLst/>
          </a:prstGeom>
        </p:spPr>
      </p:pic>
      <p:sp>
        <p:nvSpPr>
          <p:cNvPr id="8" name="Footer Placeholder 12">
            <a:extLst>
              <a:ext uri="{FF2B5EF4-FFF2-40B4-BE49-F238E27FC236}">
                <a16:creationId xmlns:a16="http://schemas.microsoft.com/office/drawing/2014/main" id="{2C0487BB-963B-9ABE-82C8-1887A5DAF3BF}"/>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590186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circle(in)">
                                      <p:cBhvr>
                                        <p:cTn id="12" dur="20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circle(in)">
                                      <p:cBhvr>
                                        <p:cTn id="17" dur="20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Objective: </a:t>
            </a:r>
            <a:r>
              <a:rPr lang="en-US" sz="2000" dirty="0">
                <a:latin typeface="Times New Roman" panose="02020603050405020304" pitchFamily="18" charset="0"/>
                <a:cs typeface="Times New Roman" panose="02020603050405020304" pitchFamily="18" charset="0"/>
              </a:rPr>
              <a:t>To understand the language accepted by PDA. </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A language of a PDA  can be accepted by two ways: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Through final State</a:t>
            </a:r>
          </a:p>
          <a:p>
            <a:r>
              <a:rPr lang="en-US" sz="2000" dirty="0">
                <a:latin typeface="Times New Roman" panose="02020603050405020304" pitchFamily="18" charset="0"/>
                <a:cs typeface="Times New Roman" panose="02020603050405020304" pitchFamily="18" charset="0"/>
              </a:rPr>
              <a:t>Through empty stack </a:t>
            </a:r>
          </a:p>
          <a:p>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It is also possible to convert between the two states:</a:t>
            </a:r>
          </a:p>
          <a:p>
            <a:r>
              <a:rPr lang="en-US" sz="2000" dirty="0">
                <a:latin typeface="Times New Roman" panose="02020603050405020304" pitchFamily="18" charset="0"/>
                <a:cs typeface="Times New Roman" panose="02020603050405020304" pitchFamily="18" charset="0"/>
              </a:rPr>
              <a:t>From Final State to empty stack</a:t>
            </a:r>
          </a:p>
          <a:p>
            <a:r>
              <a:rPr lang="en-US" sz="2000" dirty="0">
                <a:latin typeface="Times New Roman" panose="02020603050405020304" pitchFamily="18" charset="0"/>
                <a:cs typeface="Times New Roman" panose="02020603050405020304" pitchFamily="18" charset="0"/>
              </a:rPr>
              <a:t>From empty stack to final state</a:t>
            </a:r>
          </a:p>
        </p:txBody>
      </p:sp>
      <p:sp>
        <p:nvSpPr>
          <p:cNvPr id="4" name="Date Placeholder 3"/>
          <p:cNvSpPr>
            <a:spLocks noGrp="1"/>
          </p:cNvSpPr>
          <p:nvPr>
            <p:ph type="dt" sz="half" idx="10"/>
          </p:nvPr>
        </p:nvSpPr>
        <p:spPr/>
        <p:txBody>
          <a:bodyPr/>
          <a:lstStyle/>
          <a:p>
            <a:fld id="{3A604848-3054-4B23-BF16-C487BC4DEAD3}"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7" name="Title 1"/>
          <p:cNvSpPr txBox="1">
            <a:spLocks/>
          </p:cNvSpPr>
          <p:nvPr/>
        </p:nvSpPr>
        <p:spPr>
          <a:xfrm>
            <a:off x="1432560" y="0"/>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The Language of a PDA</a:t>
            </a:r>
          </a:p>
        </p:txBody>
      </p:sp>
      <p:pic>
        <p:nvPicPr>
          <p:cNvPr id="5" name="object 20">
            <a:extLst>
              <a:ext uri="{FF2B5EF4-FFF2-40B4-BE49-F238E27FC236}">
                <a16:creationId xmlns:a16="http://schemas.microsoft.com/office/drawing/2014/main" id="{D084BDBE-BDC1-6B4A-A765-2DBBA2E26280}"/>
              </a:ext>
            </a:extLst>
          </p:cNvPr>
          <p:cNvPicPr/>
          <p:nvPr/>
        </p:nvPicPr>
        <p:blipFill>
          <a:blip r:embed="rId2" cstate="print"/>
          <a:stretch>
            <a:fillRect/>
          </a:stretch>
        </p:blipFill>
        <p:spPr>
          <a:xfrm>
            <a:off x="0" y="-18108"/>
            <a:ext cx="1676400" cy="888057"/>
          </a:xfrm>
          <a:prstGeom prst="rect">
            <a:avLst/>
          </a:prstGeom>
        </p:spPr>
      </p:pic>
      <p:sp>
        <p:nvSpPr>
          <p:cNvPr id="8" name="Footer Placeholder 12">
            <a:extLst>
              <a:ext uri="{FF2B5EF4-FFF2-40B4-BE49-F238E27FC236}">
                <a16:creationId xmlns:a16="http://schemas.microsoft.com/office/drawing/2014/main" id="{36A7F47D-767B-87A8-BEF2-D12A930E2678}"/>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47739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ircle(in)">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circle(in)">
                                      <p:cBhvr>
                                        <p:cTn id="22" dur="20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circle(in)">
                                      <p:cBhvr>
                                        <p:cTn id="27" dur="20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circle(in)">
                                      <p:cBhvr>
                                        <p:cTn id="32" dur="20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circle(in)">
                                      <p:cBhvr>
                                        <p:cTn id="37"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000" dirty="0">
                <a:latin typeface="Times New Roman" panose="02020603050405020304" pitchFamily="18" charset="0"/>
                <a:cs typeface="Times New Roman" panose="02020603050405020304" pitchFamily="18" charset="0"/>
              </a:rPr>
              <a:t>Let the PDA , M = (Q, </a:t>
            </a:r>
            <a:r>
              <a:rPr lang="el-GR" sz="2000" dirty="0">
                <a:latin typeface="Times New Roman" panose="02020603050405020304" pitchFamily="18" charset="0"/>
                <a:cs typeface="Times New Roman" panose="02020603050405020304" pitchFamily="18" charset="0"/>
              </a:rPr>
              <a:t>Σ</a:t>
            </a:r>
            <a:r>
              <a:rPr lang="en-US" sz="2000" dirty="0">
                <a:latin typeface="Times New Roman" panose="02020603050405020304" pitchFamily="18" charset="0"/>
                <a:cs typeface="Times New Roman" panose="02020603050405020304" pitchFamily="18" charset="0"/>
              </a:rPr>
              <a:t>, </a:t>
            </a:r>
            <a:r>
              <a:rPr lang="el-GR" sz="2000" dirty="0">
                <a:latin typeface="Times New Roman" panose="02020603050405020304" pitchFamily="18" charset="0"/>
                <a:cs typeface="Times New Roman" panose="02020603050405020304" pitchFamily="18" charset="0"/>
              </a:rPr>
              <a:t>Γ</a:t>
            </a:r>
            <a:r>
              <a:rPr lang="en-US" sz="2000" dirty="0">
                <a:latin typeface="Times New Roman" panose="02020603050405020304" pitchFamily="18" charset="0"/>
                <a:cs typeface="Times New Roman" panose="02020603050405020304" pitchFamily="18" charset="0"/>
              </a:rPr>
              <a:t>, </a:t>
            </a:r>
            <a:r>
              <a:rPr lang="el-GR" sz="2000" dirty="0">
                <a:latin typeface="Times New Roman" panose="02020603050405020304" pitchFamily="18" charset="0"/>
                <a:cs typeface="Times New Roman" panose="02020603050405020304" pitchFamily="18" charset="0"/>
              </a:rPr>
              <a:t>δ</a:t>
            </a:r>
            <a:r>
              <a:rPr lang="en-US" sz="2000" dirty="0">
                <a:latin typeface="Times New Roman" panose="02020603050405020304" pitchFamily="18" charset="0"/>
                <a:cs typeface="Times New Roman" panose="02020603050405020304" pitchFamily="18" charset="0"/>
              </a:rPr>
              <a:t>, q0, z0, </a:t>
            </a:r>
            <a:r>
              <a:rPr lang="el-GR" sz="2000" dirty="0">
                <a:latin typeface="Times New Roman" panose="02020603050405020304" pitchFamily="18" charset="0"/>
                <a:cs typeface="Times New Roman" panose="02020603050405020304" pitchFamily="18" charset="0"/>
              </a:rPr>
              <a:t>Φ</a:t>
            </a:r>
            <a:r>
              <a:rPr lang="en-US" sz="2000" dirty="0">
                <a:latin typeface="Times New Roman" panose="02020603050405020304" pitchFamily="18" charset="0"/>
                <a:cs typeface="Times New Roman" panose="02020603050405020304" pitchFamily="18" charset="0"/>
              </a:rPr>
              <a:t>) then the language accepted by an empty stack is given by: </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Where q1 is any state belonging to Q and the stack becomes empty on application of input string w. </a:t>
            </a:r>
          </a:p>
          <a:p>
            <a:pPr algn="just"/>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32FC049-F1B7-44E6-AEB6-2D011C53F2A2}"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7" name="Title 1"/>
          <p:cNvSpPr txBox="1">
            <a:spLocks/>
          </p:cNvSpPr>
          <p:nvPr/>
        </p:nvSpPr>
        <p:spPr>
          <a:xfrm>
            <a:off x="1432560" y="0"/>
            <a:ext cx="7772400" cy="762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Acceptance by Empty Stack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209800"/>
            <a:ext cx="4927069" cy="99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object 20">
            <a:extLst>
              <a:ext uri="{FF2B5EF4-FFF2-40B4-BE49-F238E27FC236}">
                <a16:creationId xmlns:a16="http://schemas.microsoft.com/office/drawing/2014/main" id="{5A6D8EB7-9371-2E0C-021E-05A59591E112}"/>
              </a:ext>
            </a:extLst>
          </p:cNvPr>
          <p:cNvPicPr/>
          <p:nvPr/>
        </p:nvPicPr>
        <p:blipFill>
          <a:blip r:embed="rId3" cstate="print"/>
          <a:stretch>
            <a:fillRect/>
          </a:stretch>
        </p:blipFill>
        <p:spPr>
          <a:xfrm>
            <a:off x="0" y="-18107"/>
            <a:ext cx="1432560" cy="780108"/>
          </a:xfrm>
          <a:prstGeom prst="rect">
            <a:avLst/>
          </a:prstGeom>
        </p:spPr>
      </p:pic>
      <p:sp>
        <p:nvSpPr>
          <p:cNvPr id="8" name="Footer Placeholder 12">
            <a:extLst>
              <a:ext uri="{FF2B5EF4-FFF2-40B4-BE49-F238E27FC236}">
                <a16:creationId xmlns:a16="http://schemas.microsoft.com/office/drawing/2014/main" id="{28C96BDA-0AE3-1C66-2A5B-1415455AD35D}"/>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988286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circle(in)">
                                      <p:cBhvr>
                                        <p:cTn id="1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000" dirty="0">
                <a:latin typeface="Times New Roman" panose="02020603050405020304" pitchFamily="18" charset="0"/>
                <a:cs typeface="Times New Roman" panose="02020603050405020304" pitchFamily="18" charset="0"/>
              </a:rPr>
              <a:t>Let the PDA , M = (Q, </a:t>
            </a:r>
            <a:r>
              <a:rPr lang="el-GR" sz="2000" dirty="0">
                <a:latin typeface="Times New Roman" panose="02020603050405020304" pitchFamily="18" charset="0"/>
                <a:cs typeface="Times New Roman" panose="02020603050405020304" pitchFamily="18" charset="0"/>
              </a:rPr>
              <a:t>Σ</a:t>
            </a:r>
            <a:r>
              <a:rPr lang="en-US" sz="2000" dirty="0">
                <a:latin typeface="Times New Roman" panose="02020603050405020304" pitchFamily="18" charset="0"/>
                <a:cs typeface="Times New Roman" panose="02020603050405020304" pitchFamily="18" charset="0"/>
              </a:rPr>
              <a:t>, </a:t>
            </a:r>
            <a:r>
              <a:rPr lang="el-GR" sz="2000" dirty="0">
                <a:latin typeface="Times New Roman" panose="02020603050405020304" pitchFamily="18" charset="0"/>
                <a:cs typeface="Times New Roman" panose="02020603050405020304" pitchFamily="18" charset="0"/>
              </a:rPr>
              <a:t>Γ</a:t>
            </a:r>
            <a:r>
              <a:rPr lang="en-US" sz="2000" dirty="0">
                <a:latin typeface="Times New Roman" panose="02020603050405020304" pitchFamily="18" charset="0"/>
                <a:cs typeface="Times New Roman" panose="02020603050405020304" pitchFamily="18" charset="0"/>
              </a:rPr>
              <a:t>, </a:t>
            </a:r>
            <a:r>
              <a:rPr lang="el-GR" sz="2000" dirty="0">
                <a:latin typeface="Times New Roman" panose="02020603050405020304" pitchFamily="18" charset="0"/>
                <a:cs typeface="Times New Roman" panose="02020603050405020304" pitchFamily="18" charset="0"/>
              </a:rPr>
              <a:t>δ</a:t>
            </a:r>
            <a:r>
              <a:rPr lang="en-US" sz="2000" dirty="0">
                <a:latin typeface="Times New Roman" panose="02020603050405020304" pitchFamily="18" charset="0"/>
                <a:cs typeface="Times New Roman" panose="02020603050405020304" pitchFamily="18" charset="0"/>
              </a:rPr>
              <a:t>, q0, z0, F) then the language accepted by M through a final state is given by:</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Where state q1 </a:t>
            </a:r>
            <a:r>
              <a:rPr lang="el-GR" sz="2000" dirty="0">
                <a:latin typeface="Times New Roman" panose="02020603050405020304" pitchFamily="18" charset="0"/>
                <a:cs typeface="Times New Roman" panose="02020603050405020304" pitchFamily="18" charset="0"/>
              </a:rPr>
              <a:t>ϵ</a:t>
            </a:r>
            <a:r>
              <a:rPr lang="en-US" sz="2000" dirty="0">
                <a:latin typeface="Times New Roman" panose="02020603050405020304" pitchFamily="18" charset="0"/>
                <a:cs typeface="Times New Roman" panose="02020603050405020304" pitchFamily="18" charset="0"/>
              </a:rPr>
              <a:t> F, </a:t>
            </a:r>
            <a:r>
              <a:rPr lang="el-GR" sz="2000" dirty="0">
                <a:latin typeface="Times New Roman" panose="02020603050405020304" pitchFamily="18" charset="0"/>
                <a:cs typeface="Times New Roman" panose="02020603050405020304" pitchFamily="18" charset="0"/>
              </a:rPr>
              <a:t>α</a:t>
            </a:r>
            <a:r>
              <a:rPr lang="en-US" sz="2000" dirty="0">
                <a:latin typeface="Times New Roman" panose="02020603050405020304" pitchFamily="18" charset="0"/>
                <a:cs typeface="Times New Roman" panose="02020603050405020304" pitchFamily="18" charset="0"/>
              </a:rPr>
              <a:t>, the final contents of the stack are irrelevant as a string is accepted through a final state. </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A14D1EE-4428-4EB4-95D6-785763D0DFE3}"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7" name="Title 1"/>
          <p:cNvSpPr txBox="1">
            <a:spLocks/>
          </p:cNvSpPr>
          <p:nvPr/>
        </p:nvSpPr>
        <p:spPr>
          <a:xfrm>
            <a:off x="1432560" y="0"/>
            <a:ext cx="7772400" cy="86994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Acceptance by Final State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492405"/>
            <a:ext cx="5289550" cy="10251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object 20">
            <a:extLst>
              <a:ext uri="{FF2B5EF4-FFF2-40B4-BE49-F238E27FC236}">
                <a16:creationId xmlns:a16="http://schemas.microsoft.com/office/drawing/2014/main" id="{39EAA983-5A29-180E-15BC-8DAF8F633DA2}"/>
              </a:ext>
            </a:extLst>
          </p:cNvPr>
          <p:cNvPicPr/>
          <p:nvPr/>
        </p:nvPicPr>
        <p:blipFill>
          <a:blip r:embed="rId3" cstate="print"/>
          <a:stretch>
            <a:fillRect/>
          </a:stretch>
        </p:blipFill>
        <p:spPr>
          <a:xfrm>
            <a:off x="0" y="-18108"/>
            <a:ext cx="1432560" cy="888057"/>
          </a:xfrm>
          <a:prstGeom prst="rect">
            <a:avLst/>
          </a:prstGeom>
        </p:spPr>
      </p:pic>
      <p:sp>
        <p:nvSpPr>
          <p:cNvPr id="8" name="Footer Placeholder 12">
            <a:extLst>
              <a:ext uri="{FF2B5EF4-FFF2-40B4-BE49-F238E27FC236}">
                <a16:creationId xmlns:a16="http://schemas.microsoft.com/office/drawing/2014/main" id="{00BEE3BC-C002-F79F-ABE2-DB66C08D4E9A}"/>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76720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circle(in)">
                                      <p:cBhvr>
                                        <p:cTn id="1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066800"/>
            <a:ext cx="8229600" cy="5105400"/>
          </a:xfrm>
        </p:spPr>
        <p:txBody>
          <a:bodyPr>
            <a:normAutofit/>
          </a:bodyPr>
          <a:lstStyle/>
          <a:p>
            <a:pPr algn="just">
              <a:buNone/>
            </a:pPr>
            <a:r>
              <a:rPr lang="en-US" sz="2000" dirty="0">
                <a:latin typeface="Times New Roman" panose="02020603050405020304" pitchFamily="18" charset="0"/>
                <a:cs typeface="Times New Roman" panose="02020603050405020304" pitchFamily="18" charset="0"/>
              </a:rPr>
              <a:t>PDA for L= {</a:t>
            </a:r>
            <a:r>
              <a:rPr lang="en-US" sz="2000" dirty="0" err="1">
                <a:latin typeface="Times New Roman" panose="02020603050405020304" pitchFamily="18" charset="0"/>
                <a:cs typeface="Times New Roman" panose="02020603050405020304" pitchFamily="18" charset="0"/>
              </a:rPr>
              <a:t>a</a:t>
            </a:r>
            <a:r>
              <a:rPr lang="en-US" sz="2000" baseline="30000" dirty="0" err="1">
                <a:latin typeface="Times New Roman" panose="02020603050405020304" pitchFamily="18" charset="0"/>
                <a:cs typeface="Times New Roman" panose="02020603050405020304" pitchFamily="18" charset="0"/>
              </a:rPr>
              <a:t>n</a:t>
            </a:r>
            <a:r>
              <a:rPr lang="en-US" sz="2000" dirty="0" err="1">
                <a:latin typeface="Times New Roman" panose="02020603050405020304" pitchFamily="18" charset="0"/>
                <a:cs typeface="Times New Roman" panose="02020603050405020304" pitchFamily="18" charset="0"/>
              </a:rPr>
              <a:t>b</a:t>
            </a:r>
            <a:r>
              <a:rPr lang="en-US" sz="2000" baseline="30000" dirty="0" err="1">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 | n &gt; 0}.</a:t>
            </a:r>
          </a:p>
          <a:p>
            <a:pPr algn="just">
              <a:buNone/>
            </a:pPr>
            <a:r>
              <a:rPr lang="en-US" sz="2000" b="1" u="sng" dirty="0">
                <a:latin typeface="Times New Roman" panose="02020603050405020304" pitchFamily="18" charset="0"/>
                <a:cs typeface="Times New Roman" panose="02020603050405020304" pitchFamily="18" charset="0"/>
              </a:rPr>
              <a:t>Acceptance by Final state</a:t>
            </a:r>
          </a:p>
          <a:p>
            <a:pPr algn="just">
              <a:buNone/>
            </a:pPr>
            <a:endParaRPr lang="en-US" sz="2000" dirty="0">
              <a:latin typeface="Times New Roman" panose="02020603050405020304" pitchFamily="18" charset="0"/>
              <a:cs typeface="Times New Roman" panose="02020603050405020304" pitchFamily="18" charset="0"/>
            </a:endParaRPr>
          </a:p>
          <a:p>
            <a:pPr algn="just">
              <a:buNone/>
            </a:pPr>
            <a:endParaRPr lang="en-US" sz="2000" dirty="0">
              <a:latin typeface="Times New Roman" panose="02020603050405020304" pitchFamily="18" charset="0"/>
              <a:cs typeface="Times New Roman" panose="02020603050405020304" pitchFamily="18" charset="0"/>
            </a:endParaRPr>
          </a:p>
          <a:p>
            <a:pPr algn="just">
              <a:buNone/>
            </a:pPr>
            <a:r>
              <a:rPr lang="en-US" sz="2000" dirty="0">
                <a:latin typeface="Times New Roman" panose="02020603050405020304" pitchFamily="18" charset="0"/>
                <a:cs typeface="Times New Roman" panose="02020603050405020304" pitchFamily="18" charset="0"/>
                <a:sym typeface="Symbol"/>
              </a:rPr>
              <a:t>( q</a:t>
            </a:r>
            <a:r>
              <a:rPr lang="en-US" sz="2000" baseline="-25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 a, Z</a:t>
            </a:r>
            <a:r>
              <a:rPr lang="en-US" sz="2000" baseline="-20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aZ</a:t>
            </a:r>
            <a:r>
              <a:rPr lang="en-US" sz="2000" baseline="-20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a,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aa)</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b,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Ɛ)</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b,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Ɛ)</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Ɛ, Z</a:t>
            </a:r>
            <a:r>
              <a:rPr lang="en-US" sz="2000" baseline="-20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 = (</a:t>
            </a:r>
            <a:r>
              <a:rPr lang="en-US" sz="2000" dirty="0" err="1">
                <a:latin typeface="Times New Roman" panose="02020603050405020304" pitchFamily="18" charset="0"/>
                <a:cs typeface="Times New Roman" panose="02020603050405020304" pitchFamily="18" charset="0"/>
                <a:sym typeface="Symbol"/>
              </a:rPr>
              <a:t>q</a:t>
            </a:r>
            <a:r>
              <a:rPr lang="en-US" sz="2000" baseline="-25000" dirty="0" err="1">
                <a:latin typeface="Times New Roman" panose="02020603050405020304" pitchFamily="18" charset="0"/>
                <a:cs typeface="Times New Roman" panose="02020603050405020304" pitchFamily="18" charset="0"/>
                <a:sym typeface="Symbol"/>
              </a:rPr>
              <a:t>f</a:t>
            </a:r>
            <a:r>
              <a:rPr lang="en-US" sz="2000" dirty="0">
                <a:latin typeface="Times New Roman" panose="02020603050405020304" pitchFamily="18" charset="0"/>
                <a:cs typeface="Times New Roman" panose="02020603050405020304" pitchFamily="18" charset="0"/>
                <a:sym typeface="Symbol"/>
              </a:rPr>
              <a:t>, Z</a:t>
            </a:r>
            <a:r>
              <a:rPr lang="en-US" sz="2000" baseline="-20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a:t>
            </a:r>
          </a:p>
          <a:p>
            <a:pPr algn="just">
              <a:buNone/>
            </a:pP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26D9129-0543-4A4D-818B-B622E26BF375}"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dirty="0"/>
          </a:p>
        </p:txBody>
      </p:sp>
      <p:sp>
        <p:nvSpPr>
          <p:cNvPr id="22" name="Title 1"/>
          <p:cNvSpPr txBox="1">
            <a:spLocks/>
          </p:cNvSpPr>
          <p:nvPr/>
        </p:nvSpPr>
        <p:spPr>
          <a:xfrm>
            <a:off x="1371600" y="0"/>
            <a:ext cx="7772400" cy="8382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PDA(Example)</a:t>
            </a:r>
          </a:p>
        </p:txBody>
      </p:sp>
      <p:sp>
        <p:nvSpPr>
          <p:cNvPr id="42" name="TextBox 41"/>
          <p:cNvSpPr txBox="1"/>
          <p:nvPr/>
        </p:nvSpPr>
        <p:spPr>
          <a:xfrm>
            <a:off x="3124200" y="4648200"/>
            <a:ext cx="5715000"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M= {{</a:t>
            </a:r>
            <a:r>
              <a:rPr lang="en-US" sz="2000" b="1" dirty="0">
                <a:latin typeface="Times New Roman" panose="02020603050405020304" pitchFamily="18" charset="0"/>
                <a:cs typeface="Times New Roman" panose="02020603050405020304" pitchFamily="18" charset="0"/>
                <a:sym typeface="Symbol"/>
              </a:rPr>
              <a:t>q</a:t>
            </a:r>
            <a:r>
              <a:rPr lang="en-US" sz="2000" b="1" baseline="-25000" dirty="0">
                <a:latin typeface="Times New Roman" panose="02020603050405020304" pitchFamily="18" charset="0"/>
                <a:cs typeface="Times New Roman" panose="02020603050405020304" pitchFamily="18" charset="0"/>
                <a:sym typeface="Symbol"/>
              </a:rPr>
              <a:t>0</a:t>
            </a:r>
            <a:r>
              <a:rPr lang="en-US" sz="2000" b="1" dirty="0">
                <a:latin typeface="Times New Roman" panose="02020603050405020304" pitchFamily="18" charset="0"/>
                <a:cs typeface="Times New Roman" panose="02020603050405020304" pitchFamily="18" charset="0"/>
                <a:sym typeface="Symbol"/>
              </a:rPr>
              <a:t>, q</a:t>
            </a:r>
            <a:r>
              <a:rPr lang="en-US" sz="2000" b="1" baseline="-25000" dirty="0">
                <a:latin typeface="Times New Roman" panose="02020603050405020304" pitchFamily="18" charset="0"/>
                <a:cs typeface="Times New Roman" panose="02020603050405020304" pitchFamily="18" charset="0"/>
                <a:sym typeface="Symbol"/>
              </a:rPr>
              <a:t>1</a:t>
            </a:r>
            <a:r>
              <a:rPr lang="en-US" sz="2000" b="1" dirty="0">
                <a:latin typeface="Times New Roman" panose="02020603050405020304" pitchFamily="18" charset="0"/>
                <a:cs typeface="Times New Roman" panose="02020603050405020304" pitchFamily="18" charset="0"/>
                <a:sym typeface="Symbol"/>
              </a:rPr>
              <a:t>, </a:t>
            </a:r>
            <a:r>
              <a:rPr lang="en-US" sz="2000" b="1" dirty="0" err="1">
                <a:latin typeface="Times New Roman" panose="02020603050405020304" pitchFamily="18" charset="0"/>
                <a:cs typeface="Times New Roman" panose="02020603050405020304" pitchFamily="18" charset="0"/>
                <a:sym typeface="Symbol"/>
              </a:rPr>
              <a:t>q</a:t>
            </a:r>
            <a:r>
              <a:rPr lang="en-US" sz="2000" b="1" baseline="-25000" dirty="0" err="1">
                <a:latin typeface="Times New Roman" panose="02020603050405020304" pitchFamily="18" charset="0"/>
                <a:cs typeface="Times New Roman" panose="02020603050405020304" pitchFamily="18" charset="0"/>
                <a:sym typeface="Symbol"/>
              </a:rPr>
              <a:t>f</a:t>
            </a:r>
            <a:r>
              <a:rPr lang="en-US" sz="2000" b="1" dirty="0">
                <a:latin typeface="Times New Roman" panose="02020603050405020304" pitchFamily="18" charset="0"/>
                <a:cs typeface="Times New Roman" panose="02020603050405020304" pitchFamily="18" charset="0"/>
                <a:sym typeface="Symbol"/>
              </a:rPr>
              <a:t>}, {a, b}, {a, Z</a:t>
            </a:r>
            <a:r>
              <a:rPr lang="en-US" sz="2000" b="1" baseline="-20000" dirty="0">
                <a:latin typeface="Times New Roman" panose="02020603050405020304" pitchFamily="18" charset="0"/>
                <a:cs typeface="Times New Roman" panose="02020603050405020304" pitchFamily="18" charset="0"/>
                <a:sym typeface="Symbol"/>
              </a:rPr>
              <a:t>0</a:t>
            </a:r>
            <a:r>
              <a:rPr lang="en-US" sz="2000" b="1" dirty="0">
                <a:latin typeface="Times New Roman" panose="02020603050405020304" pitchFamily="18" charset="0"/>
                <a:cs typeface="Times New Roman" panose="02020603050405020304" pitchFamily="18" charset="0"/>
                <a:sym typeface="Symbol"/>
              </a:rPr>
              <a:t>}, , q</a:t>
            </a:r>
            <a:r>
              <a:rPr lang="en-US" sz="2000" b="1" baseline="-25000" dirty="0">
                <a:latin typeface="Times New Roman" panose="02020603050405020304" pitchFamily="18" charset="0"/>
                <a:cs typeface="Times New Roman" panose="02020603050405020304" pitchFamily="18" charset="0"/>
                <a:sym typeface="Symbol"/>
              </a:rPr>
              <a:t>0,</a:t>
            </a:r>
            <a:r>
              <a:rPr lang="en-US" sz="2000" b="1" dirty="0">
                <a:latin typeface="Times New Roman" panose="02020603050405020304" pitchFamily="18" charset="0"/>
                <a:cs typeface="Times New Roman" panose="02020603050405020304" pitchFamily="18" charset="0"/>
                <a:sym typeface="Symbol"/>
              </a:rPr>
              <a:t> Z</a:t>
            </a:r>
            <a:r>
              <a:rPr lang="en-US" sz="2000" b="1" baseline="-20000" dirty="0">
                <a:latin typeface="Times New Roman" panose="02020603050405020304" pitchFamily="18" charset="0"/>
                <a:cs typeface="Times New Roman" panose="02020603050405020304" pitchFamily="18" charset="0"/>
                <a:sym typeface="Symbol"/>
              </a:rPr>
              <a:t>0, </a:t>
            </a:r>
            <a:r>
              <a:rPr lang="en-US" sz="2000" b="1" dirty="0" err="1">
                <a:latin typeface="Times New Roman" panose="02020603050405020304" pitchFamily="18" charset="0"/>
                <a:cs typeface="Times New Roman" panose="02020603050405020304" pitchFamily="18" charset="0"/>
                <a:sym typeface="Symbol"/>
              </a:rPr>
              <a:t>q</a:t>
            </a:r>
            <a:r>
              <a:rPr lang="en-US" sz="2000" b="1" baseline="-25000" dirty="0" err="1">
                <a:latin typeface="Times New Roman" panose="02020603050405020304" pitchFamily="18" charset="0"/>
                <a:cs typeface="Times New Roman" panose="02020603050405020304" pitchFamily="18" charset="0"/>
                <a:sym typeface="Symbol"/>
              </a:rPr>
              <a:t>f</a:t>
            </a:r>
            <a:r>
              <a:rPr lang="en-US" sz="2000" b="1" dirty="0">
                <a:latin typeface="Times New Roman" panose="02020603050405020304" pitchFamily="18" charset="0"/>
                <a:cs typeface="Times New Roman" panose="02020603050405020304" pitchFamily="18" charset="0"/>
                <a:sym typeface="Symbol"/>
              </a:rPr>
              <a:t>}</a:t>
            </a:r>
            <a:r>
              <a:rPr lang="en-US" sz="2000" b="1" baseline="-25000" dirty="0">
                <a:latin typeface="Times New Roman" panose="02020603050405020304" pitchFamily="18" charset="0"/>
                <a:cs typeface="Times New Roman" panose="02020603050405020304" pitchFamily="18" charset="0"/>
                <a:sym typeface="Symbol"/>
              </a:rPr>
              <a:t> </a:t>
            </a:r>
            <a:r>
              <a:rPr lang="en-US" sz="2000" b="1" dirty="0">
                <a:latin typeface="Times New Roman" panose="02020603050405020304" pitchFamily="18" charset="0"/>
                <a:cs typeface="Times New Roman" panose="02020603050405020304" pitchFamily="18" charset="0"/>
                <a:sym typeface="Symbol"/>
              </a:rPr>
              <a:t>  </a:t>
            </a:r>
            <a:endParaRPr lang="en-US" sz="2000" b="1" dirty="0">
              <a:latin typeface="Times New Roman" panose="02020603050405020304" pitchFamily="18" charset="0"/>
              <a:cs typeface="Times New Roman" panose="02020603050405020304" pitchFamily="18" charset="0"/>
            </a:endParaRPr>
          </a:p>
        </p:txBody>
      </p:sp>
      <p:pic>
        <p:nvPicPr>
          <p:cNvPr id="2" name="object 20">
            <a:extLst>
              <a:ext uri="{FF2B5EF4-FFF2-40B4-BE49-F238E27FC236}">
                <a16:creationId xmlns:a16="http://schemas.microsoft.com/office/drawing/2014/main" id="{5C01C2B0-229C-5AB5-7214-2517EA505BA4}"/>
              </a:ext>
            </a:extLst>
          </p:cNvPr>
          <p:cNvPicPr/>
          <p:nvPr/>
        </p:nvPicPr>
        <p:blipFill>
          <a:blip r:embed="rId2" cstate="print"/>
          <a:stretch>
            <a:fillRect/>
          </a:stretch>
        </p:blipFill>
        <p:spPr>
          <a:xfrm>
            <a:off x="0" y="-18108"/>
            <a:ext cx="1676400" cy="888057"/>
          </a:xfrm>
          <a:prstGeom prst="rect">
            <a:avLst/>
          </a:prstGeom>
        </p:spPr>
      </p:pic>
      <p:sp>
        <p:nvSpPr>
          <p:cNvPr id="5" name="Footer Placeholder 12">
            <a:extLst>
              <a:ext uri="{FF2B5EF4-FFF2-40B4-BE49-F238E27FC236}">
                <a16:creationId xmlns:a16="http://schemas.microsoft.com/office/drawing/2014/main" id="{80359A05-E9F5-81AA-1544-3CB61A68CD41}"/>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46905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066800"/>
            <a:ext cx="8229600" cy="5105400"/>
          </a:xfrm>
        </p:spPr>
        <p:txBody>
          <a:bodyPr>
            <a:normAutofit/>
          </a:bodyPr>
          <a:lstStyle/>
          <a:p>
            <a:pPr algn="just">
              <a:buNone/>
            </a:pPr>
            <a:r>
              <a:rPr lang="en-US" sz="2000" dirty="0">
                <a:latin typeface="Times New Roman" panose="02020603050405020304" pitchFamily="18" charset="0"/>
                <a:cs typeface="Times New Roman" panose="02020603050405020304" pitchFamily="18" charset="0"/>
              </a:rPr>
              <a:t>PDA for L= {</a:t>
            </a:r>
            <a:r>
              <a:rPr lang="en-US" sz="2000" dirty="0" err="1">
                <a:latin typeface="Times New Roman" panose="02020603050405020304" pitchFamily="18" charset="0"/>
                <a:cs typeface="Times New Roman" panose="02020603050405020304" pitchFamily="18" charset="0"/>
              </a:rPr>
              <a:t>a</a:t>
            </a:r>
            <a:r>
              <a:rPr lang="en-US" sz="2000" baseline="30000" dirty="0" err="1">
                <a:latin typeface="Times New Roman" panose="02020603050405020304" pitchFamily="18" charset="0"/>
                <a:cs typeface="Times New Roman" panose="02020603050405020304" pitchFamily="18" charset="0"/>
              </a:rPr>
              <a:t>n</a:t>
            </a:r>
            <a:r>
              <a:rPr lang="en-US" sz="2000" dirty="0" err="1">
                <a:latin typeface="Times New Roman" panose="02020603050405020304" pitchFamily="18" charset="0"/>
                <a:cs typeface="Times New Roman" panose="02020603050405020304" pitchFamily="18" charset="0"/>
              </a:rPr>
              <a:t>b</a:t>
            </a:r>
            <a:r>
              <a:rPr lang="en-US" sz="2000" baseline="30000" dirty="0" err="1">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 | n &gt; 0}.</a:t>
            </a:r>
          </a:p>
          <a:p>
            <a:pPr algn="just">
              <a:buNone/>
            </a:pPr>
            <a:r>
              <a:rPr lang="en-US" sz="2000" b="1" u="sng" dirty="0">
                <a:latin typeface="Times New Roman" panose="02020603050405020304" pitchFamily="18" charset="0"/>
                <a:cs typeface="Times New Roman" panose="02020603050405020304" pitchFamily="18" charset="0"/>
              </a:rPr>
              <a:t>Acceptance by Empty stack</a:t>
            </a:r>
          </a:p>
          <a:p>
            <a:pPr algn="just">
              <a:buNone/>
            </a:pPr>
            <a:endParaRPr lang="en-US" sz="2000" dirty="0">
              <a:latin typeface="Times New Roman" panose="02020603050405020304" pitchFamily="18" charset="0"/>
              <a:cs typeface="Times New Roman" panose="02020603050405020304" pitchFamily="18" charset="0"/>
            </a:endParaRPr>
          </a:p>
          <a:p>
            <a:pPr algn="just">
              <a:buNone/>
            </a:pPr>
            <a:endParaRPr lang="en-US" sz="2000" dirty="0">
              <a:latin typeface="Times New Roman" panose="02020603050405020304" pitchFamily="18" charset="0"/>
              <a:cs typeface="Times New Roman" panose="02020603050405020304" pitchFamily="18" charset="0"/>
              <a:sym typeface="Symbol"/>
            </a:endParaRPr>
          </a:p>
          <a:p>
            <a:pPr algn="just">
              <a:buNone/>
            </a:pPr>
            <a:r>
              <a:rPr lang="en-US" sz="2000" dirty="0">
                <a:latin typeface="Times New Roman" panose="02020603050405020304" pitchFamily="18" charset="0"/>
                <a:cs typeface="Times New Roman" panose="02020603050405020304" pitchFamily="18" charset="0"/>
                <a:sym typeface="Symbol"/>
              </a:rPr>
              <a:t>( q</a:t>
            </a:r>
            <a:r>
              <a:rPr lang="en-US" sz="2000" baseline="-25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 a, Z</a:t>
            </a:r>
            <a:r>
              <a:rPr lang="en-US" sz="2000" baseline="-20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aZ</a:t>
            </a:r>
            <a:r>
              <a:rPr lang="en-US" sz="2000" baseline="-20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a,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aa)</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b,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Ɛ)</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b,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Ɛ)</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Ɛ, Z</a:t>
            </a:r>
            <a:r>
              <a:rPr lang="en-US" sz="2000" baseline="-20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Ɛ)</a:t>
            </a:r>
          </a:p>
          <a:p>
            <a:pPr algn="just">
              <a:buNone/>
            </a:pP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A50DB18-8EF6-40AD-8654-E6D47A28C77D}"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dirty="0"/>
          </a:p>
        </p:txBody>
      </p:sp>
      <p:sp>
        <p:nvSpPr>
          <p:cNvPr id="22" name="Title 1"/>
          <p:cNvSpPr txBox="1">
            <a:spLocks/>
          </p:cNvSpPr>
          <p:nvPr/>
        </p:nvSpPr>
        <p:spPr>
          <a:xfrm>
            <a:off x="1371600" y="0"/>
            <a:ext cx="7772400" cy="8382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PDA(Example)</a:t>
            </a:r>
          </a:p>
        </p:txBody>
      </p:sp>
      <p:sp>
        <p:nvSpPr>
          <p:cNvPr id="42" name="TextBox 41"/>
          <p:cNvSpPr txBox="1"/>
          <p:nvPr/>
        </p:nvSpPr>
        <p:spPr>
          <a:xfrm>
            <a:off x="3657600" y="4648200"/>
            <a:ext cx="5410200"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M= {{</a:t>
            </a:r>
            <a:r>
              <a:rPr lang="en-US" sz="2000" b="1" dirty="0">
                <a:latin typeface="Times New Roman" panose="02020603050405020304" pitchFamily="18" charset="0"/>
                <a:cs typeface="Times New Roman" panose="02020603050405020304" pitchFamily="18" charset="0"/>
                <a:sym typeface="Symbol"/>
              </a:rPr>
              <a:t>q</a:t>
            </a:r>
            <a:r>
              <a:rPr lang="en-US" sz="2000" b="1" baseline="-25000" dirty="0">
                <a:latin typeface="Times New Roman" panose="02020603050405020304" pitchFamily="18" charset="0"/>
                <a:cs typeface="Times New Roman" panose="02020603050405020304" pitchFamily="18" charset="0"/>
                <a:sym typeface="Symbol"/>
              </a:rPr>
              <a:t>0</a:t>
            </a:r>
            <a:r>
              <a:rPr lang="en-US" sz="2000" b="1" dirty="0">
                <a:latin typeface="Times New Roman" panose="02020603050405020304" pitchFamily="18" charset="0"/>
                <a:cs typeface="Times New Roman" panose="02020603050405020304" pitchFamily="18" charset="0"/>
                <a:sym typeface="Symbol"/>
              </a:rPr>
              <a:t>, q</a:t>
            </a:r>
            <a:r>
              <a:rPr lang="en-US" sz="2000" b="1" baseline="-25000" dirty="0">
                <a:latin typeface="Times New Roman" panose="02020603050405020304" pitchFamily="18" charset="0"/>
                <a:cs typeface="Times New Roman" panose="02020603050405020304" pitchFamily="18" charset="0"/>
                <a:sym typeface="Symbol"/>
              </a:rPr>
              <a:t>1</a:t>
            </a:r>
            <a:r>
              <a:rPr lang="en-US" sz="2000" b="1" dirty="0">
                <a:latin typeface="Times New Roman" panose="02020603050405020304" pitchFamily="18" charset="0"/>
                <a:cs typeface="Times New Roman" panose="02020603050405020304" pitchFamily="18" charset="0"/>
                <a:sym typeface="Symbol"/>
              </a:rPr>
              <a:t>}, {a, b}, {a, Z</a:t>
            </a:r>
            <a:r>
              <a:rPr lang="en-US" sz="2000" b="1" baseline="-20000" dirty="0">
                <a:latin typeface="Times New Roman" panose="02020603050405020304" pitchFamily="18" charset="0"/>
                <a:cs typeface="Times New Roman" panose="02020603050405020304" pitchFamily="18" charset="0"/>
                <a:sym typeface="Symbol"/>
              </a:rPr>
              <a:t>0</a:t>
            </a:r>
            <a:r>
              <a:rPr lang="en-US" sz="2000" b="1" dirty="0">
                <a:latin typeface="Times New Roman" panose="02020603050405020304" pitchFamily="18" charset="0"/>
                <a:cs typeface="Times New Roman" panose="02020603050405020304" pitchFamily="18" charset="0"/>
                <a:sym typeface="Symbol"/>
              </a:rPr>
              <a:t>}, , q</a:t>
            </a:r>
            <a:r>
              <a:rPr lang="en-US" sz="2000" b="1" baseline="-25000" dirty="0">
                <a:latin typeface="Times New Roman" panose="02020603050405020304" pitchFamily="18" charset="0"/>
                <a:cs typeface="Times New Roman" panose="02020603050405020304" pitchFamily="18" charset="0"/>
                <a:sym typeface="Symbol"/>
              </a:rPr>
              <a:t>0,</a:t>
            </a:r>
            <a:r>
              <a:rPr lang="en-US" sz="2000" b="1" dirty="0">
                <a:latin typeface="Times New Roman" panose="02020603050405020304" pitchFamily="18" charset="0"/>
                <a:cs typeface="Times New Roman" panose="02020603050405020304" pitchFamily="18" charset="0"/>
                <a:sym typeface="Symbol"/>
              </a:rPr>
              <a:t> Z</a:t>
            </a:r>
            <a:r>
              <a:rPr lang="en-US" sz="2000" b="1" baseline="-20000" dirty="0">
                <a:latin typeface="Times New Roman" panose="02020603050405020304" pitchFamily="18" charset="0"/>
                <a:cs typeface="Times New Roman" panose="02020603050405020304" pitchFamily="18" charset="0"/>
                <a:sym typeface="Symbol"/>
              </a:rPr>
              <a:t>0, </a:t>
            </a:r>
            <a:r>
              <a:rPr lang="en-US" sz="2000" b="1" dirty="0">
                <a:latin typeface="Times New Roman" panose="02020603050405020304" pitchFamily="18" charset="0"/>
                <a:cs typeface="Times New Roman" panose="02020603050405020304" pitchFamily="18" charset="0"/>
                <a:sym typeface="Symbol"/>
              </a:rPr>
              <a:t>}</a:t>
            </a:r>
            <a:r>
              <a:rPr lang="en-US" sz="2000" b="1" baseline="-25000" dirty="0">
                <a:latin typeface="Times New Roman" panose="02020603050405020304" pitchFamily="18" charset="0"/>
                <a:cs typeface="Times New Roman" panose="02020603050405020304" pitchFamily="18" charset="0"/>
                <a:sym typeface="Symbol"/>
              </a:rPr>
              <a:t> </a:t>
            </a:r>
            <a:r>
              <a:rPr lang="en-US" sz="2000" b="1" dirty="0">
                <a:latin typeface="Times New Roman" panose="02020603050405020304" pitchFamily="18" charset="0"/>
                <a:cs typeface="Times New Roman" panose="02020603050405020304" pitchFamily="18" charset="0"/>
                <a:sym typeface="Symbol"/>
              </a:rPr>
              <a:t>  </a:t>
            </a:r>
            <a:endParaRPr lang="en-US" sz="2000" b="1" dirty="0">
              <a:latin typeface="Times New Roman" panose="02020603050405020304" pitchFamily="18" charset="0"/>
              <a:cs typeface="Times New Roman" panose="02020603050405020304" pitchFamily="18" charset="0"/>
            </a:endParaRPr>
          </a:p>
        </p:txBody>
      </p:sp>
      <p:pic>
        <p:nvPicPr>
          <p:cNvPr id="5" name="object 20">
            <a:extLst>
              <a:ext uri="{FF2B5EF4-FFF2-40B4-BE49-F238E27FC236}">
                <a16:creationId xmlns:a16="http://schemas.microsoft.com/office/drawing/2014/main" id="{5086A46D-9522-A70E-F3AF-6E1407A87EE2}"/>
              </a:ext>
            </a:extLst>
          </p:cNvPr>
          <p:cNvPicPr/>
          <p:nvPr/>
        </p:nvPicPr>
        <p:blipFill>
          <a:blip r:embed="rId2" cstate="print"/>
          <a:stretch>
            <a:fillRect/>
          </a:stretch>
        </p:blipFill>
        <p:spPr>
          <a:xfrm>
            <a:off x="0" y="-18108"/>
            <a:ext cx="1676400" cy="888057"/>
          </a:xfrm>
          <a:prstGeom prst="rect">
            <a:avLst/>
          </a:prstGeom>
        </p:spPr>
      </p:pic>
      <p:sp>
        <p:nvSpPr>
          <p:cNvPr id="8" name="Footer Placeholder 12">
            <a:extLst>
              <a:ext uri="{FF2B5EF4-FFF2-40B4-BE49-F238E27FC236}">
                <a16:creationId xmlns:a16="http://schemas.microsoft.com/office/drawing/2014/main" id="{25F0B6CE-1A97-8FD7-F358-4026AE6671A4}"/>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990600"/>
            <a:ext cx="8229600" cy="5105400"/>
          </a:xfrm>
        </p:spPr>
        <p:txBody>
          <a:bodyPr>
            <a:normAutofit/>
          </a:bodyPr>
          <a:lstStyle/>
          <a:p>
            <a:pPr algn="just">
              <a:buNone/>
            </a:pPr>
            <a:r>
              <a:rPr lang="en-US" sz="2000" dirty="0">
                <a:latin typeface="Times New Roman" panose="02020603050405020304" pitchFamily="18" charset="0"/>
                <a:cs typeface="Times New Roman" panose="02020603050405020304" pitchFamily="18" charset="0"/>
              </a:rPr>
              <a:t>PDA for L= {a</a:t>
            </a:r>
            <a:r>
              <a:rPr lang="en-US" sz="2000" baseline="30000" dirty="0">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 c</a:t>
            </a:r>
            <a:r>
              <a:rPr lang="en-US" sz="2000" baseline="30000" dirty="0">
                <a:latin typeface="Times New Roman" panose="02020603050405020304" pitchFamily="18" charset="0"/>
                <a:cs typeface="Times New Roman" panose="02020603050405020304" pitchFamily="18" charset="0"/>
              </a:rPr>
              <a:t>m </a:t>
            </a:r>
            <a:r>
              <a:rPr lang="en-US" sz="2000" dirty="0" err="1">
                <a:latin typeface="Times New Roman" panose="02020603050405020304" pitchFamily="18" charset="0"/>
                <a:cs typeface="Times New Roman" panose="02020603050405020304" pitchFamily="18" charset="0"/>
              </a:rPr>
              <a:t>b</a:t>
            </a:r>
            <a:r>
              <a:rPr lang="en-US" sz="2000" baseline="30000" dirty="0" err="1">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 | m, n &gt; 0}.</a:t>
            </a:r>
          </a:p>
          <a:p>
            <a:pPr algn="just">
              <a:buNone/>
            </a:pPr>
            <a:endParaRPr lang="en-US" sz="2000" dirty="0">
              <a:latin typeface="Times New Roman" panose="02020603050405020304" pitchFamily="18" charset="0"/>
              <a:cs typeface="Times New Roman" panose="02020603050405020304" pitchFamily="18" charset="0"/>
            </a:endParaRPr>
          </a:p>
          <a:p>
            <a:pPr algn="just">
              <a:buNone/>
            </a:pPr>
            <a:endParaRPr lang="en-US" sz="2000" dirty="0">
              <a:latin typeface="Times New Roman" panose="02020603050405020304" pitchFamily="18" charset="0"/>
              <a:cs typeface="Times New Roman" panose="02020603050405020304" pitchFamily="18" charset="0"/>
            </a:endParaRPr>
          </a:p>
          <a:p>
            <a:pPr algn="just">
              <a:buNone/>
            </a:pPr>
            <a:r>
              <a:rPr lang="en-US" sz="2000" dirty="0">
                <a:latin typeface="Times New Roman" panose="02020603050405020304" pitchFamily="18" charset="0"/>
                <a:cs typeface="Times New Roman" panose="02020603050405020304" pitchFamily="18" charset="0"/>
                <a:sym typeface="Symbol"/>
              </a:rPr>
              <a:t>( q</a:t>
            </a:r>
            <a:r>
              <a:rPr lang="en-US" sz="2000" baseline="-25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 a, Z</a:t>
            </a:r>
            <a:r>
              <a:rPr lang="en-US" sz="2000" baseline="-20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aZ</a:t>
            </a:r>
            <a:r>
              <a:rPr lang="en-US" sz="2000" baseline="-20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a,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aa)</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c,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a)</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c,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a)</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b,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3</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Ɛ)</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3</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b,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3</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Ɛ)</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3</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Ɛ, Z</a:t>
            </a:r>
            <a:r>
              <a:rPr lang="en-US" sz="2000" baseline="-20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 = (</a:t>
            </a:r>
            <a:r>
              <a:rPr lang="en-US" sz="2000" dirty="0" err="1">
                <a:latin typeface="Times New Roman" panose="02020603050405020304" pitchFamily="18" charset="0"/>
                <a:cs typeface="Times New Roman" panose="02020603050405020304" pitchFamily="18" charset="0"/>
                <a:sym typeface="Symbol"/>
              </a:rPr>
              <a:t>q</a:t>
            </a:r>
            <a:r>
              <a:rPr lang="en-US" sz="2000" baseline="-25000" dirty="0" err="1">
                <a:latin typeface="Times New Roman" panose="02020603050405020304" pitchFamily="18" charset="0"/>
                <a:cs typeface="Times New Roman" panose="02020603050405020304" pitchFamily="18" charset="0"/>
                <a:sym typeface="Symbol"/>
              </a:rPr>
              <a:t>f</a:t>
            </a:r>
            <a:r>
              <a:rPr lang="en-US" sz="2000" dirty="0">
                <a:latin typeface="Times New Roman" panose="02020603050405020304" pitchFamily="18" charset="0"/>
                <a:cs typeface="Times New Roman" panose="02020603050405020304" pitchFamily="18" charset="0"/>
                <a:sym typeface="Symbol"/>
              </a:rPr>
              <a:t>, Z</a:t>
            </a:r>
            <a:r>
              <a:rPr lang="en-US" sz="2000" baseline="-20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a:t>
            </a:r>
          </a:p>
          <a:p>
            <a:pPr algn="just">
              <a:buNone/>
            </a:pP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123EB65-D5DD-4CCA-8F1D-739906CC57FB}"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dirty="0"/>
          </a:p>
        </p:txBody>
      </p:sp>
      <p:sp>
        <p:nvSpPr>
          <p:cNvPr id="22" name="Title 1"/>
          <p:cNvSpPr txBox="1">
            <a:spLocks/>
          </p:cNvSpPr>
          <p:nvPr/>
        </p:nvSpPr>
        <p:spPr>
          <a:xfrm>
            <a:off x="1371600" y="0"/>
            <a:ext cx="7772400" cy="8382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PDA(Example)</a:t>
            </a:r>
          </a:p>
        </p:txBody>
      </p:sp>
      <p:sp>
        <p:nvSpPr>
          <p:cNvPr id="42" name="TextBox 41"/>
          <p:cNvSpPr txBox="1"/>
          <p:nvPr/>
        </p:nvSpPr>
        <p:spPr>
          <a:xfrm>
            <a:off x="2895600" y="4648200"/>
            <a:ext cx="5943600" cy="400110"/>
          </a:xfrm>
          <a:prstGeom prst="rect">
            <a:avLst/>
          </a:prstGeom>
          <a:noFill/>
        </p:spPr>
        <p:txBody>
          <a:bodyPr wrap="square" rtlCol="0">
            <a:spAutoFit/>
          </a:bodyPr>
          <a:lstStyle/>
          <a:p>
            <a:r>
              <a:rPr lang="en-US" sz="2000" b="1" dirty="0"/>
              <a:t>M= {{</a:t>
            </a:r>
            <a:r>
              <a:rPr lang="en-US" sz="2000" b="1" dirty="0">
                <a:sym typeface="Symbol"/>
              </a:rPr>
              <a:t>q</a:t>
            </a:r>
            <a:r>
              <a:rPr lang="en-US" sz="2000" b="1" baseline="-25000" dirty="0">
                <a:sym typeface="Symbol"/>
              </a:rPr>
              <a:t>0</a:t>
            </a:r>
            <a:r>
              <a:rPr lang="en-US" sz="2000" b="1" dirty="0">
                <a:sym typeface="Symbol"/>
              </a:rPr>
              <a:t>, q</a:t>
            </a:r>
            <a:r>
              <a:rPr lang="en-US" sz="2000" b="1" baseline="-25000" dirty="0">
                <a:sym typeface="Symbol"/>
              </a:rPr>
              <a:t>1</a:t>
            </a:r>
            <a:r>
              <a:rPr lang="en-US" sz="2000" b="1" dirty="0">
                <a:sym typeface="Symbol"/>
              </a:rPr>
              <a:t>, q</a:t>
            </a:r>
            <a:r>
              <a:rPr lang="en-US" sz="2000" b="1" baseline="-25000" dirty="0">
                <a:sym typeface="Symbol"/>
              </a:rPr>
              <a:t>2</a:t>
            </a:r>
            <a:r>
              <a:rPr lang="en-US" sz="2000" dirty="0">
                <a:sym typeface="Symbol"/>
              </a:rPr>
              <a:t>,</a:t>
            </a:r>
            <a:r>
              <a:rPr lang="en-US" sz="2000" b="1" dirty="0">
                <a:sym typeface="Symbol"/>
              </a:rPr>
              <a:t>q</a:t>
            </a:r>
            <a:r>
              <a:rPr lang="en-US" sz="2000" b="1" baseline="-25000" dirty="0">
                <a:sym typeface="Symbol"/>
              </a:rPr>
              <a:t>f </a:t>
            </a:r>
            <a:r>
              <a:rPr lang="en-US" sz="2000" b="1" dirty="0">
                <a:sym typeface="Symbol"/>
              </a:rPr>
              <a:t>}</a:t>
            </a:r>
            <a:r>
              <a:rPr lang="en-US" sz="2000" dirty="0">
                <a:sym typeface="Symbol"/>
              </a:rPr>
              <a:t>,</a:t>
            </a:r>
            <a:r>
              <a:rPr lang="en-US" sz="2000" b="1" dirty="0">
                <a:sym typeface="Symbol"/>
              </a:rPr>
              <a:t> {a, b, c}, {a, Z</a:t>
            </a:r>
            <a:r>
              <a:rPr lang="en-US" sz="2000" b="1" baseline="-20000" dirty="0">
                <a:sym typeface="Symbol"/>
              </a:rPr>
              <a:t>0</a:t>
            </a:r>
            <a:r>
              <a:rPr lang="en-US" sz="2000" b="1" dirty="0">
                <a:sym typeface="Symbol"/>
              </a:rPr>
              <a:t>}, , q</a:t>
            </a:r>
            <a:r>
              <a:rPr lang="en-US" sz="2000" b="1" baseline="-25000" dirty="0">
                <a:sym typeface="Symbol"/>
              </a:rPr>
              <a:t>0,</a:t>
            </a:r>
            <a:r>
              <a:rPr lang="en-US" sz="2000" b="1" dirty="0">
                <a:sym typeface="Symbol"/>
              </a:rPr>
              <a:t> Z</a:t>
            </a:r>
            <a:r>
              <a:rPr lang="en-US" sz="2000" b="1" baseline="-20000" dirty="0">
                <a:sym typeface="Symbol"/>
              </a:rPr>
              <a:t>0, </a:t>
            </a:r>
            <a:r>
              <a:rPr lang="en-US" sz="2000" b="1" dirty="0" err="1">
                <a:sym typeface="Symbol"/>
              </a:rPr>
              <a:t>q</a:t>
            </a:r>
            <a:r>
              <a:rPr lang="en-US" sz="2000" b="1" baseline="-25000" dirty="0" err="1">
                <a:sym typeface="Symbol"/>
              </a:rPr>
              <a:t>f</a:t>
            </a:r>
            <a:r>
              <a:rPr lang="en-US" sz="2000" b="1" dirty="0">
                <a:sym typeface="Symbol"/>
              </a:rPr>
              <a:t>}</a:t>
            </a:r>
            <a:r>
              <a:rPr lang="en-US" sz="2000" b="1" baseline="-25000" dirty="0">
                <a:sym typeface="Symbol"/>
              </a:rPr>
              <a:t> </a:t>
            </a:r>
            <a:r>
              <a:rPr lang="en-US" sz="2000" b="1" dirty="0">
                <a:sym typeface="Symbol"/>
              </a:rPr>
              <a:t>  </a:t>
            </a:r>
            <a:endParaRPr lang="en-US" sz="2000" b="1" dirty="0"/>
          </a:p>
        </p:txBody>
      </p:sp>
      <p:pic>
        <p:nvPicPr>
          <p:cNvPr id="2" name="object 20">
            <a:extLst>
              <a:ext uri="{FF2B5EF4-FFF2-40B4-BE49-F238E27FC236}">
                <a16:creationId xmlns:a16="http://schemas.microsoft.com/office/drawing/2014/main" id="{253FDD2A-C66D-C0C1-AA36-5A00937EC5A2}"/>
              </a:ext>
            </a:extLst>
          </p:cNvPr>
          <p:cNvPicPr/>
          <p:nvPr/>
        </p:nvPicPr>
        <p:blipFill>
          <a:blip r:embed="rId2" cstate="print"/>
          <a:stretch>
            <a:fillRect/>
          </a:stretch>
        </p:blipFill>
        <p:spPr>
          <a:xfrm>
            <a:off x="0" y="-18108"/>
            <a:ext cx="1676400" cy="888057"/>
          </a:xfrm>
          <a:prstGeom prst="rect">
            <a:avLst/>
          </a:prstGeom>
        </p:spPr>
      </p:pic>
      <p:sp>
        <p:nvSpPr>
          <p:cNvPr id="5" name="Footer Placeholder 12">
            <a:extLst>
              <a:ext uri="{FF2B5EF4-FFF2-40B4-BE49-F238E27FC236}">
                <a16:creationId xmlns:a16="http://schemas.microsoft.com/office/drawing/2014/main" id="{A6C01776-3667-EA74-D645-C28EB11AF6BA}"/>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990600"/>
            <a:ext cx="8229600" cy="5105400"/>
          </a:xfrm>
        </p:spPr>
        <p:txBody>
          <a:bodyPr>
            <a:normAutofit/>
          </a:bodyPr>
          <a:lstStyle/>
          <a:p>
            <a:pPr algn="just">
              <a:buNone/>
            </a:pPr>
            <a:r>
              <a:rPr lang="en-US" sz="2000" dirty="0">
                <a:latin typeface="Times New Roman" panose="02020603050405020304" pitchFamily="18" charset="0"/>
                <a:cs typeface="Times New Roman" panose="02020603050405020304" pitchFamily="18" charset="0"/>
              </a:rPr>
              <a:t>PDA for L= {a</a:t>
            </a:r>
            <a:r>
              <a:rPr lang="en-US" sz="2000" baseline="30000" dirty="0">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 c</a:t>
            </a:r>
            <a:r>
              <a:rPr lang="en-US" sz="2000" baseline="30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a:t>
            </a:r>
            <a:r>
              <a:rPr lang="en-US" sz="2000" baseline="30000" dirty="0">
                <a:latin typeface="Times New Roman" panose="02020603050405020304" pitchFamily="18" charset="0"/>
                <a:cs typeface="Times New Roman" panose="02020603050405020304" pitchFamily="18" charset="0"/>
              </a:rPr>
              <a:t>2n</a:t>
            </a:r>
            <a:r>
              <a:rPr lang="en-US" sz="2000" dirty="0">
                <a:latin typeface="Times New Roman" panose="02020603050405020304" pitchFamily="18" charset="0"/>
                <a:cs typeface="Times New Roman" panose="02020603050405020304" pitchFamily="18" charset="0"/>
              </a:rPr>
              <a:t> | n &gt; 0}.</a:t>
            </a:r>
          </a:p>
          <a:p>
            <a:pPr algn="just">
              <a:buNone/>
            </a:pPr>
            <a:endParaRPr lang="en-US" sz="2000" dirty="0">
              <a:latin typeface="Times New Roman" panose="02020603050405020304" pitchFamily="18" charset="0"/>
              <a:cs typeface="Times New Roman" panose="02020603050405020304" pitchFamily="18" charset="0"/>
            </a:endParaRPr>
          </a:p>
          <a:p>
            <a:pPr algn="just">
              <a:buNone/>
            </a:pPr>
            <a:endParaRPr lang="en-US" sz="2000" dirty="0">
              <a:latin typeface="Times New Roman" panose="02020603050405020304" pitchFamily="18" charset="0"/>
              <a:cs typeface="Times New Roman" panose="02020603050405020304" pitchFamily="18" charset="0"/>
              <a:sym typeface="Symbol"/>
            </a:endParaRPr>
          </a:p>
          <a:p>
            <a:pPr algn="just">
              <a:buNone/>
            </a:pPr>
            <a:r>
              <a:rPr lang="en-US" sz="2000" dirty="0">
                <a:latin typeface="Times New Roman" panose="02020603050405020304" pitchFamily="18" charset="0"/>
                <a:cs typeface="Times New Roman" panose="02020603050405020304" pitchFamily="18" charset="0"/>
                <a:sym typeface="Symbol"/>
              </a:rPr>
              <a:t>( q</a:t>
            </a:r>
            <a:r>
              <a:rPr lang="en-US" sz="2000" baseline="-25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 a, Z</a:t>
            </a:r>
            <a:r>
              <a:rPr lang="en-US" sz="2000" baseline="-20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smtClean="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a:t>
            </a:r>
            <a:r>
              <a:rPr lang="en-US" sz="2000" dirty="0" smtClean="0">
                <a:latin typeface="Times New Roman" panose="02020603050405020304" pitchFamily="18" charset="0"/>
                <a:cs typeface="Times New Roman" panose="02020603050405020304" pitchFamily="18" charset="0"/>
                <a:sym typeface="Symbol"/>
              </a:rPr>
              <a:t>Z</a:t>
            </a:r>
            <a:r>
              <a:rPr lang="en-US" sz="2000" baseline="-20000" dirty="0" smtClean="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a,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aa)</a:t>
            </a:r>
            <a:endParaRPr lang="en-US" sz="2000" dirty="0">
              <a:latin typeface="Times New Roman" panose="02020603050405020304" pitchFamily="18" charset="0"/>
              <a:cs typeface="Times New Roman" panose="02020603050405020304" pitchFamily="18" charset="0"/>
              <a:sym typeface="Symbol"/>
            </a:endParaRP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1</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c,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a)</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2</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b,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3</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a</a:t>
            </a:r>
            <a:r>
              <a:rPr lang="en-US" sz="2000" dirty="0" smtClean="0">
                <a:latin typeface="Times New Roman" panose="02020603050405020304" pitchFamily="18" charset="0"/>
                <a:cs typeface="Times New Roman" panose="02020603050405020304" pitchFamily="18" charset="0"/>
                <a:sym typeface="Symbol"/>
              </a:rPr>
              <a:t>)</a:t>
            </a:r>
            <a:endParaRPr lang="en-US" sz="2000" dirty="0">
              <a:latin typeface="Times New Roman" panose="02020603050405020304" pitchFamily="18" charset="0"/>
              <a:cs typeface="Times New Roman" panose="02020603050405020304" pitchFamily="18" charset="0"/>
              <a:sym typeface="Symbol"/>
            </a:endParaRP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3</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b, a) =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4</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Ɛ</a:t>
            </a:r>
            <a:r>
              <a:rPr lang="en-US" sz="2000" dirty="0" smtClean="0">
                <a:latin typeface="Times New Roman" panose="02020603050405020304" pitchFamily="18" charset="0"/>
                <a:cs typeface="Times New Roman" panose="02020603050405020304" pitchFamily="18" charset="0"/>
                <a:sym typeface="Symbol"/>
              </a:rPr>
              <a:t>)</a:t>
            </a: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smtClean="0">
                <a:latin typeface="Times New Roman" panose="02020603050405020304" pitchFamily="18" charset="0"/>
                <a:cs typeface="Times New Roman" panose="02020603050405020304" pitchFamily="18" charset="0"/>
                <a:sym typeface="Symbol"/>
              </a:rPr>
              <a:t>4</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b, a) = (q</a:t>
            </a:r>
            <a:r>
              <a:rPr lang="en-US" sz="2000" baseline="-25000" dirty="0">
                <a:latin typeface="Times New Roman" panose="02020603050405020304" pitchFamily="18" charset="0"/>
                <a:cs typeface="Times New Roman" panose="02020603050405020304" pitchFamily="18" charset="0"/>
                <a:sym typeface="Symbol"/>
              </a:rPr>
              <a:t>3</a:t>
            </a:r>
            <a:r>
              <a:rPr lang="en-US" sz="2000" dirty="0">
                <a:latin typeface="Times New Roman" panose="02020603050405020304" pitchFamily="18" charset="0"/>
                <a:cs typeface="Times New Roman" panose="02020603050405020304" pitchFamily="18" charset="0"/>
                <a:sym typeface="Symbol"/>
              </a:rPr>
              <a:t>, a</a:t>
            </a:r>
            <a:r>
              <a:rPr lang="en-US" sz="2000" dirty="0" smtClean="0">
                <a:latin typeface="Times New Roman" panose="02020603050405020304" pitchFamily="18" charset="0"/>
                <a:cs typeface="Times New Roman" panose="02020603050405020304" pitchFamily="18" charset="0"/>
                <a:sym typeface="Symbol"/>
              </a:rPr>
              <a:t>)</a:t>
            </a:r>
            <a:endParaRPr lang="en-US" sz="2000" dirty="0">
              <a:latin typeface="Times New Roman" panose="02020603050405020304" pitchFamily="18" charset="0"/>
              <a:cs typeface="Times New Roman" panose="02020603050405020304" pitchFamily="18" charset="0"/>
              <a:sym typeface="Symbol"/>
            </a:endParaRPr>
          </a:p>
          <a:p>
            <a:pPr algn="just">
              <a:buNone/>
            </a:pPr>
            <a:r>
              <a:rPr lang="en-US" sz="2000" dirty="0">
                <a:latin typeface="Times New Roman" panose="02020603050405020304" pitchFamily="18" charset="0"/>
                <a:cs typeface="Times New Roman" panose="02020603050405020304" pitchFamily="18" charset="0"/>
                <a:sym typeface="Symbol"/>
              </a:rPr>
              <a:t>( </a:t>
            </a:r>
            <a:r>
              <a:rPr lang="en-US" sz="2000" dirty="0" smtClean="0">
                <a:latin typeface="Times New Roman" panose="02020603050405020304" pitchFamily="18" charset="0"/>
                <a:cs typeface="Times New Roman" panose="02020603050405020304" pitchFamily="18" charset="0"/>
                <a:sym typeface="Symbol"/>
              </a:rPr>
              <a:t>q</a:t>
            </a:r>
            <a:r>
              <a:rPr lang="en-US" sz="2000" baseline="-25000" dirty="0">
                <a:latin typeface="Times New Roman" panose="02020603050405020304" pitchFamily="18" charset="0"/>
                <a:cs typeface="Times New Roman" panose="02020603050405020304" pitchFamily="18" charset="0"/>
                <a:sym typeface="Symbol"/>
              </a:rPr>
              <a:t>4</a:t>
            </a:r>
            <a:r>
              <a:rPr lang="en-US" sz="2000" dirty="0" smtClean="0">
                <a:latin typeface="Times New Roman" panose="02020603050405020304" pitchFamily="18" charset="0"/>
                <a:cs typeface="Times New Roman" panose="02020603050405020304" pitchFamily="18" charset="0"/>
                <a:sym typeface="Symbol"/>
              </a:rPr>
              <a:t>, </a:t>
            </a:r>
            <a:r>
              <a:rPr lang="en-US" sz="2000" dirty="0">
                <a:latin typeface="Times New Roman" panose="02020603050405020304" pitchFamily="18" charset="0"/>
                <a:cs typeface="Times New Roman" panose="02020603050405020304" pitchFamily="18" charset="0"/>
                <a:sym typeface="Symbol"/>
              </a:rPr>
              <a:t>Ɛ, Z</a:t>
            </a:r>
            <a:r>
              <a:rPr lang="en-US" sz="2000" baseline="-20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 = (</a:t>
            </a:r>
            <a:r>
              <a:rPr lang="en-US" sz="2000" dirty="0" err="1">
                <a:latin typeface="Times New Roman" panose="02020603050405020304" pitchFamily="18" charset="0"/>
                <a:cs typeface="Times New Roman" panose="02020603050405020304" pitchFamily="18" charset="0"/>
                <a:sym typeface="Symbol"/>
              </a:rPr>
              <a:t>q</a:t>
            </a:r>
            <a:r>
              <a:rPr lang="en-US" sz="2000" baseline="-25000" dirty="0" err="1">
                <a:latin typeface="Times New Roman" panose="02020603050405020304" pitchFamily="18" charset="0"/>
                <a:cs typeface="Times New Roman" panose="02020603050405020304" pitchFamily="18" charset="0"/>
                <a:sym typeface="Symbol"/>
              </a:rPr>
              <a:t>f</a:t>
            </a:r>
            <a:r>
              <a:rPr lang="en-US" sz="2000" dirty="0">
                <a:latin typeface="Times New Roman" panose="02020603050405020304" pitchFamily="18" charset="0"/>
                <a:cs typeface="Times New Roman" panose="02020603050405020304" pitchFamily="18" charset="0"/>
                <a:sym typeface="Symbol"/>
              </a:rPr>
              <a:t>, Z</a:t>
            </a:r>
            <a:r>
              <a:rPr lang="en-US" sz="2000" baseline="-20000" dirty="0">
                <a:latin typeface="Times New Roman" panose="02020603050405020304" pitchFamily="18" charset="0"/>
                <a:cs typeface="Times New Roman" panose="02020603050405020304" pitchFamily="18" charset="0"/>
                <a:sym typeface="Symbol"/>
              </a:rPr>
              <a:t>0</a:t>
            </a:r>
            <a:r>
              <a:rPr lang="en-US" sz="2000" dirty="0">
                <a:latin typeface="Times New Roman" panose="02020603050405020304" pitchFamily="18" charset="0"/>
                <a:cs typeface="Times New Roman" panose="02020603050405020304" pitchFamily="18" charset="0"/>
                <a:sym typeface="Symbol"/>
              </a:rPr>
              <a:t>)</a:t>
            </a:r>
          </a:p>
          <a:p>
            <a:pPr algn="just">
              <a:buNone/>
            </a:pP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457BFBD-E577-41FF-A503-7024CBE37E60}"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dirty="0"/>
          </a:p>
        </p:txBody>
      </p:sp>
      <p:sp>
        <p:nvSpPr>
          <p:cNvPr id="22" name="Title 1"/>
          <p:cNvSpPr txBox="1">
            <a:spLocks/>
          </p:cNvSpPr>
          <p:nvPr/>
        </p:nvSpPr>
        <p:spPr>
          <a:xfrm>
            <a:off x="1371600" y="0"/>
            <a:ext cx="7772400" cy="8382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PDA(Example)</a:t>
            </a:r>
          </a:p>
        </p:txBody>
      </p:sp>
      <p:sp>
        <p:nvSpPr>
          <p:cNvPr id="42" name="TextBox 41"/>
          <p:cNvSpPr txBox="1"/>
          <p:nvPr/>
        </p:nvSpPr>
        <p:spPr>
          <a:xfrm>
            <a:off x="2895600" y="4648200"/>
            <a:ext cx="5943600"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M= {{</a:t>
            </a:r>
            <a:r>
              <a:rPr lang="en-US" sz="2000" b="1" dirty="0">
                <a:latin typeface="Times New Roman" panose="02020603050405020304" pitchFamily="18" charset="0"/>
                <a:cs typeface="Times New Roman" panose="02020603050405020304" pitchFamily="18" charset="0"/>
                <a:sym typeface="Symbol"/>
              </a:rPr>
              <a:t>q</a:t>
            </a:r>
            <a:r>
              <a:rPr lang="en-US" sz="2000" b="1" baseline="-25000" dirty="0">
                <a:latin typeface="Times New Roman" panose="02020603050405020304" pitchFamily="18" charset="0"/>
                <a:cs typeface="Times New Roman" panose="02020603050405020304" pitchFamily="18" charset="0"/>
                <a:sym typeface="Symbol"/>
              </a:rPr>
              <a:t>0</a:t>
            </a:r>
            <a:r>
              <a:rPr lang="en-US" sz="2000" b="1" dirty="0">
                <a:latin typeface="Times New Roman" panose="02020603050405020304" pitchFamily="18" charset="0"/>
                <a:cs typeface="Times New Roman" panose="02020603050405020304" pitchFamily="18" charset="0"/>
                <a:sym typeface="Symbol"/>
              </a:rPr>
              <a:t>, q</a:t>
            </a:r>
            <a:r>
              <a:rPr lang="en-US" sz="2000" b="1" baseline="-25000" dirty="0">
                <a:latin typeface="Times New Roman" panose="02020603050405020304" pitchFamily="18" charset="0"/>
                <a:cs typeface="Times New Roman" panose="02020603050405020304" pitchFamily="18" charset="0"/>
                <a:sym typeface="Symbol"/>
              </a:rPr>
              <a:t>1</a:t>
            </a:r>
            <a:r>
              <a:rPr lang="en-US" sz="2000" b="1" dirty="0">
                <a:latin typeface="Times New Roman" panose="02020603050405020304" pitchFamily="18" charset="0"/>
                <a:cs typeface="Times New Roman" panose="02020603050405020304" pitchFamily="18" charset="0"/>
                <a:sym typeface="Symbol"/>
              </a:rPr>
              <a:t>, q</a:t>
            </a:r>
            <a:r>
              <a:rPr lang="en-US" sz="2000" b="1" baseline="-25000" dirty="0">
                <a:latin typeface="Times New Roman" panose="02020603050405020304" pitchFamily="18" charset="0"/>
                <a:cs typeface="Times New Roman" panose="02020603050405020304" pitchFamily="18" charset="0"/>
                <a:sym typeface="Symbol"/>
              </a:rPr>
              <a:t>2</a:t>
            </a:r>
            <a:r>
              <a:rPr lang="en-US" sz="2000" dirty="0">
                <a:latin typeface="Times New Roman" panose="02020603050405020304" pitchFamily="18" charset="0"/>
                <a:cs typeface="Times New Roman" panose="02020603050405020304" pitchFamily="18" charset="0"/>
                <a:sym typeface="Symbol"/>
              </a:rPr>
              <a:t>,</a:t>
            </a:r>
            <a:r>
              <a:rPr lang="en-US" sz="2000" b="1" dirty="0">
                <a:latin typeface="Times New Roman" panose="02020603050405020304" pitchFamily="18" charset="0"/>
                <a:cs typeface="Times New Roman" panose="02020603050405020304" pitchFamily="18" charset="0"/>
                <a:sym typeface="Symbol"/>
              </a:rPr>
              <a:t>q</a:t>
            </a:r>
            <a:r>
              <a:rPr lang="en-US" sz="2000" b="1" baseline="-25000" dirty="0">
                <a:latin typeface="Times New Roman" panose="02020603050405020304" pitchFamily="18" charset="0"/>
                <a:cs typeface="Times New Roman" panose="02020603050405020304" pitchFamily="18" charset="0"/>
                <a:sym typeface="Symbol"/>
              </a:rPr>
              <a:t>f </a:t>
            </a:r>
            <a:r>
              <a:rPr lang="en-US" sz="2000" b="1" dirty="0">
                <a:latin typeface="Times New Roman" panose="02020603050405020304" pitchFamily="18" charset="0"/>
                <a:cs typeface="Times New Roman" panose="02020603050405020304" pitchFamily="18" charset="0"/>
                <a:sym typeface="Symbol"/>
              </a:rPr>
              <a:t>}</a:t>
            </a:r>
            <a:r>
              <a:rPr lang="en-US" sz="2000" dirty="0">
                <a:latin typeface="Times New Roman" panose="02020603050405020304" pitchFamily="18" charset="0"/>
                <a:cs typeface="Times New Roman" panose="02020603050405020304" pitchFamily="18" charset="0"/>
                <a:sym typeface="Symbol"/>
              </a:rPr>
              <a:t>,</a:t>
            </a:r>
            <a:r>
              <a:rPr lang="en-US" sz="2000" b="1" dirty="0">
                <a:latin typeface="Times New Roman" panose="02020603050405020304" pitchFamily="18" charset="0"/>
                <a:cs typeface="Times New Roman" panose="02020603050405020304" pitchFamily="18" charset="0"/>
                <a:sym typeface="Symbol"/>
              </a:rPr>
              <a:t> {a, b, c}, {a, Z</a:t>
            </a:r>
            <a:r>
              <a:rPr lang="en-US" sz="2000" b="1" baseline="-20000" dirty="0">
                <a:latin typeface="Times New Roman" panose="02020603050405020304" pitchFamily="18" charset="0"/>
                <a:cs typeface="Times New Roman" panose="02020603050405020304" pitchFamily="18" charset="0"/>
                <a:sym typeface="Symbol"/>
              </a:rPr>
              <a:t>0</a:t>
            </a:r>
            <a:r>
              <a:rPr lang="en-US" sz="2000" b="1" dirty="0">
                <a:latin typeface="Times New Roman" panose="02020603050405020304" pitchFamily="18" charset="0"/>
                <a:cs typeface="Times New Roman" panose="02020603050405020304" pitchFamily="18" charset="0"/>
                <a:sym typeface="Symbol"/>
              </a:rPr>
              <a:t>}, , q</a:t>
            </a:r>
            <a:r>
              <a:rPr lang="en-US" sz="2000" b="1" baseline="-25000" dirty="0">
                <a:latin typeface="Times New Roman" panose="02020603050405020304" pitchFamily="18" charset="0"/>
                <a:cs typeface="Times New Roman" panose="02020603050405020304" pitchFamily="18" charset="0"/>
                <a:sym typeface="Symbol"/>
              </a:rPr>
              <a:t>0,</a:t>
            </a:r>
            <a:r>
              <a:rPr lang="en-US" sz="2000" b="1" dirty="0">
                <a:latin typeface="Times New Roman" panose="02020603050405020304" pitchFamily="18" charset="0"/>
                <a:cs typeface="Times New Roman" panose="02020603050405020304" pitchFamily="18" charset="0"/>
                <a:sym typeface="Symbol"/>
              </a:rPr>
              <a:t> Z</a:t>
            </a:r>
            <a:r>
              <a:rPr lang="en-US" sz="2000" b="1" baseline="-20000" dirty="0">
                <a:latin typeface="Times New Roman" panose="02020603050405020304" pitchFamily="18" charset="0"/>
                <a:cs typeface="Times New Roman" panose="02020603050405020304" pitchFamily="18" charset="0"/>
                <a:sym typeface="Symbol"/>
              </a:rPr>
              <a:t>0, </a:t>
            </a:r>
            <a:r>
              <a:rPr lang="en-US" sz="2000" b="1" dirty="0" err="1">
                <a:latin typeface="Times New Roman" panose="02020603050405020304" pitchFamily="18" charset="0"/>
                <a:cs typeface="Times New Roman" panose="02020603050405020304" pitchFamily="18" charset="0"/>
                <a:sym typeface="Symbol"/>
              </a:rPr>
              <a:t>q</a:t>
            </a:r>
            <a:r>
              <a:rPr lang="en-US" sz="2000" b="1" baseline="-25000" dirty="0" err="1">
                <a:latin typeface="Times New Roman" panose="02020603050405020304" pitchFamily="18" charset="0"/>
                <a:cs typeface="Times New Roman" panose="02020603050405020304" pitchFamily="18" charset="0"/>
                <a:sym typeface="Symbol"/>
              </a:rPr>
              <a:t>f</a:t>
            </a:r>
            <a:r>
              <a:rPr lang="en-US" sz="2000" b="1" dirty="0">
                <a:latin typeface="Times New Roman" panose="02020603050405020304" pitchFamily="18" charset="0"/>
                <a:cs typeface="Times New Roman" panose="02020603050405020304" pitchFamily="18" charset="0"/>
                <a:sym typeface="Symbol"/>
              </a:rPr>
              <a:t>}</a:t>
            </a:r>
            <a:r>
              <a:rPr lang="en-US" sz="2000" b="1" baseline="-25000" dirty="0">
                <a:latin typeface="Times New Roman" panose="02020603050405020304" pitchFamily="18" charset="0"/>
                <a:cs typeface="Times New Roman" panose="02020603050405020304" pitchFamily="18" charset="0"/>
                <a:sym typeface="Symbol"/>
              </a:rPr>
              <a:t> </a:t>
            </a:r>
            <a:r>
              <a:rPr lang="en-US" sz="2000" b="1" dirty="0">
                <a:latin typeface="Times New Roman" panose="02020603050405020304" pitchFamily="18" charset="0"/>
                <a:cs typeface="Times New Roman" panose="02020603050405020304" pitchFamily="18" charset="0"/>
                <a:sym typeface="Symbol"/>
              </a:rPr>
              <a:t>  </a:t>
            </a:r>
            <a:endParaRPr lang="en-US" sz="2000" b="1" dirty="0">
              <a:latin typeface="Times New Roman" panose="02020603050405020304" pitchFamily="18" charset="0"/>
              <a:cs typeface="Times New Roman" panose="02020603050405020304" pitchFamily="18" charset="0"/>
            </a:endParaRPr>
          </a:p>
        </p:txBody>
      </p:sp>
      <p:pic>
        <p:nvPicPr>
          <p:cNvPr id="5" name="object 20">
            <a:extLst>
              <a:ext uri="{FF2B5EF4-FFF2-40B4-BE49-F238E27FC236}">
                <a16:creationId xmlns:a16="http://schemas.microsoft.com/office/drawing/2014/main" id="{438B4AD5-109E-E3EF-C860-7CBB1A10D03C}"/>
              </a:ext>
            </a:extLst>
          </p:cNvPr>
          <p:cNvPicPr/>
          <p:nvPr/>
        </p:nvPicPr>
        <p:blipFill>
          <a:blip r:embed="rId2" cstate="print"/>
          <a:stretch>
            <a:fillRect/>
          </a:stretch>
        </p:blipFill>
        <p:spPr>
          <a:xfrm>
            <a:off x="0" y="-18108"/>
            <a:ext cx="1676400" cy="888057"/>
          </a:xfrm>
          <a:prstGeom prst="rect">
            <a:avLst/>
          </a:prstGeom>
        </p:spPr>
      </p:pic>
      <p:sp>
        <p:nvSpPr>
          <p:cNvPr id="8" name="Footer Placeholder 12">
            <a:extLst>
              <a:ext uri="{FF2B5EF4-FFF2-40B4-BE49-F238E27FC236}">
                <a16:creationId xmlns:a16="http://schemas.microsoft.com/office/drawing/2014/main" id="{52DCD063-793A-A200-069D-929D0C28C75E}"/>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algn="just"/>
            <a:endParaRPr lang="en-US" dirty="0"/>
          </a:p>
          <a:p>
            <a:pPr algn="just"/>
            <a:endParaRPr lang="en-US" sz="2000" dirty="0"/>
          </a:p>
        </p:txBody>
      </p:sp>
      <p:sp>
        <p:nvSpPr>
          <p:cNvPr id="9" name="Content Placeholder 8"/>
          <p:cNvSpPr>
            <a:spLocks noGrp="1"/>
          </p:cNvSpPr>
          <p:nvPr>
            <p:ph sz="half" idx="2"/>
          </p:nvPr>
        </p:nvSpPr>
        <p:spPr>
          <a:xfrm>
            <a:off x="685800" y="1219200"/>
            <a:ext cx="8001000" cy="4525963"/>
          </a:xfrm>
        </p:spPr>
        <p:txBody>
          <a:bodyPr>
            <a:normAutofit/>
          </a:bodyPr>
          <a:lstStyle/>
          <a:p>
            <a:r>
              <a:rPr lang="en-US" sz="2400" dirty="0">
                <a:latin typeface="Times New Roman" panose="02020603050405020304" pitchFamily="18" charset="0"/>
                <a:cs typeface="Times New Roman" panose="02020603050405020304" pitchFamily="18" charset="0"/>
              </a:rPr>
              <a:t>Construct a PDA for L = {</a:t>
            </a:r>
            <a:r>
              <a:rPr lang="en-US" sz="2400" dirty="0" err="1">
                <a:latin typeface="Times New Roman" panose="02020603050405020304" pitchFamily="18" charset="0"/>
                <a:cs typeface="Times New Roman" panose="02020603050405020304" pitchFamily="18" charset="0"/>
              </a:rPr>
              <a:t>ww</a:t>
            </a:r>
            <a:r>
              <a:rPr lang="en-US" sz="2400" baseline="30000" dirty="0" err="1">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 | w </a:t>
            </a:r>
            <a:r>
              <a:rPr lang="en-US" sz="2400" dirty="0">
                <a:latin typeface="Times New Roman" panose="02020603050405020304" pitchFamily="18" charset="0"/>
                <a:cs typeface="Times New Roman" panose="02020603050405020304" pitchFamily="18" charset="0"/>
                <a:sym typeface="Symbol"/>
              </a:rPr>
              <a:t> (0, 1) }.</a:t>
            </a:r>
          </a:p>
          <a:p>
            <a:pPr>
              <a:buNone/>
            </a:pP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2B62079-A513-4D9A-B1BB-96AA2669D073}"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dirty="0"/>
          </a:p>
        </p:txBody>
      </p:sp>
      <p:sp>
        <p:nvSpPr>
          <p:cNvPr id="22" name="Title 1"/>
          <p:cNvSpPr txBox="1">
            <a:spLocks/>
          </p:cNvSpPr>
          <p:nvPr/>
        </p:nvSpPr>
        <p:spPr>
          <a:xfrm>
            <a:off x="1371600" y="0"/>
            <a:ext cx="7772400" cy="8382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 Non-deterministic PDA</a:t>
            </a:r>
          </a:p>
        </p:txBody>
      </p:sp>
      <p:sp>
        <p:nvSpPr>
          <p:cNvPr id="26" name="TextBox 25"/>
          <p:cNvSpPr txBox="1"/>
          <p:nvPr/>
        </p:nvSpPr>
        <p:spPr>
          <a:xfrm>
            <a:off x="5791200" y="1897559"/>
            <a:ext cx="2743200" cy="769441"/>
          </a:xfrm>
          <a:prstGeom prst="rect">
            <a:avLst/>
          </a:prstGeom>
          <a:noFill/>
          <a:ln w="31750">
            <a:solidFill>
              <a:srgbClr val="FF9999"/>
            </a:solidFill>
          </a:ln>
        </p:spPr>
        <p:txBody>
          <a:bodyPr wrap="square" rtlCol="0">
            <a:spAutoFit/>
          </a:bodyPr>
          <a:lstStyle/>
          <a:p>
            <a:r>
              <a:rPr lang="en-US" sz="2200" b="1" dirty="0">
                <a:solidFill>
                  <a:schemeClr val="accent6">
                    <a:lumMod val="50000"/>
                  </a:schemeClr>
                </a:solidFill>
                <a:latin typeface="Times New Roman" panose="02020603050405020304" pitchFamily="18" charset="0"/>
                <a:cs typeface="Times New Roman" panose="02020603050405020304" pitchFamily="18" charset="0"/>
              </a:rPr>
              <a:t>Why It is </a:t>
            </a:r>
          </a:p>
          <a:p>
            <a:r>
              <a:rPr lang="en-US" sz="2200" b="1" dirty="0">
                <a:solidFill>
                  <a:schemeClr val="accent6">
                    <a:lumMod val="50000"/>
                  </a:schemeClr>
                </a:solidFill>
                <a:latin typeface="Times New Roman" panose="02020603050405020304" pitchFamily="18" charset="0"/>
                <a:cs typeface="Times New Roman" panose="02020603050405020304" pitchFamily="18" charset="0"/>
              </a:rPr>
              <a:t>Non-deterministic ??</a:t>
            </a:r>
          </a:p>
        </p:txBody>
      </p:sp>
      <p:sp>
        <p:nvSpPr>
          <p:cNvPr id="27" name="TextBox 26"/>
          <p:cNvSpPr txBox="1"/>
          <p:nvPr/>
        </p:nvSpPr>
        <p:spPr>
          <a:xfrm>
            <a:off x="5791200" y="2888159"/>
            <a:ext cx="2743200" cy="769441"/>
          </a:xfrm>
          <a:prstGeom prst="rect">
            <a:avLst/>
          </a:prstGeom>
          <a:noFill/>
          <a:ln w="31750">
            <a:solidFill>
              <a:srgbClr val="FF9999"/>
            </a:solidFill>
          </a:ln>
        </p:spPr>
        <p:txBody>
          <a:bodyPr wrap="square" rtlCol="0">
            <a:spAutoFit/>
          </a:bodyPr>
          <a:lstStyle/>
          <a:p>
            <a:r>
              <a:rPr lang="en-US" sz="2200" b="1" dirty="0">
                <a:solidFill>
                  <a:schemeClr val="tx2">
                    <a:lumMod val="50000"/>
                  </a:schemeClr>
                </a:solidFill>
                <a:latin typeface="Times New Roman" panose="02020603050405020304" pitchFamily="18" charset="0"/>
                <a:cs typeface="Times New Roman" panose="02020603050405020304" pitchFamily="18" charset="0"/>
              </a:rPr>
              <a:t>Why not</a:t>
            </a:r>
          </a:p>
          <a:p>
            <a:r>
              <a:rPr lang="en-US" sz="2200" b="1" dirty="0">
                <a:solidFill>
                  <a:schemeClr val="tx2">
                    <a:lumMod val="50000"/>
                  </a:schemeClr>
                </a:solidFill>
                <a:latin typeface="Times New Roman" panose="02020603050405020304" pitchFamily="18" charset="0"/>
                <a:cs typeface="Times New Roman" panose="02020603050405020304" pitchFamily="18" charset="0"/>
              </a:rPr>
              <a:t>deterministic ??</a:t>
            </a:r>
          </a:p>
        </p:txBody>
      </p:sp>
      <p:pic>
        <p:nvPicPr>
          <p:cNvPr id="2" name="object 20">
            <a:extLst>
              <a:ext uri="{FF2B5EF4-FFF2-40B4-BE49-F238E27FC236}">
                <a16:creationId xmlns:a16="http://schemas.microsoft.com/office/drawing/2014/main" id="{B3109A03-8D79-80AF-A224-B3D58CE22063}"/>
              </a:ext>
            </a:extLst>
          </p:cNvPr>
          <p:cNvPicPr/>
          <p:nvPr/>
        </p:nvPicPr>
        <p:blipFill>
          <a:blip r:embed="rId2" cstate="print"/>
          <a:stretch>
            <a:fillRect/>
          </a:stretch>
        </p:blipFill>
        <p:spPr>
          <a:xfrm>
            <a:off x="0" y="-18108"/>
            <a:ext cx="1676400" cy="888057"/>
          </a:xfrm>
          <a:prstGeom prst="rect">
            <a:avLst/>
          </a:prstGeom>
        </p:spPr>
      </p:pic>
      <p:sp>
        <p:nvSpPr>
          <p:cNvPr id="5" name="Footer Placeholder 12">
            <a:extLst>
              <a:ext uri="{FF2B5EF4-FFF2-40B4-BE49-F238E27FC236}">
                <a16:creationId xmlns:a16="http://schemas.microsoft.com/office/drawing/2014/main" id="{F4396A71-C93E-F7C3-77B7-488CB4D54448}"/>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ox(in)">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box(in)">
                                      <p:cBhvr>
                                        <p:cTn id="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algn="just"/>
            <a:endParaRPr lang="en-US" dirty="0"/>
          </a:p>
          <a:p>
            <a:pPr algn="just"/>
            <a:endParaRPr lang="en-US" sz="2000" dirty="0"/>
          </a:p>
        </p:txBody>
      </p:sp>
      <p:sp>
        <p:nvSpPr>
          <p:cNvPr id="9" name="Content Placeholder 8"/>
          <p:cNvSpPr>
            <a:spLocks noGrp="1"/>
          </p:cNvSpPr>
          <p:nvPr>
            <p:ph sz="half" idx="2"/>
          </p:nvPr>
        </p:nvSpPr>
        <p:spPr>
          <a:xfrm>
            <a:off x="685800" y="1219200"/>
            <a:ext cx="8001000" cy="4525963"/>
          </a:xfrm>
        </p:spPr>
        <p:txBody>
          <a:bodyPr>
            <a:normAutofit/>
          </a:bodyPr>
          <a:lstStyle/>
          <a:p>
            <a:r>
              <a:rPr lang="en-US" sz="2400" dirty="0">
                <a:latin typeface="Times New Roman" panose="02020603050405020304" pitchFamily="18" charset="0"/>
                <a:cs typeface="Times New Roman" panose="02020603050405020304" pitchFamily="18" charset="0"/>
              </a:rPr>
              <a:t>Construct a PDA for L = {</a:t>
            </a:r>
            <a:r>
              <a:rPr lang="en-US" sz="2400" dirty="0" err="1">
                <a:latin typeface="Times New Roman" panose="02020603050405020304" pitchFamily="18" charset="0"/>
                <a:cs typeface="Times New Roman" panose="02020603050405020304" pitchFamily="18" charset="0"/>
              </a:rPr>
              <a:t>wcw</a:t>
            </a:r>
            <a:r>
              <a:rPr lang="en-US" sz="2400" baseline="30000" dirty="0" err="1">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 | w </a:t>
            </a:r>
            <a:r>
              <a:rPr lang="en-US" sz="2400" dirty="0">
                <a:latin typeface="Times New Roman" panose="02020603050405020304" pitchFamily="18" charset="0"/>
                <a:cs typeface="Times New Roman" panose="02020603050405020304" pitchFamily="18" charset="0"/>
                <a:sym typeface="Symbol"/>
              </a:rPr>
              <a:t> (0, 1) }.</a:t>
            </a:r>
          </a:p>
          <a:p>
            <a:pPr>
              <a:buNone/>
            </a:pP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D944F73-2A9A-431E-8732-D477CCF3CDD4}"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dirty="0"/>
          </a:p>
        </p:txBody>
      </p:sp>
      <p:sp>
        <p:nvSpPr>
          <p:cNvPr id="22" name="Title 1"/>
          <p:cNvSpPr txBox="1">
            <a:spLocks/>
          </p:cNvSpPr>
          <p:nvPr/>
        </p:nvSpPr>
        <p:spPr>
          <a:xfrm>
            <a:off x="1371600" y="0"/>
            <a:ext cx="7772400" cy="8382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 Deterministic PDA</a:t>
            </a:r>
          </a:p>
        </p:txBody>
      </p:sp>
      <p:pic>
        <p:nvPicPr>
          <p:cNvPr id="5" name="object 20">
            <a:extLst>
              <a:ext uri="{FF2B5EF4-FFF2-40B4-BE49-F238E27FC236}">
                <a16:creationId xmlns:a16="http://schemas.microsoft.com/office/drawing/2014/main" id="{9D091726-50EE-7C90-16AF-494C2A13EF9F}"/>
              </a:ext>
            </a:extLst>
          </p:cNvPr>
          <p:cNvPicPr/>
          <p:nvPr/>
        </p:nvPicPr>
        <p:blipFill>
          <a:blip r:embed="rId2" cstate="print"/>
          <a:stretch>
            <a:fillRect/>
          </a:stretch>
        </p:blipFill>
        <p:spPr>
          <a:xfrm>
            <a:off x="0" y="0"/>
            <a:ext cx="1676400" cy="888057"/>
          </a:xfrm>
          <a:prstGeom prst="rect">
            <a:avLst/>
          </a:prstGeom>
        </p:spPr>
      </p:pic>
      <p:sp>
        <p:nvSpPr>
          <p:cNvPr id="8" name="Footer Placeholder 12">
            <a:extLst>
              <a:ext uri="{FF2B5EF4-FFF2-40B4-BE49-F238E27FC236}">
                <a16:creationId xmlns:a16="http://schemas.microsoft.com/office/drawing/2014/main" id="{BDD3EA24-80F2-8EEC-998F-13516981A302}"/>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algn="just"/>
            <a:endParaRPr lang="en-US" dirty="0"/>
          </a:p>
          <a:p>
            <a:pPr algn="just"/>
            <a:endParaRPr lang="en-US" sz="2000" dirty="0"/>
          </a:p>
        </p:txBody>
      </p:sp>
      <p:graphicFrame>
        <p:nvGraphicFramePr>
          <p:cNvPr id="10" name="Content Placeholder 9"/>
          <p:cNvGraphicFramePr>
            <a:graphicFrameLocks noGrp="1"/>
          </p:cNvGraphicFramePr>
          <p:nvPr>
            <p:ph sz="half" idx="2"/>
            <p:extLst>
              <p:ext uri="{D42A27DB-BD31-4B8C-83A1-F6EECF244321}">
                <p14:modId xmlns:p14="http://schemas.microsoft.com/office/powerpoint/2010/main" val="1072708897"/>
              </p:ext>
            </p:extLst>
          </p:nvPr>
        </p:nvGraphicFramePr>
        <p:xfrm>
          <a:off x="762000" y="1859280"/>
          <a:ext cx="7924800" cy="3398522"/>
        </p:xfrm>
        <a:graphic>
          <a:graphicData uri="http://schemas.openxmlformats.org/drawingml/2006/table">
            <a:tbl>
              <a:tblPr firstRow="1" bandRow="1">
                <a:tableStyleId>{5DA37D80-6434-44D0-A028-1B22A696006F}</a:tableStyleId>
              </a:tblPr>
              <a:tblGrid>
                <a:gridCol w="3962400">
                  <a:extLst>
                    <a:ext uri="{9D8B030D-6E8A-4147-A177-3AD203B41FA5}">
                      <a16:colId xmlns:a16="http://schemas.microsoft.com/office/drawing/2014/main" val="20000"/>
                    </a:ext>
                  </a:extLst>
                </a:gridCol>
                <a:gridCol w="3962400">
                  <a:extLst>
                    <a:ext uri="{9D8B030D-6E8A-4147-A177-3AD203B41FA5}">
                      <a16:colId xmlns:a16="http://schemas.microsoft.com/office/drawing/2014/main" val="20001"/>
                    </a:ext>
                  </a:extLst>
                </a:gridCol>
              </a:tblGrid>
              <a:tr h="519774">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DPDA</a:t>
                      </a:r>
                    </a:p>
                  </a:txBody>
                  <a:tcPr/>
                </a:tc>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NPDA</a:t>
                      </a:r>
                    </a:p>
                  </a:txBody>
                  <a:tcPr/>
                </a:tc>
                <a:extLst>
                  <a:ext uri="{0D108BD9-81ED-4DB2-BD59-A6C34878D82A}">
                    <a16:rowId xmlns:a16="http://schemas.microsoft.com/office/drawing/2014/main" val="10000"/>
                  </a:ext>
                </a:extLst>
              </a:tr>
              <a:tr h="919600">
                <a:tc>
                  <a:txBody>
                    <a:bodyPr/>
                    <a:lstStyle/>
                    <a:p>
                      <a:pPr algn="just"/>
                      <a:r>
                        <a:rPr lang="en-US" sz="2000" b="0" kern="1200" dirty="0">
                          <a:solidFill>
                            <a:schemeClr val="dk1"/>
                          </a:solidFill>
                          <a:latin typeface="Times New Roman" panose="02020603050405020304" pitchFamily="18" charset="0"/>
                          <a:cs typeface="Times New Roman" panose="02020603050405020304" pitchFamily="18" charset="0"/>
                        </a:rPr>
                        <a:t>In NPDA, there may exits exactly one transition for each input symbol.</a:t>
                      </a:r>
                      <a:endParaRPr lang="en-US"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2000" b="0" kern="1200" dirty="0">
                          <a:solidFill>
                            <a:schemeClr val="dk1"/>
                          </a:solidFill>
                          <a:latin typeface="Times New Roman" panose="02020603050405020304" pitchFamily="18" charset="0"/>
                          <a:cs typeface="Times New Roman" panose="02020603050405020304" pitchFamily="18" charset="0"/>
                        </a:rPr>
                        <a:t>In PDA, there may exits more than one transition for each input symbol</a:t>
                      </a:r>
                      <a:endParaRPr lang="en-US"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919600">
                <a:tc>
                  <a:txBody>
                    <a:bodyPr/>
                    <a:lstStyle/>
                    <a:p>
                      <a:pPr algn="just"/>
                      <a:r>
                        <a:rPr lang="en-US" sz="2000" b="0" kern="1200" dirty="0">
                          <a:solidFill>
                            <a:schemeClr val="dk1"/>
                          </a:solidFill>
                          <a:latin typeface="Times New Roman" panose="02020603050405020304" pitchFamily="18" charset="0"/>
                          <a:cs typeface="Times New Roman" panose="02020603050405020304" pitchFamily="18" charset="0"/>
                        </a:rPr>
                        <a:t>Table contains single entities</a:t>
                      </a:r>
                      <a:endParaRPr lang="en-US"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en-US" sz="2000" b="0" kern="1200" dirty="0">
                          <a:solidFill>
                            <a:schemeClr val="dk1"/>
                          </a:solidFill>
                          <a:latin typeface="Times New Roman" panose="02020603050405020304" pitchFamily="18" charset="0"/>
                          <a:cs typeface="Times New Roman" panose="02020603050405020304" pitchFamily="18" charset="0"/>
                        </a:rPr>
                        <a:t>Table may contain multiple defined entities.</a:t>
                      </a:r>
                      <a:endParaRPr lang="en-US"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519774">
                <a:tc>
                  <a:txBody>
                    <a:bodyPr/>
                    <a:lstStyle/>
                    <a:p>
                      <a:pPr algn="just"/>
                      <a:r>
                        <a:rPr lang="en-US" sz="2000" dirty="0">
                          <a:solidFill>
                            <a:schemeClr val="tx1"/>
                          </a:solidFill>
                          <a:latin typeface="Times New Roman" panose="02020603050405020304" pitchFamily="18" charset="0"/>
                          <a:cs typeface="Times New Roman" panose="02020603050405020304" pitchFamily="18" charset="0"/>
                        </a:rPr>
                        <a:t>Less powerful than NPDA.</a:t>
                      </a:r>
                    </a:p>
                  </a:txBody>
                  <a:tcPr/>
                </a:tc>
                <a:tc>
                  <a:txBody>
                    <a:bodyPr/>
                    <a:lstStyle/>
                    <a:p>
                      <a:pPr algn="just"/>
                      <a:r>
                        <a:rPr lang="en-US" sz="2000" dirty="0">
                          <a:solidFill>
                            <a:schemeClr val="tx1"/>
                          </a:solidFill>
                          <a:latin typeface="Times New Roman" panose="02020603050405020304" pitchFamily="18" charset="0"/>
                          <a:cs typeface="Times New Roman" panose="02020603050405020304" pitchFamily="18" charset="0"/>
                        </a:rPr>
                        <a:t>More powerful</a:t>
                      </a:r>
                      <a:r>
                        <a:rPr lang="en-US" sz="2000" baseline="0" dirty="0">
                          <a:solidFill>
                            <a:schemeClr val="tx1"/>
                          </a:solidFill>
                          <a:latin typeface="Times New Roman" panose="02020603050405020304" pitchFamily="18" charset="0"/>
                          <a:cs typeface="Times New Roman" panose="02020603050405020304" pitchFamily="18" charset="0"/>
                        </a:rPr>
                        <a:t> than DPDA.</a:t>
                      </a:r>
                      <a:endParaRPr lang="en-US"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519774">
                <a:tc>
                  <a:txBody>
                    <a:bodyPr/>
                    <a:lstStyle/>
                    <a:p>
                      <a:pPr algn="just"/>
                      <a:r>
                        <a:rPr lang="en-US" sz="2000" b="1" dirty="0">
                          <a:solidFill>
                            <a:srgbClr val="FF0000"/>
                          </a:solidFill>
                          <a:latin typeface="Times New Roman" panose="02020603050405020304" pitchFamily="18" charset="0"/>
                          <a:cs typeface="Times New Roman" panose="02020603050405020304" pitchFamily="18" charset="0"/>
                        </a:rPr>
                        <a:t>Ex: </a:t>
                      </a:r>
                      <a:r>
                        <a:rPr lang="en-US" sz="2000" dirty="0">
                          <a:solidFill>
                            <a:schemeClr val="tx1"/>
                          </a:solidFill>
                          <a:latin typeface="Times New Roman" panose="02020603050405020304" pitchFamily="18" charset="0"/>
                          <a:cs typeface="Times New Roman" panose="02020603050405020304" pitchFamily="18" charset="0"/>
                        </a:rPr>
                        <a:t>PDA for L= {</a:t>
                      </a:r>
                      <a:r>
                        <a:rPr lang="en-US" sz="2000" dirty="0" err="1">
                          <a:solidFill>
                            <a:schemeClr val="tx1"/>
                          </a:solidFill>
                          <a:latin typeface="Times New Roman" panose="02020603050405020304" pitchFamily="18" charset="0"/>
                          <a:cs typeface="Times New Roman" panose="02020603050405020304" pitchFamily="18" charset="0"/>
                        </a:rPr>
                        <a:t>wcw</a:t>
                      </a:r>
                      <a:r>
                        <a:rPr lang="en-US" sz="2000" baseline="30000" dirty="0" err="1">
                          <a:solidFill>
                            <a:schemeClr val="tx1"/>
                          </a:solidFill>
                          <a:latin typeface="Times New Roman" panose="02020603050405020304" pitchFamily="18" charset="0"/>
                          <a:cs typeface="Times New Roman" panose="02020603050405020304" pitchFamily="18" charset="0"/>
                        </a:rPr>
                        <a:t>R</a:t>
                      </a:r>
                      <a:r>
                        <a:rPr lang="en-US" sz="2000" dirty="0">
                          <a:solidFill>
                            <a:schemeClr val="tx1"/>
                          </a:solidFill>
                          <a:latin typeface="Times New Roman" panose="02020603050405020304" pitchFamily="18" charset="0"/>
                          <a:cs typeface="Times New Roman" panose="02020603050405020304" pitchFamily="18" charset="0"/>
                        </a:rPr>
                        <a:t> |w</a:t>
                      </a:r>
                      <a:r>
                        <a:rPr lang="en-US" sz="2000" dirty="0">
                          <a:solidFill>
                            <a:schemeClr val="tx1"/>
                          </a:solidFill>
                          <a:latin typeface="Times New Roman" panose="02020603050405020304" pitchFamily="18" charset="0"/>
                          <a:cs typeface="Times New Roman" panose="02020603050405020304" pitchFamily="18" charset="0"/>
                          <a:sym typeface="Symbol"/>
                        </a:rPr>
                        <a:t></a:t>
                      </a:r>
                      <a:r>
                        <a:rPr lang="en-US" sz="2000" dirty="0">
                          <a:solidFill>
                            <a:schemeClr val="tx1"/>
                          </a:solidFill>
                          <a:latin typeface="Times New Roman" panose="02020603050405020304" pitchFamily="18" charset="0"/>
                          <a:cs typeface="Times New Roman" panose="02020603050405020304" pitchFamily="18" charset="0"/>
                        </a:rPr>
                        <a:t>(0, 1)*}</a:t>
                      </a: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1" dirty="0">
                          <a:solidFill>
                            <a:srgbClr val="FF0000"/>
                          </a:solidFill>
                          <a:latin typeface="Times New Roman" panose="02020603050405020304" pitchFamily="18" charset="0"/>
                          <a:cs typeface="Times New Roman" panose="02020603050405020304" pitchFamily="18" charset="0"/>
                        </a:rPr>
                        <a:t>Ex: </a:t>
                      </a:r>
                      <a:r>
                        <a:rPr lang="en-US" sz="2000" dirty="0">
                          <a:solidFill>
                            <a:schemeClr val="tx1"/>
                          </a:solidFill>
                          <a:latin typeface="Times New Roman" panose="02020603050405020304" pitchFamily="18" charset="0"/>
                          <a:cs typeface="Times New Roman" panose="02020603050405020304" pitchFamily="18" charset="0"/>
                        </a:rPr>
                        <a:t>PDA for L= {</a:t>
                      </a:r>
                      <a:r>
                        <a:rPr lang="en-US" sz="2000" dirty="0" err="1">
                          <a:solidFill>
                            <a:schemeClr val="tx1"/>
                          </a:solidFill>
                          <a:latin typeface="Times New Roman" panose="02020603050405020304" pitchFamily="18" charset="0"/>
                          <a:cs typeface="Times New Roman" panose="02020603050405020304" pitchFamily="18" charset="0"/>
                        </a:rPr>
                        <a:t>ww</a:t>
                      </a:r>
                      <a:r>
                        <a:rPr lang="en-US" sz="2000" baseline="30000" dirty="0" err="1">
                          <a:solidFill>
                            <a:schemeClr val="tx1"/>
                          </a:solidFill>
                          <a:latin typeface="Times New Roman" panose="02020603050405020304" pitchFamily="18" charset="0"/>
                          <a:cs typeface="Times New Roman" panose="02020603050405020304" pitchFamily="18" charset="0"/>
                        </a:rPr>
                        <a:t>R</a:t>
                      </a:r>
                      <a:r>
                        <a:rPr lang="en-US" sz="2000" dirty="0">
                          <a:solidFill>
                            <a:schemeClr val="tx1"/>
                          </a:solidFill>
                          <a:latin typeface="Times New Roman" panose="02020603050405020304" pitchFamily="18" charset="0"/>
                          <a:cs typeface="Times New Roman" panose="02020603050405020304" pitchFamily="18" charset="0"/>
                        </a:rPr>
                        <a:t> |w</a:t>
                      </a:r>
                      <a:r>
                        <a:rPr lang="en-US" sz="2000" dirty="0">
                          <a:solidFill>
                            <a:schemeClr val="tx1"/>
                          </a:solidFill>
                          <a:latin typeface="Times New Roman" panose="02020603050405020304" pitchFamily="18" charset="0"/>
                          <a:cs typeface="Times New Roman" panose="02020603050405020304" pitchFamily="18" charset="0"/>
                          <a:sym typeface="Symbol"/>
                        </a:rPr>
                        <a:t></a:t>
                      </a:r>
                      <a:r>
                        <a:rPr lang="en-US" sz="2000" dirty="0">
                          <a:solidFill>
                            <a:schemeClr val="tx1"/>
                          </a:solidFill>
                          <a:latin typeface="Times New Roman" panose="02020603050405020304" pitchFamily="18" charset="0"/>
                          <a:cs typeface="Times New Roman" panose="02020603050405020304" pitchFamily="18" charset="0"/>
                        </a:rPr>
                        <a:t>(0, 1)*}</a:t>
                      </a:r>
                    </a:p>
                  </a:txBody>
                  <a:tcPr/>
                </a:tc>
                <a:extLst>
                  <a:ext uri="{0D108BD9-81ED-4DB2-BD59-A6C34878D82A}">
                    <a16:rowId xmlns:a16="http://schemas.microsoft.com/office/drawing/2014/main" val="10004"/>
                  </a:ext>
                </a:extLst>
              </a:tr>
            </a:tbl>
          </a:graphicData>
        </a:graphic>
      </p:graphicFrame>
      <p:sp>
        <p:nvSpPr>
          <p:cNvPr id="4" name="Date Placeholder 3"/>
          <p:cNvSpPr>
            <a:spLocks noGrp="1"/>
          </p:cNvSpPr>
          <p:nvPr>
            <p:ph type="dt" sz="half" idx="10"/>
          </p:nvPr>
        </p:nvSpPr>
        <p:spPr/>
        <p:txBody>
          <a:bodyPr/>
          <a:lstStyle/>
          <a:p>
            <a:fld id="{192B0B8C-628F-42AC-A2C8-64D7F02A2822}"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dirty="0"/>
          </a:p>
        </p:txBody>
      </p:sp>
      <p:sp>
        <p:nvSpPr>
          <p:cNvPr id="22" name="Title 1"/>
          <p:cNvSpPr txBox="1">
            <a:spLocks/>
          </p:cNvSpPr>
          <p:nvPr/>
        </p:nvSpPr>
        <p:spPr>
          <a:xfrm>
            <a:off x="1371600" y="0"/>
            <a:ext cx="7772400" cy="8382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2400" b="1" dirty="0">
                <a:latin typeface="Times New Roman" panose="02020603050405020304" pitchFamily="18" charset="0"/>
                <a:cs typeface="Times New Roman" panose="02020603050405020304" pitchFamily="18" charset="0"/>
              </a:rPr>
              <a:t> Difference between DPDA and NPDA</a:t>
            </a:r>
          </a:p>
        </p:txBody>
      </p:sp>
      <p:pic>
        <p:nvPicPr>
          <p:cNvPr id="2" name="object 20">
            <a:extLst>
              <a:ext uri="{FF2B5EF4-FFF2-40B4-BE49-F238E27FC236}">
                <a16:creationId xmlns:a16="http://schemas.microsoft.com/office/drawing/2014/main" id="{4828B4BA-42EE-13C1-4297-2341161EE837}"/>
              </a:ext>
            </a:extLst>
          </p:cNvPr>
          <p:cNvPicPr/>
          <p:nvPr/>
        </p:nvPicPr>
        <p:blipFill>
          <a:blip r:embed="rId2" cstate="print"/>
          <a:stretch>
            <a:fillRect/>
          </a:stretch>
        </p:blipFill>
        <p:spPr>
          <a:xfrm>
            <a:off x="0" y="-18108"/>
            <a:ext cx="1676400" cy="888057"/>
          </a:xfrm>
          <a:prstGeom prst="rect">
            <a:avLst/>
          </a:prstGeom>
        </p:spPr>
      </p:pic>
      <p:sp>
        <p:nvSpPr>
          <p:cNvPr id="5" name="Footer Placeholder 12">
            <a:extLst>
              <a:ext uri="{FF2B5EF4-FFF2-40B4-BE49-F238E27FC236}">
                <a16:creationId xmlns:a16="http://schemas.microsoft.com/office/drawing/2014/main" id="{4FD08480-BC96-E8E6-969F-8360241EAE8D}"/>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endParaRPr lang="en-US" sz="2000" dirty="0">
              <a:latin typeface="Times New Roman" panose="02020603050405020304" pitchFamily="18" charset="0"/>
              <a:cs typeface="Times New Roman" panose="02020603050405020304" pitchFamily="18" charset="0"/>
            </a:endParaRPr>
          </a:p>
          <a:p>
            <a:pPr marL="0" indent="0">
              <a:buNone/>
            </a:pPr>
            <a:r>
              <a:rPr lang="en-US" sz="2200" b="1" dirty="0" err="1">
                <a:latin typeface="Times New Roman" panose="02020603050405020304" pitchFamily="18" charset="0"/>
                <a:cs typeface="Times New Roman" panose="02020603050405020304" pitchFamily="18" charset="0"/>
              </a:rPr>
              <a:t>Youtube</a:t>
            </a:r>
            <a:r>
              <a:rPr lang="en-US" sz="2200" b="1" dirty="0">
                <a:latin typeface="Times New Roman" panose="02020603050405020304" pitchFamily="18" charset="0"/>
                <a:cs typeface="Times New Roman" panose="02020603050405020304" pitchFamily="18" charset="0"/>
              </a:rPr>
              <a:t>/other Video Links</a:t>
            </a:r>
          </a:p>
          <a:p>
            <a:pPr marL="0" indent="0">
              <a:buNone/>
            </a:pPr>
            <a:endParaRPr lang="en-US" sz="22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hlinkClick r:id="rId2"/>
              </a:rPr>
              <a:t>https://www.youtube.com/watch?v=6b40kKe2SFg</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hlinkClick r:id="rId3"/>
              </a:rPr>
              <a:t>https://www.youtube.com/watch?v=-aIRqNnUvEg&amp;list=PL85CF9F4A047C7BF7</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hlinkClick r:id="rId4"/>
              </a:rPr>
              <a:t>https://www.youtube.com/watch?v=Xk-MTgB68rQ</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7554184-7BE3-4648-A463-921C41698825}"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p:cNvSpPr txBox="1">
            <a:spLocks/>
          </p:cNvSpPr>
          <p:nvPr/>
        </p:nvSpPr>
        <p:spPr>
          <a:xfrm>
            <a:off x="1600200" y="0"/>
            <a:ext cx="7543800" cy="9144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Video Links </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AFAA5138-902A-DC46-A093-2052A15BBDFB}"/>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54816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9915316-E811-440A-B13F-C5888420FBFB}" type="datetime1">
              <a:rPr lang="en-US" smtClean="0"/>
              <a:t>3/20/2026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600200" y="0"/>
            <a:ext cx="7543800" cy="8382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Daily Quiz</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1"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Footer Placeholder 12">
            <a:extLst>
              <a:ext uri="{FF2B5EF4-FFF2-40B4-BE49-F238E27FC236}">
                <a16:creationId xmlns:a16="http://schemas.microsoft.com/office/drawing/2014/main" id="{A148F54E-4929-9B9E-9093-F6FB7B2D49D2}"/>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
        <p:nvSpPr>
          <p:cNvPr id="10" name="Rectangle 1">
            <a:extLst>
              <a:ext uri="{FF2B5EF4-FFF2-40B4-BE49-F238E27FC236}">
                <a16:creationId xmlns:a16="http://schemas.microsoft.com/office/drawing/2014/main" id="{5B043A31-3ED3-6DFF-B779-CB8F11CE0D54}"/>
              </a:ext>
            </a:extLst>
          </p:cNvPr>
          <p:cNvSpPr>
            <a:spLocks noChangeArrowheads="1"/>
          </p:cNvSpPr>
          <p:nvPr/>
        </p:nvSpPr>
        <p:spPr bwMode="auto">
          <a:xfrm>
            <a:off x="381000" y="1371600"/>
            <a:ext cx="82296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Write the formal definition of a Context Free Grammar (CFG) using its components.</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State the meaning of language generated by a grammar and represent it symbolically.</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Distinguish between leftmost derivation and rightmost derivation in CFG.</a:t>
            </a:r>
          </a:p>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the grammar: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S→aSb∣ab</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show a valid derivation for the string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aabb</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Illustrate a parse tree for a given string derived from a CFG.</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State the condition under which a context free grammar becomes ambiguous.</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Give one example of an ambiguous grammar along with a string that proves ambiguity.</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List any two steps involved in simplification of a CFG.</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Write the formal definition of Push Down Automata (PDA) with its tuple representation.</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State the relationship between Push Down Automata and Context Free Languages.</a:t>
            </a:r>
          </a:p>
        </p:txBody>
      </p:sp>
    </p:spTree>
    <p:extLst>
      <p:ext uri="{BB962C8B-B14F-4D97-AF65-F5344CB8AC3E}">
        <p14:creationId xmlns:p14="http://schemas.microsoft.com/office/powerpoint/2010/main" val="25013418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A549D0-94DE-4D20-998B-BE0579560C25}"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p:cNvSpPr txBox="1">
            <a:spLocks/>
          </p:cNvSpPr>
          <p:nvPr/>
        </p:nvSpPr>
        <p:spPr>
          <a:xfrm>
            <a:off x="1676400" y="0"/>
            <a:ext cx="7467600" cy="8382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Weekly</a:t>
            </a:r>
            <a:r>
              <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Assignment</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12">
            <a:extLst>
              <a:ext uri="{FF2B5EF4-FFF2-40B4-BE49-F238E27FC236}">
                <a16:creationId xmlns:a16="http://schemas.microsoft.com/office/drawing/2014/main" id="{D1BD0231-CFE4-8099-EC92-04AB119AD089}"/>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5D390FAA-8892-199F-7432-22989290EE37}"/>
              </a:ext>
            </a:extLst>
          </p:cNvPr>
          <p:cNvGraphicFramePr>
            <a:graphicFrameLocks noGrp="1"/>
          </p:cNvGraphicFramePr>
          <p:nvPr>
            <p:extLst>
              <p:ext uri="{D42A27DB-BD31-4B8C-83A1-F6EECF244321}">
                <p14:modId xmlns:p14="http://schemas.microsoft.com/office/powerpoint/2010/main" val="27986525"/>
              </p:ext>
            </p:extLst>
          </p:nvPr>
        </p:nvGraphicFramePr>
        <p:xfrm>
          <a:off x="457200" y="1447547"/>
          <a:ext cx="8458199" cy="3962907"/>
        </p:xfrm>
        <a:graphic>
          <a:graphicData uri="http://schemas.openxmlformats.org/drawingml/2006/table">
            <a:tbl>
              <a:tblPr>
                <a:tableStyleId>{2D5ABB26-0587-4C30-8999-92F81FD0307C}</a:tableStyleId>
              </a:tblPr>
              <a:tblGrid>
                <a:gridCol w="7315200">
                  <a:extLst>
                    <a:ext uri="{9D8B030D-6E8A-4147-A177-3AD203B41FA5}">
                      <a16:colId xmlns:a16="http://schemas.microsoft.com/office/drawing/2014/main" val="2941837055"/>
                    </a:ext>
                  </a:extLst>
                </a:gridCol>
                <a:gridCol w="729071">
                  <a:extLst>
                    <a:ext uri="{9D8B030D-6E8A-4147-A177-3AD203B41FA5}">
                      <a16:colId xmlns:a16="http://schemas.microsoft.com/office/drawing/2014/main" val="3622246476"/>
                    </a:ext>
                  </a:extLst>
                </a:gridCol>
                <a:gridCol w="413928">
                  <a:extLst>
                    <a:ext uri="{9D8B030D-6E8A-4147-A177-3AD203B41FA5}">
                      <a16:colId xmlns:a16="http://schemas.microsoft.com/office/drawing/2014/main" val="4203037716"/>
                    </a:ext>
                  </a:extLst>
                </a:gridCol>
              </a:tblGrid>
              <a:tr h="400544">
                <a:tc>
                  <a:txBody>
                    <a:bodyPr/>
                    <a:lstStyle/>
                    <a:p>
                      <a:pPr algn="l" rtl="0" fontAlgn="ctr">
                        <a:buClr>
                          <a:srgbClr val="000000"/>
                        </a:buClr>
                        <a:buSzPts val="1800"/>
                        <a:buFont typeface="+mj-lt"/>
                        <a:buAutoNum type="arabicPeriod"/>
                      </a:pPr>
                      <a:r>
                        <a:rPr lang="en-IN" sz="1800" u="none" strike="noStrike" dirty="0">
                          <a:effectLst/>
                        </a:rPr>
                        <a:t>Let G be the grammar S → </a:t>
                      </a:r>
                      <a:r>
                        <a:rPr lang="en-IN" sz="1800" u="none" strike="noStrike" dirty="0" err="1">
                          <a:effectLst/>
                        </a:rPr>
                        <a:t>aB</a:t>
                      </a:r>
                      <a:r>
                        <a:rPr lang="en-IN" sz="1800" u="none" strike="noStrike" dirty="0">
                          <a:effectLst/>
                        </a:rPr>
                        <a:t> | </a:t>
                      </a:r>
                      <a:r>
                        <a:rPr lang="en-IN" sz="1800" u="none" strike="noStrike" dirty="0" err="1">
                          <a:effectLst/>
                        </a:rPr>
                        <a:t>bA</a:t>
                      </a:r>
                      <a:r>
                        <a:rPr lang="en-IN" sz="1800" u="none" strike="noStrike" dirty="0">
                          <a:effectLst/>
                        </a:rPr>
                        <a:t>, A →a | </a:t>
                      </a:r>
                      <a:r>
                        <a:rPr lang="en-IN" sz="1800" u="none" strike="noStrike" dirty="0" err="1">
                          <a:effectLst/>
                        </a:rPr>
                        <a:t>aS</a:t>
                      </a:r>
                      <a:r>
                        <a:rPr lang="en-IN" sz="1800" u="none" strike="noStrike" dirty="0">
                          <a:effectLst/>
                        </a:rPr>
                        <a:t> | </a:t>
                      </a:r>
                      <a:r>
                        <a:rPr lang="en-IN" sz="1800" u="none" strike="noStrike" dirty="0" err="1">
                          <a:effectLst/>
                        </a:rPr>
                        <a:t>bAA</a:t>
                      </a:r>
                      <a:r>
                        <a:rPr lang="en-IN" sz="1800" u="none" strike="noStrike" dirty="0">
                          <a:effectLst/>
                        </a:rPr>
                        <a:t>, B → b | </a:t>
                      </a:r>
                      <a:r>
                        <a:rPr lang="en-IN" sz="1800" u="none" strike="noStrike" dirty="0" err="1">
                          <a:effectLst/>
                        </a:rPr>
                        <a:t>bS</a:t>
                      </a:r>
                      <a:r>
                        <a:rPr lang="en-IN" sz="1800" u="none" strike="noStrike" dirty="0">
                          <a:effectLst/>
                        </a:rPr>
                        <a:t> | </a:t>
                      </a:r>
                      <a:r>
                        <a:rPr lang="en-IN" sz="1800" u="none" strike="noStrike" dirty="0" err="1">
                          <a:effectLst/>
                        </a:rPr>
                        <a:t>aBB.</a:t>
                      </a:r>
                      <a:r>
                        <a:rPr lang="en-IN" sz="1800" u="none" strike="noStrike" dirty="0">
                          <a:effectLst/>
                        </a:rPr>
                        <a:t> For the string “aaabbabbba”, find</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dirty="0">
                          <a:effectLst/>
                        </a:rPr>
                        <a:t>CO3</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dirty="0">
                          <a:effectLst/>
                        </a:rPr>
                        <a:t>  K3</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extLst>
                  <a:ext uri="{0D108BD9-81ED-4DB2-BD59-A6C34878D82A}">
                    <a16:rowId xmlns:a16="http://schemas.microsoft.com/office/drawing/2014/main" val="3848310820"/>
                  </a:ext>
                </a:extLst>
              </a:tr>
              <a:tr h="400544">
                <a:tc>
                  <a:txBody>
                    <a:bodyPr/>
                    <a:lstStyle/>
                    <a:p>
                      <a:pPr algn="l" rtl="0" fontAlgn="ctr">
                        <a:buClr>
                          <a:srgbClr val="000000"/>
                        </a:buClr>
                        <a:buSzPts val="1800"/>
                        <a:buFont typeface="+mj-lt"/>
                        <a:buAutoNum type="alphaLcPeriod"/>
                      </a:pPr>
                      <a:r>
                        <a:rPr lang="en-IN" sz="1800" b="0" u="none" strike="noStrike" dirty="0">
                          <a:effectLst/>
                        </a:rPr>
                        <a:t>Parse tree</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 </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dirty="0">
                          <a:effectLst/>
                        </a:rPr>
                        <a:t> </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extLst>
                  <a:ext uri="{0D108BD9-81ED-4DB2-BD59-A6C34878D82A}">
                    <a16:rowId xmlns:a16="http://schemas.microsoft.com/office/drawing/2014/main" val="2228523287"/>
                  </a:ext>
                </a:extLst>
              </a:tr>
              <a:tr h="400544">
                <a:tc>
                  <a:txBody>
                    <a:bodyPr/>
                    <a:lstStyle/>
                    <a:p>
                      <a:pPr algn="l" rtl="0" fontAlgn="ctr">
                        <a:buClr>
                          <a:srgbClr val="000000"/>
                        </a:buClr>
                        <a:buSzPts val="1800"/>
                        <a:buFont typeface="+mj-lt"/>
                        <a:buNone/>
                      </a:pPr>
                      <a:r>
                        <a:rPr lang="en-IN" sz="1800" b="0" u="none" strike="noStrike" dirty="0">
                          <a:effectLst/>
                        </a:rPr>
                        <a:t>b.Leftmost derivation</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dirty="0">
                          <a:effectLst/>
                        </a:rPr>
                        <a:t> </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 </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extLst>
                  <a:ext uri="{0D108BD9-81ED-4DB2-BD59-A6C34878D82A}">
                    <a16:rowId xmlns:a16="http://schemas.microsoft.com/office/drawing/2014/main" val="4181171266"/>
                  </a:ext>
                </a:extLst>
              </a:tr>
              <a:tr h="400544">
                <a:tc>
                  <a:txBody>
                    <a:bodyPr/>
                    <a:lstStyle/>
                    <a:p>
                      <a:pPr algn="l" rtl="0" fontAlgn="ctr">
                        <a:buClr>
                          <a:srgbClr val="000000"/>
                        </a:buClr>
                        <a:buSzPts val="1800"/>
                        <a:buFont typeface="+mj-lt"/>
                        <a:buNone/>
                      </a:pPr>
                      <a:r>
                        <a:rPr lang="en-IN" sz="1800" b="0" u="none" strike="noStrike" dirty="0">
                          <a:effectLst/>
                        </a:rPr>
                        <a:t>c. Rightmost derivation</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 </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dirty="0">
                          <a:effectLst/>
                        </a:rPr>
                        <a:t> </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extLst>
                  <a:ext uri="{0D108BD9-81ED-4DB2-BD59-A6C34878D82A}">
                    <a16:rowId xmlns:a16="http://schemas.microsoft.com/office/drawing/2014/main" val="393950445"/>
                  </a:ext>
                </a:extLst>
              </a:tr>
              <a:tr h="400544">
                <a:tc>
                  <a:txBody>
                    <a:bodyPr/>
                    <a:lstStyle/>
                    <a:p>
                      <a:pPr algn="l" rtl="0" fontAlgn="ctr">
                        <a:buClr>
                          <a:srgbClr val="000000"/>
                        </a:buClr>
                        <a:buSzPts val="1800"/>
                        <a:buFont typeface="+mj-lt"/>
                        <a:buNone/>
                      </a:pPr>
                      <a:r>
                        <a:rPr lang="en-IN" sz="1800" b="0" u="none" strike="noStrike" dirty="0">
                          <a:effectLst/>
                        </a:rPr>
                        <a:t>d. Is the grammar unambiguous?</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 </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 </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extLst>
                  <a:ext uri="{0D108BD9-81ED-4DB2-BD59-A6C34878D82A}">
                    <a16:rowId xmlns:a16="http://schemas.microsoft.com/office/drawing/2014/main" val="578536444"/>
                  </a:ext>
                </a:extLst>
              </a:tr>
              <a:tr h="400544">
                <a:tc>
                  <a:txBody>
                    <a:bodyPr/>
                    <a:lstStyle/>
                    <a:p>
                      <a:pPr algn="l" rtl="0" fontAlgn="ctr">
                        <a:buClr>
                          <a:srgbClr val="000000"/>
                        </a:buClr>
                        <a:buSzPts val="1800"/>
                        <a:buFont typeface="+mj-lt"/>
                        <a:buNone/>
                      </a:pPr>
                      <a:r>
                        <a:rPr lang="en-IN" sz="1800" u="none" strike="noStrike" dirty="0">
                          <a:effectLst/>
                        </a:rPr>
                        <a:t>2. Write CFG for regular expression r = (</a:t>
                      </a:r>
                      <a:r>
                        <a:rPr lang="en-IN" sz="1800" u="none" strike="noStrike" dirty="0" err="1">
                          <a:effectLst/>
                        </a:rPr>
                        <a:t>a+b</a:t>
                      </a:r>
                      <a:r>
                        <a:rPr lang="en-IN" sz="1800" u="none" strike="noStrike" dirty="0">
                          <a:effectLst/>
                        </a:rPr>
                        <a:t>)*aa(</a:t>
                      </a:r>
                      <a:r>
                        <a:rPr lang="en-IN" sz="1800" u="none" strike="noStrike" dirty="0" err="1">
                          <a:effectLst/>
                        </a:rPr>
                        <a:t>a+b</a:t>
                      </a:r>
                      <a:r>
                        <a:rPr lang="en-IN" sz="1800" u="none" strike="noStrike" dirty="0">
                          <a:effectLst/>
                        </a:rPr>
                        <a:t>)*.</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CO3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dirty="0">
                          <a:effectLst/>
                        </a:rPr>
                        <a:t>  K3</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extLst>
                  <a:ext uri="{0D108BD9-81ED-4DB2-BD59-A6C34878D82A}">
                    <a16:rowId xmlns:a16="http://schemas.microsoft.com/office/drawing/2014/main" val="3717676313"/>
                  </a:ext>
                </a:extLst>
              </a:tr>
              <a:tr h="400544">
                <a:tc>
                  <a:txBody>
                    <a:bodyPr/>
                    <a:lstStyle/>
                    <a:p>
                      <a:pPr algn="l" rtl="0" fontAlgn="ctr">
                        <a:buClr>
                          <a:srgbClr val="000000"/>
                        </a:buClr>
                        <a:buSzPts val="1800"/>
                        <a:buFont typeface="+mj-lt"/>
                        <a:buNone/>
                      </a:pPr>
                      <a:r>
                        <a:rPr lang="en-US" sz="1800" u="none" strike="noStrike" dirty="0">
                          <a:effectLst/>
                        </a:rPr>
                        <a:t>3. Let G = ({ S,C},{</a:t>
                      </a:r>
                      <a:r>
                        <a:rPr lang="en-US" sz="1800" u="none" strike="noStrike" dirty="0" err="1">
                          <a:effectLst/>
                        </a:rPr>
                        <a:t>a,b</a:t>
                      </a:r>
                      <a:r>
                        <a:rPr lang="en-US" sz="1800" u="none" strike="noStrike" dirty="0">
                          <a:effectLst/>
                        </a:rPr>
                        <a:t>},P,S) where P </a:t>
                      </a:r>
                      <a:r>
                        <a:rPr lang="en-US" sz="1800" u="none" strike="noStrike" dirty="0" err="1">
                          <a:effectLst/>
                        </a:rPr>
                        <a:t>consistes</a:t>
                      </a:r>
                      <a:r>
                        <a:rPr lang="en-US" sz="1800" u="none" strike="noStrike" dirty="0">
                          <a:effectLst/>
                        </a:rPr>
                        <a:t> of </a:t>
                      </a:r>
                      <a:r>
                        <a:rPr lang="en-US" sz="1800" u="none" strike="noStrike" dirty="0" err="1">
                          <a:effectLst/>
                        </a:rPr>
                        <a:t>S→aCa</a:t>
                      </a:r>
                      <a:r>
                        <a:rPr lang="en-US" sz="1800" u="none" strike="noStrike" dirty="0">
                          <a:effectLst/>
                        </a:rPr>
                        <a:t>, </a:t>
                      </a:r>
                      <a:r>
                        <a:rPr lang="en-US" sz="1800" u="none" strike="noStrike" dirty="0" err="1">
                          <a:effectLst/>
                        </a:rPr>
                        <a:t>C→aCa|b</a:t>
                      </a:r>
                      <a:r>
                        <a:rPr lang="en-US" sz="1800" u="none" strike="noStrike" dirty="0">
                          <a:effectLst/>
                        </a:rPr>
                        <a:t>. Find L(G).</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CO3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dirty="0">
                          <a:effectLst/>
                        </a:rPr>
                        <a:t>  K3</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extLst>
                  <a:ext uri="{0D108BD9-81ED-4DB2-BD59-A6C34878D82A}">
                    <a16:rowId xmlns:a16="http://schemas.microsoft.com/office/drawing/2014/main" val="1711999802"/>
                  </a:ext>
                </a:extLst>
              </a:tr>
              <a:tr h="400544">
                <a:tc>
                  <a:txBody>
                    <a:bodyPr/>
                    <a:lstStyle/>
                    <a:p>
                      <a:pPr algn="l" rtl="0" fontAlgn="ctr">
                        <a:buNone/>
                      </a:pPr>
                      <a:r>
                        <a:rPr lang="en-US" sz="1800" u="none" strike="noStrike" dirty="0">
                          <a:effectLst/>
                        </a:rPr>
                        <a:t>4. Simplified the following Context Free Grammar(CFG):S → ABA, A → 0A | ε, B → 1B | ε.</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CO3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dirty="0">
                          <a:effectLst/>
                        </a:rPr>
                        <a:t>  K3</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extLst>
                  <a:ext uri="{0D108BD9-81ED-4DB2-BD59-A6C34878D82A}">
                    <a16:rowId xmlns:a16="http://schemas.microsoft.com/office/drawing/2014/main" val="1743839117"/>
                  </a:ext>
                </a:extLst>
              </a:tr>
              <a:tr h="453245">
                <a:tc>
                  <a:txBody>
                    <a:bodyPr/>
                    <a:lstStyle/>
                    <a:p>
                      <a:pPr algn="l" rtl="0" fontAlgn="ctr">
                        <a:buNone/>
                      </a:pPr>
                      <a:r>
                        <a:rPr lang="en-US" sz="1800" u="none" strike="noStrike" dirty="0">
                          <a:effectLst/>
                        </a:rPr>
                        <a:t>5. Construct a PDA for the language L={</a:t>
                      </a:r>
                      <a:r>
                        <a:rPr lang="en-US" sz="1800" u="none" strike="noStrike" dirty="0" err="1">
                          <a:effectLst/>
                        </a:rPr>
                        <a:t>a</a:t>
                      </a:r>
                      <a:r>
                        <a:rPr lang="en-US" sz="1800" u="none" strike="noStrike" baseline="30000" dirty="0" err="1">
                          <a:effectLst/>
                        </a:rPr>
                        <a:t>n</a:t>
                      </a:r>
                      <a:r>
                        <a:rPr lang="en-US" sz="1800" u="none" strike="noStrike" dirty="0" err="1">
                          <a:effectLst/>
                        </a:rPr>
                        <a:t>b</a:t>
                      </a:r>
                      <a:r>
                        <a:rPr lang="en-US" sz="1800" u="none" strike="noStrike" baseline="30000" dirty="0" err="1">
                          <a:effectLst/>
                        </a:rPr>
                        <a:t>n</a:t>
                      </a:r>
                      <a:r>
                        <a:rPr lang="en-US" sz="1800" u="none" strike="noStrike" dirty="0">
                          <a:effectLst/>
                        </a:rPr>
                        <a:t> | n&gt;=1}.</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dirty="0">
                          <a:effectLst/>
                        </a:rPr>
                        <a:t>CO3</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dirty="0">
                          <a:effectLst/>
                        </a:rPr>
                        <a:t>  K5</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extLst>
                  <a:ext uri="{0D108BD9-81ED-4DB2-BD59-A6C34878D82A}">
                    <a16:rowId xmlns:a16="http://schemas.microsoft.com/office/drawing/2014/main" val="4219599103"/>
                  </a:ext>
                </a:extLst>
              </a:tr>
            </a:tbl>
          </a:graphicData>
        </a:graphic>
      </p:graphicFrame>
    </p:spTree>
    <p:extLst>
      <p:ext uri="{BB962C8B-B14F-4D97-AF65-F5344CB8AC3E}">
        <p14:creationId xmlns:p14="http://schemas.microsoft.com/office/powerpoint/2010/main" val="254677588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4741ADF-578D-46F0-9765-2F2D7D2B4C36}"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1600200" y="1"/>
            <a:ext cx="7543800" cy="8381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r>
              <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s</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12">
            <a:extLst>
              <a:ext uri="{FF2B5EF4-FFF2-40B4-BE49-F238E27FC236}">
                <a16:creationId xmlns:a16="http://schemas.microsoft.com/office/drawing/2014/main" id="{10478D3A-FEA0-7215-EFA2-CF78DCA06626}"/>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83A1781-9FD6-2660-817F-6C031058401F}"/>
                  </a:ext>
                </a:extLst>
              </p:cNvPr>
              <p:cNvSpPr txBox="1"/>
              <p:nvPr/>
            </p:nvSpPr>
            <p:spPr>
              <a:xfrm>
                <a:off x="685800" y="1066800"/>
                <a:ext cx="7924800" cy="5355312"/>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1. A Context Free Grammar is defined as</a:t>
                </a:r>
                <a:r>
                  <a:rPr lang="en-IN" dirty="0">
                    <a:cs typeface="+mj-cs"/>
                  </a:rPr>
                  <a:t/>
                </a:r>
                <a:br>
                  <a:rPr lang="en-IN" dirty="0">
                    <a:cs typeface="+mj-cs"/>
                  </a:rPr>
                </a:br>
                <a:r>
                  <a:rPr lang="en-IN" dirty="0">
                    <a:cs typeface="+mj-cs"/>
                  </a:rPr>
                  <a:t>A) </a:t>
                </a:r>
                <a14:m>
                  <m:oMath xmlns:m="http://schemas.openxmlformats.org/officeDocument/2006/math">
                    <m:d>
                      <m:dPr>
                        <m:sepChr m:val=","/>
                        <m:ctrlPr>
                          <a:rPr lang="ar-AE" i="1">
                            <a:latin typeface="Cambria Math" panose="02040503050406030204" pitchFamily="18" charset="0"/>
                            <a:cs typeface="+mj-cs"/>
                          </a:rPr>
                        </m:ctrlPr>
                      </m:dPr>
                      <m:e>
                        <m:r>
                          <a:rPr lang="ar-AE" i="1">
                            <a:latin typeface="Cambria Math" panose="02040503050406030204" pitchFamily="18" charset="0"/>
                            <a:cs typeface="+mj-cs"/>
                          </a:rPr>
                          <m:t>𝑄</m:t>
                        </m:r>
                      </m:e>
                      <m:e>
                        <m:r>
                          <m:rPr>
                            <m:sty m:val="p"/>
                          </m:rPr>
                          <a:rPr lang="el-GR" i="0">
                            <a:latin typeface="Cambria Math" panose="02040503050406030204" pitchFamily="18" charset="0"/>
                            <a:cs typeface="+mj-cs"/>
                          </a:rPr>
                          <m:t>Σ</m:t>
                        </m:r>
                      </m:e>
                      <m:e>
                        <m:r>
                          <a:rPr lang="ar-AE" i="1">
                            <a:latin typeface="Cambria Math" panose="02040503050406030204" pitchFamily="18" charset="0"/>
                            <a:cs typeface="+mj-cs"/>
                          </a:rPr>
                          <m:t>𝛿</m:t>
                        </m:r>
                      </m:e>
                      <m:e>
                        <m:sSub>
                          <m:sSubPr>
                            <m:ctrlPr>
                              <a:rPr lang="ar-AE" i="1">
                                <a:latin typeface="Cambria Math" panose="02040503050406030204" pitchFamily="18" charset="0"/>
                                <a:cs typeface="+mj-cs"/>
                              </a:rPr>
                            </m:ctrlPr>
                          </m:sSubPr>
                          <m:e>
                            <m:r>
                              <a:rPr lang="ar-AE" i="1">
                                <a:latin typeface="Cambria Math" panose="02040503050406030204" pitchFamily="18" charset="0"/>
                                <a:cs typeface="+mj-cs"/>
                              </a:rPr>
                              <m:t>𝑞</m:t>
                            </m:r>
                          </m:e>
                          <m:sub>
                            <m:r>
                              <a:rPr lang="ar-AE" i="0">
                                <a:latin typeface="Cambria Math" panose="02040503050406030204" pitchFamily="18" charset="0"/>
                                <a:cs typeface="+mj-cs"/>
                              </a:rPr>
                              <m:t>0</m:t>
                            </m:r>
                          </m:sub>
                        </m:sSub>
                      </m:e>
                    </m:d>
                  </m:oMath>
                </a14:m>
                <a:r>
                  <a:rPr lang="ar-AE" dirty="0">
                    <a:cs typeface="+mj-cs"/>
                  </a:rPr>
                  <a:t/>
                </a:r>
                <a:br>
                  <a:rPr lang="ar-AE" dirty="0">
                    <a:cs typeface="+mj-cs"/>
                  </a:rPr>
                </a:br>
                <a:r>
                  <a:rPr lang="en-IN" dirty="0">
                    <a:cs typeface="+mj-cs"/>
                  </a:rPr>
                  <a:t>B) </a:t>
                </a:r>
                <a14:m>
                  <m:oMath xmlns:m="http://schemas.openxmlformats.org/officeDocument/2006/math">
                    <m:d>
                      <m:dPr>
                        <m:sepChr m:val=","/>
                        <m:ctrlPr>
                          <a:rPr lang="ar-AE" i="1">
                            <a:latin typeface="Cambria Math" panose="02040503050406030204" pitchFamily="18" charset="0"/>
                            <a:cs typeface="+mj-cs"/>
                          </a:rPr>
                        </m:ctrlPr>
                      </m:dPr>
                      <m:e>
                        <m:r>
                          <a:rPr lang="ar-AE" i="1">
                            <a:latin typeface="Cambria Math" panose="02040503050406030204" pitchFamily="18" charset="0"/>
                            <a:cs typeface="+mj-cs"/>
                          </a:rPr>
                          <m:t>𝑉</m:t>
                        </m:r>
                      </m:e>
                      <m:e>
                        <m:r>
                          <a:rPr lang="ar-AE" i="1">
                            <a:latin typeface="Cambria Math" panose="02040503050406030204" pitchFamily="18" charset="0"/>
                            <a:cs typeface="+mj-cs"/>
                          </a:rPr>
                          <m:t>𝑇</m:t>
                        </m:r>
                      </m:e>
                      <m:e>
                        <m:r>
                          <a:rPr lang="ar-AE" i="1">
                            <a:latin typeface="Cambria Math" panose="02040503050406030204" pitchFamily="18" charset="0"/>
                            <a:cs typeface="+mj-cs"/>
                          </a:rPr>
                          <m:t>𝑃</m:t>
                        </m:r>
                      </m:e>
                      <m:e>
                        <m:r>
                          <a:rPr lang="ar-AE" i="1">
                            <a:latin typeface="Cambria Math" panose="02040503050406030204" pitchFamily="18" charset="0"/>
                            <a:cs typeface="+mj-cs"/>
                          </a:rPr>
                          <m:t>𝑆</m:t>
                        </m:r>
                      </m:e>
                    </m:d>
                  </m:oMath>
                </a14:m>
                <a:r>
                  <a:rPr lang="ar-AE" dirty="0">
                    <a:cs typeface="+mj-cs"/>
                  </a:rPr>
                  <a:t/>
                </a:r>
                <a:br>
                  <a:rPr lang="ar-AE" dirty="0">
                    <a:cs typeface="+mj-cs"/>
                  </a:rPr>
                </a:br>
                <a:r>
                  <a:rPr lang="en-IN" dirty="0">
                    <a:cs typeface="+mj-cs"/>
                  </a:rPr>
                  <a:t>C) </a:t>
                </a:r>
                <a14:m>
                  <m:oMath xmlns:m="http://schemas.openxmlformats.org/officeDocument/2006/math">
                    <m:d>
                      <m:dPr>
                        <m:sepChr m:val=","/>
                        <m:ctrlPr>
                          <a:rPr lang="ar-AE" i="1">
                            <a:latin typeface="Cambria Math" panose="02040503050406030204" pitchFamily="18" charset="0"/>
                            <a:cs typeface="+mj-cs"/>
                          </a:rPr>
                        </m:ctrlPr>
                      </m:dPr>
                      <m:e>
                        <m:r>
                          <a:rPr lang="ar-AE" i="1">
                            <a:latin typeface="Cambria Math" panose="02040503050406030204" pitchFamily="18" charset="0"/>
                            <a:cs typeface="+mj-cs"/>
                          </a:rPr>
                          <m:t>𝑄</m:t>
                        </m:r>
                      </m:e>
                      <m:e>
                        <m:r>
                          <m:rPr>
                            <m:sty m:val="p"/>
                          </m:rPr>
                          <a:rPr lang="el-GR" i="0">
                            <a:latin typeface="Cambria Math" panose="02040503050406030204" pitchFamily="18" charset="0"/>
                            <a:cs typeface="+mj-cs"/>
                          </a:rPr>
                          <m:t>Σ</m:t>
                        </m:r>
                      </m:e>
                      <m:e>
                        <m:r>
                          <m:rPr>
                            <m:sty m:val="p"/>
                          </m:rPr>
                          <a:rPr lang="el-GR" i="0">
                            <a:latin typeface="Cambria Math" panose="02040503050406030204" pitchFamily="18" charset="0"/>
                            <a:cs typeface="+mj-cs"/>
                          </a:rPr>
                          <m:t>Γ</m:t>
                        </m:r>
                      </m:e>
                      <m:e>
                        <m:r>
                          <a:rPr lang="ar-AE" i="1">
                            <a:latin typeface="Cambria Math" panose="02040503050406030204" pitchFamily="18" charset="0"/>
                            <a:cs typeface="+mj-cs"/>
                          </a:rPr>
                          <m:t>𝛿</m:t>
                        </m:r>
                      </m:e>
                      <m:e>
                        <m:sSub>
                          <m:sSubPr>
                            <m:ctrlPr>
                              <a:rPr lang="ar-AE" i="1">
                                <a:latin typeface="Cambria Math" panose="02040503050406030204" pitchFamily="18" charset="0"/>
                                <a:cs typeface="+mj-cs"/>
                              </a:rPr>
                            </m:ctrlPr>
                          </m:sSubPr>
                          <m:e>
                            <m:r>
                              <a:rPr lang="ar-AE" i="1">
                                <a:latin typeface="Cambria Math" panose="02040503050406030204" pitchFamily="18" charset="0"/>
                                <a:cs typeface="+mj-cs"/>
                              </a:rPr>
                              <m:t>𝑞</m:t>
                            </m:r>
                          </m:e>
                          <m:sub>
                            <m:r>
                              <a:rPr lang="ar-AE" i="0">
                                <a:latin typeface="Cambria Math" panose="02040503050406030204" pitchFamily="18" charset="0"/>
                                <a:cs typeface="+mj-cs"/>
                              </a:rPr>
                              <m:t>0</m:t>
                            </m:r>
                          </m:sub>
                        </m:sSub>
                      </m:e>
                      <m:e>
                        <m:sSub>
                          <m:sSubPr>
                            <m:ctrlPr>
                              <a:rPr lang="ar-AE" i="1">
                                <a:latin typeface="Cambria Math" panose="02040503050406030204" pitchFamily="18" charset="0"/>
                                <a:cs typeface="+mj-cs"/>
                              </a:rPr>
                            </m:ctrlPr>
                          </m:sSubPr>
                          <m:e>
                            <m:r>
                              <a:rPr lang="ar-AE" i="1">
                                <a:latin typeface="Cambria Math" panose="02040503050406030204" pitchFamily="18" charset="0"/>
                                <a:cs typeface="+mj-cs"/>
                              </a:rPr>
                              <m:t>𝑍</m:t>
                            </m:r>
                          </m:e>
                          <m:sub>
                            <m:r>
                              <a:rPr lang="ar-AE" i="0">
                                <a:latin typeface="Cambria Math" panose="02040503050406030204" pitchFamily="18" charset="0"/>
                                <a:cs typeface="+mj-cs"/>
                              </a:rPr>
                              <m:t>0</m:t>
                            </m:r>
                          </m:sub>
                        </m:sSub>
                      </m:e>
                      <m:e>
                        <m:r>
                          <a:rPr lang="ar-AE" i="1">
                            <a:latin typeface="Cambria Math" panose="02040503050406030204" pitchFamily="18" charset="0"/>
                            <a:cs typeface="+mj-cs"/>
                          </a:rPr>
                          <m:t>𝐹</m:t>
                        </m:r>
                      </m:e>
                    </m:d>
                  </m:oMath>
                </a14:m>
                <a:r>
                  <a:rPr lang="ar-AE" dirty="0">
                    <a:cs typeface="+mj-cs"/>
                  </a:rPr>
                  <a:t/>
                </a:r>
                <a:br>
                  <a:rPr lang="ar-AE" dirty="0">
                    <a:cs typeface="+mj-cs"/>
                  </a:rPr>
                </a:br>
                <a:r>
                  <a:rPr lang="en-IN" dirty="0">
                    <a:cs typeface="+mj-cs"/>
                  </a:rPr>
                  <a:t>D) </a:t>
                </a:r>
                <a14:m>
                  <m:oMath xmlns:m="http://schemas.openxmlformats.org/officeDocument/2006/math">
                    <m:d>
                      <m:dPr>
                        <m:sepChr m:val=","/>
                        <m:ctrlPr>
                          <a:rPr lang="ar-AE" i="1">
                            <a:latin typeface="Cambria Math" panose="02040503050406030204" pitchFamily="18" charset="0"/>
                            <a:cs typeface="+mj-cs"/>
                          </a:rPr>
                        </m:ctrlPr>
                      </m:dPr>
                      <m:e>
                        <m:r>
                          <m:rPr>
                            <m:sty m:val="p"/>
                          </m:rPr>
                          <a:rPr lang="el-GR">
                            <a:latin typeface="Cambria Math" panose="02040503050406030204" pitchFamily="18" charset="0"/>
                            <a:cs typeface="+mj-cs"/>
                          </a:rPr>
                          <m:t>Σ</m:t>
                        </m:r>
                      </m:e>
                      <m:e>
                        <m:r>
                          <a:rPr lang="ar-AE" i="1">
                            <a:latin typeface="Cambria Math" panose="02040503050406030204" pitchFamily="18" charset="0"/>
                            <a:cs typeface="+mj-cs"/>
                          </a:rPr>
                          <m:t>𝛿</m:t>
                        </m:r>
                      </m:e>
                      <m:e>
                        <m:sSub>
                          <m:sSubPr>
                            <m:ctrlPr>
                              <a:rPr lang="ar-AE" i="1">
                                <a:latin typeface="Cambria Math" panose="02040503050406030204" pitchFamily="18" charset="0"/>
                                <a:cs typeface="+mj-cs"/>
                              </a:rPr>
                            </m:ctrlPr>
                          </m:sSubPr>
                          <m:e>
                            <m:r>
                              <a:rPr lang="ar-AE" i="1">
                                <a:latin typeface="Cambria Math" panose="02040503050406030204" pitchFamily="18" charset="0"/>
                                <a:cs typeface="+mj-cs"/>
                              </a:rPr>
                              <m:t>𝑞</m:t>
                            </m:r>
                          </m:e>
                          <m:sub>
                            <m:r>
                              <a:rPr lang="ar-AE" i="0">
                                <a:latin typeface="Cambria Math" panose="02040503050406030204" pitchFamily="18" charset="0"/>
                                <a:cs typeface="+mj-cs"/>
                              </a:rPr>
                              <m:t>0</m:t>
                            </m:r>
                          </m:sub>
                        </m:sSub>
                      </m:e>
                    </m:d>
                  </m:oMath>
                </a14:m>
                <a:endParaRPr lang="ar-AE" dirty="0">
                  <a:cs typeface="+mj-cs"/>
                </a:endParaRPr>
              </a:p>
              <a:p>
                <a:pPr>
                  <a:buNone/>
                </a:pPr>
                <a:r>
                  <a:rPr lang="en-IN" dirty="0">
                    <a:cs typeface="+mj-cs"/>
                  </a:rPr>
                  <a:t>✅ </a:t>
                </a:r>
                <a:r>
                  <a:rPr lang="en-IN" b="1" dirty="0">
                    <a:cs typeface="+mj-cs"/>
                  </a:rPr>
                  <a:t>Answer:</a:t>
                </a:r>
                <a:r>
                  <a:rPr lang="en-IN" dirty="0">
                    <a:cs typeface="+mj-cs"/>
                  </a:rPr>
                  <a:t> B</a:t>
                </a:r>
              </a:p>
              <a:p>
                <a:pPr>
                  <a:buNone/>
                </a:pPr>
                <a:r>
                  <a:rPr lang="en-IN" b="1" dirty="0">
                    <a:cs typeface="+mj-cs"/>
                  </a:rPr>
                  <a:t>2. The language generated by a grammar G is represented as</a:t>
                </a:r>
                <a:r>
                  <a:rPr lang="en-IN" dirty="0">
                    <a:cs typeface="+mj-cs"/>
                  </a:rPr>
                  <a:t/>
                </a:r>
                <a:br>
                  <a:rPr lang="en-IN" dirty="0">
                    <a:cs typeface="+mj-cs"/>
                  </a:rPr>
                </a:br>
                <a:r>
                  <a:rPr lang="en-IN" dirty="0">
                    <a:cs typeface="+mj-cs"/>
                  </a:rPr>
                  <a:t>A) </a:t>
                </a:r>
                <a14:m>
                  <m:oMath xmlns:m="http://schemas.openxmlformats.org/officeDocument/2006/math">
                    <m:sSup>
                      <m:sSupPr>
                        <m:ctrlPr>
                          <a:rPr lang="ar-AE" i="1">
                            <a:latin typeface="Cambria Math" panose="02040503050406030204" pitchFamily="18" charset="0"/>
                            <a:cs typeface="+mj-cs"/>
                          </a:rPr>
                        </m:ctrlPr>
                      </m:sSupPr>
                      <m:e>
                        <m:r>
                          <m:rPr>
                            <m:sty m:val="p"/>
                          </m:rPr>
                          <a:rPr lang="el-GR">
                            <a:latin typeface="Cambria Math" panose="02040503050406030204" pitchFamily="18" charset="0"/>
                            <a:cs typeface="+mj-cs"/>
                          </a:rPr>
                          <m:t>Σ</m:t>
                        </m:r>
                      </m:e>
                      <m:sup>
                        <m:r>
                          <a:rPr lang="ar-AE" i="0">
                            <a:latin typeface="Cambria Math" panose="02040503050406030204" pitchFamily="18" charset="0"/>
                            <a:cs typeface="+mj-cs"/>
                          </a:rPr>
                          <m:t>∗</m:t>
                        </m:r>
                      </m:sup>
                    </m:sSup>
                  </m:oMath>
                </a14:m>
                <a:r>
                  <a:rPr lang="ar-AE" dirty="0">
                    <a:cs typeface="+mj-cs"/>
                  </a:rPr>
                  <a:t/>
                </a:r>
                <a:br>
                  <a:rPr lang="ar-AE" dirty="0">
                    <a:cs typeface="+mj-cs"/>
                  </a:rPr>
                </a:br>
                <a:r>
                  <a:rPr lang="en-IN" dirty="0">
                    <a:cs typeface="+mj-cs"/>
                  </a:rPr>
                  <a:t>B) </a:t>
                </a:r>
                <a14:m>
                  <m:oMath xmlns:m="http://schemas.openxmlformats.org/officeDocument/2006/math">
                    <m:r>
                      <a:rPr lang="en-IN" i="1">
                        <a:latin typeface="Cambria Math" panose="02040503050406030204" pitchFamily="18" charset="0"/>
                        <a:cs typeface="+mj-cs"/>
                      </a:rPr>
                      <m:t>𝐿</m:t>
                    </m:r>
                    <m:d>
                      <m:dPr>
                        <m:ctrlPr>
                          <a:rPr lang="ar-AE" i="1">
                            <a:latin typeface="Cambria Math" panose="02040503050406030204" pitchFamily="18" charset="0"/>
                            <a:cs typeface="+mj-cs"/>
                          </a:rPr>
                        </m:ctrlPr>
                      </m:dPr>
                      <m:e>
                        <m:r>
                          <a:rPr lang="ar-AE" i="1">
                            <a:latin typeface="Cambria Math" panose="02040503050406030204" pitchFamily="18" charset="0"/>
                            <a:cs typeface="+mj-cs"/>
                          </a:rPr>
                          <m:t>𝐺</m:t>
                        </m:r>
                      </m:e>
                    </m:d>
                  </m:oMath>
                </a14:m>
                <a:r>
                  <a:rPr lang="ar-AE" dirty="0">
                    <a:cs typeface="+mj-cs"/>
                  </a:rPr>
                  <a:t/>
                </a:r>
                <a:br>
                  <a:rPr lang="ar-AE" dirty="0">
                    <a:cs typeface="+mj-cs"/>
                  </a:rPr>
                </a:br>
                <a:r>
                  <a:rPr lang="en-IN" dirty="0">
                    <a:cs typeface="+mj-cs"/>
                  </a:rPr>
                  <a:t>C) </a:t>
                </a:r>
                <a14:m>
                  <m:oMath xmlns:m="http://schemas.openxmlformats.org/officeDocument/2006/math">
                    <m:r>
                      <a:rPr lang="en-IN" i="1">
                        <a:latin typeface="Cambria Math" panose="02040503050406030204" pitchFamily="18" charset="0"/>
                        <a:cs typeface="+mj-cs"/>
                      </a:rPr>
                      <m:t>𝑃</m:t>
                    </m:r>
                    <m:d>
                      <m:dPr>
                        <m:ctrlPr>
                          <a:rPr lang="ar-AE" i="1">
                            <a:latin typeface="Cambria Math" panose="02040503050406030204" pitchFamily="18" charset="0"/>
                            <a:cs typeface="+mj-cs"/>
                          </a:rPr>
                        </m:ctrlPr>
                      </m:dPr>
                      <m:e>
                        <m:r>
                          <a:rPr lang="ar-AE" i="1">
                            <a:latin typeface="Cambria Math" panose="02040503050406030204" pitchFamily="18" charset="0"/>
                            <a:cs typeface="+mj-cs"/>
                          </a:rPr>
                          <m:t>𝐺</m:t>
                        </m:r>
                      </m:e>
                    </m:d>
                  </m:oMath>
                </a14:m>
                <a:r>
                  <a:rPr lang="ar-AE" dirty="0">
                    <a:cs typeface="+mj-cs"/>
                  </a:rPr>
                  <a:t/>
                </a:r>
                <a:br>
                  <a:rPr lang="ar-AE" dirty="0">
                    <a:cs typeface="+mj-cs"/>
                  </a:rPr>
                </a:br>
                <a:r>
                  <a:rPr lang="en-IN" dirty="0">
                    <a:cs typeface="+mj-cs"/>
                  </a:rPr>
                  <a:t>D) </a:t>
                </a:r>
                <a14:m>
                  <m:oMath xmlns:m="http://schemas.openxmlformats.org/officeDocument/2006/math">
                    <m:r>
                      <a:rPr lang="en-IN" i="1">
                        <a:latin typeface="Cambria Math" panose="02040503050406030204" pitchFamily="18" charset="0"/>
                        <a:cs typeface="+mj-cs"/>
                      </a:rPr>
                      <m:t>𝑇</m:t>
                    </m:r>
                    <m:d>
                      <m:dPr>
                        <m:ctrlPr>
                          <a:rPr lang="ar-AE" i="1" smtClean="0">
                            <a:latin typeface="Cambria Math" panose="02040503050406030204" pitchFamily="18" charset="0"/>
                            <a:cs typeface="+mj-cs"/>
                          </a:rPr>
                        </m:ctrlPr>
                      </m:dPr>
                      <m:e>
                        <m:r>
                          <a:rPr lang="ar-AE" i="1">
                            <a:latin typeface="Cambria Math" panose="02040503050406030204" pitchFamily="18" charset="0"/>
                            <a:cs typeface="+mj-cs"/>
                          </a:rPr>
                          <m:t>𝐺</m:t>
                        </m:r>
                      </m:e>
                    </m:d>
                  </m:oMath>
                </a14:m>
                <a:endParaRPr lang="ar-AE" dirty="0">
                  <a:cs typeface="+mj-cs"/>
                </a:endParaRPr>
              </a:p>
              <a:p>
                <a:pPr>
                  <a:buNone/>
                </a:pPr>
                <a:r>
                  <a:rPr lang="en-IN" dirty="0">
                    <a:cs typeface="+mj-cs"/>
                  </a:rPr>
                  <a:t>✅ </a:t>
                </a:r>
                <a:r>
                  <a:rPr lang="en-IN" b="1" dirty="0">
                    <a:cs typeface="+mj-cs"/>
                  </a:rPr>
                  <a:t>Answer:</a:t>
                </a:r>
                <a:r>
                  <a:rPr lang="en-IN" dirty="0">
                    <a:cs typeface="+mj-cs"/>
                  </a:rPr>
                  <a:t> B</a:t>
                </a:r>
              </a:p>
              <a:p>
                <a:r>
                  <a:rPr lang="en-US" b="1" dirty="0">
                    <a:latin typeface="Times New Roman" panose="02020603050405020304" pitchFamily="18" charset="0"/>
                    <a:cs typeface="Times New Roman" panose="02020603050405020304" pitchFamily="18" charset="0"/>
                  </a:rPr>
                  <a:t>3. A leftmost derivation replaces</a:t>
                </a:r>
                <a:r>
                  <a:rPr lang="en-US" dirty="0">
                    <a:cs typeface="+mj-cs"/>
                  </a:rPr>
                  <a:t/>
                </a:r>
                <a:br>
                  <a:rPr lang="en-US" dirty="0">
                    <a:cs typeface="+mj-cs"/>
                  </a:rPr>
                </a:br>
                <a:r>
                  <a:rPr lang="en-US" dirty="0">
                    <a:cs typeface="+mj-cs"/>
                  </a:rPr>
                  <a:t>A) Any non-terminal</a:t>
                </a:r>
                <a:br>
                  <a:rPr lang="en-US" dirty="0">
                    <a:cs typeface="+mj-cs"/>
                  </a:rPr>
                </a:br>
                <a:r>
                  <a:rPr lang="en-US" dirty="0">
                    <a:cs typeface="+mj-cs"/>
                  </a:rPr>
                  <a:t>B) Rightmost non-terminal first</a:t>
                </a:r>
                <a:br>
                  <a:rPr lang="en-US" dirty="0">
                    <a:cs typeface="+mj-cs"/>
                  </a:rPr>
                </a:br>
                <a:r>
                  <a:rPr lang="en-US" dirty="0">
                    <a:cs typeface="+mj-cs"/>
                  </a:rPr>
                  <a:t>C) Leftmost non-terminal first</a:t>
                </a:r>
                <a:br>
                  <a:rPr lang="en-US" dirty="0">
                    <a:cs typeface="+mj-cs"/>
                  </a:rPr>
                </a:br>
                <a:r>
                  <a:rPr lang="en-US" dirty="0">
                    <a:cs typeface="+mj-cs"/>
                  </a:rPr>
                  <a:t>D) Terminal symbols only</a:t>
                </a:r>
              </a:p>
              <a:p>
                <a:r>
                  <a:rPr lang="en-US" dirty="0">
                    <a:cs typeface="+mj-cs"/>
                  </a:rPr>
                  <a:t>✅ </a:t>
                </a:r>
                <a:r>
                  <a:rPr lang="en-US" b="1" dirty="0">
                    <a:cs typeface="+mj-cs"/>
                  </a:rPr>
                  <a:t>Answer:</a:t>
                </a:r>
                <a:r>
                  <a:rPr lang="en-US" dirty="0">
                    <a:cs typeface="+mj-cs"/>
                  </a:rPr>
                  <a:t> C</a:t>
                </a:r>
              </a:p>
              <a:p>
                <a:pPr>
                  <a:buNone/>
                </a:pPr>
                <a:endParaRPr lang="en-IN" dirty="0">
                  <a:cs typeface="+mj-cs"/>
                </a:endParaRPr>
              </a:p>
            </p:txBody>
          </p:sp>
        </mc:Choice>
        <mc:Fallback xmlns="">
          <p:sp>
            <p:nvSpPr>
              <p:cNvPr id="11" name="TextBox 10">
                <a:extLst>
                  <a:ext uri="{FF2B5EF4-FFF2-40B4-BE49-F238E27FC236}">
                    <a16:creationId xmlns:a16="http://schemas.microsoft.com/office/drawing/2014/main" id="{283A1781-9FD6-2660-817F-6C031058401F}"/>
                  </a:ext>
                </a:extLst>
              </p:cNvPr>
              <p:cNvSpPr txBox="1">
                <a:spLocks noRot="1" noChangeAspect="1" noMove="1" noResize="1" noEditPoints="1" noAdjustHandles="1" noChangeArrowheads="1" noChangeShapeType="1" noTextEdit="1"/>
              </p:cNvSpPr>
              <p:nvPr/>
            </p:nvSpPr>
            <p:spPr>
              <a:xfrm>
                <a:off x="685800" y="1066800"/>
                <a:ext cx="7924800" cy="5355312"/>
              </a:xfrm>
              <a:prstGeom prst="rect">
                <a:avLst/>
              </a:prstGeom>
              <a:blipFill>
                <a:blip r:embed="rId2"/>
                <a:stretch>
                  <a:fillRect l="-692" t="-683"/>
                </a:stretch>
              </a:blipFill>
            </p:spPr>
            <p:txBody>
              <a:bodyPr/>
              <a:lstStyle/>
              <a:p>
                <a:r>
                  <a:rPr lang="en-IN">
                    <a:noFill/>
                  </a:rPr>
                  <a:t> </a:t>
                </a:r>
              </a:p>
            </p:txBody>
          </p:sp>
        </mc:Fallback>
      </mc:AlternateContent>
    </p:spTree>
    <p:extLst>
      <p:ext uri="{BB962C8B-B14F-4D97-AF65-F5344CB8AC3E}">
        <p14:creationId xmlns:p14="http://schemas.microsoft.com/office/powerpoint/2010/main" val="16477747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B6C8EA4-CD17-4273-906E-0B7AF18DAEE7}"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600200" y="1"/>
            <a:ext cx="75438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r>
              <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s</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12">
            <a:extLst>
              <a:ext uri="{FF2B5EF4-FFF2-40B4-BE49-F238E27FC236}">
                <a16:creationId xmlns:a16="http://schemas.microsoft.com/office/drawing/2014/main" id="{B3568736-AD5C-F9CC-661F-EE8DBFDAEC58}"/>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4F8EB52-3A72-1989-7134-90DB8F99DC9F}"/>
                  </a:ext>
                </a:extLst>
              </p:cNvPr>
              <p:cNvSpPr txBox="1"/>
              <p:nvPr/>
            </p:nvSpPr>
            <p:spPr>
              <a:xfrm>
                <a:off x="381000" y="838200"/>
                <a:ext cx="8229600" cy="6186309"/>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4. A grammar is ambiguous when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 Multiple terminals exist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B) More than one start symbol exists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 A string has more than one parse tree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 The grammar contains </a:t>
                </a:r>
                <a:r>
                  <a:rPr lang="el-GR" dirty="0">
                    <a:latin typeface="Times New Roman" panose="02020603050405020304" pitchFamily="18" charset="0"/>
                    <a:cs typeface="Times New Roman" panose="02020603050405020304" pitchFamily="18" charset="0"/>
                  </a:rPr>
                  <a:t>ε-</a:t>
                </a:r>
                <a:r>
                  <a:rPr lang="en-IN" dirty="0">
                    <a:latin typeface="Times New Roman" panose="02020603050405020304" pitchFamily="18" charset="0"/>
                    <a:cs typeface="Times New Roman" panose="02020603050405020304" pitchFamily="18" charset="0"/>
                  </a:rPr>
                  <a:t>productions</a:t>
                </a:r>
              </a:p>
              <a:p>
                <a:pPr>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Answer:</a:t>
                </a:r>
                <a:r>
                  <a:rPr lang="en-IN" dirty="0">
                    <a:latin typeface="Times New Roman" panose="02020603050405020304" pitchFamily="18" charset="0"/>
                    <a:cs typeface="Times New Roman" panose="02020603050405020304" pitchFamily="18" charset="0"/>
                  </a:rPr>
                  <a:t> C</a:t>
                </a:r>
              </a:p>
              <a:p>
                <a:pPr>
                  <a:buNone/>
                </a:pPr>
                <a:r>
                  <a:rPr lang="en-IN" b="1" dirty="0">
                    <a:latin typeface="Times New Roman" panose="02020603050405020304" pitchFamily="18" charset="0"/>
                    <a:cs typeface="Times New Roman" panose="02020603050405020304" pitchFamily="18" charset="0"/>
                  </a:rPr>
                  <a:t>5. The grammar</a:t>
                </a:r>
                <a:br>
                  <a:rPr lang="en-IN" b="1" dirty="0">
                    <a:latin typeface="Times New Roman" panose="02020603050405020304" pitchFamily="18"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𝑆</m:t>
                      </m:r>
                      <m:r>
                        <a:rPr lang="en-IN" i="0">
                          <a:latin typeface="Cambria Math" panose="02040503050406030204" pitchFamily="18" charset="0"/>
                        </a:rPr>
                        <m:t>→</m:t>
                      </m:r>
                      <m:r>
                        <a:rPr lang="en-IN" i="1">
                          <a:latin typeface="Cambria Math" panose="02040503050406030204" pitchFamily="18" charset="0"/>
                        </a:rPr>
                        <m:t>𝑆</m:t>
                      </m:r>
                      <m:r>
                        <a:rPr lang="en-IN" i="0">
                          <a:latin typeface="Cambria Math" panose="02040503050406030204" pitchFamily="18" charset="0"/>
                        </a:rPr>
                        <m:t>+</m:t>
                      </m:r>
                      <m:r>
                        <a:rPr lang="en-IN" i="1">
                          <a:latin typeface="Cambria Math" panose="02040503050406030204" pitchFamily="18" charset="0"/>
                        </a:rPr>
                        <m:t>𝑆</m:t>
                      </m:r>
                      <m:r>
                        <a:rPr lang="en-IN" i="0">
                          <a:latin typeface="Cambria Math" panose="02040503050406030204" pitchFamily="18" charset="0"/>
                        </a:rPr>
                        <m:t>∣</m:t>
                      </m:r>
                      <m:r>
                        <a:rPr lang="en-IN" i="1">
                          <a:latin typeface="Cambria Math" panose="02040503050406030204" pitchFamily="18" charset="0"/>
                        </a:rPr>
                        <m:t>𝑆</m:t>
                      </m:r>
                      <m:r>
                        <a:rPr lang="en-IN" i="0">
                          <a:latin typeface="Cambria Math" panose="02040503050406030204" pitchFamily="18" charset="0"/>
                        </a:rPr>
                        <m:t>∗</m:t>
                      </m:r>
                      <m:r>
                        <a:rPr lang="en-IN" i="1">
                          <a:latin typeface="Cambria Math" panose="02040503050406030204" pitchFamily="18" charset="0"/>
                        </a:rPr>
                        <m:t>𝑆</m:t>
                      </m:r>
                      <m:r>
                        <a:rPr lang="en-IN" i="0">
                          <a:latin typeface="Cambria Math" panose="02040503050406030204" pitchFamily="18" charset="0"/>
                        </a:rPr>
                        <m:t>∣</m:t>
                      </m:r>
                      <m:r>
                        <a:rPr lang="en-IN" i="1">
                          <a:latin typeface="Cambria Math" panose="02040503050406030204" pitchFamily="18" charset="0"/>
                        </a:rPr>
                        <m:t>𝑖𝑑</m:t>
                      </m:r>
                    </m:oMath>
                  </m:oMathPara>
                </a14:m>
                <a:r>
                  <a:rPr lang="en-IN" b="1" dirty="0">
                    <a:latin typeface="Times New Roman" panose="02020603050405020304" pitchFamily="18" charset="0"/>
                    <a:cs typeface="Times New Roman" panose="02020603050405020304" pitchFamily="18" charset="0"/>
                  </a:rPr>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is classified as</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 Regular grammar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B) Unambiguous grammar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 Ambiguous grammar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 Linear grammar</a:t>
                </a:r>
              </a:p>
              <a:p>
                <a:pPr>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Answer:</a:t>
                </a:r>
                <a:r>
                  <a:rPr lang="en-IN" dirty="0">
                    <a:latin typeface="Times New Roman" panose="02020603050405020304" pitchFamily="18" charset="0"/>
                    <a:cs typeface="Times New Roman" panose="02020603050405020304" pitchFamily="18" charset="0"/>
                  </a:rPr>
                  <a:t> C</a:t>
                </a:r>
              </a:p>
              <a:p>
                <a:pPr>
                  <a:buNone/>
                </a:pPr>
                <a:r>
                  <a:rPr lang="en-IN" b="1" dirty="0">
                    <a:latin typeface="Times New Roman" panose="02020603050405020304" pitchFamily="18" charset="0"/>
                    <a:cs typeface="Times New Roman" panose="02020603050405020304" pitchFamily="18" charset="0"/>
                  </a:rPr>
                  <a:t>6. The process of removing useless symbols is part of</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 Grammar derivation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B) Grammar ambiguity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 Grammar simplification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 Grammar validation</a:t>
                </a:r>
              </a:p>
              <a:p>
                <a:pPr>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Answer:</a:t>
                </a:r>
                <a:r>
                  <a:rPr lang="en-IN" dirty="0">
                    <a:latin typeface="Times New Roman" panose="02020603050405020304" pitchFamily="18" charset="0"/>
                    <a:cs typeface="Times New Roman" panose="02020603050405020304" pitchFamily="18" charset="0"/>
                  </a:rPr>
                  <a:t> C</a:t>
                </a:r>
              </a:p>
              <a:p>
                <a:pPr>
                  <a:buNone/>
                </a:pP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E4F8EB52-3A72-1989-7134-90DB8F99DC9F}"/>
                  </a:ext>
                </a:extLst>
              </p:cNvPr>
              <p:cNvSpPr txBox="1">
                <a:spLocks noRot="1" noChangeAspect="1" noMove="1" noResize="1" noEditPoints="1" noAdjustHandles="1" noChangeArrowheads="1" noChangeShapeType="1" noTextEdit="1"/>
              </p:cNvSpPr>
              <p:nvPr/>
            </p:nvSpPr>
            <p:spPr>
              <a:xfrm>
                <a:off x="381000" y="838200"/>
                <a:ext cx="8229600" cy="6186309"/>
              </a:xfrm>
              <a:prstGeom prst="rect">
                <a:avLst/>
              </a:prstGeom>
              <a:blipFill>
                <a:blip r:embed="rId2"/>
                <a:stretch>
                  <a:fillRect l="-667" t="-592"/>
                </a:stretch>
              </a:blipFill>
            </p:spPr>
            <p:txBody>
              <a:bodyPr/>
              <a:lstStyle/>
              <a:p>
                <a:r>
                  <a:rPr lang="en-IN">
                    <a:noFill/>
                  </a:rPr>
                  <a:t> </a:t>
                </a:r>
              </a:p>
            </p:txBody>
          </p:sp>
        </mc:Fallback>
      </mc:AlternateContent>
    </p:spTree>
    <p:extLst>
      <p:ext uri="{BB962C8B-B14F-4D97-AF65-F5344CB8AC3E}">
        <p14:creationId xmlns:p14="http://schemas.microsoft.com/office/powerpoint/2010/main" val="311360974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325838E-B469-465D-ACA7-F4B30C974628}"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600200" y="1"/>
            <a:ext cx="75438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r>
              <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s</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12">
            <a:extLst>
              <a:ext uri="{FF2B5EF4-FFF2-40B4-BE49-F238E27FC236}">
                <a16:creationId xmlns:a16="http://schemas.microsoft.com/office/drawing/2014/main" id="{19B6F32E-4D92-3B20-6815-1926E814984D}"/>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4FC0983-6870-03BB-DB23-50307D43DD82}"/>
              </a:ext>
            </a:extLst>
          </p:cNvPr>
          <p:cNvSpPr txBox="1"/>
          <p:nvPr/>
        </p:nvSpPr>
        <p:spPr>
          <a:xfrm>
            <a:off x="342900" y="914400"/>
            <a:ext cx="8458200" cy="5078313"/>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7. A Push Down Automaton is formally defined as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4-tuple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 5-tuple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 6-tuple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 7-tuple</a:t>
            </a:r>
          </a:p>
          <a:p>
            <a:pPr>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Answer:</a:t>
            </a:r>
            <a:r>
              <a:rPr lang="en-US" dirty="0">
                <a:latin typeface="Times New Roman" panose="02020603050405020304" pitchFamily="18" charset="0"/>
                <a:cs typeface="Times New Roman" panose="02020603050405020304" pitchFamily="18" charset="0"/>
              </a:rPr>
              <a:t> D</a:t>
            </a:r>
          </a:p>
          <a:p>
            <a:pPr>
              <a:buNone/>
            </a:pPr>
            <a:r>
              <a:rPr lang="en-US" b="1" dirty="0">
                <a:latin typeface="Times New Roman" panose="02020603050405020304" pitchFamily="18" charset="0"/>
                <a:cs typeface="Times New Roman" panose="02020603050405020304" pitchFamily="18" charset="0"/>
              </a:rPr>
              <a:t>8. Push Down Automata recognize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Regular languages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 Context free languages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 Recursive languages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 Context sensitive languages</a:t>
            </a:r>
          </a:p>
          <a:p>
            <a:pPr>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Answer:</a:t>
            </a:r>
            <a:r>
              <a:rPr lang="en-US" dirty="0">
                <a:latin typeface="Times New Roman" panose="02020603050405020304" pitchFamily="18" charset="0"/>
                <a:cs typeface="Times New Roman" panose="02020603050405020304" pitchFamily="18" charset="0"/>
              </a:rPr>
              <a:t> B</a:t>
            </a:r>
          </a:p>
          <a:p>
            <a:pPr>
              <a:buNone/>
            </a:pPr>
            <a:r>
              <a:rPr lang="en-US" b="1" dirty="0">
                <a:latin typeface="Times New Roman" panose="02020603050405020304" pitchFamily="18" charset="0"/>
                <a:cs typeface="Times New Roman" panose="02020603050405020304" pitchFamily="18" charset="0"/>
              </a:rPr>
              <a:t>9. The stack in PDA is mainly used for</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Input storage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 Output generation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 Handling nested structures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 State transition storage</a:t>
            </a:r>
          </a:p>
          <a:p>
            <a:pPr>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Answer:</a:t>
            </a:r>
            <a:r>
              <a:rPr lang="en-US" dirty="0">
                <a:latin typeface="Times New Roman" panose="02020603050405020304" pitchFamily="18" charset="0"/>
                <a:cs typeface="Times New Roman" panose="02020603050405020304" pitchFamily="18" charset="0"/>
              </a:rPr>
              <a:t> C</a:t>
            </a:r>
          </a:p>
        </p:txBody>
      </p:sp>
    </p:spTree>
    <p:extLst>
      <p:ext uri="{BB962C8B-B14F-4D97-AF65-F5344CB8AC3E}">
        <p14:creationId xmlns:p14="http://schemas.microsoft.com/office/powerpoint/2010/main" val="18631927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56D6D40-3BED-42E1-BEFB-6906DA4E0B30}"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676400" y="1"/>
            <a:ext cx="74676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r>
              <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s( Continued)</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12">
            <a:extLst>
              <a:ext uri="{FF2B5EF4-FFF2-40B4-BE49-F238E27FC236}">
                <a16:creationId xmlns:a16="http://schemas.microsoft.com/office/drawing/2014/main" id="{EF568B70-CC03-D536-6E6A-53B1A300C12C}"/>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B016421-C443-7F9D-48D4-1A45F8799114}"/>
              </a:ext>
            </a:extLst>
          </p:cNvPr>
          <p:cNvSpPr txBox="1"/>
          <p:nvPr/>
        </p:nvSpPr>
        <p:spPr>
          <a:xfrm>
            <a:off x="457200" y="1219200"/>
            <a:ext cx="8305800" cy="1754326"/>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10. Acceptance of language by PDA can be done by</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Final state only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 Empty stack only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 Both final state and empty stack</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 Start state only</a:t>
            </a:r>
          </a:p>
          <a:p>
            <a:pPr>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Answer:</a:t>
            </a:r>
            <a:r>
              <a:rPr lang="en-US" dirty="0">
                <a:latin typeface="Times New Roman" panose="02020603050405020304" pitchFamily="18" charset="0"/>
                <a:cs typeface="Times New Roman" panose="02020603050405020304" pitchFamily="18" charset="0"/>
              </a:rPr>
              <a:t> C</a:t>
            </a:r>
          </a:p>
        </p:txBody>
      </p:sp>
    </p:spTree>
    <p:extLst>
      <p:ext uri="{BB962C8B-B14F-4D97-AF65-F5344CB8AC3E}">
        <p14:creationId xmlns:p14="http://schemas.microsoft.com/office/powerpoint/2010/main" val="16477747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3AE3504-1D55-422E-A158-D3FAA11202A3}"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676400" y="1"/>
            <a:ext cx="7467600" cy="7619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Expected Questions for University Exam </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12">
            <a:extLst>
              <a:ext uri="{FF2B5EF4-FFF2-40B4-BE49-F238E27FC236}">
                <a16:creationId xmlns:a16="http://schemas.microsoft.com/office/drawing/2014/main" id="{35D8E205-6A94-9F21-5056-4C0D5564C694}"/>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57612497-5C6A-B104-C75E-7CACCBD3E516}"/>
              </a:ext>
            </a:extLst>
          </p:cNvPr>
          <p:cNvGraphicFramePr>
            <a:graphicFrameLocks noGrp="1"/>
          </p:cNvGraphicFramePr>
          <p:nvPr>
            <p:extLst>
              <p:ext uri="{D42A27DB-BD31-4B8C-83A1-F6EECF244321}">
                <p14:modId xmlns:p14="http://schemas.microsoft.com/office/powerpoint/2010/main" val="261486574"/>
              </p:ext>
            </p:extLst>
          </p:nvPr>
        </p:nvGraphicFramePr>
        <p:xfrm>
          <a:off x="457200" y="1143000"/>
          <a:ext cx="8534400" cy="4701712"/>
        </p:xfrm>
        <a:graphic>
          <a:graphicData uri="http://schemas.openxmlformats.org/drawingml/2006/table">
            <a:tbl>
              <a:tblPr>
                <a:tableStyleId>{2D5ABB26-0587-4C30-8999-92F81FD0307C}</a:tableStyleId>
              </a:tblPr>
              <a:tblGrid>
                <a:gridCol w="7543800">
                  <a:extLst>
                    <a:ext uri="{9D8B030D-6E8A-4147-A177-3AD203B41FA5}">
                      <a16:colId xmlns:a16="http://schemas.microsoft.com/office/drawing/2014/main" val="2242810848"/>
                    </a:ext>
                  </a:extLst>
                </a:gridCol>
                <a:gridCol w="457200">
                  <a:extLst>
                    <a:ext uri="{9D8B030D-6E8A-4147-A177-3AD203B41FA5}">
                      <a16:colId xmlns:a16="http://schemas.microsoft.com/office/drawing/2014/main" val="1661703533"/>
                    </a:ext>
                  </a:extLst>
                </a:gridCol>
                <a:gridCol w="533400">
                  <a:extLst>
                    <a:ext uri="{9D8B030D-6E8A-4147-A177-3AD203B41FA5}">
                      <a16:colId xmlns:a16="http://schemas.microsoft.com/office/drawing/2014/main" val="1226539868"/>
                    </a:ext>
                  </a:extLst>
                </a:gridCol>
              </a:tblGrid>
              <a:tr h="335722">
                <a:tc>
                  <a:txBody>
                    <a:bodyPr/>
                    <a:lstStyle/>
                    <a:p>
                      <a:pPr algn="l" rtl="0" fontAlgn="ctr">
                        <a:buNone/>
                      </a:pPr>
                      <a:r>
                        <a:rPr lang="en-US" sz="1800" u="none" strike="noStrike" dirty="0">
                          <a:effectLst/>
                        </a:rPr>
                        <a:t>1. Let G = ({ S,C},{</a:t>
                      </a:r>
                      <a:r>
                        <a:rPr lang="en-US" sz="1800" u="none" strike="noStrike" dirty="0" err="1">
                          <a:effectLst/>
                        </a:rPr>
                        <a:t>a,b</a:t>
                      </a:r>
                      <a:r>
                        <a:rPr lang="en-US" sz="1800" u="none" strike="noStrike" dirty="0">
                          <a:effectLst/>
                        </a:rPr>
                        <a:t>},P,S) where P </a:t>
                      </a:r>
                      <a:r>
                        <a:rPr lang="en-US" sz="1800" u="none" strike="noStrike" dirty="0" err="1">
                          <a:effectLst/>
                        </a:rPr>
                        <a:t>consistes</a:t>
                      </a:r>
                      <a:r>
                        <a:rPr lang="en-US" sz="1800" u="none" strike="noStrike" dirty="0">
                          <a:effectLst/>
                        </a:rPr>
                        <a:t> of </a:t>
                      </a:r>
                      <a:r>
                        <a:rPr lang="en-US" sz="1800" u="none" strike="noStrike" dirty="0" err="1">
                          <a:effectLst/>
                        </a:rPr>
                        <a:t>S→aCa</a:t>
                      </a:r>
                      <a:r>
                        <a:rPr lang="en-US" sz="1800" u="none" strike="noStrike" dirty="0">
                          <a:effectLst/>
                        </a:rPr>
                        <a:t>, </a:t>
                      </a:r>
                      <a:r>
                        <a:rPr lang="en-US" sz="1800" u="none" strike="noStrike" dirty="0" err="1">
                          <a:effectLst/>
                        </a:rPr>
                        <a:t>C→aCa|b</a:t>
                      </a:r>
                      <a:r>
                        <a:rPr lang="en-US" sz="1800" u="none" strike="noStrike" dirty="0">
                          <a:effectLst/>
                        </a:rPr>
                        <a:t>. Find L(G).</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dirty="0">
                          <a:effectLst/>
                        </a:rPr>
                        <a:t>CO3</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tc>
                  <a:txBody>
                    <a:bodyPr/>
                    <a:lstStyle/>
                    <a:p>
                      <a:pPr algn="ctr" fontAlgn="b">
                        <a:buNone/>
                      </a:pPr>
                      <a:r>
                        <a:rPr lang="en-IN" sz="1800" u="none" strike="noStrike">
                          <a:effectLst/>
                        </a:rPr>
                        <a:t>K3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extLst>
                  <a:ext uri="{0D108BD9-81ED-4DB2-BD59-A6C34878D82A}">
                    <a16:rowId xmlns:a16="http://schemas.microsoft.com/office/drawing/2014/main" val="894417432"/>
                  </a:ext>
                </a:extLst>
              </a:tr>
              <a:tr h="219924">
                <a:tc>
                  <a:txBody>
                    <a:bodyPr/>
                    <a:lstStyle/>
                    <a:p>
                      <a:pPr algn="l" rtl="0" fontAlgn="ctr">
                        <a:buNone/>
                      </a:pPr>
                      <a:r>
                        <a:rPr lang="en-US" sz="1800" u="none" strike="noStrike" dirty="0">
                          <a:effectLst/>
                        </a:rPr>
                        <a:t>2. Find L(G), where G = ({ S},{0,1},{S→0S1, </a:t>
                      </a:r>
                      <a:r>
                        <a:rPr lang="en-US" sz="1800" u="none" strike="noStrike" dirty="0" err="1">
                          <a:effectLst/>
                        </a:rPr>
                        <a:t>S→ɛ</a:t>
                      </a:r>
                      <a:r>
                        <a:rPr lang="en-US" sz="1800" u="none" strike="noStrike" dirty="0">
                          <a:effectLst/>
                        </a:rPr>
                        <a:t>},S)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CO3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tc>
                  <a:txBody>
                    <a:bodyPr/>
                    <a:lstStyle/>
                    <a:p>
                      <a:pPr algn="ctr" fontAlgn="b">
                        <a:buNone/>
                      </a:pPr>
                      <a:r>
                        <a:rPr lang="en-IN" sz="1800" u="none" strike="noStrike">
                          <a:effectLst/>
                        </a:rPr>
                        <a:t>K3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extLst>
                  <a:ext uri="{0D108BD9-81ED-4DB2-BD59-A6C34878D82A}">
                    <a16:rowId xmlns:a16="http://schemas.microsoft.com/office/drawing/2014/main" val="1642727354"/>
                  </a:ext>
                </a:extLst>
              </a:tr>
              <a:tr h="335722">
                <a:tc>
                  <a:txBody>
                    <a:bodyPr/>
                    <a:lstStyle/>
                    <a:p>
                      <a:pPr algn="l" rtl="0" fontAlgn="ctr">
                        <a:buNone/>
                      </a:pPr>
                      <a:r>
                        <a:rPr lang="en-US" sz="1800" u="none" strike="noStrike">
                          <a:effectLst/>
                        </a:rPr>
                        <a:t>3. Find out the context free language </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dirty="0">
                          <a:effectLst/>
                        </a:rPr>
                        <a:t>CO3</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tc>
                  <a:txBody>
                    <a:bodyPr/>
                    <a:lstStyle/>
                    <a:p>
                      <a:pPr algn="ctr" fontAlgn="b">
                        <a:buNone/>
                      </a:pPr>
                      <a:r>
                        <a:rPr lang="en-IN" sz="1800" u="none" strike="noStrike">
                          <a:effectLst/>
                        </a:rPr>
                        <a:t>K3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extLst>
                  <a:ext uri="{0D108BD9-81ED-4DB2-BD59-A6C34878D82A}">
                    <a16:rowId xmlns:a16="http://schemas.microsoft.com/office/drawing/2014/main" val="4001985456"/>
                  </a:ext>
                </a:extLst>
              </a:tr>
              <a:tr h="335722">
                <a:tc>
                  <a:txBody>
                    <a:bodyPr/>
                    <a:lstStyle/>
                    <a:p>
                      <a:pPr algn="l" rtl="0" fontAlgn="ctr">
                        <a:buNone/>
                      </a:pPr>
                      <a:r>
                        <a:rPr lang="en-IN" sz="1800" u="none" strike="noStrike" dirty="0">
                          <a:effectLst/>
                        </a:rPr>
                        <a:t>    </a:t>
                      </a:r>
                      <a:r>
                        <a:rPr lang="en-IN" sz="1800" u="none" strike="noStrike" dirty="0" err="1">
                          <a:effectLst/>
                        </a:rPr>
                        <a:t>S→aSb|aAb</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 </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extLst>
                  <a:ext uri="{0D108BD9-81ED-4DB2-BD59-A6C34878D82A}">
                    <a16:rowId xmlns:a16="http://schemas.microsoft.com/office/drawing/2014/main" val="2696995073"/>
                  </a:ext>
                </a:extLst>
              </a:tr>
              <a:tr h="335722">
                <a:tc>
                  <a:txBody>
                    <a:bodyPr/>
                    <a:lstStyle/>
                    <a:p>
                      <a:pPr algn="l" rtl="0" fontAlgn="ctr">
                        <a:buNone/>
                      </a:pPr>
                      <a:r>
                        <a:rPr lang="en-IN" sz="1800" u="none" strike="noStrike">
                          <a:effectLst/>
                        </a:rPr>
                        <a:t>    A→bAa</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 </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tc>
                  <a:txBody>
                    <a:bodyPr/>
                    <a:lstStyle/>
                    <a:p>
                      <a:pPr algn="ctr" fontAlgn="b">
                        <a:buNone/>
                      </a:pPr>
                      <a:r>
                        <a:rPr lang="en-IN" sz="1800" u="none" strike="noStrike" dirty="0">
                          <a:effectLst/>
                        </a:rPr>
                        <a:t> </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extLst>
                  <a:ext uri="{0D108BD9-81ED-4DB2-BD59-A6C34878D82A}">
                    <a16:rowId xmlns:a16="http://schemas.microsoft.com/office/drawing/2014/main" val="4212360875"/>
                  </a:ext>
                </a:extLst>
              </a:tr>
              <a:tr h="335722">
                <a:tc>
                  <a:txBody>
                    <a:bodyPr/>
                    <a:lstStyle/>
                    <a:p>
                      <a:pPr algn="l" rtl="0" fontAlgn="ctr">
                        <a:buNone/>
                      </a:pPr>
                      <a:r>
                        <a:rPr lang="en-IN" sz="1800" u="none" strike="noStrike" dirty="0">
                          <a:effectLst/>
                        </a:rPr>
                        <a:t>    </a:t>
                      </a:r>
                      <a:r>
                        <a:rPr lang="en-IN" sz="1800" u="none" strike="noStrike" dirty="0" err="1">
                          <a:effectLst/>
                        </a:rPr>
                        <a:t>A→ba</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 </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tc>
                  <a:txBody>
                    <a:bodyPr/>
                    <a:lstStyle/>
                    <a:p>
                      <a:pPr algn="ctr" fontAlgn="b">
                        <a:buNone/>
                      </a:pPr>
                      <a:r>
                        <a:rPr lang="en-IN" sz="1800" u="none" strike="noStrike" dirty="0">
                          <a:effectLst/>
                        </a:rPr>
                        <a:t> </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extLst>
                  <a:ext uri="{0D108BD9-81ED-4DB2-BD59-A6C34878D82A}">
                    <a16:rowId xmlns:a16="http://schemas.microsoft.com/office/drawing/2014/main" val="162741656"/>
                  </a:ext>
                </a:extLst>
              </a:tr>
              <a:tr h="335722">
                <a:tc>
                  <a:txBody>
                    <a:bodyPr/>
                    <a:lstStyle/>
                    <a:p>
                      <a:pPr algn="l" rtl="0" fontAlgn="ctr">
                        <a:buNone/>
                      </a:pPr>
                      <a:r>
                        <a:rPr lang="en-US" sz="1800" u="none" strike="noStrike" dirty="0">
                          <a:effectLst/>
                        </a:rPr>
                        <a:t>4.Give the CFG of the following language:</a:t>
                      </a:r>
                      <a:r>
                        <a:rPr lang="en-IN" sz="1800" u="none" strike="noStrike" dirty="0">
                          <a:effectLst/>
                        </a:rPr>
                        <a:t>0(0+1)*01(0+1)*1</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CO3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tc>
                  <a:txBody>
                    <a:bodyPr/>
                    <a:lstStyle/>
                    <a:p>
                      <a:pPr algn="ctr" fontAlgn="b">
                        <a:buNone/>
                      </a:pPr>
                      <a:r>
                        <a:rPr lang="en-IN" sz="1800" u="none" strike="noStrike">
                          <a:effectLst/>
                        </a:rPr>
                        <a:t>K3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extLst>
                  <a:ext uri="{0D108BD9-81ED-4DB2-BD59-A6C34878D82A}">
                    <a16:rowId xmlns:a16="http://schemas.microsoft.com/office/drawing/2014/main" val="629796991"/>
                  </a:ext>
                </a:extLst>
              </a:tr>
              <a:tr h="335722">
                <a:tc>
                  <a:txBody>
                    <a:bodyPr/>
                    <a:lstStyle/>
                    <a:p>
                      <a:pPr algn="l" rtl="0" fontAlgn="ctr">
                        <a:buNone/>
                      </a:pPr>
                      <a:r>
                        <a:rPr lang="en-US" sz="1800" u="none" strike="noStrike" dirty="0">
                          <a:effectLst/>
                        </a:rPr>
                        <a:t>5. Give CFG for matching parenthesis. </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CO3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tc>
                  <a:txBody>
                    <a:bodyPr/>
                    <a:lstStyle/>
                    <a:p>
                      <a:pPr algn="ctr" fontAlgn="b">
                        <a:buNone/>
                      </a:pPr>
                      <a:r>
                        <a:rPr lang="en-IN" sz="1800" u="none" strike="noStrike" dirty="0">
                          <a:effectLst/>
                        </a:rPr>
                        <a:t>K3</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extLst>
                  <a:ext uri="{0D108BD9-81ED-4DB2-BD59-A6C34878D82A}">
                    <a16:rowId xmlns:a16="http://schemas.microsoft.com/office/drawing/2014/main" val="3994413314"/>
                  </a:ext>
                </a:extLst>
              </a:tr>
              <a:tr h="335722">
                <a:tc>
                  <a:txBody>
                    <a:bodyPr/>
                    <a:lstStyle/>
                    <a:p>
                      <a:pPr algn="l" rtl="0" fontAlgn="ctr">
                        <a:buNone/>
                      </a:pPr>
                      <a:r>
                        <a:rPr lang="en-US" sz="1800" u="none" strike="noStrike">
                          <a:effectLst/>
                        </a:rPr>
                        <a:t>6. Construct a PDA from the following CFG, G = ({S, X}, {a, b}, P, S) where the productions are :  S → XS | ε , A → aXb | Ab | ab</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CO3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tc>
                  <a:txBody>
                    <a:bodyPr/>
                    <a:lstStyle/>
                    <a:p>
                      <a:pPr algn="ctr" fontAlgn="b">
                        <a:buNone/>
                      </a:pPr>
                      <a:r>
                        <a:rPr lang="en-IN" sz="1800" u="none" strike="noStrike" dirty="0">
                          <a:effectLst/>
                        </a:rPr>
                        <a:t>K5</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extLst>
                  <a:ext uri="{0D108BD9-81ED-4DB2-BD59-A6C34878D82A}">
                    <a16:rowId xmlns:a16="http://schemas.microsoft.com/office/drawing/2014/main" val="1430489638"/>
                  </a:ext>
                </a:extLst>
              </a:tr>
              <a:tr h="379895">
                <a:tc>
                  <a:txBody>
                    <a:bodyPr/>
                    <a:lstStyle/>
                    <a:p>
                      <a:pPr algn="l" rtl="0" fontAlgn="ctr">
                        <a:buNone/>
                      </a:pPr>
                      <a:r>
                        <a:rPr lang="en-US" sz="1800" u="none" strike="noStrike" dirty="0">
                          <a:effectLst/>
                        </a:rPr>
                        <a:t>7. Construct a PDA that accepts L = { </a:t>
                      </a:r>
                      <a:r>
                        <a:rPr lang="en-US" sz="1800" u="none" strike="noStrike" dirty="0" err="1">
                          <a:effectLst/>
                        </a:rPr>
                        <a:t>ww</a:t>
                      </a:r>
                      <a:r>
                        <a:rPr lang="en-US" sz="1800" u="none" strike="noStrike" baseline="30000" dirty="0" err="1">
                          <a:effectLst/>
                        </a:rPr>
                        <a:t>R</a:t>
                      </a:r>
                      <a:r>
                        <a:rPr lang="en-US" sz="1800" u="none" strike="noStrike" dirty="0">
                          <a:effectLst/>
                        </a:rPr>
                        <a:t> | w = (</a:t>
                      </a:r>
                      <a:r>
                        <a:rPr lang="en-US" sz="1800" u="none" strike="noStrike" dirty="0" err="1">
                          <a:effectLst/>
                        </a:rPr>
                        <a:t>a+b</a:t>
                      </a:r>
                      <a:r>
                        <a:rPr lang="en-US" sz="1800" u="none" strike="noStrike" dirty="0">
                          <a:effectLst/>
                        </a:rPr>
                        <a:t>)*}</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CO3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tc>
                  <a:txBody>
                    <a:bodyPr/>
                    <a:lstStyle/>
                    <a:p>
                      <a:pPr algn="ctr" fontAlgn="b">
                        <a:buNone/>
                      </a:pPr>
                      <a:r>
                        <a:rPr lang="en-IN" sz="1800" u="none" strike="noStrike" dirty="0">
                          <a:effectLst/>
                        </a:rPr>
                        <a:t>K5</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extLst>
                  <a:ext uri="{0D108BD9-81ED-4DB2-BD59-A6C34878D82A}">
                    <a16:rowId xmlns:a16="http://schemas.microsoft.com/office/drawing/2014/main" val="4247021545"/>
                  </a:ext>
                </a:extLst>
              </a:tr>
              <a:tr h="379895">
                <a:tc>
                  <a:txBody>
                    <a:bodyPr/>
                    <a:lstStyle/>
                    <a:p>
                      <a:pPr algn="l" rtl="0" fontAlgn="ctr">
                        <a:buNone/>
                      </a:pPr>
                      <a:r>
                        <a:rPr lang="en-US" sz="1800" u="none" strike="noStrike" dirty="0">
                          <a:effectLst/>
                        </a:rPr>
                        <a:t>8. Construct a PDA that accepts L = { </a:t>
                      </a:r>
                      <a:r>
                        <a:rPr lang="en-US" sz="1800" u="none" strike="noStrike" dirty="0" err="1">
                          <a:effectLst/>
                        </a:rPr>
                        <a:t>wcw</a:t>
                      </a:r>
                      <a:r>
                        <a:rPr lang="en-US" sz="1800" u="none" strike="noStrike" baseline="30000" dirty="0" err="1">
                          <a:effectLst/>
                        </a:rPr>
                        <a:t>R</a:t>
                      </a:r>
                      <a:r>
                        <a:rPr lang="en-US" sz="1800" u="none" strike="noStrike" dirty="0">
                          <a:effectLst/>
                        </a:rPr>
                        <a:t> | w = (</a:t>
                      </a:r>
                      <a:r>
                        <a:rPr lang="en-US" sz="1800" u="none" strike="noStrike" dirty="0" err="1">
                          <a:effectLst/>
                        </a:rPr>
                        <a:t>a+b</a:t>
                      </a:r>
                      <a:r>
                        <a:rPr lang="en-US" sz="1800" u="none" strike="noStrike" dirty="0">
                          <a:effectLst/>
                        </a:rPr>
                        <a:t>)*}</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CO3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tc>
                  <a:txBody>
                    <a:bodyPr/>
                    <a:lstStyle/>
                    <a:p>
                      <a:pPr algn="ctr" fontAlgn="b">
                        <a:buNone/>
                      </a:pPr>
                      <a:r>
                        <a:rPr lang="en-IN" sz="1800" u="none" strike="noStrike" dirty="0">
                          <a:effectLst/>
                        </a:rPr>
                        <a:t>K5</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extLst>
                  <a:ext uri="{0D108BD9-81ED-4DB2-BD59-A6C34878D82A}">
                    <a16:rowId xmlns:a16="http://schemas.microsoft.com/office/drawing/2014/main" val="1193503789"/>
                  </a:ext>
                </a:extLst>
              </a:tr>
              <a:tr h="379895">
                <a:tc>
                  <a:txBody>
                    <a:bodyPr/>
                    <a:lstStyle/>
                    <a:p>
                      <a:pPr algn="l" rtl="0" fontAlgn="ctr">
                        <a:buNone/>
                      </a:pPr>
                      <a:r>
                        <a:rPr lang="en-US" sz="1800" u="none" strike="noStrike" dirty="0">
                          <a:effectLst/>
                        </a:rPr>
                        <a:t>9.Construct a PDA for the language L={</a:t>
                      </a:r>
                      <a:r>
                        <a:rPr lang="en-US" sz="1800" u="none" strike="noStrike" dirty="0" err="1">
                          <a:effectLst/>
                        </a:rPr>
                        <a:t>a</a:t>
                      </a:r>
                      <a:r>
                        <a:rPr lang="en-US" sz="1800" u="none" strike="noStrike" baseline="30000" dirty="0" err="1">
                          <a:effectLst/>
                        </a:rPr>
                        <a:t>n</a:t>
                      </a:r>
                      <a:r>
                        <a:rPr lang="en-US" sz="1800" u="none" strike="noStrike" dirty="0" err="1">
                          <a:effectLst/>
                        </a:rPr>
                        <a:t>b</a:t>
                      </a:r>
                      <a:r>
                        <a:rPr lang="en-US" sz="1800" u="none" strike="noStrike" baseline="30000" dirty="0" err="1">
                          <a:effectLst/>
                        </a:rPr>
                        <a:t>n</a:t>
                      </a:r>
                      <a:r>
                        <a:rPr lang="en-US" sz="1800" u="none" strike="noStrike" dirty="0" err="1">
                          <a:effectLst/>
                        </a:rPr>
                        <a:t>c</a:t>
                      </a:r>
                      <a:r>
                        <a:rPr lang="en-US" sz="1800" u="none" strike="noStrike" baseline="30000" dirty="0" err="1">
                          <a:effectLst/>
                        </a:rPr>
                        <a:t>m</a:t>
                      </a:r>
                      <a:r>
                        <a:rPr lang="en-US" sz="1800" u="none" strike="noStrike" dirty="0">
                          <a:effectLst/>
                        </a:rPr>
                        <a:t> | </a:t>
                      </a:r>
                      <a:r>
                        <a:rPr lang="en-US" sz="1800" u="none" strike="noStrike" dirty="0" err="1">
                          <a:effectLst/>
                        </a:rPr>
                        <a:t>n,m</a:t>
                      </a:r>
                      <a:r>
                        <a:rPr lang="en-US" sz="1800" u="none" strike="noStrike" dirty="0">
                          <a:effectLst/>
                        </a:rPr>
                        <a:t>&gt;=1}</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a:effectLst/>
                        </a:rPr>
                        <a:t>CO3</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tc>
                  <a:txBody>
                    <a:bodyPr/>
                    <a:lstStyle/>
                    <a:p>
                      <a:pPr algn="ctr" fontAlgn="b">
                        <a:buNone/>
                      </a:pPr>
                      <a:r>
                        <a:rPr lang="en-IN" sz="1800" u="none" strike="noStrike" dirty="0">
                          <a:effectLst/>
                        </a:rPr>
                        <a:t>K5</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extLst>
                  <a:ext uri="{0D108BD9-81ED-4DB2-BD59-A6C34878D82A}">
                    <a16:rowId xmlns:a16="http://schemas.microsoft.com/office/drawing/2014/main" val="782844731"/>
                  </a:ext>
                </a:extLst>
              </a:tr>
              <a:tr h="379895">
                <a:tc>
                  <a:txBody>
                    <a:bodyPr/>
                    <a:lstStyle/>
                    <a:p>
                      <a:pPr algn="l" rtl="0" fontAlgn="ctr">
                        <a:buNone/>
                      </a:pPr>
                      <a:r>
                        <a:rPr lang="en-US" sz="1800" u="none" strike="noStrike">
                          <a:effectLst/>
                        </a:rPr>
                        <a:t>10. Construct a PDA for the language L={a</a:t>
                      </a:r>
                      <a:r>
                        <a:rPr lang="en-US" sz="1800" u="none" strike="noStrike" baseline="30000">
                          <a:effectLst/>
                        </a:rPr>
                        <a:t>n</a:t>
                      </a:r>
                      <a:r>
                        <a:rPr lang="en-US" sz="1800" u="none" strike="noStrike">
                          <a:effectLst/>
                        </a:rPr>
                        <a:t>b</a:t>
                      </a:r>
                      <a:r>
                        <a:rPr lang="en-US" sz="1800" u="none" strike="noStrike" baseline="30000">
                          <a:effectLst/>
                        </a:rPr>
                        <a:t>n</a:t>
                      </a:r>
                      <a:r>
                        <a:rPr lang="en-US" sz="1800" u="none" strike="noStrike">
                          <a:effectLst/>
                        </a:rPr>
                        <a:t> | n&gt;=1}</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ctr"/>
                </a:tc>
                <a:tc>
                  <a:txBody>
                    <a:bodyPr/>
                    <a:lstStyle/>
                    <a:p>
                      <a:pPr algn="ctr" fontAlgn="b">
                        <a:buNone/>
                      </a:pPr>
                      <a:r>
                        <a:rPr lang="en-IN" sz="1800" u="none" strike="noStrike" dirty="0">
                          <a:effectLst/>
                        </a:rPr>
                        <a:t>CO3</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tc>
                  <a:txBody>
                    <a:bodyPr/>
                    <a:lstStyle/>
                    <a:p>
                      <a:pPr algn="ctr" fontAlgn="b">
                        <a:buNone/>
                      </a:pPr>
                      <a:r>
                        <a:rPr lang="en-IN" sz="1800" u="none" strike="noStrike" dirty="0">
                          <a:effectLst/>
                        </a:rPr>
                        <a:t>K5</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59" marR="4559" marT="4559" marB="0" anchor="b"/>
                </a:tc>
                <a:extLst>
                  <a:ext uri="{0D108BD9-81ED-4DB2-BD59-A6C34878D82A}">
                    <a16:rowId xmlns:a16="http://schemas.microsoft.com/office/drawing/2014/main" val="1207956075"/>
                  </a:ext>
                </a:extLst>
              </a:tr>
            </a:tbl>
          </a:graphicData>
        </a:graphic>
      </p:graphicFrame>
    </p:spTree>
    <p:extLst>
      <p:ext uri="{BB962C8B-B14F-4D97-AF65-F5344CB8AC3E}">
        <p14:creationId xmlns:p14="http://schemas.microsoft.com/office/powerpoint/2010/main" val="42645792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92B9B0-302B-4A2D-8DCA-B5927B3E8AA5}"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p:nvPr/>
        </p:nvSpPr>
        <p:spPr>
          <a:xfrm>
            <a:off x="1752600" y="1"/>
            <a:ext cx="7391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b="1" dirty="0">
                <a:latin typeface="Times New Roman" panose="02020603050405020304" pitchFamily="18" charset="0"/>
                <a:cs typeface="Times New Roman" panose="02020603050405020304" pitchFamily="18" charset="0"/>
              </a:rPr>
              <a:t>Old Question Papers</a:t>
            </a:r>
          </a:p>
        </p:txBody>
      </p:sp>
      <p:pic>
        <p:nvPicPr>
          <p:cNvPr id="8" name="Picture 2" descr="C:\Users\HP\Desktop\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165" y="1120773"/>
            <a:ext cx="3905250" cy="517207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descr="C:\Users\HP\Desktop\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2656" y="1120773"/>
            <a:ext cx="4281088" cy="5172076"/>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2">
            <a:extLst>
              <a:ext uri="{FF2B5EF4-FFF2-40B4-BE49-F238E27FC236}">
                <a16:creationId xmlns:a16="http://schemas.microsoft.com/office/drawing/2014/main" id="{FBF02A59-36B2-4BB3-C458-FED33FE0D26D}"/>
              </a:ext>
            </a:extLst>
          </p:cNvPr>
          <p:cNvSpPr>
            <a:spLocks noGrp="1"/>
          </p:cNvSpPr>
          <p:nvPr>
            <p:ph type="ftr" sz="quarter" idx="11"/>
          </p:nvPr>
        </p:nvSpPr>
        <p:spPr>
          <a:xfrm>
            <a:off x="1905000" y="64166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83939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DC0555C-FE37-4175-8A2D-8BE983F342F8}"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p:nvPr/>
        </p:nvSpPr>
        <p:spPr>
          <a:xfrm>
            <a:off x="1752600" y="1"/>
            <a:ext cx="7391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b="1" dirty="0">
                <a:latin typeface="Times New Roman" panose="02020603050405020304" pitchFamily="18" charset="0"/>
                <a:cs typeface="Times New Roman" panose="02020603050405020304" pitchFamily="18" charset="0"/>
              </a:rPr>
              <a:t>Old Question Papers</a:t>
            </a:r>
          </a:p>
        </p:txBody>
      </p:sp>
      <p:pic>
        <p:nvPicPr>
          <p:cNvPr id="12" name="Picture 4" descr="C:\Users\HP\Desktop\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014268"/>
            <a:ext cx="4295775" cy="52578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 descr="C:\Users\HP\Desktop\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4375" y="1014268"/>
            <a:ext cx="4295775" cy="514531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2">
            <a:extLst>
              <a:ext uri="{FF2B5EF4-FFF2-40B4-BE49-F238E27FC236}">
                <a16:creationId xmlns:a16="http://schemas.microsoft.com/office/drawing/2014/main" id="{BDAADCC3-4C04-A868-E3D1-A2F24A1FA2C6}"/>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40146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3A5B9D1-A375-4959-B6C7-245E17218CCD}"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p:cNvSpPr txBox="1"/>
          <p:nvPr/>
        </p:nvSpPr>
        <p:spPr>
          <a:xfrm>
            <a:off x="1752600" y="1"/>
            <a:ext cx="7391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b="1" dirty="0">
                <a:latin typeface="Times New Roman" panose="02020603050405020304" pitchFamily="18" charset="0"/>
                <a:cs typeface="Times New Roman" panose="02020603050405020304" pitchFamily="18" charset="0"/>
              </a:rPr>
              <a:t>Old Question Papers</a:t>
            </a:r>
          </a:p>
        </p:txBody>
      </p:sp>
      <p:pic>
        <p:nvPicPr>
          <p:cNvPr id="8" name="Picture 2" descr="C:\Users\HP\Desktop\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990600"/>
            <a:ext cx="4691063" cy="518160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2">
            <a:extLst>
              <a:ext uri="{FF2B5EF4-FFF2-40B4-BE49-F238E27FC236}">
                <a16:creationId xmlns:a16="http://schemas.microsoft.com/office/drawing/2014/main" id="{DBB7A8D0-0E38-42DF-DD87-00770D86C978}"/>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08249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5F53E0D-3214-47F6-A08E-D8875C47680E}"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1676400" y="-32003"/>
            <a:ext cx="7458456"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Summary</a:t>
            </a:r>
          </a:p>
        </p:txBody>
      </p:sp>
      <p:sp>
        <p:nvSpPr>
          <p:cNvPr id="2" name="Rectangle 1">
            <a:extLst>
              <a:ext uri="{FF2B5EF4-FFF2-40B4-BE49-F238E27FC236}">
                <a16:creationId xmlns:a16="http://schemas.microsoft.com/office/drawing/2014/main" id="{83E4D9CE-78D7-FC97-E305-7A7F765F7EE0}"/>
              </a:ext>
            </a:extLst>
          </p:cNvPr>
          <p:cNvSpPr>
            <a:spLocks noChangeArrowheads="1"/>
          </p:cNvSpPr>
          <p:nvPr/>
        </p:nvSpPr>
        <p:spPr bwMode="auto">
          <a:xfrm rot="10800000" flipV="1">
            <a:off x="228599" y="1185883"/>
            <a:ext cx="8763000" cy="4618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Introduces Context Free Grammar (CFG) and its role in defining context-free languages.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Explains derivations in CFG, including leftmost and rightmost derivations.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Describes parse trees as a graphical representation of grammar derivations.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Discusses ambiguity in grammars and how a string can have multiple parse trees.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Covers methods for simplification of CFG by removing null productions, unit productions, and useless symbols.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Introduces Pushdown Automata (PDA) as a language recognition model with stack memory.</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Explains the structure and operation of PDA.</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Establishes the relationship between PDA and context-free languages, showing that PDAs accept exactly the languages generated by CFGs.</a:t>
            </a:r>
          </a:p>
        </p:txBody>
      </p:sp>
      <p:sp>
        <p:nvSpPr>
          <p:cNvPr id="3" name="Footer Placeholder 12">
            <a:extLst>
              <a:ext uri="{FF2B5EF4-FFF2-40B4-BE49-F238E27FC236}">
                <a16:creationId xmlns:a16="http://schemas.microsoft.com/office/drawing/2014/main" id="{1B7B28CC-1C4F-8FCD-E595-1BEABAA390F5}"/>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946029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525963"/>
          </a:xfrm>
        </p:spPr>
        <p:txBody>
          <a:bodyPr>
            <a:noAutofit/>
          </a:bodyPr>
          <a:lstStyle/>
          <a:p>
            <a:pPr marL="457200" indent="-457200" algn="just">
              <a:buFont typeface="+mj-lt"/>
              <a:buAutoNum type="arabicPeriod"/>
            </a:pPr>
            <a:r>
              <a:rPr lang="en-IN" sz="2000" dirty="0"/>
              <a:t>K.L.P. Mishra, and N. Chandrasekharan , Theory of Computer Science-Automata, Languages and Computation </a:t>
            </a:r>
          </a:p>
          <a:p>
            <a:pPr marL="457200" indent="-457200" algn="just">
              <a:buFont typeface="+mj-lt"/>
              <a:buAutoNum type="arabicPeriod"/>
            </a:pPr>
            <a:r>
              <a:rPr lang="en-IN" sz="2000" dirty="0"/>
              <a:t>Alfred V. Aho, Jeffrey D Ullman , Compilers: Principles, Techniques and Tools </a:t>
            </a:r>
          </a:p>
          <a:p>
            <a:pPr marL="457200" indent="-457200" algn="just">
              <a:buFont typeface="+mj-lt"/>
              <a:buAutoNum type="arabicPeriod"/>
            </a:pPr>
            <a:r>
              <a:rPr lang="en-US" sz="2000" dirty="0"/>
              <a:t>J Martin , Introduction to languages and the theory of computation </a:t>
            </a:r>
          </a:p>
          <a:p>
            <a:pPr marL="457200" indent="-457200" algn="just">
              <a:buFont typeface="+mj-lt"/>
              <a:buAutoNum type="arabicPeriod"/>
            </a:pPr>
            <a:r>
              <a:rPr lang="en-US" sz="2000" dirty="0"/>
              <a:t>Allen I. Holub , Compiler Design in C</a:t>
            </a:r>
          </a:p>
        </p:txBody>
      </p:sp>
      <p:sp>
        <p:nvSpPr>
          <p:cNvPr id="4" name="Date Placeholder 3"/>
          <p:cNvSpPr>
            <a:spLocks noGrp="1"/>
          </p:cNvSpPr>
          <p:nvPr>
            <p:ph type="dt" sz="half" idx="10"/>
          </p:nvPr>
        </p:nvSpPr>
        <p:spPr/>
        <p:txBody>
          <a:bodyPr/>
          <a:lstStyle/>
          <a:p>
            <a:fld id="{B10F51A3-E422-484F-B495-EAF160A3F697}"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7" name="Title 1"/>
          <p:cNvSpPr txBox="1">
            <a:spLocks/>
          </p:cNvSpPr>
          <p:nvPr/>
        </p:nvSpPr>
        <p:spPr>
          <a:xfrm>
            <a:off x="1676400" y="-32003"/>
            <a:ext cx="7458456" cy="79400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References</a:t>
            </a:r>
          </a:p>
        </p:txBody>
      </p:sp>
      <p:sp>
        <p:nvSpPr>
          <p:cNvPr id="2" name="Footer Placeholder 12">
            <a:extLst>
              <a:ext uri="{FF2B5EF4-FFF2-40B4-BE49-F238E27FC236}">
                <a16:creationId xmlns:a16="http://schemas.microsoft.com/office/drawing/2014/main" id="{1FFA3B32-A366-4354-52B8-636B64D57750}"/>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39904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99DD4E5-C17D-4C09-982B-84FA73F82200}" type="datetime1">
              <a:rPr lang="en-US" smtClean="0"/>
              <a:t>3/20/2026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a:p>
        </p:txBody>
      </p:sp>
      <p:sp>
        <p:nvSpPr>
          <p:cNvPr id="7" name="Title 1"/>
          <p:cNvSpPr txBox="1">
            <a:spLocks/>
          </p:cNvSpPr>
          <p:nvPr/>
        </p:nvSpPr>
        <p:spPr>
          <a:xfrm>
            <a:off x="1600200" y="0"/>
            <a:ext cx="7543800" cy="7620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Noida Institute of Engineering and Technology, Greater Noida</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2745692" y="1143000"/>
            <a:ext cx="3805016" cy="2326791"/>
          </a:xfrm>
          <a:prstGeom prst="rect">
            <a:avLst/>
          </a:prstGeom>
          <a:noFill/>
        </p:spPr>
        <p:txBody>
          <a:bodyPr wrap="none" lIns="91440" tIns="45720" rIns="91440" bIns="45720">
            <a:spAutoFit/>
          </a:bodyPr>
          <a:lstStyle/>
          <a:p>
            <a:pPr algn="ctr">
              <a:buNone/>
            </a:pP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2" name="Footer Placeholder 12">
            <a:extLst>
              <a:ext uri="{FF2B5EF4-FFF2-40B4-BE49-F238E27FC236}">
                <a16:creationId xmlns:a16="http://schemas.microsoft.com/office/drawing/2014/main" id="{7EDEAB93-6FBE-19CB-5FC0-E482A278816F}"/>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87484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1550</TotalTime>
  <Words>6234</Words>
  <Application>Microsoft Office PowerPoint</Application>
  <PresentationFormat>On-screen Show (4:3)</PresentationFormat>
  <Paragraphs>1290</Paragraphs>
  <Slides>79</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79</vt:i4>
      </vt:variant>
    </vt:vector>
  </HeadingPairs>
  <TitlesOfParts>
    <vt:vector size="88" baseType="lpstr">
      <vt:lpstr>Aptos</vt:lpstr>
      <vt:lpstr>Arial</vt:lpstr>
      <vt:lpstr>Calibri</vt:lpstr>
      <vt:lpstr>Cambria Math</vt:lpstr>
      <vt:lpstr>Symbol</vt:lpstr>
      <vt:lpstr>Times New Roman</vt:lpstr>
      <vt:lpstr>Verdana</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Course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 Semester Question Paper Template </vt:lpstr>
      <vt:lpstr>PowerPoint Presentation</vt:lpstr>
      <vt:lpstr>PowerPoint Presentation</vt:lpstr>
      <vt:lpstr>PowerPoint Presentation</vt:lpstr>
      <vt:lpstr>Program Educational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hitoopc</dc:creator>
  <cp:lastModifiedBy>Evaluation Work</cp:lastModifiedBy>
  <cp:revision>158</cp:revision>
  <dcterms:created xsi:type="dcterms:W3CDTF">2006-08-16T00:00:00Z</dcterms:created>
  <dcterms:modified xsi:type="dcterms:W3CDTF">2026-03-20T10:55:36Z</dcterms:modified>
</cp:coreProperties>
</file>