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5" r:id="rId2"/>
    <p:sldMasterId id="2147483673" r:id="rId3"/>
    <p:sldMasterId id="2147483660" r:id="rId4"/>
    <p:sldMasterId id="2147483710" r:id="rId5"/>
  </p:sldMasterIdLst>
  <p:notesMasterIdLst>
    <p:notesMasterId r:id="rId202"/>
  </p:notesMasterIdLst>
  <p:handoutMasterIdLst>
    <p:handoutMasterId r:id="rId203"/>
  </p:handoutMasterIdLst>
  <p:sldIdLst>
    <p:sldId id="256" r:id="rId6"/>
    <p:sldId id="692" r:id="rId7"/>
    <p:sldId id="449" r:id="rId8"/>
    <p:sldId id="708" r:id="rId9"/>
    <p:sldId id="709" r:id="rId10"/>
    <p:sldId id="710" r:id="rId11"/>
    <p:sldId id="711" r:id="rId12"/>
    <p:sldId id="712" r:id="rId13"/>
    <p:sldId id="713" r:id="rId14"/>
    <p:sldId id="714" r:id="rId15"/>
    <p:sldId id="715" r:id="rId16"/>
    <p:sldId id="716" r:id="rId17"/>
    <p:sldId id="717" r:id="rId18"/>
    <p:sldId id="718" r:id="rId19"/>
    <p:sldId id="719" r:id="rId20"/>
    <p:sldId id="720" r:id="rId21"/>
    <p:sldId id="721" r:id="rId22"/>
    <p:sldId id="722" r:id="rId23"/>
    <p:sldId id="723" r:id="rId24"/>
    <p:sldId id="724" r:id="rId25"/>
    <p:sldId id="725" r:id="rId26"/>
    <p:sldId id="269" r:id="rId27"/>
    <p:sldId id="532" r:id="rId28"/>
    <p:sldId id="257" r:id="rId29"/>
    <p:sldId id="352" r:id="rId30"/>
    <p:sldId id="679" r:id="rId31"/>
    <p:sldId id="393" r:id="rId32"/>
    <p:sldId id="318" r:id="rId33"/>
    <p:sldId id="271" r:id="rId34"/>
    <p:sldId id="315" r:id="rId35"/>
    <p:sldId id="282" r:id="rId36"/>
    <p:sldId id="514" r:id="rId37"/>
    <p:sldId id="515" r:id="rId38"/>
    <p:sldId id="411" r:id="rId39"/>
    <p:sldId id="412" r:id="rId40"/>
    <p:sldId id="413" r:id="rId41"/>
    <p:sldId id="414" r:id="rId42"/>
    <p:sldId id="415" r:id="rId43"/>
    <p:sldId id="535" r:id="rId44"/>
    <p:sldId id="292" r:id="rId45"/>
    <p:sldId id="290" r:id="rId46"/>
    <p:sldId id="517" r:id="rId47"/>
    <p:sldId id="518" r:id="rId48"/>
    <p:sldId id="519" r:id="rId49"/>
    <p:sldId id="559" r:id="rId50"/>
    <p:sldId id="520" r:id="rId51"/>
    <p:sldId id="521" r:id="rId52"/>
    <p:sldId id="561" r:id="rId53"/>
    <p:sldId id="522" r:id="rId54"/>
    <p:sldId id="562" r:id="rId55"/>
    <p:sldId id="563" r:id="rId56"/>
    <p:sldId id="536" r:id="rId57"/>
    <p:sldId id="537" r:id="rId58"/>
    <p:sldId id="538" r:id="rId59"/>
    <p:sldId id="539" r:id="rId60"/>
    <p:sldId id="540" r:id="rId61"/>
    <p:sldId id="564" r:id="rId62"/>
    <p:sldId id="565" r:id="rId63"/>
    <p:sldId id="529" r:id="rId64"/>
    <p:sldId id="566" r:id="rId65"/>
    <p:sldId id="542" r:id="rId66"/>
    <p:sldId id="543" r:id="rId67"/>
    <p:sldId id="544" r:id="rId68"/>
    <p:sldId id="555" r:id="rId69"/>
    <p:sldId id="556" r:id="rId70"/>
    <p:sldId id="546" r:id="rId71"/>
    <p:sldId id="580" r:id="rId72"/>
    <p:sldId id="557" r:id="rId73"/>
    <p:sldId id="581" r:id="rId74"/>
    <p:sldId id="558" r:id="rId75"/>
    <p:sldId id="547" r:id="rId76"/>
    <p:sldId id="582" r:id="rId77"/>
    <p:sldId id="548" r:id="rId78"/>
    <p:sldId id="550" r:id="rId79"/>
    <p:sldId id="549" r:id="rId80"/>
    <p:sldId id="551" r:id="rId81"/>
    <p:sldId id="552" r:id="rId82"/>
    <p:sldId id="553" r:id="rId83"/>
    <p:sldId id="584" r:id="rId84"/>
    <p:sldId id="585" r:id="rId85"/>
    <p:sldId id="586" r:id="rId86"/>
    <p:sldId id="587" r:id="rId87"/>
    <p:sldId id="588" r:id="rId88"/>
    <p:sldId id="589" r:id="rId89"/>
    <p:sldId id="567" r:id="rId90"/>
    <p:sldId id="669" r:id="rId91"/>
    <p:sldId id="670" r:id="rId92"/>
    <p:sldId id="671" r:id="rId93"/>
    <p:sldId id="591" r:id="rId94"/>
    <p:sldId id="590" r:id="rId95"/>
    <p:sldId id="678" r:id="rId96"/>
    <p:sldId id="593" r:id="rId97"/>
    <p:sldId id="594" r:id="rId98"/>
    <p:sldId id="595" r:id="rId99"/>
    <p:sldId id="596" r:id="rId100"/>
    <p:sldId id="607" r:id="rId101"/>
    <p:sldId id="603" r:id="rId102"/>
    <p:sldId id="608" r:id="rId103"/>
    <p:sldId id="598" r:id="rId104"/>
    <p:sldId id="599" r:id="rId105"/>
    <p:sldId id="600" r:id="rId106"/>
    <p:sldId id="601" r:id="rId107"/>
    <p:sldId id="605" r:id="rId108"/>
    <p:sldId id="602" r:id="rId109"/>
    <p:sldId id="606" r:id="rId110"/>
    <p:sldId id="604" r:id="rId111"/>
    <p:sldId id="611" r:id="rId112"/>
    <p:sldId id="612" r:id="rId113"/>
    <p:sldId id="616" r:id="rId114"/>
    <p:sldId id="621" r:id="rId115"/>
    <p:sldId id="623" r:id="rId116"/>
    <p:sldId id="625" r:id="rId117"/>
    <p:sldId id="626" r:id="rId118"/>
    <p:sldId id="627" r:id="rId119"/>
    <p:sldId id="628" r:id="rId120"/>
    <p:sldId id="633" r:id="rId121"/>
    <p:sldId id="630" r:id="rId122"/>
    <p:sldId id="629" r:id="rId123"/>
    <p:sldId id="631" r:id="rId124"/>
    <p:sldId id="613" r:id="rId125"/>
    <p:sldId id="615" r:id="rId126"/>
    <p:sldId id="618" r:id="rId127"/>
    <p:sldId id="619" r:id="rId128"/>
    <p:sldId id="620" r:id="rId129"/>
    <p:sldId id="726" r:id="rId130"/>
    <p:sldId id="727" r:id="rId131"/>
    <p:sldId id="728" r:id="rId132"/>
    <p:sldId id="729" r:id="rId133"/>
    <p:sldId id="730" r:id="rId134"/>
    <p:sldId id="731" r:id="rId135"/>
    <p:sldId id="732" r:id="rId136"/>
    <p:sldId id="733" r:id="rId137"/>
    <p:sldId id="734" r:id="rId138"/>
    <p:sldId id="735" r:id="rId139"/>
    <p:sldId id="736" r:id="rId140"/>
    <p:sldId id="737" r:id="rId141"/>
    <p:sldId id="738" r:id="rId142"/>
    <p:sldId id="739" r:id="rId143"/>
    <p:sldId id="740" r:id="rId144"/>
    <p:sldId id="741" r:id="rId145"/>
    <p:sldId id="742" r:id="rId146"/>
    <p:sldId id="743" r:id="rId147"/>
    <p:sldId id="744" r:id="rId148"/>
    <p:sldId id="745" r:id="rId149"/>
    <p:sldId id="746" r:id="rId150"/>
    <p:sldId id="747" r:id="rId151"/>
    <p:sldId id="748" r:id="rId152"/>
    <p:sldId id="749" r:id="rId153"/>
    <p:sldId id="750" r:id="rId154"/>
    <p:sldId id="751" r:id="rId155"/>
    <p:sldId id="752" r:id="rId156"/>
    <p:sldId id="753" r:id="rId157"/>
    <p:sldId id="754" r:id="rId158"/>
    <p:sldId id="756" r:id="rId159"/>
    <p:sldId id="757" r:id="rId160"/>
    <p:sldId id="758" r:id="rId161"/>
    <p:sldId id="759" r:id="rId162"/>
    <p:sldId id="760" r:id="rId163"/>
    <p:sldId id="761" r:id="rId164"/>
    <p:sldId id="275" r:id="rId165"/>
    <p:sldId id="526" r:id="rId166"/>
    <p:sldId id="386" r:id="rId167"/>
    <p:sldId id="683" r:id="rId168"/>
    <p:sldId id="684" r:id="rId169"/>
    <p:sldId id="685" r:id="rId170"/>
    <p:sldId id="686" r:id="rId171"/>
    <p:sldId id="687" r:id="rId172"/>
    <p:sldId id="688" r:id="rId173"/>
    <p:sldId id="273" r:id="rId174"/>
    <p:sldId id="525" r:id="rId175"/>
    <p:sldId id="682" r:id="rId176"/>
    <p:sldId id="681" r:id="rId177"/>
    <p:sldId id="524" r:id="rId178"/>
    <p:sldId id="528" r:id="rId179"/>
    <p:sldId id="527" r:id="rId180"/>
    <p:sldId id="452" r:id="rId181"/>
    <p:sldId id="755" r:id="rId182"/>
    <p:sldId id="697" r:id="rId183"/>
    <p:sldId id="698" r:id="rId184"/>
    <p:sldId id="699" r:id="rId185"/>
    <p:sldId id="700" r:id="rId186"/>
    <p:sldId id="701" r:id="rId187"/>
    <p:sldId id="702" r:id="rId188"/>
    <p:sldId id="703" r:id="rId189"/>
    <p:sldId id="704" r:id="rId190"/>
    <p:sldId id="705" r:id="rId191"/>
    <p:sldId id="706" r:id="rId192"/>
    <p:sldId id="707" r:id="rId193"/>
    <p:sldId id="680" r:id="rId194"/>
    <p:sldId id="533" r:id="rId195"/>
    <p:sldId id="690" r:id="rId196"/>
    <p:sldId id="691" r:id="rId197"/>
    <p:sldId id="523" r:id="rId198"/>
    <p:sldId id="348" r:id="rId199"/>
    <p:sldId id="283" r:id="rId200"/>
    <p:sldId id="531" r:id="rId20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900" autoAdjust="0"/>
    <p:restoredTop sz="83841" autoAdjust="0"/>
  </p:normalViewPr>
  <p:slideViewPr>
    <p:cSldViewPr>
      <p:cViewPr varScale="1">
        <p:scale>
          <a:sx n="96" d="100"/>
          <a:sy n="96" d="100"/>
        </p:scale>
        <p:origin x="1632" y="102"/>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slide" Target="slides/slide133.xml"/><Relationship Id="rId159" Type="http://schemas.openxmlformats.org/officeDocument/2006/relationships/slide" Target="slides/slide154.xml"/><Relationship Id="rId170" Type="http://schemas.openxmlformats.org/officeDocument/2006/relationships/slide" Target="slides/slide165.xml"/><Relationship Id="rId191" Type="http://schemas.openxmlformats.org/officeDocument/2006/relationships/slide" Target="slides/slide186.xml"/><Relationship Id="rId205" Type="http://schemas.openxmlformats.org/officeDocument/2006/relationships/viewProps" Target="viewProps.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53" Type="http://schemas.openxmlformats.org/officeDocument/2006/relationships/slide" Target="slides/slide48.xml"/><Relationship Id="rId74" Type="http://schemas.openxmlformats.org/officeDocument/2006/relationships/slide" Target="slides/slide69.xml"/><Relationship Id="rId128" Type="http://schemas.openxmlformats.org/officeDocument/2006/relationships/slide" Target="slides/slide123.xml"/><Relationship Id="rId149" Type="http://schemas.openxmlformats.org/officeDocument/2006/relationships/slide" Target="slides/slide144.xml"/><Relationship Id="rId5" Type="http://schemas.openxmlformats.org/officeDocument/2006/relationships/slideMaster" Target="slideMasters/slideMaster5.xml"/><Relationship Id="rId95" Type="http://schemas.openxmlformats.org/officeDocument/2006/relationships/slide" Target="slides/slide90.xml"/><Relationship Id="rId160" Type="http://schemas.openxmlformats.org/officeDocument/2006/relationships/slide" Target="slides/slide155.xml"/><Relationship Id="rId181" Type="http://schemas.openxmlformats.org/officeDocument/2006/relationships/slide" Target="slides/slide176.xml"/><Relationship Id="rId22" Type="http://schemas.openxmlformats.org/officeDocument/2006/relationships/slide" Target="slides/slide17.xml"/><Relationship Id="rId43" Type="http://schemas.openxmlformats.org/officeDocument/2006/relationships/slide" Target="slides/slide38.xml"/><Relationship Id="rId64" Type="http://schemas.openxmlformats.org/officeDocument/2006/relationships/slide" Target="slides/slide59.xml"/><Relationship Id="rId118" Type="http://schemas.openxmlformats.org/officeDocument/2006/relationships/slide" Target="slides/slide113.xml"/><Relationship Id="rId139" Type="http://schemas.openxmlformats.org/officeDocument/2006/relationships/slide" Target="slides/slide134.xml"/><Relationship Id="rId85" Type="http://schemas.openxmlformats.org/officeDocument/2006/relationships/slide" Target="slides/slide80.xml"/><Relationship Id="rId150" Type="http://schemas.openxmlformats.org/officeDocument/2006/relationships/slide" Target="slides/slide145.xml"/><Relationship Id="rId171" Type="http://schemas.openxmlformats.org/officeDocument/2006/relationships/slide" Target="slides/slide166.xml"/><Relationship Id="rId192" Type="http://schemas.openxmlformats.org/officeDocument/2006/relationships/slide" Target="slides/slide187.xml"/><Relationship Id="rId206" Type="http://schemas.openxmlformats.org/officeDocument/2006/relationships/theme" Target="theme/theme1.xml"/><Relationship Id="rId12" Type="http://schemas.openxmlformats.org/officeDocument/2006/relationships/slide" Target="slides/slide7.xml"/><Relationship Id="rId33" Type="http://schemas.openxmlformats.org/officeDocument/2006/relationships/slide" Target="slides/slide28.xml"/><Relationship Id="rId108" Type="http://schemas.openxmlformats.org/officeDocument/2006/relationships/slide" Target="slides/slide103.xml"/><Relationship Id="rId129" Type="http://schemas.openxmlformats.org/officeDocument/2006/relationships/slide" Target="slides/slide124.xml"/><Relationship Id="rId54" Type="http://schemas.openxmlformats.org/officeDocument/2006/relationships/slide" Target="slides/slide49.xml"/><Relationship Id="rId75" Type="http://schemas.openxmlformats.org/officeDocument/2006/relationships/slide" Target="slides/slide70.xml"/><Relationship Id="rId96" Type="http://schemas.openxmlformats.org/officeDocument/2006/relationships/slide" Target="slides/slide91.xml"/><Relationship Id="rId140" Type="http://schemas.openxmlformats.org/officeDocument/2006/relationships/slide" Target="slides/slide135.xml"/><Relationship Id="rId161" Type="http://schemas.openxmlformats.org/officeDocument/2006/relationships/slide" Target="slides/slide156.xml"/><Relationship Id="rId182" Type="http://schemas.openxmlformats.org/officeDocument/2006/relationships/slide" Target="slides/slide177.xml"/><Relationship Id="rId6" Type="http://schemas.openxmlformats.org/officeDocument/2006/relationships/slide" Target="slides/slide1.xml"/><Relationship Id="rId23" Type="http://schemas.openxmlformats.org/officeDocument/2006/relationships/slide" Target="slides/slide18.xml"/><Relationship Id="rId119" Type="http://schemas.openxmlformats.org/officeDocument/2006/relationships/slide" Target="slides/slide114.xml"/><Relationship Id="rId44" Type="http://schemas.openxmlformats.org/officeDocument/2006/relationships/slide" Target="slides/slide39.xml"/><Relationship Id="rId65" Type="http://schemas.openxmlformats.org/officeDocument/2006/relationships/slide" Target="slides/slide60.xml"/><Relationship Id="rId86" Type="http://schemas.openxmlformats.org/officeDocument/2006/relationships/slide" Target="slides/slide81.xml"/><Relationship Id="rId130" Type="http://schemas.openxmlformats.org/officeDocument/2006/relationships/slide" Target="slides/slide125.xml"/><Relationship Id="rId151" Type="http://schemas.openxmlformats.org/officeDocument/2006/relationships/slide" Target="slides/slide146.xml"/><Relationship Id="rId172" Type="http://schemas.openxmlformats.org/officeDocument/2006/relationships/slide" Target="slides/slide167.xml"/><Relationship Id="rId193" Type="http://schemas.openxmlformats.org/officeDocument/2006/relationships/slide" Target="slides/slide188.xml"/><Relationship Id="rId207" Type="http://schemas.openxmlformats.org/officeDocument/2006/relationships/tableStyles" Target="tableStyles.xml"/><Relationship Id="rId13" Type="http://schemas.openxmlformats.org/officeDocument/2006/relationships/slide" Target="slides/slide8.xml"/><Relationship Id="rId109" Type="http://schemas.openxmlformats.org/officeDocument/2006/relationships/slide" Target="slides/slide104.xml"/><Relationship Id="rId34" Type="http://schemas.openxmlformats.org/officeDocument/2006/relationships/slide" Target="slides/slide29.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20" Type="http://schemas.openxmlformats.org/officeDocument/2006/relationships/slide" Target="slides/slide115.xml"/><Relationship Id="rId141" Type="http://schemas.openxmlformats.org/officeDocument/2006/relationships/slide" Target="slides/slide136.xml"/><Relationship Id="rId7" Type="http://schemas.openxmlformats.org/officeDocument/2006/relationships/slide" Target="slides/slide2.xml"/><Relationship Id="rId162" Type="http://schemas.openxmlformats.org/officeDocument/2006/relationships/slide" Target="slides/slide157.xml"/><Relationship Id="rId183" Type="http://schemas.openxmlformats.org/officeDocument/2006/relationships/slide" Target="slides/slide178.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61" Type="http://schemas.openxmlformats.org/officeDocument/2006/relationships/slide" Target="slides/slide56.xml"/><Relationship Id="rId82" Type="http://schemas.openxmlformats.org/officeDocument/2006/relationships/slide" Target="slides/slide77.xml"/><Relationship Id="rId152" Type="http://schemas.openxmlformats.org/officeDocument/2006/relationships/slide" Target="slides/slide147.xml"/><Relationship Id="rId173" Type="http://schemas.openxmlformats.org/officeDocument/2006/relationships/slide" Target="slides/slide168.xml"/><Relationship Id="rId194" Type="http://schemas.openxmlformats.org/officeDocument/2006/relationships/slide" Target="slides/slide189.xml"/><Relationship Id="rId199" Type="http://schemas.openxmlformats.org/officeDocument/2006/relationships/slide" Target="slides/slide194.xml"/><Relationship Id="rId203" Type="http://schemas.openxmlformats.org/officeDocument/2006/relationships/handoutMaster" Target="handoutMasters/handoutMaster1.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184" Type="http://schemas.openxmlformats.org/officeDocument/2006/relationships/slide" Target="slides/slide179.xml"/><Relationship Id="rId189" Type="http://schemas.openxmlformats.org/officeDocument/2006/relationships/slide" Target="slides/slide184.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79" Type="http://schemas.openxmlformats.org/officeDocument/2006/relationships/slide" Target="slides/slide174.xml"/><Relationship Id="rId195" Type="http://schemas.openxmlformats.org/officeDocument/2006/relationships/slide" Target="slides/slide190.xml"/><Relationship Id="rId190" Type="http://schemas.openxmlformats.org/officeDocument/2006/relationships/slide" Target="slides/slide185.xml"/><Relationship Id="rId204" Type="http://schemas.openxmlformats.org/officeDocument/2006/relationships/presProps" Target="presProps.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48" Type="http://schemas.openxmlformats.org/officeDocument/2006/relationships/slide" Target="slides/slide143.xml"/><Relationship Id="rId164" Type="http://schemas.openxmlformats.org/officeDocument/2006/relationships/slide" Target="slides/slide159.xml"/><Relationship Id="rId169" Type="http://schemas.openxmlformats.org/officeDocument/2006/relationships/slide" Target="slides/slide164.xml"/><Relationship Id="rId185" Type="http://schemas.openxmlformats.org/officeDocument/2006/relationships/slide" Target="slides/slide180.xml"/><Relationship Id="rId4" Type="http://schemas.openxmlformats.org/officeDocument/2006/relationships/slideMaster" Target="slideMasters/slideMaster4.xml"/><Relationship Id="rId9" Type="http://schemas.openxmlformats.org/officeDocument/2006/relationships/slide" Target="slides/slide4.xml"/><Relationship Id="rId180" Type="http://schemas.openxmlformats.org/officeDocument/2006/relationships/slide" Target="slides/slide175.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196" Type="http://schemas.openxmlformats.org/officeDocument/2006/relationships/slide" Target="slides/slide191.xml"/><Relationship Id="rId200" Type="http://schemas.openxmlformats.org/officeDocument/2006/relationships/slide" Target="slides/slide195.xml"/><Relationship Id="rId16" Type="http://schemas.openxmlformats.org/officeDocument/2006/relationships/slide" Target="slides/slide11.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186" Type="http://schemas.openxmlformats.org/officeDocument/2006/relationships/slide" Target="slides/slide181.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slide" Target="slides/slide171.xml"/><Relationship Id="rId197" Type="http://schemas.openxmlformats.org/officeDocument/2006/relationships/slide" Target="slides/slide192.xml"/><Relationship Id="rId201" Type="http://schemas.openxmlformats.org/officeDocument/2006/relationships/slide" Target="slides/slide196.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87" Type="http://schemas.openxmlformats.org/officeDocument/2006/relationships/slide" Target="slides/slide182.xml"/><Relationship Id="rId1" Type="http://schemas.openxmlformats.org/officeDocument/2006/relationships/slideMaster" Target="slideMasters/slideMaster1.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60" Type="http://schemas.openxmlformats.org/officeDocument/2006/relationships/slide" Target="slides/slide55.xml"/><Relationship Id="rId81" Type="http://schemas.openxmlformats.org/officeDocument/2006/relationships/slide" Target="slides/slide76.xml"/><Relationship Id="rId135" Type="http://schemas.openxmlformats.org/officeDocument/2006/relationships/slide" Target="slides/slide130.xml"/><Relationship Id="rId156" Type="http://schemas.openxmlformats.org/officeDocument/2006/relationships/slide" Target="slides/slide151.xml"/><Relationship Id="rId177" Type="http://schemas.openxmlformats.org/officeDocument/2006/relationships/slide" Target="slides/slide172.xml"/><Relationship Id="rId198" Type="http://schemas.openxmlformats.org/officeDocument/2006/relationships/slide" Target="slides/slide193.xml"/><Relationship Id="rId202" Type="http://schemas.openxmlformats.org/officeDocument/2006/relationships/notesMaster" Target="notesMasters/notesMaster1.xml"/><Relationship Id="rId18" Type="http://schemas.openxmlformats.org/officeDocument/2006/relationships/slide" Target="slides/slide13.xml"/><Relationship Id="rId39" Type="http://schemas.openxmlformats.org/officeDocument/2006/relationships/slide" Target="slides/slide34.xml"/><Relationship Id="rId50" Type="http://schemas.openxmlformats.org/officeDocument/2006/relationships/slide" Target="slides/slide45.xml"/><Relationship Id="rId104" Type="http://schemas.openxmlformats.org/officeDocument/2006/relationships/slide" Target="slides/slide99.xml"/><Relationship Id="rId125" Type="http://schemas.openxmlformats.org/officeDocument/2006/relationships/slide" Target="slides/slide120.xml"/><Relationship Id="rId146" Type="http://schemas.openxmlformats.org/officeDocument/2006/relationships/slide" Target="slides/slide141.xml"/><Relationship Id="rId167" Type="http://schemas.openxmlformats.org/officeDocument/2006/relationships/slide" Target="slides/slide162.xml"/><Relationship Id="rId188" Type="http://schemas.openxmlformats.org/officeDocument/2006/relationships/slide" Target="slides/slide183.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s>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7B6C9D-D469-4648-A923-5289FC0F9BBF}" type="doc">
      <dgm:prSet loTypeId="urn:microsoft.com/office/officeart/2005/8/layout/default#1" loCatId="list" qsTypeId="urn:microsoft.com/office/officeart/2005/8/quickstyle/simple2" qsCatId="simple" csTypeId="urn:microsoft.com/office/officeart/2005/8/colors/colorful1#2" csCatId="colorful" phldr="1"/>
      <dgm:spPr/>
      <dgm:t>
        <a:bodyPr/>
        <a:lstStyle/>
        <a:p>
          <a:endParaRPr lang="en-IN"/>
        </a:p>
      </dgm:t>
    </dgm:pt>
    <dgm:pt modelId="{2DDD4C25-F46E-4EF5-9038-4CBB68ACA68F}">
      <dgm:prSet phldrT="[Text]" custT="1"/>
      <dgm:spPr/>
      <dgm:t>
        <a:bodyPr/>
        <a:lstStyle/>
        <a:p>
          <a:r>
            <a:rPr lang="en-IN" sz="1800" dirty="0">
              <a:latin typeface="Times New Roman" panose="02020603050405020304" pitchFamily="18" charset="0"/>
              <a:cs typeface="Times New Roman" panose="02020603050405020304" pitchFamily="18" charset="0"/>
            </a:rPr>
            <a:t>Top-Down parsing is equivalent to left-most derivation</a:t>
          </a:r>
        </a:p>
      </dgm:t>
    </dgm:pt>
    <dgm:pt modelId="{1521577D-6EA4-4A23-846A-A39B8FF6624B}" type="parTrans" cxnId="{CA690DB4-E17C-4A69-9BA5-A5F2342B9CF9}">
      <dgm:prSet/>
      <dgm:spPr/>
      <dgm:t>
        <a:bodyPr/>
        <a:lstStyle/>
        <a:p>
          <a:endParaRPr lang="en-IN"/>
        </a:p>
      </dgm:t>
    </dgm:pt>
    <dgm:pt modelId="{F10A87CF-66C3-44A1-9561-D15F9847424E}" type="sibTrans" cxnId="{CA690DB4-E17C-4A69-9BA5-A5F2342B9CF9}">
      <dgm:prSet/>
      <dgm:spPr/>
      <dgm:t>
        <a:bodyPr/>
        <a:lstStyle/>
        <a:p>
          <a:endParaRPr lang="en-IN"/>
        </a:p>
      </dgm:t>
    </dgm:pt>
    <dgm:pt modelId="{28BC49CA-D961-4AD0-B8C9-A5FC589FE6CB}">
      <dgm:prSet phldrT="[Text]" custT="1"/>
      <dgm:spPr/>
      <dgm:t>
        <a:bodyPr/>
        <a:lstStyle/>
        <a:p>
          <a:r>
            <a:rPr lang="en-IN" sz="1800" dirty="0">
              <a:latin typeface="Times New Roman" panose="02020603050405020304" pitchFamily="18" charset="0"/>
              <a:cs typeface="Times New Roman" panose="02020603050405020304" pitchFamily="18" charset="0"/>
            </a:rPr>
            <a:t>Bottom-Up parsing is equivalent to reverse of right most derivation</a:t>
          </a:r>
        </a:p>
      </dgm:t>
    </dgm:pt>
    <dgm:pt modelId="{13EDF841-DECC-42F1-864B-9220A7D435BF}" type="parTrans" cxnId="{D5ACE133-8AEF-4362-9F1B-7742F0489330}">
      <dgm:prSet/>
      <dgm:spPr/>
      <dgm:t>
        <a:bodyPr/>
        <a:lstStyle/>
        <a:p>
          <a:endParaRPr lang="en-IN"/>
        </a:p>
      </dgm:t>
    </dgm:pt>
    <dgm:pt modelId="{6DC228B5-3066-41C9-981E-68BD4B3EF2EB}" type="sibTrans" cxnId="{D5ACE133-8AEF-4362-9F1B-7742F0489330}">
      <dgm:prSet/>
      <dgm:spPr/>
      <dgm:t>
        <a:bodyPr/>
        <a:lstStyle/>
        <a:p>
          <a:endParaRPr lang="en-IN"/>
        </a:p>
      </dgm:t>
    </dgm:pt>
    <dgm:pt modelId="{1B436C4F-8F09-451B-A613-0A25B27EF535}" type="pres">
      <dgm:prSet presAssocID="{047B6C9D-D469-4648-A923-5289FC0F9BBF}" presName="diagram" presStyleCnt="0">
        <dgm:presLayoutVars>
          <dgm:dir/>
          <dgm:resizeHandles val="exact"/>
        </dgm:presLayoutVars>
      </dgm:prSet>
      <dgm:spPr/>
      <dgm:t>
        <a:bodyPr/>
        <a:lstStyle/>
        <a:p>
          <a:endParaRPr lang="en-US"/>
        </a:p>
      </dgm:t>
    </dgm:pt>
    <dgm:pt modelId="{59018576-0523-40B6-90C0-5B35F7D50B64}" type="pres">
      <dgm:prSet presAssocID="{2DDD4C25-F46E-4EF5-9038-4CBB68ACA68F}" presName="node" presStyleLbl="node1" presStyleIdx="0" presStyleCnt="2" custScaleX="206107">
        <dgm:presLayoutVars>
          <dgm:bulletEnabled val="1"/>
        </dgm:presLayoutVars>
      </dgm:prSet>
      <dgm:spPr/>
      <dgm:t>
        <a:bodyPr/>
        <a:lstStyle/>
        <a:p>
          <a:endParaRPr lang="en-US"/>
        </a:p>
      </dgm:t>
    </dgm:pt>
    <dgm:pt modelId="{AC54979E-5796-460F-94E5-77EBAE2B7D5E}" type="pres">
      <dgm:prSet presAssocID="{F10A87CF-66C3-44A1-9561-D15F9847424E}" presName="sibTrans" presStyleCnt="0"/>
      <dgm:spPr/>
    </dgm:pt>
    <dgm:pt modelId="{C4C08D22-64C0-48F7-BB9A-3E0CE200D25D}" type="pres">
      <dgm:prSet presAssocID="{28BC49CA-D961-4AD0-B8C9-A5FC589FE6CB}" presName="node" presStyleLbl="node1" presStyleIdx="1" presStyleCnt="2" custScaleX="207430" custScaleY="93609">
        <dgm:presLayoutVars>
          <dgm:bulletEnabled val="1"/>
        </dgm:presLayoutVars>
      </dgm:prSet>
      <dgm:spPr/>
      <dgm:t>
        <a:bodyPr/>
        <a:lstStyle/>
        <a:p>
          <a:endParaRPr lang="en-US"/>
        </a:p>
      </dgm:t>
    </dgm:pt>
  </dgm:ptLst>
  <dgm:cxnLst>
    <dgm:cxn modelId="{D6D68C80-C50D-4EA7-89D4-4E67EB2E8C07}" type="presOf" srcId="{28BC49CA-D961-4AD0-B8C9-A5FC589FE6CB}" destId="{C4C08D22-64C0-48F7-BB9A-3E0CE200D25D}" srcOrd="0" destOrd="0" presId="urn:microsoft.com/office/officeart/2005/8/layout/default#1"/>
    <dgm:cxn modelId="{CA690DB4-E17C-4A69-9BA5-A5F2342B9CF9}" srcId="{047B6C9D-D469-4648-A923-5289FC0F9BBF}" destId="{2DDD4C25-F46E-4EF5-9038-4CBB68ACA68F}" srcOrd="0" destOrd="0" parTransId="{1521577D-6EA4-4A23-846A-A39B8FF6624B}" sibTransId="{F10A87CF-66C3-44A1-9561-D15F9847424E}"/>
    <dgm:cxn modelId="{E4DEF149-4E7F-4408-BA1A-92BEAE8768F5}" type="presOf" srcId="{2DDD4C25-F46E-4EF5-9038-4CBB68ACA68F}" destId="{59018576-0523-40B6-90C0-5B35F7D50B64}" srcOrd="0" destOrd="0" presId="urn:microsoft.com/office/officeart/2005/8/layout/default#1"/>
    <dgm:cxn modelId="{D5ACE133-8AEF-4362-9F1B-7742F0489330}" srcId="{047B6C9D-D469-4648-A923-5289FC0F9BBF}" destId="{28BC49CA-D961-4AD0-B8C9-A5FC589FE6CB}" srcOrd="1" destOrd="0" parTransId="{13EDF841-DECC-42F1-864B-9220A7D435BF}" sibTransId="{6DC228B5-3066-41C9-981E-68BD4B3EF2EB}"/>
    <dgm:cxn modelId="{F35BC1E3-779A-4777-AD6E-29967D3BDDFB}" type="presOf" srcId="{047B6C9D-D469-4648-A923-5289FC0F9BBF}" destId="{1B436C4F-8F09-451B-A613-0A25B27EF535}" srcOrd="0" destOrd="0" presId="urn:microsoft.com/office/officeart/2005/8/layout/default#1"/>
    <dgm:cxn modelId="{D88A186F-3A31-41DD-B495-77E2DE5A4E6C}" type="presParOf" srcId="{1B436C4F-8F09-451B-A613-0A25B27EF535}" destId="{59018576-0523-40B6-90C0-5B35F7D50B64}" srcOrd="0" destOrd="0" presId="urn:microsoft.com/office/officeart/2005/8/layout/default#1"/>
    <dgm:cxn modelId="{840593BB-B0FD-45E9-AD40-943D4D22DD11}" type="presParOf" srcId="{1B436C4F-8F09-451B-A613-0A25B27EF535}" destId="{AC54979E-5796-460F-94E5-77EBAE2B7D5E}" srcOrd="1" destOrd="0" presId="urn:microsoft.com/office/officeart/2005/8/layout/default#1"/>
    <dgm:cxn modelId="{40546D1E-F0D4-4F79-B5CF-A957DD78021A}" type="presParOf" srcId="{1B436C4F-8F09-451B-A613-0A25B27EF535}" destId="{C4C08D22-64C0-48F7-BB9A-3E0CE200D25D}" srcOrd="2"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334A35B-BA56-4727-AD1F-DE1B8CE0DD2F}" type="doc">
      <dgm:prSet loTypeId="urn:microsoft.com/office/officeart/2005/8/layout/list1" loCatId="list" qsTypeId="urn:microsoft.com/office/officeart/2005/8/quickstyle/simple1" qsCatId="simple" csTypeId="urn:microsoft.com/office/officeart/2005/8/colors/colorful1#4" csCatId="colorful" phldr="1"/>
      <dgm:spPr/>
      <dgm:t>
        <a:bodyPr/>
        <a:lstStyle/>
        <a:p>
          <a:endParaRPr lang="en-IN"/>
        </a:p>
      </dgm:t>
    </dgm:pt>
    <dgm:pt modelId="{DE94CD20-6B2A-4361-986A-36D3AA3D2117}">
      <dgm:prSet custT="1"/>
      <dgm:spPr/>
      <dgm:t>
        <a:bodyPr/>
        <a:lstStyle/>
        <a:p>
          <a:r>
            <a:rPr lang="en-US" altLang="en-US" sz="2000" b="1" dirty="0">
              <a:latin typeface="Times New Roman" panose="02020603050405020304" pitchFamily="18" charset="0"/>
              <a:cs typeface="Times New Roman" panose="02020603050405020304" pitchFamily="18" charset="0"/>
            </a:rPr>
            <a:t>First (X):- </a:t>
          </a:r>
          <a:endParaRPr lang="en-IN" sz="2000" dirty="0"/>
        </a:p>
      </dgm:t>
    </dgm:pt>
    <dgm:pt modelId="{7BF55867-1397-4456-838F-C84F4BE64B68}" type="parTrans" cxnId="{753DFE9D-85B5-4CEE-B463-16A4CD771019}">
      <dgm:prSet/>
      <dgm:spPr/>
      <dgm:t>
        <a:bodyPr/>
        <a:lstStyle/>
        <a:p>
          <a:endParaRPr lang="en-IN"/>
        </a:p>
      </dgm:t>
    </dgm:pt>
    <dgm:pt modelId="{CA287E52-A976-45E7-98A0-D2D7E94F2DBC}" type="sibTrans" cxnId="{753DFE9D-85B5-4CEE-B463-16A4CD771019}">
      <dgm:prSet/>
      <dgm:spPr/>
      <dgm:t>
        <a:bodyPr/>
        <a:lstStyle/>
        <a:p>
          <a:endParaRPr lang="en-IN"/>
        </a:p>
      </dgm:t>
    </dgm:pt>
    <dgm:pt modelId="{45DD30D2-BF0A-4453-99AF-78275C909775}">
      <dgm:prSet custT="1"/>
      <dgm:spPr/>
      <dgm:t>
        <a:bodyPr/>
        <a:lstStyle/>
        <a:p>
          <a:pPr>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It is used for finding the set of all terminals that begins the strings derive from the given grammar symbol.</a:t>
          </a:r>
          <a:endParaRPr lang="en-IN" sz="1800" dirty="0"/>
        </a:p>
      </dgm:t>
    </dgm:pt>
    <dgm:pt modelId="{CBFBA6E9-3898-478E-B31E-4B2727AA93A2}" type="parTrans" cxnId="{065FCB51-54C9-421C-832E-6754A19917EB}">
      <dgm:prSet/>
      <dgm:spPr/>
      <dgm:t>
        <a:bodyPr/>
        <a:lstStyle/>
        <a:p>
          <a:endParaRPr lang="en-IN"/>
        </a:p>
      </dgm:t>
    </dgm:pt>
    <dgm:pt modelId="{7FCD26B1-AD8E-407B-96E5-D7C45D316AE8}" type="sibTrans" cxnId="{065FCB51-54C9-421C-832E-6754A19917EB}">
      <dgm:prSet/>
      <dgm:spPr/>
      <dgm:t>
        <a:bodyPr/>
        <a:lstStyle/>
        <a:p>
          <a:endParaRPr lang="en-IN"/>
        </a:p>
      </dgm:t>
    </dgm:pt>
    <dgm:pt modelId="{4C358C55-CD3A-4DC0-97D3-3E8842FB19A6}">
      <dgm:prSet custT="1"/>
      <dgm:spPr/>
      <dgm:t>
        <a:bodyPr/>
        <a:lstStyle/>
        <a:p>
          <a:r>
            <a:rPr lang="en-US" altLang="en-US" sz="2000" b="1" dirty="0">
              <a:latin typeface="Times New Roman" panose="02020603050405020304" pitchFamily="18" charset="0"/>
              <a:cs typeface="Times New Roman" panose="02020603050405020304" pitchFamily="18" charset="0"/>
            </a:rPr>
            <a:t>Follow (X):-</a:t>
          </a:r>
          <a:endParaRPr lang="en-IN" sz="2000" dirty="0"/>
        </a:p>
      </dgm:t>
    </dgm:pt>
    <dgm:pt modelId="{0FD66995-BF2B-4C78-A641-DC7C35B35EAB}" type="parTrans" cxnId="{1F6E6896-FBEA-42F5-8672-02C7F5B448C7}">
      <dgm:prSet/>
      <dgm:spPr/>
      <dgm:t>
        <a:bodyPr/>
        <a:lstStyle/>
        <a:p>
          <a:endParaRPr lang="en-IN"/>
        </a:p>
      </dgm:t>
    </dgm:pt>
    <dgm:pt modelId="{3A779044-7D64-48C6-B7B8-763467CCB1E6}" type="sibTrans" cxnId="{1F6E6896-FBEA-42F5-8672-02C7F5B448C7}">
      <dgm:prSet/>
      <dgm:spPr/>
      <dgm:t>
        <a:bodyPr/>
        <a:lstStyle/>
        <a:p>
          <a:endParaRPr lang="en-IN"/>
        </a:p>
      </dgm:t>
    </dgm:pt>
    <dgm:pt modelId="{7D939D47-75C2-4213-A347-202EEF72B88E}">
      <dgm:prSet custT="1"/>
      <dgm:spPr/>
      <dgm:t>
        <a:bodyPr/>
        <a:lstStyle/>
        <a:p>
          <a:r>
            <a:rPr lang="en-US" altLang="en-US" sz="1800" dirty="0">
              <a:latin typeface="Times New Roman" panose="02020603050405020304" pitchFamily="18" charset="0"/>
              <a:cs typeface="Times New Roman" panose="02020603050405020304" pitchFamily="18" charset="0"/>
            </a:rPr>
            <a:t>Set of Terminals that appear immediately to the right of X</a:t>
          </a:r>
          <a:endParaRPr lang="en-IN" sz="1800" dirty="0"/>
        </a:p>
      </dgm:t>
    </dgm:pt>
    <dgm:pt modelId="{22A8648B-22CC-45E2-9B16-8E9C60F1B709}" type="parTrans" cxnId="{7A3CCE21-C440-4A78-A980-DB4C6D1A5E0F}">
      <dgm:prSet/>
      <dgm:spPr/>
      <dgm:t>
        <a:bodyPr/>
        <a:lstStyle/>
        <a:p>
          <a:endParaRPr lang="en-IN"/>
        </a:p>
      </dgm:t>
    </dgm:pt>
    <dgm:pt modelId="{8441E936-733B-4ECD-B380-5D016698BE36}" type="sibTrans" cxnId="{7A3CCE21-C440-4A78-A980-DB4C6D1A5E0F}">
      <dgm:prSet/>
      <dgm:spPr/>
      <dgm:t>
        <a:bodyPr/>
        <a:lstStyle/>
        <a:p>
          <a:endParaRPr lang="en-IN"/>
        </a:p>
      </dgm:t>
    </dgm:pt>
    <dgm:pt modelId="{34BE5849-C187-437B-AEA8-6EA6D2FD7B2D}" type="pres">
      <dgm:prSet presAssocID="{3334A35B-BA56-4727-AD1F-DE1B8CE0DD2F}" presName="linear" presStyleCnt="0">
        <dgm:presLayoutVars>
          <dgm:dir/>
          <dgm:animLvl val="lvl"/>
          <dgm:resizeHandles val="exact"/>
        </dgm:presLayoutVars>
      </dgm:prSet>
      <dgm:spPr/>
      <dgm:t>
        <a:bodyPr/>
        <a:lstStyle/>
        <a:p>
          <a:endParaRPr lang="en-US"/>
        </a:p>
      </dgm:t>
    </dgm:pt>
    <dgm:pt modelId="{88F5F5A6-DBDD-4E0E-B486-E2E9187A89AA}" type="pres">
      <dgm:prSet presAssocID="{DE94CD20-6B2A-4361-986A-36D3AA3D2117}" presName="parentLin" presStyleCnt="0"/>
      <dgm:spPr/>
    </dgm:pt>
    <dgm:pt modelId="{34DD97E5-C6AE-42D5-A344-92A325A47418}" type="pres">
      <dgm:prSet presAssocID="{DE94CD20-6B2A-4361-986A-36D3AA3D2117}" presName="parentLeftMargin" presStyleLbl="node1" presStyleIdx="0" presStyleCnt="2"/>
      <dgm:spPr/>
      <dgm:t>
        <a:bodyPr/>
        <a:lstStyle/>
        <a:p>
          <a:endParaRPr lang="en-US"/>
        </a:p>
      </dgm:t>
    </dgm:pt>
    <dgm:pt modelId="{92F35EFB-F562-406C-B261-3CD4E2A1FBCD}" type="pres">
      <dgm:prSet presAssocID="{DE94CD20-6B2A-4361-986A-36D3AA3D2117}" presName="parentText" presStyleLbl="node1" presStyleIdx="0" presStyleCnt="2">
        <dgm:presLayoutVars>
          <dgm:chMax val="0"/>
          <dgm:bulletEnabled val="1"/>
        </dgm:presLayoutVars>
      </dgm:prSet>
      <dgm:spPr/>
      <dgm:t>
        <a:bodyPr/>
        <a:lstStyle/>
        <a:p>
          <a:endParaRPr lang="en-US"/>
        </a:p>
      </dgm:t>
    </dgm:pt>
    <dgm:pt modelId="{F82BF6C8-A388-416C-B044-B36B2F2803DA}" type="pres">
      <dgm:prSet presAssocID="{DE94CD20-6B2A-4361-986A-36D3AA3D2117}" presName="negativeSpace" presStyleCnt="0"/>
      <dgm:spPr/>
    </dgm:pt>
    <dgm:pt modelId="{6166C0B9-3476-4A80-9788-4E9E252F6CCF}" type="pres">
      <dgm:prSet presAssocID="{DE94CD20-6B2A-4361-986A-36D3AA3D2117}" presName="childText" presStyleLbl="conFgAcc1" presStyleIdx="0" presStyleCnt="2">
        <dgm:presLayoutVars>
          <dgm:bulletEnabled val="1"/>
        </dgm:presLayoutVars>
      </dgm:prSet>
      <dgm:spPr/>
      <dgm:t>
        <a:bodyPr/>
        <a:lstStyle/>
        <a:p>
          <a:endParaRPr lang="en-US"/>
        </a:p>
      </dgm:t>
    </dgm:pt>
    <dgm:pt modelId="{F0CAAF0F-9F71-4D7B-8851-9BE09F7E74D4}" type="pres">
      <dgm:prSet presAssocID="{CA287E52-A976-45E7-98A0-D2D7E94F2DBC}" presName="spaceBetweenRectangles" presStyleCnt="0"/>
      <dgm:spPr/>
    </dgm:pt>
    <dgm:pt modelId="{FBB3FF81-0950-42F0-ACEB-A4E7EEF33D40}" type="pres">
      <dgm:prSet presAssocID="{4C358C55-CD3A-4DC0-97D3-3E8842FB19A6}" presName="parentLin" presStyleCnt="0"/>
      <dgm:spPr/>
    </dgm:pt>
    <dgm:pt modelId="{B969D7A2-0224-48E7-842B-85AACB5251E9}" type="pres">
      <dgm:prSet presAssocID="{4C358C55-CD3A-4DC0-97D3-3E8842FB19A6}" presName="parentLeftMargin" presStyleLbl="node1" presStyleIdx="0" presStyleCnt="2"/>
      <dgm:spPr/>
      <dgm:t>
        <a:bodyPr/>
        <a:lstStyle/>
        <a:p>
          <a:endParaRPr lang="en-US"/>
        </a:p>
      </dgm:t>
    </dgm:pt>
    <dgm:pt modelId="{6F544BAE-1CBB-4A51-B362-EA6BE4EB7C96}" type="pres">
      <dgm:prSet presAssocID="{4C358C55-CD3A-4DC0-97D3-3E8842FB19A6}" presName="parentText" presStyleLbl="node1" presStyleIdx="1" presStyleCnt="2">
        <dgm:presLayoutVars>
          <dgm:chMax val="0"/>
          <dgm:bulletEnabled val="1"/>
        </dgm:presLayoutVars>
      </dgm:prSet>
      <dgm:spPr/>
      <dgm:t>
        <a:bodyPr/>
        <a:lstStyle/>
        <a:p>
          <a:endParaRPr lang="en-US"/>
        </a:p>
      </dgm:t>
    </dgm:pt>
    <dgm:pt modelId="{343E2595-B27F-4D06-83B6-83D86ADA0A5F}" type="pres">
      <dgm:prSet presAssocID="{4C358C55-CD3A-4DC0-97D3-3E8842FB19A6}" presName="negativeSpace" presStyleCnt="0"/>
      <dgm:spPr/>
    </dgm:pt>
    <dgm:pt modelId="{A99D5A51-B955-45A9-9A6E-A10C1A19D964}" type="pres">
      <dgm:prSet presAssocID="{4C358C55-CD3A-4DC0-97D3-3E8842FB19A6}" presName="childText" presStyleLbl="conFgAcc1" presStyleIdx="1" presStyleCnt="2">
        <dgm:presLayoutVars>
          <dgm:bulletEnabled val="1"/>
        </dgm:presLayoutVars>
      </dgm:prSet>
      <dgm:spPr/>
      <dgm:t>
        <a:bodyPr/>
        <a:lstStyle/>
        <a:p>
          <a:endParaRPr lang="en-US"/>
        </a:p>
      </dgm:t>
    </dgm:pt>
  </dgm:ptLst>
  <dgm:cxnLst>
    <dgm:cxn modelId="{6B6A4D73-B026-4821-B027-18A377CC1553}" type="presOf" srcId="{45DD30D2-BF0A-4453-99AF-78275C909775}" destId="{6166C0B9-3476-4A80-9788-4E9E252F6CCF}" srcOrd="0" destOrd="0" presId="urn:microsoft.com/office/officeart/2005/8/layout/list1"/>
    <dgm:cxn modelId="{7A3CCE21-C440-4A78-A980-DB4C6D1A5E0F}" srcId="{4C358C55-CD3A-4DC0-97D3-3E8842FB19A6}" destId="{7D939D47-75C2-4213-A347-202EEF72B88E}" srcOrd="0" destOrd="0" parTransId="{22A8648B-22CC-45E2-9B16-8E9C60F1B709}" sibTransId="{8441E936-733B-4ECD-B380-5D016698BE36}"/>
    <dgm:cxn modelId="{55C40DB7-FEDE-4169-9C4A-9E7C8102643E}" type="presOf" srcId="{4C358C55-CD3A-4DC0-97D3-3E8842FB19A6}" destId="{6F544BAE-1CBB-4A51-B362-EA6BE4EB7C96}" srcOrd="1" destOrd="0" presId="urn:microsoft.com/office/officeart/2005/8/layout/list1"/>
    <dgm:cxn modelId="{8583174A-7C6F-4DF5-8936-A3035429B515}" type="presOf" srcId="{4C358C55-CD3A-4DC0-97D3-3E8842FB19A6}" destId="{B969D7A2-0224-48E7-842B-85AACB5251E9}" srcOrd="0" destOrd="0" presId="urn:microsoft.com/office/officeart/2005/8/layout/list1"/>
    <dgm:cxn modelId="{1F6E6896-FBEA-42F5-8672-02C7F5B448C7}" srcId="{3334A35B-BA56-4727-AD1F-DE1B8CE0DD2F}" destId="{4C358C55-CD3A-4DC0-97D3-3E8842FB19A6}" srcOrd="1" destOrd="0" parTransId="{0FD66995-BF2B-4C78-A641-DC7C35B35EAB}" sibTransId="{3A779044-7D64-48C6-B7B8-763467CCB1E6}"/>
    <dgm:cxn modelId="{64F9C0ED-4F4B-4017-A898-51E7B85D2893}" type="presOf" srcId="{3334A35B-BA56-4727-AD1F-DE1B8CE0DD2F}" destId="{34BE5849-C187-437B-AEA8-6EA6D2FD7B2D}" srcOrd="0" destOrd="0" presId="urn:microsoft.com/office/officeart/2005/8/layout/list1"/>
    <dgm:cxn modelId="{9E2C0574-01C8-446A-9D09-14A4A497DED5}" type="presOf" srcId="{DE94CD20-6B2A-4361-986A-36D3AA3D2117}" destId="{34DD97E5-C6AE-42D5-A344-92A325A47418}" srcOrd="0" destOrd="0" presId="urn:microsoft.com/office/officeart/2005/8/layout/list1"/>
    <dgm:cxn modelId="{065FCB51-54C9-421C-832E-6754A19917EB}" srcId="{DE94CD20-6B2A-4361-986A-36D3AA3D2117}" destId="{45DD30D2-BF0A-4453-99AF-78275C909775}" srcOrd="0" destOrd="0" parTransId="{CBFBA6E9-3898-478E-B31E-4B2727AA93A2}" sibTransId="{7FCD26B1-AD8E-407B-96E5-D7C45D316AE8}"/>
    <dgm:cxn modelId="{137A956F-150F-42AE-AFD2-6DBA3FE00728}" type="presOf" srcId="{DE94CD20-6B2A-4361-986A-36D3AA3D2117}" destId="{92F35EFB-F562-406C-B261-3CD4E2A1FBCD}" srcOrd="1" destOrd="0" presId="urn:microsoft.com/office/officeart/2005/8/layout/list1"/>
    <dgm:cxn modelId="{D57359A1-B0B8-4D27-9501-FFCE13C006C5}" type="presOf" srcId="{7D939D47-75C2-4213-A347-202EEF72B88E}" destId="{A99D5A51-B955-45A9-9A6E-A10C1A19D964}" srcOrd="0" destOrd="0" presId="urn:microsoft.com/office/officeart/2005/8/layout/list1"/>
    <dgm:cxn modelId="{753DFE9D-85B5-4CEE-B463-16A4CD771019}" srcId="{3334A35B-BA56-4727-AD1F-DE1B8CE0DD2F}" destId="{DE94CD20-6B2A-4361-986A-36D3AA3D2117}" srcOrd="0" destOrd="0" parTransId="{7BF55867-1397-4456-838F-C84F4BE64B68}" sibTransId="{CA287E52-A976-45E7-98A0-D2D7E94F2DBC}"/>
    <dgm:cxn modelId="{F4DDDFE1-0074-44E2-87D4-37765173D0D9}" type="presParOf" srcId="{34BE5849-C187-437B-AEA8-6EA6D2FD7B2D}" destId="{88F5F5A6-DBDD-4E0E-B486-E2E9187A89AA}" srcOrd="0" destOrd="0" presId="urn:microsoft.com/office/officeart/2005/8/layout/list1"/>
    <dgm:cxn modelId="{30D98186-F797-4223-9063-583C054EBDDF}" type="presParOf" srcId="{88F5F5A6-DBDD-4E0E-B486-E2E9187A89AA}" destId="{34DD97E5-C6AE-42D5-A344-92A325A47418}" srcOrd="0" destOrd="0" presId="urn:microsoft.com/office/officeart/2005/8/layout/list1"/>
    <dgm:cxn modelId="{40A71E05-3B10-42CC-8F20-9453316B71EB}" type="presParOf" srcId="{88F5F5A6-DBDD-4E0E-B486-E2E9187A89AA}" destId="{92F35EFB-F562-406C-B261-3CD4E2A1FBCD}" srcOrd="1" destOrd="0" presId="urn:microsoft.com/office/officeart/2005/8/layout/list1"/>
    <dgm:cxn modelId="{F2CFC92D-5DEB-420E-9028-51EFEDD05099}" type="presParOf" srcId="{34BE5849-C187-437B-AEA8-6EA6D2FD7B2D}" destId="{F82BF6C8-A388-416C-B044-B36B2F2803DA}" srcOrd="1" destOrd="0" presId="urn:microsoft.com/office/officeart/2005/8/layout/list1"/>
    <dgm:cxn modelId="{F6240A72-2AF9-4F50-A878-4ABB0314E355}" type="presParOf" srcId="{34BE5849-C187-437B-AEA8-6EA6D2FD7B2D}" destId="{6166C0B9-3476-4A80-9788-4E9E252F6CCF}" srcOrd="2" destOrd="0" presId="urn:microsoft.com/office/officeart/2005/8/layout/list1"/>
    <dgm:cxn modelId="{C52A4392-0460-4BD1-8D31-5A98A80A723F}" type="presParOf" srcId="{34BE5849-C187-437B-AEA8-6EA6D2FD7B2D}" destId="{F0CAAF0F-9F71-4D7B-8851-9BE09F7E74D4}" srcOrd="3" destOrd="0" presId="urn:microsoft.com/office/officeart/2005/8/layout/list1"/>
    <dgm:cxn modelId="{46127870-9333-4E0C-9D19-406DDC270A64}" type="presParOf" srcId="{34BE5849-C187-437B-AEA8-6EA6D2FD7B2D}" destId="{FBB3FF81-0950-42F0-ACEB-A4E7EEF33D40}" srcOrd="4" destOrd="0" presId="urn:microsoft.com/office/officeart/2005/8/layout/list1"/>
    <dgm:cxn modelId="{3E7D7364-9922-490A-A7F6-1179F0C60AC9}" type="presParOf" srcId="{FBB3FF81-0950-42F0-ACEB-A4E7EEF33D40}" destId="{B969D7A2-0224-48E7-842B-85AACB5251E9}" srcOrd="0" destOrd="0" presId="urn:microsoft.com/office/officeart/2005/8/layout/list1"/>
    <dgm:cxn modelId="{04B7C990-32DC-4CAC-950D-2EDDF9BF9771}" type="presParOf" srcId="{FBB3FF81-0950-42F0-ACEB-A4E7EEF33D40}" destId="{6F544BAE-1CBB-4A51-B362-EA6BE4EB7C96}" srcOrd="1" destOrd="0" presId="urn:microsoft.com/office/officeart/2005/8/layout/list1"/>
    <dgm:cxn modelId="{CDFC87B1-6D06-4CB4-9F6C-23EAE5A42BE4}" type="presParOf" srcId="{34BE5849-C187-437B-AEA8-6EA6D2FD7B2D}" destId="{343E2595-B27F-4D06-83B6-83D86ADA0A5F}" srcOrd="5" destOrd="0" presId="urn:microsoft.com/office/officeart/2005/8/layout/list1"/>
    <dgm:cxn modelId="{BD685423-820A-4060-80D4-99F8F17FADBF}" type="presParOf" srcId="{34BE5849-C187-437B-AEA8-6EA6D2FD7B2D}" destId="{A99D5A51-B955-45A9-9A6E-A10C1A19D964}"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BF1766D-55FA-4A29-A1C0-720B9BF4897E}" type="doc">
      <dgm:prSet loTypeId="urn:diagrams.loki3.com/VaryingWidthList" loCatId="list" qsTypeId="urn:microsoft.com/office/officeart/2005/8/quickstyle/simple3" qsCatId="simple" csTypeId="urn:microsoft.com/office/officeart/2005/8/colors/colorful1#5" csCatId="colorful" phldr="1"/>
      <dgm:spPr/>
    </dgm:pt>
    <dgm:pt modelId="{3CB7CE54-A47D-475A-8E91-F9DA7767D49D}">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the given input string write a context free grammar</a:t>
          </a:r>
          <a:endParaRPr lang="en-IN" sz="1800" dirty="0"/>
        </a:p>
      </dgm:t>
    </dgm:pt>
    <dgm:pt modelId="{AA7BA020-693F-42A6-AE43-B745A2BEB8DA}" type="parTrans" cxnId="{FFE1F75E-55C8-473B-A95A-D761306381DD}">
      <dgm:prSet/>
      <dgm:spPr/>
      <dgm:t>
        <a:bodyPr/>
        <a:lstStyle/>
        <a:p>
          <a:endParaRPr lang="en-IN"/>
        </a:p>
      </dgm:t>
    </dgm:pt>
    <dgm:pt modelId="{A977547C-7880-4947-AD07-702DF7E4F725}" type="sibTrans" cxnId="{FFE1F75E-55C8-473B-A95A-D761306381DD}">
      <dgm:prSet/>
      <dgm:spPr/>
      <dgm:t>
        <a:bodyPr/>
        <a:lstStyle/>
        <a:p>
          <a:endParaRPr lang="en-IN"/>
        </a:p>
      </dgm:t>
    </dgm:pt>
    <dgm:pt modelId="{DD0EE853-26E8-4606-9DE8-6DFC9FFEA4B6}">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the ambiguity of the grammar</a:t>
          </a:r>
          <a:endParaRPr lang="en-IN" sz="1800" dirty="0"/>
        </a:p>
      </dgm:t>
    </dgm:pt>
    <dgm:pt modelId="{EAF7EBEA-76FB-4137-A6C8-DE699650B11E}" type="parTrans" cxnId="{28FB2B40-0878-4567-A9A3-E52218810E8B}">
      <dgm:prSet/>
      <dgm:spPr/>
      <dgm:t>
        <a:bodyPr/>
        <a:lstStyle/>
        <a:p>
          <a:endParaRPr lang="en-IN"/>
        </a:p>
      </dgm:t>
    </dgm:pt>
    <dgm:pt modelId="{72A6C76D-B108-49DE-9D69-362CFB25B796}" type="sibTrans" cxnId="{28FB2B40-0878-4567-A9A3-E52218810E8B}">
      <dgm:prSet/>
      <dgm:spPr/>
      <dgm:t>
        <a:bodyPr/>
        <a:lstStyle/>
        <a:p>
          <a:endParaRPr lang="en-IN"/>
        </a:p>
      </dgm:t>
    </dgm:pt>
    <dgm:pt modelId="{FCE4A4BF-0591-473E-A1CA-7FF9471A1F95}">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 Augment production in the given grammar</a:t>
          </a:r>
          <a:endParaRPr lang="en-IN" sz="1800" dirty="0"/>
        </a:p>
      </dgm:t>
    </dgm:pt>
    <dgm:pt modelId="{AD12FF71-A26E-4268-8D44-9D6E2EE1B9B6}" type="parTrans" cxnId="{5429BB7F-EEB5-4C41-8F9C-77E88E3E3DD2}">
      <dgm:prSet/>
      <dgm:spPr/>
      <dgm:t>
        <a:bodyPr/>
        <a:lstStyle/>
        <a:p>
          <a:endParaRPr lang="en-IN"/>
        </a:p>
      </dgm:t>
    </dgm:pt>
    <dgm:pt modelId="{004717F0-B360-4D2D-B47E-59975ED216D7}" type="sibTrans" cxnId="{5429BB7F-EEB5-4C41-8F9C-77E88E3E3DD2}">
      <dgm:prSet/>
      <dgm:spPr/>
      <dgm:t>
        <a:bodyPr/>
        <a:lstStyle/>
        <a:p>
          <a:endParaRPr lang="en-IN"/>
        </a:p>
      </dgm:t>
    </dgm:pt>
    <dgm:pt modelId="{B64D8740-D9CF-4841-A98F-1C6B0913D6C1}">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Create Canonical collection of LR (0) items</a:t>
          </a:r>
          <a:endParaRPr lang="en-IN" sz="1800" dirty="0"/>
        </a:p>
      </dgm:t>
    </dgm:pt>
    <dgm:pt modelId="{EA91D98D-466C-4CC7-B942-5FE22F23AEAD}" type="parTrans" cxnId="{3EB0915A-5CEA-4E2C-8C8D-228EAC522D7A}">
      <dgm:prSet/>
      <dgm:spPr/>
      <dgm:t>
        <a:bodyPr/>
        <a:lstStyle/>
        <a:p>
          <a:endParaRPr lang="en-IN"/>
        </a:p>
      </dgm:t>
    </dgm:pt>
    <dgm:pt modelId="{4E1022CF-A28C-4E7A-9D0D-093D6AC5897B}" type="sibTrans" cxnId="{3EB0915A-5CEA-4E2C-8C8D-228EAC522D7A}">
      <dgm:prSet/>
      <dgm:spPr/>
      <dgm:t>
        <a:bodyPr/>
        <a:lstStyle/>
        <a:p>
          <a:endParaRPr lang="en-IN"/>
        </a:p>
      </dgm:t>
    </dgm:pt>
    <dgm:pt modelId="{0DCD66D1-82B4-4E85-93BA-AE7CC1D26ACE}">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Draw a data flow diagram (DFD)</a:t>
          </a:r>
          <a:endParaRPr lang="en-IN" sz="1800" dirty="0"/>
        </a:p>
      </dgm:t>
    </dgm:pt>
    <dgm:pt modelId="{A81733E4-1D10-4FB0-A1F3-EA9508F7AFA9}" type="parTrans" cxnId="{900229AF-8858-4B5C-B678-0509866CDC5D}">
      <dgm:prSet/>
      <dgm:spPr/>
      <dgm:t>
        <a:bodyPr/>
        <a:lstStyle/>
        <a:p>
          <a:endParaRPr lang="en-IN"/>
        </a:p>
      </dgm:t>
    </dgm:pt>
    <dgm:pt modelId="{16E427D2-12B6-46D3-91E5-3ABE911E41F6}" type="sibTrans" cxnId="{900229AF-8858-4B5C-B678-0509866CDC5D}">
      <dgm:prSet/>
      <dgm:spPr/>
      <dgm:t>
        <a:bodyPr/>
        <a:lstStyle/>
        <a:p>
          <a:endParaRPr lang="en-IN"/>
        </a:p>
      </dgm:t>
    </dgm:pt>
    <dgm:pt modelId="{C8B8DA95-ABF8-41EA-B953-507262B04070}">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 a LR (0) parsing table</a:t>
          </a:r>
          <a:endParaRPr lang="en-IN" sz="1800" dirty="0"/>
        </a:p>
      </dgm:t>
    </dgm:pt>
    <dgm:pt modelId="{09B9C511-17C3-48C0-857E-34A67AF81BB3}" type="parTrans" cxnId="{39E3CEB9-1DC6-41EA-8EE8-0B354EDE4C42}">
      <dgm:prSet/>
      <dgm:spPr/>
      <dgm:t>
        <a:bodyPr/>
        <a:lstStyle/>
        <a:p>
          <a:endParaRPr lang="en-IN"/>
        </a:p>
      </dgm:t>
    </dgm:pt>
    <dgm:pt modelId="{3DEE5BC4-9EE1-436A-ADDF-497FE73AFE72}" type="sibTrans" cxnId="{39E3CEB9-1DC6-41EA-8EE8-0B354EDE4C42}">
      <dgm:prSet/>
      <dgm:spPr/>
      <dgm:t>
        <a:bodyPr/>
        <a:lstStyle/>
        <a:p>
          <a:endParaRPr lang="en-IN"/>
        </a:p>
      </dgm:t>
    </dgm:pt>
    <dgm:pt modelId="{DB3934EC-8D17-438F-BEF6-37D64071D3C5}" type="pres">
      <dgm:prSet presAssocID="{4BF1766D-55FA-4A29-A1C0-720B9BF4897E}" presName="Name0" presStyleCnt="0">
        <dgm:presLayoutVars>
          <dgm:resizeHandles/>
        </dgm:presLayoutVars>
      </dgm:prSet>
      <dgm:spPr/>
    </dgm:pt>
    <dgm:pt modelId="{9F25FAC8-1248-49FA-AC1F-712EE4B10BDB}" type="pres">
      <dgm:prSet presAssocID="{3CB7CE54-A47D-475A-8E91-F9DA7767D49D}" presName="text" presStyleLbl="node1" presStyleIdx="0" presStyleCnt="6" custScaleX="395859" custScaleY="114287">
        <dgm:presLayoutVars>
          <dgm:bulletEnabled val="1"/>
        </dgm:presLayoutVars>
      </dgm:prSet>
      <dgm:spPr/>
      <dgm:t>
        <a:bodyPr/>
        <a:lstStyle/>
        <a:p>
          <a:endParaRPr lang="en-US"/>
        </a:p>
      </dgm:t>
    </dgm:pt>
    <dgm:pt modelId="{BDFFC85F-4B19-4E21-9A47-5397DBA6A64B}" type="pres">
      <dgm:prSet presAssocID="{A977547C-7880-4947-AD07-702DF7E4F725}" presName="space" presStyleCnt="0"/>
      <dgm:spPr/>
    </dgm:pt>
    <dgm:pt modelId="{AD095392-ECF8-4C90-BAB4-288DA1DDD981}" type="pres">
      <dgm:prSet presAssocID="{DD0EE853-26E8-4606-9DE8-6DFC9FFEA4B6}" presName="text" presStyleLbl="node1" presStyleIdx="1" presStyleCnt="6" custScaleX="287867" custScaleY="73846">
        <dgm:presLayoutVars>
          <dgm:bulletEnabled val="1"/>
        </dgm:presLayoutVars>
      </dgm:prSet>
      <dgm:spPr/>
      <dgm:t>
        <a:bodyPr/>
        <a:lstStyle/>
        <a:p>
          <a:endParaRPr lang="en-US"/>
        </a:p>
      </dgm:t>
    </dgm:pt>
    <dgm:pt modelId="{06D5A043-DBE8-4868-B94E-4AE606C2F279}" type="pres">
      <dgm:prSet presAssocID="{72A6C76D-B108-49DE-9D69-362CFB25B796}" presName="space" presStyleCnt="0"/>
      <dgm:spPr/>
    </dgm:pt>
    <dgm:pt modelId="{AD0C64F8-97DF-4AA8-9DCF-919BF351E2F2}" type="pres">
      <dgm:prSet presAssocID="{FCE4A4BF-0591-473E-A1CA-7FF9471A1F95}" presName="text" presStyleLbl="node1" presStyleIdx="2" presStyleCnt="6" custScaleX="595586" custScaleY="100999">
        <dgm:presLayoutVars>
          <dgm:bulletEnabled val="1"/>
        </dgm:presLayoutVars>
      </dgm:prSet>
      <dgm:spPr/>
      <dgm:t>
        <a:bodyPr/>
        <a:lstStyle/>
        <a:p>
          <a:endParaRPr lang="en-US"/>
        </a:p>
      </dgm:t>
    </dgm:pt>
    <dgm:pt modelId="{224436B2-D961-417F-8241-CE70055D0B2F}" type="pres">
      <dgm:prSet presAssocID="{004717F0-B360-4D2D-B47E-59975ED216D7}" presName="space" presStyleCnt="0"/>
      <dgm:spPr/>
    </dgm:pt>
    <dgm:pt modelId="{3EB4B33D-038B-4D8A-8F5C-AC14CBE5E5C8}" type="pres">
      <dgm:prSet presAssocID="{B64D8740-D9CF-4841-A98F-1C6B0913D6C1}" presName="text" presStyleLbl="node1" presStyleIdx="3" presStyleCnt="6" custScaleX="595586" custScaleY="110588">
        <dgm:presLayoutVars>
          <dgm:bulletEnabled val="1"/>
        </dgm:presLayoutVars>
      </dgm:prSet>
      <dgm:spPr/>
      <dgm:t>
        <a:bodyPr/>
        <a:lstStyle/>
        <a:p>
          <a:endParaRPr lang="en-US"/>
        </a:p>
      </dgm:t>
    </dgm:pt>
    <dgm:pt modelId="{00DA3E6C-4F23-4634-A290-B109CF2579C6}" type="pres">
      <dgm:prSet presAssocID="{4E1022CF-A28C-4E7A-9D0D-093D6AC5897B}" presName="space" presStyleCnt="0"/>
      <dgm:spPr/>
    </dgm:pt>
    <dgm:pt modelId="{957D2A8B-2292-436E-9957-95856F83205E}" type="pres">
      <dgm:prSet presAssocID="{0DCD66D1-82B4-4E85-93BA-AE7CC1D26ACE}" presName="text" presStyleLbl="node1" presStyleIdx="4" presStyleCnt="6" custScaleX="1046788" custScaleY="138654">
        <dgm:presLayoutVars>
          <dgm:bulletEnabled val="1"/>
        </dgm:presLayoutVars>
      </dgm:prSet>
      <dgm:spPr/>
      <dgm:t>
        <a:bodyPr/>
        <a:lstStyle/>
        <a:p>
          <a:endParaRPr lang="en-US"/>
        </a:p>
      </dgm:t>
    </dgm:pt>
    <dgm:pt modelId="{8B3CE15C-8192-432D-BEDD-060032E69027}" type="pres">
      <dgm:prSet presAssocID="{16E427D2-12B6-46D3-91E5-3ABE911E41F6}" presName="space" presStyleCnt="0"/>
      <dgm:spPr/>
    </dgm:pt>
    <dgm:pt modelId="{729A38A9-5B65-4A88-9A8D-4D88E38259E1}" type="pres">
      <dgm:prSet presAssocID="{C8B8DA95-ABF8-41EA-B953-507262B04070}" presName="text" presStyleLbl="node1" presStyleIdx="5" presStyleCnt="6" custScaleX="785091">
        <dgm:presLayoutVars>
          <dgm:bulletEnabled val="1"/>
        </dgm:presLayoutVars>
      </dgm:prSet>
      <dgm:spPr/>
      <dgm:t>
        <a:bodyPr/>
        <a:lstStyle/>
        <a:p>
          <a:endParaRPr lang="en-US"/>
        </a:p>
      </dgm:t>
    </dgm:pt>
  </dgm:ptLst>
  <dgm:cxnLst>
    <dgm:cxn modelId="{CADF0AB4-26D5-4515-8C6E-3AFAE60594E6}" type="presOf" srcId="{DD0EE853-26E8-4606-9DE8-6DFC9FFEA4B6}" destId="{AD095392-ECF8-4C90-BAB4-288DA1DDD981}" srcOrd="0" destOrd="0" presId="urn:diagrams.loki3.com/VaryingWidthList"/>
    <dgm:cxn modelId="{FFE1F75E-55C8-473B-A95A-D761306381DD}" srcId="{4BF1766D-55FA-4A29-A1C0-720B9BF4897E}" destId="{3CB7CE54-A47D-475A-8E91-F9DA7767D49D}" srcOrd="0" destOrd="0" parTransId="{AA7BA020-693F-42A6-AE43-B745A2BEB8DA}" sibTransId="{A977547C-7880-4947-AD07-702DF7E4F725}"/>
    <dgm:cxn modelId="{3EB0915A-5CEA-4E2C-8C8D-228EAC522D7A}" srcId="{4BF1766D-55FA-4A29-A1C0-720B9BF4897E}" destId="{B64D8740-D9CF-4841-A98F-1C6B0913D6C1}" srcOrd="3" destOrd="0" parTransId="{EA91D98D-466C-4CC7-B942-5FE22F23AEAD}" sibTransId="{4E1022CF-A28C-4E7A-9D0D-093D6AC5897B}"/>
    <dgm:cxn modelId="{474C6599-4C97-40CF-A099-B4B3AD090CA3}" type="presOf" srcId="{B64D8740-D9CF-4841-A98F-1C6B0913D6C1}" destId="{3EB4B33D-038B-4D8A-8F5C-AC14CBE5E5C8}" srcOrd="0" destOrd="0" presId="urn:diagrams.loki3.com/VaryingWidthList"/>
    <dgm:cxn modelId="{28FB2B40-0878-4567-A9A3-E52218810E8B}" srcId="{4BF1766D-55FA-4A29-A1C0-720B9BF4897E}" destId="{DD0EE853-26E8-4606-9DE8-6DFC9FFEA4B6}" srcOrd="1" destOrd="0" parTransId="{EAF7EBEA-76FB-4137-A6C8-DE699650B11E}" sibTransId="{72A6C76D-B108-49DE-9D69-362CFB25B796}"/>
    <dgm:cxn modelId="{2CE871A8-7546-48B9-BDD2-FE95AC39AB0A}" type="presOf" srcId="{FCE4A4BF-0591-473E-A1CA-7FF9471A1F95}" destId="{AD0C64F8-97DF-4AA8-9DCF-919BF351E2F2}" srcOrd="0" destOrd="0" presId="urn:diagrams.loki3.com/VaryingWidthList"/>
    <dgm:cxn modelId="{39E3CEB9-1DC6-41EA-8EE8-0B354EDE4C42}" srcId="{4BF1766D-55FA-4A29-A1C0-720B9BF4897E}" destId="{C8B8DA95-ABF8-41EA-B953-507262B04070}" srcOrd="5" destOrd="0" parTransId="{09B9C511-17C3-48C0-857E-34A67AF81BB3}" sibTransId="{3DEE5BC4-9EE1-436A-ADDF-497FE73AFE72}"/>
    <dgm:cxn modelId="{03C8FB23-3B2E-4471-824E-D00C5D76357E}" type="presOf" srcId="{3CB7CE54-A47D-475A-8E91-F9DA7767D49D}" destId="{9F25FAC8-1248-49FA-AC1F-712EE4B10BDB}" srcOrd="0" destOrd="0" presId="urn:diagrams.loki3.com/VaryingWidthList"/>
    <dgm:cxn modelId="{1E35F956-AE6F-4167-9D31-BABC99CB48FF}" type="presOf" srcId="{4BF1766D-55FA-4A29-A1C0-720B9BF4897E}" destId="{DB3934EC-8D17-438F-BEF6-37D64071D3C5}" srcOrd="0" destOrd="0" presId="urn:diagrams.loki3.com/VaryingWidthList"/>
    <dgm:cxn modelId="{900229AF-8858-4B5C-B678-0509866CDC5D}" srcId="{4BF1766D-55FA-4A29-A1C0-720B9BF4897E}" destId="{0DCD66D1-82B4-4E85-93BA-AE7CC1D26ACE}" srcOrd="4" destOrd="0" parTransId="{A81733E4-1D10-4FB0-A1F3-EA9508F7AFA9}" sibTransId="{16E427D2-12B6-46D3-91E5-3ABE911E41F6}"/>
    <dgm:cxn modelId="{308614C6-3AA9-42E5-B727-CDA77D5300FB}" type="presOf" srcId="{0DCD66D1-82B4-4E85-93BA-AE7CC1D26ACE}" destId="{957D2A8B-2292-436E-9957-95856F83205E}" srcOrd="0" destOrd="0" presId="urn:diagrams.loki3.com/VaryingWidthList"/>
    <dgm:cxn modelId="{5429BB7F-EEB5-4C41-8F9C-77E88E3E3DD2}" srcId="{4BF1766D-55FA-4A29-A1C0-720B9BF4897E}" destId="{FCE4A4BF-0591-473E-A1CA-7FF9471A1F95}" srcOrd="2" destOrd="0" parTransId="{AD12FF71-A26E-4268-8D44-9D6E2EE1B9B6}" sibTransId="{004717F0-B360-4D2D-B47E-59975ED216D7}"/>
    <dgm:cxn modelId="{CA7CE380-1FB4-4B96-9FEC-7F6F1FA9FB4E}" type="presOf" srcId="{C8B8DA95-ABF8-41EA-B953-507262B04070}" destId="{729A38A9-5B65-4A88-9A8D-4D88E38259E1}" srcOrd="0" destOrd="0" presId="urn:diagrams.loki3.com/VaryingWidthList"/>
    <dgm:cxn modelId="{2EE78B4F-BFBB-4133-B834-876A77218442}" type="presParOf" srcId="{DB3934EC-8D17-438F-BEF6-37D64071D3C5}" destId="{9F25FAC8-1248-49FA-AC1F-712EE4B10BDB}" srcOrd="0" destOrd="0" presId="urn:diagrams.loki3.com/VaryingWidthList"/>
    <dgm:cxn modelId="{B6105933-7664-484A-BD33-60F7AE72A8F6}" type="presParOf" srcId="{DB3934EC-8D17-438F-BEF6-37D64071D3C5}" destId="{BDFFC85F-4B19-4E21-9A47-5397DBA6A64B}" srcOrd="1" destOrd="0" presId="urn:diagrams.loki3.com/VaryingWidthList"/>
    <dgm:cxn modelId="{4B8900BF-B0E9-4FC2-AF61-2129C893EC24}" type="presParOf" srcId="{DB3934EC-8D17-438F-BEF6-37D64071D3C5}" destId="{AD095392-ECF8-4C90-BAB4-288DA1DDD981}" srcOrd="2" destOrd="0" presId="urn:diagrams.loki3.com/VaryingWidthList"/>
    <dgm:cxn modelId="{5AA33E3E-197E-456D-9F7E-D506330FE5CD}" type="presParOf" srcId="{DB3934EC-8D17-438F-BEF6-37D64071D3C5}" destId="{06D5A043-DBE8-4868-B94E-4AE606C2F279}" srcOrd="3" destOrd="0" presId="urn:diagrams.loki3.com/VaryingWidthList"/>
    <dgm:cxn modelId="{3EEF2034-293E-4BA8-B6E3-2773C00E4F5E}" type="presParOf" srcId="{DB3934EC-8D17-438F-BEF6-37D64071D3C5}" destId="{AD0C64F8-97DF-4AA8-9DCF-919BF351E2F2}" srcOrd="4" destOrd="0" presId="urn:diagrams.loki3.com/VaryingWidthList"/>
    <dgm:cxn modelId="{AAB4737C-D4C0-46E5-B48A-68F806C2C8A1}" type="presParOf" srcId="{DB3934EC-8D17-438F-BEF6-37D64071D3C5}" destId="{224436B2-D961-417F-8241-CE70055D0B2F}" srcOrd="5" destOrd="0" presId="urn:diagrams.loki3.com/VaryingWidthList"/>
    <dgm:cxn modelId="{4ADDBD9C-DD35-44AE-BB2E-B6234A36E7F7}" type="presParOf" srcId="{DB3934EC-8D17-438F-BEF6-37D64071D3C5}" destId="{3EB4B33D-038B-4D8A-8F5C-AC14CBE5E5C8}" srcOrd="6" destOrd="0" presId="urn:diagrams.loki3.com/VaryingWidthList"/>
    <dgm:cxn modelId="{55B89530-5FA4-477D-B61E-818D760991DE}" type="presParOf" srcId="{DB3934EC-8D17-438F-BEF6-37D64071D3C5}" destId="{00DA3E6C-4F23-4634-A290-B109CF2579C6}" srcOrd="7" destOrd="0" presId="urn:diagrams.loki3.com/VaryingWidthList"/>
    <dgm:cxn modelId="{9319E36C-06B9-4CFF-BC38-2072FE21CE93}" type="presParOf" srcId="{DB3934EC-8D17-438F-BEF6-37D64071D3C5}" destId="{957D2A8B-2292-436E-9957-95856F83205E}" srcOrd="8" destOrd="0" presId="urn:diagrams.loki3.com/VaryingWidthList"/>
    <dgm:cxn modelId="{6469EB8D-460B-4FB4-BC9E-E41172B0BAE1}" type="presParOf" srcId="{DB3934EC-8D17-438F-BEF6-37D64071D3C5}" destId="{8B3CE15C-8192-432D-BEDD-060032E69027}" srcOrd="9" destOrd="0" presId="urn:diagrams.loki3.com/VaryingWidthList"/>
    <dgm:cxn modelId="{32518740-5602-48BD-91D2-F7801BD44879}" type="presParOf" srcId="{DB3934EC-8D17-438F-BEF6-37D64071D3C5}" destId="{729A38A9-5B65-4A88-9A8D-4D88E38259E1}" srcOrd="10" destOrd="0" presId="urn:diagrams.loki3.com/VaryingWidth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BF1766D-55FA-4A29-A1C0-720B9BF4897E}" type="doc">
      <dgm:prSet loTypeId="urn:diagrams.loki3.com/VaryingWidthList" loCatId="list" qsTypeId="urn:microsoft.com/office/officeart/2005/8/quickstyle/simple3" qsCatId="simple" csTypeId="urn:microsoft.com/office/officeart/2005/8/colors/colorful1#6" csCatId="colorful" phldr="1"/>
      <dgm:spPr/>
    </dgm:pt>
    <dgm:pt modelId="{3CB7CE54-A47D-475A-8E91-F9DA7767D49D}">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the given input string write a context free grammar</a:t>
          </a:r>
          <a:endParaRPr lang="en-IN" sz="1800" dirty="0"/>
        </a:p>
      </dgm:t>
    </dgm:pt>
    <dgm:pt modelId="{AA7BA020-693F-42A6-AE43-B745A2BEB8DA}" type="parTrans" cxnId="{FFE1F75E-55C8-473B-A95A-D761306381DD}">
      <dgm:prSet/>
      <dgm:spPr/>
      <dgm:t>
        <a:bodyPr/>
        <a:lstStyle/>
        <a:p>
          <a:endParaRPr lang="en-IN"/>
        </a:p>
      </dgm:t>
    </dgm:pt>
    <dgm:pt modelId="{A977547C-7880-4947-AD07-702DF7E4F725}" type="sibTrans" cxnId="{FFE1F75E-55C8-473B-A95A-D761306381DD}">
      <dgm:prSet/>
      <dgm:spPr/>
      <dgm:t>
        <a:bodyPr/>
        <a:lstStyle/>
        <a:p>
          <a:endParaRPr lang="en-IN"/>
        </a:p>
      </dgm:t>
    </dgm:pt>
    <dgm:pt modelId="{DD0EE853-26E8-4606-9DE8-6DFC9FFEA4B6}">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the ambiguity of the grammar</a:t>
          </a:r>
          <a:endParaRPr lang="en-IN" sz="1800" dirty="0"/>
        </a:p>
      </dgm:t>
    </dgm:pt>
    <dgm:pt modelId="{EAF7EBEA-76FB-4137-A6C8-DE699650B11E}" type="parTrans" cxnId="{28FB2B40-0878-4567-A9A3-E52218810E8B}">
      <dgm:prSet/>
      <dgm:spPr/>
      <dgm:t>
        <a:bodyPr/>
        <a:lstStyle/>
        <a:p>
          <a:endParaRPr lang="en-IN"/>
        </a:p>
      </dgm:t>
    </dgm:pt>
    <dgm:pt modelId="{72A6C76D-B108-49DE-9D69-362CFB25B796}" type="sibTrans" cxnId="{28FB2B40-0878-4567-A9A3-E52218810E8B}">
      <dgm:prSet/>
      <dgm:spPr/>
      <dgm:t>
        <a:bodyPr/>
        <a:lstStyle/>
        <a:p>
          <a:endParaRPr lang="en-IN"/>
        </a:p>
      </dgm:t>
    </dgm:pt>
    <dgm:pt modelId="{FCE4A4BF-0591-473E-A1CA-7FF9471A1F95}">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 Augment production in the given grammar</a:t>
          </a:r>
          <a:endParaRPr lang="en-IN" sz="1800" dirty="0"/>
        </a:p>
      </dgm:t>
    </dgm:pt>
    <dgm:pt modelId="{AD12FF71-A26E-4268-8D44-9D6E2EE1B9B6}" type="parTrans" cxnId="{5429BB7F-EEB5-4C41-8F9C-77E88E3E3DD2}">
      <dgm:prSet/>
      <dgm:spPr/>
      <dgm:t>
        <a:bodyPr/>
        <a:lstStyle/>
        <a:p>
          <a:endParaRPr lang="en-IN"/>
        </a:p>
      </dgm:t>
    </dgm:pt>
    <dgm:pt modelId="{004717F0-B360-4D2D-B47E-59975ED216D7}" type="sibTrans" cxnId="{5429BB7F-EEB5-4C41-8F9C-77E88E3E3DD2}">
      <dgm:prSet/>
      <dgm:spPr/>
      <dgm:t>
        <a:bodyPr/>
        <a:lstStyle/>
        <a:p>
          <a:endParaRPr lang="en-IN"/>
        </a:p>
      </dgm:t>
    </dgm:pt>
    <dgm:pt modelId="{B64D8740-D9CF-4841-A98F-1C6B0913D6C1}">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Create Canonical collection of LR (0) items</a:t>
          </a:r>
          <a:endParaRPr lang="en-IN" sz="1800" dirty="0"/>
        </a:p>
      </dgm:t>
    </dgm:pt>
    <dgm:pt modelId="{EA91D98D-466C-4CC7-B942-5FE22F23AEAD}" type="parTrans" cxnId="{3EB0915A-5CEA-4E2C-8C8D-228EAC522D7A}">
      <dgm:prSet/>
      <dgm:spPr/>
      <dgm:t>
        <a:bodyPr/>
        <a:lstStyle/>
        <a:p>
          <a:endParaRPr lang="en-IN"/>
        </a:p>
      </dgm:t>
    </dgm:pt>
    <dgm:pt modelId="{4E1022CF-A28C-4E7A-9D0D-093D6AC5897B}" type="sibTrans" cxnId="{3EB0915A-5CEA-4E2C-8C8D-228EAC522D7A}">
      <dgm:prSet/>
      <dgm:spPr/>
      <dgm:t>
        <a:bodyPr/>
        <a:lstStyle/>
        <a:p>
          <a:endParaRPr lang="en-IN"/>
        </a:p>
      </dgm:t>
    </dgm:pt>
    <dgm:pt modelId="{0DCD66D1-82B4-4E85-93BA-AE7CC1D26ACE}">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Draw a data flow diagram (DFD)</a:t>
          </a:r>
          <a:endParaRPr lang="en-IN" sz="1800" dirty="0"/>
        </a:p>
      </dgm:t>
    </dgm:pt>
    <dgm:pt modelId="{A81733E4-1D10-4FB0-A1F3-EA9508F7AFA9}" type="parTrans" cxnId="{900229AF-8858-4B5C-B678-0509866CDC5D}">
      <dgm:prSet/>
      <dgm:spPr/>
      <dgm:t>
        <a:bodyPr/>
        <a:lstStyle/>
        <a:p>
          <a:endParaRPr lang="en-IN"/>
        </a:p>
      </dgm:t>
    </dgm:pt>
    <dgm:pt modelId="{16E427D2-12B6-46D3-91E5-3ABE911E41F6}" type="sibTrans" cxnId="{900229AF-8858-4B5C-B678-0509866CDC5D}">
      <dgm:prSet/>
      <dgm:spPr/>
      <dgm:t>
        <a:bodyPr/>
        <a:lstStyle/>
        <a:p>
          <a:endParaRPr lang="en-IN"/>
        </a:p>
      </dgm:t>
    </dgm:pt>
    <dgm:pt modelId="{C8B8DA95-ABF8-41EA-B953-507262B04070}">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 a SLR (1) parsing table</a:t>
          </a:r>
          <a:endParaRPr lang="en-IN" sz="1800" dirty="0"/>
        </a:p>
      </dgm:t>
    </dgm:pt>
    <dgm:pt modelId="{09B9C511-17C3-48C0-857E-34A67AF81BB3}" type="parTrans" cxnId="{39E3CEB9-1DC6-41EA-8EE8-0B354EDE4C42}">
      <dgm:prSet/>
      <dgm:spPr/>
      <dgm:t>
        <a:bodyPr/>
        <a:lstStyle/>
        <a:p>
          <a:endParaRPr lang="en-IN"/>
        </a:p>
      </dgm:t>
    </dgm:pt>
    <dgm:pt modelId="{3DEE5BC4-9EE1-436A-ADDF-497FE73AFE72}" type="sibTrans" cxnId="{39E3CEB9-1DC6-41EA-8EE8-0B354EDE4C42}">
      <dgm:prSet/>
      <dgm:spPr/>
      <dgm:t>
        <a:bodyPr/>
        <a:lstStyle/>
        <a:p>
          <a:endParaRPr lang="en-IN"/>
        </a:p>
      </dgm:t>
    </dgm:pt>
    <dgm:pt modelId="{DB3934EC-8D17-438F-BEF6-37D64071D3C5}" type="pres">
      <dgm:prSet presAssocID="{4BF1766D-55FA-4A29-A1C0-720B9BF4897E}" presName="Name0" presStyleCnt="0">
        <dgm:presLayoutVars>
          <dgm:resizeHandles/>
        </dgm:presLayoutVars>
      </dgm:prSet>
      <dgm:spPr/>
    </dgm:pt>
    <dgm:pt modelId="{9F25FAC8-1248-49FA-AC1F-712EE4B10BDB}" type="pres">
      <dgm:prSet presAssocID="{3CB7CE54-A47D-475A-8E91-F9DA7767D49D}" presName="text" presStyleLbl="node1" presStyleIdx="0" presStyleCnt="6" custScaleX="395859" custScaleY="114287">
        <dgm:presLayoutVars>
          <dgm:bulletEnabled val="1"/>
        </dgm:presLayoutVars>
      </dgm:prSet>
      <dgm:spPr/>
      <dgm:t>
        <a:bodyPr/>
        <a:lstStyle/>
        <a:p>
          <a:endParaRPr lang="en-US"/>
        </a:p>
      </dgm:t>
    </dgm:pt>
    <dgm:pt modelId="{BDFFC85F-4B19-4E21-9A47-5397DBA6A64B}" type="pres">
      <dgm:prSet presAssocID="{A977547C-7880-4947-AD07-702DF7E4F725}" presName="space" presStyleCnt="0"/>
      <dgm:spPr/>
    </dgm:pt>
    <dgm:pt modelId="{AD095392-ECF8-4C90-BAB4-288DA1DDD981}" type="pres">
      <dgm:prSet presAssocID="{DD0EE853-26E8-4606-9DE8-6DFC9FFEA4B6}" presName="text" presStyleLbl="node1" presStyleIdx="1" presStyleCnt="6" custScaleX="287867" custScaleY="73846">
        <dgm:presLayoutVars>
          <dgm:bulletEnabled val="1"/>
        </dgm:presLayoutVars>
      </dgm:prSet>
      <dgm:spPr/>
      <dgm:t>
        <a:bodyPr/>
        <a:lstStyle/>
        <a:p>
          <a:endParaRPr lang="en-US"/>
        </a:p>
      </dgm:t>
    </dgm:pt>
    <dgm:pt modelId="{06D5A043-DBE8-4868-B94E-4AE606C2F279}" type="pres">
      <dgm:prSet presAssocID="{72A6C76D-B108-49DE-9D69-362CFB25B796}" presName="space" presStyleCnt="0"/>
      <dgm:spPr/>
    </dgm:pt>
    <dgm:pt modelId="{AD0C64F8-97DF-4AA8-9DCF-919BF351E2F2}" type="pres">
      <dgm:prSet presAssocID="{FCE4A4BF-0591-473E-A1CA-7FF9471A1F95}" presName="text" presStyleLbl="node1" presStyleIdx="2" presStyleCnt="6" custScaleX="595586" custScaleY="100999">
        <dgm:presLayoutVars>
          <dgm:bulletEnabled val="1"/>
        </dgm:presLayoutVars>
      </dgm:prSet>
      <dgm:spPr/>
      <dgm:t>
        <a:bodyPr/>
        <a:lstStyle/>
        <a:p>
          <a:endParaRPr lang="en-US"/>
        </a:p>
      </dgm:t>
    </dgm:pt>
    <dgm:pt modelId="{224436B2-D961-417F-8241-CE70055D0B2F}" type="pres">
      <dgm:prSet presAssocID="{004717F0-B360-4D2D-B47E-59975ED216D7}" presName="space" presStyleCnt="0"/>
      <dgm:spPr/>
    </dgm:pt>
    <dgm:pt modelId="{3EB4B33D-038B-4D8A-8F5C-AC14CBE5E5C8}" type="pres">
      <dgm:prSet presAssocID="{B64D8740-D9CF-4841-A98F-1C6B0913D6C1}" presName="text" presStyleLbl="node1" presStyleIdx="3" presStyleCnt="6" custScaleX="595586" custScaleY="110588">
        <dgm:presLayoutVars>
          <dgm:bulletEnabled val="1"/>
        </dgm:presLayoutVars>
      </dgm:prSet>
      <dgm:spPr/>
      <dgm:t>
        <a:bodyPr/>
        <a:lstStyle/>
        <a:p>
          <a:endParaRPr lang="en-US"/>
        </a:p>
      </dgm:t>
    </dgm:pt>
    <dgm:pt modelId="{00DA3E6C-4F23-4634-A290-B109CF2579C6}" type="pres">
      <dgm:prSet presAssocID="{4E1022CF-A28C-4E7A-9D0D-093D6AC5897B}" presName="space" presStyleCnt="0"/>
      <dgm:spPr/>
    </dgm:pt>
    <dgm:pt modelId="{957D2A8B-2292-436E-9957-95856F83205E}" type="pres">
      <dgm:prSet presAssocID="{0DCD66D1-82B4-4E85-93BA-AE7CC1D26ACE}" presName="text" presStyleLbl="node1" presStyleIdx="4" presStyleCnt="6" custScaleX="1046788" custScaleY="138654">
        <dgm:presLayoutVars>
          <dgm:bulletEnabled val="1"/>
        </dgm:presLayoutVars>
      </dgm:prSet>
      <dgm:spPr/>
      <dgm:t>
        <a:bodyPr/>
        <a:lstStyle/>
        <a:p>
          <a:endParaRPr lang="en-US"/>
        </a:p>
      </dgm:t>
    </dgm:pt>
    <dgm:pt modelId="{8B3CE15C-8192-432D-BEDD-060032E69027}" type="pres">
      <dgm:prSet presAssocID="{16E427D2-12B6-46D3-91E5-3ABE911E41F6}" presName="space" presStyleCnt="0"/>
      <dgm:spPr/>
    </dgm:pt>
    <dgm:pt modelId="{729A38A9-5B65-4A88-9A8D-4D88E38259E1}" type="pres">
      <dgm:prSet presAssocID="{C8B8DA95-ABF8-41EA-B953-507262B04070}" presName="text" presStyleLbl="node1" presStyleIdx="5" presStyleCnt="6" custScaleX="785091">
        <dgm:presLayoutVars>
          <dgm:bulletEnabled val="1"/>
        </dgm:presLayoutVars>
      </dgm:prSet>
      <dgm:spPr/>
      <dgm:t>
        <a:bodyPr/>
        <a:lstStyle/>
        <a:p>
          <a:endParaRPr lang="en-US"/>
        </a:p>
      </dgm:t>
    </dgm:pt>
  </dgm:ptLst>
  <dgm:cxnLst>
    <dgm:cxn modelId="{CADF0AB4-26D5-4515-8C6E-3AFAE60594E6}" type="presOf" srcId="{DD0EE853-26E8-4606-9DE8-6DFC9FFEA4B6}" destId="{AD095392-ECF8-4C90-BAB4-288DA1DDD981}" srcOrd="0" destOrd="0" presId="urn:diagrams.loki3.com/VaryingWidthList"/>
    <dgm:cxn modelId="{FFE1F75E-55C8-473B-A95A-D761306381DD}" srcId="{4BF1766D-55FA-4A29-A1C0-720B9BF4897E}" destId="{3CB7CE54-A47D-475A-8E91-F9DA7767D49D}" srcOrd="0" destOrd="0" parTransId="{AA7BA020-693F-42A6-AE43-B745A2BEB8DA}" sibTransId="{A977547C-7880-4947-AD07-702DF7E4F725}"/>
    <dgm:cxn modelId="{3EB0915A-5CEA-4E2C-8C8D-228EAC522D7A}" srcId="{4BF1766D-55FA-4A29-A1C0-720B9BF4897E}" destId="{B64D8740-D9CF-4841-A98F-1C6B0913D6C1}" srcOrd="3" destOrd="0" parTransId="{EA91D98D-466C-4CC7-B942-5FE22F23AEAD}" sibTransId="{4E1022CF-A28C-4E7A-9D0D-093D6AC5897B}"/>
    <dgm:cxn modelId="{474C6599-4C97-40CF-A099-B4B3AD090CA3}" type="presOf" srcId="{B64D8740-D9CF-4841-A98F-1C6B0913D6C1}" destId="{3EB4B33D-038B-4D8A-8F5C-AC14CBE5E5C8}" srcOrd="0" destOrd="0" presId="urn:diagrams.loki3.com/VaryingWidthList"/>
    <dgm:cxn modelId="{28FB2B40-0878-4567-A9A3-E52218810E8B}" srcId="{4BF1766D-55FA-4A29-A1C0-720B9BF4897E}" destId="{DD0EE853-26E8-4606-9DE8-6DFC9FFEA4B6}" srcOrd="1" destOrd="0" parTransId="{EAF7EBEA-76FB-4137-A6C8-DE699650B11E}" sibTransId="{72A6C76D-B108-49DE-9D69-362CFB25B796}"/>
    <dgm:cxn modelId="{2CE871A8-7546-48B9-BDD2-FE95AC39AB0A}" type="presOf" srcId="{FCE4A4BF-0591-473E-A1CA-7FF9471A1F95}" destId="{AD0C64F8-97DF-4AA8-9DCF-919BF351E2F2}" srcOrd="0" destOrd="0" presId="urn:diagrams.loki3.com/VaryingWidthList"/>
    <dgm:cxn modelId="{39E3CEB9-1DC6-41EA-8EE8-0B354EDE4C42}" srcId="{4BF1766D-55FA-4A29-A1C0-720B9BF4897E}" destId="{C8B8DA95-ABF8-41EA-B953-507262B04070}" srcOrd="5" destOrd="0" parTransId="{09B9C511-17C3-48C0-857E-34A67AF81BB3}" sibTransId="{3DEE5BC4-9EE1-436A-ADDF-497FE73AFE72}"/>
    <dgm:cxn modelId="{03C8FB23-3B2E-4471-824E-D00C5D76357E}" type="presOf" srcId="{3CB7CE54-A47D-475A-8E91-F9DA7767D49D}" destId="{9F25FAC8-1248-49FA-AC1F-712EE4B10BDB}" srcOrd="0" destOrd="0" presId="urn:diagrams.loki3.com/VaryingWidthList"/>
    <dgm:cxn modelId="{1E35F956-AE6F-4167-9D31-BABC99CB48FF}" type="presOf" srcId="{4BF1766D-55FA-4A29-A1C0-720B9BF4897E}" destId="{DB3934EC-8D17-438F-BEF6-37D64071D3C5}" srcOrd="0" destOrd="0" presId="urn:diagrams.loki3.com/VaryingWidthList"/>
    <dgm:cxn modelId="{900229AF-8858-4B5C-B678-0509866CDC5D}" srcId="{4BF1766D-55FA-4A29-A1C0-720B9BF4897E}" destId="{0DCD66D1-82B4-4E85-93BA-AE7CC1D26ACE}" srcOrd="4" destOrd="0" parTransId="{A81733E4-1D10-4FB0-A1F3-EA9508F7AFA9}" sibTransId="{16E427D2-12B6-46D3-91E5-3ABE911E41F6}"/>
    <dgm:cxn modelId="{308614C6-3AA9-42E5-B727-CDA77D5300FB}" type="presOf" srcId="{0DCD66D1-82B4-4E85-93BA-AE7CC1D26ACE}" destId="{957D2A8B-2292-436E-9957-95856F83205E}" srcOrd="0" destOrd="0" presId="urn:diagrams.loki3.com/VaryingWidthList"/>
    <dgm:cxn modelId="{5429BB7F-EEB5-4C41-8F9C-77E88E3E3DD2}" srcId="{4BF1766D-55FA-4A29-A1C0-720B9BF4897E}" destId="{FCE4A4BF-0591-473E-A1CA-7FF9471A1F95}" srcOrd="2" destOrd="0" parTransId="{AD12FF71-A26E-4268-8D44-9D6E2EE1B9B6}" sibTransId="{004717F0-B360-4D2D-B47E-59975ED216D7}"/>
    <dgm:cxn modelId="{CA7CE380-1FB4-4B96-9FEC-7F6F1FA9FB4E}" type="presOf" srcId="{C8B8DA95-ABF8-41EA-B953-507262B04070}" destId="{729A38A9-5B65-4A88-9A8D-4D88E38259E1}" srcOrd="0" destOrd="0" presId="urn:diagrams.loki3.com/VaryingWidthList"/>
    <dgm:cxn modelId="{2EE78B4F-BFBB-4133-B834-876A77218442}" type="presParOf" srcId="{DB3934EC-8D17-438F-BEF6-37D64071D3C5}" destId="{9F25FAC8-1248-49FA-AC1F-712EE4B10BDB}" srcOrd="0" destOrd="0" presId="urn:diagrams.loki3.com/VaryingWidthList"/>
    <dgm:cxn modelId="{B6105933-7664-484A-BD33-60F7AE72A8F6}" type="presParOf" srcId="{DB3934EC-8D17-438F-BEF6-37D64071D3C5}" destId="{BDFFC85F-4B19-4E21-9A47-5397DBA6A64B}" srcOrd="1" destOrd="0" presId="urn:diagrams.loki3.com/VaryingWidthList"/>
    <dgm:cxn modelId="{4B8900BF-B0E9-4FC2-AF61-2129C893EC24}" type="presParOf" srcId="{DB3934EC-8D17-438F-BEF6-37D64071D3C5}" destId="{AD095392-ECF8-4C90-BAB4-288DA1DDD981}" srcOrd="2" destOrd="0" presId="urn:diagrams.loki3.com/VaryingWidthList"/>
    <dgm:cxn modelId="{5AA33E3E-197E-456D-9F7E-D506330FE5CD}" type="presParOf" srcId="{DB3934EC-8D17-438F-BEF6-37D64071D3C5}" destId="{06D5A043-DBE8-4868-B94E-4AE606C2F279}" srcOrd="3" destOrd="0" presId="urn:diagrams.loki3.com/VaryingWidthList"/>
    <dgm:cxn modelId="{3EEF2034-293E-4BA8-B6E3-2773C00E4F5E}" type="presParOf" srcId="{DB3934EC-8D17-438F-BEF6-37D64071D3C5}" destId="{AD0C64F8-97DF-4AA8-9DCF-919BF351E2F2}" srcOrd="4" destOrd="0" presId="urn:diagrams.loki3.com/VaryingWidthList"/>
    <dgm:cxn modelId="{AAB4737C-D4C0-46E5-B48A-68F806C2C8A1}" type="presParOf" srcId="{DB3934EC-8D17-438F-BEF6-37D64071D3C5}" destId="{224436B2-D961-417F-8241-CE70055D0B2F}" srcOrd="5" destOrd="0" presId="urn:diagrams.loki3.com/VaryingWidthList"/>
    <dgm:cxn modelId="{4ADDBD9C-DD35-44AE-BB2E-B6234A36E7F7}" type="presParOf" srcId="{DB3934EC-8D17-438F-BEF6-37D64071D3C5}" destId="{3EB4B33D-038B-4D8A-8F5C-AC14CBE5E5C8}" srcOrd="6" destOrd="0" presId="urn:diagrams.loki3.com/VaryingWidthList"/>
    <dgm:cxn modelId="{55B89530-5FA4-477D-B61E-818D760991DE}" type="presParOf" srcId="{DB3934EC-8D17-438F-BEF6-37D64071D3C5}" destId="{00DA3E6C-4F23-4634-A290-B109CF2579C6}" srcOrd="7" destOrd="0" presId="urn:diagrams.loki3.com/VaryingWidthList"/>
    <dgm:cxn modelId="{9319E36C-06B9-4CFF-BC38-2072FE21CE93}" type="presParOf" srcId="{DB3934EC-8D17-438F-BEF6-37D64071D3C5}" destId="{957D2A8B-2292-436E-9957-95856F83205E}" srcOrd="8" destOrd="0" presId="urn:diagrams.loki3.com/VaryingWidthList"/>
    <dgm:cxn modelId="{6469EB8D-460B-4FB4-BC9E-E41172B0BAE1}" type="presParOf" srcId="{DB3934EC-8D17-438F-BEF6-37D64071D3C5}" destId="{8B3CE15C-8192-432D-BEDD-060032E69027}" srcOrd="9" destOrd="0" presId="urn:diagrams.loki3.com/VaryingWidthList"/>
    <dgm:cxn modelId="{32518740-5602-48BD-91D2-F7801BD44879}" type="presParOf" srcId="{DB3934EC-8D17-438F-BEF6-37D64071D3C5}" destId="{729A38A9-5B65-4A88-9A8D-4D88E38259E1}" srcOrd="10" destOrd="0" presId="urn:diagrams.loki3.com/VaryingWidth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018576-0523-40B6-90C0-5B35F7D50B64}">
      <dsp:nvSpPr>
        <dsp:cNvPr id="0" name=""/>
        <dsp:cNvSpPr/>
      </dsp:nvSpPr>
      <dsp:spPr>
        <a:xfrm>
          <a:off x="533395" y="1666"/>
          <a:ext cx="6633608" cy="1931115"/>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kern="1200" dirty="0">
              <a:latin typeface="Times New Roman" panose="02020603050405020304" pitchFamily="18" charset="0"/>
              <a:cs typeface="Times New Roman" panose="02020603050405020304" pitchFamily="18" charset="0"/>
            </a:rPr>
            <a:t>Top-Down parsing is equivalent to left-most derivation</a:t>
          </a:r>
        </a:p>
      </dsp:txBody>
      <dsp:txXfrm>
        <a:off x="533395" y="1666"/>
        <a:ext cx="6633608" cy="1931115"/>
      </dsp:txXfrm>
    </dsp:sp>
    <dsp:sp modelId="{C4C08D22-64C0-48F7-BB9A-3E0CE200D25D}">
      <dsp:nvSpPr>
        <dsp:cNvPr id="0" name=""/>
        <dsp:cNvSpPr/>
      </dsp:nvSpPr>
      <dsp:spPr>
        <a:xfrm>
          <a:off x="512105" y="2254635"/>
          <a:ext cx="6676189" cy="1807698"/>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kern="1200" dirty="0">
              <a:latin typeface="Times New Roman" panose="02020603050405020304" pitchFamily="18" charset="0"/>
              <a:cs typeface="Times New Roman" panose="02020603050405020304" pitchFamily="18" charset="0"/>
            </a:rPr>
            <a:t>Bottom-Up parsing is equivalent to reverse of right most derivation</a:t>
          </a:r>
        </a:p>
      </dsp:txBody>
      <dsp:txXfrm>
        <a:off x="512105" y="2254635"/>
        <a:ext cx="6676189" cy="18076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6C0B9-3476-4A80-9788-4E9E252F6CCF}">
      <dsp:nvSpPr>
        <dsp:cNvPr id="0" name=""/>
        <dsp:cNvSpPr/>
      </dsp:nvSpPr>
      <dsp:spPr>
        <a:xfrm>
          <a:off x="0" y="628724"/>
          <a:ext cx="7619999" cy="1485225"/>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91397" tIns="853948" rIns="591397" bIns="128016" numCol="1" spcCol="1270" anchor="t"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altLang="en-US" sz="1800" kern="1200" dirty="0">
              <a:latin typeface="Times New Roman" panose="02020603050405020304" pitchFamily="18" charset="0"/>
              <a:cs typeface="Times New Roman" panose="02020603050405020304" pitchFamily="18" charset="0"/>
            </a:rPr>
            <a:t>It is used for finding the set of all terminals that begins the strings derive from the given grammar symbol.</a:t>
          </a:r>
          <a:endParaRPr lang="en-IN" sz="1800" kern="1200" dirty="0"/>
        </a:p>
      </dsp:txBody>
      <dsp:txXfrm>
        <a:off x="0" y="628724"/>
        <a:ext cx="7619999" cy="1485225"/>
      </dsp:txXfrm>
    </dsp:sp>
    <dsp:sp modelId="{92F35EFB-F562-406C-B261-3CD4E2A1FBCD}">
      <dsp:nvSpPr>
        <dsp:cNvPr id="0" name=""/>
        <dsp:cNvSpPr/>
      </dsp:nvSpPr>
      <dsp:spPr>
        <a:xfrm>
          <a:off x="380999" y="23564"/>
          <a:ext cx="5333999" cy="121032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1612" tIns="0" rIns="201612" bIns="0" numCol="1" spcCol="1270" anchor="ctr" anchorCtr="0">
          <a:noAutofit/>
        </a:bodyPr>
        <a:lstStyle/>
        <a:p>
          <a:pPr lvl="0" algn="l" defTabSz="889000">
            <a:lnSpc>
              <a:spcPct val="90000"/>
            </a:lnSpc>
            <a:spcBef>
              <a:spcPct val="0"/>
            </a:spcBef>
            <a:spcAft>
              <a:spcPct val="35000"/>
            </a:spcAft>
          </a:pPr>
          <a:r>
            <a:rPr lang="en-US" altLang="en-US" sz="2000" b="1" kern="1200" dirty="0">
              <a:latin typeface="Times New Roman" panose="02020603050405020304" pitchFamily="18" charset="0"/>
              <a:cs typeface="Times New Roman" panose="02020603050405020304" pitchFamily="18" charset="0"/>
            </a:rPr>
            <a:t>First (X):- </a:t>
          </a:r>
          <a:endParaRPr lang="en-IN" sz="2000" kern="1200" dirty="0"/>
        </a:p>
      </dsp:txBody>
      <dsp:txXfrm>
        <a:off x="440082" y="82647"/>
        <a:ext cx="5215833" cy="1092154"/>
      </dsp:txXfrm>
    </dsp:sp>
    <dsp:sp modelId="{A99D5A51-B955-45A9-9A6E-A10C1A19D964}">
      <dsp:nvSpPr>
        <dsp:cNvPr id="0" name=""/>
        <dsp:cNvSpPr/>
      </dsp:nvSpPr>
      <dsp:spPr>
        <a:xfrm>
          <a:off x="0" y="2940510"/>
          <a:ext cx="7619999" cy="1226925"/>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91397" tIns="853948" rIns="591397" bIns="128016" numCol="1" spcCol="1270" anchor="t" anchorCtr="0">
          <a:noAutofit/>
        </a:bodyPr>
        <a:lstStyle/>
        <a:p>
          <a:pPr marL="171450" lvl="1" indent="-171450" algn="l" defTabSz="800100">
            <a:lnSpc>
              <a:spcPct val="90000"/>
            </a:lnSpc>
            <a:spcBef>
              <a:spcPct val="0"/>
            </a:spcBef>
            <a:spcAft>
              <a:spcPct val="15000"/>
            </a:spcAft>
            <a:buChar char="••"/>
          </a:pPr>
          <a:r>
            <a:rPr lang="en-US" altLang="en-US" sz="1800" kern="1200" dirty="0">
              <a:latin typeface="Times New Roman" panose="02020603050405020304" pitchFamily="18" charset="0"/>
              <a:cs typeface="Times New Roman" panose="02020603050405020304" pitchFamily="18" charset="0"/>
            </a:rPr>
            <a:t>Set of Terminals that appear immediately to the right of X</a:t>
          </a:r>
          <a:endParaRPr lang="en-IN" sz="1800" kern="1200" dirty="0"/>
        </a:p>
      </dsp:txBody>
      <dsp:txXfrm>
        <a:off x="0" y="2940510"/>
        <a:ext cx="7619999" cy="1226925"/>
      </dsp:txXfrm>
    </dsp:sp>
    <dsp:sp modelId="{6F544BAE-1CBB-4A51-B362-EA6BE4EB7C96}">
      <dsp:nvSpPr>
        <dsp:cNvPr id="0" name=""/>
        <dsp:cNvSpPr/>
      </dsp:nvSpPr>
      <dsp:spPr>
        <a:xfrm>
          <a:off x="380999" y="2335350"/>
          <a:ext cx="5333999" cy="121032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1612" tIns="0" rIns="201612" bIns="0" numCol="1" spcCol="1270" anchor="ctr" anchorCtr="0">
          <a:noAutofit/>
        </a:bodyPr>
        <a:lstStyle/>
        <a:p>
          <a:pPr lvl="0" algn="l" defTabSz="889000">
            <a:lnSpc>
              <a:spcPct val="90000"/>
            </a:lnSpc>
            <a:spcBef>
              <a:spcPct val="0"/>
            </a:spcBef>
            <a:spcAft>
              <a:spcPct val="35000"/>
            </a:spcAft>
          </a:pPr>
          <a:r>
            <a:rPr lang="en-US" altLang="en-US" sz="2000" b="1" kern="1200" dirty="0">
              <a:latin typeface="Times New Roman" panose="02020603050405020304" pitchFamily="18" charset="0"/>
              <a:cs typeface="Times New Roman" panose="02020603050405020304" pitchFamily="18" charset="0"/>
            </a:rPr>
            <a:t>Follow (X):-</a:t>
          </a:r>
          <a:endParaRPr lang="en-IN" sz="2000" kern="1200" dirty="0"/>
        </a:p>
      </dsp:txBody>
      <dsp:txXfrm>
        <a:off x="440082" y="2394433"/>
        <a:ext cx="5215833" cy="10921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25FAC8-1248-49FA-AC1F-712EE4B10BDB}">
      <dsp:nvSpPr>
        <dsp:cNvPr id="0" name=""/>
        <dsp:cNvSpPr/>
      </dsp:nvSpPr>
      <dsp:spPr>
        <a:xfrm>
          <a:off x="3" y="1758"/>
          <a:ext cx="8077193" cy="831644"/>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the given input string write a context free grammar</a:t>
          </a:r>
          <a:endParaRPr lang="en-IN" sz="1800" kern="1200" dirty="0"/>
        </a:p>
      </dsp:txBody>
      <dsp:txXfrm>
        <a:off x="3" y="1758"/>
        <a:ext cx="8077193" cy="831644"/>
      </dsp:txXfrm>
    </dsp:sp>
    <dsp:sp modelId="{AD095392-ECF8-4C90-BAB4-288DA1DDD981}">
      <dsp:nvSpPr>
        <dsp:cNvPr id="0" name=""/>
        <dsp:cNvSpPr/>
      </dsp:nvSpPr>
      <dsp:spPr>
        <a:xfrm>
          <a:off x="0" y="869787"/>
          <a:ext cx="8077200" cy="53736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the ambiguity of the grammar</a:t>
          </a:r>
          <a:endParaRPr lang="en-IN" sz="1800" kern="1200" dirty="0"/>
        </a:p>
      </dsp:txBody>
      <dsp:txXfrm>
        <a:off x="0" y="869787"/>
        <a:ext cx="8077200" cy="537363"/>
      </dsp:txXfrm>
    </dsp:sp>
    <dsp:sp modelId="{AD0C64F8-97DF-4AA8-9DCF-919BF351E2F2}">
      <dsp:nvSpPr>
        <dsp:cNvPr id="0" name=""/>
        <dsp:cNvSpPr/>
      </dsp:nvSpPr>
      <dsp:spPr>
        <a:xfrm>
          <a:off x="0" y="1443534"/>
          <a:ext cx="8077200" cy="7349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 Augment production in the given grammar</a:t>
          </a:r>
          <a:endParaRPr lang="en-IN" sz="1800" kern="1200" dirty="0"/>
        </a:p>
      </dsp:txBody>
      <dsp:txXfrm>
        <a:off x="0" y="1443534"/>
        <a:ext cx="8077200" cy="734950"/>
      </dsp:txXfrm>
    </dsp:sp>
    <dsp:sp modelId="{3EB4B33D-038B-4D8A-8F5C-AC14CBE5E5C8}">
      <dsp:nvSpPr>
        <dsp:cNvPr id="0" name=""/>
        <dsp:cNvSpPr/>
      </dsp:nvSpPr>
      <dsp:spPr>
        <a:xfrm>
          <a:off x="0" y="2214869"/>
          <a:ext cx="8077200" cy="80472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Create Canonical collection of LR (0) items</a:t>
          </a:r>
          <a:endParaRPr lang="en-IN" sz="1800" kern="1200" dirty="0"/>
        </a:p>
      </dsp:txBody>
      <dsp:txXfrm>
        <a:off x="0" y="2214869"/>
        <a:ext cx="8077200" cy="804727"/>
      </dsp:txXfrm>
    </dsp:sp>
    <dsp:sp modelId="{957D2A8B-2292-436E-9957-95856F83205E}">
      <dsp:nvSpPr>
        <dsp:cNvPr id="0" name=""/>
        <dsp:cNvSpPr/>
      </dsp:nvSpPr>
      <dsp:spPr>
        <a:xfrm>
          <a:off x="0" y="3055980"/>
          <a:ext cx="8077200" cy="1008958"/>
        </a:xfrm>
        <a:prstGeom prst="rect">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Draw a data flow diagram (DFD)</a:t>
          </a:r>
          <a:endParaRPr lang="en-IN" sz="1800" kern="1200" dirty="0"/>
        </a:p>
      </dsp:txBody>
      <dsp:txXfrm>
        <a:off x="0" y="3055980"/>
        <a:ext cx="8077200" cy="1008958"/>
      </dsp:txXfrm>
    </dsp:sp>
    <dsp:sp modelId="{729A38A9-5B65-4A88-9A8D-4D88E38259E1}">
      <dsp:nvSpPr>
        <dsp:cNvPr id="0" name=""/>
        <dsp:cNvSpPr/>
      </dsp:nvSpPr>
      <dsp:spPr>
        <a:xfrm>
          <a:off x="0" y="4101323"/>
          <a:ext cx="8077200" cy="72768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 a LR (0) parsing table</a:t>
          </a:r>
          <a:endParaRPr lang="en-IN" sz="1800" kern="1200" dirty="0"/>
        </a:p>
      </dsp:txBody>
      <dsp:txXfrm>
        <a:off x="0" y="4101323"/>
        <a:ext cx="8077200" cy="7276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25FAC8-1248-49FA-AC1F-712EE4B10BDB}">
      <dsp:nvSpPr>
        <dsp:cNvPr id="0" name=""/>
        <dsp:cNvSpPr/>
      </dsp:nvSpPr>
      <dsp:spPr>
        <a:xfrm>
          <a:off x="3" y="1758"/>
          <a:ext cx="8077193" cy="831644"/>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the given input string write a context free grammar</a:t>
          </a:r>
          <a:endParaRPr lang="en-IN" sz="1800" kern="1200" dirty="0"/>
        </a:p>
      </dsp:txBody>
      <dsp:txXfrm>
        <a:off x="3" y="1758"/>
        <a:ext cx="8077193" cy="831644"/>
      </dsp:txXfrm>
    </dsp:sp>
    <dsp:sp modelId="{AD095392-ECF8-4C90-BAB4-288DA1DDD981}">
      <dsp:nvSpPr>
        <dsp:cNvPr id="0" name=""/>
        <dsp:cNvSpPr/>
      </dsp:nvSpPr>
      <dsp:spPr>
        <a:xfrm>
          <a:off x="0" y="869787"/>
          <a:ext cx="8077200" cy="53736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the ambiguity of the grammar</a:t>
          </a:r>
          <a:endParaRPr lang="en-IN" sz="1800" kern="1200" dirty="0"/>
        </a:p>
      </dsp:txBody>
      <dsp:txXfrm>
        <a:off x="0" y="869787"/>
        <a:ext cx="8077200" cy="537363"/>
      </dsp:txXfrm>
    </dsp:sp>
    <dsp:sp modelId="{AD0C64F8-97DF-4AA8-9DCF-919BF351E2F2}">
      <dsp:nvSpPr>
        <dsp:cNvPr id="0" name=""/>
        <dsp:cNvSpPr/>
      </dsp:nvSpPr>
      <dsp:spPr>
        <a:xfrm>
          <a:off x="0" y="1443534"/>
          <a:ext cx="8077200" cy="7349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 Augment production in the given grammar</a:t>
          </a:r>
          <a:endParaRPr lang="en-IN" sz="1800" kern="1200" dirty="0"/>
        </a:p>
      </dsp:txBody>
      <dsp:txXfrm>
        <a:off x="0" y="1443534"/>
        <a:ext cx="8077200" cy="734950"/>
      </dsp:txXfrm>
    </dsp:sp>
    <dsp:sp modelId="{3EB4B33D-038B-4D8A-8F5C-AC14CBE5E5C8}">
      <dsp:nvSpPr>
        <dsp:cNvPr id="0" name=""/>
        <dsp:cNvSpPr/>
      </dsp:nvSpPr>
      <dsp:spPr>
        <a:xfrm>
          <a:off x="0" y="2214869"/>
          <a:ext cx="8077200" cy="80472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Create Canonical collection of LR (0) items</a:t>
          </a:r>
          <a:endParaRPr lang="en-IN" sz="1800" kern="1200" dirty="0"/>
        </a:p>
      </dsp:txBody>
      <dsp:txXfrm>
        <a:off x="0" y="2214869"/>
        <a:ext cx="8077200" cy="804727"/>
      </dsp:txXfrm>
    </dsp:sp>
    <dsp:sp modelId="{957D2A8B-2292-436E-9957-95856F83205E}">
      <dsp:nvSpPr>
        <dsp:cNvPr id="0" name=""/>
        <dsp:cNvSpPr/>
      </dsp:nvSpPr>
      <dsp:spPr>
        <a:xfrm>
          <a:off x="0" y="3055980"/>
          <a:ext cx="8077200" cy="1008958"/>
        </a:xfrm>
        <a:prstGeom prst="rect">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Draw a data flow diagram (DFD)</a:t>
          </a:r>
          <a:endParaRPr lang="en-IN" sz="1800" kern="1200" dirty="0"/>
        </a:p>
      </dsp:txBody>
      <dsp:txXfrm>
        <a:off x="0" y="3055980"/>
        <a:ext cx="8077200" cy="1008958"/>
      </dsp:txXfrm>
    </dsp:sp>
    <dsp:sp modelId="{729A38A9-5B65-4A88-9A8D-4D88E38259E1}">
      <dsp:nvSpPr>
        <dsp:cNvPr id="0" name=""/>
        <dsp:cNvSpPr/>
      </dsp:nvSpPr>
      <dsp:spPr>
        <a:xfrm>
          <a:off x="0" y="4101323"/>
          <a:ext cx="8077200" cy="72768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 a SLR (1) parsing table</a:t>
          </a:r>
          <a:endParaRPr lang="en-IN" sz="1800" kern="1200" dirty="0"/>
        </a:p>
      </dsp:txBody>
      <dsp:txXfrm>
        <a:off x="0" y="4101323"/>
        <a:ext cx="8077200" cy="727680"/>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4.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4/10/2026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4/10/2026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1978753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a:t>
            </a:fld>
            <a:endParaRPr lang="en-US"/>
          </a:p>
        </p:txBody>
      </p:sp>
    </p:spTree>
    <p:extLst>
      <p:ext uri="{BB962C8B-B14F-4D97-AF65-F5344CB8AC3E}">
        <p14:creationId xmlns:p14="http://schemas.microsoft.com/office/powerpoint/2010/main" val="3222720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a:t>
            </a:fld>
            <a:endParaRPr lang="en-US"/>
          </a:p>
        </p:txBody>
      </p:sp>
    </p:spTree>
    <p:extLst>
      <p:ext uri="{BB962C8B-B14F-4D97-AF65-F5344CB8AC3E}">
        <p14:creationId xmlns:p14="http://schemas.microsoft.com/office/powerpoint/2010/main" val="958063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a:t>
            </a:fld>
            <a:endParaRPr lang="en-US"/>
          </a:p>
        </p:txBody>
      </p:sp>
    </p:spTree>
    <p:extLst>
      <p:ext uri="{BB962C8B-B14F-4D97-AF65-F5344CB8AC3E}">
        <p14:creationId xmlns:p14="http://schemas.microsoft.com/office/powerpoint/2010/main" val="2376418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a:t>
            </a:fld>
            <a:endParaRPr lang="en-US"/>
          </a:p>
        </p:txBody>
      </p:sp>
    </p:spTree>
    <p:extLst>
      <p:ext uri="{BB962C8B-B14F-4D97-AF65-F5344CB8AC3E}">
        <p14:creationId xmlns:p14="http://schemas.microsoft.com/office/powerpoint/2010/main" val="2508519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a:t>
            </a:fld>
            <a:endParaRPr lang="en-US"/>
          </a:p>
        </p:txBody>
      </p:sp>
    </p:spTree>
    <p:extLst>
      <p:ext uri="{BB962C8B-B14F-4D97-AF65-F5344CB8AC3E}">
        <p14:creationId xmlns:p14="http://schemas.microsoft.com/office/powerpoint/2010/main" val="2019473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a:t>
            </a:fld>
            <a:endParaRPr lang="en-US"/>
          </a:p>
        </p:txBody>
      </p:sp>
    </p:spTree>
    <p:extLst>
      <p:ext uri="{BB962C8B-B14F-4D97-AF65-F5344CB8AC3E}">
        <p14:creationId xmlns:p14="http://schemas.microsoft.com/office/powerpoint/2010/main" val="1578993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a:t>
            </a:fld>
            <a:endParaRPr lang="en-US"/>
          </a:p>
        </p:txBody>
      </p:sp>
    </p:spTree>
    <p:extLst>
      <p:ext uri="{BB962C8B-B14F-4D97-AF65-F5344CB8AC3E}">
        <p14:creationId xmlns:p14="http://schemas.microsoft.com/office/powerpoint/2010/main" val="2840436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22</a:t>
            </a:fld>
            <a:endParaRPr lang="en-US"/>
          </a:p>
        </p:txBody>
      </p:sp>
    </p:spTree>
    <p:extLst>
      <p:ext uri="{BB962C8B-B14F-4D97-AF65-F5344CB8AC3E}">
        <p14:creationId xmlns:p14="http://schemas.microsoft.com/office/powerpoint/2010/main" val="13285068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23</a:t>
            </a:fld>
            <a:endParaRPr lang="en-US"/>
          </a:p>
        </p:txBody>
      </p:sp>
    </p:spTree>
    <p:extLst>
      <p:ext uri="{BB962C8B-B14F-4D97-AF65-F5344CB8AC3E}">
        <p14:creationId xmlns:p14="http://schemas.microsoft.com/office/powerpoint/2010/main" val="3865680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25</a:t>
            </a:fld>
            <a:endParaRPr lang="en-US"/>
          </a:p>
        </p:txBody>
      </p:sp>
    </p:spTree>
    <p:extLst>
      <p:ext uri="{BB962C8B-B14F-4D97-AF65-F5344CB8AC3E}">
        <p14:creationId xmlns:p14="http://schemas.microsoft.com/office/powerpoint/2010/main" val="13316108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26</a:t>
            </a:fld>
            <a:endParaRPr lang="en-US"/>
          </a:p>
        </p:txBody>
      </p:sp>
    </p:spTree>
    <p:extLst>
      <p:ext uri="{BB962C8B-B14F-4D97-AF65-F5344CB8AC3E}">
        <p14:creationId xmlns:p14="http://schemas.microsoft.com/office/powerpoint/2010/main" val="22373790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28</a:t>
            </a:fld>
            <a:endParaRPr lang="en-US" dirty="0"/>
          </a:p>
        </p:txBody>
      </p:sp>
    </p:spTree>
    <p:extLst>
      <p:ext uri="{BB962C8B-B14F-4D97-AF65-F5344CB8AC3E}">
        <p14:creationId xmlns:p14="http://schemas.microsoft.com/office/powerpoint/2010/main" val="36947708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29</a:t>
            </a:fld>
            <a:endParaRPr lang="en-US" dirty="0"/>
          </a:p>
        </p:txBody>
      </p:sp>
    </p:spTree>
    <p:extLst>
      <p:ext uri="{BB962C8B-B14F-4D97-AF65-F5344CB8AC3E}">
        <p14:creationId xmlns:p14="http://schemas.microsoft.com/office/powerpoint/2010/main" val="1248279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30</a:t>
            </a:fld>
            <a:endParaRPr lang="en-US" dirty="0"/>
          </a:p>
        </p:txBody>
      </p:sp>
    </p:spTree>
    <p:extLst>
      <p:ext uri="{BB962C8B-B14F-4D97-AF65-F5344CB8AC3E}">
        <p14:creationId xmlns:p14="http://schemas.microsoft.com/office/powerpoint/2010/main" val="25029114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buFont typeface="Arial" panose="020B0604020202020204" pitchFamily="34" charset="0"/>
              <a:buNone/>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32</a:t>
            </a:fld>
            <a:endParaRPr lang="en-US" dirty="0"/>
          </a:p>
        </p:txBody>
      </p:sp>
    </p:spTree>
    <p:extLst>
      <p:ext uri="{BB962C8B-B14F-4D97-AF65-F5344CB8AC3E}">
        <p14:creationId xmlns:p14="http://schemas.microsoft.com/office/powerpoint/2010/main" val="15277017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buFont typeface="Arial" panose="020B0604020202020204" pitchFamily="34" charset="0"/>
              <a:buNone/>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33</a:t>
            </a:fld>
            <a:endParaRPr lang="en-US" dirty="0"/>
          </a:p>
        </p:txBody>
      </p:sp>
    </p:spTree>
    <p:extLst>
      <p:ext uri="{BB962C8B-B14F-4D97-AF65-F5344CB8AC3E}">
        <p14:creationId xmlns:p14="http://schemas.microsoft.com/office/powerpoint/2010/main" val="3680553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36</a:t>
            </a:fld>
            <a:endParaRPr lang="en-US"/>
          </a:p>
        </p:txBody>
      </p:sp>
    </p:spTree>
    <p:extLst>
      <p:ext uri="{BB962C8B-B14F-4D97-AF65-F5344CB8AC3E}">
        <p14:creationId xmlns:p14="http://schemas.microsoft.com/office/powerpoint/2010/main" val="40721106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39</a:t>
            </a:fld>
            <a:endParaRPr lang="en-US"/>
          </a:p>
        </p:txBody>
      </p:sp>
    </p:spTree>
    <p:extLst>
      <p:ext uri="{BB962C8B-B14F-4D97-AF65-F5344CB8AC3E}">
        <p14:creationId xmlns:p14="http://schemas.microsoft.com/office/powerpoint/2010/main" val="27407789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44</a:t>
            </a:fld>
            <a:endParaRPr lang="en-US"/>
          </a:p>
        </p:txBody>
      </p:sp>
    </p:spTree>
    <p:extLst>
      <p:ext uri="{BB962C8B-B14F-4D97-AF65-F5344CB8AC3E}">
        <p14:creationId xmlns:p14="http://schemas.microsoft.com/office/powerpoint/2010/main" val="37156950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50</a:t>
            </a:fld>
            <a:endParaRPr lang="en-US"/>
          </a:p>
        </p:txBody>
      </p:sp>
    </p:spTree>
    <p:extLst>
      <p:ext uri="{BB962C8B-B14F-4D97-AF65-F5344CB8AC3E}">
        <p14:creationId xmlns:p14="http://schemas.microsoft.com/office/powerpoint/2010/main" val="19806472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52</a:t>
            </a:fld>
            <a:endParaRPr lang="en-US"/>
          </a:p>
        </p:txBody>
      </p:sp>
    </p:spTree>
    <p:extLst>
      <p:ext uri="{BB962C8B-B14F-4D97-AF65-F5344CB8AC3E}">
        <p14:creationId xmlns:p14="http://schemas.microsoft.com/office/powerpoint/2010/main" val="5486576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53</a:t>
            </a:fld>
            <a:endParaRPr lang="en-US"/>
          </a:p>
        </p:txBody>
      </p:sp>
    </p:spTree>
    <p:extLst>
      <p:ext uri="{BB962C8B-B14F-4D97-AF65-F5344CB8AC3E}">
        <p14:creationId xmlns:p14="http://schemas.microsoft.com/office/powerpoint/2010/main" val="41235928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54</a:t>
            </a:fld>
            <a:endParaRPr lang="en-US"/>
          </a:p>
        </p:txBody>
      </p:sp>
    </p:spTree>
    <p:extLst>
      <p:ext uri="{BB962C8B-B14F-4D97-AF65-F5344CB8AC3E}">
        <p14:creationId xmlns:p14="http://schemas.microsoft.com/office/powerpoint/2010/main" val="36271815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55</a:t>
            </a:fld>
            <a:endParaRPr lang="en-US"/>
          </a:p>
        </p:txBody>
      </p:sp>
    </p:spTree>
    <p:extLst>
      <p:ext uri="{BB962C8B-B14F-4D97-AF65-F5344CB8AC3E}">
        <p14:creationId xmlns:p14="http://schemas.microsoft.com/office/powerpoint/2010/main" val="21751538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56</a:t>
            </a:fld>
            <a:endParaRPr lang="en-US"/>
          </a:p>
        </p:txBody>
      </p:sp>
    </p:spTree>
    <p:extLst>
      <p:ext uri="{BB962C8B-B14F-4D97-AF65-F5344CB8AC3E}">
        <p14:creationId xmlns:p14="http://schemas.microsoft.com/office/powerpoint/2010/main" val="3221243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60</a:t>
            </a:fld>
            <a:endParaRPr lang="en-US"/>
          </a:p>
        </p:txBody>
      </p:sp>
    </p:spTree>
    <p:extLst>
      <p:ext uri="{BB962C8B-B14F-4D97-AF65-F5344CB8AC3E}">
        <p14:creationId xmlns:p14="http://schemas.microsoft.com/office/powerpoint/2010/main" val="16536781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61</a:t>
            </a:fld>
            <a:endParaRPr lang="en-US"/>
          </a:p>
        </p:txBody>
      </p:sp>
    </p:spTree>
    <p:extLst>
      <p:ext uri="{BB962C8B-B14F-4D97-AF65-F5344CB8AC3E}">
        <p14:creationId xmlns:p14="http://schemas.microsoft.com/office/powerpoint/2010/main" val="5954263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62</a:t>
            </a:fld>
            <a:endParaRPr lang="en-US"/>
          </a:p>
        </p:txBody>
      </p:sp>
    </p:spTree>
    <p:extLst>
      <p:ext uri="{BB962C8B-B14F-4D97-AF65-F5344CB8AC3E}">
        <p14:creationId xmlns:p14="http://schemas.microsoft.com/office/powerpoint/2010/main" val="22334276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63</a:t>
            </a:fld>
            <a:endParaRPr lang="en-US"/>
          </a:p>
        </p:txBody>
      </p:sp>
    </p:spTree>
    <p:extLst>
      <p:ext uri="{BB962C8B-B14F-4D97-AF65-F5344CB8AC3E}">
        <p14:creationId xmlns:p14="http://schemas.microsoft.com/office/powerpoint/2010/main" val="13269531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64</a:t>
            </a:fld>
            <a:endParaRPr lang="en-US"/>
          </a:p>
        </p:txBody>
      </p:sp>
    </p:spTree>
    <p:extLst>
      <p:ext uri="{BB962C8B-B14F-4D97-AF65-F5344CB8AC3E}">
        <p14:creationId xmlns:p14="http://schemas.microsoft.com/office/powerpoint/2010/main" val="18041689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65</a:t>
            </a:fld>
            <a:endParaRPr lang="en-US"/>
          </a:p>
        </p:txBody>
      </p:sp>
    </p:spTree>
    <p:extLst>
      <p:ext uri="{BB962C8B-B14F-4D97-AF65-F5344CB8AC3E}">
        <p14:creationId xmlns:p14="http://schemas.microsoft.com/office/powerpoint/2010/main" val="35147974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66</a:t>
            </a:fld>
            <a:endParaRPr lang="en-US"/>
          </a:p>
        </p:txBody>
      </p:sp>
    </p:spTree>
    <p:extLst>
      <p:ext uri="{BB962C8B-B14F-4D97-AF65-F5344CB8AC3E}">
        <p14:creationId xmlns:p14="http://schemas.microsoft.com/office/powerpoint/2010/main" val="34724282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67</a:t>
            </a:fld>
            <a:endParaRPr lang="en-US"/>
          </a:p>
        </p:txBody>
      </p:sp>
    </p:spTree>
    <p:extLst>
      <p:ext uri="{BB962C8B-B14F-4D97-AF65-F5344CB8AC3E}">
        <p14:creationId xmlns:p14="http://schemas.microsoft.com/office/powerpoint/2010/main" val="5311191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68</a:t>
            </a:fld>
            <a:endParaRPr lang="en-US"/>
          </a:p>
        </p:txBody>
      </p:sp>
    </p:spTree>
    <p:extLst>
      <p:ext uri="{BB962C8B-B14F-4D97-AF65-F5344CB8AC3E}">
        <p14:creationId xmlns:p14="http://schemas.microsoft.com/office/powerpoint/2010/main" val="12601893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69</a:t>
            </a:fld>
            <a:endParaRPr lang="en-US"/>
          </a:p>
        </p:txBody>
      </p:sp>
    </p:spTree>
    <p:extLst>
      <p:ext uri="{BB962C8B-B14F-4D97-AF65-F5344CB8AC3E}">
        <p14:creationId xmlns:p14="http://schemas.microsoft.com/office/powerpoint/2010/main" val="28980383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70</a:t>
            </a:fld>
            <a:endParaRPr lang="en-US"/>
          </a:p>
        </p:txBody>
      </p:sp>
    </p:spTree>
    <p:extLst>
      <p:ext uri="{BB962C8B-B14F-4D97-AF65-F5344CB8AC3E}">
        <p14:creationId xmlns:p14="http://schemas.microsoft.com/office/powerpoint/2010/main" val="18084323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71</a:t>
            </a:fld>
            <a:endParaRPr lang="en-US"/>
          </a:p>
        </p:txBody>
      </p:sp>
    </p:spTree>
    <p:extLst>
      <p:ext uri="{BB962C8B-B14F-4D97-AF65-F5344CB8AC3E}">
        <p14:creationId xmlns:p14="http://schemas.microsoft.com/office/powerpoint/2010/main" val="16829351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72</a:t>
            </a:fld>
            <a:endParaRPr lang="en-US"/>
          </a:p>
        </p:txBody>
      </p:sp>
    </p:spTree>
    <p:extLst>
      <p:ext uri="{BB962C8B-B14F-4D97-AF65-F5344CB8AC3E}">
        <p14:creationId xmlns:p14="http://schemas.microsoft.com/office/powerpoint/2010/main" val="7354645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73</a:t>
            </a:fld>
            <a:endParaRPr lang="en-US"/>
          </a:p>
        </p:txBody>
      </p:sp>
    </p:spTree>
    <p:extLst>
      <p:ext uri="{BB962C8B-B14F-4D97-AF65-F5344CB8AC3E}">
        <p14:creationId xmlns:p14="http://schemas.microsoft.com/office/powerpoint/2010/main" val="40802948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74</a:t>
            </a:fld>
            <a:endParaRPr lang="en-US"/>
          </a:p>
        </p:txBody>
      </p:sp>
    </p:spTree>
    <p:extLst>
      <p:ext uri="{BB962C8B-B14F-4D97-AF65-F5344CB8AC3E}">
        <p14:creationId xmlns:p14="http://schemas.microsoft.com/office/powerpoint/2010/main" val="23831345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75</a:t>
            </a:fld>
            <a:endParaRPr lang="en-US"/>
          </a:p>
        </p:txBody>
      </p:sp>
    </p:spTree>
    <p:extLst>
      <p:ext uri="{BB962C8B-B14F-4D97-AF65-F5344CB8AC3E}">
        <p14:creationId xmlns:p14="http://schemas.microsoft.com/office/powerpoint/2010/main" val="37590114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76</a:t>
            </a:fld>
            <a:endParaRPr lang="en-US"/>
          </a:p>
        </p:txBody>
      </p:sp>
    </p:spTree>
    <p:extLst>
      <p:ext uri="{BB962C8B-B14F-4D97-AF65-F5344CB8AC3E}">
        <p14:creationId xmlns:p14="http://schemas.microsoft.com/office/powerpoint/2010/main" val="28615514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77</a:t>
            </a:fld>
            <a:endParaRPr lang="en-US"/>
          </a:p>
        </p:txBody>
      </p:sp>
    </p:spTree>
    <p:extLst>
      <p:ext uri="{BB962C8B-B14F-4D97-AF65-F5344CB8AC3E}">
        <p14:creationId xmlns:p14="http://schemas.microsoft.com/office/powerpoint/2010/main" val="15922874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78</a:t>
            </a:fld>
            <a:endParaRPr lang="en-US"/>
          </a:p>
        </p:txBody>
      </p:sp>
    </p:spTree>
    <p:extLst>
      <p:ext uri="{BB962C8B-B14F-4D97-AF65-F5344CB8AC3E}">
        <p14:creationId xmlns:p14="http://schemas.microsoft.com/office/powerpoint/2010/main" val="17448613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79</a:t>
            </a:fld>
            <a:endParaRPr lang="en-US"/>
          </a:p>
        </p:txBody>
      </p:sp>
    </p:spTree>
    <p:extLst>
      <p:ext uri="{BB962C8B-B14F-4D97-AF65-F5344CB8AC3E}">
        <p14:creationId xmlns:p14="http://schemas.microsoft.com/office/powerpoint/2010/main" val="17181188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80</a:t>
            </a:fld>
            <a:endParaRPr lang="en-US"/>
          </a:p>
        </p:txBody>
      </p:sp>
    </p:spTree>
    <p:extLst>
      <p:ext uri="{BB962C8B-B14F-4D97-AF65-F5344CB8AC3E}">
        <p14:creationId xmlns:p14="http://schemas.microsoft.com/office/powerpoint/2010/main" val="83363947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81</a:t>
            </a:fld>
            <a:endParaRPr lang="en-US"/>
          </a:p>
        </p:txBody>
      </p:sp>
    </p:spTree>
    <p:extLst>
      <p:ext uri="{BB962C8B-B14F-4D97-AF65-F5344CB8AC3E}">
        <p14:creationId xmlns:p14="http://schemas.microsoft.com/office/powerpoint/2010/main" val="20800430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82</a:t>
            </a:fld>
            <a:endParaRPr lang="en-US"/>
          </a:p>
        </p:txBody>
      </p:sp>
    </p:spTree>
    <p:extLst>
      <p:ext uri="{BB962C8B-B14F-4D97-AF65-F5344CB8AC3E}">
        <p14:creationId xmlns:p14="http://schemas.microsoft.com/office/powerpoint/2010/main" val="29562201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83</a:t>
            </a:fld>
            <a:endParaRPr lang="en-US"/>
          </a:p>
        </p:txBody>
      </p:sp>
    </p:spTree>
    <p:extLst>
      <p:ext uri="{BB962C8B-B14F-4D97-AF65-F5344CB8AC3E}">
        <p14:creationId xmlns:p14="http://schemas.microsoft.com/office/powerpoint/2010/main" val="11042957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84</a:t>
            </a:fld>
            <a:endParaRPr lang="en-US"/>
          </a:p>
        </p:txBody>
      </p:sp>
    </p:spTree>
    <p:extLst>
      <p:ext uri="{BB962C8B-B14F-4D97-AF65-F5344CB8AC3E}">
        <p14:creationId xmlns:p14="http://schemas.microsoft.com/office/powerpoint/2010/main" val="36133581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85</a:t>
            </a:fld>
            <a:endParaRPr lang="en-US"/>
          </a:p>
        </p:txBody>
      </p:sp>
    </p:spTree>
    <p:extLst>
      <p:ext uri="{BB962C8B-B14F-4D97-AF65-F5344CB8AC3E}">
        <p14:creationId xmlns:p14="http://schemas.microsoft.com/office/powerpoint/2010/main" val="389145834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86</a:t>
            </a:fld>
            <a:endParaRPr lang="en-US"/>
          </a:p>
        </p:txBody>
      </p:sp>
    </p:spTree>
    <p:extLst>
      <p:ext uri="{BB962C8B-B14F-4D97-AF65-F5344CB8AC3E}">
        <p14:creationId xmlns:p14="http://schemas.microsoft.com/office/powerpoint/2010/main" val="1338489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87</a:t>
            </a:fld>
            <a:endParaRPr lang="en-US"/>
          </a:p>
        </p:txBody>
      </p:sp>
    </p:spTree>
    <p:extLst>
      <p:ext uri="{BB962C8B-B14F-4D97-AF65-F5344CB8AC3E}">
        <p14:creationId xmlns:p14="http://schemas.microsoft.com/office/powerpoint/2010/main" val="38990146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88</a:t>
            </a:fld>
            <a:endParaRPr lang="en-US"/>
          </a:p>
        </p:txBody>
      </p:sp>
    </p:spTree>
    <p:extLst>
      <p:ext uri="{BB962C8B-B14F-4D97-AF65-F5344CB8AC3E}">
        <p14:creationId xmlns:p14="http://schemas.microsoft.com/office/powerpoint/2010/main" val="389939792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89</a:t>
            </a:fld>
            <a:endParaRPr lang="en-US"/>
          </a:p>
        </p:txBody>
      </p:sp>
    </p:spTree>
    <p:extLst>
      <p:ext uri="{BB962C8B-B14F-4D97-AF65-F5344CB8AC3E}">
        <p14:creationId xmlns:p14="http://schemas.microsoft.com/office/powerpoint/2010/main" val="16853974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90</a:t>
            </a:fld>
            <a:endParaRPr lang="en-US"/>
          </a:p>
        </p:txBody>
      </p:sp>
    </p:spTree>
    <p:extLst>
      <p:ext uri="{BB962C8B-B14F-4D97-AF65-F5344CB8AC3E}">
        <p14:creationId xmlns:p14="http://schemas.microsoft.com/office/powerpoint/2010/main" val="35486301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91</a:t>
            </a:fld>
            <a:endParaRPr lang="en-US"/>
          </a:p>
        </p:txBody>
      </p:sp>
    </p:spTree>
    <p:extLst>
      <p:ext uri="{BB962C8B-B14F-4D97-AF65-F5344CB8AC3E}">
        <p14:creationId xmlns:p14="http://schemas.microsoft.com/office/powerpoint/2010/main" val="153790319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92</a:t>
            </a:fld>
            <a:endParaRPr lang="en-US"/>
          </a:p>
        </p:txBody>
      </p:sp>
    </p:spTree>
    <p:extLst>
      <p:ext uri="{BB962C8B-B14F-4D97-AF65-F5344CB8AC3E}">
        <p14:creationId xmlns:p14="http://schemas.microsoft.com/office/powerpoint/2010/main" val="16117126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93</a:t>
            </a:fld>
            <a:endParaRPr lang="en-US"/>
          </a:p>
        </p:txBody>
      </p:sp>
    </p:spTree>
    <p:extLst>
      <p:ext uri="{BB962C8B-B14F-4D97-AF65-F5344CB8AC3E}">
        <p14:creationId xmlns:p14="http://schemas.microsoft.com/office/powerpoint/2010/main" val="143043995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94</a:t>
            </a:fld>
            <a:endParaRPr lang="en-US"/>
          </a:p>
        </p:txBody>
      </p:sp>
    </p:spTree>
    <p:extLst>
      <p:ext uri="{BB962C8B-B14F-4D97-AF65-F5344CB8AC3E}">
        <p14:creationId xmlns:p14="http://schemas.microsoft.com/office/powerpoint/2010/main" val="2573196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95</a:t>
            </a:fld>
            <a:endParaRPr lang="en-US"/>
          </a:p>
        </p:txBody>
      </p:sp>
    </p:spTree>
    <p:extLst>
      <p:ext uri="{BB962C8B-B14F-4D97-AF65-F5344CB8AC3E}">
        <p14:creationId xmlns:p14="http://schemas.microsoft.com/office/powerpoint/2010/main" val="363029616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96</a:t>
            </a:fld>
            <a:endParaRPr lang="en-US"/>
          </a:p>
        </p:txBody>
      </p:sp>
    </p:spTree>
    <p:extLst>
      <p:ext uri="{BB962C8B-B14F-4D97-AF65-F5344CB8AC3E}">
        <p14:creationId xmlns:p14="http://schemas.microsoft.com/office/powerpoint/2010/main" val="154008637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97</a:t>
            </a:fld>
            <a:endParaRPr lang="en-US"/>
          </a:p>
        </p:txBody>
      </p:sp>
    </p:spTree>
    <p:extLst>
      <p:ext uri="{BB962C8B-B14F-4D97-AF65-F5344CB8AC3E}">
        <p14:creationId xmlns:p14="http://schemas.microsoft.com/office/powerpoint/2010/main" val="262664789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98</a:t>
            </a:fld>
            <a:endParaRPr lang="en-US"/>
          </a:p>
        </p:txBody>
      </p:sp>
    </p:spTree>
    <p:extLst>
      <p:ext uri="{BB962C8B-B14F-4D97-AF65-F5344CB8AC3E}">
        <p14:creationId xmlns:p14="http://schemas.microsoft.com/office/powerpoint/2010/main" val="265792896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99</a:t>
            </a:fld>
            <a:endParaRPr lang="en-US"/>
          </a:p>
        </p:txBody>
      </p:sp>
    </p:spTree>
    <p:extLst>
      <p:ext uri="{BB962C8B-B14F-4D97-AF65-F5344CB8AC3E}">
        <p14:creationId xmlns:p14="http://schemas.microsoft.com/office/powerpoint/2010/main" val="348655911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100</a:t>
            </a:fld>
            <a:endParaRPr lang="en-US"/>
          </a:p>
        </p:txBody>
      </p:sp>
    </p:spTree>
    <p:extLst>
      <p:ext uri="{BB962C8B-B14F-4D97-AF65-F5344CB8AC3E}">
        <p14:creationId xmlns:p14="http://schemas.microsoft.com/office/powerpoint/2010/main" val="322825404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101</a:t>
            </a:fld>
            <a:endParaRPr lang="en-US"/>
          </a:p>
        </p:txBody>
      </p:sp>
    </p:spTree>
    <p:extLst>
      <p:ext uri="{BB962C8B-B14F-4D97-AF65-F5344CB8AC3E}">
        <p14:creationId xmlns:p14="http://schemas.microsoft.com/office/powerpoint/2010/main" val="411684030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102</a:t>
            </a:fld>
            <a:endParaRPr lang="en-US"/>
          </a:p>
        </p:txBody>
      </p:sp>
    </p:spTree>
    <p:extLst>
      <p:ext uri="{BB962C8B-B14F-4D97-AF65-F5344CB8AC3E}">
        <p14:creationId xmlns:p14="http://schemas.microsoft.com/office/powerpoint/2010/main" val="1220080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103</a:t>
            </a:fld>
            <a:endParaRPr lang="en-US"/>
          </a:p>
        </p:txBody>
      </p:sp>
    </p:spTree>
    <p:extLst>
      <p:ext uri="{BB962C8B-B14F-4D97-AF65-F5344CB8AC3E}">
        <p14:creationId xmlns:p14="http://schemas.microsoft.com/office/powerpoint/2010/main" val="191578079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104</a:t>
            </a:fld>
            <a:endParaRPr lang="en-US"/>
          </a:p>
        </p:txBody>
      </p:sp>
    </p:spTree>
    <p:extLst>
      <p:ext uri="{BB962C8B-B14F-4D97-AF65-F5344CB8AC3E}">
        <p14:creationId xmlns:p14="http://schemas.microsoft.com/office/powerpoint/2010/main" val="29788270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105</a:t>
            </a:fld>
            <a:endParaRPr lang="en-US"/>
          </a:p>
        </p:txBody>
      </p:sp>
    </p:spTree>
    <p:extLst>
      <p:ext uri="{BB962C8B-B14F-4D97-AF65-F5344CB8AC3E}">
        <p14:creationId xmlns:p14="http://schemas.microsoft.com/office/powerpoint/2010/main" val="84461242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106</a:t>
            </a:fld>
            <a:endParaRPr lang="en-US"/>
          </a:p>
        </p:txBody>
      </p:sp>
    </p:spTree>
    <p:extLst>
      <p:ext uri="{BB962C8B-B14F-4D97-AF65-F5344CB8AC3E}">
        <p14:creationId xmlns:p14="http://schemas.microsoft.com/office/powerpoint/2010/main" val="168565859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107</a:t>
            </a:fld>
            <a:endParaRPr lang="en-US"/>
          </a:p>
        </p:txBody>
      </p:sp>
    </p:spTree>
    <p:extLst>
      <p:ext uri="{BB962C8B-B14F-4D97-AF65-F5344CB8AC3E}">
        <p14:creationId xmlns:p14="http://schemas.microsoft.com/office/powerpoint/2010/main" val="419593988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108</a:t>
            </a:fld>
            <a:endParaRPr lang="en-US"/>
          </a:p>
        </p:txBody>
      </p:sp>
    </p:spTree>
    <p:extLst>
      <p:ext uri="{BB962C8B-B14F-4D97-AF65-F5344CB8AC3E}">
        <p14:creationId xmlns:p14="http://schemas.microsoft.com/office/powerpoint/2010/main" val="293041088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109</a:t>
            </a:fld>
            <a:endParaRPr lang="en-US"/>
          </a:p>
        </p:txBody>
      </p:sp>
    </p:spTree>
    <p:extLst>
      <p:ext uri="{BB962C8B-B14F-4D97-AF65-F5344CB8AC3E}">
        <p14:creationId xmlns:p14="http://schemas.microsoft.com/office/powerpoint/2010/main" val="367125993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110</a:t>
            </a:fld>
            <a:endParaRPr lang="en-US"/>
          </a:p>
        </p:txBody>
      </p:sp>
    </p:spTree>
    <p:extLst>
      <p:ext uri="{BB962C8B-B14F-4D97-AF65-F5344CB8AC3E}">
        <p14:creationId xmlns:p14="http://schemas.microsoft.com/office/powerpoint/2010/main" val="69774679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111</a:t>
            </a:fld>
            <a:endParaRPr lang="en-US"/>
          </a:p>
        </p:txBody>
      </p:sp>
    </p:spTree>
    <p:extLst>
      <p:ext uri="{BB962C8B-B14F-4D97-AF65-F5344CB8AC3E}">
        <p14:creationId xmlns:p14="http://schemas.microsoft.com/office/powerpoint/2010/main" val="146936035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112</a:t>
            </a:fld>
            <a:endParaRPr lang="en-US"/>
          </a:p>
        </p:txBody>
      </p:sp>
    </p:spTree>
    <p:extLst>
      <p:ext uri="{BB962C8B-B14F-4D97-AF65-F5344CB8AC3E}">
        <p14:creationId xmlns:p14="http://schemas.microsoft.com/office/powerpoint/2010/main" val="106121967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113</a:t>
            </a:fld>
            <a:endParaRPr lang="en-US"/>
          </a:p>
        </p:txBody>
      </p:sp>
    </p:spTree>
    <p:extLst>
      <p:ext uri="{BB962C8B-B14F-4D97-AF65-F5344CB8AC3E}">
        <p14:creationId xmlns:p14="http://schemas.microsoft.com/office/powerpoint/2010/main" val="133041202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114</a:t>
            </a:fld>
            <a:endParaRPr lang="en-US"/>
          </a:p>
        </p:txBody>
      </p:sp>
    </p:spTree>
    <p:extLst>
      <p:ext uri="{BB962C8B-B14F-4D97-AF65-F5344CB8AC3E}">
        <p14:creationId xmlns:p14="http://schemas.microsoft.com/office/powerpoint/2010/main" val="309548693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115</a:t>
            </a:fld>
            <a:endParaRPr lang="en-US"/>
          </a:p>
        </p:txBody>
      </p:sp>
    </p:spTree>
    <p:extLst>
      <p:ext uri="{BB962C8B-B14F-4D97-AF65-F5344CB8AC3E}">
        <p14:creationId xmlns:p14="http://schemas.microsoft.com/office/powerpoint/2010/main" val="418197662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116</a:t>
            </a:fld>
            <a:endParaRPr lang="en-US"/>
          </a:p>
        </p:txBody>
      </p:sp>
    </p:spTree>
    <p:extLst>
      <p:ext uri="{BB962C8B-B14F-4D97-AF65-F5344CB8AC3E}">
        <p14:creationId xmlns:p14="http://schemas.microsoft.com/office/powerpoint/2010/main" val="423204398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117</a:t>
            </a:fld>
            <a:endParaRPr lang="en-US"/>
          </a:p>
        </p:txBody>
      </p:sp>
    </p:spTree>
    <p:extLst>
      <p:ext uri="{BB962C8B-B14F-4D97-AF65-F5344CB8AC3E}">
        <p14:creationId xmlns:p14="http://schemas.microsoft.com/office/powerpoint/2010/main" val="51935081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118</a:t>
            </a:fld>
            <a:endParaRPr lang="en-US"/>
          </a:p>
        </p:txBody>
      </p:sp>
    </p:spTree>
    <p:extLst>
      <p:ext uri="{BB962C8B-B14F-4D97-AF65-F5344CB8AC3E}">
        <p14:creationId xmlns:p14="http://schemas.microsoft.com/office/powerpoint/2010/main" val="54349112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119</a:t>
            </a:fld>
            <a:endParaRPr lang="en-US"/>
          </a:p>
        </p:txBody>
      </p:sp>
    </p:spTree>
    <p:extLst>
      <p:ext uri="{BB962C8B-B14F-4D97-AF65-F5344CB8AC3E}">
        <p14:creationId xmlns:p14="http://schemas.microsoft.com/office/powerpoint/2010/main" val="33701736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120</a:t>
            </a:fld>
            <a:endParaRPr lang="en-US"/>
          </a:p>
        </p:txBody>
      </p:sp>
    </p:spTree>
    <p:extLst>
      <p:ext uri="{BB962C8B-B14F-4D97-AF65-F5344CB8AC3E}">
        <p14:creationId xmlns:p14="http://schemas.microsoft.com/office/powerpoint/2010/main" val="338010659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121</a:t>
            </a:fld>
            <a:endParaRPr lang="en-US"/>
          </a:p>
        </p:txBody>
      </p:sp>
    </p:spTree>
    <p:extLst>
      <p:ext uri="{BB962C8B-B14F-4D97-AF65-F5344CB8AC3E}">
        <p14:creationId xmlns:p14="http://schemas.microsoft.com/office/powerpoint/2010/main" val="364033723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122</a:t>
            </a:fld>
            <a:endParaRPr lang="en-US"/>
          </a:p>
        </p:txBody>
      </p:sp>
    </p:spTree>
    <p:extLst>
      <p:ext uri="{BB962C8B-B14F-4D97-AF65-F5344CB8AC3E}">
        <p14:creationId xmlns:p14="http://schemas.microsoft.com/office/powerpoint/2010/main" val="166483124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123</a:t>
            </a:fld>
            <a:endParaRPr lang="en-US"/>
          </a:p>
        </p:txBody>
      </p:sp>
    </p:spTree>
    <p:extLst>
      <p:ext uri="{BB962C8B-B14F-4D97-AF65-F5344CB8AC3E}">
        <p14:creationId xmlns:p14="http://schemas.microsoft.com/office/powerpoint/2010/main" val="290679082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124</a:t>
            </a:fld>
            <a:endParaRPr lang="en-US"/>
          </a:p>
        </p:txBody>
      </p:sp>
    </p:spTree>
    <p:extLst>
      <p:ext uri="{BB962C8B-B14F-4D97-AF65-F5344CB8AC3E}">
        <p14:creationId xmlns:p14="http://schemas.microsoft.com/office/powerpoint/2010/main" val="400143560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161</a:t>
            </a:fld>
            <a:endParaRPr lang="en-US"/>
          </a:p>
        </p:txBody>
      </p:sp>
    </p:spTree>
    <p:extLst>
      <p:ext uri="{BB962C8B-B14F-4D97-AF65-F5344CB8AC3E}">
        <p14:creationId xmlns:p14="http://schemas.microsoft.com/office/powerpoint/2010/main" val="58616720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162</a:t>
            </a:fld>
            <a:endParaRPr lang="en-US"/>
          </a:p>
        </p:txBody>
      </p:sp>
    </p:spTree>
    <p:extLst>
      <p:ext uri="{BB962C8B-B14F-4D97-AF65-F5344CB8AC3E}">
        <p14:creationId xmlns:p14="http://schemas.microsoft.com/office/powerpoint/2010/main" val="349067639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163</a:t>
            </a:fld>
            <a:endParaRPr lang="en-US"/>
          </a:p>
        </p:txBody>
      </p:sp>
    </p:spTree>
    <p:extLst>
      <p:ext uri="{BB962C8B-B14F-4D97-AF65-F5344CB8AC3E}">
        <p14:creationId xmlns:p14="http://schemas.microsoft.com/office/powerpoint/2010/main" val="428737613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164</a:t>
            </a:fld>
            <a:endParaRPr lang="en-US"/>
          </a:p>
        </p:txBody>
      </p:sp>
    </p:spTree>
    <p:extLst>
      <p:ext uri="{BB962C8B-B14F-4D97-AF65-F5344CB8AC3E}">
        <p14:creationId xmlns:p14="http://schemas.microsoft.com/office/powerpoint/2010/main" val="254916275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165</a:t>
            </a:fld>
            <a:endParaRPr lang="en-US"/>
          </a:p>
        </p:txBody>
      </p:sp>
    </p:spTree>
    <p:extLst>
      <p:ext uri="{BB962C8B-B14F-4D97-AF65-F5344CB8AC3E}">
        <p14:creationId xmlns:p14="http://schemas.microsoft.com/office/powerpoint/2010/main" val="30480998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166</a:t>
            </a:fld>
            <a:endParaRPr lang="en-US"/>
          </a:p>
        </p:txBody>
      </p:sp>
    </p:spTree>
    <p:extLst>
      <p:ext uri="{BB962C8B-B14F-4D97-AF65-F5344CB8AC3E}">
        <p14:creationId xmlns:p14="http://schemas.microsoft.com/office/powerpoint/2010/main" val="105342984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167</a:t>
            </a:fld>
            <a:endParaRPr lang="en-US"/>
          </a:p>
        </p:txBody>
      </p:sp>
    </p:spTree>
    <p:extLst>
      <p:ext uri="{BB962C8B-B14F-4D97-AF65-F5344CB8AC3E}">
        <p14:creationId xmlns:p14="http://schemas.microsoft.com/office/powerpoint/2010/main" val="341768248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168</a:t>
            </a:fld>
            <a:endParaRPr lang="en-US"/>
          </a:p>
        </p:txBody>
      </p:sp>
    </p:spTree>
    <p:extLst>
      <p:ext uri="{BB962C8B-B14F-4D97-AF65-F5344CB8AC3E}">
        <p14:creationId xmlns:p14="http://schemas.microsoft.com/office/powerpoint/2010/main" val="418110254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169</a:t>
            </a:fld>
            <a:endParaRPr lang="en-US"/>
          </a:p>
        </p:txBody>
      </p:sp>
    </p:spTree>
    <p:extLst>
      <p:ext uri="{BB962C8B-B14F-4D97-AF65-F5344CB8AC3E}">
        <p14:creationId xmlns:p14="http://schemas.microsoft.com/office/powerpoint/2010/main" val="23622352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171</a:t>
            </a:fld>
            <a:endParaRPr lang="en-US"/>
          </a:p>
        </p:txBody>
      </p:sp>
    </p:spTree>
    <p:extLst>
      <p:ext uri="{BB962C8B-B14F-4D97-AF65-F5344CB8AC3E}">
        <p14:creationId xmlns:p14="http://schemas.microsoft.com/office/powerpoint/2010/main" val="327131482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172</a:t>
            </a:fld>
            <a:endParaRPr lang="en-US"/>
          </a:p>
        </p:txBody>
      </p:sp>
    </p:spTree>
    <p:extLst>
      <p:ext uri="{BB962C8B-B14F-4D97-AF65-F5344CB8AC3E}">
        <p14:creationId xmlns:p14="http://schemas.microsoft.com/office/powerpoint/2010/main" val="96757227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173</a:t>
            </a:fld>
            <a:endParaRPr lang="en-US"/>
          </a:p>
        </p:txBody>
      </p:sp>
    </p:spTree>
    <p:extLst>
      <p:ext uri="{BB962C8B-B14F-4D97-AF65-F5344CB8AC3E}">
        <p14:creationId xmlns:p14="http://schemas.microsoft.com/office/powerpoint/2010/main" val="5877294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174</a:t>
            </a:fld>
            <a:endParaRPr lang="en-US"/>
          </a:p>
        </p:txBody>
      </p:sp>
    </p:spTree>
    <p:extLst>
      <p:ext uri="{BB962C8B-B14F-4D97-AF65-F5344CB8AC3E}">
        <p14:creationId xmlns:p14="http://schemas.microsoft.com/office/powerpoint/2010/main" val="189686712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175</a:t>
            </a:fld>
            <a:endParaRPr lang="en-US"/>
          </a:p>
        </p:txBody>
      </p:sp>
    </p:spTree>
    <p:extLst>
      <p:ext uri="{BB962C8B-B14F-4D97-AF65-F5344CB8AC3E}">
        <p14:creationId xmlns:p14="http://schemas.microsoft.com/office/powerpoint/2010/main" val="316414945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195</a:t>
            </a:fld>
            <a:endParaRPr lang="en-US"/>
          </a:p>
        </p:txBody>
      </p:sp>
    </p:spTree>
    <p:extLst>
      <p:ext uri="{BB962C8B-B14F-4D97-AF65-F5344CB8AC3E}">
        <p14:creationId xmlns:p14="http://schemas.microsoft.com/office/powerpoint/2010/main" val="3393362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94727A6-3030-42DB-B914-F6BA37615A37}" type="datetime1">
              <a:rPr lang="en-US" smtClean="0"/>
              <a:t>4/10/2026</a:t>
            </a:fld>
            <a:endParaRPr lang="en-US"/>
          </a:p>
        </p:txBody>
      </p:sp>
      <p:sp>
        <p:nvSpPr>
          <p:cNvPr id="5" name="Footer Placeholder 4"/>
          <p:cNvSpPr>
            <a:spLocks noGrp="1"/>
          </p:cNvSpPr>
          <p:nvPr>
            <p:ph type="ftr" sz="quarter" idx="11"/>
          </p:nvPr>
        </p:nvSpPr>
        <p:spPr/>
        <p:txBody>
          <a:bodyPr/>
          <a:lstStyle/>
          <a:p>
            <a:r>
              <a:rPr lang="it-IT" smtClean="0"/>
              <a:t>Vivek Kumar Sharma                      CD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b="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1800">
                <a:latin typeface="Times New Roman" panose="02020603050405020304" pitchFamily="18" charset="0"/>
                <a:cs typeface="Times New Roman" panose="02020603050405020304" pitchFamily="18" charset="0"/>
              </a:defRPr>
            </a:lvl1pPr>
            <a:lvl2pPr>
              <a:defRPr sz="1800">
                <a:latin typeface="Times New Roman" panose="02020603050405020304" pitchFamily="18" charset="0"/>
                <a:cs typeface="Times New Roman" panose="02020603050405020304" pitchFamily="18" charset="0"/>
              </a:defRPr>
            </a:lvl2pPr>
            <a:lvl3pPr>
              <a:defRPr sz="1800">
                <a:latin typeface="Times New Roman" panose="02020603050405020304" pitchFamily="18" charset="0"/>
                <a:cs typeface="Times New Roman" panose="02020603050405020304" pitchFamily="18" charset="0"/>
              </a:defRPr>
            </a:lvl3pPr>
            <a:lvl4pPr>
              <a:defRPr sz="1800">
                <a:latin typeface="Times New Roman" panose="02020603050405020304" pitchFamily="18" charset="0"/>
                <a:cs typeface="Times New Roman" panose="02020603050405020304" pitchFamily="18" charset="0"/>
              </a:defRPr>
            </a:lvl4pPr>
            <a:lvl5pPr>
              <a:defRPr sz="18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D4C92DA-6937-4203-860A-22212C1CC935}"/>
              </a:ext>
            </a:extLst>
          </p:cNvPr>
          <p:cNvSpPr>
            <a:spLocks noGrp="1"/>
          </p:cNvSpPr>
          <p:nvPr>
            <p:ph type="dt" sz="half" idx="10"/>
          </p:nvPr>
        </p:nvSpPr>
        <p:spPr/>
        <p:txBody>
          <a:bodyPr/>
          <a:lstStyle/>
          <a:p>
            <a:fld id="{A284CD95-2C46-483B-AEE4-FCA943728B35}" type="datetime1">
              <a:rPr lang="en-US" smtClean="0"/>
              <a:t>4/10/2026</a:t>
            </a:fld>
            <a:endParaRPr lang="en-US"/>
          </a:p>
        </p:txBody>
      </p:sp>
      <p:sp>
        <p:nvSpPr>
          <p:cNvPr id="8" name="Footer Placeholder 7">
            <a:extLst>
              <a:ext uri="{FF2B5EF4-FFF2-40B4-BE49-F238E27FC236}">
                <a16:creationId xmlns:a16="http://schemas.microsoft.com/office/drawing/2014/main" id="{69C14EB7-CC0B-48EB-B2B9-A571AE88D27D}"/>
              </a:ext>
            </a:extLst>
          </p:cNvPr>
          <p:cNvSpPr>
            <a:spLocks noGrp="1"/>
          </p:cNvSpPr>
          <p:nvPr>
            <p:ph type="ftr" sz="quarter" idx="11"/>
          </p:nvPr>
        </p:nvSpPr>
        <p:spPr/>
        <p:txBody>
          <a:bodyPr/>
          <a:lstStyle/>
          <a:p>
            <a:r>
              <a:rPr lang="it-IT" smtClean="0"/>
              <a:t>Vivek Kumar Sharma                      CD                Unit 2</a:t>
            </a:r>
            <a:endParaRPr lang="en-US" dirty="0"/>
          </a:p>
        </p:txBody>
      </p:sp>
      <p:sp>
        <p:nvSpPr>
          <p:cNvPr id="9" name="Slide Number Placeholder 8">
            <a:extLst>
              <a:ext uri="{FF2B5EF4-FFF2-40B4-BE49-F238E27FC236}">
                <a16:creationId xmlns:a16="http://schemas.microsoft.com/office/drawing/2014/main" id="{335A7FB8-C9E9-4276-B167-5F296619F5AB}"/>
              </a:ext>
            </a:extLst>
          </p:cNvPr>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15998-6AA2-4FD4-AE59-170D71050D4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C81C625-8724-4E40-8429-5353CA08D209}"/>
              </a:ext>
            </a:extLst>
          </p:cNvPr>
          <p:cNvSpPr>
            <a:spLocks noGrp="1"/>
          </p:cNvSpPr>
          <p:nvPr>
            <p:ph type="dt" sz="half" idx="10"/>
          </p:nvPr>
        </p:nvSpPr>
        <p:spPr/>
        <p:txBody>
          <a:bodyPr/>
          <a:lstStyle/>
          <a:p>
            <a:fld id="{97368D71-60B2-424B-AAC2-29B1D6D2D43B}" type="datetime1">
              <a:rPr lang="en-US" smtClean="0"/>
              <a:t>4/10/2026</a:t>
            </a:fld>
            <a:endParaRPr lang="en-US"/>
          </a:p>
        </p:txBody>
      </p:sp>
      <p:sp>
        <p:nvSpPr>
          <p:cNvPr id="4" name="Footer Placeholder 3">
            <a:extLst>
              <a:ext uri="{FF2B5EF4-FFF2-40B4-BE49-F238E27FC236}">
                <a16:creationId xmlns:a16="http://schemas.microsoft.com/office/drawing/2014/main" id="{4309C229-C2A4-4517-BDA2-93545A9EF19B}"/>
              </a:ext>
            </a:extLst>
          </p:cNvPr>
          <p:cNvSpPr>
            <a:spLocks noGrp="1"/>
          </p:cNvSpPr>
          <p:nvPr>
            <p:ph type="ftr" sz="quarter" idx="11"/>
          </p:nvPr>
        </p:nvSpPr>
        <p:spPr/>
        <p:txBody>
          <a:bodyPr/>
          <a:lstStyle/>
          <a:p>
            <a:r>
              <a:rPr lang="it-IT" smtClean="0"/>
              <a:t>Vivek Kumar Sharma                      CD                Unit 2</a:t>
            </a:r>
            <a:endParaRPr lang="en-US"/>
          </a:p>
        </p:txBody>
      </p:sp>
      <p:sp>
        <p:nvSpPr>
          <p:cNvPr id="5" name="Slide Number Placeholder 4">
            <a:extLst>
              <a:ext uri="{FF2B5EF4-FFF2-40B4-BE49-F238E27FC236}">
                <a16:creationId xmlns:a16="http://schemas.microsoft.com/office/drawing/2014/main" id="{4AB0C562-6ACC-4D45-A4BE-A95D9BB287D0}"/>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38045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2C96A8-FAAB-4C13-A76B-C52CB011D82F}" type="datetime1">
              <a:rPr lang="en-US" smtClean="0"/>
              <a:t>4/10/2026</a:t>
            </a:fld>
            <a:endParaRPr lang="en-US"/>
          </a:p>
        </p:txBody>
      </p:sp>
      <p:sp>
        <p:nvSpPr>
          <p:cNvPr id="5" name="Footer Placeholder 4"/>
          <p:cNvSpPr>
            <a:spLocks noGrp="1"/>
          </p:cNvSpPr>
          <p:nvPr>
            <p:ph type="ftr" sz="quarter" idx="11"/>
          </p:nvPr>
        </p:nvSpPr>
        <p:spPr/>
        <p:txBody>
          <a:bodyPr/>
          <a:lstStyle/>
          <a:p>
            <a:r>
              <a:rPr lang="it-IT" smtClean="0"/>
              <a:t>Vivek Kumar Sharma                      CD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ADE3A21-E8BF-4C5F-B310-43E017BE16BD}" type="datetime1">
              <a:rPr lang="en-US" smtClean="0"/>
              <a:t>4/10/2026</a:t>
            </a:fld>
            <a:endParaRPr lang="en-US"/>
          </a:p>
        </p:txBody>
      </p:sp>
      <p:sp>
        <p:nvSpPr>
          <p:cNvPr id="6" name="Footer Placeholder 5"/>
          <p:cNvSpPr>
            <a:spLocks noGrp="1"/>
          </p:cNvSpPr>
          <p:nvPr>
            <p:ph type="ftr" sz="quarter" idx="11"/>
          </p:nvPr>
        </p:nvSpPr>
        <p:spPr/>
        <p:txBody>
          <a:bodyPr/>
          <a:lstStyle/>
          <a:p>
            <a:r>
              <a:rPr lang="it-IT" smtClean="0"/>
              <a:t>Vivek Kumar Sharma                      CD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D50CFB7-D251-4574-A3C4-FEAD9012E7FD}" type="datetime1">
              <a:rPr lang="en-US" smtClean="0"/>
              <a:t>4/10/2026</a:t>
            </a:fld>
            <a:endParaRPr lang="en-US"/>
          </a:p>
        </p:txBody>
      </p:sp>
      <p:sp>
        <p:nvSpPr>
          <p:cNvPr id="8" name="Footer Placeholder 7"/>
          <p:cNvSpPr>
            <a:spLocks noGrp="1"/>
          </p:cNvSpPr>
          <p:nvPr>
            <p:ph type="ftr" sz="quarter" idx="11"/>
          </p:nvPr>
        </p:nvSpPr>
        <p:spPr/>
        <p:txBody>
          <a:bodyPr/>
          <a:lstStyle/>
          <a:p>
            <a:r>
              <a:rPr lang="it-IT" smtClean="0"/>
              <a:t>Vivek Kumar Sharma                      CD                Unit 2</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01817EC-E1A2-49D6-8D9C-EA9B10BE9456}" type="datetime1">
              <a:rPr lang="en-US" smtClean="0"/>
              <a:t>4/10/2026</a:t>
            </a:fld>
            <a:endParaRPr lang="en-US"/>
          </a:p>
        </p:txBody>
      </p:sp>
      <p:sp>
        <p:nvSpPr>
          <p:cNvPr id="4" name="Footer Placeholder 3"/>
          <p:cNvSpPr>
            <a:spLocks noGrp="1"/>
          </p:cNvSpPr>
          <p:nvPr>
            <p:ph type="ftr" sz="quarter" idx="11"/>
          </p:nvPr>
        </p:nvSpPr>
        <p:spPr/>
        <p:txBody>
          <a:bodyPr/>
          <a:lstStyle/>
          <a:p>
            <a:r>
              <a:rPr lang="it-IT" smtClean="0"/>
              <a:t>Vivek Kumar Sharma                      CD                Unit 2</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06E0D5-B43D-464B-8AC2-925FBC8BA2F6}" type="datetime1">
              <a:rPr lang="en-US" smtClean="0"/>
              <a:t>4/10/2026</a:t>
            </a:fld>
            <a:endParaRPr lang="en-US"/>
          </a:p>
        </p:txBody>
      </p:sp>
      <p:sp>
        <p:nvSpPr>
          <p:cNvPr id="3" name="Footer Placeholder 2"/>
          <p:cNvSpPr>
            <a:spLocks noGrp="1"/>
          </p:cNvSpPr>
          <p:nvPr>
            <p:ph type="ftr" sz="quarter" idx="11"/>
          </p:nvPr>
        </p:nvSpPr>
        <p:spPr/>
        <p:txBody>
          <a:bodyPr/>
          <a:lstStyle/>
          <a:p>
            <a:r>
              <a:rPr lang="it-IT" smtClean="0"/>
              <a:t>Vivek Kumar Sharma                      CD                Unit 2</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F14167-A23A-4510-BC8A-E4AA6A5237BE}" type="datetime1">
              <a:rPr lang="en-US" smtClean="0"/>
              <a:t>4/10/2026</a:t>
            </a:fld>
            <a:endParaRPr lang="en-US"/>
          </a:p>
        </p:txBody>
      </p:sp>
      <p:sp>
        <p:nvSpPr>
          <p:cNvPr id="6" name="Footer Placeholder 5"/>
          <p:cNvSpPr>
            <a:spLocks noGrp="1"/>
          </p:cNvSpPr>
          <p:nvPr>
            <p:ph type="ftr" sz="quarter" idx="11"/>
          </p:nvPr>
        </p:nvSpPr>
        <p:spPr/>
        <p:txBody>
          <a:bodyPr/>
          <a:lstStyle/>
          <a:p>
            <a:r>
              <a:rPr lang="it-IT" smtClean="0"/>
              <a:t>Vivek Kumar Sharma                      CD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F69EFC-A769-4681-9A5A-FB2CE972962F}" type="datetime1">
              <a:rPr lang="en-US" smtClean="0"/>
              <a:t>4/10/2026</a:t>
            </a:fld>
            <a:endParaRPr lang="en-US"/>
          </a:p>
        </p:txBody>
      </p:sp>
      <p:sp>
        <p:nvSpPr>
          <p:cNvPr id="6" name="Footer Placeholder 5"/>
          <p:cNvSpPr>
            <a:spLocks noGrp="1"/>
          </p:cNvSpPr>
          <p:nvPr>
            <p:ph type="ftr" sz="quarter" idx="11"/>
          </p:nvPr>
        </p:nvSpPr>
        <p:spPr/>
        <p:txBody>
          <a:bodyPr/>
          <a:lstStyle/>
          <a:p>
            <a:r>
              <a:rPr lang="it-IT" smtClean="0"/>
              <a:t>Vivek Kumar Sharma                      CD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E9372FA-EF6D-4627-A9F1-B6699577324C}" type="datetime1">
              <a:rPr lang="en-US" smtClean="0"/>
              <a:t>4/10/2026</a:t>
            </a:fld>
            <a:endParaRPr lang="en-US"/>
          </a:p>
        </p:txBody>
      </p:sp>
      <p:sp>
        <p:nvSpPr>
          <p:cNvPr id="5" name="Footer Placeholder 4"/>
          <p:cNvSpPr>
            <a:spLocks noGrp="1"/>
          </p:cNvSpPr>
          <p:nvPr>
            <p:ph type="ftr" sz="quarter" idx="11"/>
          </p:nvPr>
        </p:nvSpPr>
        <p:spPr/>
        <p:txBody>
          <a:bodyPr/>
          <a:lstStyle/>
          <a:p>
            <a:r>
              <a:rPr lang="it-IT" smtClean="0"/>
              <a:t>Vivek Kumar Sharma                      CD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9FEA05-CC4F-4531-8352-B09F0863768A}" type="datetime1">
              <a:rPr lang="en-US" smtClean="0"/>
              <a:t>4/10/2026</a:t>
            </a:fld>
            <a:endParaRPr lang="en-US"/>
          </a:p>
        </p:txBody>
      </p:sp>
      <p:sp>
        <p:nvSpPr>
          <p:cNvPr id="5" name="Footer Placeholder 4"/>
          <p:cNvSpPr>
            <a:spLocks noGrp="1"/>
          </p:cNvSpPr>
          <p:nvPr>
            <p:ph type="ftr" sz="quarter" idx="11"/>
          </p:nvPr>
        </p:nvSpPr>
        <p:spPr/>
        <p:txBody>
          <a:bodyPr/>
          <a:lstStyle/>
          <a:p>
            <a:r>
              <a:rPr lang="it-IT" smtClean="0"/>
              <a:t>Vivek Kumar Sharma                      CD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a:t>Click to edit Master title style</a:t>
            </a:r>
          </a:p>
        </p:txBody>
      </p:sp>
      <p:sp>
        <p:nvSpPr>
          <p:cNvPr id="3" name="Content Placeholder 2"/>
          <p:cNvSpPr>
            <a:spLocks noGrp="1"/>
          </p:cNvSpPr>
          <p:nvPr>
            <p:ph idx="1"/>
          </p:nvPr>
        </p:nvSpPr>
        <p:spPr>
          <a:solidFill>
            <a:schemeClr val="bg1"/>
          </a:solidFill>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5BECEFF-CABA-4663-9303-26F38EDB8A0C}" type="datetime1">
              <a:rPr lang="en-US" smtClean="0"/>
              <a:t>4/10/2026</a:t>
            </a:fld>
            <a:endParaRPr lang="en-US"/>
          </a:p>
        </p:txBody>
      </p:sp>
      <p:sp>
        <p:nvSpPr>
          <p:cNvPr id="5" name="Footer Placeholder 4"/>
          <p:cNvSpPr>
            <a:spLocks noGrp="1"/>
          </p:cNvSpPr>
          <p:nvPr>
            <p:ph type="ftr" sz="quarter" idx="11"/>
          </p:nvPr>
        </p:nvSpPr>
        <p:spPr/>
        <p:txBody>
          <a:bodyPr/>
          <a:lstStyle/>
          <a:p>
            <a:r>
              <a:rPr lang="en-US" smtClean="0"/>
              <a:t>Vivek Kumart Sharma                BCSE0404X(TOC)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35206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a:t>Click to edit Master title style</a:t>
            </a:r>
          </a:p>
        </p:txBody>
      </p:sp>
      <p:sp>
        <p:nvSpPr>
          <p:cNvPr id="3" name="Content Placeholder 2"/>
          <p:cNvSpPr>
            <a:spLocks noGrp="1"/>
          </p:cNvSpPr>
          <p:nvPr>
            <p:ph idx="1"/>
          </p:nvPr>
        </p:nvSpPr>
        <p:spPr>
          <a:solidFill>
            <a:schemeClr val="bg1"/>
          </a:solidFill>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5BECEFF-CABA-4663-9303-26F38EDB8A0C}" type="datetime1">
              <a:rPr lang="en-US" smtClean="0"/>
              <a:t>4/10/2026</a:t>
            </a:fld>
            <a:endParaRPr lang="en-US"/>
          </a:p>
        </p:txBody>
      </p:sp>
      <p:sp>
        <p:nvSpPr>
          <p:cNvPr id="5" name="Footer Placeholder 4"/>
          <p:cNvSpPr>
            <a:spLocks noGrp="1"/>
          </p:cNvSpPr>
          <p:nvPr>
            <p:ph type="ftr" sz="quarter" idx="11"/>
          </p:nvPr>
        </p:nvSpPr>
        <p:spPr/>
        <p:txBody>
          <a:bodyPr/>
          <a:lstStyle/>
          <a:p>
            <a:r>
              <a:rPr lang="en-US" smtClean="0"/>
              <a:t>Vivek Kumart Sharma                BCSE0404X(TOC)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619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a:t>Click to edit Master title style</a:t>
            </a:r>
          </a:p>
        </p:txBody>
      </p:sp>
      <p:sp>
        <p:nvSpPr>
          <p:cNvPr id="3" name="Content Placeholder 2"/>
          <p:cNvSpPr>
            <a:spLocks noGrp="1"/>
          </p:cNvSpPr>
          <p:nvPr>
            <p:ph idx="1"/>
          </p:nvPr>
        </p:nvSpPr>
        <p:spPr>
          <a:solidFill>
            <a:schemeClr val="bg1"/>
          </a:solidFill>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5BECEFF-CABA-4663-9303-26F38EDB8A0C}" type="datetime1">
              <a:rPr lang="en-US" smtClean="0"/>
              <a:t>4/10/2026</a:t>
            </a:fld>
            <a:endParaRPr lang="en-US"/>
          </a:p>
        </p:txBody>
      </p:sp>
      <p:sp>
        <p:nvSpPr>
          <p:cNvPr id="5" name="Footer Placeholder 4"/>
          <p:cNvSpPr>
            <a:spLocks noGrp="1"/>
          </p:cNvSpPr>
          <p:nvPr>
            <p:ph type="ftr" sz="quarter" idx="11"/>
          </p:nvPr>
        </p:nvSpPr>
        <p:spPr/>
        <p:txBody>
          <a:bodyPr/>
          <a:lstStyle/>
          <a:p>
            <a:r>
              <a:rPr lang="en-US" smtClean="0"/>
              <a:t>Vivek Kumart Sharma                BCSE0404X(TOC)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1671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a:t>Click to edit Master title style</a:t>
            </a:r>
          </a:p>
        </p:txBody>
      </p:sp>
      <p:sp>
        <p:nvSpPr>
          <p:cNvPr id="3" name="Content Placeholder 2"/>
          <p:cNvSpPr>
            <a:spLocks noGrp="1"/>
          </p:cNvSpPr>
          <p:nvPr>
            <p:ph idx="1"/>
          </p:nvPr>
        </p:nvSpPr>
        <p:spPr>
          <a:solidFill>
            <a:schemeClr val="bg1"/>
          </a:solidFill>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5BECEFF-CABA-4663-9303-26F38EDB8A0C}" type="datetime1">
              <a:rPr lang="en-US" smtClean="0"/>
              <a:t>4/10/2026</a:t>
            </a:fld>
            <a:endParaRPr lang="en-US"/>
          </a:p>
        </p:txBody>
      </p:sp>
      <p:sp>
        <p:nvSpPr>
          <p:cNvPr id="5" name="Footer Placeholder 4"/>
          <p:cNvSpPr>
            <a:spLocks noGrp="1"/>
          </p:cNvSpPr>
          <p:nvPr>
            <p:ph type="ftr" sz="quarter" idx="11"/>
          </p:nvPr>
        </p:nvSpPr>
        <p:spPr/>
        <p:txBody>
          <a:bodyPr/>
          <a:lstStyle/>
          <a:p>
            <a:r>
              <a:rPr lang="en-US" smtClean="0"/>
              <a:t>Vivek Kumart Sharma                BCSE0404X(TOC)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95370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a:t>Click to edit Master title style</a:t>
            </a:r>
          </a:p>
        </p:txBody>
      </p:sp>
      <p:sp>
        <p:nvSpPr>
          <p:cNvPr id="3" name="Content Placeholder 2"/>
          <p:cNvSpPr>
            <a:spLocks noGrp="1"/>
          </p:cNvSpPr>
          <p:nvPr>
            <p:ph idx="1"/>
          </p:nvPr>
        </p:nvSpPr>
        <p:spPr>
          <a:solidFill>
            <a:schemeClr val="bg1"/>
          </a:solidFill>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5BECEFF-CABA-4663-9303-26F38EDB8A0C}" type="datetime1">
              <a:rPr lang="en-US" smtClean="0"/>
              <a:t>4/10/2026</a:t>
            </a:fld>
            <a:endParaRPr lang="en-US"/>
          </a:p>
        </p:txBody>
      </p:sp>
      <p:sp>
        <p:nvSpPr>
          <p:cNvPr id="5" name="Footer Placeholder 4"/>
          <p:cNvSpPr>
            <a:spLocks noGrp="1"/>
          </p:cNvSpPr>
          <p:nvPr>
            <p:ph type="ftr" sz="quarter" idx="11"/>
          </p:nvPr>
        </p:nvSpPr>
        <p:spPr/>
        <p:txBody>
          <a:bodyPr/>
          <a:lstStyle/>
          <a:p>
            <a:r>
              <a:rPr lang="en-US" smtClean="0"/>
              <a:t>Vivek Kumart Sharma                BCSE0404X(TOC)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606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a:t>Click to edit Master title style</a:t>
            </a:r>
          </a:p>
        </p:txBody>
      </p:sp>
      <p:sp>
        <p:nvSpPr>
          <p:cNvPr id="3" name="Content Placeholder 2"/>
          <p:cNvSpPr>
            <a:spLocks noGrp="1"/>
          </p:cNvSpPr>
          <p:nvPr>
            <p:ph idx="1"/>
          </p:nvPr>
        </p:nvSpPr>
        <p:spPr>
          <a:solidFill>
            <a:schemeClr val="bg1"/>
          </a:solidFill>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5BECEFF-CABA-4663-9303-26F38EDB8A0C}" type="datetime1">
              <a:rPr lang="en-US" smtClean="0"/>
              <a:t>4/10/2026</a:t>
            </a:fld>
            <a:endParaRPr lang="en-US"/>
          </a:p>
        </p:txBody>
      </p:sp>
      <p:sp>
        <p:nvSpPr>
          <p:cNvPr id="5" name="Footer Placeholder 4"/>
          <p:cNvSpPr>
            <a:spLocks noGrp="1"/>
          </p:cNvSpPr>
          <p:nvPr>
            <p:ph type="ftr" sz="quarter" idx="11"/>
          </p:nvPr>
        </p:nvSpPr>
        <p:spPr/>
        <p:txBody>
          <a:bodyPr/>
          <a:lstStyle/>
          <a:p>
            <a:r>
              <a:rPr lang="en-US" smtClean="0"/>
              <a:t>Vivek Kumart Sharma                BCSE0404X(TOC)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79081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a:t>Click to edit Master title style</a:t>
            </a:r>
          </a:p>
        </p:txBody>
      </p:sp>
      <p:sp>
        <p:nvSpPr>
          <p:cNvPr id="3" name="Content Placeholder 2"/>
          <p:cNvSpPr>
            <a:spLocks noGrp="1"/>
          </p:cNvSpPr>
          <p:nvPr>
            <p:ph idx="1"/>
          </p:nvPr>
        </p:nvSpPr>
        <p:spPr>
          <a:solidFill>
            <a:schemeClr val="bg1"/>
          </a:solidFill>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5BECEFF-CABA-4663-9303-26F38EDB8A0C}" type="datetime1">
              <a:rPr lang="en-US" smtClean="0"/>
              <a:t>4/10/2026</a:t>
            </a:fld>
            <a:endParaRPr lang="en-US"/>
          </a:p>
        </p:txBody>
      </p:sp>
      <p:sp>
        <p:nvSpPr>
          <p:cNvPr id="5" name="Footer Placeholder 4"/>
          <p:cNvSpPr>
            <a:spLocks noGrp="1"/>
          </p:cNvSpPr>
          <p:nvPr>
            <p:ph type="ftr" sz="quarter" idx="11"/>
          </p:nvPr>
        </p:nvSpPr>
        <p:spPr/>
        <p:txBody>
          <a:bodyPr/>
          <a:lstStyle/>
          <a:p>
            <a:r>
              <a:rPr lang="en-US" smtClean="0"/>
              <a:t>Vivek Kumart Sharma                BCSE0404X(TOC)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25945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a:t>Click to edit Master title style</a:t>
            </a:r>
          </a:p>
        </p:txBody>
      </p:sp>
      <p:sp>
        <p:nvSpPr>
          <p:cNvPr id="3" name="Content Placeholder 2"/>
          <p:cNvSpPr>
            <a:spLocks noGrp="1"/>
          </p:cNvSpPr>
          <p:nvPr>
            <p:ph idx="1"/>
          </p:nvPr>
        </p:nvSpPr>
        <p:spPr>
          <a:solidFill>
            <a:schemeClr val="bg1"/>
          </a:solidFill>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5BECEFF-CABA-4663-9303-26F38EDB8A0C}" type="datetime1">
              <a:rPr lang="en-US" smtClean="0"/>
              <a:t>4/10/2026</a:t>
            </a:fld>
            <a:endParaRPr lang="en-US"/>
          </a:p>
        </p:txBody>
      </p:sp>
      <p:sp>
        <p:nvSpPr>
          <p:cNvPr id="5" name="Footer Placeholder 4"/>
          <p:cNvSpPr>
            <a:spLocks noGrp="1"/>
          </p:cNvSpPr>
          <p:nvPr>
            <p:ph type="ftr" sz="quarter" idx="11"/>
          </p:nvPr>
        </p:nvSpPr>
        <p:spPr/>
        <p:txBody>
          <a:bodyPr/>
          <a:lstStyle/>
          <a:p>
            <a:r>
              <a:rPr lang="en-US" smtClean="0"/>
              <a:t>Vivek Kumart Sharma                BCSE0404X(TOC)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066694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9BD6-21C7-476D-833B-107F238F5A88}"/>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D0255D0-A70F-498A-BF97-12F6D308754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5DE82B-2F9A-4E9E-BFC2-5C9EFE2A13A3}"/>
              </a:ext>
            </a:extLst>
          </p:cNvPr>
          <p:cNvSpPr>
            <a:spLocks noGrp="1"/>
          </p:cNvSpPr>
          <p:nvPr>
            <p:ph type="dt" sz="half" idx="10"/>
          </p:nvPr>
        </p:nvSpPr>
        <p:spPr/>
        <p:txBody>
          <a:bodyPr/>
          <a:lstStyle/>
          <a:p>
            <a:fld id="{BBA4E17C-AE1A-4719-BB26-1ED80663DBC7}" type="datetime1">
              <a:rPr lang="en-US" smtClean="0"/>
              <a:t>4/10/2026</a:t>
            </a:fld>
            <a:endParaRPr lang="en-IN"/>
          </a:p>
        </p:txBody>
      </p:sp>
      <p:sp>
        <p:nvSpPr>
          <p:cNvPr id="5" name="Footer Placeholder 4">
            <a:extLst>
              <a:ext uri="{FF2B5EF4-FFF2-40B4-BE49-F238E27FC236}">
                <a16:creationId xmlns:a16="http://schemas.microsoft.com/office/drawing/2014/main" id="{FB26AFE9-049D-40E1-95F9-FE06898AAC25}"/>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26619742-4325-4235-B78A-48026C9D23C6}"/>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9372619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4AD1D-8952-431D-90AF-FF9078ADDD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938B98-FFAA-4856-904D-F3D2D87899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FDC2E0-6985-4AB9-B8B4-944D0C3CC9A4}"/>
              </a:ext>
            </a:extLst>
          </p:cNvPr>
          <p:cNvSpPr>
            <a:spLocks noGrp="1"/>
          </p:cNvSpPr>
          <p:nvPr>
            <p:ph type="dt" sz="half" idx="10"/>
          </p:nvPr>
        </p:nvSpPr>
        <p:spPr/>
        <p:txBody>
          <a:bodyPr/>
          <a:lstStyle/>
          <a:p>
            <a:fld id="{8DC04D7B-82BE-4D3F-A04A-2CF1FA5B3615}" type="datetime1">
              <a:rPr lang="en-US" smtClean="0"/>
              <a:t>4/10/2026</a:t>
            </a:fld>
            <a:endParaRPr lang="en-IN"/>
          </a:p>
        </p:txBody>
      </p:sp>
      <p:sp>
        <p:nvSpPr>
          <p:cNvPr id="5" name="Footer Placeholder 4">
            <a:extLst>
              <a:ext uri="{FF2B5EF4-FFF2-40B4-BE49-F238E27FC236}">
                <a16:creationId xmlns:a16="http://schemas.microsoft.com/office/drawing/2014/main" id="{0AB7DC59-69FC-4F81-9360-AA28285A612C}"/>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3294BC24-DD89-45E6-99FF-EF865D15C458}"/>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7034994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CFCC-03BD-4F11-8C71-6ECCD49AD745}"/>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5E87ED-7FF3-4171-8E03-80D16F1A77A5}"/>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2FF49-04A8-441C-92E4-F9F8C27CF0B8}"/>
              </a:ext>
            </a:extLst>
          </p:cNvPr>
          <p:cNvSpPr>
            <a:spLocks noGrp="1"/>
          </p:cNvSpPr>
          <p:nvPr>
            <p:ph type="dt" sz="half" idx="10"/>
          </p:nvPr>
        </p:nvSpPr>
        <p:spPr/>
        <p:txBody>
          <a:bodyPr/>
          <a:lstStyle/>
          <a:p>
            <a:fld id="{CA759463-921A-47D2-AF81-98E67274C334}" type="datetime1">
              <a:rPr lang="en-US" smtClean="0"/>
              <a:t>4/10/2026</a:t>
            </a:fld>
            <a:endParaRPr lang="en-IN"/>
          </a:p>
        </p:txBody>
      </p:sp>
      <p:sp>
        <p:nvSpPr>
          <p:cNvPr id="5" name="Footer Placeholder 4">
            <a:extLst>
              <a:ext uri="{FF2B5EF4-FFF2-40B4-BE49-F238E27FC236}">
                <a16:creationId xmlns:a16="http://schemas.microsoft.com/office/drawing/2014/main" id="{BD15F68B-0CA5-4073-871E-3DEBD4DE63AB}"/>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56E40AE6-F427-4CA2-8467-7607DCB145A0}"/>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8725490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2B089-83CE-45A4-945D-C050D9C08B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3EF97D-3B57-4678-9855-3379EA946B37}"/>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9FE3592-282D-41A1-914C-FB785186DEC6}"/>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6E5B4AD-1282-48E0-B30B-B4CA0845A281}"/>
              </a:ext>
            </a:extLst>
          </p:cNvPr>
          <p:cNvSpPr>
            <a:spLocks noGrp="1"/>
          </p:cNvSpPr>
          <p:nvPr>
            <p:ph type="dt" sz="half" idx="10"/>
          </p:nvPr>
        </p:nvSpPr>
        <p:spPr/>
        <p:txBody>
          <a:bodyPr/>
          <a:lstStyle/>
          <a:p>
            <a:fld id="{9708895E-15A1-43B2-BE23-BC9023FBEA3A}" type="datetime1">
              <a:rPr lang="en-US" smtClean="0"/>
              <a:t>4/10/2026</a:t>
            </a:fld>
            <a:endParaRPr lang="en-IN"/>
          </a:p>
        </p:txBody>
      </p:sp>
      <p:sp>
        <p:nvSpPr>
          <p:cNvPr id="6" name="Footer Placeholder 5">
            <a:extLst>
              <a:ext uri="{FF2B5EF4-FFF2-40B4-BE49-F238E27FC236}">
                <a16:creationId xmlns:a16="http://schemas.microsoft.com/office/drawing/2014/main" id="{809CC6AD-34AC-4560-8C75-AF7A080C5A1D}"/>
              </a:ext>
            </a:extLst>
          </p:cNvPr>
          <p:cNvSpPr>
            <a:spLocks noGrp="1"/>
          </p:cNvSpPr>
          <p:nvPr>
            <p:ph type="ftr" sz="quarter" idx="11"/>
          </p:nvPr>
        </p:nvSpPr>
        <p:spPr/>
        <p:txBody>
          <a:bodyPr/>
          <a:lstStyle/>
          <a:p>
            <a:r>
              <a:rPr lang="it-IT" smtClean="0"/>
              <a:t>Vivek Kumar Sharma                      CD                Unit 2</a:t>
            </a:r>
            <a:endParaRPr lang="en-IN"/>
          </a:p>
        </p:txBody>
      </p:sp>
      <p:sp>
        <p:nvSpPr>
          <p:cNvPr id="7" name="Slide Number Placeholder 6">
            <a:extLst>
              <a:ext uri="{FF2B5EF4-FFF2-40B4-BE49-F238E27FC236}">
                <a16:creationId xmlns:a16="http://schemas.microsoft.com/office/drawing/2014/main" id="{7A916A7F-447D-4E68-A722-490A1303A696}"/>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8927817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FCFE9-7339-4EA1-9895-C13F9AD8AEEE}"/>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9EE57A-B255-4CC4-A84F-0374508351F7}"/>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DB6825-9EC0-48B7-8762-2A0FAFE40ED4}"/>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2B4E825-A55F-4D70-8358-87CD1F6B575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AE5A0F-B6BB-44F9-82FE-8A6562CC1990}"/>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3CF838-F469-4D28-82DB-0ED519C1EDCA}"/>
              </a:ext>
            </a:extLst>
          </p:cNvPr>
          <p:cNvSpPr>
            <a:spLocks noGrp="1"/>
          </p:cNvSpPr>
          <p:nvPr>
            <p:ph type="dt" sz="half" idx="10"/>
          </p:nvPr>
        </p:nvSpPr>
        <p:spPr/>
        <p:txBody>
          <a:bodyPr/>
          <a:lstStyle/>
          <a:p>
            <a:fld id="{2DBA7C0B-7DFF-4D0A-A99E-CADA97AB8954}" type="datetime1">
              <a:rPr lang="en-US" smtClean="0"/>
              <a:t>4/10/2026</a:t>
            </a:fld>
            <a:endParaRPr lang="en-IN"/>
          </a:p>
        </p:txBody>
      </p:sp>
      <p:sp>
        <p:nvSpPr>
          <p:cNvPr id="8" name="Footer Placeholder 7">
            <a:extLst>
              <a:ext uri="{FF2B5EF4-FFF2-40B4-BE49-F238E27FC236}">
                <a16:creationId xmlns:a16="http://schemas.microsoft.com/office/drawing/2014/main" id="{3AB448E7-A341-4080-9A2B-3F8A00F4871C}"/>
              </a:ext>
            </a:extLst>
          </p:cNvPr>
          <p:cNvSpPr>
            <a:spLocks noGrp="1"/>
          </p:cNvSpPr>
          <p:nvPr>
            <p:ph type="ftr" sz="quarter" idx="11"/>
          </p:nvPr>
        </p:nvSpPr>
        <p:spPr/>
        <p:txBody>
          <a:bodyPr/>
          <a:lstStyle/>
          <a:p>
            <a:r>
              <a:rPr lang="it-IT" smtClean="0"/>
              <a:t>Vivek Kumar Sharma                      CD                Unit 2</a:t>
            </a:r>
            <a:endParaRPr lang="en-IN"/>
          </a:p>
        </p:txBody>
      </p:sp>
      <p:sp>
        <p:nvSpPr>
          <p:cNvPr id="9" name="Slide Number Placeholder 8">
            <a:extLst>
              <a:ext uri="{FF2B5EF4-FFF2-40B4-BE49-F238E27FC236}">
                <a16:creationId xmlns:a16="http://schemas.microsoft.com/office/drawing/2014/main" id="{735DF2B0-E75F-44D0-8417-7D68D74B12A9}"/>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1473201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BDF38-A5FF-4BA1-93F4-D62C6E27C80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A2BD9A1-6F77-4AB3-8264-B7B6B35D3BD2}"/>
              </a:ext>
            </a:extLst>
          </p:cNvPr>
          <p:cNvSpPr>
            <a:spLocks noGrp="1"/>
          </p:cNvSpPr>
          <p:nvPr>
            <p:ph type="dt" sz="half" idx="10"/>
          </p:nvPr>
        </p:nvSpPr>
        <p:spPr/>
        <p:txBody>
          <a:bodyPr/>
          <a:lstStyle/>
          <a:p>
            <a:fld id="{B0F42983-B313-4BBD-92BA-3F5060698A2D}" type="datetime1">
              <a:rPr lang="en-US" smtClean="0"/>
              <a:t>4/10/2026</a:t>
            </a:fld>
            <a:endParaRPr lang="en-IN"/>
          </a:p>
        </p:txBody>
      </p:sp>
      <p:sp>
        <p:nvSpPr>
          <p:cNvPr id="4" name="Footer Placeholder 3">
            <a:extLst>
              <a:ext uri="{FF2B5EF4-FFF2-40B4-BE49-F238E27FC236}">
                <a16:creationId xmlns:a16="http://schemas.microsoft.com/office/drawing/2014/main" id="{B28E5C2C-B91E-4E3B-AF16-EF8923D205A1}"/>
              </a:ext>
            </a:extLst>
          </p:cNvPr>
          <p:cNvSpPr>
            <a:spLocks noGrp="1"/>
          </p:cNvSpPr>
          <p:nvPr>
            <p:ph type="ftr" sz="quarter" idx="11"/>
          </p:nvPr>
        </p:nvSpPr>
        <p:spPr/>
        <p:txBody>
          <a:bodyPr/>
          <a:lstStyle/>
          <a:p>
            <a:r>
              <a:rPr lang="it-IT" smtClean="0"/>
              <a:t>Vivek Kumar Sharma                      CD                Unit 2</a:t>
            </a:r>
            <a:endParaRPr lang="en-IN"/>
          </a:p>
        </p:txBody>
      </p:sp>
      <p:sp>
        <p:nvSpPr>
          <p:cNvPr id="5" name="Slide Number Placeholder 4">
            <a:extLst>
              <a:ext uri="{FF2B5EF4-FFF2-40B4-BE49-F238E27FC236}">
                <a16:creationId xmlns:a16="http://schemas.microsoft.com/office/drawing/2014/main" id="{125468BB-5994-4F4C-A8AB-B049C60FC6EC}"/>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7076213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3104F8-17CF-47DD-9D2D-45F582203C30}"/>
              </a:ext>
            </a:extLst>
          </p:cNvPr>
          <p:cNvSpPr>
            <a:spLocks noGrp="1"/>
          </p:cNvSpPr>
          <p:nvPr>
            <p:ph type="dt" sz="half" idx="10"/>
          </p:nvPr>
        </p:nvSpPr>
        <p:spPr/>
        <p:txBody>
          <a:bodyPr/>
          <a:lstStyle/>
          <a:p>
            <a:fld id="{553A6B5B-62D4-4DB4-A3F5-378C145AB75C}" type="datetime1">
              <a:rPr lang="en-US" smtClean="0"/>
              <a:t>4/10/2026</a:t>
            </a:fld>
            <a:endParaRPr lang="en-IN"/>
          </a:p>
        </p:txBody>
      </p:sp>
      <p:sp>
        <p:nvSpPr>
          <p:cNvPr id="3" name="Footer Placeholder 2">
            <a:extLst>
              <a:ext uri="{FF2B5EF4-FFF2-40B4-BE49-F238E27FC236}">
                <a16:creationId xmlns:a16="http://schemas.microsoft.com/office/drawing/2014/main" id="{8F6D4C22-0E8B-40D8-B809-45C0308EAB2F}"/>
              </a:ext>
            </a:extLst>
          </p:cNvPr>
          <p:cNvSpPr>
            <a:spLocks noGrp="1"/>
          </p:cNvSpPr>
          <p:nvPr>
            <p:ph type="ftr" sz="quarter" idx="11"/>
          </p:nvPr>
        </p:nvSpPr>
        <p:spPr/>
        <p:txBody>
          <a:bodyPr/>
          <a:lstStyle/>
          <a:p>
            <a:r>
              <a:rPr lang="it-IT" smtClean="0"/>
              <a:t>Vivek Kumar Sharma                      CD                Unit 2</a:t>
            </a:r>
            <a:endParaRPr lang="en-IN"/>
          </a:p>
        </p:txBody>
      </p:sp>
      <p:sp>
        <p:nvSpPr>
          <p:cNvPr id="4" name="Slide Number Placeholder 3">
            <a:extLst>
              <a:ext uri="{FF2B5EF4-FFF2-40B4-BE49-F238E27FC236}">
                <a16:creationId xmlns:a16="http://schemas.microsoft.com/office/drawing/2014/main" id="{B17F30CA-836F-4F70-A3D2-024AAA59D2A0}"/>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202517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4DE9-0227-467E-B81A-2EA7DCB41FCB}"/>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9D5F0F-B168-4B65-9D72-1249C84EE7E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9801DD-15C9-46BC-AF6F-723420E4BF5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A0600A-B052-4316-A333-EC83307F568E}"/>
              </a:ext>
            </a:extLst>
          </p:cNvPr>
          <p:cNvSpPr>
            <a:spLocks noGrp="1"/>
          </p:cNvSpPr>
          <p:nvPr>
            <p:ph type="dt" sz="half" idx="10"/>
          </p:nvPr>
        </p:nvSpPr>
        <p:spPr/>
        <p:txBody>
          <a:bodyPr/>
          <a:lstStyle/>
          <a:p>
            <a:fld id="{45E20ABF-648E-4ECB-A967-F0A93CBD8B43}" type="datetime1">
              <a:rPr lang="en-US" smtClean="0"/>
              <a:t>4/10/2026</a:t>
            </a:fld>
            <a:endParaRPr lang="en-IN"/>
          </a:p>
        </p:txBody>
      </p:sp>
      <p:sp>
        <p:nvSpPr>
          <p:cNvPr id="6" name="Footer Placeholder 5">
            <a:extLst>
              <a:ext uri="{FF2B5EF4-FFF2-40B4-BE49-F238E27FC236}">
                <a16:creationId xmlns:a16="http://schemas.microsoft.com/office/drawing/2014/main" id="{C5B311BF-793D-46D6-9DE4-6FFC64A064CF}"/>
              </a:ext>
            </a:extLst>
          </p:cNvPr>
          <p:cNvSpPr>
            <a:spLocks noGrp="1"/>
          </p:cNvSpPr>
          <p:nvPr>
            <p:ph type="ftr" sz="quarter" idx="11"/>
          </p:nvPr>
        </p:nvSpPr>
        <p:spPr/>
        <p:txBody>
          <a:bodyPr/>
          <a:lstStyle/>
          <a:p>
            <a:r>
              <a:rPr lang="it-IT" smtClean="0"/>
              <a:t>Vivek Kumar Sharma                      CD                Unit 2</a:t>
            </a:r>
            <a:endParaRPr lang="en-IN"/>
          </a:p>
        </p:txBody>
      </p:sp>
      <p:sp>
        <p:nvSpPr>
          <p:cNvPr id="7" name="Slide Number Placeholder 6">
            <a:extLst>
              <a:ext uri="{FF2B5EF4-FFF2-40B4-BE49-F238E27FC236}">
                <a16:creationId xmlns:a16="http://schemas.microsoft.com/office/drawing/2014/main" id="{2A424DBE-C9BC-41C3-8E35-45FB288D5C39}"/>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5702221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BC25F-CC45-4946-B41F-6C11756271B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F7AE10E-0048-4AAF-BAAC-4C39B14CFE4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F53734C-1507-4C11-8556-90CD92550FE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3FCDBF-0544-4ABB-93D5-E232D2A4659E}"/>
              </a:ext>
            </a:extLst>
          </p:cNvPr>
          <p:cNvSpPr>
            <a:spLocks noGrp="1"/>
          </p:cNvSpPr>
          <p:nvPr>
            <p:ph type="dt" sz="half" idx="10"/>
          </p:nvPr>
        </p:nvSpPr>
        <p:spPr/>
        <p:txBody>
          <a:bodyPr/>
          <a:lstStyle/>
          <a:p>
            <a:fld id="{AD1BC023-A2BA-477B-8181-51B8730D8F22}" type="datetime1">
              <a:rPr lang="en-US" smtClean="0"/>
              <a:t>4/10/2026</a:t>
            </a:fld>
            <a:endParaRPr lang="en-IN"/>
          </a:p>
        </p:txBody>
      </p:sp>
      <p:sp>
        <p:nvSpPr>
          <p:cNvPr id="6" name="Footer Placeholder 5">
            <a:extLst>
              <a:ext uri="{FF2B5EF4-FFF2-40B4-BE49-F238E27FC236}">
                <a16:creationId xmlns:a16="http://schemas.microsoft.com/office/drawing/2014/main" id="{ABF57D93-C560-4F07-A944-E7878FA0668F}"/>
              </a:ext>
            </a:extLst>
          </p:cNvPr>
          <p:cNvSpPr>
            <a:spLocks noGrp="1"/>
          </p:cNvSpPr>
          <p:nvPr>
            <p:ph type="ftr" sz="quarter" idx="11"/>
          </p:nvPr>
        </p:nvSpPr>
        <p:spPr/>
        <p:txBody>
          <a:bodyPr/>
          <a:lstStyle/>
          <a:p>
            <a:r>
              <a:rPr lang="it-IT" smtClean="0"/>
              <a:t>Vivek Kumar Sharma                      CD                Unit 2</a:t>
            </a:r>
            <a:endParaRPr lang="en-IN"/>
          </a:p>
        </p:txBody>
      </p:sp>
      <p:sp>
        <p:nvSpPr>
          <p:cNvPr id="7" name="Slide Number Placeholder 6">
            <a:extLst>
              <a:ext uri="{FF2B5EF4-FFF2-40B4-BE49-F238E27FC236}">
                <a16:creationId xmlns:a16="http://schemas.microsoft.com/office/drawing/2014/main" id="{3FA31695-ED81-493E-AC9D-B28C8D291AEC}"/>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2286757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A136D-24BE-4D9E-97BE-9CDF3E07606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89CD8B-332C-4D9F-8E59-AA51DAACE5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631749-28D2-4833-BB48-828508F4A5C6}"/>
              </a:ext>
            </a:extLst>
          </p:cNvPr>
          <p:cNvSpPr>
            <a:spLocks noGrp="1"/>
          </p:cNvSpPr>
          <p:nvPr>
            <p:ph type="dt" sz="half" idx="10"/>
          </p:nvPr>
        </p:nvSpPr>
        <p:spPr/>
        <p:txBody>
          <a:bodyPr/>
          <a:lstStyle/>
          <a:p>
            <a:fld id="{BB3E5075-E6CA-411C-A007-493366E49B19}" type="datetime1">
              <a:rPr lang="en-US" smtClean="0"/>
              <a:t>4/10/2026</a:t>
            </a:fld>
            <a:endParaRPr lang="en-IN"/>
          </a:p>
        </p:txBody>
      </p:sp>
      <p:sp>
        <p:nvSpPr>
          <p:cNvPr id="5" name="Footer Placeholder 4">
            <a:extLst>
              <a:ext uri="{FF2B5EF4-FFF2-40B4-BE49-F238E27FC236}">
                <a16:creationId xmlns:a16="http://schemas.microsoft.com/office/drawing/2014/main" id="{2C618915-1324-4CFA-BDDE-A70F1C815175}"/>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80725FD5-E74D-4D29-BEC6-BC5B90375173}"/>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1520714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91F5A7-4E0B-4959-AF7E-3C73E10CCB2E}"/>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DD878C-70F2-42C8-A91F-907DFC12C620}"/>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702A9D-764D-4A99-954B-4639318FF626}"/>
              </a:ext>
            </a:extLst>
          </p:cNvPr>
          <p:cNvSpPr>
            <a:spLocks noGrp="1"/>
          </p:cNvSpPr>
          <p:nvPr>
            <p:ph type="dt" sz="half" idx="10"/>
          </p:nvPr>
        </p:nvSpPr>
        <p:spPr/>
        <p:txBody>
          <a:bodyPr/>
          <a:lstStyle/>
          <a:p>
            <a:fld id="{424AECDD-8726-47E2-AFBD-DEF0147F4580}" type="datetime1">
              <a:rPr lang="en-US" smtClean="0"/>
              <a:t>4/10/2026</a:t>
            </a:fld>
            <a:endParaRPr lang="en-IN"/>
          </a:p>
        </p:txBody>
      </p:sp>
      <p:sp>
        <p:nvSpPr>
          <p:cNvPr id="5" name="Footer Placeholder 4">
            <a:extLst>
              <a:ext uri="{FF2B5EF4-FFF2-40B4-BE49-F238E27FC236}">
                <a16:creationId xmlns:a16="http://schemas.microsoft.com/office/drawing/2014/main" id="{747D5DE4-56E0-461C-B72A-5F411C2C00C4}"/>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3DA22EDA-CBB9-4C62-8170-0754F737BADD}"/>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6202550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51AC4-5FC7-419C-AC3C-8ADCB0FB10CB}"/>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14C0E9-6EAB-4207-B959-ABC9A6039170}"/>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6A26F2-2292-42EF-B8DB-9094AE036E23}"/>
              </a:ext>
            </a:extLst>
          </p:cNvPr>
          <p:cNvSpPr>
            <a:spLocks noGrp="1"/>
          </p:cNvSpPr>
          <p:nvPr>
            <p:ph type="dt" sz="half" idx="10"/>
          </p:nvPr>
        </p:nvSpPr>
        <p:spPr/>
        <p:txBody>
          <a:bodyPr/>
          <a:lstStyle/>
          <a:p>
            <a:fld id="{0B94AE9A-A3B7-4334-B92F-84B09B5CAA96}" type="datetime1">
              <a:rPr lang="en-US" smtClean="0"/>
              <a:t>4/10/2026</a:t>
            </a:fld>
            <a:endParaRPr lang="en-IN"/>
          </a:p>
        </p:txBody>
      </p:sp>
      <p:sp>
        <p:nvSpPr>
          <p:cNvPr id="5" name="Footer Placeholder 4">
            <a:extLst>
              <a:ext uri="{FF2B5EF4-FFF2-40B4-BE49-F238E27FC236}">
                <a16:creationId xmlns:a16="http://schemas.microsoft.com/office/drawing/2014/main" id="{30388461-AF8A-4F4A-BFAA-08BE34A81DB5}"/>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A17BED0B-7E96-4D02-B24D-2478F472696C}"/>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526514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51D8-66BF-42F3-95DB-6E28ADE1D9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A09AE2-E88E-411C-8298-3D80527FEC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A5DB52-4DEA-4E52-9085-5BAC8FE5A8AC}"/>
              </a:ext>
            </a:extLst>
          </p:cNvPr>
          <p:cNvSpPr>
            <a:spLocks noGrp="1"/>
          </p:cNvSpPr>
          <p:nvPr>
            <p:ph type="dt" sz="half" idx="10"/>
          </p:nvPr>
        </p:nvSpPr>
        <p:spPr/>
        <p:txBody>
          <a:bodyPr/>
          <a:lstStyle/>
          <a:p>
            <a:fld id="{AA22B576-3651-424E-A62F-2CA7D133F954}" type="datetime1">
              <a:rPr lang="en-US" smtClean="0"/>
              <a:t>4/10/2026</a:t>
            </a:fld>
            <a:endParaRPr lang="en-IN"/>
          </a:p>
        </p:txBody>
      </p:sp>
      <p:sp>
        <p:nvSpPr>
          <p:cNvPr id="5" name="Footer Placeholder 4">
            <a:extLst>
              <a:ext uri="{FF2B5EF4-FFF2-40B4-BE49-F238E27FC236}">
                <a16:creationId xmlns:a16="http://schemas.microsoft.com/office/drawing/2014/main" id="{565CB6A3-EFC0-433C-9157-07E0BCEBBBE1}"/>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96A4C155-85E5-4623-B207-348F59D00FD2}"/>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9278732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2E078-88F8-4E10-BC94-EC5CB8E485D9}"/>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F53D48-8F38-40A2-A25B-94FCE401C03A}"/>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7C9548-EC4C-4F39-9E8E-5F3841292024}"/>
              </a:ext>
            </a:extLst>
          </p:cNvPr>
          <p:cNvSpPr>
            <a:spLocks noGrp="1"/>
          </p:cNvSpPr>
          <p:nvPr>
            <p:ph type="dt" sz="half" idx="10"/>
          </p:nvPr>
        </p:nvSpPr>
        <p:spPr/>
        <p:txBody>
          <a:bodyPr/>
          <a:lstStyle/>
          <a:p>
            <a:fld id="{187F54AA-EE82-4AAF-965A-D643BA5DCACE}" type="datetime1">
              <a:rPr lang="en-US" smtClean="0"/>
              <a:t>4/10/2026</a:t>
            </a:fld>
            <a:endParaRPr lang="en-IN"/>
          </a:p>
        </p:txBody>
      </p:sp>
      <p:sp>
        <p:nvSpPr>
          <p:cNvPr id="5" name="Footer Placeholder 4">
            <a:extLst>
              <a:ext uri="{FF2B5EF4-FFF2-40B4-BE49-F238E27FC236}">
                <a16:creationId xmlns:a16="http://schemas.microsoft.com/office/drawing/2014/main" id="{CF1E8326-CA13-41C1-8EAC-F973B553D0C3}"/>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D081D050-C4FD-4678-AE49-41D755697B34}"/>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1120979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9A498-90C6-413B-A408-3093743B75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091989-5CF7-4AFA-B6E7-1A61EEC63887}"/>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EC4A1EA-9C41-4F2B-B0D8-4C17D810CBAD}"/>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53DC90-3B52-4E58-AF3E-A026436D7E54}"/>
              </a:ext>
            </a:extLst>
          </p:cNvPr>
          <p:cNvSpPr>
            <a:spLocks noGrp="1"/>
          </p:cNvSpPr>
          <p:nvPr>
            <p:ph type="dt" sz="half" idx="10"/>
          </p:nvPr>
        </p:nvSpPr>
        <p:spPr/>
        <p:txBody>
          <a:bodyPr/>
          <a:lstStyle/>
          <a:p>
            <a:fld id="{A6BA77E1-7179-4C52-8442-83B73E7AD0B9}" type="datetime1">
              <a:rPr lang="en-US" smtClean="0"/>
              <a:t>4/10/2026</a:t>
            </a:fld>
            <a:endParaRPr lang="en-IN"/>
          </a:p>
        </p:txBody>
      </p:sp>
      <p:sp>
        <p:nvSpPr>
          <p:cNvPr id="6" name="Footer Placeholder 5">
            <a:extLst>
              <a:ext uri="{FF2B5EF4-FFF2-40B4-BE49-F238E27FC236}">
                <a16:creationId xmlns:a16="http://schemas.microsoft.com/office/drawing/2014/main" id="{56361825-F517-4A77-AF3D-27EBFCAF6639}"/>
              </a:ext>
            </a:extLst>
          </p:cNvPr>
          <p:cNvSpPr>
            <a:spLocks noGrp="1"/>
          </p:cNvSpPr>
          <p:nvPr>
            <p:ph type="ftr" sz="quarter" idx="11"/>
          </p:nvPr>
        </p:nvSpPr>
        <p:spPr/>
        <p:txBody>
          <a:bodyPr/>
          <a:lstStyle/>
          <a:p>
            <a:r>
              <a:rPr lang="it-IT" smtClean="0"/>
              <a:t>Vivek Kumar Sharma                      CD                Unit 2</a:t>
            </a:r>
            <a:endParaRPr lang="en-IN"/>
          </a:p>
        </p:txBody>
      </p:sp>
      <p:sp>
        <p:nvSpPr>
          <p:cNvPr id="7" name="Slide Number Placeholder 6">
            <a:extLst>
              <a:ext uri="{FF2B5EF4-FFF2-40B4-BE49-F238E27FC236}">
                <a16:creationId xmlns:a16="http://schemas.microsoft.com/office/drawing/2014/main" id="{919BFAA5-56C8-4AF6-94C8-F89D011BE6FA}"/>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42386146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1691-1AC0-48A5-97DB-03D9C7D26E00}"/>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7B5AAF-0BAF-4A21-80B7-3755967F538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716A1C-AEEA-4108-83E8-89FCF5040CF4}"/>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D8E2B5-1097-497F-BC39-D906896FD0B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FB1D89-B04C-4459-957B-76E00E2E7E14}"/>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B1B3FCC-8242-4A00-AAF4-E63F0DFB26B0}"/>
              </a:ext>
            </a:extLst>
          </p:cNvPr>
          <p:cNvSpPr>
            <a:spLocks noGrp="1"/>
          </p:cNvSpPr>
          <p:nvPr>
            <p:ph type="dt" sz="half" idx="10"/>
          </p:nvPr>
        </p:nvSpPr>
        <p:spPr/>
        <p:txBody>
          <a:bodyPr/>
          <a:lstStyle/>
          <a:p>
            <a:fld id="{5990A1E9-C9F8-460B-AB26-653C39811128}" type="datetime1">
              <a:rPr lang="en-US" smtClean="0"/>
              <a:t>4/10/2026</a:t>
            </a:fld>
            <a:endParaRPr lang="en-IN"/>
          </a:p>
        </p:txBody>
      </p:sp>
      <p:sp>
        <p:nvSpPr>
          <p:cNvPr id="8" name="Footer Placeholder 7">
            <a:extLst>
              <a:ext uri="{FF2B5EF4-FFF2-40B4-BE49-F238E27FC236}">
                <a16:creationId xmlns:a16="http://schemas.microsoft.com/office/drawing/2014/main" id="{DE4A1C97-B5D0-41AA-8FCF-2AAB2D68B9F8}"/>
              </a:ext>
            </a:extLst>
          </p:cNvPr>
          <p:cNvSpPr>
            <a:spLocks noGrp="1"/>
          </p:cNvSpPr>
          <p:nvPr>
            <p:ph type="ftr" sz="quarter" idx="11"/>
          </p:nvPr>
        </p:nvSpPr>
        <p:spPr/>
        <p:txBody>
          <a:bodyPr/>
          <a:lstStyle/>
          <a:p>
            <a:r>
              <a:rPr lang="it-IT" smtClean="0"/>
              <a:t>Vivek Kumar Sharma                      CD                Unit 2</a:t>
            </a:r>
            <a:endParaRPr lang="en-IN"/>
          </a:p>
        </p:txBody>
      </p:sp>
      <p:sp>
        <p:nvSpPr>
          <p:cNvPr id="9" name="Slide Number Placeholder 8">
            <a:extLst>
              <a:ext uri="{FF2B5EF4-FFF2-40B4-BE49-F238E27FC236}">
                <a16:creationId xmlns:a16="http://schemas.microsoft.com/office/drawing/2014/main" id="{A7CAF8AA-081D-4F8F-A17D-ED97AE466902}"/>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13928338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AD10D-813D-4362-BAED-A46099468C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BDBBBF-E63B-4294-AFE5-A07C1FA7A49B}"/>
              </a:ext>
            </a:extLst>
          </p:cNvPr>
          <p:cNvSpPr>
            <a:spLocks noGrp="1"/>
          </p:cNvSpPr>
          <p:nvPr>
            <p:ph type="dt" sz="half" idx="10"/>
          </p:nvPr>
        </p:nvSpPr>
        <p:spPr/>
        <p:txBody>
          <a:bodyPr/>
          <a:lstStyle/>
          <a:p>
            <a:fld id="{8978C2F5-BF2B-4923-A782-4BF5A43A5FB3}" type="datetime1">
              <a:rPr lang="en-US" smtClean="0"/>
              <a:t>4/10/2026</a:t>
            </a:fld>
            <a:endParaRPr lang="en-IN"/>
          </a:p>
        </p:txBody>
      </p:sp>
      <p:sp>
        <p:nvSpPr>
          <p:cNvPr id="4" name="Footer Placeholder 3">
            <a:extLst>
              <a:ext uri="{FF2B5EF4-FFF2-40B4-BE49-F238E27FC236}">
                <a16:creationId xmlns:a16="http://schemas.microsoft.com/office/drawing/2014/main" id="{7BFE57A9-79F2-4EBE-A551-3EBAE63E27B4}"/>
              </a:ext>
            </a:extLst>
          </p:cNvPr>
          <p:cNvSpPr>
            <a:spLocks noGrp="1"/>
          </p:cNvSpPr>
          <p:nvPr>
            <p:ph type="ftr" sz="quarter" idx="11"/>
          </p:nvPr>
        </p:nvSpPr>
        <p:spPr/>
        <p:txBody>
          <a:bodyPr/>
          <a:lstStyle/>
          <a:p>
            <a:r>
              <a:rPr lang="it-IT" smtClean="0"/>
              <a:t>Vivek Kumar Sharma                      CD                Unit 2</a:t>
            </a:r>
            <a:endParaRPr lang="en-IN"/>
          </a:p>
        </p:txBody>
      </p:sp>
      <p:sp>
        <p:nvSpPr>
          <p:cNvPr id="5" name="Slide Number Placeholder 4">
            <a:extLst>
              <a:ext uri="{FF2B5EF4-FFF2-40B4-BE49-F238E27FC236}">
                <a16:creationId xmlns:a16="http://schemas.microsoft.com/office/drawing/2014/main" id="{0124547A-EDBE-4B72-B9A8-64247C5C8BC4}"/>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0520754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4A405B-57EF-4BEE-9B75-242F18952B9E}"/>
              </a:ext>
            </a:extLst>
          </p:cNvPr>
          <p:cNvSpPr>
            <a:spLocks noGrp="1"/>
          </p:cNvSpPr>
          <p:nvPr>
            <p:ph type="dt" sz="half" idx="10"/>
          </p:nvPr>
        </p:nvSpPr>
        <p:spPr/>
        <p:txBody>
          <a:bodyPr/>
          <a:lstStyle/>
          <a:p>
            <a:fld id="{ACB3E354-4689-4797-ABA3-4B7549D04D4C}" type="datetime1">
              <a:rPr lang="en-US" smtClean="0"/>
              <a:t>4/10/2026</a:t>
            </a:fld>
            <a:endParaRPr lang="en-IN"/>
          </a:p>
        </p:txBody>
      </p:sp>
      <p:sp>
        <p:nvSpPr>
          <p:cNvPr id="3" name="Footer Placeholder 2">
            <a:extLst>
              <a:ext uri="{FF2B5EF4-FFF2-40B4-BE49-F238E27FC236}">
                <a16:creationId xmlns:a16="http://schemas.microsoft.com/office/drawing/2014/main" id="{176FBAEB-F372-4742-8C96-6510C68B4ADC}"/>
              </a:ext>
            </a:extLst>
          </p:cNvPr>
          <p:cNvSpPr>
            <a:spLocks noGrp="1"/>
          </p:cNvSpPr>
          <p:nvPr>
            <p:ph type="ftr" sz="quarter" idx="11"/>
          </p:nvPr>
        </p:nvSpPr>
        <p:spPr/>
        <p:txBody>
          <a:bodyPr/>
          <a:lstStyle/>
          <a:p>
            <a:r>
              <a:rPr lang="it-IT" smtClean="0"/>
              <a:t>Vivek Kumar Sharma                      CD                Unit 2</a:t>
            </a:r>
            <a:endParaRPr lang="en-IN"/>
          </a:p>
        </p:txBody>
      </p:sp>
      <p:sp>
        <p:nvSpPr>
          <p:cNvPr id="4" name="Slide Number Placeholder 3">
            <a:extLst>
              <a:ext uri="{FF2B5EF4-FFF2-40B4-BE49-F238E27FC236}">
                <a16:creationId xmlns:a16="http://schemas.microsoft.com/office/drawing/2014/main" id="{511FB9CC-6E11-4260-B564-42CF3CDDDFF1}"/>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38096109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5B46B-FDC0-4C4E-9065-C0BD65F0E724}"/>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26B520D-8EA2-48D3-BB82-212AE67967C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E753069-C618-4051-A0CF-E5301528556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3BE912-A34F-4826-A1D2-C150864F0954}"/>
              </a:ext>
            </a:extLst>
          </p:cNvPr>
          <p:cNvSpPr>
            <a:spLocks noGrp="1"/>
          </p:cNvSpPr>
          <p:nvPr>
            <p:ph type="dt" sz="half" idx="10"/>
          </p:nvPr>
        </p:nvSpPr>
        <p:spPr/>
        <p:txBody>
          <a:bodyPr/>
          <a:lstStyle/>
          <a:p>
            <a:fld id="{4B426292-E530-4621-85ED-AFE2C3134336}" type="datetime1">
              <a:rPr lang="en-US" smtClean="0"/>
              <a:t>4/10/2026</a:t>
            </a:fld>
            <a:endParaRPr lang="en-IN"/>
          </a:p>
        </p:txBody>
      </p:sp>
      <p:sp>
        <p:nvSpPr>
          <p:cNvPr id="6" name="Footer Placeholder 5">
            <a:extLst>
              <a:ext uri="{FF2B5EF4-FFF2-40B4-BE49-F238E27FC236}">
                <a16:creationId xmlns:a16="http://schemas.microsoft.com/office/drawing/2014/main" id="{E0E712B4-5FCD-47A7-BF4D-773F37A6E3A3}"/>
              </a:ext>
            </a:extLst>
          </p:cNvPr>
          <p:cNvSpPr>
            <a:spLocks noGrp="1"/>
          </p:cNvSpPr>
          <p:nvPr>
            <p:ph type="ftr" sz="quarter" idx="11"/>
          </p:nvPr>
        </p:nvSpPr>
        <p:spPr/>
        <p:txBody>
          <a:bodyPr/>
          <a:lstStyle/>
          <a:p>
            <a:r>
              <a:rPr lang="it-IT" smtClean="0"/>
              <a:t>Vivek Kumar Sharma                      CD                Unit 2</a:t>
            </a:r>
            <a:endParaRPr lang="en-IN"/>
          </a:p>
        </p:txBody>
      </p:sp>
      <p:sp>
        <p:nvSpPr>
          <p:cNvPr id="7" name="Slide Number Placeholder 6">
            <a:extLst>
              <a:ext uri="{FF2B5EF4-FFF2-40B4-BE49-F238E27FC236}">
                <a16:creationId xmlns:a16="http://schemas.microsoft.com/office/drawing/2014/main" id="{47423A18-86DF-489F-AB27-007736916E62}"/>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702133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22434-71D4-4AB9-B7DE-25C89AFDC10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E8C9C38-C332-412A-AF19-EED56A08C47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4D68DF9-CEAD-420C-98B4-7615161967E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FA8C02-2E9D-4A6B-82D4-F592626C14C9}"/>
              </a:ext>
            </a:extLst>
          </p:cNvPr>
          <p:cNvSpPr>
            <a:spLocks noGrp="1"/>
          </p:cNvSpPr>
          <p:nvPr>
            <p:ph type="dt" sz="half" idx="10"/>
          </p:nvPr>
        </p:nvSpPr>
        <p:spPr/>
        <p:txBody>
          <a:bodyPr/>
          <a:lstStyle/>
          <a:p>
            <a:fld id="{78FCC6ED-4753-40FC-88CD-BFE3BB63C579}" type="datetime1">
              <a:rPr lang="en-US" smtClean="0"/>
              <a:t>4/10/2026</a:t>
            </a:fld>
            <a:endParaRPr lang="en-IN"/>
          </a:p>
        </p:txBody>
      </p:sp>
      <p:sp>
        <p:nvSpPr>
          <p:cNvPr id="6" name="Footer Placeholder 5">
            <a:extLst>
              <a:ext uri="{FF2B5EF4-FFF2-40B4-BE49-F238E27FC236}">
                <a16:creationId xmlns:a16="http://schemas.microsoft.com/office/drawing/2014/main" id="{C3BEF59E-158D-4FC0-BB71-96AA16728CEE}"/>
              </a:ext>
            </a:extLst>
          </p:cNvPr>
          <p:cNvSpPr>
            <a:spLocks noGrp="1"/>
          </p:cNvSpPr>
          <p:nvPr>
            <p:ph type="ftr" sz="quarter" idx="11"/>
          </p:nvPr>
        </p:nvSpPr>
        <p:spPr/>
        <p:txBody>
          <a:bodyPr/>
          <a:lstStyle/>
          <a:p>
            <a:r>
              <a:rPr lang="it-IT" smtClean="0"/>
              <a:t>Vivek Kumar Sharma                      CD                Unit 2</a:t>
            </a:r>
            <a:endParaRPr lang="en-IN"/>
          </a:p>
        </p:txBody>
      </p:sp>
      <p:sp>
        <p:nvSpPr>
          <p:cNvPr id="7" name="Slide Number Placeholder 6">
            <a:extLst>
              <a:ext uri="{FF2B5EF4-FFF2-40B4-BE49-F238E27FC236}">
                <a16:creationId xmlns:a16="http://schemas.microsoft.com/office/drawing/2014/main" id="{7BD8ED3A-CED1-4321-BF96-F8F2D9306791}"/>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37429517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61A6B-87D5-4A66-93E5-89DF3817B7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49A344-E21D-4923-B9A6-60BF385499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62E8D5-EA2D-422C-AA1E-FE14D8EA7FBB}"/>
              </a:ext>
            </a:extLst>
          </p:cNvPr>
          <p:cNvSpPr>
            <a:spLocks noGrp="1"/>
          </p:cNvSpPr>
          <p:nvPr>
            <p:ph type="dt" sz="half" idx="10"/>
          </p:nvPr>
        </p:nvSpPr>
        <p:spPr/>
        <p:txBody>
          <a:bodyPr/>
          <a:lstStyle/>
          <a:p>
            <a:fld id="{6D3E5A7E-B003-465A-934E-D27599CD063F}" type="datetime1">
              <a:rPr lang="en-US" smtClean="0"/>
              <a:t>4/10/2026</a:t>
            </a:fld>
            <a:endParaRPr lang="en-IN"/>
          </a:p>
        </p:txBody>
      </p:sp>
      <p:sp>
        <p:nvSpPr>
          <p:cNvPr id="5" name="Footer Placeholder 4">
            <a:extLst>
              <a:ext uri="{FF2B5EF4-FFF2-40B4-BE49-F238E27FC236}">
                <a16:creationId xmlns:a16="http://schemas.microsoft.com/office/drawing/2014/main" id="{33167831-F3FF-4750-A459-1F6554CACD11}"/>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64C6FF56-DA97-43C6-B436-12E89170F82F}"/>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7072846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DDBC25-C392-45CF-B5BA-A7ADE958CBE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187650-E5A2-496E-A714-E1C9DACB5F97}"/>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4BBFE9-E239-49B4-887E-A9C3EE019556}"/>
              </a:ext>
            </a:extLst>
          </p:cNvPr>
          <p:cNvSpPr>
            <a:spLocks noGrp="1"/>
          </p:cNvSpPr>
          <p:nvPr>
            <p:ph type="dt" sz="half" idx="10"/>
          </p:nvPr>
        </p:nvSpPr>
        <p:spPr/>
        <p:txBody>
          <a:bodyPr/>
          <a:lstStyle/>
          <a:p>
            <a:fld id="{3168518D-9D50-4DBD-8084-1007E973C053}" type="datetime1">
              <a:rPr lang="en-US" smtClean="0"/>
              <a:t>4/10/2026</a:t>
            </a:fld>
            <a:endParaRPr lang="en-IN"/>
          </a:p>
        </p:txBody>
      </p:sp>
      <p:sp>
        <p:nvSpPr>
          <p:cNvPr id="5" name="Footer Placeholder 4">
            <a:extLst>
              <a:ext uri="{FF2B5EF4-FFF2-40B4-BE49-F238E27FC236}">
                <a16:creationId xmlns:a16="http://schemas.microsoft.com/office/drawing/2014/main" id="{6A6899E5-0950-40E6-B33B-5B88A1EFE2E8}"/>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D8BEB4C8-66A5-4B94-A15C-F12E644AB754}"/>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40733434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70D0C-125F-45AE-B81A-C8C371F5105B}"/>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EE507E-CB52-48DA-BC22-3A9E84CB7C09}"/>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F19CD14-550B-4CA7-B419-4379F1F124DD}"/>
              </a:ext>
            </a:extLst>
          </p:cNvPr>
          <p:cNvSpPr>
            <a:spLocks noGrp="1"/>
          </p:cNvSpPr>
          <p:nvPr>
            <p:ph type="dt" sz="half" idx="10"/>
          </p:nvPr>
        </p:nvSpPr>
        <p:spPr/>
        <p:txBody>
          <a:bodyPr/>
          <a:lstStyle/>
          <a:p>
            <a:fld id="{F2662725-80D9-4711-A863-79D5F955606E}" type="datetime1">
              <a:rPr lang="en-US" smtClean="0"/>
              <a:t>4/10/2026</a:t>
            </a:fld>
            <a:endParaRPr lang="en-IN"/>
          </a:p>
        </p:txBody>
      </p:sp>
      <p:sp>
        <p:nvSpPr>
          <p:cNvPr id="5" name="Footer Placeholder 4">
            <a:extLst>
              <a:ext uri="{FF2B5EF4-FFF2-40B4-BE49-F238E27FC236}">
                <a16:creationId xmlns:a16="http://schemas.microsoft.com/office/drawing/2014/main" id="{E5037BC5-B192-4EE9-BEEB-9D3D19C9D191}"/>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27AB24E7-5FDE-4517-85C2-01ECDA1E34B5}"/>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29221401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5B22B-8A56-471E-A0FD-12E69ED5DD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54ED7F-2E81-4CFE-A3E5-147E073D18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6D13B9-E297-462F-833D-29771F507F29}"/>
              </a:ext>
            </a:extLst>
          </p:cNvPr>
          <p:cNvSpPr>
            <a:spLocks noGrp="1"/>
          </p:cNvSpPr>
          <p:nvPr>
            <p:ph type="dt" sz="half" idx="10"/>
          </p:nvPr>
        </p:nvSpPr>
        <p:spPr/>
        <p:txBody>
          <a:bodyPr/>
          <a:lstStyle/>
          <a:p>
            <a:fld id="{B5BAD7AC-77E3-4346-BAE1-EF32FB388F57}" type="datetime1">
              <a:rPr lang="en-US" smtClean="0"/>
              <a:t>4/10/2026</a:t>
            </a:fld>
            <a:endParaRPr lang="en-IN"/>
          </a:p>
        </p:txBody>
      </p:sp>
      <p:sp>
        <p:nvSpPr>
          <p:cNvPr id="5" name="Footer Placeholder 4">
            <a:extLst>
              <a:ext uri="{FF2B5EF4-FFF2-40B4-BE49-F238E27FC236}">
                <a16:creationId xmlns:a16="http://schemas.microsoft.com/office/drawing/2014/main" id="{408C2A12-783C-443A-989C-4274B62A446D}"/>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60AB8076-B429-41A1-A98D-5C98784E54A2}"/>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6272990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0E9BD-FBC9-4208-9E54-221113397A2E}"/>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91E77A-0F1B-4E67-9617-88660DC2F9D0}"/>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A349A3-4E49-43E5-8AF4-B91B61427350}"/>
              </a:ext>
            </a:extLst>
          </p:cNvPr>
          <p:cNvSpPr>
            <a:spLocks noGrp="1"/>
          </p:cNvSpPr>
          <p:nvPr>
            <p:ph type="dt" sz="half" idx="10"/>
          </p:nvPr>
        </p:nvSpPr>
        <p:spPr/>
        <p:txBody>
          <a:bodyPr/>
          <a:lstStyle/>
          <a:p>
            <a:fld id="{8CA74AF8-97AB-476B-A0CE-3E52DAEF248D}" type="datetime1">
              <a:rPr lang="en-US" smtClean="0"/>
              <a:t>4/10/2026</a:t>
            </a:fld>
            <a:endParaRPr lang="en-IN"/>
          </a:p>
        </p:txBody>
      </p:sp>
      <p:sp>
        <p:nvSpPr>
          <p:cNvPr id="5" name="Footer Placeholder 4">
            <a:extLst>
              <a:ext uri="{FF2B5EF4-FFF2-40B4-BE49-F238E27FC236}">
                <a16:creationId xmlns:a16="http://schemas.microsoft.com/office/drawing/2014/main" id="{D2B33308-4ECD-4C86-8EE9-47720854E2D9}"/>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B1F527E2-0D51-4B8A-A4E4-983C7B951162}"/>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7000941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72863-B46B-4EE0-928D-CE43E322BA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8A05CD-15A5-4BF9-B433-25A114F16580}"/>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93A73A-99F2-404F-ABDC-2A78BD72AC34}"/>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7C1049-16A9-4B07-A984-67D3D073903C}"/>
              </a:ext>
            </a:extLst>
          </p:cNvPr>
          <p:cNvSpPr>
            <a:spLocks noGrp="1"/>
          </p:cNvSpPr>
          <p:nvPr>
            <p:ph type="dt" sz="half" idx="10"/>
          </p:nvPr>
        </p:nvSpPr>
        <p:spPr/>
        <p:txBody>
          <a:bodyPr/>
          <a:lstStyle/>
          <a:p>
            <a:fld id="{EA15EE7B-0497-4DF8-A541-064FAE1A43A1}" type="datetime1">
              <a:rPr lang="en-US" smtClean="0"/>
              <a:t>4/10/2026</a:t>
            </a:fld>
            <a:endParaRPr lang="en-IN"/>
          </a:p>
        </p:txBody>
      </p:sp>
      <p:sp>
        <p:nvSpPr>
          <p:cNvPr id="6" name="Footer Placeholder 5">
            <a:extLst>
              <a:ext uri="{FF2B5EF4-FFF2-40B4-BE49-F238E27FC236}">
                <a16:creationId xmlns:a16="http://schemas.microsoft.com/office/drawing/2014/main" id="{673017C1-AEDC-4EB2-8837-1021D6D30A0A}"/>
              </a:ext>
            </a:extLst>
          </p:cNvPr>
          <p:cNvSpPr>
            <a:spLocks noGrp="1"/>
          </p:cNvSpPr>
          <p:nvPr>
            <p:ph type="ftr" sz="quarter" idx="11"/>
          </p:nvPr>
        </p:nvSpPr>
        <p:spPr/>
        <p:txBody>
          <a:bodyPr/>
          <a:lstStyle/>
          <a:p>
            <a:r>
              <a:rPr lang="it-IT" smtClean="0"/>
              <a:t>Vivek Kumar Sharma                      CD                Unit 2</a:t>
            </a:r>
            <a:endParaRPr lang="en-IN"/>
          </a:p>
        </p:txBody>
      </p:sp>
      <p:sp>
        <p:nvSpPr>
          <p:cNvPr id="7" name="Slide Number Placeholder 6">
            <a:extLst>
              <a:ext uri="{FF2B5EF4-FFF2-40B4-BE49-F238E27FC236}">
                <a16:creationId xmlns:a16="http://schemas.microsoft.com/office/drawing/2014/main" id="{99FA518C-F65C-47AB-A626-8293CEBD8B68}"/>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0076486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57F0C-9CF0-4029-AF0D-F0F2DC93BC50}"/>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248E07-B04B-4BEF-B45B-575DF93FDAE5}"/>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92965E-E3B1-4200-9E24-DE20C6456643}"/>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24697BF-8F9E-4997-9A7C-3A9CAD67909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C234C4-4C48-48AC-98E3-CFAB48D2E29A}"/>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A7BDDF-6416-442D-958F-B016A3D07F60}"/>
              </a:ext>
            </a:extLst>
          </p:cNvPr>
          <p:cNvSpPr>
            <a:spLocks noGrp="1"/>
          </p:cNvSpPr>
          <p:nvPr>
            <p:ph type="dt" sz="half" idx="10"/>
          </p:nvPr>
        </p:nvSpPr>
        <p:spPr/>
        <p:txBody>
          <a:bodyPr/>
          <a:lstStyle/>
          <a:p>
            <a:fld id="{0F93B1BA-0C0A-4BED-BFAE-A14F71E18BBF}" type="datetime1">
              <a:rPr lang="en-US" smtClean="0"/>
              <a:t>4/10/2026</a:t>
            </a:fld>
            <a:endParaRPr lang="en-IN"/>
          </a:p>
        </p:txBody>
      </p:sp>
      <p:sp>
        <p:nvSpPr>
          <p:cNvPr id="8" name="Footer Placeholder 7">
            <a:extLst>
              <a:ext uri="{FF2B5EF4-FFF2-40B4-BE49-F238E27FC236}">
                <a16:creationId xmlns:a16="http://schemas.microsoft.com/office/drawing/2014/main" id="{91CCB8B4-6F6F-4B7F-86CD-D63BAA335B2B}"/>
              </a:ext>
            </a:extLst>
          </p:cNvPr>
          <p:cNvSpPr>
            <a:spLocks noGrp="1"/>
          </p:cNvSpPr>
          <p:nvPr>
            <p:ph type="ftr" sz="quarter" idx="11"/>
          </p:nvPr>
        </p:nvSpPr>
        <p:spPr/>
        <p:txBody>
          <a:bodyPr/>
          <a:lstStyle/>
          <a:p>
            <a:r>
              <a:rPr lang="it-IT" smtClean="0"/>
              <a:t>Vivek Kumar Sharma                      CD                Unit 2</a:t>
            </a:r>
            <a:endParaRPr lang="en-IN"/>
          </a:p>
        </p:txBody>
      </p:sp>
      <p:sp>
        <p:nvSpPr>
          <p:cNvPr id="9" name="Slide Number Placeholder 8">
            <a:extLst>
              <a:ext uri="{FF2B5EF4-FFF2-40B4-BE49-F238E27FC236}">
                <a16:creationId xmlns:a16="http://schemas.microsoft.com/office/drawing/2014/main" id="{4F348BB5-52AF-478F-9ACB-700CA2D13E16}"/>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77013057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43369-AB1B-45D4-9313-95CCDF41B64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459994-974C-436F-A983-D376BDDB7AD3}"/>
              </a:ext>
            </a:extLst>
          </p:cNvPr>
          <p:cNvSpPr>
            <a:spLocks noGrp="1"/>
          </p:cNvSpPr>
          <p:nvPr>
            <p:ph type="dt" sz="half" idx="10"/>
          </p:nvPr>
        </p:nvSpPr>
        <p:spPr/>
        <p:txBody>
          <a:bodyPr/>
          <a:lstStyle/>
          <a:p>
            <a:fld id="{5B01E3A1-0475-4F56-998A-145BB5805BBC}" type="datetime1">
              <a:rPr lang="en-US" smtClean="0"/>
              <a:t>4/10/2026</a:t>
            </a:fld>
            <a:endParaRPr lang="en-IN"/>
          </a:p>
        </p:txBody>
      </p:sp>
      <p:sp>
        <p:nvSpPr>
          <p:cNvPr id="4" name="Footer Placeholder 3">
            <a:extLst>
              <a:ext uri="{FF2B5EF4-FFF2-40B4-BE49-F238E27FC236}">
                <a16:creationId xmlns:a16="http://schemas.microsoft.com/office/drawing/2014/main" id="{4E1E52DB-4117-4CA6-8461-F40B26FE198A}"/>
              </a:ext>
            </a:extLst>
          </p:cNvPr>
          <p:cNvSpPr>
            <a:spLocks noGrp="1"/>
          </p:cNvSpPr>
          <p:nvPr>
            <p:ph type="ftr" sz="quarter" idx="11"/>
          </p:nvPr>
        </p:nvSpPr>
        <p:spPr/>
        <p:txBody>
          <a:bodyPr/>
          <a:lstStyle/>
          <a:p>
            <a:r>
              <a:rPr lang="it-IT" smtClean="0"/>
              <a:t>Vivek Kumar Sharma                      CD                Unit 2</a:t>
            </a:r>
            <a:endParaRPr lang="en-IN"/>
          </a:p>
        </p:txBody>
      </p:sp>
      <p:sp>
        <p:nvSpPr>
          <p:cNvPr id="5" name="Slide Number Placeholder 4">
            <a:extLst>
              <a:ext uri="{FF2B5EF4-FFF2-40B4-BE49-F238E27FC236}">
                <a16:creationId xmlns:a16="http://schemas.microsoft.com/office/drawing/2014/main" id="{CB9D2880-4F26-4AA6-A659-6D34C26E456C}"/>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3496138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B31387-15C2-4778-B97C-DB2992ADED0D}"/>
              </a:ext>
            </a:extLst>
          </p:cNvPr>
          <p:cNvSpPr>
            <a:spLocks noGrp="1"/>
          </p:cNvSpPr>
          <p:nvPr>
            <p:ph type="dt" sz="half" idx="10"/>
          </p:nvPr>
        </p:nvSpPr>
        <p:spPr/>
        <p:txBody>
          <a:bodyPr/>
          <a:lstStyle/>
          <a:p>
            <a:fld id="{239B4291-AED4-42B6-A5A2-9594B952A446}" type="datetime1">
              <a:rPr lang="en-US" smtClean="0"/>
              <a:t>4/10/2026</a:t>
            </a:fld>
            <a:endParaRPr lang="en-IN"/>
          </a:p>
        </p:txBody>
      </p:sp>
      <p:sp>
        <p:nvSpPr>
          <p:cNvPr id="3" name="Footer Placeholder 2">
            <a:extLst>
              <a:ext uri="{FF2B5EF4-FFF2-40B4-BE49-F238E27FC236}">
                <a16:creationId xmlns:a16="http://schemas.microsoft.com/office/drawing/2014/main" id="{485EC58D-6E76-43C6-8F40-0DCA783D63A2}"/>
              </a:ext>
            </a:extLst>
          </p:cNvPr>
          <p:cNvSpPr>
            <a:spLocks noGrp="1"/>
          </p:cNvSpPr>
          <p:nvPr>
            <p:ph type="ftr" sz="quarter" idx="11"/>
          </p:nvPr>
        </p:nvSpPr>
        <p:spPr/>
        <p:txBody>
          <a:bodyPr/>
          <a:lstStyle/>
          <a:p>
            <a:r>
              <a:rPr lang="it-IT" smtClean="0"/>
              <a:t>Vivek Kumar Sharma                      CD                Unit 2</a:t>
            </a:r>
            <a:endParaRPr lang="en-IN"/>
          </a:p>
        </p:txBody>
      </p:sp>
      <p:sp>
        <p:nvSpPr>
          <p:cNvPr id="4" name="Slide Number Placeholder 3">
            <a:extLst>
              <a:ext uri="{FF2B5EF4-FFF2-40B4-BE49-F238E27FC236}">
                <a16:creationId xmlns:a16="http://schemas.microsoft.com/office/drawing/2014/main" id="{DD8A6739-9B44-43B3-BD4D-7DC3F4799044}"/>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39191247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D160-C6C3-4012-B065-AAD845DA546C}"/>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616801D-7F37-4AAB-B32B-D3573C9D0FD9}"/>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0228EBA-69B2-4CAF-AC55-46E85B016F8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8F7CEE-7AC4-4AF8-8F9D-08617B4C7926}"/>
              </a:ext>
            </a:extLst>
          </p:cNvPr>
          <p:cNvSpPr>
            <a:spLocks noGrp="1"/>
          </p:cNvSpPr>
          <p:nvPr>
            <p:ph type="dt" sz="half" idx="10"/>
          </p:nvPr>
        </p:nvSpPr>
        <p:spPr/>
        <p:txBody>
          <a:bodyPr/>
          <a:lstStyle/>
          <a:p>
            <a:fld id="{90D4F957-DEEE-4509-B472-89A8FCF21762}" type="datetime1">
              <a:rPr lang="en-US" smtClean="0"/>
              <a:t>4/10/2026</a:t>
            </a:fld>
            <a:endParaRPr lang="en-IN"/>
          </a:p>
        </p:txBody>
      </p:sp>
      <p:sp>
        <p:nvSpPr>
          <p:cNvPr id="6" name="Footer Placeholder 5">
            <a:extLst>
              <a:ext uri="{FF2B5EF4-FFF2-40B4-BE49-F238E27FC236}">
                <a16:creationId xmlns:a16="http://schemas.microsoft.com/office/drawing/2014/main" id="{05903279-2FAA-4A2F-AAFA-2D2AFC64F244}"/>
              </a:ext>
            </a:extLst>
          </p:cNvPr>
          <p:cNvSpPr>
            <a:spLocks noGrp="1"/>
          </p:cNvSpPr>
          <p:nvPr>
            <p:ph type="ftr" sz="quarter" idx="11"/>
          </p:nvPr>
        </p:nvSpPr>
        <p:spPr/>
        <p:txBody>
          <a:bodyPr/>
          <a:lstStyle/>
          <a:p>
            <a:r>
              <a:rPr lang="it-IT" smtClean="0"/>
              <a:t>Vivek Kumar Sharma                      CD                Unit 2</a:t>
            </a:r>
            <a:endParaRPr lang="en-IN"/>
          </a:p>
        </p:txBody>
      </p:sp>
      <p:sp>
        <p:nvSpPr>
          <p:cNvPr id="7" name="Slide Number Placeholder 6">
            <a:extLst>
              <a:ext uri="{FF2B5EF4-FFF2-40B4-BE49-F238E27FC236}">
                <a16:creationId xmlns:a16="http://schemas.microsoft.com/office/drawing/2014/main" id="{F5747A2E-77DA-4E79-971F-5284636A9367}"/>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5456012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32C66-8D1F-43A8-ADBE-94B9D2D05C62}"/>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1D1DE2-B061-4220-B908-8875AFDE293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22F636-6EE4-47FD-86B3-A36E8E68828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4EB9BE-238F-4846-BC00-B81EEE65EA8C}"/>
              </a:ext>
            </a:extLst>
          </p:cNvPr>
          <p:cNvSpPr>
            <a:spLocks noGrp="1"/>
          </p:cNvSpPr>
          <p:nvPr>
            <p:ph type="dt" sz="half" idx="10"/>
          </p:nvPr>
        </p:nvSpPr>
        <p:spPr/>
        <p:txBody>
          <a:bodyPr/>
          <a:lstStyle/>
          <a:p>
            <a:fld id="{2E065BD7-03F6-463C-98CF-59E5B3652311}" type="datetime1">
              <a:rPr lang="en-US" smtClean="0"/>
              <a:t>4/10/2026</a:t>
            </a:fld>
            <a:endParaRPr lang="en-IN"/>
          </a:p>
        </p:txBody>
      </p:sp>
      <p:sp>
        <p:nvSpPr>
          <p:cNvPr id="6" name="Footer Placeholder 5">
            <a:extLst>
              <a:ext uri="{FF2B5EF4-FFF2-40B4-BE49-F238E27FC236}">
                <a16:creationId xmlns:a16="http://schemas.microsoft.com/office/drawing/2014/main" id="{20711C6B-7AE4-4592-A4F5-4F2585F1544B}"/>
              </a:ext>
            </a:extLst>
          </p:cNvPr>
          <p:cNvSpPr>
            <a:spLocks noGrp="1"/>
          </p:cNvSpPr>
          <p:nvPr>
            <p:ph type="ftr" sz="quarter" idx="11"/>
          </p:nvPr>
        </p:nvSpPr>
        <p:spPr/>
        <p:txBody>
          <a:bodyPr/>
          <a:lstStyle/>
          <a:p>
            <a:r>
              <a:rPr lang="it-IT" smtClean="0"/>
              <a:t>Vivek Kumar Sharma                      CD                Unit 2</a:t>
            </a:r>
            <a:endParaRPr lang="en-IN"/>
          </a:p>
        </p:txBody>
      </p:sp>
      <p:sp>
        <p:nvSpPr>
          <p:cNvPr id="7" name="Slide Number Placeholder 6">
            <a:extLst>
              <a:ext uri="{FF2B5EF4-FFF2-40B4-BE49-F238E27FC236}">
                <a16:creationId xmlns:a16="http://schemas.microsoft.com/office/drawing/2014/main" id="{7CB685B3-79FB-41BD-8909-89F7947F655A}"/>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22709800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53923-ED61-44CE-9D7B-194F989367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54290B-F280-4BD4-A4B9-7D77288971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DD4AA6-8C69-42AE-BC2E-F549A8CBAD20}"/>
              </a:ext>
            </a:extLst>
          </p:cNvPr>
          <p:cNvSpPr>
            <a:spLocks noGrp="1"/>
          </p:cNvSpPr>
          <p:nvPr>
            <p:ph type="dt" sz="half" idx="10"/>
          </p:nvPr>
        </p:nvSpPr>
        <p:spPr/>
        <p:txBody>
          <a:bodyPr/>
          <a:lstStyle/>
          <a:p>
            <a:fld id="{9FABAD4F-732E-4065-B899-A5EA545DAC83}" type="datetime1">
              <a:rPr lang="en-US" smtClean="0"/>
              <a:t>4/10/2026</a:t>
            </a:fld>
            <a:endParaRPr lang="en-IN"/>
          </a:p>
        </p:txBody>
      </p:sp>
      <p:sp>
        <p:nvSpPr>
          <p:cNvPr id="5" name="Footer Placeholder 4">
            <a:extLst>
              <a:ext uri="{FF2B5EF4-FFF2-40B4-BE49-F238E27FC236}">
                <a16:creationId xmlns:a16="http://schemas.microsoft.com/office/drawing/2014/main" id="{3A38F38A-5A8C-4BA8-8736-DDEEE42DFE9E}"/>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85A7D153-DA93-4182-BEB1-7D0DA9BD30FA}"/>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8860677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0B6F5B-0600-4133-9330-529BE5E83A89}"/>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A4F57F-0F36-4F13-863C-3B85CDAFB48E}"/>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738CC1-DBE1-4B42-86F2-2703A4DF34AE}"/>
              </a:ext>
            </a:extLst>
          </p:cNvPr>
          <p:cNvSpPr>
            <a:spLocks noGrp="1"/>
          </p:cNvSpPr>
          <p:nvPr>
            <p:ph type="dt" sz="half" idx="10"/>
          </p:nvPr>
        </p:nvSpPr>
        <p:spPr/>
        <p:txBody>
          <a:bodyPr/>
          <a:lstStyle/>
          <a:p>
            <a:fld id="{C0489BA5-B2D5-4C00-A4A4-C47157A379F5}" type="datetime1">
              <a:rPr lang="en-US" smtClean="0"/>
              <a:t>4/10/2026</a:t>
            </a:fld>
            <a:endParaRPr lang="en-IN"/>
          </a:p>
        </p:txBody>
      </p:sp>
      <p:sp>
        <p:nvSpPr>
          <p:cNvPr id="5" name="Footer Placeholder 4">
            <a:extLst>
              <a:ext uri="{FF2B5EF4-FFF2-40B4-BE49-F238E27FC236}">
                <a16:creationId xmlns:a16="http://schemas.microsoft.com/office/drawing/2014/main" id="{830BB1F9-308F-4872-809A-F7738701BA87}"/>
              </a:ext>
            </a:extLst>
          </p:cNvPr>
          <p:cNvSpPr>
            <a:spLocks noGrp="1"/>
          </p:cNvSpPr>
          <p:nvPr>
            <p:ph type="ftr" sz="quarter" idx="11"/>
          </p:nvPr>
        </p:nvSpPr>
        <p:spPr/>
        <p:txBody>
          <a:body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F4C773E9-B8C4-4E89-A217-B58B6F1578EE}"/>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3410229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37E278E-BC9F-4469-919E-4CF3B83068D0}"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pic>
        <p:nvPicPr>
          <p:cNvPr id="8" name="Picture 7">
            <a:extLst>
              <a:ext uri="{FF2B5EF4-FFF2-40B4-BE49-F238E27FC236}">
                <a16:creationId xmlns:a16="http://schemas.microsoft.com/office/drawing/2014/main" id="{33690948-4ED8-41D2-960E-3EE07CD37291}"/>
              </a:ext>
            </a:extLst>
          </p:cNvPr>
          <p:cNvPicPr>
            <a:picLocks noChangeAspect="1"/>
          </p:cNvPicPr>
          <p:nvPr userDrawn="1"/>
        </p:nvPicPr>
        <p:blipFill>
          <a:blip r:embed="rId2"/>
          <a:stretch>
            <a:fillRect/>
          </a:stretch>
        </p:blipFill>
        <p:spPr>
          <a:xfrm>
            <a:off x="20398" y="38972"/>
            <a:ext cx="1330803" cy="713503"/>
          </a:xfrm>
          <a:prstGeom prst="rect">
            <a:avLst/>
          </a:prstGeom>
        </p:spPr>
      </p:pic>
    </p:spTree>
    <p:extLst>
      <p:ext uri="{BB962C8B-B14F-4D97-AF65-F5344CB8AC3E}">
        <p14:creationId xmlns:p14="http://schemas.microsoft.com/office/powerpoint/2010/main" val="345587405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b="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1800">
                <a:latin typeface="Times New Roman" panose="02020603050405020304" pitchFamily="18" charset="0"/>
                <a:cs typeface="Times New Roman" panose="02020603050405020304" pitchFamily="18" charset="0"/>
              </a:defRPr>
            </a:lvl1pPr>
            <a:lvl2pPr>
              <a:defRPr sz="1800">
                <a:latin typeface="Times New Roman" panose="02020603050405020304" pitchFamily="18" charset="0"/>
                <a:cs typeface="Times New Roman" panose="02020603050405020304" pitchFamily="18" charset="0"/>
              </a:defRPr>
            </a:lvl2pPr>
            <a:lvl3pPr>
              <a:defRPr sz="1800">
                <a:latin typeface="Times New Roman" panose="02020603050405020304" pitchFamily="18" charset="0"/>
                <a:cs typeface="Times New Roman" panose="02020603050405020304" pitchFamily="18" charset="0"/>
              </a:defRPr>
            </a:lvl3pPr>
            <a:lvl4pPr>
              <a:defRPr sz="1800">
                <a:latin typeface="Times New Roman" panose="02020603050405020304" pitchFamily="18" charset="0"/>
                <a:cs typeface="Times New Roman" panose="02020603050405020304" pitchFamily="18" charset="0"/>
              </a:defRPr>
            </a:lvl4pPr>
            <a:lvl5pPr>
              <a:defRPr sz="18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D4C92DA-6937-4203-860A-22212C1CC93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3ED5A36-0BB0-4F67-9C7B-9F161E395699}"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8" name="Footer Placeholder 7">
            <a:extLst>
              <a:ext uri="{FF2B5EF4-FFF2-40B4-BE49-F238E27FC236}">
                <a16:creationId xmlns:a16="http://schemas.microsoft.com/office/drawing/2014/main" id="{69C14EB7-CC0B-48EB-B2B9-A571AE88D27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9" name="Slide Number Placeholder 8">
            <a:extLst>
              <a:ext uri="{FF2B5EF4-FFF2-40B4-BE49-F238E27FC236}">
                <a16:creationId xmlns:a16="http://schemas.microsoft.com/office/drawing/2014/main" id="{335A7FB8-C9E9-4276-B167-5F296619F5A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pic>
        <p:nvPicPr>
          <p:cNvPr id="5" name="Picture 4">
            <a:extLst>
              <a:ext uri="{FF2B5EF4-FFF2-40B4-BE49-F238E27FC236}">
                <a16:creationId xmlns:a16="http://schemas.microsoft.com/office/drawing/2014/main" id="{BB4590F9-1A45-466D-BF32-E6977D7824A7}"/>
              </a:ext>
            </a:extLst>
          </p:cNvPr>
          <p:cNvPicPr>
            <a:picLocks noChangeAspect="1"/>
          </p:cNvPicPr>
          <p:nvPr userDrawn="1"/>
        </p:nvPicPr>
        <p:blipFill>
          <a:blip r:embed="rId2"/>
          <a:stretch>
            <a:fillRect/>
          </a:stretch>
        </p:blipFill>
        <p:spPr>
          <a:xfrm>
            <a:off x="-57150" y="29211"/>
            <a:ext cx="1581150" cy="847725"/>
          </a:xfrm>
          <a:prstGeom prst="rect">
            <a:avLst/>
          </a:prstGeom>
        </p:spPr>
      </p:pic>
    </p:spTree>
    <p:extLst>
      <p:ext uri="{BB962C8B-B14F-4D97-AF65-F5344CB8AC3E}">
        <p14:creationId xmlns:p14="http://schemas.microsoft.com/office/powerpoint/2010/main" val="106948590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15998-6AA2-4FD4-AE59-170D71050D44}"/>
              </a:ext>
            </a:extLst>
          </p:cNvPr>
          <p:cNvSpPr>
            <a:spLocks noGrp="1"/>
          </p:cNvSpPr>
          <p:nvPr>
            <p:ph type="title"/>
          </p:nvPr>
        </p:nvSpPr>
        <p:spPr/>
        <p:txBody>
          <a:bodyPr/>
          <a:lstStyle/>
          <a:p>
            <a:r>
              <a:rPr lang="en-US" dirty="0"/>
              <a:t>Click to edit Master title style</a:t>
            </a:r>
            <a:endParaRPr lang="en-IN" dirty="0"/>
          </a:p>
        </p:txBody>
      </p:sp>
      <p:sp>
        <p:nvSpPr>
          <p:cNvPr id="3" name="Date Placeholder 2">
            <a:extLst>
              <a:ext uri="{FF2B5EF4-FFF2-40B4-BE49-F238E27FC236}">
                <a16:creationId xmlns:a16="http://schemas.microsoft.com/office/drawing/2014/main" id="{AC81C625-8724-4E40-8429-5353CA08D20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F0F442-1E1B-4102-A58E-4ACCF5189076}"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4" name="Footer Placeholder 3">
            <a:extLst>
              <a:ext uri="{FF2B5EF4-FFF2-40B4-BE49-F238E27FC236}">
                <a16:creationId xmlns:a16="http://schemas.microsoft.com/office/drawing/2014/main" id="{4309C229-C2A4-4517-BDA2-93545A9EF19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5" name="Slide Number Placeholder 4">
            <a:extLst>
              <a:ext uri="{FF2B5EF4-FFF2-40B4-BE49-F238E27FC236}">
                <a16:creationId xmlns:a16="http://schemas.microsoft.com/office/drawing/2014/main" id="{4AB0C562-6ACC-4D45-A4BE-A95D9BB287D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pic>
        <p:nvPicPr>
          <p:cNvPr id="7" name="Picture 6">
            <a:extLst>
              <a:ext uri="{FF2B5EF4-FFF2-40B4-BE49-F238E27FC236}">
                <a16:creationId xmlns:a16="http://schemas.microsoft.com/office/drawing/2014/main" id="{8A608FC8-CB48-44C0-A4B7-8E2796FAE1E9}"/>
              </a:ext>
            </a:extLst>
          </p:cNvPr>
          <p:cNvPicPr>
            <a:picLocks noChangeAspect="1"/>
          </p:cNvPicPr>
          <p:nvPr userDrawn="1"/>
        </p:nvPicPr>
        <p:blipFill>
          <a:blip r:embed="rId2"/>
          <a:stretch>
            <a:fillRect/>
          </a:stretch>
        </p:blipFill>
        <p:spPr>
          <a:xfrm>
            <a:off x="-165490" y="106045"/>
            <a:ext cx="1245379" cy="667703"/>
          </a:xfrm>
          <a:prstGeom prst="rect">
            <a:avLst/>
          </a:prstGeom>
        </p:spPr>
      </p:pic>
    </p:spTree>
    <p:extLst>
      <p:ext uri="{BB962C8B-B14F-4D97-AF65-F5344CB8AC3E}">
        <p14:creationId xmlns:p14="http://schemas.microsoft.com/office/powerpoint/2010/main" val="165202981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B18D239-4F47-49F6-920A-8F9A56055D29}"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pic>
        <p:nvPicPr>
          <p:cNvPr id="8" name="Picture 7">
            <a:extLst>
              <a:ext uri="{FF2B5EF4-FFF2-40B4-BE49-F238E27FC236}">
                <a16:creationId xmlns:a16="http://schemas.microsoft.com/office/drawing/2014/main" id="{2A0F3C0F-90CD-44A8-A53E-1940210980FB}"/>
              </a:ext>
            </a:extLst>
          </p:cNvPr>
          <p:cNvPicPr>
            <a:picLocks noChangeAspect="1"/>
          </p:cNvPicPr>
          <p:nvPr userDrawn="1"/>
        </p:nvPicPr>
        <p:blipFill>
          <a:blip r:embed="rId2"/>
          <a:stretch>
            <a:fillRect/>
          </a:stretch>
        </p:blipFill>
        <p:spPr>
          <a:xfrm>
            <a:off x="-128588" y="30480"/>
            <a:ext cx="1171575" cy="628134"/>
          </a:xfrm>
          <a:prstGeom prst="rect">
            <a:avLst/>
          </a:prstGeom>
        </p:spPr>
      </p:pic>
    </p:spTree>
    <p:extLst>
      <p:ext uri="{BB962C8B-B14F-4D97-AF65-F5344CB8AC3E}">
        <p14:creationId xmlns:p14="http://schemas.microsoft.com/office/powerpoint/2010/main" val="237213723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3D91035-42B5-4BF6-AF4B-B0BFB8DDB189}"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Tree>
    <p:extLst>
      <p:ext uri="{BB962C8B-B14F-4D97-AF65-F5344CB8AC3E}">
        <p14:creationId xmlns:p14="http://schemas.microsoft.com/office/powerpoint/2010/main" val="17696762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2B77441-DE24-413D-B95A-E1E3AEEAB237}"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Tree>
    <p:extLst>
      <p:ext uri="{BB962C8B-B14F-4D97-AF65-F5344CB8AC3E}">
        <p14:creationId xmlns:p14="http://schemas.microsoft.com/office/powerpoint/2010/main" val="339897672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01CB2AE-8A90-4697-82F5-705D2CAC7AB8}"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Tree>
    <p:extLst>
      <p:ext uri="{BB962C8B-B14F-4D97-AF65-F5344CB8AC3E}">
        <p14:creationId xmlns:p14="http://schemas.microsoft.com/office/powerpoint/2010/main" val="258472736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7A35BE-DD7B-4BBE-9B62-D2F46729BED7}"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Tree>
    <p:extLst>
      <p:ext uri="{BB962C8B-B14F-4D97-AF65-F5344CB8AC3E}">
        <p14:creationId xmlns:p14="http://schemas.microsoft.com/office/powerpoint/2010/main" val="58822689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D0CEFBF-C1A8-4F07-84E2-75573F96C15B}"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Tree>
    <p:extLst>
      <p:ext uri="{BB962C8B-B14F-4D97-AF65-F5344CB8AC3E}">
        <p14:creationId xmlns:p14="http://schemas.microsoft.com/office/powerpoint/2010/main" val="173204383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47D7E1D-BC30-43A0-B60B-DFF334ECD8E0}"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Tree>
    <p:extLst>
      <p:ext uri="{BB962C8B-B14F-4D97-AF65-F5344CB8AC3E}">
        <p14:creationId xmlns:p14="http://schemas.microsoft.com/office/powerpoint/2010/main" val="363981824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B15A2BF-6B2D-462A-AA41-BC44AD4F126C}"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Tree>
    <p:extLst>
      <p:ext uri="{BB962C8B-B14F-4D97-AF65-F5344CB8AC3E}">
        <p14:creationId xmlns:p14="http://schemas.microsoft.com/office/powerpoint/2010/main" val="221970844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E79C616-42E3-4CAA-97D2-4D79837A87D6}"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Tree>
    <p:extLst>
      <p:ext uri="{BB962C8B-B14F-4D97-AF65-F5344CB8AC3E}">
        <p14:creationId xmlns:p14="http://schemas.microsoft.com/office/powerpoint/2010/main" val="298543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3.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theme" Target="../theme/theme4.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theme" Target="../theme/theme5.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AE41A3-A305-4FAC-8F09-8C0DB815F3FD}" type="datetime1">
              <a:rPr lang="en-US" smtClean="0"/>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smtClean="0"/>
              <a:t>Vivek Kumar Sharma                      CD                Unit 2</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2"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Lst>
  <p:hf hdr="0"/>
  <p:txStyles>
    <p:titleStyle>
      <a:lvl1pPr algn="ctr" defTabSz="914400" rtl="0" eaLnBrk="1" latinLnBrk="0" hangingPunct="1">
        <a:spcBef>
          <a:spcPct val="0"/>
        </a:spcBef>
        <a:buNone/>
        <a:defRPr sz="2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342900" indent="-342900" algn="l" defTabSz="914400" rtl="0" eaLnBrk="1" latinLnBrk="0" hangingPunct="1">
        <a:spcBef>
          <a:spcPct val="20000"/>
        </a:spcBef>
        <a:buFont typeface="Arial"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17CD10-E914-45B1-853C-2B6F300210CF}"/>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F773A8-B5EC-440A-B66A-379F043AE5D5}"/>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2BD423F0-3308-4F83-B0BC-6FB6E4934DDF}"/>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AC957D-34C0-45D4-AD71-91F6C0B913F2}" type="datetime1">
              <a:rPr lang="en-US" smtClean="0"/>
              <a:t>4/10/2026</a:t>
            </a:fld>
            <a:endParaRPr lang="en-IN"/>
          </a:p>
        </p:txBody>
      </p:sp>
      <p:sp>
        <p:nvSpPr>
          <p:cNvPr id="5" name="Footer Placeholder 4">
            <a:extLst>
              <a:ext uri="{FF2B5EF4-FFF2-40B4-BE49-F238E27FC236}">
                <a16:creationId xmlns:a16="http://schemas.microsoft.com/office/drawing/2014/main" id="{9807DB2B-4FB9-4035-9785-0FC1E862081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626C78D4-220E-421A-BD8F-F63022A89AE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DE6254-6041-4517-812D-5B14679366A4}" type="slidenum">
              <a:rPr lang="en-IN" smtClean="0"/>
              <a:pPr/>
              <a:t>‹#›</a:t>
            </a:fld>
            <a:endParaRPr lang="en-IN"/>
          </a:p>
        </p:txBody>
      </p:sp>
    </p:spTree>
    <p:extLst>
      <p:ext uri="{BB962C8B-B14F-4D97-AF65-F5344CB8AC3E}">
        <p14:creationId xmlns:p14="http://schemas.microsoft.com/office/powerpoint/2010/main" val="181582622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6EC98-7E6A-4725-A4D7-F54DE1B33040}"/>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2463B6-441C-4EF7-B94A-A3C31D26DA4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31D571-5900-4CE6-9DEE-4BB4C0C77F97}"/>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A0CC37-6E24-4201-B449-2ADEAF2BEBC1}" type="datetime1">
              <a:rPr lang="en-US" smtClean="0"/>
              <a:t>4/10/2026</a:t>
            </a:fld>
            <a:endParaRPr lang="en-IN"/>
          </a:p>
        </p:txBody>
      </p:sp>
      <p:sp>
        <p:nvSpPr>
          <p:cNvPr id="5" name="Footer Placeholder 4">
            <a:extLst>
              <a:ext uri="{FF2B5EF4-FFF2-40B4-BE49-F238E27FC236}">
                <a16:creationId xmlns:a16="http://schemas.microsoft.com/office/drawing/2014/main" id="{95F8ABCD-5933-46F0-9A4A-34CCD292F28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00A25F4D-036D-484F-AF41-7CB62BA9FA6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4850E0-F2C7-48C9-9C60-3BD0251BD9EB}" type="slidenum">
              <a:rPr lang="en-IN" smtClean="0"/>
              <a:pPr/>
              <a:t>‹#›</a:t>
            </a:fld>
            <a:endParaRPr lang="en-IN"/>
          </a:p>
        </p:txBody>
      </p:sp>
    </p:spTree>
    <p:extLst>
      <p:ext uri="{BB962C8B-B14F-4D97-AF65-F5344CB8AC3E}">
        <p14:creationId xmlns:p14="http://schemas.microsoft.com/office/powerpoint/2010/main" val="244021445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5B1041-A8C6-4064-922A-EF17C21ECD6F}"/>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4AFEF4-1A2A-4B10-8668-996329482AD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2CBFD6-E251-4798-943E-D09E719F5C56}"/>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99CCBA-C609-4BE8-A03C-415B23C4A26E}" type="datetime1">
              <a:rPr lang="en-US" smtClean="0"/>
              <a:t>4/10/2026</a:t>
            </a:fld>
            <a:endParaRPr lang="en-IN"/>
          </a:p>
        </p:txBody>
      </p:sp>
      <p:sp>
        <p:nvSpPr>
          <p:cNvPr id="5" name="Footer Placeholder 4">
            <a:extLst>
              <a:ext uri="{FF2B5EF4-FFF2-40B4-BE49-F238E27FC236}">
                <a16:creationId xmlns:a16="http://schemas.microsoft.com/office/drawing/2014/main" id="{9D139790-4BA2-4665-B047-6A74D2BDC02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smtClean="0"/>
              <a:t>Vivek Kumar Sharma                      CD                Unit 2</a:t>
            </a:r>
            <a:endParaRPr lang="en-IN"/>
          </a:p>
        </p:txBody>
      </p:sp>
      <p:sp>
        <p:nvSpPr>
          <p:cNvPr id="6" name="Slide Number Placeholder 5">
            <a:extLst>
              <a:ext uri="{FF2B5EF4-FFF2-40B4-BE49-F238E27FC236}">
                <a16:creationId xmlns:a16="http://schemas.microsoft.com/office/drawing/2014/main" id="{3E026019-44FF-4B31-9146-2541B71BF4FC}"/>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8152F-A6DE-4B8A-889D-E1317BAC8175}" type="slidenum">
              <a:rPr lang="en-IN" smtClean="0"/>
              <a:pPr/>
              <a:t>‹#›</a:t>
            </a:fld>
            <a:endParaRPr lang="en-IN"/>
          </a:p>
        </p:txBody>
      </p:sp>
    </p:spTree>
    <p:extLst>
      <p:ext uri="{BB962C8B-B14F-4D97-AF65-F5344CB8AC3E}">
        <p14:creationId xmlns:p14="http://schemas.microsoft.com/office/powerpoint/2010/main" val="3799227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D52E84F-5A41-4666-9371-34EB9DCF43EA}"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Tree>
    <p:extLst>
      <p:ext uri="{BB962C8B-B14F-4D97-AF65-F5344CB8AC3E}">
        <p14:creationId xmlns:p14="http://schemas.microsoft.com/office/powerpoint/2010/main" val="2872922760"/>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Lst>
  <p:hf hdr="0"/>
  <p:txStyles>
    <p:titleStyle>
      <a:lvl1pPr algn="ctr" defTabSz="914400" rtl="0" eaLnBrk="1" latinLnBrk="0" hangingPunct="1">
        <a:spcBef>
          <a:spcPct val="0"/>
        </a:spcBef>
        <a:buNone/>
        <a:defRPr sz="2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342900" indent="-342900" algn="l" defTabSz="914400" rtl="0" eaLnBrk="1" latinLnBrk="0" hangingPunct="1">
        <a:spcBef>
          <a:spcPct val="20000"/>
        </a:spcBef>
        <a:buFont typeface="Arial"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jpeg"/><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14.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17.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4.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22.png"/></Relationships>
</file>

<file path=ppt/slides/_rels/slide6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4.jpeg"/><Relationship Id="rId4" Type="http://schemas.microsoft.com/office/2007/relationships/hdphoto" Target="../media/hdphoto2.wdp"/></Relationships>
</file>

<file path=ppt/slides/_rels/slide8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3.png"/></Relationships>
</file>

<file path=ppt/slides/_rels/slide9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9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0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0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0.xml"/><Relationship Id="rId1" Type="http://schemas.openxmlformats.org/officeDocument/2006/relationships/slideLayout" Target="../slideLayouts/slideLayout2.xml"/><Relationship Id="rId5" Type="http://schemas.openxmlformats.org/officeDocument/2006/relationships/image" Target="../media/image4.jpeg"/><Relationship Id="rId4" Type="http://schemas.microsoft.com/office/2007/relationships/hdphoto" Target="../media/hdphoto3.wdp"/></Relationships>
</file>

<file path=ppt/slides/_rels/slide1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2.xml"/><Relationship Id="rId1" Type="http://schemas.openxmlformats.org/officeDocument/2006/relationships/slideLayout" Target="../slideLayouts/slideLayout2.xml"/><Relationship Id="rId5" Type="http://schemas.openxmlformats.org/officeDocument/2006/relationships/image" Target="../media/image4.jpeg"/><Relationship Id="rId4" Type="http://schemas.microsoft.com/office/2007/relationships/hdphoto" Target="../media/hdphoto4.wdp"/></Relationships>
</file>

<file path=ppt/slides/_rels/slide1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image" Target="../media/image4.jpeg"/><Relationship Id="rId4" Type="http://schemas.microsoft.com/office/2007/relationships/hdphoto" Target="../media/hdphoto5.wdp"/></Relationships>
</file>

<file path=ppt/slides/_rels/slide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hyperlink" Target="https://www.youtube.com/watch?v=sMxqUQc_jHQ&amp;t=360s" TargetMode="External"/><Relationship Id="rId2" Type="http://schemas.openxmlformats.org/officeDocument/2006/relationships/hyperlink" Target="https://www.youtube.com/watch?v=GOlsYofJjyQ" TargetMode="Externa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hyperlink" Target="https://nptel.ac.in/courses/106/105/106105190/" TargetMode="External"/></Relationships>
</file>

<file path=ppt/slides/_rels/slide16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jpeg"/><Relationship Id="rId1" Type="http://schemas.openxmlformats.org/officeDocument/2006/relationships/slideLayout" Target="../slideLayouts/slideLayout55.xml"/></Relationships>
</file>

<file path=ppt/slides/_rels/slide17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jpeg"/><Relationship Id="rId1" Type="http://schemas.openxmlformats.org/officeDocument/2006/relationships/slideLayout" Target="../slideLayouts/slideLayout55.xml"/></Relationships>
</file>

<file path=ppt/slides/_rels/slide180.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jpeg"/><Relationship Id="rId1" Type="http://schemas.openxmlformats.org/officeDocument/2006/relationships/slideLayout" Target="../slideLayouts/slideLayout55.xml"/></Relationships>
</file>

<file path=ppt/slides/_rels/slide181.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jpeg"/><Relationship Id="rId1" Type="http://schemas.openxmlformats.org/officeDocument/2006/relationships/slideLayout" Target="../slideLayouts/slideLayout55.xml"/></Relationships>
</file>

<file path=ppt/slides/_rels/slide182.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4.jpeg"/><Relationship Id="rId1" Type="http://schemas.openxmlformats.org/officeDocument/2006/relationships/slideLayout" Target="../slideLayouts/slideLayout55.xml"/></Relationships>
</file>

<file path=ppt/slides/_rels/slide183.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jpeg"/><Relationship Id="rId1" Type="http://schemas.openxmlformats.org/officeDocument/2006/relationships/slideLayout" Target="../slideLayouts/slideLayout55.xml"/></Relationships>
</file>

<file path=ppt/slides/_rels/slide184.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image" Target="../media/image4.jpeg"/><Relationship Id="rId1" Type="http://schemas.openxmlformats.org/officeDocument/2006/relationships/slideLayout" Target="../slideLayouts/slideLayout55.xml"/></Relationships>
</file>

<file path=ppt/slides/_rels/slide185.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4.jpeg"/><Relationship Id="rId1" Type="http://schemas.openxmlformats.org/officeDocument/2006/relationships/slideLayout" Target="../slideLayouts/slideLayout55.xml"/></Relationships>
</file>

<file path=ppt/slides/_rels/slide186.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image" Target="../media/image4.jpeg"/><Relationship Id="rId1" Type="http://schemas.openxmlformats.org/officeDocument/2006/relationships/slideLayout" Target="../slideLayouts/slideLayout55.xml"/></Relationships>
</file>

<file path=ppt/slides/_rels/slide187.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4.jpeg"/><Relationship Id="rId1" Type="http://schemas.openxmlformats.org/officeDocument/2006/relationships/slideLayout" Target="../slideLayouts/slideLayout55.xml"/></Relationships>
</file>

<file path=ppt/slides/_rels/slide188.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image" Target="../media/image4.jpeg"/><Relationship Id="rId1" Type="http://schemas.openxmlformats.org/officeDocument/2006/relationships/slideLayout" Target="../slideLayouts/slideLayout55.xml"/></Relationships>
</file>

<file path=ppt/slides/_rels/slide18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8.jfif"/><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9.jfif"/><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2"/>
          </a:lnRef>
          <a:fillRef idx="2">
            <a:schemeClr val="accent2"/>
          </a:fillRef>
          <a:effectRef idx="1">
            <a:schemeClr val="accent2"/>
          </a:effectRef>
          <a:fontRef idx="minor">
            <a:schemeClr val="dk1"/>
          </a:fontRef>
        </p:style>
        <p:txBody>
          <a:bodyPr>
            <a:noAutofit/>
          </a:bodyPr>
          <a:lstStyle/>
          <a:p>
            <a:r>
              <a:rPr lang="en-US" sz="2400" dirty="0"/>
              <a:t>Noida Institute of Engineering and Technology, Greater Noida</a:t>
            </a:r>
          </a:p>
        </p:txBody>
      </p:sp>
      <p:sp>
        <p:nvSpPr>
          <p:cNvPr id="3" name="Subtitle 2"/>
          <p:cNvSpPr>
            <a:spLocks noGrp="1"/>
          </p:cNvSpPr>
          <p:nvPr>
            <p:ph type="subTitle" idx="1"/>
          </p:nvPr>
        </p:nvSpPr>
        <p:spPr>
          <a:xfrm>
            <a:off x="1447800" y="914400"/>
            <a:ext cx="6400800" cy="1752600"/>
          </a:xfrm>
        </p:spPr>
        <p:style>
          <a:lnRef idx="2">
            <a:schemeClr val="accent2"/>
          </a:lnRef>
          <a:fillRef idx="1">
            <a:schemeClr val="lt1"/>
          </a:fillRef>
          <a:effectRef idx="0">
            <a:schemeClr val="accent2"/>
          </a:effectRef>
          <a:fontRef idx="minor">
            <a:schemeClr val="dk1"/>
          </a:fontRef>
        </p:style>
        <p:txBody>
          <a:bodyPr>
            <a:normAutofit/>
          </a:bodyPr>
          <a:lstStyle/>
          <a:p>
            <a:endParaRPr lang="en-IN" sz="2800" b="1" dirty="0">
              <a:solidFill>
                <a:schemeClr val="tx1"/>
              </a:solidFill>
            </a:endParaRPr>
          </a:p>
          <a:p>
            <a:pPr lvl="0"/>
            <a:r>
              <a:rPr lang="en-IN" sz="2800" dirty="0" smtClean="0">
                <a:solidFill>
                  <a:schemeClr val="tx1"/>
                </a:solidFill>
                <a:latin typeface="Times New Roman" panose="02020603050405020304" pitchFamily="18" charset="0"/>
                <a:cs typeface="Times New Roman" panose="02020603050405020304" pitchFamily="18" charset="0"/>
              </a:rPr>
              <a:t> </a:t>
            </a:r>
            <a:r>
              <a:rPr lang="en-US" sz="2800" b="1" dirty="0">
                <a:solidFill>
                  <a:schemeClr val="tx1"/>
                </a:solidFill>
                <a:latin typeface="Times New Roman" panose="02020603050405020304" pitchFamily="18" charset="0"/>
                <a:cs typeface="Times New Roman" panose="02020603050405020304" pitchFamily="18" charset="0"/>
              </a:rPr>
              <a:t>Theory of Computation</a:t>
            </a:r>
          </a:p>
          <a:p>
            <a:pPr lvl="0"/>
            <a:r>
              <a:rPr lang="en-US" sz="2800" b="1" dirty="0">
                <a:solidFill>
                  <a:schemeClr val="tx1"/>
                </a:solidFill>
                <a:latin typeface="Times New Roman" panose="02020603050405020304" pitchFamily="18" charset="0"/>
                <a:cs typeface="Times New Roman" panose="02020603050405020304" pitchFamily="18" charset="0"/>
              </a:rPr>
              <a:t>(BCSE0404X(TOC))</a:t>
            </a:r>
          </a:p>
          <a:p>
            <a:endParaRPr lang="en-US" sz="2800" dirty="0">
              <a:solidFill>
                <a:schemeClr val="tx1"/>
              </a:solidFill>
            </a:endParaRPr>
          </a:p>
        </p:txBody>
      </p:sp>
      <p:sp>
        <p:nvSpPr>
          <p:cNvPr id="6" name="Subtitle 2"/>
          <p:cNvSpPr txBox="1">
            <a:spLocks/>
          </p:cNvSpPr>
          <p:nvPr/>
        </p:nvSpPr>
        <p:spPr>
          <a:xfrm>
            <a:off x="5791200" y="4572000"/>
            <a:ext cx="3048000" cy="11430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fontScale="92500" lnSpcReduction="1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err="1" smtClean="0">
                <a:solidFill>
                  <a:schemeClr val="tx1"/>
                </a:solidFill>
              </a:rPr>
              <a:t>Vivek</a:t>
            </a:r>
            <a:r>
              <a:rPr lang="en-US" sz="2400" dirty="0" smtClean="0">
                <a:solidFill>
                  <a:schemeClr val="tx1"/>
                </a:solidFill>
              </a:rPr>
              <a:t> Kumar Sharma</a:t>
            </a:r>
            <a:endParaRPr lang="en-US" sz="240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noProof="0" dirty="0">
                <a:ln>
                  <a:noFill/>
                </a:ln>
                <a:solidFill>
                  <a:schemeClr val="tx1"/>
                </a:solidFill>
                <a:effectLst/>
                <a:uLnTx/>
                <a:uFillTx/>
                <a:latin typeface="+mn-lt"/>
                <a:ea typeface="+mn-ea"/>
                <a:cs typeface="+mn-cs"/>
              </a:rPr>
              <a:t>CSE</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9" name="Date Placeholder 8"/>
          <p:cNvSpPr>
            <a:spLocks noGrp="1"/>
          </p:cNvSpPr>
          <p:nvPr>
            <p:ph type="dt" sz="half" idx="10"/>
          </p:nvPr>
        </p:nvSpPr>
        <p:spPr>
          <a:xfrm>
            <a:off x="381000" y="6492875"/>
            <a:ext cx="2133600" cy="365125"/>
          </a:xfrm>
        </p:spPr>
        <p:txBody>
          <a:bodyPr/>
          <a:lstStyle/>
          <a:p>
            <a:fld id="{9EA9C8DA-58BF-4E20-888F-93B25B919156}" type="datetime1">
              <a:rPr lang="en-US" smtClean="0"/>
              <a:t>4/10/2026</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sp>
        <p:nvSpPr>
          <p:cNvPr id="12" name="Subtitle 2"/>
          <p:cNvSpPr txBox="1">
            <a:spLocks/>
          </p:cNvSpPr>
          <p:nvPr/>
        </p:nvSpPr>
        <p:spPr>
          <a:xfrm>
            <a:off x="152400" y="2971800"/>
            <a:ext cx="2057400" cy="5334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smtClean="0">
                <a:ln>
                  <a:noFill/>
                </a:ln>
                <a:solidFill>
                  <a:schemeClr val="tx1"/>
                </a:solidFill>
                <a:effectLst/>
                <a:uLnTx/>
                <a:uFillTx/>
                <a:latin typeface="+mn-lt"/>
                <a:ea typeface="+mn-ea"/>
                <a:cs typeface="+mn-cs"/>
              </a:rPr>
              <a:t>Module:</a:t>
            </a:r>
            <a:r>
              <a:rPr kumimoji="0" lang="en-US" sz="2500" b="0" i="0" u="none" strike="noStrike" kern="1200" cap="none" spc="0" normalizeH="0" noProof="0" dirty="0" smtClean="0">
                <a:ln>
                  <a:noFill/>
                </a:ln>
                <a:solidFill>
                  <a:schemeClr val="tx1"/>
                </a:solidFill>
                <a:effectLst/>
                <a:uLnTx/>
                <a:uFillTx/>
                <a:latin typeface="+mn-lt"/>
                <a:ea typeface="+mn-ea"/>
                <a:cs typeface="+mn-cs"/>
              </a:rPr>
              <a:t> 4</a:t>
            </a:r>
            <a:endParaRPr kumimoji="0" lang="en-US" sz="25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it-IT" smtClean="0"/>
              <a:t>Vivek Kumar Sharma                      CD                Unit 2</a:t>
            </a:r>
            <a:endParaRPr lang="en-US" dirty="0"/>
          </a:p>
        </p:txBody>
      </p:sp>
      <p:sp>
        <p:nvSpPr>
          <p:cNvPr id="14" name="Subtitle 2"/>
          <p:cNvSpPr txBox="1">
            <a:spLocks/>
          </p:cNvSpPr>
          <p:nvPr/>
        </p:nvSpPr>
        <p:spPr>
          <a:xfrm>
            <a:off x="152400" y="3810000"/>
            <a:ext cx="4191000" cy="8382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p>
            <a:pPr lvl="0" algn="ctr">
              <a:spcBef>
                <a:spcPct val="20000"/>
              </a:spcBef>
              <a:defRPr/>
            </a:pPr>
            <a:r>
              <a:rPr kumimoji="0" lang="en-US" sz="2000" b="1" i="0" u="none" strike="noStrike" kern="1200" cap="none" spc="0" normalizeH="0" baseline="0" noProof="0" dirty="0" smtClean="0">
                <a:ln>
                  <a:noFill/>
                </a:ln>
                <a:solidFill>
                  <a:schemeClr val="tx1"/>
                </a:solidFill>
                <a:effectLst/>
                <a:uLnTx/>
                <a:uFillTx/>
                <a:latin typeface="+mn-lt"/>
                <a:ea typeface="+mn-ea"/>
                <a:cs typeface="+mn-cs"/>
              </a:rPr>
              <a:t>Parser and Intermediate Representation</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p>
            <a:pPr lvl="0" algn="ctr">
              <a:spcBef>
                <a:spcPct val="20000"/>
              </a:spcBef>
              <a:defRPr/>
            </a:pPr>
            <a:r>
              <a:rPr lang="en-US" sz="2000" b="1" dirty="0">
                <a:solidFill>
                  <a:schemeClr val="tx1"/>
                </a:solidFill>
                <a:latin typeface="Times New Roman" panose="02020603050405020304" pitchFamily="18" charset="0"/>
                <a:cs typeface="Times New Roman" panose="02020603050405020304" pitchFamily="18" charset="0"/>
              </a:rPr>
              <a:t>Course Details</a:t>
            </a:r>
            <a:br>
              <a:rPr lang="en-US" sz="2000" b="1" dirty="0">
                <a:solidFill>
                  <a:schemeClr val="tx1"/>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a:t>
            </a:r>
            <a:r>
              <a:rPr lang="en-US" sz="2000" b="1" dirty="0" err="1">
                <a:solidFill>
                  <a:schemeClr val="tx1"/>
                </a:solidFill>
                <a:latin typeface="Times New Roman" panose="02020603050405020304" pitchFamily="18" charset="0"/>
                <a:cs typeface="Times New Roman" panose="02020603050405020304" pitchFamily="18" charset="0"/>
              </a:rPr>
              <a:t>B.Tech</a:t>
            </a:r>
            <a:r>
              <a:rPr lang="en-US" sz="2000" b="1" dirty="0">
                <a:solidFill>
                  <a:schemeClr val="tx1"/>
                </a:solidFill>
                <a:latin typeface="Times New Roman" panose="02020603050405020304" pitchFamily="18" charset="0"/>
                <a:cs typeface="Times New Roman" panose="02020603050405020304" pitchFamily="18" charset="0"/>
              </a:rPr>
              <a:t> CSE 4</a:t>
            </a:r>
            <a:r>
              <a:rPr lang="en-US" sz="2000" b="1" baseline="30000" dirty="0">
                <a:solidFill>
                  <a:schemeClr val="tx1"/>
                </a:solidFill>
                <a:latin typeface="Times New Roman" panose="02020603050405020304" pitchFamily="18" charset="0"/>
                <a:cs typeface="Times New Roman" panose="02020603050405020304" pitchFamily="18" charset="0"/>
              </a:rPr>
              <a:t>th</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Sem</a:t>
            </a:r>
            <a:r>
              <a:rPr lang="en-US" sz="2000" b="1" dirty="0">
                <a:solidFill>
                  <a:schemeClr val="tx1"/>
                </a:solidFill>
                <a:latin typeface="Times New Roman" panose="02020603050405020304" pitchFamily="18" charset="0"/>
                <a:cs typeface="Times New Roman" panose="02020603050405020304" pitchFamily="18" charset="0"/>
              </a:rPr>
              <a:t>)</a:t>
            </a:r>
          </a:p>
        </p:txBody>
      </p:sp>
      <p:pic>
        <p:nvPicPr>
          <p:cNvPr id="16" name="Picture 15"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99738" y="2971800"/>
            <a:ext cx="1406770" cy="14168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7C169C-0DF1-427A-ABA3-4D7742363562}"/>
              </a:ext>
            </a:extLst>
          </p:cNvPr>
          <p:cNvSpPr>
            <a:spLocks noGrp="1"/>
          </p:cNvSpPr>
          <p:nvPr>
            <p:ph idx="1"/>
          </p:nvPr>
        </p:nvSpPr>
        <p:spPr/>
        <p:txBody>
          <a:bodyPr/>
          <a:lstStyle/>
          <a:p>
            <a:pPr marL="0" indent="0">
              <a:buNone/>
            </a:pPr>
            <a:r>
              <a:rPr lang="en-US" sz="1800" b="1" dirty="0" err="1" smtClean="0">
                <a:latin typeface="Times New Roman" panose="02020603050405020304" pitchFamily="18" charset="0"/>
                <a:cs typeface="Times New Roman" panose="02020603050405020304" pitchFamily="18" charset="0"/>
              </a:rPr>
              <a:t>Vivek</a:t>
            </a:r>
            <a:r>
              <a:rPr lang="en-US" sz="1800" b="1" dirty="0" smtClean="0">
                <a:latin typeface="Times New Roman" panose="02020603050405020304" pitchFamily="18" charset="0"/>
                <a:cs typeface="Times New Roman" panose="02020603050405020304" pitchFamily="18" charset="0"/>
              </a:rPr>
              <a:t> Kumar Sharma</a:t>
            </a:r>
            <a:endParaRPr lang="en-US" sz="1800" b="1"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Designation: Assistant Professor CSE Department</a:t>
            </a:r>
          </a:p>
          <a:p>
            <a:pPr marL="0" indent="0">
              <a:buNone/>
            </a:pPr>
            <a:r>
              <a:rPr lang="en-US" sz="1800" dirty="0">
                <a:latin typeface="Times New Roman" panose="02020603050405020304" pitchFamily="18" charset="0"/>
                <a:cs typeface="Times New Roman" panose="02020603050405020304" pitchFamily="18" charset="0"/>
              </a:rPr>
              <a:t>NIET Grater Noida</a:t>
            </a:r>
          </a:p>
          <a:p>
            <a:pPr marL="0" indent="0">
              <a:buNone/>
            </a:pPr>
            <a:r>
              <a:rPr lang="en-US" sz="1800" b="1" dirty="0">
                <a:latin typeface="Times New Roman" panose="02020603050405020304" pitchFamily="18" charset="0"/>
                <a:cs typeface="Times New Roman" panose="02020603050405020304" pitchFamily="18" charset="0"/>
              </a:rPr>
              <a:t>Qualifications:</a:t>
            </a:r>
          </a:p>
          <a:p>
            <a:pPr>
              <a:buFont typeface="Wingdings" panose="05000000000000000000" pitchFamily="2" charset="2"/>
              <a:buChar char="Ø"/>
            </a:pPr>
            <a:r>
              <a:rPr lang="en-US" sz="1800" dirty="0" err="1">
                <a:latin typeface="Times New Roman" panose="02020603050405020304" pitchFamily="18" charset="0"/>
                <a:cs typeface="Times New Roman" panose="02020603050405020304" pitchFamily="18" charset="0"/>
              </a:rPr>
              <a:t>B.Tech</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(CSE) in 2010</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err="1">
                <a:latin typeface="Times New Roman" panose="02020603050405020304" pitchFamily="18" charset="0"/>
                <a:cs typeface="Times New Roman" panose="02020603050405020304" pitchFamily="18" charset="0"/>
              </a:rPr>
              <a:t>M.Tech</a:t>
            </a:r>
            <a:r>
              <a:rPr lang="en-US" sz="1800" dirty="0">
                <a:latin typeface="Times New Roman" panose="02020603050405020304" pitchFamily="18" charset="0"/>
                <a:cs typeface="Times New Roman" panose="02020603050405020304" pitchFamily="18" charset="0"/>
              </a:rPr>
              <a:t> (CSE) </a:t>
            </a:r>
            <a:r>
              <a:rPr lang="en-US" sz="1800" dirty="0" smtClean="0">
                <a:latin typeface="Times New Roman" panose="02020603050405020304" pitchFamily="18" charset="0"/>
                <a:cs typeface="Times New Roman" panose="02020603050405020304" pitchFamily="18" charset="0"/>
              </a:rPr>
              <a:t>in 2013</a:t>
            </a: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Teaching </a:t>
            </a:r>
            <a:r>
              <a:rPr lang="en-US" sz="1800" b="1" dirty="0" err="1">
                <a:latin typeface="Times New Roman" panose="02020603050405020304" pitchFamily="18" charset="0"/>
                <a:cs typeface="Times New Roman" panose="02020603050405020304" pitchFamily="18" charset="0"/>
              </a:rPr>
              <a:t>Experinces</a:t>
            </a:r>
            <a:r>
              <a:rPr lang="en-US" sz="1800" b="1" dirty="0">
                <a:latin typeface="Times New Roman" panose="02020603050405020304" pitchFamily="18" charset="0"/>
                <a:cs typeface="Times New Roman" panose="02020603050405020304" pitchFamily="18" charset="0"/>
              </a:rPr>
              <a:t>: </a:t>
            </a:r>
            <a:r>
              <a:rPr lang="en-US" b="1" dirty="0" smtClean="0"/>
              <a:t>10 year +</a:t>
            </a: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Research Publications:</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Date Placeholder 3">
            <a:extLst>
              <a:ext uri="{FF2B5EF4-FFF2-40B4-BE49-F238E27FC236}">
                <a16:creationId xmlns:a16="http://schemas.microsoft.com/office/drawing/2014/main" id="{349077E4-CAF8-4C05-B649-952420C6C967}"/>
              </a:ext>
            </a:extLst>
          </p:cNvPr>
          <p:cNvSpPr>
            <a:spLocks noGrp="1"/>
          </p:cNvSpPr>
          <p:nvPr>
            <p:ph type="dt" sz="half" idx="10"/>
          </p:nvPr>
        </p:nvSpPr>
        <p:spPr/>
        <p:txBody>
          <a:bodyPr/>
          <a:lstStyle/>
          <a:p>
            <a:fld id="{5FEDD052-E4CD-4578-A1E8-DF1429A7E5CE}" type="datetime1">
              <a:rPr lang="en-US" smtClean="0"/>
              <a:t>4/10/2026</a:t>
            </a:fld>
            <a:endParaRPr lang="en-US"/>
          </a:p>
        </p:txBody>
      </p:sp>
      <p:sp>
        <p:nvSpPr>
          <p:cNvPr id="5" name="Footer Placeholder 4">
            <a:extLst>
              <a:ext uri="{FF2B5EF4-FFF2-40B4-BE49-F238E27FC236}">
                <a16:creationId xmlns:a16="http://schemas.microsoft.com/office/drawing/2014/main" id="{916049B0-EDD8-436F-AE71-7524DF27E39D}"/>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a:extLst>
              <a:ext uri="{FF2B5EF4-FFF2-40B4-BE49-F238E27FC236}">
                <a16:creationId xmlns:a16="http://schemas.microsoft.com/office/drawing/2014/main" id="{DCEFE441-532C-4151-91B8-434C68F11F82}"/>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7" name="Title 1">
            <a:extLst>
              <a:ext uri="{FF2B5EF4-FFF2-40B4-BE49-F238E27FC236}">
                <a16:creationId xmlns:a16="http://schemas.microsoft.com/office/drawing/2014/main" id="{AAF397BA-B3AA-4FCA-8B23-53BF07946AA7}"/>
              </a:ext>
            </a:extLst>
          </p:cNvPr>
          <p:cNvSpPr txBox="1">
            <a:spLocks noGrp="1"/>
          </p:cNvSpPr>
          <p:nvPr>
            <p:ph type="title"/>
          </p:nvPr>
        </p:nvSpPr>
        <p:spPr>
          <a:xfrm>
            <a:off x="1066800" y="21956"/>
            <a:ext cx="8229600" cy="86836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Brief Introduction of Faculty</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graphicFrame>
        <p:nvGraphicFramePr>
          <p:cNvPr id="10" name="Table 8">
            <a:extLst>
              <a:ext uri="{FF2B5EF4-FFF2-40B4-BE49-F238E27FC236}">
                <a16:creationId xmlns:a16="http://schemas.microsoft.com/office/drawing/2014/main" id="{97C1B66B-8EC2-47C2-95B8-13F77326CB8A}"/>
              </a:ext>
            </a:extLst>
          </p:cNvPr>
          <p:cNvGraphicFramePr>
            <a:graphicFrameLocks noGrp="1"/>
          </p:cNvGraphicFramePr>
          <p:nvPr>
            <p:extLst>
              <p:ext uri="{D42A27DB-BD31-4B8C-83A1-F6EECF244321}">
                <p14:modId xmlns:p14="http://schemas.microsoft.com/office/powerpoint/2010/main" val="3220674781"/>
              </p:ext>
            </p:extLst>
          </p:nvPr>
        </p:nvGraphicFramePr>
        <p:xfrm>
          <a:off x="1290320" y="4303555"/>
          <a:ext cx="6096000" cy="1112520"/>
        </p:xfrm>
        <a:graphic>
          <a:graphicData uri="http://schemas.openxmlformats.org/drawingml/2006/table">
            <a:tbl>
              <a:tblPr firstRow="1" bandRow="1">
                <a:tableStyleId>{284E427A-3D55-4303-BF80-6455036E1DE7}</a:tableStyleId>
              </a:tblPr>
              <a:tblGrid>
                <a:gridCol w="2032000">
                  <a:extLst>
                    <a:ext uri="{9D8B030D-6E8A-4147-A177-3AD203B41FA5}">
                      <a16:colId xmlns:a16="http://schemas.microsoft.com/office/drawing/2014/main" val="3236943688"/>
                    </a:ext>
                  </a:extLst>
                </a:gridCol>
                <a:gridCol w="2032000">
                  <a:extLst>
                    <a:ext uri="{9D8B030D-6E8A-4147-A177-3AD203B41FA5}">
                      <a16:colId xmlns:a16="http://schemas.microsoft.com/office/drawing/2014/main" val="3068887949"/>
                    </a:ext>
                  </a:extLst>
                </a:gridCol>
                <a:gridCol w="2032000">
                  <a:extLst>
                    <a:ext uri="{9D8B030D-6E8A-4147-A177-3AD203B41FA5}">
                      <a16:colId xmlns:a16="http://schemas.microsoft.com/office/drawing/2014/main" val="2832858683"/>
                    </a:ext>
                  </a:extLst>
                </a:gridCol>
              </a:tblGrid>
              <a:tr h="370840">
                <a:tc>
                  <a:txBody>
                    <a:bodyPr/>
                    <a:lstStyle/>
                    <a:p>
                      <a:r>
                        <a:rPr lang="en-US" dirty="0"/>
                        <a:t>Particulars</a:t>
                      </a:r>
                      <a:endParaRPr lang="en-IN" dirty="0"/>
                    </a:p>
                  </a:txBody>
                  <a:tcPr/>
                </a:tc>
                <a:tc>
                  <a:txBody>
                    <a:bodyPr/>
                    <a:lstStyle/>
                    <a:p>
                      <a:r>
                        <a:rPr lang="en-US" dirty="0"/>
                        <a:t>Journals (UGC)</a:t>
                      </a:r>
                      <a:endParaRPr lang="en-IN" dirty="0"/>
                    </a:p>
                  </a:txBody>
                  <a:tcPr/>
                </a:tc>
                <a:tc>
                  <a:txBody>
                    <a:bodyPr/>
                    <a:lstStyle/>
                    <a:p>
                      <a:r>
                        <a:rPr lang="en-US" dirty="0"/>
                        <a:t>Conference(IEEE)</a:t>
                      </a:r>
                      <a:endParaRPr lang="en-IN" dirty="0"/>
                    </a:p>
                  </a:txBody>
                  <a:tcPr/>
                </a:tc>
                <a:extLst>
                  <a:ext uri="{0D108BD9-81ED-4DB2-BD59-A6C34878D82A}">
                    <a16:rowId xmlns:a16="http://schemas.microsoft.com/office/drawing/2014/main" val="320133921"/>
                  </a:ext>
                </a:extLst>
              </a:tr>
              <a:tr h="370840">
                <a:tc>
                  <a:txBody>
                    <a:bodyPr/>
                    <a:lstStyle/>
                    <a:p>
                      <a:r>
                        <a:rPr lang="en-US" dirty="0"/>
                        <a:t>International</a:t>
                      </a:r>
                      <a:endParaRPr lang="en-IN" dirty="0"/>
                    </a:p>
                  </a:txBody>
                  <a:tcPr/>
                </a:tc>
                <a:tc>
                  <a:txBody>
                    <a:bodyPr/>
                    <a:lstStyle/>
                    <a:p>
                      <a:r>
                        <a:rPr lang="en-US" dirty="0" smtClean="0"/>
                        <a:t>04</a:t>
                      </a:r>
                      <a:endParaRPr lang="en-IN" dirty="0"/>
                    </a:p>
                  </a:txBody>
                  <a:tcPr/>
                </a:tc>
                <a:tc>
                  <a:txBody>
                    <a:bodyPr/>
                    <a:lstStyle/>
                    <a:p>
                      <a:r>
                        <a:rPr lang="en-US" dirty="0" smtClean="0"/>
                        <a:t>02</a:t>
                      </a:r>
                      <a:endParaRPr lang="en-IN" dirty="0"/>
                    </a:p>
                  </a:txBody>
                  <a:tcPr/>
                </a:tc>
                <a:extLst>
                  <a:ext uri="{0D108BD9-81ED-4DB2-BD59-A6C34878D82A}">
                    <a16:rowId xmlns:a16="http://schemas.microsoft.com/office/drawing/2014/main" val="455539978"/>
                  </a:ext>
                </a:extLst>
              </a:tr>
              <a:tr h="370840">
                <a:tc>
                  <a:txBody>
                    <a:bodyPr/>
                    <a:lstStyle/>
                    <a:p>
                      <a:r>
                        <a:rPr lang="en-US" dirty="0"/>
                        <a:t>National</a:t>
                      </a:r>
                      <a:endParaRPr lang="en-IN" dirty="0"/>
                    </a:p>
                  </a:txBody>
                  <a:tcPr/>
                </a:tc>
                <a:tc>
                  <a:txBody>
                    <a:bodyPr/>
                    <a:lstStyle/>
                    <a:p>
                      <a:r>
                        <a:rPr lang="en-US" dirty="0" smtClean="0"/>
                        <a:t>01</a:t>
                      </a:r>
                      <a:endParaRPr lang="en-IN" dirty="0"/>
                    </a:p>
                  </a:txBody>
                  <a:tcPr/>
                </a:tc>
                <a:tc>
                  <a:txBody>
                    <a:bodyPr/>
                    <a:lstStyle/>
                    <a:p>
                      <a:r>
                        <a:rPr lang="en-IN" dirty="0" smtClean="0"/>
                        <a:t>00</a:t>
                      </a:r>
                      <a:endParaRPr lang="en-IN" dirty="0"/>
                    </a:p>
                  </a:txBody>
                  <a:tcPr/>
                </a:tc>
                <a:extLst>
                  <a:ext uri="{0D108BD9-81ED-4DB2-BD59-A6C34878D82A}">
                    <a16:rowId xmlns:a16="http://schemas.microsoft.com/office/drawing/2014/main" val="117704880"/>
                  </a:ext>
                </a:extLst>
              </a:tr>
            </a:tbl>
          </a:graphicData>
        </a:graphic>
      </p:graphicFrame>
    </p:spTree>
    <p:extLst>
      <p:ext uri="{BB962C8B-B14F-4D97-AF65-F5344CB8AC3E}">
        <p14:creationId xmlns:p14="http://schemas.microsoft.com/office/powerpoint/2010/main" val="6847041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20F2BF2-6BCC-48B5-8727-407529B19216}" type="datetime1">
              <a:rPr lang="en-US" smtClean="0"/>
              <a:t>4/10/2026</a:t>
            </a:fld>
            <a:endParaRPr lang="en-US"/>
          </a:p>
        </p:txBody>
      </p:sp>
      <p:sp>
        <p:nvSpPr>
          <p:cNvPr id="5" name="Footer Placeholder 4"/>
          <p:cNvSpPr>
            <a:spLocks noGrp="1"/>
          </p:cNvSpPr>
          <p:nvPr>
            <p:ph type="ftr" sz="quarter" idx="11"/>
          </p:nvPr>
        </p:nvSpPr>
        <p:spPr>
          <a:xfrm>
            <a:off x="2895600" y="6356350"/>
            <a:ext cx="4419600" cy="365125"/>
          </a:xfrm>
        </p:spPr>
        <p:txBody>
          <a:bodyPr/>
          <a:lstStyle/>
          <a:p>
            <a:pPr>
              <a:defRPr/>
            </a:pPr>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9" name="Title 1"/>
          <p:cNvSpPr txBox="1">
            <a:spLocks/>
          </p:cNvSpPr>
          <p:nvPr/>
        </p:nvSpPr>
        <p:spPr>
          <a:xfrm>
            <a:off x="1600200" y="1"/>
            <a:ext cx="75438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3200" dirty="0">
                <a:solidFill>
                  <a:schemeClr val="tx1"/>
                </a:solidFill>
                <a:latin typeface="Times New Roman" panose="02020603050405020304" pitchFamily="18" charset="0"/>
                <a:cs typeface="Times New Roman" panose="02020603050405020304" pitchFamily="18" charset="0"/>
              </a:rPr>
              <a:t>Evaluation Scheme</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
        <p:nvSpPr>
          <p:cNvPr id="11" name="Rectangle 10"/>
          <p:cNvSpPr/>
          <p:nvPr/>
        </p:nvSpPr>
        <p:spPr>
          <a:xfrm>
            <a:off x="685799" y="3368675"/>
            <a:ext cx="80010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p:cNvSpPr>
            <a:spLocks noGrp="1"/>
          </p:cNvSpPr>
          <p:nvPr>
            <p:ph idx="1"/>
          </p:nvPr>
        </p:nvSpPr>
        <p:spPr/>
        <p:txBody>
          <a:bodyPr/>
          <a:lstStyle/>
          <a:p>
            <a:endParaRPr lang="en-US"/>
          </a:p>
        </p:txBody>
      </p:sp>
      <p:pic>
        <p:nvPicPr>
          <p:cNvPr id="12" name="Picture 11">
            <a:extLst>
              <a:ext uri="{FF2B5EF4-FFF2-40B4-BE49-F238E27FC236}">
                <a16:creationId xmlns:a16="http://schemas.microsoft.com/office/drawing/2014/main" id="{13E13319-798A-FFDE-1ACA-54E1F2028646}"/>
              </a:ext>
            </a:extLst>
          </p:cNvPr>
          <p:cNvPicPr>
            <a:picLocks noChangeAspect="1"/>
          </p:cNvPicPr>
          <p:nvPr/>
        </p:nvPicPr>
        <p:blipFill>
          <a:blip r:embed="rId3"/>
          <a:stretch>
            <a:fillRect/>
          </a:stretch>
        </p:blipFill>
        <p:spPr>
          <a:xfrm>
            <a:off x="457200" y="959906"/>
            <a:ext cx="8381999" cy="5212294"/>
          </a:xfrm>
          <a:prstGeom prst="rect">
            <a:avLst/>
          </a:prstGeom>
        </p:spPr>
      </p:pic>
    </p:spTree>
    <p:extLst>
      <p:ext uri="{BB962C8B-B14F-4D97-AF65-F5344CB8AC3E}">
        <p14:creationId xmlns:p14="http://schemas.microsoft.com/office/powerpoint/2010/main" val="3332764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7DF04B9B-D0B0-4294-B0D3-8E7368143337}" type="datetime1">
              <a:rPr lang="en-US" smtClean="0"/>
              <a:t>4/10/2026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dirty="0"/>
          </a:p>
        </p:txBody>
      </p:sp>
      <p:sp>
        <p:nvSpPr>
          <p:cNvPr id="8" name="Title 1"/>
          <p:cNvSpPr txBox="1">
            <a:spLocks/>
          </p:cNvSpPr>
          <p:nvPr/>
        </p:nvSpPr>
        <p:spPr>
          <a:xfrm>
            <a:off x="1600200" y="1"/>
            <a:ext cx="7543800" cy="838201"/>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Syllabus</a:t>
            </a:r>
          </a:p>
        </p:txBody>
      </p:sp>
      <p:sp>
        <p:nvSpPr>
          <p:cNvPr id="11" name="Footer Placeholder 12"/>
          <p:cNvSpPr>
            <a:spLocks noGrp="1"/>
          </p:cNvSpPr>
          <p:nvPr>
            <p:ph type="ftr" sz="quarter" idx="11"/>
          </p:nvPr>
        </p:nvSpPr>
        <p:spPr>
          <a:xfrm>
            <a:off x="1905000" y="64166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95682DD-B01B-D86E-E46F-7A83CEDF7FA8}"/>
              </a:ext>
            </a:extLst>
          </p:cNvPr>
          <p:cNvPicPr>
            <a:picLocks noChangeAspect="1"/>
          </p:cNvPicPr>
          <p:nvPr/>
        </p:nvPicPr>
        <p:blipFill>
          <a:blip r:embed="rId3"/>
          <a:srcRect t="3243" b="8556"/>
          <a:stretch>
            <a:fillRect/>
          </a:stretch>
        </p:blipFill>
        <p:spPr>
          <a:xfrm>
            <a:off x="228601" y="898527"/>
            <a:ext cx="8839200" cy="5397497"/>
          </a:xfrm>
          <a:prstGeom prst="rect">
            <a:avLst/>
          </a:prstGeom>
        </p:spPr>
      </p:pic>
    </p:spTree>
    <p:extLst>
      <p:ext uri="{BB962C8B-B14F-4D97-AF65-F5344CB8AC3E}">
        <p14:creationId xmlns:p14="http://schemas.microsoft.com/office/powerpoint/2010/main" val="217809391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893C8837-6BD4-4C8E-B427-0C387CA7B267}" type="datetime1">
              <a:rPr lang="en-US" smtClean="0"/>
              <a:t>4/10/2026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a:t>
            </a:fld>
            <a:endParaRPr lang="en-US"/>
          </a:p>
        </p:txBody>
      </p:sp>
      <p:sp>
        <p:nvSpPr>
          <p:cNvPr id="8" name="Title 1"/>
          <p:cNvSpPr txBox="1">
            <a:spLocks/>
          </p:cNvSpPr>
          <p:nvPr/>
        </p:nvSpPr>
        <p:spPr>
          <a:xfrm>
            <a:off x="1676400" y="0"/>
            <a:ext cx="7467600" cy="81716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40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Branch Wise Applications</a:t>
            </a:r>
          </a:p>
        </p:txBody>
      </p:sp>
      <p:sp>
        <p:nvSpPr>
          <p:cNvPr id="9" name="Content Placeholder 2"/>
          <p:cNvSpPr>
            <a:spLocks noGrp="1"/>
          </p:cNvSpPr>
          <p:nvPr>
            <p:ph idx="1"/>
          </p:nvPr>
        </p:nvSpPr>
        <p:spPr>
          <a:xfrm>
            <a:off x="579120" y="1334293"/>
            <a:ext cx="8107680" cy="4525963"/>
          </a:xfrm>
        </p:spPr>
        <p:txBody>
          <a:bodyPr>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It can compute man-made problems as well as natural phenomena. </a:t>
            </a:r>
          </a:p>
          <a:p>
            <a:pPr algn="just">
              <a:lnSpc>
                <a:spcPct val="150000"/>
              </a:lnSpc>
            </a:pPr>
            <a:r>
              <a:rPr lang="en-US" sz="2000" dirty="0">
                <a:latin typeface="Times New Roman" panose="02020603050405020304" pitchFamily="18" charset="0"/>
                <a:cs typeface="Times New Roman" panose="02020603050405020304" pitchFamily="18" charset="0"/>
              </a:rPr>
              <a:t>Automata theory has a lot of applications in real life as well, such that: Lambda calculus, Combinatory logic, Markov algorithm, and Register, Natural Language Processing ,Compiler Design and Lexical analysis and Semantic analysis. Also, the concept of Formal languages and automata theory can overlap with other subjects as well.</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11"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4292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F2812E9-C3BC-40AA-977E-AEC76A9C61C4}"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noGrp="1"/>
          </p:cNvSpPr>
          <p:nvPr>
            <p:ph type="title"/>
          </p:nvPr>
        </p:nvSpPr>
        <p:spPr>
          <a:xfrm>
            <a:off x="1371600" y="0"/>
            <a:ext cx="7772400" cy="7620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r>
              <a:rPr lang="en-US" sz="2400" b="1" dirty="0">
                <a:latin typeface="Times New Roman" panose="02020603050405020304" pitchFamily="18" charset="0"/>
                <a:cs typeface="Times New Roman" panose="02020603050405020304" pitchFamily="18" charset="0"/>
              </a:rPr>
              <a:t>Course Objectives</a:t>
            </a:r>
          </a:p>
        </p:txBody>
      </p:sp>
      <p:pic>
        <p:nvPicPr>
          <p:cNvPr id="8" name="Picture 15" descr="A black and red logo&#10;&#10;Description automatically generated"/>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71600" cy="838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p:cNvSpPr>
            <a:spLocks noGrp="1"/>
          </p:cNvSpPr>
          <p:nvPr>
            <p:ph idx="1"/>
          </p:nvPr>
        </p:nvSpPr>
        <p:spPr>
          <a:xfrm>
            <a:off x="438150" y="1143003"/>
            <a:ext cx="8248650" cy="4525963"/>
          </a:xfrm>
        </p:spPr>
        <p:txBody>
          <a:bodyPr>
            <a:normAutofit/>
          </a:bodyPr>
          <a:lstStyle/>
          <a:p>
            <a:pPr marL="0" indent="0" algn="just">
              <a:buNone/>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The primary objective of this course is to provide a foundational understanding of Automata Theory and its role in the language processing systems, also explores their application in fields like Natural Language Processing (NLP), speech recognition.</a:t>
            </a: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10" name="Footer Placeholder 12"/>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4274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26BAFC4-2E85-4366-A54D-2FABC198976E}"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600200" y="0"/>
            <a:ext cx="7543800" cy="7620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nvPr>
        </p:nvGraphicFramePr>
        <p:xfrm>
          <a:off x="744030" y="914400"/>
          <a:ext cx="7978330" cy="5308804"/>
        </p:xfrm>
        <a:graphic>
          <a:graphicData uri="http://schemas.openxmlformats.org/drawingml/2006/table">
            <a:tbl>
              <a:tblPr firstRow="1" bandRow="1">
                <a:tableStyleId>{5C22544A-7EE6-4342-B048-85BDC9FD1C3A}</a:tableStyleId>
              </a:tblPr>
              <a:tblGrid>
                <a:gridCol w="674560">
                  <a:extLst>
                    <a:ext uri="{9D8B030D-6E8A-4147-A177-3AD203B41FA5}">
                      <a16:colId xmlns:a16="http://schemas.microsoft.com/office/drawing/2014/main" val="20000"/>
                    </a:ext>
                  </a:extLst>
                </a:gridCol>
                <a:gridCol w="4732021">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337309">
                  <a:extLst>
                    <a:ext uri="{9D8B030D-6E8A-4147-A177-3AD203B41FA5}">
                      <a16:colId xmlns:a16="http://schemas.microsoft.com/office/drawing/2014/main" val="20003"/>
                    </a:ext>
                  </a:extLst>
                </a:gridCol>
              </a:tblGrid>
              <a:tr h="293665">
                <a:tc gridSpan="4">
                  <a:txBody>
                    <a:bodyPr/>
                    <a:lstStyle/>
                    <a:p>
                      <a:pPr algn="ctr"/>
                      <a:r>
                        <a:rPr lang="en-US" b="1" dirty="0">
                          <a:solidFill>
                            <a:schemeClr val="tx1"/>
                          </a:solidFill>
                          <a:latin typeface="Times New Roman" panose="02020603050405020304" pitchFamily="18" charset="0"/>
                          <a:cs typeface="Times New Roman" panose="02020603050405020304" pitchFamily="18" charset="0"/>
                        </a:rPr>
                        <a:t>Theory of Computation (BCSE0404X)</a:t>
                      </a:r>
                    </a:p>
                  </a:txBody>
                  <a:tcPr anchor="ctr">
                    <a:solidFill>
                      <a:srgbClr val="FF9999"/>
                    </a:solidFill>
                  </a:tcPr>
                </a:tc>
                <a:tc hMerge="1">
                  <a:txBody>
                    <a:bodyPr/>
                    <a:lstStyle/>
                    <a:p>
                      <a:endParaRPr lang="en-US" dirty="0"/>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91815">
                <a:tc gridSpan="2">
                  <a:txBody>
                    <a:bodyPr/>
                    <a:lstStyle/>
                    <a:p>
                      <a:pPr algn="ctr"/>
                      <a:r>
                        <a:rPr lang="en-US" b="1" dirty="0">
                          <a:latin typeface="Times New Roman" panose="02020603050405020304" pitchFamily="18" charset="0"/>
                          <a:cs typeface="Times New Roman" panose="02020603050405020304" pitchFamily="18" charset="0"/>
                        </a:rPr>
                        <a:t>Course Outcome (CO)</a:t>
                      </a:r>
                    </a:p>
                  </a:txBody>
                  <a:tcPr anchor="ctr">
                    <a:solidFill>
                      <a:srgbClr val="FF9999"/>
                    </a:solidFill>
                  </a:tcPr>
                </a:tc>
                <a:tc hMerge="1">
                  <a:txBody>
                    <a:bodyPr/>
                    <a:lstStyle/>
                    <a:p>
                      <a:endParaRPr lang="en-US" dirty="0"/>
                    </a:p>
                  </a:txBody>
                  <a:tcPr/>
                </a:tc>
                <a:tc gridSpan="2">
                  <a:txBody>
                    <a:bodyPr/>
                    <a:lstStyle/>
                    <a:p>
                      <a:r>
                        <a:rPr lang="en-US" b="1" dirty="0">
                          <a:latin typeface="Times New Roman" panose="02020603050405020304" pitchFamily="18" charset="0"/>
                          <a:cs typeface="Times New Roman" panose="02020603050405020304" pitchFamily="18" charset="0"/>
                        </a:rPr>
                        <a:t>Bloom’s Knowledge Level (KL)</a:t>
                      </a:r>
                    </a:p>
                  </a:txBody>
                  <a:tcPr anchor="ctr">
                    <a:solidFill>
                      <a:srgbClr val="FF9999"/>
                    </a:solidFill>
                  </a:tcPr>
                </a:tc>
                <a:tc hMerge="1">
                  <a:txBody>
                    <a:bodyPr/>
                    <a:lstStyle/>
                    <a:p>
                      <a:endParaRPr lang="en-US" dirty="0"/>
                    </a:p>
                  </a:txBody>
                  <a:tcPr/>
                </a:tc>
                <a:extLst>
                  <a:ext uri="{0D108BD9-81ED-4DB2-BD59-A6C34878D82A}">
                    <a16:rowId xmlns:a16="http://schemas.microsoft.com/office/drawing/2014/main" val="10001"/>
                  </a:ext>
                </a:extLst>
              </a:tr>
              <a:tr h="293665">
                <a:tc gridSpan="4">
                  <a:txBody>
                    <a:bodyPr/>
                    <a:lstStyle/>
                    <a:p>
                      <a:r>
                        <a:rPr lang="en-US" sz="1800" b="1" dirty="0">
                          <a:latin typeface="Times New Roman" panose="02020603050405020304" pitchFamily="18" charset="0"/>
                          <a:cs typeface="Times New Roman" panose="02020603050405020304" pitchFamily="18" charset="0"/>
                        </a:rPr>
                        <a:t>After completion of the course, the student will be able to:</a:t>
                      </a:r>
                      <a:endParaRPr lang="en-US" sz="1600" b="1" dirty="0">
                        <a:latin typeface="Times New Roman" panose="02020603050405020304" pitchFamily="18" charset="0"/>
                        <a:cs typeface="Times New Roman" panose="02020603050405020304" pitchFamily="18" charset="0"/>
                      </a:endParaRPr>
                    </a:p>
                  </a:txBody>
                  <a:tcPr anchor="ctr">
                    <a:solidFill>
                      <a:srgbClr val="FF9999"/>
                    </a:solidFill>
                  </a:tcPr>
                </a:tc>
                <a:tc hMerge="1">
                  <a:txBody>
                    <a:bodyPr/>
                    <a:lstStyle/>
                    <a:p>
                      <a:endParaRPr lang="en-US" dirty="0"/>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734162">
                <a:tc>
                  <a:txBody>
                    <a:bodyPr/>
                    <a:lstStyle/>
                    <a:p>
                      <a:pPr algn="ctr"/>
                      <a:r>
                        <a:rPr lang="en-US" sz="1800" b="0" dirty="0">
                          <a:latin typeface="Times New Roman" panose="02020603050405020304" pitchFamily="18" charset="0"/>
                          <a:cs typeface="Times New Roman" panose="02020603050405020304" pitchFamily="18" charset="0"/>
                        </a:rPr>
                        <a:t>CO 1</a:t>
                      </a:r>
                    </a:p>
                  </a:txBody>
                  <a:tcPr anchor="ctr">
                    <a:solidFill>
                      <a:srgbClr val="FF9999"/>
                    </a:solidFill>
                  </a:tcPr>
                </a:tc>
                <a:tc gridSpan="2">
                  <a:txBody>
                    <a:bodyPr/>
                    <a:lstStyle/>
                    <a:p>
                      <a:pPr algn="just"/>
                      <a:r>
                        <a:rPr lang="en-US" dirty="0">
                          <a:latin typeface="Times New Roman" panose="02020603050405020304" pitchFamily="18" charset="0"/>
                          <a:cs typeface="Times New Roman" panose="02020603050405020304" pitchFamily="18" charset="0"/>
                        </a:rPr>
                        <a:t>Identify the fundamental concepts of automata theory, formal languages and compiler components. </a:t>
                      </a:r>
                      <a:endParaRPr lang="en-US" sz="1800" b="0" dirty="0">
                        <a:latin typeface="Times New Roman" panose="02020603050405020304" pitchFamily="18" charset="0"/>
                        <a:cs typeface="Times New Roman" panose="02020603050405020304" pitchFamily="18" charset="0"/>
                      </a:endParaRPr>
                    </a:p>
                  </a:txBody>
                  <a:tcPr anchor="ctr">
                    <a:solidFill>
                      <a:srgbClr val="FF9999"/>
                    </a:solidFill>
                  </a:tcPr>
                </a:tc>
                <a:tc hMerge="1">
                  <a:txBody>
                    <a:bodyPr/>
                    <a:lstStyle/>
                    <a:p>
                      <a:endParaRPr lang="en-US"/>
                    </a:p>
                  </a:txBody>
                  <a:tcPr/>
                </a:tc>
                <a:tc>
                  <a:txBody>
                    <a:bodyPr/>
                    <a:lstStyle/>
                    <a:p>
                      <a:pPr algn="ctr"/>
                      <a:r>
                        <a:rPr lang="en-US" sz="1800" b="0" dirty="0">
                          <a:latin typeface="Times New Roman" panose="02020603050405020304" pitchFamily="18" charset="0"/>
                          <a:cs typeface="Times New Roman" panose="02020603050405020304" pitchFamily="18" charset="0"/>
                        </a:rPr>
                        <a:t>K2</a:t>
                      </a:r>
                    </a:p>
                  </a:txBody>
                  <a:tcPr anchor="ctr">
                    <a:solidFill>
                      <a:srgbClr val="FF9999"/>
                    </a:solidFill>
                  </a:tcPr>
                </a:tc>
                <a:extLst>
                  <a:ext uri="{0D108BD9-81ED-4DB2-BD59-A6C34878D82A}">
                    <a16:rowId xmlns:a16="http://schemas.microsoft.com/office/drawing/2014/main" val="10003"/>
                  </a:ext>
                </a:extLst>
              </a:tr>
              <a:tr h="637438">
                <a:tc>
                  <a:txBody>
                    <a:bodyPr/>
                    <a:lstStyle/>
                    <a:p>
                      <a:pPr algn="ctr"/>
                      <a:r>
                        <a:rPr lang="en-US" sz="1800" b="0" dirty="0">
                          <a:latin typeface="Times New Roman" panose="02020603050405020304" pitchFamily="18" charset="0"/>
                          <a:cs typeface="Times New Roman" panose="02020603050405020304" pitchFamily="18" charset="0"/>
                        </a:rPr>
                        <a:t>CO 2</a:t>
                      </a:r>
                    </a:p>
                  </a:txBody>
                  <a:tcPr anchor="ctr">
                    <a:solidFill>
                      <a:srgbClr val="FF9999"/>
                    </a:solidFill>
                  </a:tcPr>
                </a:tc>
                <a:tc gridSpan="2">
                  <a:txBody>
                    <a:bodyPr/>
                    <a:lstStyle/>
                    <a:p>
                      <a:pPr algn="just"/>
                      <a:r>
                        <a:rPr lang="en-US" dirty="0">
                          <a:latin typeface="Times New Roman" panose="02020603050405020304" pitchFamily="18" charset="0"/>
                          <a:cs typeface="Times New Roman" panose="02020603050405020304" pitchFamily="18" charset="0"/>
                        </a:rPr>
                        <a:t>Understand the role of finite automata, regular expressions, and grammar rules in language processing. </a:t>
                      </a:r>
                      <a:endParaRPr lang="en-US" sz="1800" b="0" dirty="0">
                        <a:latin typeface="Times New Roman" panose="02020603050405020304" pitchFamily="18" charset="0"/>
                        <a:cs typeface="Times New Roman" panose="02020603050405020304" pitchFamily="18" charset="0"/>
                      </a:endParaRPr>
                    </a:p>
                  </a:txBody>
                  <a:tcPr anchor="ctr">
                    <a:solidFill>
                      <a:srgbClr val="FF9999"/>
                    </a:solidFill>
                  </a:tcPr>
                </a:tc>
                <a:tc hMerge="1">
                  <a:txBody>
                    <a:bodyPr/>
                    <a:lstStyle/>
                    <a:p>
                      <a:endParaRPr lang="en-US"/>
                    </a:p>
                  </a:txBody>
                  <a:tcPr/>
                </a:tc>
                <a:tc>
                  <a:txBody>
                    <a:bodyPr/>
                    <a:lstStyle/>
                    <a:p>
                      <a:pPr algn="ctr"/>
                      <a:r>
                        <a:rPr lang="en-US" sz="1800" b="0" dirty="0">
                          <a:latin typeface="Times New Roman" panose="02020603050405020304" pitchFamily="18" charset="0"/>
                          <a:cs typeface="Times New Roman" panose="02020603050405020304" pitchFamily="18" charset="0"/>
                        </a:rPr>
                        <a:t>K2</a:t>
                      </a:r>
                    </a:p>
                  </a:txBody>
                  <a:tcPr anchor="ctr">
                    <a:solidFill>
                      <a:srgbClr val="FF9999"/>
                    </a:solidFill>
                  </a:tcPr>
                </a:tc>
                <a:extLst>
                  <a:ext uri="{0D108BD9-81ED-4DB2-BD59-A6C34878D82A}">
                    <a16:rowId xmlns:a16="http://schemas.microsoft.com/office/drawing/2014/main" val="10004"/>
                  </a:ext>
                </a:extLst>
              </a:tr>
              <a:tr h="661117">
                <a:tc>
                  <a:txBody>
                    <a:bodyPr/>
                    <a:lstStyle/>
                    <a:p>
                      <a:pPr algn="ctr"/>
                      <a:r>
                        <a:rPr lang="en-US" sz="1800" dirty="0">
                          <a:latin typeface="Times New Roman" panose="02020603050405020304" pitchFamily="18" charset="0"/>
                          <a:cs typeface="Times New Roman" panose="02020603050405020304" pitchFamily="18" charset="0"/>
                        </a:rPr>
                        <a:t>CO 3</a:t>
                      </a:r>
                    </a:p>
                  </a:txBody>
                  <a:tcPr anchor="ctr">
                    <a:solidFill>
                      <a:srgbClr val="FF9999"/>
                    </a:solidFill>
                  </a:tcPr>
                </a:tc>
                <a:tc gridSpan="2">
                  <a:txBody>
                    <a:bodyPr/>
                    <a:lstStyle/>
                    <a:p>
                      <a:pPr algn="just"/>
                      <a:r>
                        <a:rPr lang="en-US" dirty="0">
                          <a:latin typeface="Times New Roman" panose="02020603050405020304" pitchFamily="18" charset="0"/>
                          <a:cs typeface="Times New Roman" panose="02020603050405020304" pitchFamily="18" charset="0"/>
                        </a:rPr>
                        <a:t>Demonstrate context-free grammars, pushdown automata, and syntax-directed translation to construct intermediate code for language processors. </a:t>
                      </a:r>
                      <a:endParaRPr lang="en-US" sz="1800" dirty="0">
                        <a:latin typeface="Times New Roman" panose="02020603050405020304" pitchFamily="18" charset="0"/>
                        <a:cs typeface="Times New Roman" panose="02020603050405020304" pitchFamily="18" charset="0"/>
                      </a:endParaRPr>
                    </a:p>
                  </a:txBody>
                  <a:tcPr anchor="ctr">
                    <a:solidFill>
                      <a:srgbClr val="FF9999"/>
                    </a:solidFill>
                  </a:tcPr>
                </a:tc>
                <a:tc hMerge="1">
                  <a:txBody>
                    <a:bodyPr/>
                    <a:lstStyle/>
                    <a:p>
                      <a:endParaRPr lang="en-US"/>
                    </a:p>
                  </a:txBody>
                  <a:tcPr/>
                </a:tc>
                <a:tc>
                  <a:txBody>
                    <a:bodyPr/>
                    <a:lstStyle/>
                    <a:p>
                      <a:pPr algn="ctr"/>
                      <a:r>
                        <a:rPr lang="en-US" sz="1800" dirty="0">
                          <a:latin typeface="Times New Roman" panose="02020603050405020304" pitchFamily="18" charset="0"/>
                          <a:cs typeface="Times New Roman" panose="02020603050405020304" pitchFamily="18" charset="0"/>
                        </a:rPr>
                        <a:t> K3</a:t>
                      </a:r>
                    </a:p>
                  </a:txBody>
                  <a:tcPr anchor="ctr">
                    <a:solidFill>
                      <a:srgbClr val="FF9999"/>
                    </a:solidFill>
                  </a:tcPr>
                </a:tc>
                <a:extLst>
                  <a:ext uri="{0D108BD9-81ED-4DB2-BD59-A6C34878D82A}">
                    <a16:rowId xmlns:a16="http://schemas.microsoft.com/office/drawing/2014/main" val="10005"/>
                  </a:ext>
                </a:extLst>
              </a:tr>
              <a:tr h="734162">
                <a:tc>
                  <a:txBody>
                    <a:bodyPr/>
                    <a:lstStyle/>
                    <a:p>
                      <a:pPr algn="ctr"/>
                      <a:r>
                        <a:rPr lang="en-US" sz="1800" dirty="0">
                          <a:latin typeface="Times New Roman" panose="02020603050405020304" pitchFamily="18" charset="0"/>
                          <a:cs typeface="Times New Roman" panose="02020603050405020304" pitchFamily="18" charset="0"/>
                        </a:rPr>
                        <a:t>CO 4</a:t>
                      </a:r>
                    </a:p>
                  </a:txBody>
                  <a:tcPr anchor="ctr">
                    <a:solidFill>
                      <a:srgbClr val="FF9999"/>
                    </a:solidFill>
                  </a:tcPr>
                </a:tc>
                <a:tc gridSpan="2">
                  <a:txBody>
                    <a:bodyPr/>
                    <a:lstStyle/>
                    <a:p>
                      <a:pPr algn="just"/>
                      <a:r>
                        <a:rPr lang="en-US" dirty="0">
                          <a:latin typeface="Times New Roman" panose="02020603050405020304" pitchFamily="18" charset="0"/>
                          <a:cs typeface="Times New Roman" panose="02020603050405020304" pitchFamily="18" charset="0"/>
                        </a:rPr>
                        <a:t>Analyze various parsing strategies, code translation methods, and intermediate representations in compiler phases.</a:t>
                      </a:r>
                      <a:endParaRPr lang="en-US" sz="1800" dirty="0">
                        <a:latin typeface="Times New Roman" panose="02020603050405020304" pitchFamily="18" charset="0"/>
                        <a:cs typeface="Times New Roman" panose="02020603050405020304" pitchFamily="18" charset="0"/>
                      </a:endParaRPr>
                    </a:p>
                  </a:txBody>
                  <a:tcPr anchor="ctr">
                    <a:solidFill>
                      <a:srgbClr val="FF9999"/>
                    </a:solidFill>
                  </a:tcPr>
                </a:tc>
                <a:tc hMerge="1">
                  <a:txBody>
                    <a:bodyPr/>
                    <a:lstStyle/>
                    <a:p>
                      <a:endParaRPr lang="en-US"/>
                    </a:p>
                  </a:txBody>
                  <a:tcPr/>
                </a:tc>
                <a:tc>
                  <a:txBody>
                    <a:bodyPr/>
                    <a:lstStyle/>
                    <a:p>
                      <a:pPr algn="ctr"/>
                      <a:r>
                        <a:rPr lang="en-US" sz="1800" dirty="0">
                          <a:latin typeface="Times New Roman" panose="02020603050405020304" pitchFamily="18" charset="0"/>
                          <a:cs typeface="Times New Roman" panose="02020603050405020304" pitchFamily="18" charset="0"/>
                        </a:rPr>
                        <a:t>K4</a:t>
                      </a:r>
                    </a:p>
                  </a:txBody>
                  <a:tcPr anchor="ctr">
                    <a:solidFill>
                      <a:srgbClr val="FF9999"/>
                    </a:solidFill>
                  </a:tcPr>
                </a:tc>
                <a:extLst>
                  <a:ext uri="{0D108BD9-81ED-4DB2-BD59-A6C34878D82A}">
                    <a16:rowId xmlns:a16="http://schemas.microsoft.com/office/drawing/2014/main" val="10006"/>
                  </a:ext>
                </a:extLst>
              </a:tr>
              <a:tr h="734162">
                <a:tc>
                  <a:txBody>
                    <a:bodyPr/>
                    <a:lstStyle/>
                    <a:p>
                      <a:pPr algn="ctr"/>
                      <a:r>
                        <a:rPr lang="en-US" sz="1800" dirty="0">
                          <a:latin typeface="Times New Roman" panose="02020603050405020304" pitchFamily="18" charset="0"/>
                          <a:cs typeface="Times New Roman" panose="02020603050405020304" pitchFamily="18" charset="0"/>
                        </a:rPr>
                        <a:t>CO 5</a:t>
                      </a:r>
                    </a:p>
                  </a:txBody>
                  <a:tcPr anchor="ctr">
                    <a:solidFill>
                      <a:srgbClr val="FF9999"/>
                    </a:solidFill>
                  </a:tcPr>
                </a:tc>
                <a:tc gridSpan="2">
                  <a:txBody>
                    <a:bodyPr/>
                    <a:lstStyle/>
                    <a:p>
                      <a:pPr algn="just"/>
                      <a:r>
                        <a:rPr lang="en-US" dirty="0">
                          <a:latin typeface="Times New Roman" panose="02020603050405020304" pitchFamily="18" charset="0"/>
                          <a:cs typeface="Times New Roman" panose="02020603050405020304" pitchFamily="18" charset="0"/>
                        </a:rPr>
                        <a:t>Analyze the functioning of Turing machine models and optimization techniques in code generation for performance improvement. </a:t>
                      </a:r>
                      <a:endParaRPr lang="en-US" sz="1800" dirty="0">
                        <a:latin typeface="Times New Roman" panose="02020603050405020304" pitchFamily="18" charset="0"/>
                        <a:cs typeface="Times New Roman" panose="02020603050405020304" pitchFamily="18" charset="0"/>
                      </a:endParaRPr>
                    </a:p>
                  </a:txBody>
                  <a:tcPr anchor="ctr">
                    <a:solidFill>
                      <a:srgbClr val="FF9999"/>
                    </a:solidFill>
                  </a:tcPr>
                </a:tc>
                <a:tc hMerge="1">
                  <a:txBody>
                    <a:bodyPr/>
                    <a:lstStyle/>
                    <a:p>
                      <a:endParaRPr lang="en-US"/>
                    </a:p>
                  </a:txBody>
                  <a:tcPr/>
                </a:tc>
                <a:tc>
                  <a:txBody>
                    <a:bodyPr/>
                    <a:lstStyle/>
                    <a:p>
                      <a:pPr algn="ctr"/>
                      <a:r>
                        <a:rPr lang="en-US" sz="1800" dirty="0">
                          <a:latin typeface="Times New Roman" panose="02020603050405020304" pitchFamily="18" charset="0"/>
                          <a:cs typeface="Times New Roman" panose="02020603050405020304" pitchFamily="18" charset="0"/>
                        </a:rPr>
                        <a:t>K4</a:t>
                      </a:r>
                    </a:p>
                  </a:txBody>
                  <a:tcPr anchor="ctr">
                    <a:solidFill>
                      <a:srgbClr val="FF9999"/>
                    </a:solidFill>
                  </a:tcPr>
                </a:tc>
                <a:extLst>
                  <a:ext uri="{0D108BD9-81ED-4DB2-BD59-A6C34878D82A}">
                    <a16:rowId xmlns:a16="http://schemas.microsoft.com/office/drawing/2014/main" val="10007"/>
                  </a:ext>
                </a:extLst>
              </a:tr>
            </a:tbl>
          </a:graphicData>
        </a:graphic>
      </p:graphicFrame>
      <p:sp>
        <p:nvSpPr>
          <p:cNvPr id="8"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47246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371600" y="0"/>
            <a:ext cx="7772400" cy="728869"/>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p>
            <a:pPr lvl="3" indent="-1371600" algn="ctr">
              <a:spcBef>
                <a:spcPct val="0"/>
              </a:spcBef>
              <a:defRPr/>
            </a:pPr>
            <a:r>
              <a:rPr lang="en-US" sz="2400" b="1" dirty="0">
                <a:latin typeface="Times New Roman" panose="02020603050405020304" pitchFamily="18" charset="0"/>
                <a:cs typeface="Times New Roman" panose="02020603050405020304" pitchFamily="18" charset="0"/>
              </a:rPr>
              <a:t>Program Outcomes (POs)</a:t>
            </a:r>
          </a:p>
        </p:txBody>
      </p:sp>
      <p:sp>
        <p:nvSpPr>
          <p:cNvPr id="13" name="Date Placeholder 3"/>
          <p:cNvSpPr>
            <a:spLocks noGrp="1"/>
          </p:cNvSpPr>
          <p:nvPr>
            <p:ph type="dt" sz="half" idx="10"/>
          </p:nvPr>
        </p:nvSpPr>
        <p:spPr>
          <a:xfrm>
            <a:off x="457200" y="6388100"/>
            <a:ext cx="2133600" cy="317500"/>
          </a:xfrm>
        </p:spPr>
        <p:txBody>
          <a:bodyPr/>
          <a:lstStyle/>
          <a:p>
            <a:fld id="{94EA4B6E-72B0-4444-ABF4-B0FA76E35ABE}" type="datetime1">
              <a:rPr lang="en-US" smtClean="0"/>
              <a:t>4/10/2026</a:t>
            </a:fld>
            <a:endParaRPr lang="en-US" dirty="0"/>
          </a:p>
        </p:txBody>
      </p:sp>
      <p:sp>
        <p:nvSpPr>
          <p:cNvPr id="16" name="Slide Number Placeholder 5"/>
          <p:cNvSpPr>
            <a:spLocks noGrp="1"/>
          </p:cNvSpPr>
          <p:nvPr>
            <p:ph type="sldNum" sz="quarter" idx="12"/>
          </p:nvPr>
        </p:nvSpPr>
        <p:spPr>
          <a:xfrm>
            <a:off x="6695661" y="6324600"/>
            <a:ext cx="2133600" cy="317500"/>
          </a:xfrm>
        </p:spPr>
        <p:txBody>
          <a:bodyPr/>
          <a:lstStyle/>
          <a:p>
            <a:fld id="{B6F15528-21DE-4FAA-801E-634DDDAF4B2B}" type="slidenum">
              <a:rPr lang="en-US" smtClean="0"/>
              <a:pPr/>
              <a:t>8</a:t>
            </a:fld>
            <a:endParaRPr lang="en-US" dirty="0"/>
          </a:p>
        </p:txBody>
      </p:sp>
      <p:pic>
        <p:nvPicPr>
          <p:cNvPr id="9" name="Picture 15"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12"/>
          <p:cNvSpPr>
            <a:spLocks noGrp="1"/>
          </p:cNvSpPr>
          <p:nvPr>
            <p:ph type="ftr" sz="quarter" idx="11"/>
          </p:nvPr>
        </p:nvSpPr>
        <p:spPr>
          <a:xfrm>
            <a:off x="1905000" y="6324600"/>
            <a:ext cx="5410200" cy="365125"/>
          </a:xfrm>
        </p:spPr>
        <p:txBody>
          <a:bodyPr/>
          <a:lstStyle/>
          <a:p>
            <a:r>
              <a:rPr lang="en-US" smtClean="0"/>
              <a:t>Vivek Kumart Sharma                BCSE0404X(TOC)                     Unit III</a:t>
            </a:r>
            <a:endParaRPr lang="en-US" dirty="0"/>
          </a:p>
        </p:txBody>
      </p:sp>
      <p:sp>
        <p:nvSpPr>
          <p:cNvPr id="6" name="TextBox 4">
            <a:extLst>
              <a:ext uri="{FF2B5EF4-FFF2-40B4-BE49-F238E27FC236}">
                <a16:creationId xmlns:a16="http://schemas.microsoft.com/office/drawing/2014/main" id="{80D79B94-EF3B-D676-C941-888BC50DDD68}"/>
              </a:ext>
            </a:extLst>
          </p:cNvPr>
          <p:cNvSpPr txBox="1">
            <a:spLocks noChangeArrowheads="1"/>
          </p:cNvSpPr>
          <p:nvPr/>
        </p:nvSpPr>
        <p:spPr bwMode="auto">
          <a:xfrm>
            <a:off x="228600" y="762000"/>
            <a:ext cx="8686800" cy="618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PO1: Engineering Knowledge: </a:t>
            </a:r>
            <a:r>
              <a:rPr lang="en-US" altLang="en-US" sz="1800" dirty="0">
                <a:latin typeface="Times New Roman" panose="02020603050405020304" pitchFamily="18" charset="0"/>
                <a:cs typeface="Times New Roman" panose="02020603050405020304" pitchFamily="18" charset="0"/>
              </a:rPr>
              <a:t>Apply knowledge of mathematics, natural science, computing, engineering fundamentals and an engineering specialization as specified in WK1 to WK4 respectively to develop to the solution of complex engineering problems.</a:t>
            </a:r>
          </a:p>
          <a:p>
            <a:pPr algn="just" eaLnBrk="1" hangingPunct="1">
              <a:spcBef>
                <a:spcPct val="0"/>
              </a:spcBef>
              <a:buFontTx/>
              <a:buNone/>
            </a:pP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PO2: Problem Analysis: </a:t>
            </a:r>
            <a:r>
              <a:rPr lang="en-US" altLang="en-US" sz="1800" dirty="0">
                <a:latin typeface="Times New Roman" panose="02020603050405020304" pitchFamily="18" charset="0"/>
                <a:cs typeface="Times New Roman" panose="02020603050405020304" pitchFamily="18" charset="0"/>
              </a:rPr>
              <a:t>Identify, formulate, review research literature and analyze complex engineering problems reaching substantiated conclusions with consideration for sustainable development. (WK1 to WK4)</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PO3: Design/Development of Solutions: </a:t>
            </a:r>
            <a:r>
              <a:rPr lang="en-US" altLang="en-US" sz="1800" dirty="0">
                <a:latin typeface="Times New Roman" panose="02020603050405020304" pitchFamily="18" charset="0"/>
                <a:cs typeface="Times New Roman" panose="02020603050405020304" pitchFamily="18" charset="0"/>
              </a:rPr>
              <a:t>Design creative solutions for complex engineering problems and design/develop systems/components/processes to meet identified needs with consideration for the public health and safety, whole-life cost, net zero carbon, culture, society and environment as required. (WK5)</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PO4: Conduct Investigations of Complex Problems: </a:t>
            </a:r>
            <a:r>
              <a:rPr lang="en-US" altLang="en-US" sz="1800" dirty="0">
                <a:latin typeface="Times New Roman" panose="02020603050405020304" pitchFamily="18" charset="0"/>
                <a:cs typeface="Times New Roman" panose="02020603050405020304" pitchFamily="18" charset="0"/>
              </a:rPr>
              <a:t>Conduct investigations of complex engineering problems using research-based knowledge including design of experiments, modelling, analysis &amp; interpretation of data to provide valid conclusions. (WK8).</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PO5: Engineering Tool Usage: </a:t>
            </a:r>
            <a:r>
              <a:rPr lang="en-US" altLang="en-US" sz="1800" dirty="0">
                <a:latin typeface="Times New Roman" panose="02020603050405020304" pitchFamily="18" charset="0"/>
                <a:cs typeface="Times New Roman" panose="02020603050405020304" pitchFamily="18" charset="0"/>
              </a:rPr>
              <a:t>Create, select and apply appropriate techniques, resources and modern engineering &amp; IT tools, including prediction and modelling recognizing their limitations to solve complex engineering problems. (WK2 and WK6)</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0475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txBox="1">
            <a:spLocks/>
          </p:cNvSpPr>
          <p:nvPr/>
        </p:nvSpPr>
        <p:spPr>
          <a:xfrm>
            <a:off x="1371600" y="0"/>
            <a:ext cx="7772400" cy="728869"/>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p>
            <a:pPr algn="ctr" defTabSz="795162">
              <a:spcBef>
                <a:spcPct val="0"/>
              </a:spcBef>
              <a:defRPr/>
            </a:pPr>
            <a:r>
              <a:rPr lang="en-US" sz="2400" b="1" dirty="0">
                <a:latin typeface="Times New Roman" panose="02020603050405020304" pitchFamily="18" charset="0"/>
                <a:cs typeface="Times New Roman" panose="02020603050405020304" pitchFamily="18" charset="0"/>
              </a:rPr>
              <a:t>Program Outcomes (POs)</a:t>
            </a:r>
          </a:p>
        </p:txBody>
      </p:sp>
      <p:sp>
        <p:nvSpPr>
          <p:cNvPr id="13" name="Date Placeholder 3"/>
          <p:cNvSpPr>
            <a:spLocks noGrp="1"/>
          </p:cNvSpPr>
          <p:nvPr>
            <p:ph type="dt" sz="half" idx="10"/>
          </p:nvPr>
        </p:nvSpPr>
        <p:spPr>
          <a:xfrm>
            <a:off x="457200" y="6324600"/>
            <a:ext cx="2133600" cy="317500"/>
          </a:xfrm>
        </p:spPr>
        <p:txBody>
          <a:bodyPr/>
          <a:lstStyle/>
          <a:p>
            <a:fld id="{8B9FFD40-1B7C-4A50-A7E3-76000B51E2EE}" type="datetime1">
              <a:rPr lang="en-US" smtClean="0"/>
              <a:t>4/10/2026</a:t>
            </a:fld>
            <a:endParaRPr lang="en-US" dirty="0"/>
          </a:p>
        </p:txBody>
      </p:sp>
      <p:sp>
        <p:nvSpPr>
          <p:cNvPr id="16" name="Slide Number Placeholder 5"/>
          <p:cNvSpPr>
            <a:spLocks noGrp="1"/>
          </p:cNvSpPr>
          <p:nvPr>
            <p:ph type="sldNum" sz="quarter" idx="12"/>
          </p:nvPr>
        </p:nvSpPr>
        <p:spPr>
          <a:xfrm>
            <a:off x="6553200" y="6311900"/>
            <a:ext cx="2133600" cy="317500"/>
          </a:xfrm>
        </p:spPr>
        <p:txBody>
          <a:bodyPr/>
          <a:lstStyle/>
          <a:p>
            <a:fld id="{B6F15528-21DE-4FAA-801E-634DDDAF4B2B}" type="slidenum">
              <a:rPr lang="en-US" smtClean="0"/>
              <a:pPr/>
              <a:t>9</a:t>
            </a:fld>
            <a:endParaRPr lang="en-US" dirty="0"/>
          </a:p>
        </p:txBody>
      </p:sp>
      <p:pic>
        <p:nvPicPr>
          <p:cNvPr id="9" name="Picture 15"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
        <p:nvSpPr>
          <p:cNvPr id="4" name="TextBox 4">
            <a:extLst>
              <a:ext uri="{FF2B5EF4-FFF2-40B4-BE49-F238E27FC236}">
                <a16:creationId xmlns:a16="http://schemas.microsoft.com/office/drawing/2014/main" id="{8EFA66C0-F541-2CF8-B64F-7BB0349F0C8B}"/>
              </a:ext>
            </a:extLst>
          </p:cNvPr>
          <p:cNvSpPr txBox="1">
            <a:spLocks noChangeArrowheads="1"/>
          </p:cNvSpPr>
          <p:nvPr/>
        </p:nvSpPr>
        <p:spPr bwMode="auto">
          <a:xfrm>
            <a:off x="533400" y="762000"/>
            <a:ext cx="81534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PO6: The Engineer and The World: </a:t>
            </a:r>
            <a:r>
              <a:rPr lang="en-US" altLang="en-US" sz="1800" dirty="0">
                <a:latin typeface="Times New Roman" panose="02020603050405020304" pitchFamily="18" charset="0"/>
                <a:cs typeface="Times New Roman" panose="02020603050405020304" pitchFamily="18" charset="0"/>
              </a:rPr>
              <a:t>Analyze and evaluate societal and environmental aspects while solving complex engineering problems for its impact on sustainability with reference to economy, health, safety, legal framework, culture and environment. (WK1, WK5, and WK7).</a:t>
            </a:r>
          </a:p>
          <a:p>
            <a:pPr algn="just" eaLnBrk="1" hangingPunct="1">
              <a:spcBef>
                <a:spcPct val="0"/>
              </a:spcBef>
              <a:buFontTx/>
              <a:buNone/>
            </a:pPr>
            <a:endParaRPr lang="en-US"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PO7: Ethics: </a:t>
            </a:r>
            <a:r>
              <a:rPr lang="en-US" altLang="en-US" sz="1800" dirty="0">
                <a:latin typeface="Times New Roman" panose="02020603050405020304" pitchFamily="18" charset="0"/>
                <a:cs typeface="Times New Roman" panose="02020603050405020304" pitchFamily="18" charset="0"/>
              </a:rPr>
              <a:t>Apply ethical principles and commit to professional ethics, human values, diversity and inclusion; adhere to national &amp; international laws. (WK9)</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PO8: Individual and Collaborative Team work: </a:t>
            </a:r>
            <a:r>
              <a:rPr lang="en-US" altLang="en-US" sz="1800" dirty="0">
                <a:latin typeface="Times New Roman" panose="02020603050405020304" pitchFamily="18" charset="0"/>
                <a:cs typeface="Times New Roman" panose="02020603050405020304" pitchFamily="18" charset="0"/>
              </a:rPr>
              <a:t>Function effectively as an individual, and as a member or leader in diverse/multi-disciplinary teams.</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PO9: Communication: </a:t>
            </a:r>
            <a:r>
              <a:rPr lang="en-US" altLang="en-US" sz="1800" dirty="0">
                <a:latin typeface="Times New Roman" panose="02020603050405020304" pitchFamily="18" charset="0"/>
                <a:cs typeface="Times New Roman" panose="02020603050405020304" pitchFamily="18" charset="0"/>
              </a:rPr>
              <a:t>Communicate effectively and inclusively within the engineering community and society at large, such as being able to comprehend and write effective reports and design documentation, make effective presentations considering cultural, language, and learning differences</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a:p>
            <a:pPr algn="just" eaLnBrk="1" hangingPunct="1">
              <a:spcBef>
                <a:spcPct val="0"/>
              </a:spcBef>
              <a:buFontTx/>
              <a:buNone/>
            </a:pPr>
            <a:r>
              <a:rPr lang="en-US" altLang="en-US" sz="1800" b="1" dirty="0">
                <a:latin typeface="Times New Roman" panose="02020603050405020304" pitchFamily="18" charset="0"/>
                <a:cs typeface="Times New Roman" panose="02020603050405020304" pitchFamily="18" charset="0"/>
              </a:rPr>
              <a:t>PO10: Project Management and Finance: </a:t>
            </a:r>
            <a:r>
              <a:rPr lang="en-US" altLang="en-US" sz="1800" dirty="0">
                <a:latin typeface="Times New Roman" panose="02020603050405020304" pitchFamily="18" charset="0"/>
                <a:cs typeface="Times New Roman" panose="02020603050405020304" pitchFamily="18" charset="0"/>
              </a:rPr>
              <a:t>Apply knowledge and understanding of engineering management principles and economic decision-making and apply these to one’s own work, as a member and leader in a team, and to manage projects and in multidisciplinary environments.</a:t>
            </a:r>
            <a:endParaRPr lang="en-IN" alt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202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1371600" y="0"/>
            <a:ext cx="7772400" cy="728869"/>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p>
            <a:pPr algn="ctr" defTabSz="795162">
              <a:spcBef>
                <a:spcPct val="0"/>
              </a:spcBef>
              <a:defRPr/>
            </a:pPr>
            <a:r>
              <a:rPr lang="en-US" sz="2400" b="1" dirty="0">
                <a:latin typeface="Times New Roman" panose="02020603050405020304" pitchFamily="18" charset="0"/>
                <a:cs typeface="Times New Roman" panose="02020603050405020304" pitchFamily="18" charset="0"/>
              </a:rPr>
              <a:t>Program Outcomes (POs)</a:t>
            </a:r>
          </a:p>
        </p:txBody>
      </p:sp>
      <p:sp>
        <p:nvSpPr>
          <p:cNvPr id="12" name="Date Placeholder 3"/>
          <p:cNvSpPr>
            <a:spLocks noGrp="1"/>
          </p:cNvSpPr>
          <p:nvPr>
            <p:ph type="dt" sz="half" idx="10"/>
          </p:nvPr>
        </p:nvSpPr>
        <p:spPr>
          <a:xfrm>
            <a:off x="457200" y="6388100"/>
            <a:ext cx="2133600" cy="317500"/>
          </a:xfrm>
        </p:spPr>
        <p:txBody>
          <a:bodyPr/>
          <a:lstStyle/>
          <a:p>
            <a:fld id="{E3D0EF7A-F0E7-404F-AA28-9C9B8A5C929A}" type="datetime1">
              <a:rPr lang="en-US" smtClean="0"/>
              <a:t>4/10/2026</a:t>
            </a:fld>
            <a:endParaRPr lang="en-US" dirty="0"/>
          </a:p>
        </p:txBody>
      </p:sp>
      <p:sp>
        <p:nvSpPr>
          <p:cNvPr id="16" name="Slide Number Placeholder 5"/>
          <p:cNvSpPr>
            <a:spLocks noGrp="1"/>
          </p:cNvSpPr>
          <p:nvPr>
            <p:ph type="sldNum" sz="quarter" idx="12"/>
          </p:nvPr>
        </p:nvSpPr>
        <p:spPr>
          <a:xfrm>
            <a:off x="6553200" y="6388100"/>
            <a:ext cx="2133600" cy="317500"/>
          </a:xfrm>
        </p:spPr>
        <p:txBody>
          <a:bodyPr/>
          <a:lstStyle/>
          <a:p>
            <a:fld id="{B6F15528-21DE-4FAA-801E-634DDDAF4B2B}" type="slidenum">
              <a:rPr lang="en-US" smtClean="0"/>
              <a:pPr/>
              <a:t>10</a:t>
            </a:fld>
            <a:endParaRPr lang="en-US" dirty="0"/>
          </a:p>
        </p:txBody>
      </p:sp>
      <p:pic>
        <p:nvPicPr>
          <p:cNvPr id="9" name="Picture 15"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
        <p:nvSpPr>
          <p:cNvPr id="4" name="TextBox 7">
            <a:extLst>
              <a:ext uri="{FF2B5EF4-FFF2-40B4-BE49-F238E27FC236}">
                <a16:creationId xmlns:a16="http://schemas.microsoft.com/office/drawing/2014/main" id="{795BC68F-51B0-C88E-0B69-E4316CB538B5}"/>
              </a:ext>
            </a:extLst>
          </p:cNvPr>
          <p:cNvSpPr txBox="1">
            <a:spLocks noChangeArrowheads="1"/>
          </p:cNvSpPr>
          <p:nvPr/>
        </p:nvSpPr>
        <p:spPr bwMode="auto">
          <a:xfrm>
            <a:off x="457200" y="1219200"/>
            <a:ext cx="8458200"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ct val="0"/>
              </a:spcBef>
              <a:buFontTx/>
              <a:buNone/>
            </a:pPr>
            <a:r>
              <a:rPr lang="en-US" altLang="en-US" sz="1800" b="1" dirty="0">
                <a:latin typeface="Times New Roman" panose="02020603050405020304" pitchFamily="18" charset="0"/>
                <a:ea typeface="Verdana" panose="020B0604030504040204" pitchFamily="34" charset="0"/>
                <a:cs typeface="Times New Roman" panose="02020603050405020304" pitchFamily="18" charset="0"/>
              </a:rPr>
              <a:t>PO11: Life-Long Learning: </a:t>
            </a:r>
            <a:r>
              <a:rPr lang="en-US" altLang="en-US" sz="1800" dirty="0">
                <a:latin typeface="Times New Roman" panose="02020603050405020304" pitchFamily="18" charset="0"/>
                <a:ea typeface="Verdana" panose="020B0604030504040204" pitchFamily="34" charset="0"/>
                <a:cs typeface="Times New Roman" panose="02020603050405020304" pitchFamily="18" charset="0"/>
              </a:rPr>
              <a:t>Recognize the need for, and have the preparation and ability for </a:t>
            </a:r>
            <a:r>
              <a:rPr lang="en-US" altLang="en-US" sz="1800" dirty="0" err="1">
                <a:latin typeface="Times New Roman" panose="02020603050405020304" pitchFamily="18" charset="0"/>
                <a:ea typeface="Verdana" panose="020B0604030504040204" pitchFamily="34" charset="0"/>
                <a:cs typeface="Times New Roman" panose="02020603050405020304" pitchFamily="18" charset="0"/>
              </a:rPr>
              <a:t>i</a:t>
            </a:r>
            <a:r>
              <a:rPr lang="en-US" altLang="en-US" sz="1800" dirty="0">
                <a:latin typeface="Times New Roman" panose="02020603050405020304" pitchFamily="18" charset="0"/>
                <a:ea typeface="Verdana" panose="020B0604030504040204" pitchFamily="34" charset="0"/>
                <a:cs typeface="Times New Roman" panose="02020603050405020304" pitchFamily="18" charset="0"/>
              </a:rPr>
              <a:t>) independent and life-long learning ii) adaptability to new and emerging technologies and iii) critical thinking in the broadest context of technological change. (WK8)</a:t>
            </a:r>
            <a:endParaRPr lang="en-IN" altLang="en-US" sz="1800" dirty="0">
              <a:latin typeface="Times New Roman" panose="02020603050405020304" pitchFamily="18" charset="0"/>
              <a:ea typeface="Verdana" panose="020B0604030504040204" pitchFamily="34" charset="0"/>
              <a:cs typeface="Times New Roman" panose="02020603050405020304" pitchFamily="18" charset="0"/>
            </a:endParaRPr>
          </a:p>
          <a:p>
            <a:pPr algn="just" eaLnBrk="1" hangingPunct="1">
              <a:spcBef>
                <a:spcPct val="0"/>
              </a:spcBef>
              <a:buFontTx/>
              <a:buNone/>
            </a:pPr>
            <a:r>
              <a:rPr lang="en-US" altLang="en-US" sz="1800" dirty="0">
                <a:latin typeface="Times New Roman" panose="02020603050405020304" pitchFamily="18" charset="0"/>
                <a:ea typeface="Verdana" panose="020B0604030504040204" pitchFamily="34" charset="0"/>
                <a:cs typeface="Times New Roman" panose="02020603050405020304" pitchFamily="18" charset="0"/>
              </a:rPr>
              <a:t> </a:t>
            </a:r>
            <a:endParaRPr lang="en-IN" altLang="en-US" sz="1800"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209349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44954AE0-3657-462F-B7A4-A465115E098C}" type="datetime1">
              <a:rPr lang="en-US" smtClean="0"/>
              <a:t>4/10/2026</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11</a:t>
            </a:fld>
            <a:endParaRPr lang="en-US" dirty="0"/>
          </a:p>
        </p:txBody>
      </p:sp>
      <p:sp>
        <p:nvSpPr>
          <p:cNvPr id="11" name="Title 1"/>
          <p:cNvSpPr txBox="1"/>
          <p:nvPr/>
        </p:nvSpPr>
        <p:spPr>
          <a:xfrm>
            <a:off x="1371600" y="0"/>
            <a:ext cx="7772400" cy="728869"/>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p>
            <a:pPr algn="ctr" defTabSz="795162">
              <a:spcBef>
                <a:spcPct val="0"/>
              </a:spcBef>
              <a:defRPr/>
            </a:pPr>
            <a:r>
              <a:rPr lang="en-US" sz="2400" b="1" dirty="0">
                <a:latin typeface="Times New Roman" panose="02020603050405020304" pitchFamily="18" charset="0"/>
                <a:cs typeface="Times New Roman" panose="02020603050405020304" pitchFamily="18" charset="0"/>
              </a:rPr>
              <a:t>CO-PO Correlation Matrix</a:t>
            </a:r>
          </a:p>
        </p:txBody>
      </p:sp>
      <p:pic>
        <p:nvPicPr>
          <p:cNvPr id="8" name="Picture 15"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3C8FEA1-E6F0-E873-C8D3-DDA0F2FD13C6}"/>
              </a:ext>
            </a:extLst>
          </p:cNvPr>
          <p:cNvGraphicFramePr>
            <a:graphicFrameLocks noGrp="1"/>
          </p:cNvGraphicFramePr>
          <p:nvPr>
            <p:extLst/>
          </p:nvPr>
        </p:nvGraphicFramePr>
        <p:xfrm>
          <a:off x="838200" y="1371600"/>
          <a:ext cx="7696203" cy="3429003"/>
        </p:xfrm>
        <a:graphic>
          <a:graphicData uri="http://schemas.openxmlformats.org/drawingml/2006/table">
            <a:tbl>
              <a:tblPr>
                <a:tableStyleId>{284E427A-3D55-4303-BF80-6455036E1DE7}</a:tableStyleId>
              </a:tblPr>
              <a:tblGrid>
                <a:gridCol w="1250632">
                  <a:extLst>
                    <a:ext uri="{9D8B030D-6E8A-4147-A177-3AD203B41FA5}">
                      <a16:colId xmlns:a16="http://schemas.microsoft.com/office/drawing/2014/main" val="2578774961"/>
                    </a:ext>
                  </a:extLst>
                </a:gridCol>
                <a:gridCol w="557975">
                  <a:extLst>
                    <a:ext uri="{9D8B030D-6E8A-4147-A177-3AD203B41FA5}">
                      <a16:colId xmlns:a16="http://schemas.microsoft.com/office/drawing/2014/main" val="3967286544"/>
                    </a:ext>
                  </a:extLst>
                </a:gridCol>
                <a:gridCol w="557975">
                  <a:extLst>
                    <a:ext uri="{9D8B030D-6E8A-4147-A177-3AD203B41FA5}">
                      <a16:colId xmlns:a16="http://schemas.microsoft.com/office/drawing/2014/main" val="3711230926"/>
                    </a:ext>
                  </a:extLst>
                </a:gridCol>
                <a:gridCol w="557975">
                  <a:extLst>
                    <a:ext uri="{9D8B030D-6E8A-4147-A177-3AD203B41FA5}">
                      <a16:colId xmlns:a16="http://schemas.microsoft.com/office/drawing/2014/main" val="1000073853"/>
                    </a:ext>
                  </a:extLst>
                </a:gridCol>
                <a:gridCol w="557975">
                  <a:extLst>
                    <a:ext uri="{9D8B030D-6E8A-4147-A177-3AD203B41FA5}">
                      <a16:colId xmlns:a16="http://schemas.microsoft.com/office/drawing/2014/main" val="3742569039"/>
                    </a:ext>
                  </a:extLst>
                </a:gridCol>
                <a:gridCol w="557975">
                  <a:extLst>
                    <a:ext uri="{9D8B030D-6E8A-4147-A177-3AD203B41FA5}">
                      <a16:colId xmlns:a16="http://schemas.microsoft.com/office/drawing/2014/main" val="122876253"/>
                    </a:ext>
                  </a:extLst>
                </a:gridCol>
                <a:gridCol w="557975">
                  <a:extLst>
                    <a:ext uri="{9D8B030D-6E8A-4147-A177-3AD203B41FA5}">
                      <a16:colId xmlns:a16="http://schemas.microsoft.com/office/drawing/2014/main" val="1491675565"/>
                    </a:ext>
                  </a:extLst>
                </a:gridCol>
                <a:gridCol w="557975">
                  <a:extLst>
                    <a:ext uri="{9D8B030D-6E8A-4147-A177-3AD203B41FA5}">
                      <a16:colId xmlns:a16="http://schemas.microsoft.com/office/drawing/2014/main" val="964828128"/>
                    </a:ext>
                  </a:extLst>
                </a:gridCol>
                <a:gridCol w="557975">
                  <a:extLst>
                    <a:ext uri="{9D8B030D-6E8A-4147-A177-3AD203B41FA5}">
                      <a16:colId xmlns:a16="http://schemas.microsoft.com/office/drawing/2014/main" val="1947354628"/>
                    </a:ext>
                  </a:extLst>
                </a:gridCol>
                <a:gridCol w="557975">
                  <a:extLst>
                    <a:ext uri="{9D8B030D-6E8A-4147-A177-3AD203B41FA5}">
                      <a16:colId xmlns:a16="http://schemas.microsoft.com/office/drawing/2014/main" val="675069883"/>
                    </a:ext>
                  </a:extLst>
                </a:gridCol>
                <a:gridCol w="711898">
                  <a:extLst>
                    <a:ext uri="{9D8B030D-6E8A-4147-A177-3AD203B41FA5}">
                      <a16:colId xmlns:a16="http://schemas.microsoft.com/office/drawing/2014/main" val="1430296218"/>
                    </a:ext>
                  </a:extLst>
                </a:gridCol>
                <a:gridCol w="711898">
                  <a:extLst>
                    <a:ext uri="{9D8B030D-6E8A-4147-A177-3AD203B41FA5}">
                      <a16:colId xmlns:a16="http://schemas.microsoft.com/office/drawing/2014/main" val="3629623087"/>
                    </a:ext>
                  </a:extLst>
                </a:gridCol>
              </a:tblGrid>
              <a:tr h="824697">
                <a:tc>
                  <a:txBody>
                    <a:bodyPr/>
                    <a:lstStyle/>
                    <a:p>
                      <a:pPr algn="ctr" fontAlgn="ctr">
                        <a:buNone/>
                      </a:pPr>
                      <a:r>
                        <a:rPr lang="en-US" sz="1800" b="1" u="none" strike="noStrike" spc="-10" dirty="0">
                          <a:effectLst/>
                          <a:latin typeface="Times New Roman" panose="02020603050405020304" pitchFamily="18" charset="0"/>
                          <a:cs typeface="Times New Roman" panose="02020603050405020304" pitchFamily="18" charset="0"/>
                        </a:rPr>
                        <a:t>CO-PO Mapping</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dirty="0">
                          <a:effectLst/>
                          <a:latin typeface="Times New Roman" panose="02020603050405020304" pitchFamily="18" charset="0"/>
                          <a:cs typeface="Times New Roman" panose="02020603050405020304" pitchFamily="18" charset="0"/>
                        </a:rPr>
                        <a:t>PO1</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dirty="0">
                          <a:effectLst/>
                          <a:latin typeface="Times New Roman" panose="02020603050405020304" pitchFamily="18" charset="0"/>
                          <a:cs typeface="Times New Roman" panose="02020603050405020304" pitchFamily="18" charset="0"/>
                        </a:rPr>
                        <a:t>PO2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PO3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PO4</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PO5</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PO6</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PO7</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PO8</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PO9</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0">
                          <a:effectLst/>
                          <a:latin typeface="Times New Roman" panose="02020603050405020304" pitchFamily="18" charset="0"/>
                          <a:cs typeface="Times New Roman" panose="02020603050405020304" pitchFamily="18" charset="0"/>
                        </a:rPr>
                        <a:t>PO10</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20">
                          <a:effectLst/>
                          <a:latin typeface="Times New Roman" panose="02020603050405020304" pitchFamily="18" charset="0"/>
                          <a:cs typeface="Times New Roman" panose="02020603050405020304" pitchFamily="18" charset="0"/>
                        </a:rPr>
                        <a:t>PO11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120259250"/>
                  </a:ext>
                </a:extLst>
              </a:tr>
              <a:tr h="434051">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CO1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64738057"/>
                  </a:ext>
                </a:extLst>
              </a:tr>
              <a:tr h="434051">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CO2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1</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855530266"/>
                  </a:ext>
                </a:extLst>
              </a:tr>
              <a:tr h="434051">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CO3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1</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849127267"/>
                  </a:ext>
                </a:extLst>
              </a:tr>
              <a:tr h="434051">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CO4</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711020042"/>
                  </a:ext>
                </a:extLst>
              </a:tr>
              <a:tr h="434051">
                <a:tc>
                  <a:txBody>
                    <a:bodyPr/>
                    <a:lstStyle/>
                    <a:p>
                      <a:pPr algn="ctr" fontAlgn="ctr">
                        <a:buNone/>
                      </a:pPr>
                      <a:r>
                        <a:rPr lang="en-US" sz="1800" b="1" u="none" strike="noStrike" spc="-25">
                          <a:effectLst/>
                          <a:latin typeface="Times New Roman" panose="02020603050405020304" pitchFamily="18" charset="0"/>
                          <a:cs typeface="Times New Roman" panose="02020603050405020304" pitchFamily="18" charset="0"/>
                        </a:rPr>
                        <a:t>CO5</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a:effectLst/>
                          <a:latin typeface="Times New Roman" panose="02020603050405020304" pitchFamily="18" charset="0"/>
                          <a:cs typeface="Times New Roman" panose="02020603050405020304" pitchFamily="18" charset="0"/>
                        </a:rPr>
                        <a:t>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493991500"/>
                  </a:ext>
                </a:extLst>
              </a:tr>
              <a:tr h="434051">
                <a:tc>
                  <a:txBody>
                    <a:bodyPr/>
                    <a:lstStyle/>
                    <a:p>
                      <a:pPr algn="ctr" fontAlgn="b">
                        <a:buNone/>
                      </a:pPr>
                      <a:r>
                        <a:rPr lang="en-IN" sz="1800" b="1" u="none" strike="noStrike">
                          <a:effectLst/>
                          <a:latin typeface="Times New Roman" panose="02020603050405020304" pitchFamily="18" charset="0"/>
                          <a:cs typeface="Times New Roman" panose="02020603050405020304" pitchFamily="18" charset="0"/>
                        </a:rPr>
                        <a:t>Average</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a:effectLst/>
                          <a:latin typeface="Times New Roman" panose="02020603050405020304" pitchFamily="18" charset="0"/>
                          <a:cs typeface="Times New Roman" panose="02020603050405020304" pitchFamily="18" charset="0"/>
                        </a:rPr>
                        <a:t>2.8</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a:effectLst/>
                          <a:latin typeface="Times New Roman" panose="02020603050405020304" pitchFamily="18" charset="0"/>
                          <a:cs typeface="Times New Roman" panose="02020603050405020304" pitchFamily="18" charset="0"/>
                        </a:rPr>
                        <a:t>2.8</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a:effectLst/>
                          <a:latin typeface="Times New Roman" panose="02020603050405020304" pitchFamily="18" charset="0"/>
                          <a:cs typeface="Times New Roman" panose="02020603050405020304" pitchFamily="18" charset="0"/>
                        </a:rPr>
                        <a:t>2.6</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a:effectLst/>
                          <a:latin typeface="Times New Roman" panose="02020603050405020304" pitchFamily="18" charset="0"/>
                          <a:cs typeface="Times New Roman" panose="02020603050405020304" pitchFamily="18" charset="0"/>
                        </a:rPr>
                        <a:t>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US" sz="1800" b="1" u="none" strike="noStrike" spc="-50" dirty="0">
                          <a:effectLst/>
                          <a:latin typeface="Times New Roman" panose="02020603050405020304" pitchFamily="18" charset="0"/>
                          <a:cs typeface="Times New Roman" panose="02020603050405020304" pitchFamily="18" charset="0"/>
                        </a:rPr>
                        <a:t>-</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dirty="0">
                          <a:effectLst/>
                          <a:latin typeface="Times New Roman" panose="02020603050405020304" pitchFamily="18" charset="0"/>
                          <a:cs typeface="Times New Roman" panose="02020603050405020304" pitchFamily="18" charset="0"/>
                        </a:rPr>
                        <a:t>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439045718"/>
                  </a:ext>
                </a:extLst>
              </a:tr>
            </a:tbl>
          </a:graphicData>
        </a:graphic>
      </p:graphicFrame>
    </p:spTree>
    <p:extLst>
      <p:ext uri="{BB962C8B-B14F-4D97-AF65-F5344CB8AC3E}">
        <p14:creationId xmlns:p14="http://schemas.microsoft.com/office/powerpoint/2010/main" val="4104322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ontent Placeholder 12"/>
          <p:cNvGraphicFramePr>
            <a:graphicFrameLocks noGrp="1"/>
          </p:cNvGraphicFramePr>
          <p:nvPr>
            <p:ph idx="1"/>
            <p:extLst/>
          </p:nvPr>
        </p:nvGraphicFramePr>
        <p:xfrm>
          <a:off x="647783" y="2158853"/>
          <a:ext cx="8153400" cy="2915714"/>
        </p:xfrm>
        <a:graphic>
          <a:graphicData uri="http://schemas.openxmlformats.org/drawingml/2006/table">
            <a:tbl>
              <a:tblPr firstRow="1" bandRow="1">
                <a:tableStyleId>{8A107856-5554-42FB-B03E-39F5DBC370BA}</a:tableStyleId>
              </a:tblPr>
              <a:tblGrid>
                <a:gridCol w="990600">
                  <a:extLst>
                    <a:ext uri="{9D8B030D-6E8A-4147-A177-3AD203B41FA5}">
                      <a16:colId xmlns:a16="http://schemas.microsoft.com/office/drawing/2014/main" val="20000"/>
                    </a:ext>
                  </a:extLst>
                </a:gridCol>
                <a:gridCol w="7162800">
                  <a:extLst>
                    <a:ext uri="{9D8B030D-6E8A-4147-A177-3AD203B41FA5}">
                      <a16:colId xmlns:a16="http://schemas.microsoft.com/office/drawing/2014/main" val="20001"/>
                    </a:ext>
                  </a:extLst>
                </a:gridCol>
              </a:tblGrid>
              <a:tr h="1121937">
                <a:tc>
                  <a:txBody>
                    <a:bodyPr/>
                    <a:lstStyle/>
                    <a:p>
                      <a:pPr marL="0" marR="0" algn="ctr">
                        <a:lnSpc>
                          <a:spcPct val="115000"/>
                        </a:lnSpc>
                        <a:spcBef>
                          <a:spcPts val="0"/>
                        </a:spcBef>
                        <a:spcAft>
                          <a:spcPts val="0"/>
                        </a:spcAft>
                      </a:pPr>
                      <a:r>
                        <a:rPr lang="en-US" sz="1800" b="1" dirty="0">
                          <a:latin typeface="Times New Roman" panose="02020603050405020304" pitchFamily="18" charset="0"/>
                          <a:cs typeface="Times New Roman" panose="02020603050405020304" pitchFamily="18" charset="0"/>
                        </a:rPr>
                        <a:t>PSO1</a:t>
                      </a:r>
                      <a:endParaRPr lang="en-US" sz="1800" b="1" dirty="0">
                        <a:solidFill>
                          <a:schemeClr val="tx1"/>
                        </a:solidFill>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solidFill>
                      <a:srgbClr val="FF9999"/>
                    </a:solidFill>
                  </a:tcPr>
                </a:tc>
                <a:tc>
                  <a:txBody>
                    <a:bodyPr/>
                    <a:lstStyle/>
                    <a:p>
                      <a:pPr marL="0" marR="0" algn="just">
                        <a:lnSpc>
                          <a:spcPct val="100000"/>
                        </a:lnSpc>
                        <a:spcBef>
                          <a:spcPts val="0"/>
                        </a:spcBef>
                        <a:spcAft>
                          <a:spcPts val="0"/>
                        </a:spcAft>
                      </a:pPr>
                      <a:r>
                        <a:rPr lang="en-US" sz="1800" b="0" kern="1200" dirty="0">
                          <a:effectLst/>
                          <a:latin typeface="Times New Roman" panose="02020603050405020304" pitchFamily="18" charset="0"/>
                          <a:cs typeface="Times New Roman" panose="02020603050405020304" pitchFamily="18" charset="0"/>
                        </a:rPr>
                        <a:t>Work as a software engineer in different dimensions of information technology to provide solutions to real-world and industrial problems in an eco-friendly manner</a:t>
                      </a:r>
                      <a:endParaRPr lang="en-US" sz="1800" b="0" i="0" dirty="0">
                        <a:solidFill>
                          <a:schemeClr val="tx1"/>
                        </a:solidFill>
                        <a:latin typeface="Times New Roman" panose="02020603050405020304" pitchFamily="18" charset="0"/>
                        <a:ea typeface="Times New Roman" panose="02020603050405020304"/>
                        <a:cs typeface="Times New Roman" panose="02020603050405020304" pitchFamily="18" charset="0"/>
                      </a:endParaRPr>
                    </a:p>
                  </a:txBody>
                  <a:tcPr marL="68580" marR="68580" marT="0" marB="0">
                    <a:solidFill>
                      <a:srgbClr val="FF9999"/>
                    </a:solidFill>
                  </a:tcPr>
                </a:tc>
                <a:extLst>
                  <a:ext uri="{0D108BD9-81ED-4DB2-BD59-A6C34878D82A}">
                    <a16:rowId xmlns:a16="http://schemas.microsoft.com/office/drawing/2014/main" val="10000"/>
                  </a:ext>
                </a:extLst>
              </a:tr>
              <a:tr h="847373">
                <a:tc>
                  <a:txBody>
                    <a:bodyPr/>
                    <a:lstStyle/>
                    <a:p>
                      <a:pPr marL="0" marR="0" algn="ctr">
                        <a:lnSpc>
                          <a:spcPct val="115000"/>
                        </a:lnSpc>
                        <a:spcBef>
                          <a:spcPts val="0"/>
                        </a:spcBef>
                        <a:spcAft>
                          <a:spcPts val="0"/>
                        </a:spcAft>
                      </a:pPr>
                      <a:r>
                        <a:rPr lang="en-US" sz="1800" b="1" dirty="0">
                          <a:latin typeface="Times New Roman" panose="02020603050405020304" pitchFamily="18" charset="0"/>
                          <a:cs typeface="Times New Roman" panose="02020603050405020304" pitchFamily="18" charset="0"/>
                        </a:rPr>
                        <a:t>PSO2</a:t>
                      </a:r>
                      <a:endParaRPr lang="en-US" sz="1800" b="1" dirty="0">
                        <a:solidFill>
                          <a:schemeClr val="tx1"/>
                        </a:solidFill>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solidFill>
                      <a:srgbClr val="FF9999"/>
                    </a:solidFill>
                  </a:tcPr>
                </a:tc>
                <a:tc>
                  <a:txBody>
                    <a:bodyPr/>
                    <a:lstStyle/>
                    <a:p>
                      <a:pPr marL="0" marR="0" algn="just">
                        <a:lnSpc>
                          <a:spcPct val="100000"/>
                        </a:lnSpc>
                        <a:spcBef>
                          <a:spcPts val="0"/>
                        </a:spcBef>
                        <a:spcAft>
                          <a:spcPts val="0"/>
                        </a:spcAft>
                      </a:pPr>
                      <a:r>
                        <a:rPr lang="en-US" sz="1800" kern="1200" dirty="0">
                          <a:effectLst/>
                          <a:latin typeface="Times New Roman" panose="02020603050405020304" pitchFamily="18" charset="0"/>
                          <a:cs typeface="Times New Roman" panose="02020603050405020304" pitchFamily="18" charset="0"/>
                        </a:rPr>
                        <a:t>Apply knowledge of core subjects with multi-disciplinary and modern computing techniques to solve complex IT problems.</a:t>
                      </a:r>
                      <a:endParaRPr lang="en-US" sz="1800" b="0" i="0" dirty="0">
                        <a:solidFill>
                          <a:schemeClr val="tx1"/>
                        </a:solidFill>
                        <a:latin typeface="Times New Roman" panose="02020603050405020304" pitchFamily="18" charset="0"/>
                        <a:ea typeface="Times New Roman" panose="02020603050405020304"/>
                        <a:cs typeface="Times New Roman" panose="02020603050405020304" pitchFamily="18" charset="0"/>
                      </a:endParaRPr>
                    </a:p>
                  </a:txBody>
                  <a:tcPr marL="68580" marR="68580" marT="0" marB="0">
                    <a:solidFill>
                      <a:srgbClr val="FF9999"/>
                    </a:solidFill>
                  </a:tcPr>
                </a:tc>
                <a:extLst>
                  <a:ext uri="{0D108BD9-81ED-4DB2-BD59-A6C34878D82A}">
                    <a16:rowId xmlns:a16="http://schemas.microsoft.com/office/drawing/2014/main" val="10001"/>
                  </a:ext>
                </a:extLst>
              </a:tr>
              <a:tr h="914400">
                <a:tc>
                  <a:txBody>
                    <a:bodyPr/>
                    <a:lstStyle/>
                    <a:p>
                      <a:pPr marL="0" marR="0" algn="ctr">
                        <a:lnSpc>
                          <a:spcPct val="115000"/>
                        </a:lnSpc>
                        <a:spcBef>
                          <a:spcPts val="0"/>
                        </a:spcBef>
                        <a:spcAft>
                          <a:spcPts val="0"/>
                        </a:spcAft>
                      </a:pPr>
                      <a:r>
                        <a:rPr lang="en-US" sz="1800" b="1" dirty="0">
                          <a:latin typeface="Times New Roman" panose="02020603050405020304" pitchFamily="18" charset="0"/>
                          <a:cs typeface="Times New Roman" panose="02020603050405020304" pitchFamily="18" charset="0"/>
                        </a:rPr>
                        <a:t>PSO3</a:t>
                      </a:r>
                      <a:endParaRPr lang="en-US" sz="1800" b="1" dirty="0">
                        <a:solidFill>
                          <a:schemeClr val="tx1"/>
                        </a:solidFill>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solidFill>
                      <a:srgbClr val="FF9999"/>
                    </a:solidFill>
                  </a:tcPr>
                </a:tc>
                <a:tc>
                  <a:txBody>
                    <a:bodyPr/>
                    <a:lstStyle/>
                    <a:p>
                      <a:pPr marL="0" marR="0" algn="just">
                        <a:lnSpc>
                          <a:spcPct val="115000"/>
                        </a:lnSpc>
                        <a:spcBef>
                          <a:spcPts val="0"/>
                        </a:spcBef>
                        <a:spcAft>
                          <a:spcPts val="1000"/>
                        </a:spcAft>
                      </a:pPr>
                      <a:r>
                        <a:rPr lang="en-US" sz="1800" dirty="0">
                          <a:effectLst/>
                          <a:latin typeface="Times New Roman" panose="02020603050405020304" pitchFamily="18" charset="0"/>
                          <a:cs typeface="Times New Roman" panose="02020603050405020304" pitchFamily="18" charset="0"/>
                        </a:rPr>
                        <a:t>Establish a successful and innovative career by practicing lifelong learning and communicating in a team or as an individual to manage projects with ethical concerns.</a:t>
                      </a:r>
                      <a:endParaRPr lang="en-US" sz="1800" dirty="0">
                        <a:effectLst/>
                        <a:latin typeface="Times New Roman" panose="02020603050405020304" pitchFamily="18" charset="0"/>
                        <a:ea typeface="Calibri"/>
                        <a:cs typeface="Times New Roman" panose="02020603050405020304" pitchFamily="18" charset="0"/>
                      </a:endParaRPr>
                    </a:p>
                  </a:txBody>
                  <a:tcPr marL="59635" marR="59635" marT="0" marB="0">
                    <a:solidFill>
                      <a:srgbClr val="FF9999"/>
                    </a:solidFill>
                  </a:tcPr>
                </a:tc>
                <a:extLst>
                  <a:ext uri="{0D108BD9-81ED-4DB2-BD59-A6C34878D82A}">
                    <a16:rowId xmlns:a16="http://schemas.microsoft.com/office/drawing/2014/main" val="10002"/>
                  </a:ext>
                </a:extLst>
              </a:tr>
            </a:tbl>
          </a:graphicData>
        </a:graphic>
      </p:graphicFrame>
      <p:sp>
        <p:nvSpPr>
          <p:cNvPr id="6" name="Date Placeholder 5"/>
          <p:cNvSpPr>
            <a:spLocks noGrp="1"/>
          </p:cNvSpPr>
          <p:nvPr>
            <p:ph type="dt" sz="half" idx="10"/>
          </p:nvPr>
        </p:nvSpPr>
        <p:spPr/>
        <p:txBody>
          <a:bodyPr/>
          <a:lstStyle/>
          <a:p>
            <a:fld id="{B302C8DB-4D9F-4C37-833C-62AFF0C3D425}" type="datetime1">
              <a:rPr lang="en-US" smtClean="0"/>
              <a:t>4/10/2026</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12</a:t>
            </a:fld>
            <a:endParaRPr lang="en-US" dirty="0"/>
          </a:p>
        </p:txBody>
      </p:sp>
      <p:sp>
        <p:nvSpPr>
          <p:cNvPr id="11" name="Title 1"/>
          <p:cNvSpPr txBox="1"/>
          <p:nvPr/>
        </p:nvSpPr>
        <p:spPr>
          <a:xfrm>
            <a:off x="1371600" y="0"/>
            <a:ext cx="7772400" cy="796727"/>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defPPr>
              <a:defRPr lang="en-US"/>
            </a:defPPr>
            <a:lvl1pPr algn="ctr">
              <a:spcBef>
                <a:spcPct val="0"/>
              </a:spcBef>
              <a:buNone/>
              <a:defRPr sz="2400"/>
            </a:lvl1pPr>
          </a:lstStyle>
          <a:p>
            <a:r>
              <a:rPr lang="en-US" sz="2800" b="1" dirty="0">
                <a:latin typeface="Times New Roman" panose="02020603050405020304" pitchFamily="18" charset="0"/>
                <a:cs typeface="Times New Roman" panose="02020603050405020304" pitchFamily="18" charset="0"/>
              </a:rPr>
              <a:t>Program Specific Outcomes</a:t>
            </a:r>
          </a:p>
        </p:txBody>
      </p:sp>
      <p:sp>
        <p:nvSpPr>
          <p:cNvPr id="8" name="TextBox 7"/>
          <p:cNvSpPr txBox="1"/>
          <p:nvPr/>
        </p:nvSpPr>
        <p:spPr>
          <a:xfrm>
            <a:off x="609600" y="1295400"/>
            <a:ext cx="8153400"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On successful completion of graduation degree, the Information Technology graduates will be able to:</a:t>
            </a:r>
          </a:p>
        </p:txBody>
      </p:sp>
      <p:pic>
        <p:nvPicPr>
          <p:cNvPr id="2" name="Picture 1" descr="A black and red logo&#10;&#10;Description automatically generated">
            <a:extLst>
              <a:ext uri="{FF2B5EF4-FFF2-40B4-BE49-F238E27FC236}">
                <a16:creationId xmlns:a16="http://schemas.microsoft.com/office/drawing/2014/main" id="{1E8D4030-7B29-1EA0-67F1-274E581AE5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5" y="1"/>
            <a:ext cx="1376516" cy="734924"/>
          </a:xfrm>
          <a:prstGeom prst="rect">
            <a:avLst/>
          </a:prstGeom>
        </p:spPr>
      </p:pic>
      <p:sp>
        <p:nvSpPr>
          <p:cNvPr id="9"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374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54EFE078-944B-478F-89A7-8704461FEEB2}" type="datetime1">
              <a:rPr lang="en-US" smtClean="0"/>
              <a:t>4/10/2026</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13</a:t>
            </a:fld>
            <a:endParaRPr lang="en-US" dirty="0"/>
          </a:p>
        </p:txBody>
      </p:sp>
      <p:sp>
        <p:nvSpPr>
          <p:cNvPr id="11" name="Title 1"/>
          <p:cNvSpPr txBox="1"/>
          <p:nvPr/>
        </p:nvSpPr>
        <p:spPr>
          <a:xfrm>
            <a:off x="1371600" y="0"/>
            <a:ext cx="7772400" cy="728869"/>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p>
            <a:pPr algn="ctr" defTabSz="795162">
              <a:spcBef>
                <a:spcPct val="0"/>
              </a:spcBef>
              <a:defRPr/>
            </a:pPr>
            <a:r>
              <a:rPr lang="en-US" sz="2400" b="1" dirty="0">
                <a:latin typeface="Times New Roman" panose="02020603050405020304" pitchFamily="18" charset="0"/>
                <a:cs typeface="Times New Roman" panose="02020603050405020304" pitchFamily="18" charset="0"/>
              </a:rPr>
              <a:t>CO-PSO Correlation M</a:t>
            </a:r>
            <a:r>
              <a:rPr lang="en-US" sz="2400" b="1" dirty="0" err="1">
                <a:latin typeface="Times New Roman" panose="02020603050405020304" pitchFamily="18" charset="0"/>
                <a:cs typeface="Times New Roman" panose="02020603050405020304" pitchFamily="18" charset="0"/>
              </a:rPr>
              <a:t>atrix</a:t>
            </a:r>
            <a:endParaRPr lang="en-US" sz="2400" b="1" dirty="0">
              <a:latin typeface="Times New Roman" panose="02020603050405020304" pitchFamily="18" charset="0"/>
              <a:cs typeface="Times New Roman" panose="02020603050405020304" pitchFamily="18" charset="0"/>
            </a:endParaRPr>
          </a:p>
        </p:txBody>
      </p:sp>
      <p:pic>
        <p:nvPicPr>
          <p:cNvPr id="8" name="Picture 15"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7E1CB5C2-656C-8C7C-C6D8-53E2321859FE}"/>
              </a:ext>
            </a:extLst>
          </p:cNvPr>
          <p:cNvGraphicFramePr>
            <a:graphicFrameLocks noGrp="1"/>
          </p:cNvGraphicFramePr>
          <p:nvPr>
            <p:extLst/>
          </p:nvPr>
        </p:nvGraphicFramePr>
        <p:xfrm>
          <a:off x="1600200" y="1828800"/>
          <a:ext cx="5638799" cy="2895600"/>
        </p:xfrm>
        <a:graphic>
          <a:graphicData uri="http://schemas.openxmlformats.org/drawingml/2006/table">
            <a:tbl>
              <a:tblPr>
                <a:tableStyleId>{284E427A-3D55-4303-BF80-6455036E1DE7}</a:tableStyleId>
              </a:tblPr>
              <a:tblGrid>
                <a:gridCol w="1521580">
                  <a:extLst>
                    <a:ext uri="{9D8B030D-6E8A-4147-A177-3AD203B41FA5}">
                      <a16:colId xmlns:a16="http://schemas.microsoft.com/office/drawing/2014/main" val="2947297037"/>
                    </a:ext>
                  </a:extLst>
                </a:gridCol>
                <a:gridCol w="1581251">
                  <a:extLst>
                    <a:ext uri="{9D8B030D-6E8A-4147-A177-3AD203B41FA5}">
                      <a16:colId xmlns:a16="http://schemas.microsoft.com/office/drawing/2014/main" val="412278009"/>
                    </a:ext>
                  </a:extLst>
                </a:gridCol>
                <a:gridCol w="1581251">
                  <a:extLst>
                    <a:ext uri="{9D8B030D-6E8A-4147-A177-3AD203B41FA5}">
                      <a16:colId xmlns:a16="http://schemas.microsoft.com/office/drawing/2014/main" val="3129407814"/>
                    </a:ext>
                  </a:extLst>
                </a:gridCol>
                <a:gridCol w="954717">
                  <a:extLst>
                    <a:ext uri="{9D8B030D-6E8A-4147-A177-3AD203B41FA5}">
                      <a16:colId xmlns:a16="http://schemas.microsoft.com/office/drawing/2014/main" val="1590529657"/>
                    </a:ext>
                  </a:extLst>
                </a:gridCol>
              </a:tblGrid>
              <a:tr h="723900">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CO-PSO Mapping</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PSO1</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PSO2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PSO3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979338307"/>
                  </a:ext>
                </a:extLst>
              </a:tr>
              <a:tr h="361950">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CO1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729870000"/>
                  </a:ext>
                </a:extLst>
              </a:tr>
              <a:tr h="361950">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CO2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1</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289562944"/>
                  </a:ext>
                </a:extLst>
              </a:tr>
              <a:tr h="361950">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CO3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1064598539"/>
                  </a:ext>
                </a:extLst>
              </a:tr>
              <a:tr h="361950">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CO4</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3</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521344649"/>
                  </a:ext>
                </a:extLst>
              </a:tr>
              <a:tr h="361950">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CO5</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3</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dirty="0">
                          <a:effectLst/>
                          <a:latin typeface="Times New Roman" panose="02020603050405020304" pitchFamily="18" charset="0"/>
                          <a:cs typeface="Times New Roman" panose="02020603050405020304" pitchFamily="18" charset="0"/>
                        </a:rPr>
                        <a:t>2</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2</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371937115"/>
                  </a:ext>
                </a:extLst>
              </a:tr>
              <a:tr h="361950">
                <a:tc>
                  <a:txBody>
                    <a:bodyPr/>
                    <a:lstStyle/>
                    <a:p>
                      <a:pPr algn="ctr" fontAlgn="ctr">
                        <a:buNone/>
                      </a:pPr>
                      <a:r>
                        <a:rPr lang="en-IN" sz="1800" b="1" u="none" strike="noStrike">
                          <a:effectLst/>
                          <a:latin typeface="Times New Roman" panose="02020603050405020304" pitchFamily="18" charset="0"/>
                          <a:cs typeface="Times New Roman" panose="02020603050405020304" pitchFamily="18" charset="0"/>
                        </a:rPr>
                        <a:t>Average</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a:effectLst/>
                          <a:latin typeface="Times New Roman" panose="02020603050405020304" pitchFamily="18" charset="0"/>
                          <a:cs typeface="Times New Roman" panose="02020603050405020304" pitchFamily="18" charset="0"/>
                        </a:rPr>
                        <a:t>2.6</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dirty="0">
                          <a:effectLst/>
                          <a:latin typeface="Times New Roman" panose="02020603050405020304" pitchFamily="18" charset="0"/>
                          <a:cs typeface="Times New Roman" panose="02020603050405020304" pitchFamily="18" charset="0"/>
                        </a:rPr>
                        <a:t>2.8</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tc>
                  <a:txBody>
                    <a:bodyPr/>
                    <a:lstStyle/>
                    <a:p>
                      <a:pPr algn="ctr" fontAlgn="b">
                        <a:buNone/>
                      </a:pPr>
                      <a:r>
                        <a:rPr lang="en-IN" sz="1800" b="1" u="none" strike="noStrike" dirty="0">
                          <a:effectLst/>
                          <a:latin typeface="Times New Roman" panose="02020603050405020304" pitchFamily="18" charset="0"/>
                          <a:cs typeface="Times New Roman" panose="02020603050405020304" pitchFamily="18" charset="0"/>
                        </a:rPr>
                        <a:t>1.6</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tc>
                <a:extLst>
                  <a:ext uri="{0D108BD9-81ED-4DB2-BD59-A6C34878D82A}">
                    <a16:rowId xmlns:a16="http://schemas.microsoft.com/office/drawing/2014/main" val="3085632739"/>
                  </a:ext>
                </a:extLst>
              </a:tr>
            </a:tbl>
          </a:graphicData>
        </a:graphic>
      </p:graphicFrame>
    </p:spTree>
    <p:extLst>
      <p:ext uri="{BB962C8B-B14F-4D97-AF65-F5344CB8AC3E}">
        <p14:creationId xmlns:p14="http://schemas.microsoft.com/office/powerpoint/2010/main" val="1636801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9" name="Date Placeholder 3"/>
          <p:cNvSpPr>
            <a:spLocks noGrp="1"/>
          </p:cNvSpPr>
          <p:nvPr>
            <p:ph type="dt" sz="half" idx="10"/>
          </p:nvPr>
        </p:nvSpPr>
        <p:spPr/>
        <p:txBody>
          <a:bodyPr/>
          <a:lstStyle/>
          <a:p>
            <a:fld id="{38237485-3613-41A8-8576-F4A121AF2F1F}" type="datetime1">
              <a:rPr lang="en-US" smtClean="0"/>
              <a:t>4/10/2026</a:t>
            </a:fld>
            <a:endParaRPr lang="en-US"/>
          </a:p>
        </p:txBody>
      </p:sp>
      <p:sp>
        <p:nvSpPr>
          <p:cNvPr id="1048741" name="Slide Number Placeholder 5"/>
          <p:cNvSpPr>
            <a:spLocks noGrp="1"/>
          </p:cNvSpPr>
          <p:nvPr>
            <p:ph type="sldNum" sz="quarter" idx="12"/>
          </p:nvPr>
        </p:nvSpPr>
        <p:spPr/>
        <p:txBody>
          <a:bodyPr/>
          <a:lstStyle/>
          <a:p>
            <a:fld id="{B6F15528-21DE-4FAA-801E-634DDDAF4B2B}" type="slidenum">
              <a:rPr lang="en-US" smtClean="0"/>
              <a:t>14</a:t>
            </a:fld>
            <a:endParaRPr lang="en-US"/>
          </a:p>
        </p:txBody>
      </p:sp>
      <p:sp>
        <p:nvSpPr>
          <p:cNvPr id="1048742" name="Title 1"/>
          <p:cNvSpPr txBox="1">
            <a:spLocks noGrp="1"/>
          </p:cNvSpPr>
          <p:nvPr>
            <p:ph type="title"/>
          </p:nvPr>
        </p:nvSpPr>
        <p:spPr>
          <a:xfrm>
            <a:off x="1447800" y="553"/>
            <a:ext cx="7696200" cy="688837"/>
          </a:xfrm>
          <a:prstGeom prst="rect">
            <a:avLst/>
          </a:prstGeom>
        </p:spPr>
        <p:style>
          <a:lnRef idx="1">
            <a:schemeClr val="accent2"/>
          </a:lnRef>
          <a:fillRef idx="2">
            <a:schemeClr val="accent2"/>
          </a:fillRef>
          <a:effectRef idx="1">
            <a:schemeClr val="accent2"/>
          </a:effectRef>
          <a:fontRef idx="minor">
            <a:schemeClr val="dk1"/>
          </a:fontRef>
        </p:style>
        <p:txBody>
          <a:bodyPr vert="horz" lIns="79513" tIns="39757" rIns="79513" bIns="39757" rtlCol="0" anchor="ctr">
            <a:noAutofit/>
          </a:bodyPr>
          <a:lstStyle/>
          <a:p>
            <a:r>
              <a:rPr lang="en-IN" sz="2400" b="1" dirty="0">
                <a:latin typeface="Times New Roman" panose="02020603050405020304" pitchFamily="18" charset="0"/>
                <a:cs typeface="Times New Roman" panose="02020603050405020304" pitchFamily="18" charset="0"/>
                <a:sym typeface="Arial" charset="0"/>
              </a:rPr>
              <a:t>End Semester Question Paper Template </a:t>
            </a:r>
            <a:endParaRPr lang="en-US" sz="2400" b="1" dirty="0">
              <a:latin typeface="Times New Roman" panose="02020603050405020304" pitchFamily="18" charset="0"/>
              <a:cs typeface="Times New Roman" panose="02020603050405020304" pitchFamily="18" charset="0"/>
              <a:sym typeface="Arial" charset="0"/>
            </a:endParaRPr>
          </a:p>
        </p:txBody>
      </p:sp>
      <p:pic>
        <p:nvPicPr>
          <p:cNvPr id="8" name="Picture 15" descr="A black and red logo&#10;&#10;Description automatically generated"/>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14" y="0"/>
            <a:ext cx="1443585"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ooter Placeholder 12"/>
          <p:cNvSpPr>
            <a:spLocks noGrp="1"/>
          </p:cNvSpPr>
          <p:nvPr>
            <p:ph type="ftr" sz="quarter" idx="11"/>
          </p:nvPr>
        </p:nvSpPr>
        <p:spPr>
          <a:xfrm>
            <a:off x="1905000" y="63246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B3802B86-617F-C28E-F090-E3587B2E5702}"/>
              </a:ext>
            </a:extLst>
          </p:cNvPr>
          <p:cNvGraphicFramePr>
            <a:graphicFrameLocks noGrp="1"/>
          </p:cNvGraphicFramePr>
          <p:nvPr>
            <p:extLst/>
          </p:nvPr>
        </p:nvGraphicFramePr>
        <p:xfrm>
          <a:off x="685800" y="1238182"/>
          <a:ext cx="8153400" cy="4501206"/>
        </p:xfrm>
        <a:graphic>
          <a:graphicData uri="http://schemas.openxmlformats.org/drawingml/2006/table">
            <a:tbl>
              <a:tblPr firstRow="1" firstCol="1" lastRow="1" lastCol="1" bandRow="1" bandCol="1">
                <a:tableStyleId>{5940675A-B579-460E-94D1-54222C63F5DA}</a:tableStyleId>
              </a:tblPr>
              <a:tblGrid>
                <a:gridCol w="4218132">
                  <a:extLst>
                    <a:ext uri="{9D8B030D-6E8A-4147-A177-3AD203B41FA5}">
                      <a16:colId xmlns:a16="http://schemas.microsoft.com/office/drawing/2014/main" val="3281605720"/>
                    </a:ext>
                  </a:extLst>
                </a:gridCol>
                <a:gridCol w="3935268">
                  <a:extLst>
                    <a:ext uri="{9D8B030D-6E8A-4147-A177-3AD203B41FA5}">
                      <a16:colId xmlns:a16="http://schemas.microsoft.com/office/drawing/2014/main" val="2550752635"/>
                    </a:ext>
                  </a:extLst>
                </a:gridCol>
              </a:tblGrid>
              <a:tr h="198817">
                <a:tc>
                  <a:txBody>
                    <a:bodyPr/>
                    <a:lstStyle/>
                    <a:p>
                      <a:pPr marL="36195">
                        <a:lnSpc>
                          <a:spcPts val="1430"/>
                        </a:lnSpc>
                        <a:spcBef>
                          <a:spcPts val="195"/>
                        </a:spcBef>
                        <a:buNone/>
                      </a:pPr>
                      <a:r>
                        <a:rPr lang="en-US" sz="1350" b="1" dirty="0">
                          <a:effectLst/>
                          <a:latin typeface="Times New Roman" panose="02020603050405020304" pitchFamily="18" charset="0"/>
                          <a:cs typeface="Times New Roman" panose="02020603050405020304" pitchFamily="18" charset="0"/>
                        </a:rPr>
                        <a:t>Printed Page:</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nSpc>
                          <a:spcPts val="1430"/>
                        </a:lnSpc>
                        <a:spcBef>
                          <a:spcPts val="195"/>
                        </a:spcBef>
                        <a:buNone/>
                      </a:pPr>
                      <a:r>
                        <a:rPr lang="en-US" sz="1350" b="1">
                          <a:effectLst/>
                          <a:latin typeface="Times New Roman" panose="02020603050405020304" pitchFamily="18" charset="0"/>
                          <a:cs typeface="Times New Roman" panose="02020603050405020304" pitchFamily="18" charset="0"/>
                        </a:rPr>
                        <a:t>Subject Code:</a:t>
                      </a:r>
                      <a:endParaRPr lang="en-IN" sz="11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00176750"/>
                  </a:ext>
                </a:extLst>
              </a:tr>
              <a:tr h="213157">
                <a:tc>
                  <a:txBody>
                    <a:bodyPr/>
                    <a:lstStyle/>
                    <a:p>
                      <a:pPr>
                        <a:spcBef>
                          <a:spcPts val="195"/>
                        </a:spcBef>
                        <a:buNone/>
                      </a:pPr>
                      <a:r>
                        <a:rPr lang="en-US" sz="1200" b="1" dirty="0">
                          <a:effectLst/>
                          <a:latin typeface="Times New Roman" panose="02020603050405020304" pitchFamily="18" charset="0"/>
                          <a:cs typeface="Times New Roman" panose="02020603050405020304" pitchFamily="18" charset="0"/>
                        </a:rPr>
                        <a:t> </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nSpc>
                          <a:spcPts val="1515"/>
                        </a:lnSpc>
                        <a:spcBef>
                          <a:spcPts val="195"/>
                        </a:spcBef>
                        <a:buNone/>
                      </a:pPr>
                      <a:r>
                        <a:rPr lang="en-US" sz="1350" b="1">
                          <a:effectLst/>
                          <a:latin typeface="Times New Roman" panose="02020603050405020304" pitchFamily="18" charset="0"/>
                          <a:cs typeface="Times New Roman" panose="02020603050405020304" pitchFamily="18" charset="0"/>
                        </a:rPr>
                        <a:t>Roll. </a:t>
                      </a:r>
                      <a:r>
                        <a:rPr lang="en-US" sz="1350" b="1" spc="-25">
                          <a:effectLst/>
                          <a:latin typeface="Times New Roman" panose="02020603050405020304" pitchFamily="18" charset="0"/>
                          <a:cs typeface="Times New Roman" panose="02020603050405020304" pitchFamily="18" charset="0"/>
                        </a:rPr>
                        <a:t>No:</a:t>
                      </a:r>
                      <a:endParaRPr lang="en-IN" sz="11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320857534"/>
                  </a:ext>
                </a:extLst>
              </a:tr>
              <a:tr h="221632">
                <a:tc>
                  <a:txBody>
                    <a:bodyPr/>
                    <a:lstStyle/>
                    <a:p>
                      <a:pPr>
                        <a:spcBef>
                          <a:spcPts val="195"/>
                        </a:spcBef>
                        <a:buNone/>
                      </a:pPr>
                      <a:r>
                        <a:rPr lang="en-US" sz="1300" b="1" dirty="0">
                          <a:effectLst/>
                          <a:latin typeface="Times New Roman" panose="02020603050405020304" pitchFamily="18" charset="0"/>
                          <a:cs typeface="Times New Roman" panose="02020603050405020304" pitchFamily="18" charset="0"/>
                        </a:rPr>
                        <a:t> </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00660">
                        <a:spcBef>
                          <a:spcPts val="195"/>
                        </a:spcBef>
                        <a:buNone/>
                        <a:tabLst>
                          <a:tab pos="421640" algn="l"/>
                          <a:tab pos="643255" algn="l"/>
                          <a:tab pos="864235" algn="l"/>
                          <a:tab pos="1085215" algn="l"/>
                          <a:tab pos="1306830" algn="l"/>
                          <a:tab pos="1527810" algn="l"/>
                          <a:tab pos="1748790" algn="l"/>
                          <a:tab pos="1970405" algn="l"/>
                          <a:tab pos="2191385" algn="l"/>
                          <a:tab pos="2412365" algn="l"/>
                          <a:tab pos="2633980" algn="l"/>
                          <a:tab pos="2854960" algn="l"/>
                          <a:tab pos="3075940" algn="l"/>
                        </a:tabLst>
                      </a:pP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r>
                        <a:rPr lang="en-US" sz="1000" b="1">
                          <a:effectLst/>
                          <a:latin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cs typeface="Times New Roman" panose="02020603050405020304" pitchFamily="18" charset="0"/>
                        </a:rPr>
                        <a:t> </a:t>
                      </a:r>
                      <a:endParaRPr lang="en-US" sz="11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836540522"/>
                  </a:ext>
                </a:extLst>
              </a:tr>
              <a:tr h="185612">
                <a:tc gridSpan="2">
                  <a:txBody>
                    <a:bodyPr/>
                    <a:lstStyle/>
                    <a:p>
                      <a:pPr algn="ctr">
                        <a:lnSpc>
                          <a:spcPct val="150000"/>
                        </a:lnSpc>
                        <a:spcBef>
                          <a:spcPts val="195"/>
                        </a:spcBef>
                        <a:buNone/>
                      </a:pPr>
                      <a:r>
                        <a:rPr lang="en-US" sz="1350" b="1" dirty="0">
                          <a:effectLst/>
                          <a:latin typeface="Times New Roman" panose="02020603050405020304" pitchFamily="18" charset="0"/>
                          <a:cs typeface="Times New Roman" panose="02020603050405020304" pitchFamily="18" charset="0"/>
                        </a:rPr>
                        <a:t>NOIDA INSTITUTE OF ENGINEERING AND TECHNOLOGY, GREATER </a:t>
                      </a:r>
                      <a:r>
                        <a:rPr lang="en-US" sz="1350" b="1" spc="-10" dirty="0">
                          <a:effectLst/>
                          <a:latin typeface="Times New Roman" panose="02020603050405020304" pitchFamily="18" charset="0"/>
                          <a:cs typeface="Times New Roman" panose="02020603050405020304" pitchFamily="18" charset="0"/>
                        </a:rPr>
                        <a:t>NOIDA</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extLst>
                  <a:ext uri="{0D108BD9-81ED-4DB2-BD59-A6C34878D82A}">
                    <a16:rowId xmlns:a16="http://schemas.microsoft.com/office/drawing/2014/main" val="1545542358"/>
                  </a:ext>
                </a:extLst>
              </a:tr>
              <a:tr h="212350">
                <a:tc gridSpan="2">
                  <a:txBody>
                    <a:bodyPr/>
                    <a:lstStyle/>
                    <a:p>
                      <a:pPr marL="55245" algn="ctr">
                        <a:lnSpc>
                          <a:spcPts val="1450"/>
                        </a:lnSpc>
                        <a:spcBef>
                          <a:spcPts val="195"/>
                        </a:spcBef>
                        <a:buNone/>
                      </a:pPr>
                      <a:r>
                        <a:rPr lang="en-US" sz="1350" b="1" dirty="0">
                          <a:effectLst/>
                          <a:latin typeface="Times New Roman" panose="02020603050405020304" pitchFamily="18" charset="0"/>
                          <a:cs typeface="Times New Roman" panose="02020603050405020304" pitchFamily="18" charset="0"/>
                        </a:rPr>
                        <a:t>(An Autonomous Institute Affiliated to AKTU, </a:t>
                      </a:r>
                      <a:r>
                        <a:rPr lang="en-US" sz="1350" b="1" spc="-10" dirty="0">
                          <a:effectLst/>
                          <a:latin typeface="Times New Roman" panose="02020603050405020304" pitchFamily="18" charset="0"/>
                          <a:cs typeface="Times New Roman" panose="02020603050405020304" pitchFamily="18" charset="0"/>
                        </a:rPr>
                        <a:t>Lucknow)</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extLst>
                  <a:ext uri="{0D108BD9-81ED-4DB2-BD59-A6C34878D82A}">
                    <a16:rowId xmlns:a16="http://schemas.microsoft.com/office/drawing/2014/main" val="1400563555"/>
                  </a:ext>
                </a:extLst>
              </a:tr>
              <a:tr h="212350">
                <a:tc gridSpan="2">
                  <a:txBody>
                    <a:bodyPr/>
                    <a:lstStyle/>
                    <a:p>
                      <a:pPr algn="ctr">
                        <a:lnSpc>
                          <a:spcPts val="1450"/>
                        </a:lnSpc>
                        <a:spcBef>
                          <a:spcPts val="195"/>
                        </a:spcBef>
                        <a:buNone/>
                      </a:pPr>
                      <a:r>
                        <a:rPr lang="en-US" sz="1350" b="1" spc="-10" dirty="0">
                          <a:effectLst/>
                          <a:latin typeface="Times New Roman" panose="02020603050405020304" pitchFamily="18" charset="0"/>
                          <a:cs typeface="Times New Roman" panose="02020603050405020304" pitchFamily="18" charset="0"/>
                        </a:rPr>
                        <a:t>B.Tec</a:t>
                      </a:r>
                      <a:r>
                        <a:rPr lang="en-US" sz="1350" b="1" spc="-50" dirty="0">
                          <a:effectLst/>
                          <a:latin typeface="Times New Roman" panose="02020603050405020304" pitchFamily="18" charset="0"/>
                          <a:cs typeface="Times New Roman" panose="02020603050405020304" pitchFamily="18" charset="0"/>
                        </a:rPr>
                        <a:t>h</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extLst>
                  <a:ext uri="{0D108BD9-81ED-4DB2-BD59-A6C34878D82A}">
                    <a16:rowId xmlns:a16="http://schemas.microsoft.com/office/drawing/2014/main" val="802784262"/>
                  </a:ext>
                </a:extLst>
              </a:tr>
              <a:tr h="453014">
                <a:tc gridSpan="2">
                  <a:txBody>
                    <a:bodyPr/>
                    <a:lstStyle/>
                    <a:p>
                      <a:pPr marL="55245" algn="ctr">
                        <a:lnSpc>
                          <a:spcPts val="1525"/>
                        </a:lnSpc>
                        <a:spcBef>
                          <a:spcPts val="195"/>
                        </a:spcBef>
                        <a:buNone/>
                      </a:pPr>
                      <a:r>
                        <a:rPr lang="en-US" sz="1350" b="1" dirty="0">
                          <a:effectLst/>
                          <a:latin typeface="Times New Roman" panose="02020603050405020304" pitchFamily="18" charset="0"/>
                          <a:cs typeface="Times New Roman" panose="02020603050405020304" pitchFamily="18" charset="0"/>
                        </a:rPr>
                        <a:t>SEM:  - THEORY EXAMINATION (2025 - </a:t>
                      </a:r>
                      <a:r>
                        <a:rPr lang="en-US" sz="1350" b="1" spc="-10" dirty="0">
                          <a:effectLst/>
                          <a:latin typeface="Times New Roman" panose="02020603050405020304" pitchFamily="18" charset="0"/>
                          <a:cs typeface="Times New Roman" panose="02020603050405020304" pitchFamily="18" charset="0"/>
                        </a:rPr>
                        <a:t>2026)</a:t>
                      </a:r>
                      <a:endParaRPr lang="en-IN" sz="1100" b="1" dirty="0">
                        <a:effectLst/>
                        <a:latin typeface="Times New Roman" panose="02020603050405020304" pitchFamily="18" charset="0"/>
                        <a:cs typeface="Times New Roman" panose="02020603050405020304" pitchFamily="18" charset="0"/>
                      </a:endParaRPr>
                    </a:p>
                    <a:p>
                      <a:pPr marL="55245" marR="635" algn="ctr">
                        <a:lnSpc>
                          <a:spcPts val="1480"/>
                        </a:lnSpc>
                        <a:spcBef>
                          <a:spcPts val="195"/>
                        </a:spcBef>
                        <a:buNone/>
                      </a:pPr>
                      <a:r>
                        <a:rPr lang="en-US" sz="1350" b="1" dirty="0">
                          <a:effectLst/>
                          <a:latin typeface="Times New Roman" panose="02020603050405020304" pitchFamily="18" charset="0"/>
                          <a:cs typeface="Times New Roman" panose="02020603050405020304" pitchFamily="18" charset="0"/>
                        </a:rPr>
                        <a:t>Subject:</a:t>
                      </a:r>
                      <a:r>
                        <a:rPr lang="en-US" sz="1350" b="1" spc="-5" dirty="0">
                          <a:effectLst/>
                          <a:latin typeface="Times New Roman" panose="02020603050405020304" pitchFamily="18" charset="0"/>
                          <a:cs typeface="Times New Roman" panose="02020603050405020304" pitchFamily="18" charset="0"/>
                        </a:rPr>
                        <a:t> </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extLst>
                  <a:ext uri="{0D108BD9-81ED-4DB2-BD59-A6C34878D82A}">
                    <a16:rowId xmlns:a16="http://schemas.microsoft.com/office/drawing/2014/main" val="2233155693"/>
                  </a:ext>
                </a:extLst>
              </a:tr>
              <a:tr h="212350">
                <a:tc>
                  <a:txBody>
                    <a:bodyPr/>
                    <a:lstStyle/>
                    <a:p>
                      <a:pPr marL="165100">
                        <a:lnSpc>
                          <a:spcPts val="1450"/>
                        </a:lnSpc>
                        <a:spcBef>
                          <a:spcPts val="195"/>
                        </a:spcBef>
                        <a:buNone/>
                      </a:pPr>
                      <a:r>
                        <a:rPr lang="en-US" sz="1350" b="1">
                          <a:effectLst/>
                          <a:latin typeface="Times New Roman" panose="02020603050405020304" pitchFamily="18" charset="0"/>
                          <a:cs typeface="Times New Roman" panose="02020603050405020304" pitchFamily="18" charset="0"/>
                        </a:rPr>
                        <a:t>Time: 3 </a:t>
                      </a:r>
                      <a:r>
                        <a:rPr lang="en-US" sz="1350" b="1" spc="-10">
                          <a:effectLst/>
                          <a:latin typeface="Times New Roman" panose="02020603050405020304" pitchFamily="18" charset="0"/>
                          <a:cs typeface="Times New Roman" panose="02020603050405020304" pitchFamily="18" charset="0"/>
                        </a:rPr>
                        <a:t>Hours</a:t>
                      </a:r>
                      <a:endParaRPr lang="en-IN" sz="11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078355">
                        <a:lnSpc>
                          <a:spcPts val="1450"/>
                        </a:lnSpc>
                        <a:spcBef>
                          <a:spcPts val="195"/>
                        </a:spcBef>
                        <a:buNone/>
                      </a:pPr>
                      <a:r>
                        <a:rPr lang="en-US" sz="1350" b="1" dirty="0">
                          <a:effectLst/>
                          <a:latin typeface="Times New Roman" panose="02020603050405020304" pitchFamily="18" charset="0"/>
                          <a:cs typeface="Times New Roman" panose="02020603050405020304" pitchFamily="18" charset="0"/>
                        </a:rPr>
                        <a:t>Max. Marks: </a:t>
                      </a:r>
                      <a:r>
                        <a:rPr lang="en-US" sz="1350" b="1" spc="-25" dirty="0">
                          <a:effectLst/>
                          <a:latin typeface="Times New Roman" panose="02020603050405020304" pitchFamily="18" charset="0"/>
                          <a:cs typeface="Times New Roman" panose="02020603050405020304" pitchFamily="18" charset="0"/>
                        </a:rPr>
                        <a:t>100</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974846751"/>
                  </a:ext>
                </a:extLst>
              </a:tr>
              <a:tr h="2468926">
                <a:tc gridSpan="2">
                  <a:txBody>
                    <a:bodyPr/>
                    <a:lstStyle/>
                    <a:p>
                      <a:pPr marL="36195">
                        <a:lnSpc>
                          <a:spcPts val="1525"/>
                        </a:lnSpc>
                        <a:spcBef>
                          <a:spcPts val="195"/>
                        </a:spcBef>
                        <a:buNone/>
                      </a:pPr>
                      <a:r>
                        <a:rPr lang="en-US" sz="1350" b="1" dirty="0">
                          <a:effectLst/>
                          <a:latin typeface="Times New Roman" panose="02020603050405020304" pitchFamily="18" charset="0"/>
                          <a:cs typeface="Times New Roman" panose="02020603050405020304" pitchFamily="18" charset="0"/>
                        </a:rPr>
                        <a:t>General </a:t>
                      </a:r>
                      <a:r>
                        <a:rPr lang="en-US" sz="1350" b="1" spc="-10" dirty="0">
                          <a:effectLst/>
                          <a:latin typeface="Times New Roman" panose="02020603050405020304" pitchFamily="18" charset="0"/>
                          <a:cs typeface="Times New Roman" panose="02020603050405020304" pitchFamily="18" charset="0"/>
                        </a:rPr>
                        <a:t>Instructions:</a:t>
                      </a:r>
                      <a:endParaRPr lang="en-IN" sz="1100" b="1" dirty="0">
                        <a:effectLst/>
                        <a:latin typeface="Times New Roman" panose="02020603050405020304" pitchFamily="18" charset="0"/>
                        <a:cs typeface="Times New Roman" panose="02020603050405020304" pitchFamily="18" charset="0"/>
                      </a:endParaRPr>
                    </a:p>
                    <a:p>
                      <a:pPr marL="36195">
                        <a:spcBef>
                          <a:spcPts val="195"/>
                        </a:spcBef>
                        <a:buNone/>
                      </a:pPr>
                      <a:r>
                        <a:rPr lang="en-US" sz="1350" b="1" dirty="0">
                          <a:effectLst/>
                          <a:latin typeface="Times New Roman" panose="02020603050405020304" pitchFamily="18" charset="0"/>
                          <a:cs typeface="Times New Roman" panose="02020603050405020304" pitchFamily="18" charset="0"/>
                        </a:rPr>
                        <a:t>IMP:</a:t>
                      </a:r>
                      <a:r>
                        <a:rPr lang="en-US" sz="1350" b="1" spc="-5" dirty="0">
                          <a:effectLst/>
                          <a:latin typeface="Times New Roman" panose="02020603050405020304" pitchFamily="18" charset="0"/>
                          <a:cs typeface="Times New Roman" panose="02020603050405020304" pitchFamily="18" charset="0"/>
                        </a:rPr>
                        <a:t> </a:t>
                      </a:r>
                      <a:r>
                        <a:rPr lang="en-US" sz="1350" b="1" dirty="0">
                          <a:effectLst/>
                          <a:latin typeface="Times New Roman" panose="02020603050405020304" pitchFamily="18" charset="0"/>
                          <a:cs typeface="Times New Roman" panose="02020603050405020304" pitchFamily="18" charset="0"/>
                        </a:rPr>
                        <a:t>Verify that you have received the question paper with the correct course, code, branch </a:t>
                      </a:r>
                      <a:r>
                        <a:rPr lang="en-US" sz="1350" b="1" spc="-20" dirty="0">
                          <a:effectLst/>
                          <a:latin typeface="Times New Roman" panose="02020603050405020304" pitchFamily="18" charset="0"/>
                          <a:cs typeface="Times New Roman" panose="02020603050405020304" pitchFamily="18" charset="0"/>
                        </a:rPr>
                        <a:t>etc.</a:t>
                      </a:r>
                      <a:endParaRPr lang="en-IN" sz="1100" b="1" dirty="0">
                        <a:effectLst/>
                        <a:latin typeface="Times New Roman" panose="02020603050405020304" pitchFamily="18" charset="0"/>
                        <a:cs typeface="Times New Roman" panose="02020603050405020304" pitchFamily="18" charset="0"/>
                      </a:endParaRPr>
                    </a:p>
                    <a:p>
                      <a:pPr marL="342900" marR="424180" lvl="0" indent="-342900">
                        <a:spcBef>
                          <a:spcPts val="195"/>
                        </a:spcBef>
                        <a:buSzPts val="1350"/>
                        <a:buFont typeface="Times New Roman" panose="02020603050405020304" pitchFamily="18" charset="0"/>
                        <a:buAutoNum type="arabicPeriod"/>
                        <a:tabLst>
                          <a:tab pos="207645" algn="l"/>
                        </a:tabLst>
                      </a:pPr>
                      <a:r>
                        <a:rPr lang="en-US" sz="1350" b="1" spc="0" dirty="0">
                          <a:effectLst/>
                          <a:latin typeface="Times New Roman" panose="02020603050405020304" pitchFamily="18" charset="0"/>
                          <a:cs typeface="Times New Roman" panose="02020603050405020304" pitchFamily="18" charset="0"/>
                        </a:rPr>
                        <a:t>This</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Question</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paper</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comprises</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of</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three</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Sections</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-A,</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B,</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&amp;</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C.</a:t>
                      </a:r>
                      <a:r>
                        <a:rPr lang="en-US" sz="1350" b="1" spc="-20"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It</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consists</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of</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Multiple</a:t>
                      </a:r>
                      <a:r>
                        <a:rPr lang="en-US" sz="1350" b="1" spc="-15" dirty="0">
                          <a:effectLst/>
                          <a:latin typeface="Times New Roman" panose="02020603050405020304" pitchFamily="18" charset="0"/>
                          <a:cs typeface="Times New Roman" panose="02020603050405020304" pitchFamily="18" charset="0"/>
                        </a:rPr>
                        <a:t>-Choice</a:t>
                      </a:r>
                      <a:r>
                        <a:rPr lang="en-US" sz="1350" b="1" spc="0" dirty="0">
                          <a:effectLst/>
                          <a:latin typeface="Times New Roman" panose="02020603050405020304" pitchFamily="18" charset="0"/>
                          <a:cs typeface="Times New Roman" panose="02020603050405020304" pitchFamily="18" charset="0"/>
                        </a:rPr>
                        <a:t> Questions (MCQ’s) &amp; Subjective type questions.</a:t>
                      </a:r>
                      <a:endParaRPr lang="en-IN" sz="1100" b="1" spc="0" dirty="0">
                        <a:effectLst/>
                        <a:latin typeface="Times New Roman" panose="02020603050405020304" pitchFamily="18" charset="0"/>
                        <a:cs typeface="Times New Roman" panose="02020603050405020304" pitchFamily="18" charset="0"/>
                      </a:endParaRPr>
                    </a:p>
                    <a:p>
                      <a:pPr marL="342900" lvl="0" indent="-342900">
                        <a:spcBef>
                          <a:spcPts val="195"/>
                        </a:spcBef>
                        <a:buSzPts val="1350"/>
                        <a:buFont typeface="Times New Roman" panose="02020603050405020304" pitchFamily="18" charset="0"/>
                        <a:buAutoNum type="arabicPeriod"/>
                        <a:tabLst>
                          <a:tab pos="207645" algn="l"/>
                        </a:tabLst>
                      </a:pPr>
                      <a:r>
                        <a:rPr lang="en-US" sz="1350" b="1" spc="0" dirty="0">
                          <a:effectLst/>
                          <a:latin typeface="Times New Roman" panose="02020603050405020304" pitchFamily="18" charset="0"/>
                          <a:cs typeface="Times New Roman" panose="02020603050405020304" pitchFamily="18" charset="0"/>
                        </a:rPr>
                        <a:t>Maximum marks for each question are indicated on right -hand side of each </a:t>
                      </a:r>
                      <a:r>
                        <a:rPr lang="en-US" sz="1350" b="1" spc="-10" dirty="0">
                          <a:effectLst/>
                          <a:latin typeface="Times New Roman" panose="02020603050405020304" pitchFamily="18" charset="0"/>
                          <a:cs typeface="Times New Roman" panose="02020603050405020304" pitchFamily="18" charset="0"/>
                        </a:rPr>
                        <a:t>question.</a:t>
                      </a:r>
                      <a:endParaRPr lang="en-IN" sz="1100" b="1" spc="0" dirty="0">
                        <a:effectLst/>
                        <a:latin typeface="Times New Roman" panose="02020603050405020304" pitchFamily="18" charset="0"/>
                        <a:cs typeface="Times New Roman" panose="02020603050405020304" pitchFamily="18" charset="0"/>
                      </a:endParaRPr>
                    </a:p>
                    <a:p>
                      <a:pPr marL="342900" lvl="0" indent="-342900">
                        <a:spcBef>
                          <a:spcPts val="195"/>
                        </a:spcBef>
                        <a:buSzPts val="1350"/>
                        <a:buFont typeface="Times New Roman" panose="02020603050405020304" pitchFamily="18" charset="0"/>
                        <a:buAutoNum type="arabicPeriod"/>
                        <a:tabLst>
                          <a:tab pos="207645" algn="l"/>
                        </a:tabLst>
                      </a:pPr>
                      <a:r>
                        <a:rPr lang="en-US" sz="1350" b="1" spc="0" dirty="0">
                          <a:effectLst/>
                          <a:latin typeface="Times New Roman" panose="02020603050405020304" pitchFamily="18" charset="0"/>
                          <a:cs typeface="Times New Roman" panose="02020603050405020304" pitchFamily="18" charset="0"/>
                        </a:rPr>
                        <a:t>Illustrate your answers with neat sketches wherever </a:t>
                      </a:r>
                      <a:r>
                        <a:rPr lang="en-US" sz="1350" b="1" spc="-10" dirty="0">
                          <a:effectLst/>
                          <a:latin typeface="Times New Roman" panose="02020603050405020304" pitchFamily="18" charset="0"/>
                          <a:cs typeface="Times New Roman" panose="02020603050405020304" pitchFamily="18" charset="0"/>
                        </a:rPr>
                        <a:t>necessary.</a:t>
                      </a:r>
                      <a:endParaRPr lang="en-IN" sz="1100" b="1" spc="0" dirty="0">
                        <a:effectLst/>
                        <a:latin typeface="Times New Roman" panose="02020603050405020304" pitchFamily="18" charset="0"/>
                        <a:cs typeface="Times New Roman" panose="02020603050405020304" pitchFamily="18" charset="0"/>
                      </a:endParaRPr>
                    </a:p>
                    <a:p>
                      <a:pPr marL="342900" lvl="0" indent="-342900">
                        <a:spcBef>
                          <a:spcPts val="195"/>
                        </a:spcBef>
                        <a:buSzPts val="1350"/>
                        <a:buFont typeface="Times New Roman" panose="02020603050405020304" pitchFamily="18" charset="0"/>
                        <a:buAutoNum type="arabicPeriod"/>
                        <a:tabLst>
                          <a:tab pos="207645" algn="l"/>
                        </a:tabLst>
                      </a:pPr>
                      <a:r>
                        <a:rPr lang="en-US" sz="1350" b="1" spc="0" dirty="0">
                          <a:effectLst/>
                          <a:latin typeface="Times New Roman" panose="02020603050405020304" pitchFamily="18" charset="0"/>
                          <a:cs typeface="Times New Roman" panose="02020603050405020304" pitchFamily="18" charset="0"/>
                        </a:rPr>
                        <a:t>Assume suitable data if </a:t>
                      </a:r>
                      <a:r>
                        <a:rPr lang="en-US" sz="1350" b="1" spc="-10" dirty="0">
                          <a:effectLst/>
                          <a:latin typeface="Times New Roman" panose="02020603050405020304" pitchFamily="18" charset="0"/>
                          <a:cs typeface="Times New Roman" panose="02020603050405020304" pitchFamily="18" charset="0"/>
                        </a:rPr>
                        <a:t>necessary.</a:t>
                      </a:r>
                      <a:endParaRPr lang="en-IN" sz="1100" b="1" spc="0" dirty="0">
                        <a:effectLst/>
                        <a:latin typeface="Times New Roman" panose="02020603050405020304" pitchFamily="18" charset="0"/>
                        <a:cs typeface="Times New Roman" panose="02020603050405020304" pitchFamily="18" charset="0"/>
                      </a:endParaRPr>
                    </a:p>
                    <a:p>
                      <a:pPr marL="342900" lvl="0" indent="-342900">
                        <a:spcBef>
                          <a:spcPts val="195"/>
                        </a:spcBef>
                        <a:buSzPts val="1350"/>
                        <a:buFont typeface="Times New Roman" panose="02020603050405020304" pitchFamily="18" charset="0"/>
                        <a:buAutoNum type="arabicPeriod"/>
                        <a:tabLst>
                          <a:tab pos="207645" algn="l"/>
                        </a:tabLst>
                      </a:pPr>
                      <a:r>
                        <a:rPr lang="en-US" sz="1350" b="1" spc="0" dirty="0">
                          <a:effectLst/>
                          <a:latin typeface="Times New Roman" panose="02020603050405020304" pitchFamily="18" charset="0"/>
                          <a:cs typeface="Times New Roman" panose="02020603050405020304" pitchFamily="18" charset="0"/>
                        </a:rPr>
                        <a:t>Preferably, write the answers in sequential </a:t>
                      </a:r>
                      <a:r>
                        <a:rPr lang="en-US" sz="1350" b="1" spc="-10" dirty="0">
                          <a:effectLst/>
                          <a:latin typeface="Times New Roman" panose="02020603050405020304" pitchFamily="18" charset="0"/>
                          <a:cs typeface="Times New Roman" panose="02020603050405020304" pitchFamily="18" charset="0"/>
                        </a:rPr>
                        <a:t>order.</a:t>
                      </a:r>
                      <a:endParaRPr lang="en-IN" sz="1100" b="1" spc="0" dirty="0">
                        <a:effectLst/>
                        <a:latin typeface="Times New Roman" panose="02020603050405020304" pitchFamily="18" charset="0"/>
                        <a:cs typeface="Times New Roman" panose="02020603050405020304" pitchFamily="18" charset="0"/>
                      </a:endParaRPr>
                    </a:p>
                    <a:p>
                      <a:pPr marL="342900" marR="1101090" lvl="0" indent="-342900">
                        <a:lnSpc>
                          <a:spcPts val="1550"/>
                        </a:lnSpc>
                        <a:spcBef>
                          <a:spcPts val="195"/>
                        </a:spcBef>
                        <a:buSzPts val="1350"/>
                        <a:buFont typeface="Times New Roman" panose="02020603050405020304" pitchFamily="18" charset="0"/>
                        <a:buAutoNum type="arabicPeriod"/>
                        <a:tabLst>
                          <a:tab pos="207645" algn="l"/>
                        </a:tabLst>
                      </a:pPr>
                      <a:r>
                        <a:rPr lang="en-US" sz="1350" b="1" spc="0" dirty="0">
                          <a:effectLst/>
                          <a:latin typeface="Times New Roman" panose="02020603050405020304" pitchFamily="18" charset="0"/>
                          <a:cs typeface="Times New Roman" panose="02020603050405020304" pitchFamily="18" charset="0"/>
                        </a:rPr>
                        <a:t>No</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sheet</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should</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be</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left</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blank.</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Any</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written</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material</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after</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a</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blank</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sheet</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will</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not</a:t>
                      </a:r>
                      <a:r>
                        <a:rPr lang="en-US" sz="1350" b="1" spc="-15" dirty="0">
                          <a:effectLst/>
                          <a:latin typeface="Times New Roman" panose="02020603050405020304" pitchFamily="18" charset="0"/>
                          <a:cs typeface="Times New Roman" panose="02020603050405020304" pitchFamily="18" charset="0"/>
                        </a:rPr>
                        <a:t> </a:t>
                      </a:r>
                      <a:r>
                        <a:rPr lang="en-US" sz="1350" b="1" spc="0" dirty="0">
                          <a:effectLst/>
                          <a:latin typeface="Times New Roman" panose="02020603050405020304" pitchFamily="18" charset="0"/>
                          <a:cs typeface="Times New Roman" panose="02020603050405020304" pitchFamily="18" charset="0"/>
                        </a:rPr>
                        <a:t>be </a:t>
                      </a:r>
                      <a:r>
                        <a:rPr lang="en-US" sz="1350" b="1" spc="-10" dirty="0">
                          <a:effectLst/>
                          <a:latin typeface="Times New Roman" panose="02020603050405020304" pitchFamily="18" charset="0"/>
                          <a:cs typeface="Times New Roman" panose="02020603050405020304" pitchFamily="18" charset="0"/>
                        </a:rPr>
                        <a:t>evaluated/checked.</a:t>
                      </a:r>
                      <a:endParaRPr lang="en-IN" sz="1100" b="1" spc="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extLst>
                  <a:ext uri="{0D108BD9-81ED-4DB2-BD59-A6C34878D82A}">
                    <a16:rowId xmlns:a16="http://schemas.microsoft.com/office/drawing/2014/main" val="3922005269"/>
                  </a:ext>
                </a:extLst>
              </a:tr>
            </a:tbl>
          </a:graphicData>
        </a:graphic>
      </p:graphicFrame>
      <p:sp>
        <p:nvSpPr>
          <p:cNvPr id="46" name="Rectangle 32">
            <a:extLst>
              <a:ext uri="{FF2B5EF4-FFF2-40B4-BE49-F238E27FC236}">
                <a16:creationId xmlns:a16="http://schemas.microsoft.com/office/drawing/2014/main" id="{8D42C68E-CE5D-F378-42AE-F355FC1960B8}"/>
              </a:ext>
            </a:extLst>
          </p:cNvPr>
          <p:cNvSpPr>
            <a:spLocks noChangeArrowheads="1"/>
          </p:cNvSpPr>
          <p:nvPr/>
        </p:nvSpPr>
        <p:spPr bwMode="auto">
          <a:xfrm>
            <a:off x="1108075" y="2801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7" name="Rectangle 33">
            <a:extLst>
              <a:ext uri="{FF2B5EF4-FFF2-40B4-BE49-F238E27FC236}">
                <a16:creationId xmlns:a16="http://schemas.microsoft.com/office/drawing/2014/main" id="{171997E9-C72E-E810-9F3F-00C0A4BF7786}"/>
              </a:ext>
            </a:extLst>
          </p:cNvPr>
          <p:cNvSpPr>
            <a:spLocks noChangeArrowheads="1"/>
          </p:cNvSpPr>
          <p:nvPr/>
        </p:nvSpPr>
        <p:spPr bwMode="auto">
          <a:xfrm>
            <a:off x="1108075" y="27987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847809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4" name="Date Placeholder 3"/>
          <p:cNvSpPr>
            <a:spLocks noGrp="1"/>
          </p:cNvSpPr>
          <p:nvPr>
            <p:ph type="dt" sz="quarter" idx="11"/>
          </p:nvPr>
        </p:nvSpPr>
        <p:spPr>
          <a:xfrm>
            <a:off x="-228600" y="6348412"/>
            <a:ext cx="2895600" cy="317500"/>
          </a:xfrm>
          <a:noFill/>
        </p:spPr>
        <p:txBody>
          <a:bodyPr/>
          <a:lstStyle>
            <a:lvl1pPr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646069" indent="-248488"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993953"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391534"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1789115"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186696"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584277"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2981858"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379440"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7A748CEA-5A5D-4DFB-8BFF-C2122995FD4F}" type="datetime1">
              <a:rPr lang="en-US" altLang="en-US" sz="1044" smtClean="0">
                <a:solidFill>
                  <a:srgbClr val="888888"/>
                </a:solidFill>
                <a:latin typeface="Calibri" panose="020F0502020204030204" pitchFamily="34" charset="0"/>
                <a:sym typeface="Calibri" panose="020F0502020204030204" pitchFamily="34" charset="0"/>
              </a:rPr>
              <a:t>4/10/2026</a:t>
            </a:fld>
            <a:endParaRPr lang="en-US" altLang="en-US" sz="1044" dirty="0">
              <a:solidFill>
                <a:srgbClr val="888888"/>
              </a:solidFill>
              <a:latin typeface="Calibri" panose="020F0502020204030204" pitchFamily="34" charset="0"/>
              <a:sym typeface="Calibri" panose="020F0502020204030204" pitchFamily="34" charset="0"/>
            </a:endParaRPr>
          </a:p>
        </p:txBody>
      </p:sp>
      <p:sp>
        <p:nvSpPr>
          <p:cNvPr id="1048745" name="Title 1"/>
          <p:cNvSpPr txBox="1"/>
          <p:nvPr/>
        </p:nvSpPr>
        <p:spPr>
          <a:xfrm>
            <a:off x="1371600" y="0"/>
            <a:ext cx="7772400" cy="72887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r>
              <a:rPr lang="en-IN" sz="2400" b="1" dirty="0">
                <a:latin typeface="Times New Roman" panose="02020603050405020304" pitchFamily="18" charset="0"/>
                <a:cs typeface="Times New Roman" panose="02020603050405020304" pitchFamily="18" charset="0"/>
                <a:sym typeface="Arial" charset="0"/>
              </a:rPr>
              <a:t>End Semester Question Paper Templates </a:t>
            </a:r>
            <a:endParaRPr lang="en-US" sz="2400" b="1" dirty="0">
              <a:latin typeface="Times New Roman" panose="02020603050405020304" pitchFamily="18" charset="0"/>
              <a:cs typeface="Times New Roman" panose="02020603050405020304" pitchFamily="18" charset="0"/>
              <a:sym typeface="Arial" charset="0"/>
            </a:endParaRPr>
          </a:p>
        </p:txBody>
      </p:sp>
      <p:sp>
        <p:nvSpPr>
          <p:cNvPr id="1048746" name="Rectangle 2"/>
          <p:cNvSpPr>
            <a:spLocks noChangeArrowheads="1"/>
          </p:cNvSpPr>
          <p:nvPr/>
        </p:nvSpPr>
        <p:spPr bwMode="auto">
          <a:xfrm>
            <a:off x="0" y="318935"/>
            <a:ext cx="184731" cy="654218"/>
          </a:xfrm>
          <a:prstGeom prst="rect">
            <a:avLst/>
          </a:prstGeom>
          <a:noFill/>
          <a:ln>
            <a:noFill/>
          </a:ln>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217"/>
              <a:t/>
            </a:r>
            <a:br>
              <a:rPr lang="en-US" altLang="en-US" sz="1217"/>
            </a:br>
            <a:endParaRPr lang="en-US" altLang="en-US" sz="1217"/>
          </a:p>
          <a:p>
            <a:pPr eaLnBrk="1" hangingPunct="1"/>
            <a:endParaRPr lang="en-US" altLang="en-US" sz="1217"/>
          </a:p>
        </p:txBody>
      </p:sp>
      <p:sp>
        <p:nvSpPr>
          <p:cNvPr id="1048749" name="Slide Number Placeholder 11"/>
          <p:cNvSpPr>
            <a:spLocks noGrp="1"/>
          </p:cNvSpPr>
          <p:nvPr>
            <p:ph type="sldNum" sz="quarter" idx="4294967295"/>
          </p:nvPr>
        </p:nvSpPr>
        <p:spPr bwMode="auto">
          <a:xfrm>
            <a:off x="6629400" y="6314250"/>
            <a:ext cx="2133600" cy="317500"/>
          </a:xfrm>
          <a:prstGeom prst="rect">
            <a:avLst/>
          </a:prstGeom>
          <a:noFill/>
          <a:ln w="9525">
            <a:noFill/>
            <a:miter lim="800000"/>
            <a:headEnd/>
            <a:tailEnd/>
          </a:ln>
        </p:spPr>
        <p:txBody>
          <a:bodyPr vert="horz" wrap="square" lIns="79500" tIns="39739" rIns="79500" bIns="39739" numCol="1" rtlCol="0"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044"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397581"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795162"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192743"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590324"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1987906"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385487"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2783068"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180649"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15</a:t>
            </a:fld>
            <a:endParaRPr lang="en-US" altLang="en-US"/>
          </a:p>
        </p:txBody>
      </p:sp>
      <p:pic>
        <p:nvPicPr>
          <p:cNvPr id="11" name="Picture 15"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Footer Placeholder 12"/>
          <p:cNvSpPr txBox="1">
            <a:spLocks/>
          </p:cNvSpPr>
          <p:nvPr/>
        </p:nvSpPr>
        <p:spPr>
          <a:xfrm>
            <a:off x="1905000" y="6324600"/>
            <a:ext cx="5410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Ankur Kumar Varshney                 BCSE0404X(TOC)                     Unit III</a:t>
            </a:r>
          </a:p>
        </p:txBody>
      </p:sp>
      <p:graphicFrame>
        <p:nvGraphicFramePr>
          <p:cNvPr id="4" name="Table 3">
            <a:extLst>
              <a:ext uri="{FF2B5EF4-FFF2-40B4-BE49-F238E27FC236}">
                <a16:creationId xmlns:a16="http://schemas.microsoft.com/office/drawing/2014/main" id="{78CF4264-36CC-C589-1E09-F6404D40AA63}"/>
              </a:ext>
            </a:extLst>
          </p:cNvPr>
          <p:cNvGraphicFramePr>
            <a:graphicFrameLocks noGrp="1"/>
          </p:cNvGraphicFramePr>
          <p:nvPr>
            <p:extLst/>
          </p:nvPr>
        </p:nvGraphicFramePr>
        <p:xfrm>
          <a:off x="1097280" y="4343400"/>
          <a:ext cx="6926580" cy="1524000"/>
        </p:xfrm>
        <a:graphic>
          <a:graphicData uri="http://schemas.openxmlformats.org/drawingml/2006/table">
            <a:tbl>
              <a:tblPr firstRow="1" firstCol="1" lastRow="1" lastCol="1" bandRow="1" bandCol="1">
                <a:tableStyleId>{5940675A-B579-460E-94D1-54222C63F5DA}</a:tableStyleId>
              </a:tblPr>
              <a:tblGrid>
                <a:gridCol w="588010">
                  <a:extLst>
                    <a:ext uri="{9D8B030D-6E8A-4147-A177-3AD203B41FA5}">
                      <a16:colId xmlns:a16="http://schemas.microsoft.com/office/drawing/2014/main" val="1918987323"/>
                    </a:ext>
                  </a:extLst>
                </a:gridCol>
                <a:gridCol w="5629910">
                  <a:extLst>
                    <a:ext uri="{9D8B030D-6E8A-4147-A177-3AD203B41FA5}">
                      <a16:colId xmlns:a16="http://schemas.microsoft.com/office/drawing/2014/main" val="4181453385"/>
                    </a:ext>
                  </a:extLst>
                </a:gridCol>
                <a:gridCol w="708660">
                  <a:extLst>
                    <a:ext uri="{9D8B030D-6E8A-4147-A177-3AD203B41FA5}">
                      <a16:colId xmlns:a16="http://schemas.microsoft.com/office/drawing/2014/main" val="876851489"/>
                    </a:ext>
                  </a:extLst>
                </a:gridCol>
              </a:tblGrid>
              <a:tr h="254000">
                <a:tc gridSpan="3">
                  <a:txBody>
                    <a:bodyPr/>
                    <a:lstStyle/>
                    <a:p>
                      <a:pPr marL="31750" marR="0" lvl="0" indent="0" algn="l" defTabSz="914400" rtl="0" eaLnBrk="1" fontAlgn="auto" latinLnBrk="0" hangingPunct="1">
                        <a:lnSpc>
                          <a:spcPct val="100000"/>
                        </a:lnSpc>
                        <a:spcBef>
                          <a:spcPts val="195"/>
                        </a:spcBef>
                        <a:spcAft>
                          <a:spcPts val="0"/>
                        </a:spcAft>
                        <a:buClrTx/>
                        <a:buSzTx/>
                        <a:buFontTx/>
                        <a:buNone/>
                        <a:tabLst/>
                        <a:defRPr/>
                      </a:pPr>
                      <a:r>
                        <a:rPr lang="en-US" sz="1400" b="1" dirty="0">
                          <a:effectLst/>
                          <a:latin typeface="Times New Roman" panose="02020603050405020304" pitchFamily="18" charset="0"/>
                          <a:cs typeface="Times New Roman" panose="02020603050405020304" pitchFamily="18" charset="0"/>
                        </a:rPr>
                        <a:t>2 Attempt all </a:t>
                      </a:r>
                      <a:r>
                        <a:rPr lang="en-US" sz="1400" b="1" spc="-10" dirty="0">
                          <a:effectLst/>
                          <a:latin typeface="Times New Roman" panose="02020603050405020304" pitchFamily="18" charset="0"/>
                          <a:cs typeface="Times New Roman" panose="02020603050405020304" pitchFamily="18" charset="0"/>
                        </a:rPr>
                        <a:t>parts:-</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191433580"/>
                  </a:ext>
                </a:extLst>
              </a:tr>
              <a:tr h="254000">
                <a:tc>
                  <a:txBody>
                    <a:bodyPr/>
                    <a:lstStyle/>
                    <a:p>
                      <a:pPr marL="31750" algn="l">
                        <a:spcBef>
                          <a:spcPts val="195"/>
                        </a:spcBef>
                        <a:buNone/>
                      </a:pPr>
                      <a:r>
                        <a:rPr lang="en-US" sz="1400" spc="-20">
                          <a:effectLst/>
                          <a:latin typeface="Times New Roman" panose="02020603050405020304" pitchFamily="18" charset="0"/>
                          <a:cs typeface="Times New Roman" panose="02020603050405020304" pitchFamily="18" charset="0"/>
                        </a:rPr>
                        <a:t>2.a.</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47320" algn="l">
                        <a:spcBef>
                          <a:spcPts val="195"/>
                        </a:spcBef>
                        <a:buNone/>
                      </a:pP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spcBef>
                          <a:spcPts val="195"/>
                        </a:spcBef>
                        <a:buNone/>
                      </a:pPr>
                      <a:r>
                        <a:rPr lang="en-US" sz="1400" spc="-5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503281736"/>
                  </a:ext>
                </a:extLst>
              </a:tr>
              <a:tr h="254000">
                <a:tc>
                  <a:txBody>
                    <a:bodyPr/>
                    <a:lstStyle/>
                    <a:p>
                      <a:pPr marL="31750" algn="l">
                        <a:spcBef>
                          <a:spcPts val="195"/>
                        </a:spcBef>
                        <a:buNone/>
                      </a:pPr>
                      <a:r>
                        <a:rPr lang="en-US" sz="1400" spc="-20">
                          <a:effectLst/>
                          <a:latin typeface="Times New Roman" panose="02020603050405020304" pitchFamily="18" charset="0"/>
                          <a:cs typeface="Times New Roman" panose="02020603050405020304" pitchFamily="18" charset="0"/>
                        </a:rPr>
                        <a:t>2.b.</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47320" algn="l">
                        <a:spcBef>
                          <a:spcPts val="195"/>
                        </a:spcBef>
                        <a:buNone/>
                      </a:pP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spcBef>
                          <a:spcPts val="195"/>
                        </a:spcBef>
                        <a:buNone/>
                      </a:pPr>
                      <a:r>
                        <a:rPr lang="en-US" sz="1400" spc="-5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167847961"/>
                  </a:ext>
                </a:extLst>
              </a:tr>
              <a:tr h="254000">
                <a:tc>
                  <a:txBody>
                    <a:bodyPr/>
                    <a:lstStyle/>
                    <a:p>
                      <a:pPr marL="31750" algn="l">
                        <a:spcBef>
                          <a:spcPts val="195"/>
                        </a:spcBef>
                        <a:buNone/>
                      </a:pPr>
                      <a:r>
                        <a:rPr lang="en-US" sz="1400" spc="-20">
                          <a:effectLst/>
                          <a:latin typeface="Times New Roman" panose="02020603050405020304" pitchFamily="18" charset="0"/>
                          <a:cs typeface="Times New Roman" panose="02020603050405020304" pitchFamily="18" charset="0"/>
                        </a:rPr>
                        <a:t>2.c.</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47320" algn="l">
                        <a:spcBef>
                          <a:spcPts val="195"/>
                        </a:spcBef>
                        <a:buNone/>
                      </a:pP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spcBef>
                          <a:spcPts val="195"/>
                        </a:spcBef>
                        <a:buNone/>
                      </a:pPr>
                      <a:r>
                        <a:rPr lang="en-US" sz="1400" spc="-5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445448421"/>
                  </a:ext>
                </a:extLst>
              </a:tr>
              <a:tr h="254000">
                <a:tc>
                  <a:txBody>
                    <a:bodyPr/>
                    <a:lstStyle/>
                    <a:p>
                      <a:pPr marL="31750" algn="l">
                        <a:spcBef>
                          <a:spcPts val="195"/>
                        </a:spcBef>
                        <a:buNone/>
                      </a:pPr>
                      <a:r>
                        <a:rPr lang="en-US" sz="1400" spc="-20">
                          <a:effectLst/>
                          <a:latin typeface="Times New Roman" panose="02020603050405020304" pitchFamily="18" charset="0"/>
                          <a:cs typeface="Times New Roman" panose="02020603050405020304" pitchFamily="18" charset="0"/>
                        </a:rPr>
                        <a:t>2.d.</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47320" algn="l">
                        <a:spcBef>
                          <a:spcPts val="195"/>
                        </a:spcBef>
                        <a:buNone/>
                      </a:pP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spcBef>
                          <a:spcPts val="195"/>
                        </a:spcBef>
                        <a:buNone/>
                      </a:pPr>
                      <a:r>
                        <a:rPr lang="en-US" sz="1400" spc="-5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723142944"/>
                  </a:ext>
                </a:extLst>
              </a:tr>
              <a:tr h="254000">
                <a:tc>
                  <a:txBody>
                    <a:bodyPr/>
                    <a:lstStyle/>
                    <a:p>
                      <a:pPr marL="31750" algn="l">
                        <a:spcBef>
                          <a:spcPts val="195"/>
                        </a:spcBef>
                        <a:buNone/>
                      </a:pPr>
                      <a:r>
                        <a:rPr lang="en-US" sz="1400" spc="-20">
                          <a:effectLst/>
                          <a:latin typeface="Times New Roman" panose="02020603050405020304" pitchFamily="18" charset="0"/>
                          <a:cs typeface="Times New Roman" panose="02020603050405020304" pitchFamily="18" charset="0"/>
                        </a:rPr>
                        <a:t>2.e.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47320" algn="l">
                        <a:spcBef>
                          <a:spcPts val="195"/>
                        </a:spcBef>
                        <a:buNone/>
                      </a:pP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spcBef>
                          <a:spcPts val="195"/>
                        </a:spcBef>
                        <a:buNone/>
                      </a:pPr>
                      <a:r>
                        <a:rPr lang="en-US" sz="1400" spc="-5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235781174"/>
                  </a:ext>
                </a:extLst>
              </a:tr>
            </a:tbl>
          </a:graphicData>
        </a:graphic>
      </p:graphicFrame>
      <p:graphicFrame>
        <p:nvGraphicFramePr>
          <p:cNvPr id="6" name="Table 5">
            <a:extLst>
              <a:ext uri="{FF2B5EF4-FFF2-40B4-BE49-F238E27FC236}">
                <a16:creationId xmlns:a16="http://schemas.microsoft.com/office/drawing/2014/main" id="{484019DA-B67F-C65F-435F-658F2420787E}"/>
              </a:ext>
            </a:extLst>
          </p:cNvPr>
          <p:cNvGraphicFramePr>
            <a:graphicFrameLocks noGrp="1"/>
          </p:cNvGraphicFramePr>
          <p:nvPr>
            <p:extLst/>
          </p:nvPr>
        </p:nvGraphicFramePr>
        <p:xfrm>
          <a:off x="1091882" y="1276667"/>
          <a:ext cx="6928485" cy="3042920"/>
        </p:xfrm>
        <a:graphic>
          <a:graphicData uri="http://schemas.openxmlformats.org/drawingml/2006/table">
            <a:tbl>
              <a:tblPr firstRow="1" firstCol="1" lastRow="1" lastCol="1" bandRow="1" bandCol="1">
                <a:tableStyleId>{5940675A-B579-460E-94D1-54222C63F5DA}</a:tableStyleId>
              </a:tblPr>
              <a:tblGrid>
                <a:gridCol w="519430">
                  <a:extLst>
                    <a:ext uri="{9D8B030D-6E8A-4147-A177-3AD203B41FA5}">
                      <a16:colId xmlns:a16="http://schemas.microsoft.com/office/drawing/2014/main" val="3890871774"/>
                    </a:ext>
                  </a:extLst>
                </a:gridCol>
                <a:gridCol w="5672455">
                  <a:extLst>
                    <a:ext uri="{9D8B030D-6E8A-4147-A177-3AD203B41FA5}">
                      <a16:colId xmlns:a16="http://schemas.microsoft.com/office/drawing/2014/main" val="602193425"/>
                    </a:ext>
                  </a:extLst>
                </a:gridCol>
                <a:gridCol w="736600">
                  <a:extLst>
                    <a:ext uri="{9D8B030D-6E8A-4147-A177-3AD203B41FA5}">
                      <a16:colId xmlns:a16="http://schemas.microsoft.com/office/drawing/2014/main" val="3768997449"/>
                    </a:ext>
                  </a:extLst>
                </a:gridCol>
              </a:tblGrid>
              <a:tr h="221615">
                <a:tc gridSpan="2">
                  <a:txBody>
                    <a:bodyPr/>
                    <a:lstStyle/>
                    <a:p>
                      <a:pPr marL="31750">
                        <a:lnSpc>
                          <a:spcPts val="1495"/>
                        </a:lnSpc>
                        <a:spcBef>
                          <a:spcPts val="195"/>
                        </a:spcBef>
                        <a:buNone/>
                      </a:pPr>
                      <a:r>
                        <a:rPr lang="en-US" sz="1400" b="1" u="sng" dirty="0">
                          <a:effectLst/>
                          <a:latin typeface="Times New Roman" panose="02020603050405020304" pitchFamily="18" charset="0"/>
                          <a:cs typeface="Times New Roman" panose="02020603050405020304" pitchFamily="18" charset="0"/>
                        </a:rPr>
                        <a:t>SECTION-</a:t>
                      </a:r>
                      <a:r>
                        <a:rPr lang="en-US" sz="1400" b="1" u="sng" spc="-50" dirty="0">
                          <a:effectLst/>
                          <a:latin typeface="Times New Roman" panose="02020603050405020304" pitchFamily="18" charset="0"/>
                          <a:cs typeface="Times New Roman" panose="02020603050405020304" pitchFamily="18" charset="0"/>
                        </a:rPr>
                        <a:t>A</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R="31750" algn="ctr">
                        <a:lnSpc>
                          <a:spcPts val="1495"/>
                        </a:lnSpc>
                        <a:spcBef>
                          <a:spcPts val="195"/>
                        </a:spcBef>
                        <a:buNone/>
                      </a:pPr>
                      <a:r>
                        <a:rPr lang="en-US" sz="1400" spc="-25" dirty="0">
                          <a:effectLst/>
                          <a:latin typeface="Times New Roman" panose="02020603050405020304" pitchFamily="18" charset="0"/>
                          <a:cs typeface="Times New Roman" panose="02020603050405020304" pitchFamily="18" charset="0"/>
                        </a:rPr>
                        <a:t>20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119348942"/>
                  </a:ext>
                </a:extLst>
              </a:tr>
              <a:tr h="254000">
                <a:tc gridSpan="3">
                  <a:txBody>
                    <a:bodyPr/>
                    <a:lstStyle/>
                    <a:p>
                      <a:pPr marL="31750">
                        <a:spcBef>
                          <a:spcPts val="195"/>
                        </a:spcBef>
                        <a:buNone/>
                      </a:pPr>
                      <a:r>
                        <a:rPr lang="en-US" sz="1400" b="1" dirty="0">
                          <a:effectLst/>
                          <a:latin typeface="Times New Roman" panose="02020603050405020304" pitchFamily="18" charset="0"/>
                          <a:cs typeface="Times New Roman" panose="02020603050405020304" pitchFamily="18" charset="0"/>
                        </a:rPr>
                        <a:t>1. Attempt all </a:t>
                      </a:r>
                      <a:r>
                        <a:rPr lang="en-US" sz="1400" b="1" spc="-10" dirty="0">
                          <a:effectLst/>
                          <a:latin typeface="Times New Roman" panose="02020603050405020304" pitchFamily="18" charset="0"/>
                          <a:cs typeface="Times New Roman" panose="02020603050405020304" pitchFamily="18" charset="0"/>
                        </a:rPr>
                        <a:t>parts:-</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498972534"/>
                  </a:ext>
                </a:extLst>
              </a:tr>
              <a:tr h="254000">
                <a:tc>
                  <a:txBody>
                    <a:bodyPr/>
                    <a:lstStyle/>
                    <a:p>
                      <a:pPr marL="31750">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a.</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spcBef>
                          <a:spcPts val="195"/>
                        </a:spcBef>
                        <a:buNone/>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spcBef>
                          <a:spcPts val="195"/>
                        </a:spcBef>
                        <a:buNone/>
                      </a:pPr>
                      <a:r>
                        <a:rPr lang="en-US" sz="1400" spc="-5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457246836"/>
                  </a:ext>
                </a:extLst>
              </a:tr>
              <a:tr h="254000">
                <a:tc>
                  <a:txBody>
                    <a:bodyPr/>
                    <a:lstStyle/>
                    <a:p>
                      <a:pPr marL="31750">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b.</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spcBef>
                          <a:spcPts val="195"/>
                        </a:spcBef>
                        <a:buNone/>
                        <a:tabLst>
                          <a:tab pos="4114800"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189524670"/>
                  </a:ext>
                </a:extLst>
              </a:tr>
              <a:tr h="254000">
                <a:tc>
                  <a:txBody>
                    <a:bodyPr/>
                    <a:lstStyle/>
                    <a:p>
                      <a:pPr marL="31750">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c.</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spcBef>
                          <a:spcPts val="195"/>
                        </a:spcBef>
                        <a:buNone/>
                        <a:tabLst>
                          <a:tab pos="246443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783322370"/>
                  </a:ext>
                </a:extLst>
              </a:tr>
              <a:tr h="254000">
                <a:tc>
                  <a:txBody>
                    <a:bodyPr/>
                    <a:lstStyle/>
                    <a:p>
                      <a:pPr marL="31750">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d.</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spcBef>
                          <a:spcPts val="195"/>
                        </a:spcBef>
                        <a:buNone/>
                        <a:tabLst>
                          <a:tab pos="431609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537849570"/>
                  </a:ext>
                </a:extLst>
              </a:tr>
              <a:tr h="221615">
                <a:tc>
                  <a:txBody>
                    <a:bodyPr/>
                    <a:lstStyle/>
                    <a:p>
                      <a:pPr marL="31750">
                        <a:lnSpc>
                          <a:spcPts val="1450"/>
                        </a:lnSpc>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lnSpc>
                          <a:spcPts val="1450"/>
                        </a:lnSpc>
                        <a:spcBef>
                          <a:spcPts val="195"/>
                        </a:spcBef>
                        <a:buNone/>
                        <a:tabLst>
                          <a:tab pos="262445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lnSpc>
                          <a:spcPts val="1450"/>
                        </a:lnSpc>
                        <a:spcBef>
                          <a:spcPts val="195"/>
                        </a:spcBef>
                        <a:buNone/>
                      </a:pPr>
                      <a:r>
                        <a:rPr lang="en-US" sz="1400" spc="-5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502522153"/>
                  </a:ext>
                </a:extLst>
              </a:tr>
              <a:tr h="221615">
                <a:tc>
                  <a:txBody>
                    <a:bodyPr/>
                    <a:lstStyle/>
                    <a:p>
                      <a:pPr marL="31750">
                        <a:lnSpc>
                          <a:spcPts val="1450"/>
                        </a:lnSpc>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f.</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lnSpc>
                          <a:spcPts val="1450"/>
                        </a:lnSpc>
                        <a:spcBef>
                          <a:spcPts val="195"/>
                        </a:spcBef>
                        <a:buNone/>
                        <a:tabLst>
                          <a:tab pos="262445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lnSpc>
                          <a:spcPts val="1450"/>
                        </a:lnSpc>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911647596"/>
                  </a:ext>
                </a:extLst>
              </a:tr>
              <a:tr h="221615">
                <a:tc>
                  <a:txBody>
                    <a:bodyPr/>
                    <a:lstStyle/>
                    <a:p>
                      <a:pPr marL="31750">
                        <a:lnSpc>
                          <a:spcPts val="1450"/>
                        </a:lnSpc>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g.</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lnSpc>
                          <a:spcPts val="1450"/>
                        </a:lnSpc>
                        <a:spcBef>
                          <a:spcPts val="195"/>
                        </a:spcBef>
                        <a:buNone/>
                        <a:tabLst>
                          <a:tab pos="262445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lnSpc>
                          <a:spcPts val="1450"/>
                        </a:lnSpc>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683974600"/>
                  </a:ext>
                </a:extLst>
              </a:tr>
              <a:tr h="221615">
                <a:tc>
                  <a:txBody>
                    <a:bodyPr/>
                    <a:lstStyle/>
                    <a:p>
                      <a:pPr marL="31750">
                        <a:lnSpc>
                          <a:spcPts val="1450"/>
                        </a:lnSpc>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h.</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lnSpc>
                          <a:spcPts val="1450"/>
                        </a:lnSpc>
                        <a:spcBef>
                          <a:spcPts val="195"/>
                        </a:spcBef>
                        <a:buNone/>
                        <a:tabLst>
                          <a:tab pos="262445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lnSpc>
                          <a:spcPts val="1450"/>
                        </a:lnSpc>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205311819"/>
                  </a:ext>
                </a:extLst>
              </a:tr>
              <a:tr h="221615">
                <a:tc>
                  <a:txBody>
                    <a:bodyPr/>
                    <a:lstStyle/>
                    <a:p>
                      <a:pPr marL="31750">
                        <a:lnSpc>
                          <a:spcPts val="1450"/>
                        </a:lnSpc>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i.</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lnSpc>
                          <a:spcPts val="1450"/>
                        </a:lnSpc>
                        <a:spcBef>
                          <a:spcPts val="195"/>
                        </a:spcBef>
                        <a:buNone/>
                        <a:tabLst>
                          <a:tab pos="262445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lnSpc>
                          <a:spcPts val="1450"/>
                        </a:lnSpc>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527462619"/>
                  </a:ext>
                </a:extLst>
              </a:tr>
              <a:tr h="221615">
                <a:tc>
                  <a:txBody>
                    <a:bodyPr/>
                    <a:lstStyle/>
                    <a:p>
                      <a:pPr marL="31750">
                        <a:lnSpc>
                          <a:spcPts val="1450"/>
                        </a:lnSpc>
                        <a:spcBef>
                          <a:spcPts val="195"/>
                        </a:spcBef>
                        <a:buNone/>
                      </a:pPr>
                      <a:r>
                        <a:rPr lang="en-US" sz="1400">
                          <a:effectLst/>
                          <a:latin typeface="Times New Roman" panose="02020603050405020304" pitchFamily="18" charset="0"/>
                          <a:cs typeface="Times New Roman" panose="02020603050405020304" pitchFamily="18" charset="0"/>
                        </a:rPr>
                        <a:t>1-</a:t>
                      </a:r>
                      <a:r>
                        <a:rPr lang="en-US" sz="1400" spc="-25">
                          <a:effectLst/>
                          <a:latin typeface="Times New Roman" panose="02020603050405020304" pitchFamily="18" charset="0"/>
                          <a:cs typeface="Times New Roman" panose="02020603050405020304" pitchFamily="18" charset="0"/>
                        </a:rPr>
                        <a:t>j.</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lnSpc>
                          <a:spcPts val="1450"/>
                        </a:lnSpc>
                        <a:spcBef>
                          <a:spcPts val="195"/>
                        </a:spcBef>
                        <a:buNone/>
                        <a:tabLst>
                          <a:tab pos="262445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lnSpc>
                          <a:spcPts val="1450"/>
                        </a:lnSpc>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147048183"/>
                  </a:ext>
                </a:extLst>
              </a:tr>
              <a:tr h="221615">
                <a:tc>
                  <a:txBody>
                    <a:bodyPr/>
                    <a:lstStyle/>
                    <a:p>
                      <a:pPr marL="31750">
                        <a:lnSpc>
                          <a:spcPts val="1450"/>
                        </a:lnSpc>
                        <a:spcBef>
                          <a:spcPts val="195"/>
                        </a:spcBef>
                        <a:buNone/>
                      </a:pPr>
                      <a:r>
                        <a:rPr lang="en-US" sz="1400" dirty="0">
                          <a:effectLst/>
                          <a:latin typeface="Times New Roman" panose="02020603050405020304" pitchFamily="18" charset="0"/>
                          <a:cs typeface="Times New Roman" panose="02020603050405020304" pitchFamily="18" charset="0"/>
                        </a:rPr>
                        <a:t>1-</a:t>
                      </a:r>
                      <a:r>
                        <a:rPr lang="en-US" sz="1400" spc="-25" dirty="0">
                          <a:effectLst/>
                          <a:latin typeface="Times New Roman" panose="02020603050405020304" pitchFamily="18" charset="0"/>
                          <a:cs typeface="Times New Roman" panose="02020603050405020304" pitchFamily="18" charset="0"/>
                        </a:rPr>
                        <a:t>f.</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a:lnSpc>
                          <a:spcPts val="1450"/>
                        </a:lnSpc>
                        <a:spcBef>
                          <a:spcPts val="195"/>
                        </a:spcBef>
                        <a:buNone/>
                        <a:tabLst>
                          <a:tab pos="2624455" algn="l"/>
                        </a:tabLst>
                      </a:pPr>
                      <a:r>
                        <a:rPr lang="en-US" sz="1400" dirty="0">
                          <a:effectLst/>
                          <a:latin typeface="Times New Roman" panose="02020603050405020304" pitchFamily="18" charset="0"/>
                          <a:cs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31750" algn="ctr">
                        <a:lnSpc>
                          <a:spcPts val="1450"/>
                        </a:lnSpc>
                        <a:spcBef>
                          <a:spcPts val="195"/>
                        </a:spcBef>
                        <a:buNone/>
                      </a:pPr>
                      <a:r>
                        <a:rPr lang="en-US" sz="1400" spc="-5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048269570"/>
                  </a:ext>
                </a:extLst>
              </a:tr>
            </a:tbl>
          </a:graphicData>
        </a:graphic>
      </p:graphicFrame>
      <p:grpSp>
        <p:nvGrpSpPr>
          <p:cNvPr id="8" name="Group 7">
            <a:extLst>
              <a:ext uri="{FF2B5EF4-FFF2-40B4-BE49-F238E27FC236}">
                <a16:creationId xmlns:a16="http://schemas.microsoft.com/office/drawing/2014/main" id="{6D6894BB-DC08-41E3-2695-A7CEE748586A}"/>
              </a:ext>
            </a:extLst>
          </p:cNvPr>
          <p:cNvGrpSpPr>
            <a:grpSpLocks/>
          </p:cNvGrpSpPr>
          <p:nvPr/>
        </p:nvGrpSpPr>
        <p:grpSpPr>
          <a:xfrm>
            <a:off x="1108075" y="2341563"/>
            <a:ext cx="28575" cy="234950"/>
            <a:chOff x="0" y="0"/>
            <a:chExt cx="28575" cy="235585"/>
          </a:xfrm>
        </p:grpSpPr>
        <p:sp>
          <p:nvSpPr>
            <p:cNvPr id="9" name="Graphic 5">
              <a:extLst>
                <a:ext uri="{FF2B5EF4-FFF2-40B4-BE49-F238E27FC236}">
                  <a16:creationId xmlns:a16="http://schemas.microsoft.com/office/drawing/2014/main" id="{E46389DB-346C-F02C-B8DC-BBC55F942A8D}"/>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10" name="Group 9">
            <a:extLst>
              <a:ext uri="{FF2B5EF4-FFF2-40B4-BE49-F238E27FC236}">
                <a16:creationId xmlns:a16="http://schemas.microsoft.com/office/drawing/2014/main" id="{E227B635-1BF6-2ED2-2F92-EF2BDC59AA79}"/>
              </a:ext>
            </a:extLst>
          </p:cNvPr>
          <p:cNvGrpSpPr>
            <a:grpSpLocks/>
          </p:cNvGrpSpPr>
          <p:nvPr/>
        </p:nvGrpSpPr>
        <p:grpSpPr>
          <a:xfrm>
            <a:off x="1108075" y="2341563"/>
            <a:ext cx="28575" cy="234950"/>
            <a:chOff x="0" y="0"/>
            <a:chExt cx="28575" cy="235585"/>
          </a:xfrm>
        </p:grpSpPr>
        <p:sp>
          <p:nvSpPr>
            <p:cNvPr id="15" name="Graphic 7">
              <a:extLst>
                <a:ext uri="{FF2B5EF4-FFF2-40B4-BE49-F238E27FC236}">
                  <a16:creationId xmlns:a16="http://schemas.microsoft.com/office/drawing/2014/main" id="{BD83A156-5322-7FE8-DB13-02395E04A9F6}"/>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16" name="Group 15">
            <a:extLst>
              <a:ext uri="{FF2B5EF4-FFF2-40B4-BE49-F238E27FC236}">
                <a16:creationId xmlns:a16="http://schemas.microsoft.com/office/drawing/2014/main" id="{89AB4B5D-7F46-7854-9BD7-E982F1B2A8CC}"/>
              </a:ext>
            </a:extLst>
          </p:cNvPr>
          <p:cNvGrpSpPr>
            <a:grpSpLocks/>
          </p:cNvGrpSpPr>
          <p:nvPr/>
        </p:nvGrpSpPr>
        <p:grpSpPr>
          <a:xfrm>
            <a:off x="1108075" y="2341563"/>
            <a:ext cx="28575" cy="234950"/>
            <a:chOff x="0" y="0"/>
            <a:chExt cx="28575" cy="235585"/>
          </a:xfrm>
        </p:grpSpPr>
        <p:sp>
          <p:nvSpPr>
            <p:cNvPr id="17" name="Graphic 9">
              <a:extLst>
                <a:ext uri="{FF2B5EF4-FFF2-40B4-BE49-F238E27FC236}">
                  <a16:creationId xmlns:a16="http://schemas.microsoft.com/office/drawing/2014/main" id="{6E5363FB-EB9E-930A-6FBA-FBA45F118B88}"/>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18" name="Group 17">
            <a:extLst>
              <a:ext uri="{FF2B5EF4-FFF2-40B4-BE49-F238E27FC236}">
                <a16:creationId xmlns:a16="http://schemas.microsoft.com/office/drawing/2014/main" id="{6A990F16-72CE-90E1-C270-A24A76B5D446}"/>
              </a:ext>
            </a:extLst>
          </p:cNvPr>
          <p:cNvGrpSpPr>
            <a:grpSpLocks/>
          </p:cNvGrpSpPr>
          <p:nvPr/>
        </p:nvGrpSpPr>
        <p:grpSpPr>
          <a:xfrm>
            <a:off x="1108075" y="2341563"/>
            <a:ext cx="28575" cy="234950"/>
            <a:chOff x="0" y="0"/>
            <a:chExt cx="28575" cy="235585"/>
          </a:xfrm>
        </p:grpSpPr>
        <p:sp>
          <p:nvSpPr>
            <p:cNvPr id="19" name="Graphic 11">
              <a:extLst>
                <a:ext uri="{FF2B5EF4-FFF2-40B4-BE49-F238E27FC236}">
                  <a16:creationId xmlns:a16="http://schemas.microsoft.com/office/drawing/2014/main" id="{2D6A278F-1A0C-1AF4-B635-06CBD4A3E14B}"/>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20" name="Group 19">
            <a:extLst>
              <a:ext uri="{FF2B5EF4-FFF2-40B4-BE49-F238E27FC236}">
                <a16:creationId xmlns:a16="http://schemas.microsoft.com/office/drawing/2014/main" id="{480628E8-CCA2-F862-129D-9794B408AB7D}"/>
              </a:ext>
            </a:extLst>
          </p:cNvPr>
          <p:cNvGrpSpPr>
            <a:grpSpLocks/>
          </p:cNvGrpSpPr>
          <p:nvPr/>
        </p:nvGrpSpPr>
        <p:grpSpPr>
          <a:xfrm>
            <a:off x="1108075" y="2341563"/>
            <a:ext cx="28575" cy="234950"/>
            <a:chOff x="0" y="0"/>
            <a:chExt cx="28575" cy="235585"/>
          </a:xfrm>
        </p:grpSpPr>
        <p:sp>
          <p:nvSpPr>
            <p:cNvPr id="21" name="Graphic 13">
              <a:extLst>
                <a:ext uri="{FF2B5EF4-FFF2-40B4-BE49-F238E27FC236}">
                  <a16:creationId xmlns:a16="http://schemas.microsoft.com/office/drawing/2014/main" id="{642781D0-07EB-10A3-2C96-1644ED0BDE03}"/>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22" name="Group 21">
            <a:extLst>
              <a:ext uri="{FF2B5EF4-FFF2-40B4-BE49-F238E27FC236}">
                <a16:creationId xmlns:a16="http://schemas.microsoft.com/office/drawing/2014/main" id="{47D1DB4D-F5F6-6FD2-2C1B-AFB00EF6B2CD}"/>
              </a:ext>
            </a:extLst>
          </p:cNvPr>
          <p:cNvGrpSpPr>
            <a:grpSpLocks/>
          </p:cNvGrpSpPr>
          <p:nvPr/>
        </p:nvGrpSpPr>
        <p:grpSpPr>
          <a:xfrm>
            <a:off x="1108075" y="2341563"/>
            <a:ext cx="28575" cy="234950"/>
            <a:chOff x="0" y="0"/>
            <a:chExt cx="28575" cy="235585"/>
          </a:xfrm>
        </p:grpSpPr>
        <p:sp>
          <p:nvSpPr>
            <p:cNvPr id="23" name="Graphic 15">
              <a:extLst>
                <a:ext uri="{FF2B5EF4-FFF2-40B4-BE49-F238E27FC236}">
                  <a16:creationId xmlns:a16="http://schemas.microsoft.com/office/drawing/2014/main" id="{FC98B3FE-04CC-2114-7052-04DCD1B041C0}"/>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24" name="Group 23">
            <a:extLst>
              <a:ext uri="{FF2B5EF4-FFF2-40B4-BE49-F238E27FC236}">
                <a16:creationId xmlns:a16="http://schemas.microsoft.com/office/drawing/2014/main" id="{A5A9A9CA-9553-88F2-4F9A-BD795D679CFA}"/>
              </a:ext>
            </a:extLst>
          </p:cNvPr>
          <p:cNvGrpSpPr>
            <a:grpSpLocks/>
          </p:cNvGrpSpPr>
          <p:nvPr/>
        </p:nvGrpSpPr>
        <p:grpSpPr>
          <a:xfrm>
            <a:off x="1108075" y="2341563"/>
            <a:ext cx="28575" cy="234950"/>
            <a:chOff x="0" y="0"/>
            <a:chExt cx="28575" cy="235585"/>
          </a:xfrm>
        </p:grpSpPr>
        <p:sp>
          <p:nvSpPr>
            <p:cNvPr id="25" name="Graphic 17">
              <a:extLst>
                <a:ext uri="{FF2B5EF4-FFF2-40B4-BE49-F238E27FC236}">
                  <a16:creationId xmlns:a16="http://schemas.microsoft.com/office/drawing/2014/main" id="{6983035F-C178-8668-3BD3-A0C33BC0CA70}"/>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26" name="Group 25">
            <a:extLst>
              <a:ext uri="{FF2B5EF4-FFF2-40B4-BE49-F238E27FC236}">
                <a16:creationId xmlns:a16="http://schemas.microsoft.com/office/drawing/2014/main" id="{3A2D457D-70AF-D462-7674-DDDE041CFCEB}"/>
              </a:ext>
            </a:extLst>
          </p:cNvPr>
          <p:cNvGrpSpPr>
            <a:grpSpLocks/>
          </p:cNvGrpSpPr>
          <p:nvPr/>
        </p:nvGrpSpPr>
        <p:grpSpPr>
          <a:xfrm>
            <a:off x="1108075" y="2341563"/>
            <a:ext cx="28575" cy="234950"/>
            <a:chOff x="0" y="0"/>
            <a:chExt cx="28575" cy="235585"/>
          </a:xfrm>
        </p:grpSpPr>
        <p:sp>
          <p:nvSpPr>
            <p:cNvPr id="27" name="Graphic 19">
              <a:extLst>
                <a:ext uri="{FF2B5EF4-FFF2-40B4-BE49-F238E27FC236}">
                  <a16:creationId xmlns:a16="http://schemas.microsoft.com/office/drawing/2014/main" id="{6331D1AB-097A-8CB0-94B2-3B49E7CFE045}"/>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28" name="Group 27">
            <a:extLst>
              <a:ext uri="{FF2B5EF4-FFF2-40B4-BE49-F238E27FC236}">
                <a16:creationId xmlns:a16="http://schemas.microsoft.com/office/drawing/2014/main" id="{3ECD8669-7F24-E7C3-87CA-1740C13659E4}"/>
              </a:ext>
            </a:extLst>
          </p:cNvPr>
          <p:cNvGrpSpPr>
            <a:grpSpLocks/>
          </p:cNvGrpSpPr>
          <p:nvPr/>
        </p:nvGrpSpPr>
        <p:grpSpPr>
          <a:xfrm>
            <a:off x="1108075" y="2341563"/>
            <a:ext cx="28575" cy="234950"/>
            <a:chOff x="0" y="0"/>
            <a:chExt cx="28575" cy="235585"/>
          </a:xfrm>
        </p:grpSpPr>
        <p:sp>
          <p:nvSpPr>
            <p:cNvPr id="29" name="Graphic 21">
              <a:extLst>
                <a:ext uri="{FF2B5EF4-FFF2-40B4-BE49-F238E27FC236}">
                  <a16:creationId xmlns:a16="http://schemas.microsoft.com/office/drawing/2014/main" id="{AA011775-AB2F-576F-5B5D-7659B93DBD5F}"/>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30" name="Group 29">
            <a:extLst>
              <a:ext uri="{FF2B5EF4-FFF2-40B4-BE49-F238E27FC236}">
                <a16:creationId xmlns:a16="http://schemas.microsoft.com/office/drawing/2014/main" id="{F32F16BA-D9B3-E47B-CD44-29B94E1610DE}"/>
              </a:ext>
            </a:extLst>
          </p:cNvPr>
          <p:cNvGrpSpPr>
            <a:grpSpLocks/>
          </p:cNvGrpSpPr>
          <p:nvPr/>
        </p:nvGrpSpPr>
        <p:grpSpPr>
          <a:xfrm>
            <a:off x="1108075" y="2341563"/>
            <a:ext cx="28575" cy="234950"/>
            <a:chOff x="0" y="0"/>
            <a:chExt cx="28575" cy="235585"/>
          </a:xfrm>
        </p:grpSpPr>
        <p:sp>
          <p:nvSpPr>
            <p:cNvPr id="31" name="Graphic 23">
              <a:extLst>
                <a:ext uri="{FF2B5EF4-FFF2-40B4-BE49-F238E27FC236}">
                  <a16:creationId xmlns:a16="http://schemas.microsoft.com/office/drawing/2014/main" id="{9BB36948-1625-44F3-C94C-9F15F2E0441C}"/>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grpSp>
        <p:nvGrpSpPr>
          <p:cNvPr id="32" name="Group 31">
            <a:extLst>
              <a:ext uri="{FF2B5EF4-FFF2-40B4-BE49-F238E27FC236}">
                <a16:creationId xmlns:a16="http://schemas.microsoft.com/office/drawing/2014/main" id="{3B4B141D-460E-94C0-1F9B-9FE772C26E9A}"/>
              </a:ext>
            </a:extLst>
          </p:cNvPr>
          <p:cNvGrpSpPr>
            <a:grpSpLocks/>
          </p:cNvGrpSpPr>
          <p:nvPr/>
        </p:nvGrpSpPr>
        <p:grpSpPr>
          <a:xfrm>
            <a:off x="1108075" y="2341563"/>
            <a:ext cx="28575" cy="234950"/>
            <a:chOff x="0" y="0"/>
            <a:chExt cx="28575" cy="235585"/>
          </a:xfrm>
        </p:grpSpPr>
        <p:sp>
          <p:nvSpPr>
            <p:cNvPr id="33" name="Graphic 25">
              <a:extLst>
                <a:ext uri="{FF2B5EF4-FFF2-40B4-BE49-F238E27FC236}">
                  <a16:creationId xmlns:a16="http://schemas.microsoft.com/office/drawing/2014/main" id="{81EC54CE-149B-C032-49BC-DA71AD304E19}"/>
                </a:ext>
              </a:extLst>
            </p:cNvPr>
            <p:cNvSpPr/>
            <p:nvPr/>
          </p:nvSpPr>
          <p:spPr>
            <a:xfrm>
              <a:off x="0" y="0"/>
              <a:ext cx="28575" cy="235585"/>
            </a:xfrm>
            <a:custGeom>
              <a:avLst/>
              <a:gdLst/>
              <a:ahLst/>
              <a:cxnLst/>
              <a:rect l="l" t="t" r="r" b="b"/>
              <a:pathLst>
                <a:path w="28575" h="235585">
                  <a:moveTo>
                    <a:pt x="9525" y="0"/>
                  </a:moveTo>
                  <a:lnTo>
                    <a:pt x="0" y="9525"/>
                  </a:lnTo>
                  <a:lnTo>
                    <a:pt x="0" y="225806"/>
                  </a:lnTo>
                  <a:lnTo>
                    <a:pt x="9525" y="235331"/>
                  </a:lnTo>
                  <a:lnTo>
                    <a:pt x="9525" y="0"/>
                  </a:lnTo>
                  <a:close/>
                </a:path>
                <a:path w="28575" h="235585">
                  <a:moveTo>
                    <a:pt x="28575" y="9525"/>
                  </a:moveTo>
                  <a:lnTo>
                    <a:pt x="19050" y="0"/>
                  </a:lnTo>
                  <a:lnTo>
                    <a:pt x="19050" y="235331"/>
                  </a:lnTo>
                  <a:lnTo>
                    <a:pt x="28575" y="225806"/>
                  </a:lnTo>
                  <a:lnTo>
                    <a:pt x="28575" y="9525"/>
                  </a:lnTo>
                  <a:close/>
                </a:path>
              </a:pathLst>
            </a:custGeom>
            <a:solidFill>
              <a:srgbClr val="000000"/>
            </a:solidFill>
          </p:spPr>
          <p:txBody>
            <a:bodyPr wrap="square" lIns="0" tIns="0" rIns="0" bIns="0" rtlCol="0">
              <a:prstTxWarp prst="textNoShape">
                <a:avLst/>
              </a:prstTxWarp>
              <a:noAutofit/>
            </a:bodyPr>
            <a:lstStyle/>
            <a:p>
              <a:endParaRPr lang="en-IN"/>
            </a:p>
          </p:txBody>
        </p:sp>
      </p:grpSp>
      <p:sp>
        <p:nvSpPr>
          <p:cNvPr id="41" name="Rectangle 32">
            <a:extLst>
              <a:ext uri="{FF2B5EF4-FFF2-40B4-BE49-F238E27FC236}">
                <a16:creationId xmlns:a16="http://schemas.microsoft.com/office/drawing/2014/main" id="{F577132D-7846-A7FD-CF66-8EB20D3E0CC8}"/>
              </a:ext>
            </a:extLst>
          </p:cNvPr>
          <p:cNvSpPr>
            <a:spLocks noChangeArrowheads="1"/>
          </p:cNvSpPr>
          <p:nvPr/>
        </p:nvSpPr>
        <p:spPr bwMode="auto">
          <a:xfrm>
            <a:off x="1108075" y="2801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2" name="Rectangle 33">
            <a:extLst>
              <a:ext uri="{FF2B5EF4-FFF2-40B4-BE49-F238E27FC236}">
                <a16:creationId xmlns:a16="http://schemas.microsoft.com/office/drawing/2014/main" id="{74C22053-7A67-343D-0C88-D20AE5C24015}"/>
              </a:ext>
            </a:extLst>
          </p:cNvPr>
          <p:cNvSpPr>
            <a:spLocks noChangeArrowheads="1"/>
          </p:cNvSpPr>
          <p:nvPr/>
        </p:nvSpPr>
        <p:spPr bwMode="auto">
          <a:xfrm>
            <a:off x="1108075" y="27987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Footer Placeholder 1"/>
          <p:cNvSpPr>
            <a:spLocks noGrp="1"/>
          </p:cNvSpPr>
          <p:nvPr>
            <p:ph type="ftr" sz="quarter" idx="11"/>
          </p:nvPr>
        </p:nvSpPr>
        <p:spPr/>
        <p:txBody>
          <a:bodyPr/>
          <a:lstStyle/>
          <a:p>
            <a:r>
              <a:rPr lang="en-US" smtClean="0"/>
              <a:t>Vivek Kumart Sharma                BCSE0404X(TOC)                     Unit III</a:t>
            </a:r>
            <a:endParaRPr lang="en-US" dirty="0"/>
          </a:p>
        </p:txBody>
      </p:sp>
    </p:spTree>
    <p:extLst>
      <p:ext uri="{BB962C8B-B14F-4D97-AF65-F5344CB8AC3E}">
        <p14:creationId xmlns:p14="http://schemas.microsoft.com/office/powerpoint/2010/main" val="1909966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0" name="Date Placeholder 3"/>
          <p:cNvSpPr>
            <a:spLocks noGrp="1"/>
          </p:cNvSpPr>
          <p:nvPr>
            <p:ph type="dt" sz="quarter" idx="11"/>
          </p:nvPr>
        </p:nvSpPr>
        <p:spPr>
          <a:xfrm>
            <a:off x="-76200" y="6327813"/>
            <a:ext cx="2895600" cy="317500"/>
          </a:xfrm>
          <a:noFill/>
        </p:spPr>
        <p:txBody>
          <a:bodyPr/>
          <a:lstStyle>
            <a:lvl1pPr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646069" indent="-248488"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993953"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391534"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1789115"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186696"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584277"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2981858"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379440"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46EE3548-E97C-43A4-ABA3-0A995B8E8A6D}" type="datetime1">
              <a:rPr lang="en-US" altLang="en-US" sz="1044" smtClean="0">
                <a:solidFill>
                  <a:srgbClr val="888888"/>
                </a:solidFill>
                <a:latin typeface="Calibri" panose="020F0502020204030204" pitchFamily="34" charset="0"/>
                <a:sym typeface="Calibri" panose="020F0502020204030204" pitchFamily="34" charset="0"/>
              </a:rPr>
              <a:t>4/10/2026</a:t>
            </a:fld>
            <a:endParaRPr lang="en-US" altLang="en-US" sz="1044" dirty="0">
              <a:solidFill>
                <a:srgbClr val="888888"/>
              </a:solidFill>
              <a:latin typeface="Calibri" panose="020F0502020204030204" pitchFamily="34" charset="0"/>
              <a:sym typeface="Calibri" panose="020F0502020204030204" pitchFamily="34" charset="0"/>
            </a:endParaRPr>
          </a:p>
        </p:txBody>
      </p:sp>
      <p:sp>
        <p:nvSpPr>
          <p:cNvPr id="1048751" name="Title 1"/>
          <p:cNvSpPr txBox="1"/>
          <p:nvPr/>
        </p:nvSpPr>
        <p:spPr>
          <a:xfrm>
            <a:off x="1371600" y="0"/>
            <a:ext cx="7772400" cy="726109"/>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r>
              <a:rPr lang="en-IN" sz="2400" b="1" dirty="0">
                <a:latin typeface="Times New Roman" panose="02020603050405020304" pitchFamily="18" charset="0"/>
                <a:cs typeface="Times New Roman" panose="02020603050405020304" pitchFamily="18" charset="0"/>
                <a:sym typeface="Arial" charset="0"/>
              </a:rPr>
              <a:t>End Semester Question Paper Templates </a:t>
            </a:r>
            <a:endParaRPr lang="en-US" sz="2400" b="1" dirty="0">
              <a:latin typeface="Times New Roman" panose="02020603050405020304" pitchFamily="18" charset="0"/>
              <a:cs typeface="Times New Roman" panose="02020603050405020304" pitchFamily="18" charset="0"/>
              <a:sym typeface="Arial" charset="0"/>
            </a:endParaRPr>
          </a:p>
        </p:txBody>
      </p:sp>
      <p:sp>
        <p:nvSpPr>
          <p:cNvPr id="1048752" name="Rectangle 2"/>
          <p:cNvSpPr>
            <a:spLocks noChangeArrowheads="1"/>
          </p:cNvSpPr>
          <p:nvPr/>
        </p:nvSpPr>
        <p:spPr bwMode="auto">
          <a:xfrm>
            <a:off x="0" y="318935"/>
            <a:ext cx="184731" cy="654218"/>
          </a:xfrm>
          <a:prstGeom prst="rect">
            <a:avLst/>
          </a:prstGeom>
          <a:noFill/>
          <a:ln>
            <a:noFill/>
          </a:ln>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217"/>
              <a:t/>
            </a:r>
            <a:br>
              <a:rPr lang="en-US" altLang="en-US" sz="1217"/>
            </a:br>
            <a:endParaRPr lang="en-US" altLang="en-US" sz="1217"/>
          </a:p>
          <a:p>
            <a:pPr eaLnBrk="1" hangingPunct="1"/>
            <a:endParaRPr lang="en-US" altLang="en-US" sz="1217"/>
          </a:p>
        </p:txBody>
      </p:sp>
      <p:sp>
        <p:nvSpPr>
          <p:cNvPr id="1048754" name="Slide Number Placeholder 12"/>
          <p:cNvSpPr>
            <a:spLocks noGrp="1"/>
          </p:cNvSpPr>
          <p:nvPr>
            <p:ph type="sldNum" sz="quarter" idx="4294967295"/>
          </p:nvPr>
        </p:nvSpPr>
        <p:spPr bwMode="auto">
          <a:xfrm>
            <a:off x="6629400" y="6324600"/>
            <a:ext cx="2133600" cy="317500"/>
          </a:xfrm>
          <a:prstGeom prst="rect">
            <a:avLst/>
          </a:prstGeom>
          <a:noFill/>
          <a:ln w="9525">
            <a:noFill/>
            <a:miter lim="800000"/>
            <a:headEnd/>
            <a:tailEnd/>
          </a:ln>
        </p:spPr>
        <p:txBody>
          <a:bodyPr vert="horz" wrap="square" lIns="79500" tIns="39739" rIns="79500" bIns="39739" numCol="1" rtlCol="0"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044"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397581"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795162"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192743"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590324"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1987906"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385487"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2783068"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180649"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16</a:t>
            </a:fld>
            <a:endParaRPr lang="en-US" altLang="en-US" dirty="0"/>
          </a:p>
        </p:txBody>
      </p:sp>
      <p:pic>
        <p:nvPicPr>
          <p:cNvPr id="12" name="Picture 15"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12"/>
          <p:cNvSpPr txBox="1">
            <a:spLocks/>
          </p:cNvSpPr>
          <p:nvPr/>
        </p:nvSpPr>
        <p:spPr>
          <a:xfrm>
            <a:off x="1905000" y="6324600"/>
            <a:ext cx="5410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Ankur Kumar Varshney                 BCSE0404X(TOC)                     Unit III</a:t>
            </a:r>
          </a:p>
        </p:txBody>
      </p:sp>
      <p:graphicFrame>
        <p:nvGraphicFramePr>
          <p:cNvPr id="2" name="Table 1">
            <a:extLst>
              <a:ext uri="{FF2B5EF4-FFF2-40B4-BE49-F238E27FC236}">
                <a16:creationId xmlns:a16="http://schemas.microsoft.com/office/drawing/2014/main" id="{C213F6B8-0B10-1754-F5CA-FF924BB5E73B}"/>
              </a:ext>
            </a:extLst>
          </p:cNvPr>
          <p:cNvGraphicFramePr>
            <a:graphicFrameLocks noGrp="1"/>
          </p:cNvGraphicFramePr>
          <p:nvPr>
            <p:extLst/>
          </p:nvPr>
        </p:nvGraphicFramePr>
        <p:xfrm>
          <a:off x="609600" y="1219200"/>
          <a:ext cx="8001001" cy="4606766"/>
        </p:xfrm>
        <a:graphic>
          <a:graphicData uri="http://schemas.openxmlformats.org/drawingml/2006/table">
            <a:tbl>
              <a:tblPr firstRow="1" firstCol="1" lastRow="1" lastCol="1" bandRow="1" bandCol="1">
                <a:tableStyleId>{5940675A-B579-460E-94D1-54222C63F5DA}</a:tableStyleId>
              </a:tblPr>
              <a:tblGrid>
                <a:gridCol w="712227">
                  <a:extLst>
                    <a:ext uri="{9D8B030D-6E8A-4147-A177-3AD203B41FA5}">
                      <a16:colId xmlns:a16="http://schemas.microsoft.com/office/drawing/2014/main" val="2689782083"/>
                    </a:ext>
                  </a:extLst>
                </a:gridCol>
                <a:gridCol w="6936694">
                  <a:extLst>
                    <a:ext uri="{9D8B030D-6E8A-4147-A177-3AD203B41FA5}">
                      <a16:colId xmlns:a16="http://schemas.microsoft.com/office/drawing/2014/main" val="2032571698"/>
                    </a:ext>
                  </a:extLst>
                </a:gridCol>
                <a:gridCol w="352080">
                  <a:extLst>
                    <a:ext uri="{9D8B030D-6E8A-4147-A177-3AD203B41FA5}">
                      <a16:colId xmlns:a16="http://schemas.microsoft.com/office/drawing/2014/main" val="1664607224"/>
                    </a:ext>
                  </a:extLst>
                </a:gridCol>
              </a:tblGrid>
              <a:tr h="261136">
                <a:tc gridSpan="2">
                  <a:txBody>
                    <a:bodyPr/>
                    <a:lstStyle/>
                    <a:p>
                      <a:pPr algn="l">
                        <a:lnSpc>
                          <a:spcPts val="1495"/>
                        </a:lnSpc>
                        <a:spcBef>
                          <a:spcPts val="195"/>
                        </a:spcBef>
                        <a:buNone/>
                      </a:pPr>
                      <a:r>
                        <a:rPr lang="en-US" sz="1400" b="1" u="sng" kern="100" dirty="0">
                          <a:effectLst/>
                          <a:latin typeface="Times New Roman" panose="02020603050405020304" pitchFamily="18" charset="0"/>
                          <a:cs typeface="Times New Roman" panose="02020603050405020304" pitchFamily="18" charset="0"/>
                        </a:rPr>
                        <a:t>SECTION-</a:t>
                      </a:r>
                      <a:r>
                        <a:rPr lang="en-US" sz="1400" b="1" u="sng" kern="100" spc="-50" dirty="0">
                          <a:effectLst/>
                          <a:latin typeface="Times New Roman" panose="02020603050405020304" pitchFamily="18" charset="0"/>
                          <a:cs typeface="Times New Roman" panose="02020603050405020304" pitchFamily="18" charset="0"/>
                        </a:rPr>
                        <a:t>B</a:t>
                      </a:r>
                      <a:endParaRPr lang="en-IN" sz="14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R="29845" algn="r">
                        <a:lnSpc>
                          <a:spcPts val="1495"/>
                        </a:lnSpc>
                        <a:spcBef>
                          <a:spcPts val="195"/>
                        </a:spcBef>
                        <a:buNone/>
                      </a:pPr>
                      <a:r>
                        <a:rPr lang="en-US" sz="1400" kern="100" spc="-50">
                          <a:effectLst/>
                          <a:latin typeface="Times New Roman" panose="02020603050405020304" pitchFamily="18" charset="0"/>
                          <a:cs typeface="Times New Roman" panose="02020603050405020304" pitchFamily="18" charset="0"/>
                        </a:rPr>
                        <a:t>30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815479008"/>
                  </a:ext>
                </a:extLst>
              </a:tr>
              <a:tr h="261136">
                <a:tc gridSpan="2">
                  <a:txBody>
                    <a:bodyPr/>
                    <a:lstStyle/>
                    <a:p>
                      <a:pPr algn="l">
                        <a:lnSpc>
                          <a:spcPts val="1495"/>
                        </a:lnSpc>
                        <a:spcBef>
                          <a:spcPts val="195"/>
                        </a:spcBef>
                        <a:buNone/>
                      </a:pPr>
                      <a:r>
                        <a:rPr lang="en-US" sz="1400" kern="100" dirty="0">
                          <a:effectLst/>
                          <a:latin typeface="Times New Roman" panose="02020603050405020304" pitchFamily="18" charset="0"/>
                          <a:cs typeface="Times New Roman" panose="02020603050405020304" pitchFamily="18" charset="0"/>
                        </a:rPr>
                        <a:t>3. Attempt all parts: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R="29845" algn="r">
                        <a:lnSpc>
                          <a:spcPts val="1495"/>
                        </a:lnSpc>
                        <a:spcBef>
                          <a:spcPts val="195"/>
                        </a:spcBef>
                        <a:buNone/>
                      </a:pPr>
                      <a:r>
                        <a:rPr lang="en-US" sz="1400" kern="100" spc="-5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961842734"/>
                  </a:ext>
                </a:extLst>
              </a:tr>
              <a:tr h="261136">
                <a:tc gridSpan="2">
                  <a:txBody>
                    <a:bodyPr/>
                    <a:lstStyle/>
                    <a:p>
                      <a:pPr algn="l">
                        <a:lnSpc>
                          <a:spcPts val="1495"/>
                        </a:lnSpc>
                        <a:spcBef>
                          <a:spcPts val="195"/>
                        </a:spcBef>
                        <a:buNone/>
                      </a:pPr>
                      <a:r>
                        <a:rPr lang="en-US" sz="1400" kern="100" dirty="0">
                          <a:effectLst/>
                          <a:latin typeface="Times New Roman" panose="02020603050405020304" pitchFamily="18" charset="0"/>
                          <a:cs typeface="Times New Roman" panose="02020603050405020304" pitchFamily="18" charset="0"/>
                        </a:rPr>
                        <a:t>3.a. Answer any one of the 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R="29845" algn="r">
                        <a:lnSpc>
                          <a:spcPts val="1495"/>
                        </a:lnSpc>
                        <a:spcBef>
                          <a:spcPts val="195"/>
                        </a:spcBef>
                        <a:buNone/>
                      </a:pPr>
                      <a:r>
                        <a:rPr lang="en-US" sz="1400" kern="100" spc="-5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879879314"/>
                  </a:ext>
                </a:extLst>
              </a:tr>
              <a:tr h="261136">
                <a:tc>
                  <a:txBody>
                    <a:bodyPr/>
                    <a:lstStyle/>
                    <a:p>
                      <a:pPr marL="31750" algn="l">
                        <a:lnSpc>
                          <a:spcPts val="1495"/>
                        </a:lnSpc>
                        <a:spcBef>
                          <a:spcPts val="195"/>
                        </a:spcBef>
                        <a:buNone/>
                      </a:pPr>
                      <a:r>
                        <a:rPr lang="en-US" sz="1400" kern="100" spc="-10">
                          <a:effectLst/>
                          <a:latin typeface="Times New Roman" panose="02020603050405020304" pitchFamily="18" charset="0"/>
                          <a:cs typeface="Times New Roman" panose="02020603050405020304" pitchFamily="18" charset="0"/>
                        </a:rPr>
                        <a:t>3.a.(i)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ts val="1495"/>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ts val="1495"/>
                        </a:lnSpc>
                        <a:spcBef>
                          <a:spcPts val="195"/>
                        </a:spcBef>
                        <a:buNone/>
                      </a:pPr>
                      <a:r>
                        <a:rPr lang="en-US" sz="1400" kern="100" spc="-50">
                          <a:effectLst/>
                          <a:latin typeface="Times New Roman" panose="02020603050405020304" pitchFamily="18" charset="0"/>
                          <a:cs typeface="Times New Roman" panose="02020603050405020304" pitchFamily="18" charset="0"/>
                        </a:rPr>
                        <a:t>6</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045589524"/>
                  </a:ext>
                </a:extLst>
              </a:tr>
              <a:tr h="261136">
                <a:tc>
                  <a:txBody>
                    <a:bodyPr/>
                    <a:lstStyle/>
                    <a:p>
                      <a:pPr marL="31750" algn="l">
                        <a:lnSpc>
                          <a:spcPts val="1495"/>
                        </a:lnSpc>
                        <a:spcBef>
                          <a:spcPts val="195"/>
                        </a:spcBef>
                        <a:buNone/>
                      </a:pPr>
                      <a:r>
                        <a:rPr lang="en-US" sz="1400" kern="100" spc="-10">
                          <a:effectLst/>
                          <a:latin typeface="Times New Roman" panose="02020603050405020304" pitchFamily="18" charset="0"/>
                          <a:cs typeface="Times New Roman" panose="02020603050405020304" pitchFamily="18" charset="0"/>
                        </a:rPr>
                        <a:t>3.a.(ii)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ts val="1495"/>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ts val="1495"/>
                        </a:lnSpc>
                        <a:spcBef>
                          <a:spcPts val="195"/>
                        </a:spcBef>
                        <a:buNone/>
                      </a:pPr>
                      <a:r>
                        <a:rPr lang="en-US" sz="1400" kern="100" spc="-50">
                          <a:effectLst/>
                          <a:latin typeface="Times New Roman" panose="02020603050405020304" pitchFamily="18" charset="0"/>
                          <a:cs typeface="Times New Roman" panose="02020603050405020304" pitchFamily="18" charset="0"/>
                        </a:rPr>
                        <a:t>6</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829338566"/>
                  </a:ext>
                </a:extLst>
              </a:tr>
              <a:tr h="299296">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3.b. Answer any one 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997342091"/>
                  </a:ext>
                </a:extLst>
              </a:tr>
              <a:tr h="253653">
                <a:tc>
                  <a:txBody>
                    <a:bodyPr/>
                    <a:lstStyle/>
                    <a:p>
                      <a:pPr marL="31750" algn="l">
                        <a:lnSpc>
                          <a:spcPct val="107000"/>
                        </a:lnSpc>
                        <a:spcBef>
                          <a:spcPts val="195"/>
                        </a:spcBef>
                        <a:buNone/>
                      </a:pPr>
                      <a:r>
                        <a:rPr lang="en-US" sz="1400" kern="100" spc="-10">
                          <a:effectLst/>
                          <a:latin typeface="Times New Roman" panose="02020603050405020304" pitchFamily="18" charset="0"/>
                          <a:cs typeface="Times New Roman" panose="02020603050405020304" pitchFamily="18" charset="0"/>
                        </a:rPr>
                        <a:t>3.b.(i)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a:effectLst/>
                          <a:latin typeface="Times New Roman" panose="02020603050405020304" pitchFamily="18" charset="0"/>
                          <a:cs typeface="Times New Roman" panose="02020603050405020304" pitchFamily="18" charset="0"/>
                        </a:rPr>
                        <a:t>6</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316778965"/>
                  </a:ext>
                </a:extLst>
              </a:tr>
              <a:tr h="246695">
                <a:tc>
                  <a:txBody>
                    <a:bodyPr/>
                    <a:lstStyle/>
                    <a:p>
                      <a:pPr marL="31750" algn="l">
                        <a:lnSpc>
                          <a:spcPct val="107000"/>
                        </a:lnSpc>
                        <a:spcBef>
                          <a:spcPts val="195"/>
                        </a:spcBef>
                        <a:buNone/>
                      </a:pPr>
                      <a:r>
                        <a:rPr lang="en-US" sz="1400" kern="100" spc="-10" dirty="0">
                          <a:effectLst/>
                          <a:latin typeface="Times New Roman" panose="02020603050405020304" pitchFamily="18" charset="0"/>
                          <a:cs typeface="Times New Roman" panose="02020603050405020304" pitchFamily="18" charset="0"/>
                        </a:rPr>
                        <a:t>3.b.(ii)</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a:effectLst/>
                          <a:latin typeface="Times New Roman" panose="02020603050405020304" pitchFamily="18" charset="0"/>
                          <a:cs typeface="Times New Roman" panose="02020603050405020304" pitchFamily="18" charset="0"/>
                        </a:rPr>
                        <a:t>6</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432117981"/>
                  </a:ext>
                </a:extLst>
              </a:tr>
              <a:tr h="299296">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3.c. Answer any one 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728379870"/>
                  </a:ext>
                </a:extLst>
              </a:tr>
              <a:tr h="264877">
                <a:tc>
                  <a:txBody>
                    <a:bodyPr/>
                    <a:lstStyle/>
                    <a:p>
                      <a:pPr marL="31750" algn="l">
                        <a:lnSpc>
                          <a:spcPct val="107000"/>
                        </a:lnSpc>
                        <a:spcBef>
                          <a:spcPts val="195"/>
                        </a:spcBef>
                        <a:buNone/>
                      </a:pPr>
                      <a:r>
                        <a:rPr lang="en-US" sz="1400" kern="100" spc="-10">
                          <a:effectLst/>
                          <a:latin typeface="Times New Roman" panose="02020603050405020304" pitchFamily="18" charset="0"/>
                          <a:cs typeface="Times New Roman" panose="02020603050405020304" pitchFamily="18" charset="0"/>
                        </a:rPr>
                        <a:t>3.c.(i)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a:effectLst/>
                          <a:latin typeface="Times New Roman" panose="02020603050405020304" pitchFamily="18" charset="0"/>
                          <a:cs typeface="Times New Roman" panose="02020603050405020304" pitchFamily="18" charset="0"/>
                        </a:rPr>
                        <a:t>6</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994934420"/>
                  </a:ext>
                </a:extLst>
              </a:tr>
              <a:tr h="299296">
                <a:tc>
                  <a:txBody>
                    <a:bodyPr/>
                    <a:lstStyle/>
                    <a:p>
                      <a:pPr marL="31750" algn="l">
                        <a:lnSpc>
                          <a:spcPct val="107000"/>
                        </a:lnSpc>
                        <a:spcBef>
                          <a:spcPts val="195"/>
                        </a:spcBef>
                        <a:buNone/>
                      </a:pPr>
                      <a:r>
                        <a:rPr lang="en-US" sz="1400" kern="100" spc="-10">
                          <a:effectLst/>
                          <a:latin typeface="Times New Roman" panose="02020603050405020304" pitchFamily="18" charset="0"/>
                          <a:cs typeface="Times New Roman" panose="02020603050405020304" pitchFamily="18" charset="0"/>
                        </a:rPr>
                        <a:t>3.c.(ii)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a:effectLst/>
                          <a:latin typeface="Times New Roman" panose="02020603050405020304" pitchFamily="18" charset="0"/>
                          <a:cs typeface="Times New Roman" panose="02020603050405020304" pitchFamily="18" charset="0"/>
                        </a:rPr>
                        <a:t>6</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364234507"/>
                  </a:ext>
                </a:extLst>
              </a:tr>
              <a:tr h="299296">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3.d. Answer any one 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613259364"/>
                  </a:ext>
                </a:extLst>
              </a:tr>
              <a:tr h="246695">
                <a:tc>
                  <a:txBody>
                    <a:bodyPr/>
                    <a:lstStyle/>
                    <a:p>
                      <a:pPr marL="31750" algn="l">
                        <a:lnSpc>
                          <a:spcPct val="107000"/>
                        </a:lnSpc>
                        <a:spcBef>
                          <a:spcPts val="195"/>
                        </a:spcBef>
                        <a:buNone/>
                      </a:pPr>
                      <a:r>
                        <a:rPr lang="en-US" sz="1400" kern="100" spc="-10">
                          <a:effectLst/>
                          <a:latin typeface="Times New Roman" panose="02020603050405020304" pitchFamily="18" charset="0"/>
                          <a:cs typeface="Times New Roman" panose="02020603050405020304" pitchFamily="18" charset="0"/>
                        </a:rPr>
                        <a:t>3.d.(i)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marR="154940" algn="l">
                        <a:lnSpc>
                          <a:spcPct val="107000"/>
                        </a:lnSpc>
                        <a:spcBef>
                          <a:spcPts val="195"/>
                        </a:spcBef>
                        <a:buNone/>
                      </a:pPr>
                      <a:r>
                        <a:rPr lang="en-US" sz="1400" kern="10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dirty="0">
                          <a:effectLst/>
                          <a:latin typeface="Times New Roman" panose="02020603050405020304" pitchFamily="18" charset="0"/>
                          <a:cs typeface="Times New Roman" panose="02020603050405020304" pitchFamily="18" charset="0"/>
                        </a:rPr>
                        <a:t>6</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742213692"/>
                  </a:ext>
                </a:extLst>
              </a:tr>
              <a:tr h="299296">
                <a:tc>
                  <a:txBody>
                    <a:bodyPr/>
                    <a:lstStyle/>
                    <a:p>
                      <a:pPr marL="31750" algn="l">
                        <a:lnSpc>
                          <a:spcPct val="107000"/>
                        </a:lnSpc>
                        <a:spcBef>
                          <a:spcPts val="195"/>
                        </a:spcBef>
                        <a:buNone/>
                      </a:pPr>
                      <a:r>
                        <a:rPr lang="en-US" sz="1400" kern="100" spc="-10">
                          <a:effectLst/>
                          <a:latin typeface="Times New Roman" panose="02020603050405020304" pitchFamily="18" charset="0"/>
                          <a:cs typeface="Times New Roman" panose="02020603050405020304" pitchFamily="18" charset="0"/>
                        </a:rPr>
                        <a:t>3.d.(ii)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dirty="0">
                          <a:effectLst/>
                          <a:latin typeface="Times New Roman" panose="02020603050405020304" pitchFamily="18" charset="0"/>
                          <a:cs typeface="Times New Roman" panose="02020603050405020304" pitchFamily="18" charset="0"/>
                        </a:rPr>
                        <a:t>6</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843811038"/>
                  </a:ext>
                </a:extLst>
              </a:tr>
              <a:tr h="299296">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3.e. Answer any one 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898324928"/>
                  </a:ext>
                </a:extLst>
              </a:tr>
              <a:tr h="246695">
                <a:tc>
                  <a:txBody>
                    <a:bodyPr/>
                    <a:lstStyle/>
                    <a:p>
                      <a:pPr marL="31750" algn="l">
                        <a:lnSpc>
                          <a:spcPct val="107000"/>
                        </a:lnSpc>
                        <a:spcBef>
                          <a:spcPts val="195"/>
                        </a:spcBef>
                        <a:buNone/>
                      </a:pPr>
                      <a:r>
                        <a:rPr lang="en-US" sz="1400" kern="100" spc="-10">
                          <a:effectLst/>
                          <a:latin typeface="Times New Roman" panose="02020603050405020304" pitchFamily="18" charset="0"/>
                          <a:cs typeface="Times New Roman" panose="02020603050405020304" pitchFamily="18" charset="0"/>
                        </a:rPr>
                        <a:t>3.e.(i)</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marR="154940" algn="l">
                        <a:lnSpc>
                          <a:spcPct val="107000"/>
                        </a:lnSpc>
                        <a:spcBef>
                          <a:spcPts val="195"/>
                        </a:spcBef>
                        <a:buNone/>
                      </a:pPr>
                      <a:r>
                        <a:rPr lang="en-US" sz="1400" kern="10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dirty="0">
                          <a:effectLst/>
                          <a:latin typeface="Times New Roman" panose="02020603050405020304" pitchFamily="18" charset="0"/>
                          <a:cs typeface="Times New Roman" panose="02020603050405020304" pitchFamily="18" charset="0"/>
                        </a:rPr>
                        <a:t>6</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788275720"/>
                  </a:ext>
                </a:extLst>
              </a:tr>
              <a:tr h="246695">
                <a:tc>
                  <a:txBody>
                    <a:bodyPr/>
                    <a:lstStyle/>
                    <a:p>
                      <a:pPr marL="31750" algn="l">
                        <a:lnSpc>
                          <a:spcPct val="107000"/>
                        </a:lnSpc>
                        <a:spcBef>
                          <a:spcPts val="195"/>
                        </a:spcBef>
                        <a:buNone/>
                      </a:pPr>
                      <a:r>
                        <a:rPr lang="en-US" sz="1400" kern="100" spc="-10" dirty="0">
                          <a:effectLst/>
                          <a:latin typeface="Times New Roman" panose="02020603050405020304" pitchFamily="18" charset="0"/>
                          <a:cs typeface="Times New Roman" panose="02020603050405020304" pitchFamily="18" charset="0"/>
                        </a:rPr>
                        <a:t>3.e.(ii)</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marR="15494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50" dirty="0">
                          <a:effectLst/>
                          <a:latin typeface="Times New Roman" panose="02020603050405020304" pitchFamily="18" charset="0"/>
                          <a:cs typeface="Times New Roman" panose="02020603050405020304" pitchFamily="18" charset="0"/>
                        </a:rPr>
                        <a:t>6</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75491689"/>
                  </a:ext>
                </a:extLst>
              </a:tr>
            </a:tbl>
          </a:graphicData>
        </a:graphic>
      </p:graphicFrame>
      <p:sp>
        <p:nvSpPr>
          <p:cNvPr id="3" name="Footer Placeholder 2"/>
          <p:cNvSpPr>
            <a:spLocks noGrp="1"/>
          </p:cNvSpPr>
          <p:nvPr>
            <p:ph type="ftr" sz="quarter" idx="11"/>
          </p:nvPr>
        </p:nvSpPr>
        <p:spPr/>
        <p:txBody>
          <a:bodyPr/>
          <a:lstStyle/>
          <a:p>
            <a:r>
              <a:rPr lang="en-US" smtClean="0"/>
              <a:t>Vivek Kumart Sharma                BCSE0404X(TOC)                     Unit III</a:t>
            </a:r>
            <a:endParaRPr lang="en-US" dirty="0"/>
          </a:p>
        </p:txBody>
      </p:sp>
    </p:spTree>
    <p:extLst>
      <p:ext uri="{BB962C8B-B14F-4D97-AF65-F5344CB8AC3E}">
        <p14:creationId xmlns:p14="http://schemas.microsoft.com/office/powerpoint/2010/main" val="3508033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001F9-C65F-8005-8A24-CA0EBC4FB8D1}"/>
            </a:ext>
          </a:extLst>
        </p:cNvPr>
        <p:cNvGrpSpPr/>
        <p:nvPr/>
      </p:nvGrpSpPr>
      <p:grpSpPr>
        <a:xfrm>
          <a:off x="0" y="0"/>
          <a:ext cx="0" cy="0"/>
          <a:chOff x="0" y="0"/>
          <a:chExt cx="0" cy="0"/>
        </a:xfrm>
      </p:grpSpPr>
      <p:sp>
        <p:nvSpPr>
          <p:cNvPr id="1048750" name="Date Placeholder 3">
            <a:extLst>
              <a:ext uri="{FF2B5EF4-FFF2-40B4-BE49-F238E27FC236}">
                <a16:creationId xmlns:a16="http://schemas.microsoft.com/office/drawing/2014/main" id="{88A2C57B-8784-B6E7-2854-8543241BEBCA}"/>
              </a:ext>
            </a:extLst>
          </p:cNvPr>
          <p:cNvSpPr>
            <a:spLocks noGrp="1"/>
          </p:cNvSpPr>
          <p:nvPr>
            <p:ph type="dt" sz="quarter" idx="11"/>
          </p:nvPr>
        </p:nvSpPr>
        <p:spPr>
          <a:xfrm>
            <a:off x="-76200" y="6327813"/>
            <a:ext cx="2895600" cy="317500"/>
          </a:xfrm>
          <a:noFill/>
        </p:spPr>
        <p:txBody>
          <a:bodyPr/>
          <a:lstStyle>
            <a:lvl1pPr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646069" indent="-248488"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993953"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391534"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1789115" indent="-198791" eaLnBrk="0" hangingPunct="0">
              <a:defRPr sz="1217">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186696"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584277"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2981858"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379440" indent="-198791" eaLnBrk="0" fontAlgn="base" hangingPunct="0">
              <a:spcBef>
                <a:spcPct val="0"/>
              </a:spcBef>
              <a:spcAft>
                <a:spcPct val="0"/>
              </a:spcAft>
              <a:defRPr sz="1217">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306A28D8-8FFF-4814-A844-771DAB451A3F}" type="datetime1">
              <a:rPr lang="en-US" altLang="en-US" sz="1044" smtClean="0">
                <a:solidFill>
                  <a:srgbClr val="888888"/>
                </a:solidFill>
                <a:latin typeface="Calibri" panose="020F0502020204030204" pitchFamily="34" charset="0"/>
                <a:sym typeface="Calibri" panose="020F0502020204030204" pitchFamily="34" charset="0"/>
              </a:rPr>
              <a:t>4/10/2026</a:t>
            </a:fld>
            <a:endParaRPr lang="en-US" altLang="en-US" sz="1044" dirty="0">
              <a:solidFill>
                <a:srgbClr val="888888"/>
              </a:solidFill>
              <a:latin typeface="Calibri" panose="020F0502020204030204" pitchFamily="34" charset="0"/>
              <a:sym typeface="Calibri" panose="020F0502020204030204" pitchFamily="34" charset="0"/>
            </a:endParaRPr>
          </a:p>
        </p:txBody>
      </p:sp>
      <p:sp>
        <p:nvSpPr>
          <p:cNvPr id="1048751" name="Title 1">
            <a:extLst>
              <a:ext uri="{FF2B5EF4-FFF2-40B4-BE49-F238E27FC236}">
                <a16:creationId xmlns:a16="http://schemas.microsoft.com/office/drawing/2014/main" id="{67EA2D8C-D818-0B8B-D95A-2B95A1BDCD7C}"/>
              </a:ext>
            </a:extLst>
          </p:cNvPr>
          <p:cNvSpPr txBox="1"/>
          <p:nvPr/>
        </p:nvSpPr>
        <p:spPr>
          <a:xfrm>
            <a:off x="1371600" y="0"/>
            <a:ext cx="7772400" cy="726109"/>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r>
              <a:rPr lang="en-IN" sz="2400" b="1" dirty="0">
                <a:latin typeface="Times New Roman" panose="02020603050405020304" pitchFamily="18" charset="0"/>
                <a:cs typeface="Times New Roman" panose="02020603050405020304" pitchFamily="18" charset="0"/>
                <a:sym typeface="Arial" charset="0"/>
              </a:rPr>
              <a:t>End Semester Question Paper Templates </a:t>
            </a:r>
            <a:endParaRPr lang="en-US" sz="2400" b="1" dirty="0">
              <a:latin typeface="Times New Roman" panose="02020603050405020304" pitchFamily="18" charset="0"/>
              <a:cs typeface="Times New Roman" panose="02020603050405020304" pitchFamily="18" charset="0"/>
              <a:sym typeface="Arial" charset="0"/>
            </a:endParaRPr>
          </a:p>
        </p:txBody>
      </p:sp>
      <p:sp>
        <p:nvSpPr>
          <p:cNvPr id="1048752" name="Rectangle 2">
            <a:extLst>
              <a:ext uri="{FF2B5EF4-FFF2-40B4-BE49-F238E27FC236}">
                <a16:creationId xmlns:a16="http://schemas.microsoft.com/office/drawing/2014/main" id="{78150349-F550-9E14-632F-825030D917E1}"/>
              </a:ext>
            </a:extLst>
          </p:cNvPr>
          <p:cNvSpPr>
            <a:spLocks noChangeArrowheads="1"/>
          </p:cNvSpPr>
          <p:nvPr/>
        </p:nvSpPr>
        <p:spPr bwMode="auto">
          <a:xfrm>
            <a:off x="0" y="318935"/>
            <a:ext cx="184731" cy="654218"/>
          </a:xfrm>
          <a:prstGeom prst="rect">
            <a:avLst/>
          </a:prstGeom>
          <a:noFill/>
          <a:ln>
            <a:noFill/>
          </a:ln>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sz="1217"/>
              <a:t/>
            </a:r>
            <a:br>
              <a:rPr lang="en-US" altLang="en-US" sz="1217"/>
            </a:br>
            <a:endParaRPr lang="en-US" altLang="en-US" sz="1217"/>
          </a:p>
          <a:p>
            <a:pPr eaLnBrk="1" hangingPunct="1"/>
            <a:endParaRPr lang="en-US" altLang="en-US" sz="1217"/>
          </a:p>
        </p:txBody>
      </p:sp>
      <p:sp>
        <p:nvSpPr>
          <p:cNvPr id="1048754" name="Slide Number Placeholder 12">
            <a:extLst>
              <a:ext uri="{FF2B5EF4-FFF2-40B4-BE49-F238E27FC236}">
                <a16:creationId xmlns:a16="http://schemas.microsoft.com/office/drawing/2014/main" id="{FB499671-61F5-A44E-4549-6369C01F1643}"/>
              </a:ext>
            </a:extLst>
          </p:cNvPr>
          <p:cNvSpPr>
            <a:spLocks noGrp="1"/>
          </p:cNvSpPr>
          <p:nvPr>
            <p:ph type="sldNum" sz="quarter" idx="4294967295"/>
          </p:nvPr>
        </p:nvSpPr>
        <p:spPr bwMode="auto">
          <a:xfrm>
            <a:off x="6629400" y="6324600"/>
            <a:ext cx="2133600" cy="317500"/>
          </a:xfrm>
          <a:prstGeom prst="rect">
            <a:avLst/>
          </a:prstGeom>
          <a:noFill/>
          <a:ln w="9525">
            <a:noFill/>
            <a:miter lim="800000"/>
            <a:headEnd/>
            <a:tailEnd/>
          </a:ln>
        </p:spPr>
        <p:txBody>
          <a:bodyPr vert="horz" wrap="square" lIns="79500" tIns="39739" rIns="79500" bIns="39739" numCol="1" rtlCol="0"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044"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397581"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795162"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192743"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590324" algn="l" rtl="0" fontAlgn="base">
              <a:spcBef>
                <a:spcPct val="0"/>
              </a:spcBef>
              <a:spcAft>
                <a:spcPct val="0"/>
              </a:spcAft>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1987906"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385487"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2783068"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180649" algn="l" defTabSz="795162" rtl="0" eaLnBrk="1" latinLnBrk="0" hangingPunct="1">
              <a:defRPr sz="1217"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17</a:t>
            </a:fld>
            <a:endParaRPr lang="en-US" altLang="en-US" dirty="0"/>
          </a:p>
        </p:txBody>
      </p:sp>
      <p:pic>
        <p:nvPicPr>
          <p:cNvPr id="12" name="Picture 15" descr="A black and red logo&#10;&#10;Description automatically generated">
            <a:extLst>
              <a:ext uri="{FF2B5EF4-FFF2-40B4-BE49-F238E27FC236}">
                <a16:creationId xmlns:a16="http://schemas.microsoft.com/office/drawing/2014/main" id="{9C4BC63B-0F79-D816-7103-241A309A9F4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371600" cy="72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12">
            <a:extLst>
              <a:ext uri="{FF2B5EF4-FFF2-40B4-BE49-F238E27FC236}">
                <a16:creationId xmlns:a16="http://schemas.microsoft.com/office/drawing/2014/main" id="{AC128D69-44E6-FC7B-7F8A-C76822840454}"/>
              </a:ext>
            </a:extLst>
          </p:cNvPr>
          <p:cNvSpPr txBox="1">
            <a:spLocks/>
          </p:cNvSpPr>
          <p:nvPr/>
        </p:nvSpPr>
        <p:spPr>
          <a:xfrm>
            <a:off x="1905000" y="6324600"/>
            <a:ext cx="5410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Ankur Kumar Varshney                 BCSE0404X(TOC)                     Unit III</a:t>
            </a:r>
          </a:p>
        </p:txBody>
      </p:sp>
      <p:graphicFrame>
        <p:nvGraphicFramePr>
          <p:cNvPr id="3" name="Table 2">
            <a:extLst>
              <a:ext uri="{FF2B5EF4-FFF2-40B4-BE49-F238E27FC236}">
                <a16:creationId xmlns:a16="http://schemas.microsoft.com/office/drawing/2014/main" id="{E6059512-9CD0-1B96-D17F-7D78F1FB8A11}"/>
              </a:ext>
            </a:extLst>
          </p:cNvPr>
          <p:cNvGraphicFramePr>
            <a:graphicFrameLocks noGrp="1"/>
          </p:cNvGraphicFramePr>
          <p:nvPr>
            <p:extLst/>
          </p:nvPr>
        </p:nvGraphicFramePr>
        <p:xfrm>
          <a:off x="685800" y="1371600"/>
          <a:ext cx="7619999" cy="4346731"/>
        </p:xfrm>
        <a:graphic>
          <a:graphicData uri="http://schemas.openxmlformats.org/drawingml/2006/table">
            <a:tbl>
              <a:tblPr firstRow="1" firstCol="1" lastRow="1" lastCol="1" bandRow="1" bandCol="1">
                <a:tableStyleId>{5940675A-B579-460E-94D1-54222C63F5DA}</a:tableStyleId>
              </a:tblPr>
              <a:tblGrid>
                <a:gridCol w="678311">
                  <a:extLst>
                    <a:ext uri="{9D8B030D-6E8A-4147-A177-3AD203B41FA5}">
                      <a16:colId xmlns:a16="http://schemas.microsoft.com/office/drawing/2014/main" val="103475984"/>
                    </a:ext>
                  </a:extLst>
                </a:gridCol>
                <a:gridCol w="6606375">
                  <a:extLst>
                    <a:ext uri="{9D8B030D-6E8A-4147-A177-3AD203B41FA5}">
                      <a16:colId xmlns:a16="http://schemas.microsoft.com/office/drawing/2014/main" val="3637186783"/>
                    </a:ext>
                  </a:extLst>
                </a:gridCol>
                <a:gridCol w="335313">
                  <a:extLst>
                    <a:ext uri="{9D8B030D-6E8A-4147-A177-3AD203B41FA5}">
                      <a16:colId xmlns:a16="http://schemas.microsoft.com/office/drawing/2014/main" val="3772915123"/>
                    </a:ext>
                  </a:extLst>
                </a:gridCol>
              </a:tblGrid>
              <a:tr h="298534">
                <a:tc gridSpan="2">
                  <a:txBody>
                    <a:bodyPr/>
                    <a:lstStyle/>
                    <a:p>
                      <a:pPr marL="31750" algn="l">
                        <a:lnSpc>
                          <a:spcPct val="107000"/>
                        </a:lnSpc>
                        <a:spcBef>
                          <a:spcPts val="195"/>
                        </a:spcBef>
                        <a:buNone/>
                      </a:pPr>
                      <a:r>
                        <a:rPr lang="en-US" sz="1400" b="1" u="sng" kern="100" dirty="0">
                          <a:effectLst/>
                          <a:latin typeface="Times New Roman" panose="02020603050405020304" pitchFamily="18" charset="0"/>
                          <a:cs typeface="Times New Roman" panose="02020603050405020304" pitchFamily="18" charset="0"/>
                        </a:rPr>
                        <a:t>SECTION-</a:t>
                      </a:r>
                      <a:r>
                        <a:rPr lang="en-US" sz="1400" b="1" u="sng" kern="100" spc="-50" dirty="0">
                          <a:effectLst/>
                          <a:latin typeface="Times New Roman" panose="02020603050405020304" pitchFamily="18" charset="0"/>
                          <a:cs typeface="Times New Roman" panose="02020603050405020304" pitchFamily="18" charset="0"/>
                        </a:rPr>
                        <a:t>C</a:t>
                      </a:r>
                      <a:endParaRPr lang="en-IN" sz="14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R="29845" algn="r">
                        <a:lnSpc>
                          <a:spcPct val="107000"/>
                        </a:lnSpc>
                        <a:spcBef>
                          <a:spcPts val="195"/>
                        </a:spcBef>
                        <a:buNone/>
                      </a:pPr>
                      <a:r>
                        <a:rPr lang="en-US" sz="1400" kern="100" spc="-25">
                          <a:effectLst/>
                          <a:latin typeface="Times New Roman" panose="02020603050405020304" pitchFamily="18" charset="0"/>
                          <a:cs typeface="Times New Roman" panose="02020603050405020304" pitchFamily="18" charset="0"/>
                        </a:rPr>
                        <a:t>50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782702005"/>
                  </a:ext>
                </a:extLst>
              </a:tr>
              <a:tr h="298534">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4. Answer any</a:t>
                      </a:r>
                      <a:r>
                        <a:rPr lang="en-US" sz="1400" kern="100" spc="-5" dirty="0">
                          <a:effectLst/>
                          <a:latin typeface="Times New Roman" panose="02020603050405020304" pitchFamily="18" charset="0"/>
                          <a:cs typeface="Times New Roman" panose="02020603050405020304" pitchFamily="18" charset="0"/>
                        </a:rPr>
                        <a:t> </a:t>
                      </a:r>
                      <a:r>
                        <a:rPr lang="en-US" sz="1400" u="sng" kern="100" dirty="0">
                          <a:effectLst/>
                          <a:uFill>
                            <a:solidFill>
                              <a:srgbClr val="323130"/>
                            </a:solidFill>
                          </a:uFill>
                          <a:latin typeface="Times New Roman" panose="02020603050405020304" pitchFamily="18" charset="0"/>
                          <a:cs typeface="Times New Roman" panose="02020603050405020304" pitchFamily="18" charset="0"/>
                        </a:rPr>
                        <a:t>one</a:t>
                      </a:r>
                      <a:r>
                        <a:rPr lang="en-US" sz="1400" kern="100" spc="-5" dirty="0">
                          <a:effectLst/>
                          <a:latin typeface="Times New Roman" panose="02020603050405020304" pitchFamily="18" charset="0"/>
                          <a:cs typeface="Times New Roman" panose="02020603050405020304" pitchFamily="18" charset="0"/>
                        </a:rPr>
                        <a:t> </a:t>
                      </a:r>
                      <a:r>
                        <a:rPr lang="en-US" sz="1400" kern="100" dirty="0">
                          <a:effectLst/>
                          <a:latin typeface="Times New Roman" panose="02020603050405020304" pitchFamily="18" charset="0"/>
                          <a:cs typeface="Times New Roman" panose="02020603050405020304" pitchFamily="18" charset="0"/>
                        </a:rPr>
                        <a:t>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142728007"/>
                  </a:ext>
                </a:extLst>
              </a:tr>
              <a:tr h="246067">
                <a:tc>
                  <a:txBody>
                    <a:bodyPr/>
                    <a:lstStyle/>
                    <a:p>
                      <a:pPr marL="31750" algn="l">
                        <a:lnSpc>
                          <a:spcPct val="107000"/>
                        </a:lnSpc>
                        <a:spcBef>
                          <a:spcPts val="195"/>
                        </a:spcBef>
                        <a:buNone/>
                      </a:pPr>
                      <a:r>
                        <a:rPr lang="en-US" sz="1350" kern="100" dirty="0">
                          <a:effectLst/>
                          <a:latin typeface="Times New Roman" panose="02020603050405020304" pitchFamily="18" charset="0"/>
                          <a:cs typeface="Times New Roman" panose="02020603050405020304" pitchFamily="18" charset="0"/>
                        </a:rPr>
                        <a:t>4-</a:t>
                      </a:r>
                      <a:r>
                        <a:rPr lang="en-US" sz="1350" kern="100" spc="-25" dirty="0">
                          <a:effectLst/>
                          <a:latin typeface="Times New Roman" panose="02020603050405020304" pitchFamily="18" charset="0"/>
                          <a:cs typeface="Times New Roman" panose="02020603050405020304" pitchFamily="18" charset="0"/>
                        </a:rPr>
                        <a:t>a.</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75033067"/>
                  </a:ext>
                </a:extLst>
              </a:tr>
              <a:tr h="256739">
                <a:tc>
                  <a:txBody>
                    <a:bodyPr/>
                    <a:lstStyle/>
                    <a:p>
                      <a:pPr marL="31750" algn="l">
                        <a:lnSpc>
                          <a:spcPct val="107000"/>
                        </a:lnSpc>
                        <a:spcBef>
                          <a:spcPts val="195"/>
                        </a:spcBef>
                        <a:buNone/>
                      </a:pPr>
                      <a:r>
                        <a:rPr lang="en-US" sz="1350" kern="100" dirty="0">
                          <a:effectLst/>
                          <a:latin typeface="Times New Roman" panose="02020603050405020304" pitchFamily="18" charset="0"/>
                          <a:cs typeface="Times New Roman" panose="02020603050405020304" pitchFamily="18" charset="0"/>
                        </a:rPr>
                        <a:t>4-</a:t>
                      </a:r>
                      <a:r>
                        <a:rPr lang="en-US" sz="1350" kern="100" spc="-25" dirty="0">
                          <a:effectLst/>
                          <a:latin typeface="Times New Roman" panose="02020603050405020304" pitchFamily="18" charset="0"/>
                          <a:cs typeface="Times New Roman" panose="02020603050405020304" pitchFamily="18" charset="0"/>
                        </a:rPr>
                        <a:t>b.</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276469385"/>
                  </a:ext>
                </a:extLst>
              </a:tr>
              <a:tr h="298534">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5. Answer any</a:t>
                      </a:r>
                      <a:r>
                        <a:rPr lang="en-US" sz="1400" kern="100" spc="-5" dirty="0">
                          <a:effectLst/>
                          <a:latin typeface="Times New Roman" panose="02020603050405020304" pitchFamily="18" charset="0"/>
                          <a:cs typeface="Times New Roman" panose="02020603050405020304" pitchFamily="18" charset="0"/>
                        </a:rPr>
                        <a:t> </a:t>
                      </a:r>
                      <a:r>
                        <a:rPr lang="en-US" sz="1400" u="sng" kern="100" dirty="0">
                          <a:effectLst/>
                          <a:uFill>
                            <a:solidFill>
                              <a:srgbClr val="323130"/>
                            </a:solidFill>
                          </a:uFill>
                          <a:latin typeface="Times New Roman" panose="02020603050405020304" pitchFamily="18" charset="0"/>
                          <a:cs typeface="Times New Roman" panose="02020603050405020304" pitchFamily="18" charset="0"/>
                        </a:rPr>
                        <a:t>one</a:t>
                      </a:r>
                      <a:r>
                        <a:rPr lang="en-US" sz="1400" kern="100" spc="-5" dirty="0">
                          <a:effectLst/>
                          <a:latin typeface="Times New Roman" panose="02020603050405020304" pitchFamily="18" charset="0"/>
                          <a:cs typeface="Times New Roman" panose="02020603050405020304" pitchFamily="18" charset="0"/>
                        </a:rPr>
                        <a:t> </a:t>
                      </a:r>
                      <a:r>
                        <a:rPr lang="en-US" sz="1400" kern="100" dirty="0">
                          <a:effectLst/>
                          <a:latin typeface="Times New Roman" panose="02020603050405020304" pitchFamily="18" charset="0"/>
                          <a:cs typeface="Times New Roman" panose="02020603050405020304" pitchFamily="18" charset="0"/>
                        </a:rPr>
                        <a:t>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66612941"/>
                  </a:ext>
                </a:extLst>
              </a:tr>
              <a:tr h="246067">
                <a:tc>
                  <a:txBody>
                    <a:bodyPr/>
                    <a:lstStyle/>
                    <a:p>
                      <a:pPr marL="31750" algn="l">
                        <a:lnSpc>
                          <a:spcPct val="107000"/>
                        </a:lnSpc>
                        <a:spcBef>
                          <a:spcPts val="195"/>
                        </a:spcBef>
                        <a:buNone/>
                      </a:pPr>
                      <a:r>
                        <a:rPr lang="en-US" sz="1350" kern="100" dirty="0">
                          <a:effectLst/>
                          <a:latin typeface="Times New Roman" panose="02020603050405020304" pitchFamily="18" charset="0"/>
                          <a:cs typeface="Times New Roman" panose="02020603050405020304" pitchFamily="18" charset="0"/>
                        </a:rPr>
                        <a:t>5-</a:t>
                      </a:r>
                      <a:r>
                        <a:rPr lang="en-US" sz="1350" kern="100" spc="-25" dirty="0">
                          <a:effectLst/>
                          <a:latin typeface="Times New Roman" panose="02020603050405020304" pitchFamily="18" charset="0"/>
                          <a:cs typeface="Times New Roman" panose="02020603050405020304" pitchFamily="18" charset="0"/>
                        </a:rPr>
                        <a:t>a.</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marR="15494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467132371"/>
                  </a:ext>
                </a:extLst>
              </a:tr>
              <a:tr h="258232">
                <a:tc>
                  <a:txBody>
                    <a:bodyPr/>
                    <a:lstStyle/>
                    <a:p>
                      <a:pPr marL="31750" algn="l">
                        <a:lnSpc>
                          <a:spcPct val="107000"/>
                        </a:lnSpc>
                        <a:spcBef>
                          <a:spcPts val="195"/>
                        </a:spcBef>
                        <a:buNone/>
                      </a:pPr>
                      <a:r>
                        <a:rPr lang="en-US" sz="1350" kern="100" dirty="0">
                          <a:effectLst/>
                          <a:latin typeface="Times New Roman" panose="02020603050405020304" pitchFamily="18" charset="0"/>
                          <a:cs typeface="Times New Roman" panose="02020603050405020304" pitchFamily="18" charset="0"/>
                        </a:rPr>
                        <a:t>5-</a:t>
                      </a:r>
                      <a:r>
                        <a:rPr lang="en-US" sz="1350" kern="100" spc="-25" dirty="0">
                          <a:effectLst/>
                          <a:latin typeface="Times New Roman" panose="02020603050405020304" pitchFamily="18" charset="0"/>
                          <a:cs typeface="Times New Roman" panose="02020603050405020304" pitchFamily="18" charset="0"/>
                        </a:rPr>
                        <a:t>b.</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marR="154940" algn="l">
                        <a:lnSpc>
                          <a:spcPct val="93000"/>
                        </a:lnSpc>
                        <a:spcBef>
                          <a:spcPts val="260"/>
                        </a:spcBef>
                        <a:buNone/>
                      </a:pPr>
                      <a:r>
                        <a:rPr lang="en-US" sz="1400" kern="10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82991253"/>
                  </a:ext>
                </a:extLst>
              </a:tr>
              <a:tr h="298534">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6. Answer any</a:t>
                      </a:r>
                      <a:r>
                        <a:rPr lang="en-US" sz="1400" kern="100" spc="-5" dirty="0">
                          <a:effectLst/>
                          <a:latin typeface="Times New Roman" panose="02020603050405020304" pitchFamily="18" charset="0"/>
                          <a:cs typeface="Times New Roman" panose="02020603050405020304" pitchFamily="18" charset="0"/>
                        </a:rPr>
                        <a:t> </a:t>
                      </a:r>
                      <a:r>
                        <a:rPr lang="en-US" sz="1400" u="sng" kern="100" dirty="0">
                          <a:effectLst/>
                          <a:uFill>
                            <a:solidFill>
                              <a:srgbClr val="323130"/>
                            </a:solidFill>
                          </a:uFill>
                          <a:latin typeface="Times New Roman" panose="02020603050405020304" pitchFamily="18" charset="0"/>
                          <a:cs typeface="Times New Roman" panose="02020603050405020304" pitchFamily="18" charset="0"/>
                        </a:rPr>
                        <a:t>one</a:t>
                      </a:r>
                      <a:r>
                        <a:rPr lang="en-US" sz="1400" kern="100" spc="-5" dirty="0">
                          <a:effectLst/>
                          <a:latin typeface="Times New Roman" panose="02020603050405020304" pitchFamily="18" charset="0"/>
                          <a:cs typeface="Times New Roman" panose="02020603050405020304" pitchFamily="18" charset="0"/>
                        </a:rPr>
                        <a:t> </a:t>
                      </a:r>
                      <a:r>
                        <a:rPr lang="en-US" sz="1400" kern="100" dirty="0">
                          <a:effectLst/>
                          <a:latin typeface="Times New Roman" panose="02020603050405020304" pitchFamily="18" charset="0"/>
                          <a:cs typeface="Times New Roman" panose="02020603050405020304" pitchFamily="18" charset="0"/>
                        </a:rPr>
                        <a:t>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494912146"/>
                  </a:ext>
                </a:extLst>
              </a:tr>
              <a:tr h="246067">
                <a:tc>
                  <a:txBody>
                    <a:bodyPr/>
                    <a:lstStyle/>
                    <a:p>
                      <a:pPr marL="31750" algn="l">
                        <a:lnSpc>
                          <a:spcPct val="107000"/>
                        </a:lnSpc>
                        <a:spcBef>
                          <a:spcPts val="195"/>
                        </a:spcBef>
                        <a:buNone/>
                      </a:pPr>
                      <a:r>
                        <a:rPr lang="en-US" sz="1350" kern="100" dirty="0">
                          <a:effectLst/>
                          <a:latin typeface="Times New Roman" panose="02020603050405020304" pitchFamily="18" charset="0"/>
                          <a:cs typeface="Times New Roman" panose="02020603050405020304" pitchFamily="18" charset="0"/>
                        </a:rPr>
                        <a:t>6-</a:t>
                      </a:r>
                      <a:r>
                        <a:rPr lang="en-US" sz="1350" kern="100" spc="-25" dirty="0">
                          <a:effectLst/>
                          <a:latin typeface="Times New Roman" panose="02020603050405020304" pitchFamily="18" charset="0"/>
                          <a:cs typeface="Times New Roman" panose="02020603050405020304" pitchFamily="18" charset="0"/>
                        </a:rPr>
                        <a:t>a.</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marR="5207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97602521"/>
                  </a:ext>
                </a:extLst>
              </a:tr>
              <a:tr h="298534">
                <a:tc>
                  <a:txBody>
                    <a:bodyPr/>
                    <a:lstStyle/>
                    <a:p>
                      <a:pPr marL="31750" algn="l">
                        <a:lnSpc>
                          <a:spcPct val="107000"/>
                        </a:lnSpc>
                        <a:spcBef>
                          <a:spcPts val="195"/>
                        </a:spcBef>
                        <a:buNone/>
                      </a:pPr>
                      <a:r>
                        <a:rPr lang="en-US" sz="1350" kern="100" dirty="0">
                          <a:effectLst/>
                          <a:latin typeface="Times New Roman" panose="02020603050405020304" pitchFamily="18" charset="0"/>
                          <a:cs typeface="Times New Roman" panose="02020603050405020304" pitchFamily="18" charset="0"/>
                        </a:rPr>
                        <a:t>6-</a:t>
                      </a:r>
                      <a:r>
                        <a:rPr lang="en-US" sz="1350" kern="100" spc="-25" dirty="0">
                          <a:effectLst/>
                          <a:latin typeface="Times New Roman" panose="02020603050405020304" pitchFamily="18" charset="0"/>
                          <a:cs typeface="Times New Roman" panose="02020603050405020304" pitchFamily="18" charset="0"/>
                        </a:rPr>
                        <a:t>b.</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ct val="10700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374989740"/>
                  </a:ext>
                </a:extLst>
              </a:tr>
              <a:tr h="298534">
                <a:tc gridSpan="3">
                  <a:txBody>
                    <a:bodyPr/>
                    <a:lstStyle/>
                    <a:p>
                      <a:pPr marL="31750" algn="l">
                        <a:lnSpc>
                          <a:spcPct val="107000"/>
                        </a:lnSpc>
                        <a:spcBef>
                          <a:spcPts val="195"/>
                        </a:spcBef>
                        <a:buNone/>
                      </a:pPr>
                      <a:r>
                        <a:rPr lang="en-US" sz="1400" kern="100" dirty="0">
                          <a:effectLst/>
                          <a:latin typeface="Times New Roman" panose="02020603050405020304" pitchFamily="18" charset="0"/>
                          <a:cs typeface="Times New Roman" panose="02020603050405020304" pitchFamily="18" charset="0"/>
                        </a:rPr>
                        <a:t>7. Answer any</a:t>
                      </a:r>
                      <a:r>
                        <a:rPr lang="en-US" sz="1400" kern="100" spc="-5" dirty="0">
                          <a:effectLst/>
                          <a:latin typeface="Times New Roman" panose="02020603050405020304" pitchFamily="18" charset="0"/>
                          <a:cs typeface="Times New Roman" panose="02020603050405020304" pitchFamily="18" charset="0"/>
                        </a:rPr>
                        <a:t> </a:t>
                      </a:r>
                      <a:r>
                        <a:rPr lang="en-US" sz="1400" u="sng" kern="100" dirty="0">
                          <a:effectLst/>
                          <a:uFill>
                            <a:solidFill>
                              <a:srgbClr val="323130"/>
                            </a:solidFill>
                          </a:uFill>
                          <a:latin typeface="Times New Roman" panose="02020603050405020304" pitchFamily="18" charset="0"/>
                          <a:cs typeface="Times New Roman" panose="02020603050405020304" pitchFamily="18" charset="0"/>
                        </a:rPr>
                        <a:t>one</a:t>
                      </a:r>
                      <a:r>
                        <a:rPr lang="en-US" sz="1400" kern="100" spc="-5" dirty="0">
                          <a:effectLst/>
                          <a:latin typeface="Times New Roman" panose="02020603050405020304" pitchFamily="18" charset="0"/>
                          <a:cs typeface="Times New Roman" panose="02020603050405020304" pitchFamily="18" charset="0"/>
                        </a:rPr>
                        <a:t> </a:t>
                      </a:r>
                      <a:r>
                        <a:rPr lang="en-US" sz="1400" kern="100" dirty="0">
                          <a:effectLst/>
                          <a:latin typeface="Times New Roman" panose="02020603050405020304" pitchFamily="18" charset="0"/>
                          <a:cs typeface="Times New Roman" panose="02020603050405020304" pitchFamily="18" charset="0"/>
                        </a:rPr>
                        <a:t>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73480835"/>
                  </a:ext>
                </a:extLst>
              </a:tr>
              <a:tr h="260471">
                <a:tc>
                  <a:txBody>
                    <a:bodyPr/>
                    <a:lstStyle/>
                    <a:p>
                      <a:pPr marL="31750" algn="l">
                        <a:lnSpc>
                          <a:spcPts val="1450"/>
                        </a:lnSpc>
                        <a:spcBef>
                          <a:spcPts val="195"/>
                        </a:spcBef>
                        <a:buNone/>
                      </a:pPr>
                      <a:r>
                        <a:rPr lang="en-US" sz="1350" kern="100" dirty="0">
                          <a:effectLst/>
                          <a:latin typeface="Times New Roman" panose="02020603050405020304" pitchFamily="18" charset="0"/>
                          <a:cs typeface="Times New Roman" panose="02020603050405020304" pitchFamily="18" charset="0"/>
                        </a:rPr>
                        <a:t>7-</a:t>
                      </a:r>
                      <a:r>
                        <a:rPr lang="en-US" sz="1350" kern="100" spc="-25" dirty="0">
                          <a:effectLst/>
                          <a:latin typeface="Times New Roman" panose="02020603050405020304" pitchFamily="18" charset="0"/>
                          <a:cs typeface="Times New Roman" panose="02020603050405020304" pitchFamily="18" charset="0"/>
                        </a:rPr>
                        <a:t>a.</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ts val="145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ts val="145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440580960"/>
                  </a:ext>
                </a:extLst>
              </a:tr>
              <a:tr h="260471">
                <a:tc>
                  <a:txBody>
                    <a:bodyPr/>
                    <a:lstStyle/>
                    <a:p>
                      <a:pPr marL="31750" algn="l">
                        <a:lnSpc>
                          <a:spcPts val="1450"/>
                        </a:lnSpc>
                        <a:spcBef>
                          <a:spcPts val="195"/>
                        </a:spcBef>
                        <a:buNone/>
                      </a:pPr>
                      <a:r>
                        <a:rPr lang="en-US" sz="1350" kern="100" dirty="0">
                          <a:effectLst/>
                          <a:latin typeface="Times New Roman" panose="02020603050405020304" pitchFamily="18" charset="0"/>
                          <a:cs typeface="Times New Roman" panose="02020603050405020304" pitchFamily="18" charset="0"/>
                        </a:rPr>
                        <a:t>7-b.</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ts val="1450"/>
                        </a:lnSpc>
                        <a:spcBef>
                          <a:spcPts val="195"/>
                        </a:spcBef>
                        <a:buNone/>
                      </a:pPr>
                      <a:r>
                        <a:rPr lang="en-US" sz="1400" kern="100">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ctr">
                        <a:lnSpc>
                          <a:spcPts val="1450"/>
                        </a:lnSpc>
                        <a:spcBef>
                          <a:spcPts val="195"/>
                        </a:spcBef>
                        <a:buNone/>
                      </a:pPr>
                      <a:r>
                        <a:rPr lang="en-US" sz="1400" kern="100" spc="-25">
                          <a:effectLst/>
                          <a:latin typeface="Times New Roman" panose="02020603050405020304" pitchFamily="18" charset="0"/>
                          <a:cs typeface="Times New Roman" panose="02020603050405020304" pitchFamily="18" charset="0"/>
                        </a:rPr>
                        <a:t>10</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784353331"/>
                  </a:ext>
                </a:extLst>
              </a:tr>
              <a:tr h="260471">
                <a:tc gridSpan="2">
                  <a:txBody>
                    <a:bodyPr/>
                    <a:lstStyle/>
                    <a:p>
                      <a:pPr algn="l">
                        <a:lnSpc>
                          <a:spcPts val="1450"/>
                        </a:lnSpc>
                        <a:spcBef>
                          <a:spcPts val="195"/>
                        </a:spcBef>
                        <a:buNone/>
                      </a:pPr>
                      <a:r>
                        <a:rPr lang="en-US" sz="1400" kern="100" dirty="0">
                          <a:effectLst/>
                          <a:latin typeface="Times New Roman" panose="02020603050405020304" pitchFamily="18" charset="0"/>
                          <a:cs typeface="Times New Roman" panose="02020603050405020304" pitchFamily="18" charset="0"/>
                        </a:rPr>
                        <a:t>8. Answer any</a:t>
                      </a:r>
                      <a:r>
                        <a:rPr lang="en-US" sz="1400" kern="100" spc="-5" dirty="0">
                          <a:effectLst/>
                          <a:latin typeface="Times New Roman" panose="02020603050405020304" pitchFamily="18" charset="0"/>
                          <a:cs typeface="Times New Roman" panose="02020603050405020304" pitchFamily="18" charset="0"/>
                        </a:rPr>
                        <a:t> </a:t>
                      </a:r>
                      <a:r>
                        <a:rPr lang="en-US" sz="1400" u="sng" kern="100" dirty="0">
                          <a:effectLst/>
                          <a:uFill>
                            <a:solidFill>
                              <a:srgbClr val="323130"/>
                            </a:solidFill>
                          </a:uFill>
                          <a:latin typeface="Times New Roman" panose="02020603050405020304" pitchFamily="18" charset="0"/>
                          <a:cs typeface="Times New Roman" panose="02020603050405020304" pitchFamily="18" charset="0"/>
                        </a:rPr>
                        <a:t>one</a:t>
                      </a:r>
                      <a:r>
                        <a:rPr lang="en-US" sz="1400" kern="100" spc="-5" dirty="0">
                          <a:effectLst/>
                          <a:latin typeface="Times New Roman" panose="02020603050405020304" pitchFamily="18" charset="0"/>
                          <a:cs typeface="Times New Roman" panose="02020603050405020304" pitchFamily="18" charset="0"/>
                        </a:rPr>
                        <a:t> </a:t>
                      </a:r>
                      <a:r>
                        <a:rPr lang="en-US" sz="1400" kern="100" dirty="0">
                          <a:effectLst/>
                          <a:latin typeface="Times New Roman" panose="02020603050405020304" pitchFamily="18" charset="0"/>
                          <a:cs typeface="Times New Roman" panose="02020603050405020304" pitchFamily="18" charset="0"/>
                        </a:rPr>
                        <a:t>of the </a:t>
                      </a:r>
                      <a:r>
                        <a:rPr lang="en-US" sz="1400" kern="100" spc="-10" dirty="0">
                          <a:effectLst/>
                          <a:latin typeface="Times New Roman" panose="02020603050405020304" pitchFamily="18" charset="0"/>
                          <a:cs typeface="Times New Roman" panose="02020603050405020304" pitchFamily="18" charset="0"/>
                        </a:rPr>
                        <a:t>following: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R="29845" algn="r">
                        <a:lnSpc>
                          <a:spcPts val="1450"/>
                        </a:lnSpc>
                        <a:spcBef>
                          <a:spcPts val="195"/>
                        </a:spcBef>
                        <a:buNone/>
                      </a:pPr>
                      <a:r>
                        <a:rPr lang="en-US" sz="1400" kern="100" spc="-25">
                          <a:effectLst/>
                          <a:latin typeface="Times New Roman" panose="02020603050405020304" pitchFamily="18" charset="0"/>
                          <a:cs typeface="Times New Roman" panose="02020603050405020304" pitchFamily="18" charset="0"/>
                        </a:rPr>
                        <a:t> </a:t>
                      </a:r>
                      <a:endParaRPr lang="en-I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51525345"/>
                  </a:ext>
                </a:extLst>
              </a:tr>
              <a:tr h="260471">
                <a:tc>
                  <a:txBody>
                    <a:bodyPr/>
                    <a:lstStyle/>
                    <a:p>
                      <a:pPr marL="31750" algn="l">
                        <a:lnSpc>
                          <a:spcPts val="1450"/>
                        </a:lnSpc>
                        <a:spcBef>
                          <a:spcPts val="195"/>
                        </a:spcBef>
                        <a:buNone/>
                      </a:pPr>
                      <a:r>
                        <a:rPr lang="en-US" sz="1350" kern="100" dirty="0">
                          <a:effectLst/>
                          <a:latin typeface="Times New Roman" panose="02020603050405020304" pitchFamily="18" charset="0"/>
                          <a:cs typeface="Times New Roman" panose="02020603050405020304" pitchFamily="18" charset="0"/>
                        </a:rPr>
                        <a:t>8-</a:t>
                      </a:r>
                      <a:r>
                        <a:rPr lang="en-US" sz="1350" kern="100" spc="-25" dirty="0">
                          <a:effectLst/>
                          <a:latin typeface="Times New Roman" panose="02020603050405020304" pitchFamily="18" charset="0"/>
                          <a:cs typeface="Times New Roman" panose="02020603050405020304" pitchFamily="18" charset="0"/>
                        </a:rPr>
                        <a:t>a.</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ts val="145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r">
                        <a:lnSpc>
                          <a:spcPts val="1450"/>
                        </a:lnSpc>
                        <a:spcBef>
                          <a:spcPts val="195"/>
                        </a:spcBef>
                        <a:buNone/>
                      </a:pPr>
                      <a:r>
                        <a:rPr lang="en-US" sz="1400" kern="100" spc="-25" dirty="0">
                          <a:effectLst/>
                          <a:latin typeface="Times New Roman" panose="02020603050405020304" pitchFamily="18" charset="0"/>
                          <a:cs typeface="Times New Roman" panose="02020603050405020304" pitchFamily="18" charset="0"/>
                        </a:rPr>
                        <a:t>10 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03841594"/>
                  </a:ext>
                </a:extLst>
              </a:tr>
              <a:tr h="260471">
                <a:tc>
                  <a:txBody>
                    <a:bodyPr/>
                    <a:lstStyle/>
                    <a:p>
                      <a:pPr marL="31750" algn="l">
                        <a:lnSpc>
                          <a:spcPts val="1450"/>
                        </a:lnSpc>
                        <a:spcBef>
                          <a:spcPts val="195"/>
                        </a:spcBef>
                        <a:buNone/>
                      </a:pPr>
                      <a:r>
                        <a:rPr lang="en-US" sz="1350" kern="100" dirty="0">
                          <a:effectLst/>
                          <a:latin typeface="Times New Roman" panose="02020603050405020304" pitchFamily="18" charset="0"/>
                          <a:cs typeface="Times New Roman" panose="02020603050405020304" pitchFamily="18" charset="0"/>
                        </a:rPr>
                        <a:t>8-b.</a:t>
                      </a:r>
                      <a:endParaRPr lang="en-I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8745" algn="l">
                        <a:lnSpc>
                          <a:spcPts val="1450"/>
                        </a:lnSpc>
                        <a:spcBef>
                          <a:spcPts val="195"/>
                        </a:spcBef>
                        <a:buNone/>
                      </a:pPr>
                      <a:r>
                        <a:rPr lang="en-US" sz="1400" kern="100" dirty="0">
                          <a:effectLst/>
                          <a:latin typeface="Times New Roman" panose="02020603050405020304" pitchFamily="18" charset="0"/>
                          <a:cs typeface="Times New Roman" panose="02020603050405020304" pitchFamily="18" charset="0"/>
                        </a:rPr>
                        <a:t>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9845" algn="r">
                        <a:lnSpc>
                          <a:spcPts val="1450"/>
                        </a:lnSpc>
                        <a:spcBef>
                          <a:spcPts val="195"/>
                        </a:spcBef>
                        <a:buNone/>
                      </a:pPr>
                      <a:r>
                        <a:rPr lang="en-US" sz="1400" kern="100" spc="-25" dirty="0">
                          <a:effectLst/>
                          <a:latin typeface="Times New Roman" panose="02020603050405020304" pitchFamily="18" charset="0"/>
                          <a:cs typeface="Times New Roman" panose="02020603050405020304" pitchFamily="18" charset="0"/>
                        </a:rPr>
                        <a:t>10 </a:t>
                      </a:r>
                      <a:endParaRPr lang="en-I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27714190"/>
                  </a:ext>
                </a:extLst>
              </a:tr>
            </a:tbl>
          </a:graphicData>
        </a:graphic>
      </p:graphicFrame>
      <p:sp>
        <p:nvSpPr>
          <p:cNvPr id="2" name="Footer Placeholder 1"/>
          <p:cNvSpPr>
            <a:spLocks noGrp="1"/>
          </p:cNvSpPr>
          <p:nvPr>
            <p:ph type="ftr" sz="quarter" idx="11"/>
          </p:nvPr>
        </p:nvSpPr>
        <p:spPr/>
        <p:txBody>
          <a:bodyPr/>
          <a:lstStyle/>
          <a:p>
            <a:r>
              <a:rPr lang="en-US" smtClean="0"/>
              <a:t>Vivek Kumart Sharma                BCSE0404X(TOC)                     Unit III</a:t>
            </a:r>
            <a:endParaRPr lang="en-US" dirty="0"/>
          </a:p>
        </p:txBody>
      </p:sp>
    </p:spTree>
    <p:extLst>
      <p:ext uri="{BB962C8B-B14F-4D97-AF65-F5344CB8AC3E}">
        <p14:creationId xmlns:p14="http://schemas.microsoft.com/office/powerpoint/2010/main" val="2038548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12F5E6-271D-4B6D-BAF8-7D5338DA90B8}"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7" name="Title 1">
            <a:extLst>
              <a:ext uri="{FF2B5EF4-FFF2-40B4-BE49-F238E27FC236}">
                <a16:creationId xmlns:a16="http://schemas.microsoft.com/office/drawing/2014/main" id="{1719417F-C8A4-408C-ABE8-01153A6027D5}"/>
              </a:ext>
            </a:extLst>
          </p:cNvPr>
          <p:cNvSpPr txBox="1">
            <a:spLocks noGrp="1"/>
          </p:cNvSpPr>
          <p:nvPr>
            <p:ph type="title"/>
          </p:nvPr>
        </p:nvSpPr>
        <p:spPr>
          <a:xfrm>
            <a:off x="1676400" y="0"/>
            <a:ext cx="7467600" cy="838202"/>
          </a:xfr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r>
              <a:rPr lang="en-US" sz="2400" b="1" dirty="0">
                <a:latin typeface="Times New Roman" panose="02020603050405020304" pitchFamily="18" charset="0"/>
                <a:cs typeface="Times New Roman" panose="02020603050405020304" pitchFamily="18" charset="0"/>
                <a:sym typeface="Arial" charset="0"/>
              </a:rPr>
              <a:t>Program Educational Objectives</a:t>
            </a:r>
          </a:p>
        </p:txBody>
      </p:sp>
      <p:sp>
        <p:nvSpPr>
          <p:cNvPr id="8" name="Footer Placeholder 12"/>
          <p:cNvSpPr>
            <a:spLocks noGrp="1"/>
          </p:cNvSpPr>
          <p:nvPr>
            <p:ph type="ftr" sz="quarter" idx="11"/>
          </p:nvPr>
        </p:nvSpPr>
        <p:spPr>
          <a:xfrm>
            <a:off x="1905000" y="64166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
        <p:nvSpPr>
          <p:cNvPr id="9" name="Content Placeholder 2"/>
          <p:cNvSpPr>
            <a:spLocks noGrp="1"/>
          </p:cNvSpPr>
          <p:nvPr>
            <p:ph idx="1"/>
          </p:nvPr>
        </p:nvSpPr>
        <p:spPr>
          <a:xfrm>
            <a:off x="457200" y="1143000"/>
            <a:ext cx="8229600" cy="4906965"/>
          </a:xfrm>
        </p:spPr>
        <p:txBody>
          <a:bodyPr>
            <a:noAutofit/>
          </a:bodyPr>
          <a:lstStyle/>
          <a:p>
            <a:pPr marL="0" indent="0" algn="just">
              <a:buNone/>
            </a:pPr>
            <a:r>
              <a:rPr lang="en-US" sz="1800" b="1" dirty="0">
                <a:latin typeface="Times New Roman" panose="02020603050405020304" pitchFamily="18" charset="0"/>
                <a:cs typeface="Times New Roman" panose="02020603050405020304" pitchFamily="18" charset="0"/>
              </a:rPr>
              <a:t>PEO’S of the B. Tech. in Information Technology are:</a:t>
            </a:r>
          </a:p>
          <a:p>
            <a:pPr marL="0" indent="0" algn="just">
              <a:buNone/>
            </a:pPr>
            <a:r>
              <a:rPr lang="en-US" sz="1800" b="1" dirty="0">
                <a:latin typeface="Times New Roman" panose="02020603050405020304" pitchFamily="18" charset="0"/>
                <a:cs typeface="Times New Roman" panose="02020603050405020304" pitchFamily="18" charset="0"/>
              </a:rPr>
              <a:t>The graduates will be:</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PEO1:	</a:t>
            </a:r>
            <a:r>
              <a:rPr lang="en-US" sz="1800" dirty="0">
                <a:latin typeface="Times New Roman" panose="02020603050405020304" pitchFamily="18" charset="0"/>
                <a:cs typeface="Times New Roman" panose="02020603050405020304" pitchFamily="18" charset="0"/>
              </a:rPr>
              <a:t>To apply sound knowledge combining technical expertise, and problem-solving skills to fulfill the needs of the IT industry and stay updated with the latest emerging trends.</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PEO2:</a:t>
            </a:r>
            <a:r>
              <a:rPr lang="en-US" sz="1800" dirty="0">
                <a:latin typeface="Times New Roman" panose="02020603050405020304" pitchFamily="18" charset="0"/>
                <a:cs typeface="Times New Roman" panose="02020603050405020304" pitchFamily="18" charset="0"/>
              </a:rPr>
              <a:t>	To provide sustainable solutions for real-life problems by designing innovative and interdisciplinary systems using the latest digital technologies for serving academia, industry, and society.</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PEO3:	</a:t>
            </a:r>
            <a:r>
              <a:rPr lang="en-US" sz="1800" dirty="0">
                <a:latin typeface="Times New Roman" panose="02020603050405020304" pitchFamily="18" charset="0"/>
                <a:cs typeface="Times New Roman" panose="02020603050405020304" pitchFamily="18" charset="0"/>
              </a:rPr>
              <a:t>To reflect professional attitude, social ethics, communication, teamwork, and leadership skills in research and product development to face global challenges.</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PEO4:</a:t>
            </a:r>
            <a:r>
              <a:rPr lang="en-US" sz="1800" dirty="0">
                <a:latin typeface="Times New Roman" panose="02020603050405020304" pitchFamily="18" charset="0"/>
                <a:cs typeface="Times New Roman" panose="02020603050405020304" pitchFamily="18" charset="0"/>
              </a:rPr>
              <a:t>	To pursue higher studies and develop their career successfully in the software industry and R&amp;D sectors with a lifelong learning frame of mind.</a:t>
            </a:r>
          </a:p>
          <a:p>
            <a:pPr algn="just">
              <a:spcBef>
                <a:spcPct val="0"/>
              </a:spcBef>
              <a:spcAft>
                <a:spcPct val="0"/>
              </a:spcAft>
              <a:buClr>
                <a:srgbClr val="000000"/>
              </a:buClr>
              <a:buNone/>
            </a:pPr>
            <a:r>
              <a:rPr lang="en-US" sz="1800" dirty="0">
                <a:latin typeface="Times New Roman" panose="02020603050405020304" pitchFamily="18" charset="0"/>
                <a:cs typeface="Times New Roman" panose="02020603050405020304" pitchFamily="18" charset="0"/>
              </a:rPr>
              <a:t>.</a:t>
            </a:r>
            <a:endParaRPr lang="en-IN" alt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0426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3468558-215D-44E6-930B-12096B1AA109}"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7" name="Title 1"/>
          <p:cNvSpPr txBox="1">
            <a:spLocks/>
          </p:cNvSpPr>
          <p:nvPr/>
        </p:nvSpPr>
        <p:spPr>
          <a:xfrm>
            <a:off x="1676400" y="0"/>
            <a:ext cx="7467600"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latin typeface="Times New Roman" panose="02020603050405020304" pitchFamily="18" charset="0"/>
                <a:cs typeface="Times New Roman" panose="02020603050405020304" pitchFamily="18" charset="0"/>
              </a:rPr>
              <a:t>Unit Objective </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4" name="Rectangle 5">
            <a:extLst>
              <a:ext uri="{FF2B5EF4-FFF2-40B4-BE49-F238E27FC236}">
                <a16:creationId xmlns:a16="http://schemas.microsoft.com/office/drawing/2014/main" id="{B5ADC50D-D217-B20D-6C20-350485509DA0}"/>
              </a:ext>
            </a:extLst>
          </p:cNvPr>
          <p:cNvSpPr>
            <a:spLocks noChangeArrowheads="1"/>
          </p:cNvSpPr>
          <p:nvPr/>
        </p:nvSpPr>
        <p:spPr bwMode="auto">
          <a:xfrm>
            <a:off x="304800" y="1171346"/>
            <a:ext cx="8534400" cy="4619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the definition of Context Free Grammar (CFG) and the types of languages generated by CFG.</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explain the concept of derivations in CFG and analyze how strings are generated step by step.</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study parse trees and identify ambiguity in grammars through multiple derivations.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learn the techniques for simplification of CFG by removing useless symbols, null productions, and unit productions.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the definition and structure of Pushdown Automata (PDA) as a computational model.</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analyze the relationship between Pushdown Automata and Context Free Languages, and identify the languages accepted by PDA.</a:t>
            </a:r>
          </a:p>
        </p:txBody>
      </p:sp>
      <p:sp>
        <p:nvSpPr>
          <p:cNvPr id="2" name="Footer Placeholder 12">
            <a:extLst>
              <a:ext uri="{FF2B5EF4-FFF2-40B4-BE49-F238E27FC236}">
                <a16:creationId xmlns:a16="http://schemas.microsoft.com/office/drawing/2014/main" id="{50304823-4DF8-37AA-1DB3-E53AFC93D376}"/>
              </a:ext>
            </a:extLst>
          </p:cNvPr>
          <p:cNvSpPr>
            <a:spLocks noGrp="1"/>
          </p:cNvSpPr>
          <p:nvPr>
            <p:ph type="ftr" sz="quarter" idx="11"/>
          </p:nvPr>
        </p:nvSpPr>
        <p:spPr>
          <a:xfrm>
            <a:off x="1905000" y="64008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62888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3D28935-004D-4F4B-B048-59AAEAB45EAF}"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22" name="Title 1"/>
          <p:cNvSpPr txBox="1"/>
          <p:nvPr/>
        </p:nvSpPr>
        <p:spPr>
          <a:xfrm>
            <a:off x="1676400" y="0"/>
            <a:ext cx="7467600" cy="8382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b="1" dirty="0">
                <a:latin typeface="Times New Roman" panose="02020603050405020304" pitchFamily="18" charset="0"/>
                <a:cs typeface="Times New Roman" panose="02020603050405020304" pitchFamily="18" charset="0"/>
              </a:rPr>
              <a:t>Topic Objective</a:t>
            </a:r>
          </a:p>
        </p:txBody>
      </p:sp>
      <p:graphicFrame>
        <p:nvGraphicFramePr>
          <p:cNvPr id="8" name="Table 7">
            <a:extLst>
              <a:ext uri="{FF2B5EF4-FFF2-40B4-BE49-F238E27FC236}">
                <a16:creationId xmlns:a16="http://schemas.microsoft.com/office/drawing/2014/main" id="{6FF8757F-A1BC-4D2F-E8EA-67AD895BE2E7}"/>
              </a:ext>
            </a:extLst>
          </p:cNvPr>
          <p:cNvGraphicFramePr>
            <a:graphicFrameLocks noGrp="1"/>
          </p:cNvGraphicFramePr>
          <p:nvPr>
            <p:extLst/>
          </p:nvPr>
        </p:nvGraphicFramePr>
        <p:xfrm>
          <a:off x="609600" y="1143000"/>
          <a:ext cx="8229600" cy="5065859"/>
        </p:xfrm>
        <a:graphic>
          <a:graphicData uri="http://schemas.openxmlformats.org/drawingml/2006/table">
            <a:tbl>
              <a:tblPr firstRow="1" firstCol="1" bandRow="1">
                <a:tableStyleId>{284E427A-3D55-4303-BF80-6455036E1DE7}</a:tableStyleId>
              </a:tblPr>
              <a:tblGrid>
                <a:gridCol w="3429000">
                  <a:extLst>
                    <a:ext uri="{9D8B030D-6E8A-4147-A177-3AD203B41FA5}">
                      <a16:colId xmlns:a16="http://schemas.microsoft.com/office/drawing/2014/main" val="2695235725"/>
                    </a:ext>
                  </a:extLst>
                </a:gridCol>
                <a:gridCol w="4800600">
                  <a:extLst>
                    <a:ext uri="{9D8B030D-6E8A-4147-A177-3AD203B41FA5}">
                      <a16:colId xmlns:a16="http://schemas.microsoft.com/office/drawing/2014/main" val="1589131539"/>
                    </a:ext>
                  </a:extLst>
                </a:gridCol>
              </a:tblGrid>
              <a:tr h="235586">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Topic</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Objectives</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6893164"/>
                  </a:ext>
                </a:extLst>
              </a:tr>
              <a:tr h="722735">
                <a:tc>
                  <a:txBody>
                    <a:bodyPr/>
                    <a:lstStyle/>
                    <a:p>
                      <a:pPr algn="just">
                        <a:lnSpc>
                          <a:spcPct val="107000"/>
                        </a:lnSpc>
                        <a:spcAft>
                          <a:spcPts val="800"/>
                        </a:spcAft>
                        <a:buNone/>
                      </a:pPr>
                      <a:r>
                        <a:rPr lang="en-IN" sz="1700" kern="100" dirty="0">
                          <a:effectLst/>
                          <a:latin typeface="Times New Roman" panose="02020603050405020304" pitchFamily="18" charset="0"/>
                          <a:cs typeface="Times New Roman" panose="02020603050405020304" pitchFamily="18" charset="0"/>
                        </a:rPr>
                        <a:t>Context Free Grammar (CFG): Definition and Language</a:t>
                      </a:r>
                      <a:endParaRPr lang="en-IN" sz="17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buNone/>
                      </a:pPr>
                      <a:r>
                        <a:rPr lang="en-IN" sz="1700" kern="100">
                          <a:effectLst/>
                          <a:latin typeface="Times New Roman" panose="02020603050405020304" pitchFamily="18" charset="0"/>
                          <a:cs typeface="Times New Roman" panose="02020603050405020304" pitchFamily="18" charset="0"/>
                        </a:rPr>
                        <a:t>To understand the formal definition of Context Free Grammar and identify the class of languages generated by CFG.</a:t>
                      </a:r>
                      <a:endParaRPr lang="en-IN"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1742021"/>
                  </a:ext>
                </a:extLst>
              </a:tr>
              <a:tr h="722735">
                <a:tc>
                  <a:txBody>
                    <a:bodyPr/>
                    <a:lstStyle/>
                    <a:p>
                      <a:pPr algn="just">
                        <a:lnSpc>
                          <a:spcPct val="107000"/>
                        </a:lnSpc>
                        <a:spcAft>
                          <a:spcPts val="800"/>
                        </a:spcAft>
                        <a:buNone/>
                      </a:pPr>
                      <a:r>
                        <a:rPr lang="en-IN" sz="1700" kern="100">
                          <a:effectLst/>
                          <a:latin typeface="Times New Roman" panose="02020603050405020304" pitchFamily="18" charset="0"/>
                          <a:cs typeface="Times New Roman" panose="02020603050405020304" pitchFamily="18" charset="0"/>
                        </a:rPr>
                        <a:t>Derivations in CFG</a:t>
                      </a:r>
                      <a:endParaRPr lang="en-IN"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buNone/>
                      </a:pPr>
                      <a:r>
                        <a:rPr lang="en-IN" sz="1700" kern="100" dirty="0">
                          <a:effectLst/>
                          <a:latin typeface="Times New Roman" panose="02020603050405020304" pitchFamily="18" charset="0"/>
                          <a:cs typeface="Times New Roman" panose="02020603050405020304" pitchFamily="18" charset="0"/>
                        </a:rPr>
                        <a:t>To learn leftmost and rightmost derivations and analyze the step-by-step generation of strings in CFG.</a:t>
                      </a:r>
                      <a:endParaRPr lang="en-IN" sz="17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44594422"/>
                  </a:ext>
                </a:extLst>
              </a:tr>
              <a:tr h="722735">
                <a:tc>
                  <a:txBody>
                    <a:bodyPr/>
                    <a:lstStyle/>
                    <a:p>
                      <a:pPr algn="just">
                        <a:lnSpc>
                          <a:spcPct val="107000"/>
                        </a:lnSpc>
                        <a:spcAft>
                          <a:spcPts val="800"/>
                        </a:spcAft>
                        <a:buNone/>
                      </a:pPr>
                      <a:r>
                        <a:rPr lang="en-IN" sz="1700" kern="100">
                          <a:effectLst/>
                          <a:latin typeface="Times New Roman" panose="02020603050405020304" pitchFamily="18" charset="0"/>
                          <a:cs typeface="Times New Roman" panose="02020603050405020304" pitchFamily="18" charset="0"/>
                        </a:rPr>
                        <a:t>Parse Trees and Ambiguity</a:t>
                      </a:r>
                      <a:endParaRPr lang="en-IN"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buNone/>
                      </a:pPr>
                      <a:r>
                        <a:rPr lang="en-IN" sz="1700" kern="100" dirty="0">
                          <a:effectLst/>
                          <a:latin typeface="Times New Roman" panose="02020603050405020304" pitchFamily="18" charset="0"/>
                          <a:cs typeface="Times New Roman" panose="02020603050405020304" pitchFamily="18" charset="0"/>
                        </a:rPr>
                        <a:t>To construct parse trees and recognize ambiguous grammars through multiple parse trees or derivations.</a:t>
                      </a:r>
                      <a:endParaRPr lang="en-IN" sz="17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4837657"/>
                  </a:ext>
                </a:extLst>
              </a:tr>
              <a:tr h="722735">
                <a:tc>
                  <a:txBody>
                    <a:bodyPr/>
                    <a:lstStyle/>
                    <a:p>
                      <a:pPr algn="just">
                        <a:lnSpc>
                          <a:spcPct val="107000"/>
                        </a:lnSpc>
                        <a:spcAft>
                          <a:spcPts val="800"/>
                        </a:spcAft>
                        <a:buNone/>
                      </a:pPr>
                      <a:r>
                        <a:rPr lang="en-IN" sz="1700" kern="100">
                          <a:effectLst/>
                          <a:latin typeface="Times New Roman" panose="02020603050405020304" pitchFamily="18" charset="0"/>
                          <a:cs typeface="Times New Roman" panose="02020603050405020304" pitchFamily="18" charset="0"/>
                        </a:rPr>
                        <a:t>Simplification of CFG</a:t>
                      </a:r>
                      <a:endParaRPr lang="en-IN"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buNone/>
                      </a:pPr>
                      <a:r>
                        <a:rPr lang="en-IN" sz="1700" kern="100" dirty="0">
                          <a:effectLst/>
                          <a:latin typeface="Times New Roman" panose="02020603050405020304" pitchFamily="18" charset="0"/>
                          <a:cs typeface="Times New Roman" panose="02020603050405020304" pitchFamily="18" charset="0"/>
                        </a:rPr>
                        <a:t>To understand and apply methods for simplifying CFG by eliminating useless symbols, null productions, and unit productions.</a:t>
                      </a:r>
                      <a:endParaRPr lang="en-IN" sz="17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9527342"/>
                  </a:ext>
                </a:extLst>
              </a:tr>
              <a:tr h="722735">
                <a:tc>
                  <a:txBody>
                    <a:bodyPr/>
                    <a:lstStyle/>
                    <a:p>
                      <a:pPr algn="just">
                        <a:lnSpc>
                          <a:spcPct val="107000"/>
                        </a:lnSpc>
                        <a:spcAft>
                          <a:spcPts val="800"/>
                        </a:spcAft>
                        <a:buNone/>
                      </a:pPr>
                      <a:r>
                        <a:rPr lang="en-IN" sz="1700" kern="100">
                          <a:effectLst/>
                          <a:latin typeface="Times New Roman" panose="02020603050405020304" pitchFamily="18" charset="0"/>
                          <a:cs typeface="Times New Roman" panose="02020603050405020304" pitchFamily="18" charset="0"/>
                        </a:rPr>
                        <a:t>Pushdown Automata (PDA): Definition</a:t>
                      </a:r>
                      <a:endParaRPr lang="en-IN"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buNone/>
                      </a:pPr>
                      <a:r>
                        <a:rPr lang="en-IN" sz="1700" kern="100" dirty="0">
                          <a:effectLst/>
                          <a:latin typeface="Times New Roman" panose="02020603050405020304" pitchFamily="18" charset="0"/>
                          <a:cs typeface="Times New Roman" panose="02020603050405020304" pitchFamily="18" charset="0"/>
                        </a:rPr>
                        <a:t>To understand the structure, components, and working of Pushdown Automata as an abstract machine.</a:t>
                      </a:r>
                      <a:endParaRPr lang="en-IN" sz="17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01201990"/>
                  </a:ext>
                </a:extLst>
              </a:tr>
              <a:tr h="722735">
                <a:tc>
                  <a:txBody>
                    <a:bodyPr/>
                    <a:lstStyle/>
                    <a:p>
                      <a:pPr algn="just">
                        <a:lnSpc>
                          <a:spcPct val="107000"/>
                        </a:lnSpc>
                        <a:spcAft>
                          <a:spcPts val="800"/>
                        </a:spcAft>
                        <a:buNone/>
                      </a:pPr>
                      <a:r>
                        <a:rPr lang="en-IN" sz="1700" kern="100">
                          <a:effectLst/>
                          <a:latin typeface="Times New Roman" panose="02020603050405020304" pitchFamily="18" charset="0"/>
                          <a:cs typeface="Times New Roman" panose="02020603050405020304" pitchFamily="18" charset="0"/>
                        </a:rPr>
                        <a:t>Languages of Pushdown Automata</a:t>
                      </a:r>
                      <a:endParaRPr lang="en-IN"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buNone/>
                      </a:pPr>
                      <a:r>
                        <a:rPr lang="en-IN" sz="1700" kern="100" dirty="0">
                          <a:effectLst/>
                          <a:latin typeface="Times New Roman" panose="02020603050405020304" pitchFamily="18" charset="0"/>
                          <a:cs typeface="Times New Roman" panose="02020603050405020304" pitchFamily="18" charset="0"/>
                        </a:rPr>
                        <a:t>To analyze the types of languages accepted by PDA and establish the equivalence between PDA and Context Free Languages.</a:t>
                      </a:r>
                      <a:endParaRPr lang="en-IN" sz="17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5862277"/>
                  </a:ext>
                </a:extLst>
              </a:tr>
            </a:tbl>
          </a:graphicData>
        </a:graphic>
      </p:graphicFrame>
      <p:sp>
        <p:nvSpPr>
          <p:cNvPr id="2" name="Footer Placeholder 12">
            <a:extLst>
              <a:ext uri="{FF2B5EF4-FFF2-40B4-BE49-F238E27FC236}">
                <a16:creationId xmlns:a16="http://schemas.microsoft.com/office/drawing/2014/main" id="{B04C199D-DDFD-C0BE-1726-C3FC10DE3137}"/>
              </a:ext>
            </a:extLst>
          </p:cNvPr>
          <p:cNvSpPr>
            <a:spLocks noGrp="1"/>
          </p:cNvSpPr>
          <p:nvPr>
            <p:ph type="ftr" sz="quarter" idx="11"/>
          </p:nvPr>
        </p:nvSpPr>
        <p:spPr>
          <a:xfrm>
            <a:off x="1905000" y="6340475"/>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5384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67F4F60-4351-44BE-83D9-DAA21513CE14}"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7" name="Title 1"/>
          <p:cNvSpPr txBox="1">
            <a:spLocks/>
          </p:cNvSpPr>
          <p:nvPr/>
        </p:nvSpPr>
        <p:spPr>
          <a:xfrm>
            <a:off x="1676400" y="0"/>
            <a:ext cx="7467600" cy="83820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Prerequisite</a:t>
            </a:r>
          </a:p>
        </p:txBody>
      </p:sp>
      <p:sp>
        <p:nvSpPr>
          <p:cNvPr id="2" name="Rectangle 1">
            <a:extLst>
              <a:ext uri="{FF2B5EF4-FFF2-40B4-BE49-F238E27FC236}">
                <a16:creationId xmlns:a16="http://schemas.microsoft.com/office/drawing/2014/main" id="{7A878967-1FBC-76D1-2195-40C59CBF1417}"/>
              </a:ext>
            </a:extLst>
          </p:cNvPr>
          <p:cNvSpPr>
            <a:spLocks noChangeArrowheads="1"/>
          </p:cNvSpPr>
          <p:nvPr/>
        </p:nvSpPr>
        <p:spPr bwMode="auto">
          <a:xfrm>
            <a:off x="152400" y="1309301"/>
            <a:ext cx="869188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US" b="1" dirty="0">
                <a:solidFill>
                  <a:schemeClr val="dk1"/>
                </a:solidFill>
                <a:latin typeface="Times New Roman" panose="02020603050405020304" pitchFamily="18" charset="0"/>
                <a:cs typeface="Times New Roman" panose="02020603050405020304" pitchFamily="18" charset="0"/>
              </a:rPr>
              <a:t>Prerequisite:</a:t>
            </a:r>
          </a:p>
          <a:p>
            <a:pPr algn="just" eaLnBrk="0" fontAlgn="base" hangingPunct="0">
              <a:spcBef>
                <a:spcPct val="0"/>
              </a:spcBef>
              <a:spcAft>
                <a:spcPct val="0"/>
              </a:spcAft>
            </a:pPr>
            <a:endParaRPr lang="en-US" b="1" i="1" dirty="0">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Basic knowledge of formal languages and automata concepts such as alphabets, strings, and languages.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Understanding of regular languages, regular expressions, and finite automata (DFA/NFA).</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Familiarity with grammar basics, including terminals, non-terminals, production rules, and derivations.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Basic understanding of set theory and mathematical notation used in language definitions.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Awareness of language recognition models and their role in classifying languages.</a:t>
            </a:r>
          </a:p>
        </p:txBody>
      </p:sp>
      <p:sp>
        <p:nvSpPr>
          <p:cNvPr id="10" name="Footer Placeholder 12">
            <a:extLst>
              <a:ext uri="{FF2B5EF4-FFF2-40B4-BE49-F238E27FC236}">
                <a16:creationId xmlns:a16="http://schemas.microsoft.com/office/drawing/2014/main" id="{658EBE10-FD8A-9E54-FA1D-C4AB730393BD}"/>
              </a:ext>
            </a:extLst>
          </p:cNvPr>
          <p:cNvSpPr>
            <a:spLocks noGrp="1"/>
          </p:cNvSpPr>
          <p:nvPr>
            <p:ph type="ftr" sz="quarter" idx="11"/>
          </p:nvPr>
        </p:nvSpPr>
        <p:spPr>
          <a:xfrm>
            <a:off x="1905000" y="6400800"/>
            <a:ext cx="5410200" cy="365125"/>
          </a:xfrm>
        </p:spPr>
        <p:txBody>
          <a:bodyPr/>
          <a:lstStyle/>
          <a:p>
            <a:r>
              <a:rPr lang="en-US" smtClean="0">
                <a:latin typeface="Times New Roman" panose="02020603050405020304" pitchFamily="18" charset="0"/>
                <a:cs typeface="Times New Roman" panose="02020603050405020304" pitchFamily="18" charset="0"/>
              </a:rPr>
              <a:t>Vivek Kumart Sharma                BCSE0404X(TOC)                     Unit III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97220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3EC993B8-2DB0-4D5B-9912-05740FACFD95}" type="datetime1">
              <a:rPr lang="en-US" smtClean="0"/>
              <a:t>4/10/2026</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22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Prerequisite </a:t>
            </a:r>
          </a:p>
        </p:txBody>
      </p:sp>
      <p:sp>
        <p:nvSpPr>
          <p:cNvPr id="9" name="AutoShape 4" descr="Waterfall SDLC Model Scheme">
            <a:extLst>
              <a:ext uri="{FF2B5EF4-FFF2-40B4-BE49-F238E27FC236}">
                <a16:creationId xmlns:a16="http://schemas.microsoft.com/office/drawing/2014/main" id="{352BE330-9D12-4AF1-8870-4E208F774BAF}"/>
              </a:ext>
            </a:extLst>
          </p:cNvPr>
          <p:cNvSpPr>
            <a:spLocks noGrp="1" noChangeAspect="1" noChangeArrowheads="1"/>
          </p:cNvSpPr>
          <p:nvPr>
            <p:ph idx="1"/>
          </p:nvPr>
        </p:nvSpPr>
        <p:spPr bwMode="auto">
          <a:xfrm>
            <a:off x="368049" y="1018268"/>
            <a:ext cx="8313308" cy="4572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pPr marL="0" indent="0">
              <a:buNone/>
            </a:pPr>
            <a:r>
              <a:rPr lang="en-IN" dirty="0"/>
              <a:t>.</a:t>
            </a:r>
          </a:p>
        </p:txBody>
      </p:sp>
      <p:sp>
        <p:nvSpPr>
          <p:cNvPr id="10" name="AutoShape 6" descr="Waterfall SDLC Model Scheme">
            <a:extLst>
              <a:ext uri="{FF2B5EF4-FFF2-40B4-BE49-F238E27FC236}">
                <a16:creationId xmlns:a16="http://schemas.microsoft.com/office/drawing/2014/main" id="{6E5934FE-990E-48BD-93D6-CA2347E22278}"/>
              </a:ext>
            </a:extLst>
          </p:cNvPr>
          <p:cNvSpPr>
            <a:spLocks noChangeAspect="1" noChangeArrowheads="1"/>
          </p:cNvSpPr>
          <p:nvPr/>
        </p:nvSpPr>
        <p:spPr bwMode="auto">
          <a:xfrm>
            <a:off x="4419600" y="3276600"/>
            <a:ext cx="1447800" cy="1447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Oval 1">
            <a:extLst>
              <a:ext uri="{FF2B5EF4-FFF2-40B4-BE49-F238E27FC236}">
                <a16:creationId xmlns:a16="http://schemas.microsoft.com/office/drawing/2014/main" id="{2F15225B-26EF-4CB2-9609-8D8F8CFB2854}"/>
              </a:ext>
            </a:extLst>
          </p:cNvPr>
          <p:cNvSpPr/>
          <p:nvPr/>
        </p:nvSpPr>
        <p:spPr>
          <a:xfrm>
            <a:off x="517073" y="1119015"/>
            <a:ext cx="2971800" cy="167640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A</a:t>
            </a:r>
            <a:r>
              <a:rPr lang="en-US" sz="3200" b="0" i="0" dirty="0">
                <a:solidFill>
                  <a:srgbClr val="000000"/>
                </a:solidFill>
                <a:effectLst/>
                <a:latin typeface="Times New Roman" panose="02020603050405020304" pitchFamily="18" charset="0"/>
              </a:rPr>
              <a:t>utomata </a:t>
            </a:r>
            <a:r>
              <a:rPr lang="en-US" sz="3200" dirty="0">
                <a:solidFill>
                  <a:srgbClr val="000000"/>
                </a:solidFill>
                <a:latin typeface="Times New Roman" panose="02020603050405020304" pitchFamily="18" charset="0"/>
              </a:rPr>
              <a:t>T</a:t>
            </a:r>
            <a:r>
              <a:rPr lang="en-US" sz="3200" b="0" i="0" dirty="0">
                <a:solidFill>
                  <a:srgbClr val="000000"/>
                </a:solidFill>
                <a:effectLst/>
                <a:latin typeface="Times New Roman" panose="02020603050405020304" pitchFamily="18" charset="0"/>
              </a:rPr>
              <a:t>heory</a:t>
            </a:r>
            <a:endParaRPr lang="en-IN" sz="3200" dirty="0"/>
          </a:p>
        </p:txBody>
      </p:sp>
      <p:sp>
        <p:nvSpPr>
          <p:cNvPr id="3" name="Oval 2">
            <a:extLst>
              <a:ext uri="{FF2B5EF4-FFF2-40B4-BE49-F238E27FC236}">
                <a16:creationId xmlns:a16="http://schemas.microsoft.com/office/drawing/2014/main" id="{A64BD0B4-263F-48CE-82AE-BF929B518396}"/>
              </a:ext>
            </a:extLst>
          </p:cNvPr>
          <p:cNvSpPr/>
          <p:nvPr/>
        </p:nvSpPr>
        <p:spPr>
          <a:xfrm>
            <a:off x="5709557" y="1143000"/>
            <a:ext cx="2971800" cy="16764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C</a:t>
            </a:r>
            <a:r>
              <a:rPr lang="en-US" sz="3200" b="0" i="0" dirty="0">
                <a:solidFill>
                  <a:srgbClr val="000000"/>
                </a:solidFill>
                <a:effectLst/>
                <a:latin typeface="Times New Roman" panose="02020603050405020304" pitchFamily="18" charset="0"/>
              </a:rPr>
              <a:t>ontext </a:t>
            </a:r>
            <a:r>
              <a:rPr lang="en-US" sz="3200" dirty="0">
                <a:solidFill>
                  <a:srgbClr val="000000"/>
                </a:solidFill>
                <a:latin typeface="Times New Roman" panose="02020603050405020304" pitchFamily="18" charset="0"/>
              </a:rPr>
              <a:t>F</a:t>
            </a:r>
            <a:r>
              <a:rPr lang="en-US" sz="3200" b="0" i="0" dirty="0">
                <a:solidFill>
                  <a:srgbClr val="000000"/>
                </a:solidFill>
                <a:effectLst/>
                <a:latin typeface="Times New Roman" panose="02020603050405020304" pitchFamily="18" charset="0"/>
              </a:rPr>
              <a:t>ree </a:t>
            </a:r>
            <a:r>
              <a:rPr lang="en-US" sz="3200" dirty="0">
                <a:solidFill>
                  <a:srgbClr val="000000"/>
                </a:solidFill>
                <a:latin typeface="Times New Roman" panose="02020603050405020304" pitchFamily="18" charset="0"/>
              </a:rPr>
              <a:t>L</a:t>
            </a:r>
            <a:r>
              <a:rPr lang="en-US" sz="3200" b="0" i="0" dirty="0">
                <a:solidFill>
                  <a:srgbClr val="000000"/>
                </a:solidFill>
                <a:effectLst/>
                <a:latin typeface="Times New Roman" panose="02020603050405020304" pitchFamily="18" charset="0"/>
              </a:rPr>
              <a:t>anguages</a:t>
            </a:r>
            <a:endParaRPr lang="en-IN" sz="3200" dirty="0"/>
          </a:p>
        </p:txBody>
      </p:sp>
      <p:sp>
        <p:nvSpPr>
          <p:cNvPr id="5" name="Oval 4">
            <a:extLst>
              <a:ext uri="{FF2B5EF4-FFF2-40B4-BE49-F238E27FC236}">
                <a16:creationId xmlns:a16="http://schemas.microsoft.com/office/drawing/2014/main" id="{F67179D9-8722-48EA-8CC0-129F8181C23F}"/>
              </a:ext>
            </a:extLst>
          </p:cNvPr>
          <p:cNvSpPr/>
          <p:nvPr/>
        </p:nvSpPr>
        <p:spPr>
          <a:xfrm>
            <a:off x="2823341" y="4613728"/>
            <a:ext cx="3296870" cy="1676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C</a:t>
            </a:r>
            <a:r>
              <a:rPr lang="en-US" sz="3200" b="0" i="0" dirty="0">
                <a:solidFill>
                  <a:srgbClr val="000000"/>
                </a:solidFill>
                <a:effectLst/>
                <a:latin typeface="Times New Roman" panose="02020603050405020304" pitchFamily="18" charset="0"/>
              </a:rPr>
              <a:t>omputer </a:t>
            </a:r>
            <a:r>
              <a:rPr lang="en-US" sz="3200" dirty="0">
                <a:solidFill>
                  <a:srgbClr val="000000"/>
                </a:solidFill>
                <a:latin typeface="Times New Roman" panose="02020603050405020304" pitchFamily="18" charset="0"/>
              </a:rPr>
              <a:t>A</a:t>
            </a:r>
            <a:r>
              <a:rPr lang="en-US" sz="3200" b="0" i="0" dirty="0">
                <a:solidFill>
                  <a:srgbClr val="000000"/>
                </a:solidFill>
                <a:effectLst/>
                <a:latin typeface="Times New Roman" panose="02020603050405020304" pitchFamily="18" charset="0"/>
              </a:rPr>
              <a:t>rchitecture</a:t>
            </a:r>
            <a:endParaRPr lang="en-IN" sz="3200" dirty="0"/>
          </a:p>
        </p:txBody>
      </p:sp>
      <p:sp>
        <p:nvSpPr>
          <p:cNvPr id="16" name="Oval 15">
            <a:extLst>
              <a:ext uri="{FF2B5EF4-FFF2-40B4-BE49-F238E27FC236}">
                <a16:creationId xmlns:a16="http://schemas.microsoft.com/office/drawing/2014/main" id="{30982FCC-0CCA-4275-810D-FFD2A785BB1C}"/>
              </a:ext>
            </a:extLst>
          </p:cNvPr>
          <p:cNvSpPr/>
          <p:nvPr/>
        </p:nvSpPr>
        <p:spPr>
          <a:xfrm>
            <a:off x="3496922" y="2604859"/>
            <a:ext cx="2613322" cy="1676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Data Structure</a:t>
            </a:r>
            <a:endParaRPr lang="en-IN" sz="3200" dirty="0"/>
          </a:p>
        </p:txBody>
      </p:sp>
      <p:sp>
        <p:nvSpPr>
          <p:cNvPr id="18" name="Oval 17">
            <a:extLst>
              <a:ext uri="{FF2B5EF4-FFF2-40B4-BE49-F238E27FC236}">
                <a16:creationId xmlns:a16="http://schemas.microsoft.com/office/drawing/2014/main" id="{5420A6A2-BAFD-4EC2-9430-DDDEA2AE1E6D}"/>
              </a:ext>
            </a:extLst>
          </p:cNvPr>
          <p:cNvSpPr/>
          <p:nvPr/>
        </p:nvSpPr>
        <p:spPr>
          <a:xfrm>
            <a:off x="6194301" y="3644164"/>
            <a:ext cx="2971800" cy="16764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3200" dirty="0">
                <a:solidFill>
                  <a:schemeClr val="tx1"/>
                </a:solidFill>
              </a:rPr>
              <a:t>Simple Graph Algorithms</a:t>
            </a:r>
          </a:p>
        </p:txBody>
      </p:sp>
      <p:sp>
        <p:nvSpPr>
          <p:cNvPr id="20" name="Oval 19">
            <a:extLst>
              <a:ext uri="{FF2B5EF4-FFF2-40B4-BE49-F238E27FC236}">
                <a16:creationId xmlns:a16="http://schemas.microsoft.com/office/drawing/2014/main" id="{ED34326C-CF49-4FEF-8AF8-38F676958473}"/>
              </a:ext>
            </a:extLst>
          </p:cNvPr>
          <p:cNvSpPr/>
          <p:nvPr/>
        </p:nvSpPr>
        <p:spPr>
          <a:xfrm>
            <a:off x="353129" y="3162300"/>
            <a:ext cx="2770976" cy="16764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3200" dirty="0">
                <a:solidFill>
                  <a:schemeClr val="tx1"/>
                </a:solidFill>
              </a:rPr>
              <a:t>Logic or Algebra</a:t>
            </a:r>
          </a:p>
        </p:txBody>
      </p:sp>
      <p:sp>
        <p:nvSpPr>
          <p:cNvPr id="15" name="Footer Placeholder 12">
            <a:extLst>
              <a:ext uri="{FF2B5EF4-FFF2-40B4-BE49-F238E27FC236}">
                <a16:creationId xmlns:a16="http://schemas.microsoft.com/office/drawing/2014/main" id="{F746954D-662C-427F-93CD-F5A873E5AD0D}"/>
              </a:ext>
            </a:extLst>
          </p:cNvPr>
          <p:cNvSpPr>
            <a:spLocks noGrp="1"/>
          </p:cNvSpPr>
          <p:nvPr>
            <p:ph type="ftr" sz="quarter" idx="11"/>
          </p:nvPr>
        </p:nvSpPr>
        <p:spPr>
          <a:xfrm>
            <a:off x="2286000" y="6248400"/>
            <a:ext cx="5029200" cy="365125"/>
          </a:xfrm>
        </p:spPr>
        <p:txBody>
          <a:bodyPr/>
          <a:lstStyle/>
          <a:p>
            <a:r>
              <a:rPr lang="it-IT" smtClean="0"/>
              <a:t>Vivek Kumar Sharma                      CD                Unit 2</a:t>
            </a:r>
            <a:endParaRPr lang="en-US" dirty="0"/>
          </a:p>
        </p:txBody>
      </p:sp>
      <p:pic>
        <p:nvPicPr>
          <p:cNvPr id="19" name="Picture 1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8321221B-CE9C-45AE-ADF6-0CF762B375FF}"/>
              </a:ext>
            </a:extLst>
          </p:cNvPr>
          <p:cNvPicPr>
            <a:picLocks noGrp="1" noChangeAspect="1"/>
          </p:cNvPicPr>
          <p:nvPr>
            <p:ph idx="1"/>
          </p:nvPr>
        </p:nvPicPr>
        <p:blipFill>
          <a:blip r:embed="rId3"/>
          <a:stretch>
            <a:fillRect/>
          </a:stretch>
        </p:blipFill>
        <p:spPr>
          <a:xfrm>
            <a:off x="533400" y="852610"/>
            <a:ext cx="6172200" cy="5539186"/>
          </a:xfrm>
          <a:prstGeom prst="rect">
            <a:avLst/>
          </a:prstGeom>
        </p:spPr>
      </p:pic>
      <p:sp>
        <p:nvSpPr>
          <p:cNvPr id="4" name="Date Placeholder 3"/>
          <p:cNvSpPr>
            <a:spLocks noGrp="1"/>
          </p:cNvSpPr>
          <p:nvPr>
            <p:ph type="dt" sz="half" idx="10"/>
          </p:nvPr>
        </p:nvSpPr>
        <p:spPr>
          <a:xfrm>
            <a:off x="457200" y="6356350"/>
            <a:ext cx="2133600" cy="365125"/>
          </a:xfrm>
        </p:spPr>
        <p:txBody>
          <a:bodyPr/>
          <a:lstStyle/>
          <a:p>
            <a:fld id="{957580FB-97AC-4D8C-949E-0A245E4FA815}" type="datetime1">
              <a:rPr lang="en-US" smtClean="0"/>
              <a:t>4/10/2026</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23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RECAP</a:t>
            </a:r>
            <a:endParaRPr lang="en-US" sz="2400" dirty="0">
              <a:latin typeface="Times New Roman" panose="02020603050405020304" pitchFamily="18" charset="0"/>
              <a:cs typeface="Times New Roman" panose="02020603050405020304" pitchFamily="18" charset="0"/>
            </a:endParaRPr>
          </a:p>
        </p:txBody>
      </p:sp>
      <p:sp>
        <p:nvSpPr>
          <p:cNvPr id="9" name="Right Brace 8">
            <a:extLst>
              <a:ext uri="{FF2B5EF4-FFF2-40B4-BE49-F238E27FC236}">
                <a16:creationId xmlns:a16="http://schemas.microsoft.com/office/drawing/2014/main" id="{C778AD16-8A6D-4EB3-87BF-E4C6C9D56322}"/>
              </a:ext>
            </a:extLst>
          </p:cNvPr>
          <p:cNvSpPr/>
          <p:nvPr/>
        </p:nvSpPr>
        <p:spPr>
          <a:xfrm>
            <a:off x="6705600" y="1905000"/>
            <a:ext cx="685800" cy="1524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 name="Right Brace 10">
            <a:extLst>
              <a:ext uri="{FF2B5EF4-FFF2-40B4-BE49-F238E27FC236}">
                <a16:creationId xmlns:a16="http://schemas.microsoft.com/office/drawing/2014/main" id="{B38225C9-6E31-4D15-B4EB-CDE82AD799C8}"/>
              </a:ext>
            </a:extLst>
          </p:cNvPr>
          <p:cNvSpPr/>
          <p:nvPr/>
        </p:nvSpPr>
        <p:spPr>
          <a:xfrm>
            <a:off x="6705600" y="3733800"/>
            <a:ext cx="685800" cy="1524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TextBox 11">
            <a:extLst>
              <a:ext uri="{FF2B5EF4-FFF2-40B4-BE49-F238E27FC236}">
                <a16:creationId xmlns:a16="http://schemas.microsoft.com/office/drawing/2014/main" id="{F447A308-9494-4DD9-A64A-476835CFF8F2}"/>
              </a:ext>
            </a:extLst>
          </p:cNvPr>
          <p:cNvSpPr txBox="1"/>
          <p:nvPr/>
        </p:nvSpPr>
        <p:spPr>
          <a:xfrm>
            <a:off x="7558638" y="2343834"/>
            <a:ext cx="1072730" cy="646331"/>
          </a:xfrm>
          <a:prstGeom prst="rect">
            <a:avLst/>
          </a:prstGeom>
          <a:noFill/>
        </p:spPr>
        <p:txBody>
          <a:bodyPr wrap="none" rtlCol="0">
            <a:spAutoFit/>
          </a:bodyPr>
          <a:lstStyle/>
          <a:p>
            <a:pPr algn="ctr"/>
            <a:r>
              <a:rPr lang="en-US" sz="1800" b="1" dirty="0">
                <a:latin typeface="Times New Roman" panose="02020603050405020304" pitchFamily="18" charset="0"/>
                <a:cs typeface="Times New Roman" panose="02020603050405020304" pitchFamily="18" charset="0"/>
              </a:rPr>
              <a:t>Analysis</a:t>
            </a:r>
          </a:p>
          <a:p>
            <a:pPr algn="ctr"/>
            <a:r>
              <a:rPr lang="en-IN"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Frontend)</a:t>
            </a:r>
          </a:p>
        </p:txBody>
      </p:sp>
      <p:sp>
        <p:nvSpPr>
          <p:cNvPr id="14" name="TextBox 13">
            <a:extLst>
              <a:ext uri="{FF2B5EF4-FFF2-40B4-BE49-F238E27FC236}">
                <a16:creationId xmlns:a16="http://schemas.microsoft.com/office/drawing/2014/main" id="{5F57E216-4C5F-4410-A47A-743277D25746}"/>
              </a:ext>
            </a:extLst>
          </p:cNvPr>
          <p:cNvSpPr txBox="1"/>
          <p:nvPr/>
        </p:nvSpPr>
        <p:spPr>
          <a:xfrm>
            <a:off x="7526167" y="4172634"/>
            <a:ext cx="1107996" cy="646331"/>
          </a:xfrm>
          <a:prstGeom prst="rect">
            <a:avLst/>
          </a:prstGeom>
          <a:noFill/>
        </p:spPr>
        <p:txBody>
          <a:bodyPr wrap="none" rtlCol="0">
            <a:spAutoFit/>
          </a:bodyPr>
          <a:lstStyle/>
          <a:p>
            <a:pPr algn="ctr"/>
            <a:r>
              <a:rPr lang="en-US" sz="1800" b="1" dirty="0">
                <a:latin typeface="Times New Roman" panose="02020603050405020304" pitchFamily="18" charset="0"/>
                <a:cs typeface="Times New Roman" panose="02020603050405020304" pitchFamily="18" charset="0"/>
              </a:rPr>
              <a:t>Syn</a:t>
            </a:r>
            <a:r>
              <a:rPr lang="en-US" b="1" dirty="0">
                <a:latin typeface="Times New Roman" panose="02020603050405020304" pitchFamily="18" charset="0"/>
                <a:cs typeface="Times New Roman" panose="02020603050405020304" pitchFamily="18" charset="0"/>
              </a:rPr>
              <a:t>thesis</a:t>
            </a:r>
            <a:endParaRPr lang="en-US" sz="1800" b="1"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Backend)</a:t>
            </a:r>
          </a:p>
        </p:txBody>
      </p:sp>
      <p:sp>
        <p:nvSpPr>
          <p:cNvPr id="15" name="Footer Placeholder 12">
            <a:extLst>
              <a:ext uri="{FF2B5EF4-FFF2-40B4-BE49-F238E27FC236}">
                <a16:creationId xmlns:a16="http://schemas.microsoft.com/office/drawing/2014/main" id="{A0B9E3E6-37FB-4D81-99D8-264B35C17788}"/>
              </a:ext>
            </a:extLst>
          </p:cNvPr>
          <p:cNvSpPr>
            <a:spLocks noGrp="1"/>
          </p:cNvSpPr>
          <p:nvPr>
            <p:ph type="ftr" sz="quarter" idx="11"/>
          </p:nvPr>
        </p:nvSpPr>
        <p:spPr>
          <a:xfrm>
            <a:off x="2286000" y="6248400"/>
            <a:ext cx="5029200" cy="365125"/>
          </a:xfrm>
        </p:spPr>
        <p:txBody>
          <a:bodyPr/>
          <a:lstStyle/>
          <a:p>
            <a:r>
              <a:rPr lang="it-IT" smtClean="0"/>
              <a:t>Vivek Kumar Sharma                      CD                Unit 2</a:t>
            </a:r>
            <a:endParaRPr lang="en-US" dirty="0"/>
          </a:p>
        </p:txBody>
      </p:sp>
      <p:pic>
        <p:nvPicPr>
          <p:cNvPr id="16" name="Picture 15"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71676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ppt_x"/>
                                          </p:val>
                                        </p:tav>
                                        <p:tav tm="100000">
                                          <p:val>
                                            <p:strVal val="#ppt_x"/>
                                          </p:val>
                                        </p:tav>
                                      </p:tavLst>
                                    </p:anim>
                                    <p:anim calcmode="lin" valueType="num">
                                      <p:cBhvr additive="base">
                                        <p:cTn id="2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305800" cy="4800600"/>
          </a:xfrm>
        </p:spPr>
        <p:txBody>
          <a:bodyPr>
            <a:normAutofit/>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IN" sz="1800" b="1"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a:xfrm>
            <a:off x="457200" y="6356350"/>
            <a:ext cx="2133600" cy="365125"/>
          </a:xfrm>
        </p:spPr>
        <p:txBody>
          <a:bodyPr/>
          <a:lstStyle/>
          <a:p>
            <a:fld id="{F49D7DEF-1459-4565-AC93-68B8F6235D0D}" type="datetime1">
              <a:rPr lang="en-US" smtClean="0"/>
              <a:t>4/10/2026</a:t>
            </a:fld>
            <a:endParaRPr lang="en-US"/>
          </a:p>
        </p:txBody>
      </p:sp>
      <p:sp>
        <p:nvSpPr>
          <p:cNvPr id="7"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24</a:t>
            </a:fld>
            <a:endParaRPr lang="en-US"/>
          </a:p>
        </p:txBody>
      </p:sp>
      <p:sp>
        <p:nvSpPr>
          <p:cNvPr id="8"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Unit Content</a:t>
            </a:r>
          </a:p>
        </p:txBody>
      </p:sp>
      <p:sp>
        <p:nvSpPr>
          <p:cNvPr id="10" name="Footer Placeholder 9"/>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sp>
        <p:nvSpPr>
          <p:cNvPr id="11" name="TextBox 10">
            <a:extLst>
              <a:ext uri="{FF2B5EF4-FFF2-40B4-BE49-F238E27FC236}">
                <a16:creationId xmlns:a16="http://schemas.microsoft.com/office/drawing/2014/main" id="{6CB4378D-9A66-4851-AF1C-E0903F3F82F1}"/>
              </a:ext>
            </a:extLst>
          </p:cNvPr>
          <p:cNvSpPr txBox="1"/>
          <p:nvPr/>
        </p:nvSpPr>
        <p:spPr>
          <a:xfrm>
            <a:off x="419100" y="1214546"/>
            <a:ext cx="8305800" cy="424731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Course Objective</a:t>
            </a:r>
          </a:p>
          <a:p>
            <a:pPr marL="285750" indent="-285750" algn="just">
              <a:lnSpc>
                <a:spcPct val="150000"/>
              </a:lnSpc>
              <a:buFont typeface="Arial" panose="020B0604020202020204" pitchFamily="34" charset="0"/>
              <a:buChar char="•"/>
            </a:pPr>
            <a:r>
              <a:rPr lang="en-US" dirty="0">
                <a:solidFill>
                  <a:schemeClr val="dk1"/>
                </a:solidFill>
                <a:latin typeface="Times New Roman" panose="02020603050405020304" pitchFamily="18" charset="0"/>
                <a:cs typeface="Times New Roman" panose="02020603050405020304" pitchFamily="18" charset="0"/>
              </a:rPr>
              <a:t>Course Outcome</a:t>
            </a:r>
          </a:p>
          <a:p>
            <a:pPr marL="285750" indent="-285750" algn="just">
              <a:lnSpc>
                <a:spcPct val="150000"/>
              </a:lnSpc>
              <a:buFont typeface="Arial" panose="020B0604020202020204" pitchFamily="34" charset="0"/>
              <a:buChar char="•"/>
            </a:pPr>
            <a:r>
              <a:rPr lang="en-US" dirty="0">
                <a:solidFill>
                  <a:schemeClr val="dk1"/>
                </a:solidFill>
                <a:latin typeface="Times New Roman" panose="02020603050405020304" pitchFamily="18" charset="0"/>
                <a:cs typeface="Times New Roman" panose="02020603050405020304" pitchFamily="18" charset="0"/>
              </a:rPr>
              <a:t>CO-PO and PSO Mapping</a:t>
            </a:r>
          </a:p>
          <a:p>
            <a:pPr marL="285750" indent="-285750" algn="just">
              <a:lnSpc>
                <a:spcPct val="150000"/>
              </a:lnSpc>
              <a:buFont typeface="Arial" panose="020B0604020202020204" pitchFamily="34" charset="0"/>
              <a:buChar char="•"/>
            </a:pPr>
            <a:r>
              <a:rPr lang="en-US" dirty="0">
                <a:solidFill>
                  <a:schemeClr val="dk1"/>
                </a:solidFill>
                <a:latin typeface="Times New Roman" panose="02020603050405020304" pitchFamily="18" charset="0"/>
                <a:cs typeface="Times New Roman" panose="02020603050405020304" pitchFamily="18" charset="0"/>
              </a:rPr>
              <a:t>Prerequisite and Recap</a:t>
            </a:r>
          </a:p>
          <a:p>
            <a:pPr marL="285750" indent="-285750" algn="just">
              <a:lnSpc>
                <a:spcPct val="150000"/>
              </a:lnSpc>
              <a:buFont typeface="Arial" panose="020B0604020202020204" pitchFamily="34" charset="0"/>
              <a:buChar char="•"/>
            </a:pPr>
            <a:r>
              <a:rPr lang="en-US" dirty="0">
                <a:solidFill>
                  <a:schemeClr val="dk1"/>
                </a:solidFill>
                <a:latin typeface="Times New Roman" panose="02020603050405020304" pitchFamily="18" charset="0"/>
                <a:cs typeface="Times New Roman" panose="02020603050405020304" pitchFamily="18" charset="0"/>
              </a:rPr>
              <a:t>Objective of Topics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Basic Parsing Techniques: Parsers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Shift reduce parsing</a:t>
            </a:r>
          </a:p>
          <a:p>
            <a:pPr marL="285750" indent="-285750" algn="just">
              <a:lnSpc>
                <a:spcPct val="150000"/>
              </a:lnSpc>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Top </a:t>
            </a:r>
            <a:r>
              <a:rPr lang="en-IN" dirty="0">
                <a:latin typeface="Times New Roman" panose="02020603050405020304" pitchFamily="18" charset="0"/>
                <a:cs typeface="Times New Roman" panose="02020603050405020304" pitchFamily="18" charset="0"/>
              </a:rPr>
              <a:t>down parsing,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Predictive parsers Automatic Construction of efficient Parsers: LR parsers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canonical Collection of LR(0) items,</a:t>
            </a: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305800" cy="4800600"/>
          </a:xfrm>
        </p:spPr>
        <p:txBody>
          <a:bodyPr>
            <a:normAutofit/>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IN" sz="1800" b="1"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a:xfrm>
            <a:off x="457200" y="6356350"/>
            <a:ext cx="2133600" cy="365125"/>
          </a:xfrm>
        </p:spPr>
        <p:txBody>
          <a:bodyPr/>
          <a:lstStyle/>
          <a:p>
            <a:fld id="{A5DB74E0-36D6-4CD3-970C-BA5CC21B0F87}" type="datetime1">
              <a:rPr lang="en-US" smtClean="0"/>
              <a:t>4/10/2026</a:t>
            </a:fld>
            <a:endParaRPr lang="en-US"/>
          </a:p>
        </p:txBody>
      </p:sp>
      <p:sp>
        <p:nvSpPr>
          <p:cNvPr id="7"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25</a:t>
            </a:fld>
            <a:endParaRPr lang="en-US"/>
          </a:p>
        </p:txBody>
      </p:sp>
      <p:sp>
        <p:nvSpPr>
          <p:cNvPr id="8"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Unit Content</a:t>
            </a:r>
          </a:p>
        </p:txBody>
      </p:sp>
      <p:sp>
        <p:nvSpPr>
          <p:cNvPr id="11" name="TextBox 10">
            <a:extLst>
              <a:ext uri="{FF2B5EF4-FFF2-40B4-BE49-F238E27FC236}">
                <a16:creationId xmlns:a16="http://schemas.microsoft.com/office/drawing/2014/main" id="{6CB4378D-9A66-4851-AF1C-E0903F3F82F1}"/>
              </a:ext>
            </a:extLst>
          </p:cNvPr>
          <p:cNvSpPr txBox="1"/>
          <p:nvPr/>
        </p:nvSpPr>
        <p:spPr>
          <a:xfrm>
            <a:off x="457200" y="817163"/>
            <a:ext cx="8305800" cy="466281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Constructing SLR parsing tables</a:t>
            </a:r>
          </a:p>
          <a:p>
            <a:pPr marL="285750" indent="-285750" algn="just">
              <a:lnSpc>
                <a:spcPct val="150000"/>
              </a:lnSpc>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Implementation </a:t>
            </a:r>
            <a:r>
              <a:rPr lang="en-IN" dirty="0">
                <a:latin typeface="Times New Roman" panose="02020603050405020304" pitchFamily="18" charset="0"/>
                <a:cs typeface="Times New Roman" panose="02020603050405020304" pitchFamily="18" charset="0"/>
              </a:rPr>
              <a:t>of LR parsing tables.</a:t>
            </a:r>
            <a:endParaRPr lang="en-US" sz="1800" dirty="0">
              <a:solidFill>
                <a:schemeClr val="dk1"/>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800" dirty="0">
                <a:solidFill>
                  <a:schemeClr val="dk1"/>
                </a:solidFill>
                <a:latin typeface="Times New Roman" panose="02020603050405020304" pitchFamily="18" charset="0"/>
                <a:cs typeface="Times New Roman" panose="02020603050405020304" pitchFamily="18" charset="0"/>
              </a:rPr>
              <a:t>Faculty Video Links, </a:t>
            </a:r>
            <a:r>
              <a:rPr lang="en-US" sz="1800" dirty="0" err="1">
                <a:solidFill>
                  <a:schemeClr val="dk1"/>
                </a:solidFill>
                <a:latin typeface="Times New Roman" panose="02020603050405020304" pitchFamily="18" charset="0"/>
                <a:cs typeface="Times New Roman" panose="02020603050405020304" pitchFamily="18" charset="0"/>
              </a:rPr>
              <a:t>Youtube</a:t>
            </a:r>
            <a:r>
              <a:rPr lang="en-US" sz="1800" dirty="0">
                <a:solidFill>
                  <a:schemeClr val="dk1"/>
                </a:solidFill>
                <a:latin typeface="Times New Roman" panose="02020603050405020304" pitchFamily="18" charset="0"/>
                <a:cs typeface="Times New Roman" panose="02020603050405020304" pitchFamily="18" charset="0"/>
              </a:rPr>
              <a:t> &amp; NPTEL Video Links and Online Courses Details  </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Daily Quiz</a:t>
            </a:r>
          </a:p>
          <a:p>
            <a:pPr marL="285750" indent="-285750" algn="just">
              <a:lnSpc>
                <a:spcPct val="150000"/>
              </a:lnSpc>
              <a:buFont typeface="Arial" panose="020B0604020202020204" pitchFamily="34" charset="0"/>
              <a:buChar char="•"/>
            </a:pPr>
            <a:r>
              <a:rPr lang="en-US" sz="1800" dirty="0">
                <a:solidFill>
                  <a:schemeClr val="dk1"/>
                </a:solidFill>
                <a:latin typeface="Times New Roman" panose="02020603050405020304" pitchFamily="18" charset="0"/>
                <a:cs typeface="Times New Roman" panose="02020603050405020304" pitchFamily="18" charset="0"/>
              </a:rPr>
              <a:t>Weekly Assignments</a:t>
            </a:r>
          </a:p>
          <a:p>
            <a:pPr marL="285750" indent="-285750" algn="just">
              <a:lnSpc>
                <a:spcPct val="150000"/>
              </a:lnSpc>
              <a:buFont typeface="Arial" panose="020B0604020202020204" pitchFamily="34" charset="0"/>
              <a:buChar char="•"/>
            </a:pPr>
            <a:r>
              <a:rPr lang="en-US" sz="1800" dirty="0">
                <a:solidFill>
                  <a:schemeClr val="dk1"/>
                </a:solidFill>
                <a:latin typeface="Times New Roman" panose="02020603050405020304" pitchFamily="18" charset="0"/>
                <a:cs typeface="Times New Roman" panose="02020603050405020304" pitchFamily="18" charset="0"/>
              </a:rPr>
              <a:t>MCQ</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Expected  Question for University Exam/old question paper</a:t>
            </a:r>
            <a:endParaRPr lang="en-US" sz="1800" dirty="0">
              <a:solidFill>
                <a:schemeClr val="dk1"/>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800" dirty="0">
                <a:solidFill>
                  <a:schemeClr val="dk1"/>
                </a:solidFill>
                <a:latin typeface="Times New Roman" panose="02020603050405020304" pitchFamily="18" charset="0"/>
                <a:cs typeface="Times New Roman" panose="02020603050405020304" pitchFamily="18" charset="0"/>
              </a:rPr>
              <a:t>References</a:t>
            </a:r>
          </a:p>
          <a:p>
            <a:pPr marL="285750" indent="-285750" algn="just">
              <a:lnSpc>
                <a:spcPct val="150000"/>
              </a:lnSpc>
              <a:buFont typeface="Arial" panose="020B0604020202020204" pitchFamily="34" charset="0"/>
              <a:buChar char="•"/>
            </a:pPr>
            <a:endPar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p:txBody>
      </p:sp>
      <p:sp>
        <p:nvSpPr>
          <p:cNvPr id="12" name="Footer Placeholder 12">
            <a:extLst>
              <a:ext uri="{FF2B5EF4-FFF2-40B4-BE49-F238E27FC236}">
                <a16:creationId xmlns:a16="http://schemas.microsoft.com/office/drawing/2014/main" id="{55711B09-E024-495C-BCD3-44826E19BDBC}"/>
              </a:ext>
            </a:extLst>
          </p:cNvPr>
          <p:cNvSpPr>
            <a:spLocks noGrp="1"/>
          </p:cNvSpPr>
          <p:nvPr>
            <p:ph type="ftr" sz="quarter" idx="11"/>
          </p:nvPr>
        </p:nvSpPr>
        <p:spPr>
          <a:xfrm>
            <a:off x="2286000" y="6248400"/>
            <a:ext cx="5029200" cy="365125"/>
          </a:xfrm>
        </p:spPr>
        <p:txBody>
          <a:bodyPr/>
          <a:lstStyle/>
          <a:p>
            <a:r>
              <a:rPr lang="it-IT" smtClean="0"/>
              <a:t>Vivek Kumar Sharma                      CD                Unit 2</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09175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7820BE22-9B82-4752-BAFB-6CA146E61663}" type="datetime1">
              <a:rPr lang="en-US" smtClean="0"/>
              <a:t>4/10/2026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a:p>
        </p:txBody>
      </p:sp>
      <p:sp>
        <p:nvSpPr>
          <p:cNvPr id="8"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457200" indent="-457200" algn="ctr">
              <a:spcBef>
                <a:spcPts val="0"/>
              </a:spcBef>
            </a:pPr>
            <a:r>
              <a:rPr lang="en-US" sz="3000" dirty="0">
                <a:latin typeface="Calibri (Body)"/>
              </a:rPr>
              <a:t>Unit Objective</a:t>
            </a:r>
          </a:p>
        </p:txBody>
      </p:sp>
      <p:graphicFrame>
        <p:nvGraphicFramePr>
          <p:cNvPr id="12" name="Table 11"/>
          <p:cNvGraphicFramePr>
            <a:graphicFrameLocks noGrp="1"/>
          </p:cNvGraphicFramePr>
          <p:nvPr>
            <p:extLst>
              <p:ext uri="{D42A27DB-BD31-4B8C-83A1-F6EECF244321}">
                <p14:modId xmlns:p14="http://schemas.microsoft.com/office/powerpoint/2010/main" val="93061848"/>
              </p:ext>
            </p:extLst>
          </p:nvPr>
        </p:nvGraphicFramePr>
        <p:xfrm>
          <a:off x="457200" y="1169336"/>
          <a:ext cx="8459182" cy="4164665"/>
        </p:xfrm>
        <a:graphic>
          <a:graphicData uri="http://schemas.openxmlformats.org/drawingml/2006/table">
            <a:tbl>
              <a:tblPr firstRow="1" bandRow="1">
                <a:tableStyleId>{21E4AEA4-8DFA-4A89-87EB-49C32662AFE0}</a:tableStyleId>
              </a:tblPr>
              <a:tblGrid>
                <a:gridCol w="2357454">
                  <a:extLst>
                    <a:ext uri="{9D8B030D-6E8A-4147-A177-3AD203B41FA5}">
                      <a16:colId xmlns:a16="http://schemas.microsoft.com/office/drawing/2014/main" val="20000"/>
                    </a:ext>
                  </a:extLst>
                </a:gridCol>
                <a:gridCol w="6101728">
                  <a:extLst>
                    <a:ext uri="{9D8B030D-6E8A-4147-A177-3AD203B41FA5}">
                      <a16:colId xmlns:a16="http://schemas.microsoft.com/office/drawing/2014/main" val="20001"/>
                    </a:ext>
                  </a:extLst>
                </a:gridCol>
              </a:tblGrid>
              <a:tr h="832933">
                <a:tc>
                  <a:txBody>
                    <a:bodyPr/>
                    <a:lstStyle/>
                    <a:p>
                      <a:pPr algn="ctr"/>
                      <a:r>
                        <a:rPr lang="en-GB" sz="1800" dirty="0"/>
                        <a:t>Topic</a:t>
                      </a:r>
                    </a:p>
                    <a:p>
                      <a:pPr algn="ctr"/>
                      <a:endParaRPr lang="en-GB"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GB" sz="1800"/>
                        <a:t>Objective</a:t>
                      </a:r>
                    </a:p>
                    <a:p>
                      <a:pPr algn="ctr"/>
                      <a:endParaRPr lang="en-GB" sz="18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8329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Basic Parsing Techniques</a:t>
                      </a:r>
                      <a:endParaRPr lang="en-IN" sz="18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indent="0" algn="just">
                        <a:buFont typeface="Arial" panose="020B0604020202020204" pitchFamily="34" charset="0"/>
                        <a:buNone/>
                      </a:pPr>
                      <a:r>
                        <a:rPr kumimoji="0" lang="en-US" sz="1800" u="none" strike="noStrike" kern="1200" cap="none" spc="0" normalizeH="0" baseline="0" noProof="0" dirty="0">
                          <a:ln>
                            <a:noFill/>
                          </a:ln>
                          <a:effectLst/>
                          <a:uLnTx/>
                          <a:uFillTx/>
                        </a:rPr>
                        <a:t>To learn about different parsing techniques.</a:t>
                      </a:r>
                      <a:endPar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832933">
                <a:tc>
                  <a: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Top Down Parsing</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Understand the logic behind top down parsing technique i.e. Predictive parsing technique.</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0002"/>
                  </a:ext>
                </a:extLst>
              </a:tr>
              <a:tr h="832933">
                <a:tc>
                  <a:txBody>
                    <a:bodyPr/>
                    <a:lstStyle/>
                    <a:p>
                      <a:pPr marL="0" indent="0" algn="l">
                        <a:buFont typeface="Arial" pitchFamily="34" charset="0"/>
                        <a:buNone/>
                      </a:pPr>
                      <a:r>
                        <a:rPr lang="en-US" sz="1800" dirty="0"/>
                        <a:t>Bottom Up Parsing</a:t>
                      </a:r>
                      <a:endParaRPr lang="en-US" sz="18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indent="0" algn="just">
                        <a:buFont typeface="Arial" panose="020B0604020202020204" pitchFamily="34" charset="0"/>
                        <a:buNone/>
                      </a:pPr>
                      <a:r>
                        <a:rPr kumimoji="0" lang="en-US" sz="1800" u="none" strike="noStrike" kern="1200" cap="none" spc="0" normalizeH="0" baseline="0" noProof="0" dirty="0">
                          <a:ln>
                            <a:noFill/>
                          </a:ln>
                          <a:effectLst/>
                          <a:uLnTx/>
                          <a:uFillTx/>
                        </a:rPr>
                        <a:t>To know about different bottom-up parsing techniques i.e. shift-reduce parsing techniques, operator precedence parsing etc.</a:t>
                      </a:r>
                      <a:endPar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832933">
                <a:tc>
                  <a: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LR Parsing</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To understand the four different types of LR parsing techniques</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68869425"/>
                  </a:ext>
                </a:extLst>
              </a:tr>
            </a:tbl>
          </a:graphicData>
        </a:graphic>
      </p:graphicFrame>
      <p:sp>
        <p:nvSpPr>
          <p:cNvPr id="10" name="Footer Placeholder 9">
            <a:extLst>
              <a:ext uri="{FF2B5EF4-FFF2-40B4-BE49-F238E27FC236}">
                <a16:creationId xmlns:a16="http://schemas.microsoft.com/office/drawing/2014/main" id="{379A28DD-473B-425D-8AA6-5CC1DD9F78A1}"/>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lstStyle/>
          <a:p>
            <a:pPr marL="457200" indent="-457200" algn="just">
              <a:buFont typeface="+mj-lt"/>
              <a:buAutoNum type="arabicPeriod"/>
            </a:pPr>
            <a:r>
              <a:rPr lang="en-US" sz="2400" dirty="0">
                <a:ea typeface="Calibri"/>
                <a:cs typeface="Times New Roman"/>
              </a:rPr>
              <a:t>Introduce students to the concepts of  Top Down and Bottom Up Parser .</a:t>
            </a:r>
          </a:p>
        </p:txBody>
      </p:sp>
      <p:sp>
        <p:nvSpPr>
          <p:cNvPr id="4" name="Date Placeholder 3"/>
          <p:cNvSpPr>
            <a:spLocks noGrp="1"/>
          </p:cNvSpPr>
          <p:nvPr>
            <p:ph type="dt" sz="quarter" idx="10"/>
          </p:nvPr>
        </p:nvSpPr>
        <p:spPr/>
        <p:txBody>
          <a:bodyPr/>
          <a:lstStyle/>
          <a:p>
            <a:pPr>
              <a:defRPr/>
            </a:pPr>
            <a:fld id="{52074967-3ABB-4D2C-97F6-5E0882F2E179}"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27</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Topic Objective(CO1)</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smtClean="0"/>
              <a:t>Vivek Kumar Sharma                      CD                Unit 2</a:t>
            </a:r>
            <a:endParaRPr lang="en-US" dirty="0"/>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ctr">
              <a:buNone/>
            </a:pPr>
            <a:r>
              <a:rPr lang="en-US" sz="1800" b="1" dirty="0">
                <a:latin typeface="Times New Roman" panose="02020603050405020304" pitchFamily="18" charset="0"/>
                <a:cs typeface="Times New Roman" panose="02020603050405020304" pitchFamily="18" charset="0"/>
              </a:rPr>
              <a:t>Parsing</a:t>
            </a:r>
            <a:r>
              <a:rPr lang="en-US" sz="1800" dirty="0">
                <a:latin typeface="Times New Roman" panose="02020603050405020304" pitchFamily="18" charset="0"/>
                <a:cs typeface="Times New Roman" panose="02020603050405020304" pitchFamily="18" charset="0"/>
              </a:rPr>
              <a:t> (also known as </a:t>
            </a:r>
            <a:r>
              <a:rPr lang="en-US" sz="1800" b="1" dirty="0">
                <a:latin typeface="Times New Roman" panose="02020603050405020304" pitchFamily="18" charset="0"/>
                <a:cs typeface="Times New Roman" panose="02020603050405020304" pitchFamily="18" charset="0"/>
              </a:rPr>
              <a:t>syntax analysis</a:t>
            </a:r>
            <a:r>
              <a:rPr lang="en-US" sz="1800" dirty="0">
                <a:latin typeface="Times New Roman" panose="02020603050405020304" pitchFamily="18" charset="0"/>
                <a:cs typeface="Times New Roman" panose="02020603050405020304" pitchFamily="18" charset="0"/>
              </a:rPr>
              <a:t>) can be defined as a process of analyzing a text which contains a sequence of tokens, to determine its grammatical structure with respect to a given grammar.</a:t>
            </a: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r>
              <a:rPr lang="en-US" sz="1800" dirty="0">
                <a:latin typeface="Times New Roman" panose="02020603050405020304" pitchFamily="18" charset="0"/>
                <a:cs typeface="Times New Roman" panose="02020603050405020304" pitchFamily="18" charset="0"/>
              </a:rPr>
              <a:t>Depending upon how the parse tree is built, parsing techniques are classified into two general categories</a:t>
            </a: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6744C4F-0DB2-4528-88EC-145BE57CEE42}"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Basic Parsing Techniques</a:t>
            </a:r>
            <a:r>
              <a:rPr lang="en-IN" sz="2400" dirty="0">
                <a:latin typeface="Times New Roman" panose="02020603050405020304" pitchFamily="18" charset="0"/>
                <a:cs typeface="Times New Roman" panose="02020603050405020304" pitchFamily="18" charset="0"/>
              </a:rPr>
              <a:t>(CO2)</a:t>
            </a: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  </a:t>
            </a: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1026" name="Picture 2" descr="Parser">
            <a:extLst>
              <a:ext uri="{FF2B5EF4-FFF2-40B4-BE49-F238E27FC236}">
                <a16:creationId xmlns:a16="http://schemas.microsoft.com/office/drawing/2014/main" id="{192FEF65-5115-493C-8AF1-C0D24E2F1B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649325"/>
            <a:ext cx="5029200" cy="257566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714926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anim calcmode="lin" valueType="num">
                                      <p:cBhvr>
                                        <p:cTn id="19" dur="500" fill="hold"/>
                                        <p:tgtEl>
                                          <p:spTgt spid="1026"/>
                                        </p:tgtEl>
                                        <p:attrNameLst>
                                          <p:attrName>ppt_w</p:attrName>
                                        </p:attrNameLst>
                                      </p:cBhvr>
                                      <p:tavLst>
                                        <p:tav tm="0">
                                          <p:val>
                                            <p:fltVal val="0"/>
                                          </p:val>
                                        </p:tav>
                                        <p:tav tm="100000">
                                          <p:val>
                                            <p:strVal val="#ppt_w"/>
                                          </p:val>
                                        </p:tav>
                                      </p:tavLst>
                                    </p:anim>
                                    <p:anim calcmode="lin" valueType="num">
                                      <p:cBhvr>
                                        <p:cTn id="20" dur="500" fill="hold"/>
                                        <p:tgtEl>
                                          <p:spTgt spid="1026"/>
                                        </p:tgtEl>
                                        <p:attrNameLst>
                                          <p:attrName>ppt_h</p:attrName>
                                        </p:attrNameLst>
                                      </p:cBhvr>
                                      <p:tavLst>
                                        <p:tav tm="0">
                                          <p:val>
                                            <p:fltVal val="0"/>
                                          </p:val>
                                        </p:tav>
                                        <p:tav tm="100000">
                                          <p:val>
                                            <p:strVal val="#ppt_h"/>
                                          </p:val>
                                        </p:tav>
                                      </p:tavLst>
                                    </p:anim>
                                    <p:animEffect transition="in" filter="fade">
                                      <p:cBhvr>
                                        <p:cTn id="21"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CD38D757-14A6-49D8-A465-CF0C8A152229}"/>
              </a:ext>
            </a:extLst>
          </p:cNvPr>
          <p:cNvPicPr>
            <a:picLocks noGrp="1" noChangeAspect="1"/>
          </p:cNvPicPr>
          <p:nvPr>
            <p:ph idx="1"/>
          </p:nvPr>
        </p:nvPicPr>
        <p:blipFill>
          <a:blip r:embed="rId3">
            <a:duotone>
              <a:schemeClr val="accent4">
                <a:shade val="45000"/>
                <a:satMod val="135000"/>
              </a:schemeClr>
              <a:prstClr val="white"/>
            </a:duotone>
            <a:extLst>
              <a:ext uri="{BEBA8EAE-BF5A-486C-A8C5-ECC9F3942E4B}">
                <a14:imgProps xmlns:a14="http://schemas.microsoft.com/office/drawing/2010/main">
                  <a14:imgLayer r:embed="rId4">
                    <a14:imgEffect>
                      <a14:sharpenSoften amount="50000"/>
                    </a14:imgEffect>
                    <a14:imgEffect>
                      <a14:colorTemperature colorTemp="11500"/>
                    </a14:imgEffect>
                    <a14:imgEffect>
                      <a14:saturation sat="324000"/>
                    </a14:imgEffect>
                  </a14:imgLayer>
                </a14:imgProps>
              </a:ext>
            </a:extLst>
          </a:blip>
          <a:stretch>
            <a:fillRect/>
          </a:stretch>
        </p:blipFill>
        <p:spPr>
          <a:xfrm>
            <a:off x="533400" y="1143000"/>
            <a:ext cx="8229600" cy="4648199"/>
          </a:xfrm>
          <a:prstGeom prst="rect">
            <a:avLst/>
          </a:prstGeom>
        </p:spPr>
      </p:pic>
      <p:sp>
        <p:nvSpPr>
          <p:cNvPr id="4" name="Date Placeholder 3"/>
          <p:cNvSpPr>
            <a:spLocks noGrp="1"/>
          </p:cNvSpPr>
          <p:nvPr>
            <p:ph type="dt" sz="half" idx="10"/>
          </p:nvPr>
        </p:nvSpPr>
        <p:spPr/>
        <p:txBody>
          <a:bodyPr/>
          <a:lstStyle/>
          <a:p>
            <a:fld id="{CA99DD1B-EE33-46C3-8837-69B7AD2D2B04}"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dirty="0"/>
          </a:p>
        </p:txBody>
      </p:sp>
      <p:sp>
        <p:nvSpPr>
          <p:cNvPr id="7" name="Title 1"/>
          <p:cNvSpPr txBox="1">
            <a:spLocks/>
          </p:cNvSpPr>
          <p:nvPr/>
        </p:nvSpPr>
        <p:spPr>
          <a:xfrm>
            <a:off x="1371600" y="-2315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Basic Parsing Techniques</a:t>
            </a:r>
            <a:r>
              <a:rPr lang="en-IN" sz="2400" dirty="0">
                <a:latin typeface="Times New Roman" panose="02020603050405020304" pitchFamily="18" charset="0"/>
                <a:cs typeface="Times New Roman" panose="02020603050405020304" pitchFamily="18" charset="0"/>
              </a:rPr>
              <a:t>(CO2)</a:t>
            </a: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 </a:t>
            </a:r>
          </a:p>
        </p:txBody>
      </p:sp>
      <p:sp>
        <p:nvSpPr>
          <p:cNvPr id="9" name="Footer Placeholder 4">
            <a:extLst>
              <a:ext uri="{FF2B5EF4-FFF2-40B4-BE49-F238E27FC236}">
                <a16:creationId xmlns:a16="http://schemas.microsoft.com/office/drawing/2014/main" id="{D76B2383-25F5-4EFA-AA23-77789E461ECC}"/>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
        <p:nvSpPr>
          <p:cNvPr id="10" name="Oval 9"/>
          <p:cNvSpPr/>
          <p:nvPr/>
        </p:nvSpPr>
        <p:spPr>
          <a:xfrm>
            <a:off x="1752600" y="3124200"/>
            <a:ext cx="1524000" cy="1600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200400" y="4856164"/>
            <a:ext cx="685800" cy="86677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886200" y="4856164"/>
            <a:ext cx="685800" cy="86677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7277100" y="3124200"/>
            <a:ext cx="1485900" cy="17319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02D3F72-6B60-49EC-AA7A-40110635BA13}"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Basic Parsing Techniques </a:t>
            </a:r>
          </a:p>
        </p:txBody>
      </p:sp>
      <p:sp>
        <p:nvSpPr>
          <p:cNvPr id="3" name="Content Placeholder 2">
            <a:extLst>
              <a:ext uri="{FF2B5EF4-FFF2-40B4-BE49-F238E27FC236}">
                <a16:creationId xmlns:a16="http://schemas.microsoft.com/office/drawing/2014/main" id="{15C566E3-16FE-4B30-A029-BD80A1E8BB70}"/>
              </a:ext>
            </a:extLst>
          </p:cNvPr>
          <p:cNvSpPr>
            <a:spLocks noGrp="1"/>
          </p:cNvSpPr>
          <p:nvPr>
            <p:ph idx="1"/>
          </p:nvPr>
        </p:nvSpPr>
        <p:spPr>
          <a:xfrm>
            <a:off x="304800" y="990600"/>
            <a:ext cx="8614800" cy="4525963"/>
          </a:xfrm>
        </p:spPr>
        <p:txBody>
          <a:bodyPr>
            <a:normAutofit/>
          </a:bodyPr>
          <a:lstStyle/>
          <a:p>
            <a:pPr marL="0" indent="0" algn="ctr">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Since a parse tree is the graphical representation derivation. </a:t>
            </a:r>
          </a:p>
        </p:txBody>
      </p:sp>
      <p:sp>
        <p:nvSpPr>
          <p:cNvPr id="9" name="Footer Placeholder 4">
            <a:extLst>
              <a:ext uri="{FF2B5EF4-FFF2-40B4-BE49-F238E27FC236}">
                <a16:creationId xmlns:a16="http://schemas.microsoft.com/office/drawing/2014/main" id="{196B720E-7A9D-4236-8F23-E71FF1C3A8DE}"/>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graphicFrame>
        <p:nvGraphicFramePr>
          <p:cNvPr id="5" name="Diagram 4">
            <a:extLst>
              <a:ext uri="{FF2B5EF4-FFF2-40B4-BE49-F238E27FC236}">
                <a16:creationId xmlns:a16="http://schemas.microsoft.com/office/drawing/2014/main" id="{D48A91FD-BD93-45F9-9851-E98333F76EFF}"/>
              </a:ext>
            </a:extLst>
          </p:cNvPr>
          <p:cNvGraphicFramePr/>
          <p:nvPr>
            <p:extLst>
              <p:ext uri="{D42A27DB-BD31-4B8C-83A1-F6EECF244321}">
                <p14:modId xmlns:p14="http://schemas.microsoft.com/office/powerpoint/2010/main" val="3616177608"/>
              </p:ext>
            </p:extLst>
          </p:nvPr>
        </p:nvGraphicFramePr>
        <p:xfrm>
          <a:off x="838200" y="1872457"/>
          <a:ext cx="77004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43352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ircle(in)">
                                      <p:cBhvr>
                                        <p:cTn id="1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C7E46C-A028-4794-A4E2-6B56FBF5B0A4}"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Top-Down Parse(CO2) </a:t>
            </a:r>
          </a:p>
        </p:txBody>
      </p:sp>
      <p:sp>
        <p:nvSpPr>
          <p:cNvPr id="10" name="Content Placeholder 9">
            <a:extLst>
              <a:ext uri="{FF2B5EF4-FFF2-40B4-BE49-F238E27FC236}">
                <a16:creationId xmlns:a16="http://schemas.microsoft.com/office/drawing/2014/main" id="{11D2B113-4CD3-44DB-9684-C9E880601C63}"/>
              </a:ext>
            </a:extLst>
          </p:cNvPr>
          <p:cNvSpPr>
            <a:spLocks noGrp="1"/>
          </p:cNvSpPr>
          <p:nvPr>
            <p:ph idx="1"/>
          </p:nvPr>
        </p:nvSpPr>
        <p:spPr>
          <a:xfrm>
            <a:off x="457200" y="1219200"/>
            <a:ext cx="8229600" cy="4906964"/>
          </a:xfrm>
        </p:spPr>
        <p:txBody>
          <a:bodyPr>
            <a:noAutofit/>
          </a:bodyPr>
          <a:lstStyle/>
          <a:p>
            <a:pPr marL="0" indent="0" algn="ctr">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It is the parser which generate parser for the given input string with the help of grammar production by expanding the non-terminals i.e. it starts from the start symbol and ends on the terminals. </a:t>
            </a:r>
          </a:p>
          <a:p>
            <a:pPr marL="0" indent="0" algn="ctr">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Top Down parser uses left most derivation.</a:t>
            </a:r>
          </a:p>
          <a:p>
            <a:pPr marL="0" indent="0" algn="ctr">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Top down parser can be constructed for the grammar if it is free from ambiguity and left recursion.</a:t>
            </a:r>
          </a:p>
          <a:p>
            <a:pPr marL="0" indent="0" algn="ctr">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E63A3375-E315-4294-88E8-FCEDE44E7F5D}"/>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randombar(horizontal)">
                                      <p:cBhvr>
                                        <p:cTn id="12" dur="500"/>
                                        <p:tgtEl>
                                          <p:spTgt spid="10">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0">
                                            <p:txEl>
                                              <p:pRg st="6" end="6"/>
                                            </p:txEl>
                                          </p:spTgt>
                                        </p:tgtEl>
                                        <p:attrNameLst>
                                          <p:attrName>style.visibility</p:attrName>
                                        </p:attrNameLst>
                                      </p:cBhvr>
                                      <p:to>
                                        <p:strVal val="visible"/>
                                      </p:to>
                                    </p:set>
                                    <p:animEffect transition="in" filter="randombar(horizontal)">
                                      <p:cBhvr>
                                        <p:cTn id="17"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77F643F-70D3-4F0E-8DF7-F8948C136E65}"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Top-Down Parse Example </a:t>
            </a: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sp>
        <p:nvSpPr>
          <p:cNvPr id="5" name="AutoShape 2">
            <a:extLst>
              <a:ext uri="{FF2B5EF4-FFF2-40B4-BE49-F238E27FC236}">
                <a16:creationId xmlns:a16="http://schemas.microsoft.com/office/drawing/2014/main" id="{51C21CE7-4BFB-45AC-808C-E323946124CA}"/>
              </a:ext>
            </a:extLst>
          </p:cNvPr>
          <p:cNvSpPr>
            <a:spLocks noChangeAspect="1" noChangeArrowheads="1"/>
          </p:cNvSpPr>
          <p:nvPr/>
        </p:nvSpPr>
        <p:spPr bwMode="auto">
          <a:xfrm>
            <a:off x="4465899"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5" name="Content Placeholder 14">
            <a:extLst>
              <a:ext uri="{FF2B5EF4-FFF2-40B4-BE49-F238E27FC236}">
                <a16:creationId xmlns:a16="http://schemas.microsoft.com/office/drawing/2014/main" id="{4F50165E-0B0C-46B5-9EBC-1F7B0A508873}"/>
              </a:ext>
            </a:extLst>
          </p:cNvPr>
          <p:cNvSpPr>
            <a:spLocks noGrp="1"/>
          </p:cNvSpPr>
          <p:nvPr>
            <p:ph idx="1"/>
          </p:nvPr>
        </p:nvSpPr>
        <p:spPr>
          <a:xfrm>
            <a:off x="503499" y="945226"/>
            <a:ext cx="8229600" cy="5020333"/>
          </a:xfrm>
        </p:spPr>
        <p:txBody>
          <a:bodyPr>
            <a:normAutofit/>
          </a:bodyPr>
          <a:lstStyle/>
          <a:p>
            <a:pPr marL="0" indent="0" algn="ctr">
              <a:buNone/>
            </a:pPr>
            <a:r>
              <a:rPr lang="it-IT" sz="16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 parse tree for</a:t>
            </a:r>
          </a:p>
          <a:p>
            <a:pPr marL="0" indent="0" algn="ctr">
              <a:buNone/>
            </a:pPr>
            <a:endParaRPr lang="it-IT" sz="16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it-IT" sz="16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 –&gt; E + E  | E * E | id </a:t>
            </a:r>
          </a:p>
          <a:p>
            <a:pPr marL="0" indent="0" algn="ctr">
              <a:buNone/>
            </a:pPr>
            <a:endParaRPr lang="it-IT" sz="16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it-IT" sz="16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using Top Down Parsing Technique</a:t>
            </a:r>
            <a:endParaRPr lang="en-US" sz="16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124F2F3-C766-44F6-8FB4-B945F1F6CD19}"/>
              </a:ext>
            </a:extLst>
          </p:cNvPr>
          <p:cNvPicPr>
            <a:picLocks noChangeAspect="1"/>
          </p:cNvPicPr>
          <p:nvPr/>
        </p:nvPicPr>
        <p:blipFill>
          <a:blip r:embed="rId3"/>
          <a:stretch>
            <a:fillRect/>
          </a:stretch>
        </p:blipFill>
        <p:spPr>
          <a:xfrm>
            <a:off x="2306419" y="3467100"/>
            <a:ext cx="1638300" cy="1257300"/>
          </a:xfrm>
          <a:prstGeom prst="rect">
            <a:avLst/>
          </a:prstGeom>
        </p:spPr>
      </p:pic>
      <p:pic>
        <p:nvPicPr>
          <p:cNvPr id="10" name="Picture 9">
            <a:extLst>
              <a:ext uri="{FF2B5EF4-FFF2-40B4-BE49-F238E27FC236}">
                <a16:creationId xmlns:a16="http://schemas.microsoft.com/office/drawing/2014/main" id="{5CC08B15-77A8-449F-9703-A9F5FF805C88}"/>
              </a:ext>
            </a:extLst>
          </p:cNvPr>
          <p:cNvPicPr>
            <a:picLocks noChangeAspect="1"/>
          </p:cNvPicPr>
          <p:nvPr/>
        </p:nvPicPr>
        <p:blipFill>
          <a:blip r:embed="rId4"/>
          <a:stretch>
            <a:fillRect/>
          </a:stretch>
        </p:blipFill>
        <p:spPr>
          <a:xfrm>
            <a:off x="538875" y="3597560"/>
            <a:ext cx="857191" cy="593440"/>
          </a:xfrm>
          <a:prstGeom prst="rect">
            <a:avLst/>
          </a:prstGeom>
        </p:spPr>
      </p:pic>
      <p:cxnSp>
        <p:nvCxnSpPr>
          <p:cNvPr id="12" name="Straight Arrow Connector 11">
            <a:extLst>
              <a:ext uri="{FF2B5EF4-FFF2-40B4-BE49-F238E27FC236}">
                <a16:creationId xmlns:a16="http://schemas.microsoft.com/office/drawing/2014/main" id="{99206E75-E3E7-4BAB-8A56-CAD4C68ACF55}"/>
              </a:ext>
            </a:extLst>
          </p:cNvPr>
          <p:cNvCxnSpPr/>
          <p:nvPr/>
        </p:nvCxnSpPr>
        <p:spPr>
          <a:xfrm>
            <a:off x="1524000" y="4038600"/>
            <a:ext cx="838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a:extLst>
              <a:ext uri="{FF2B5EF4-FFF2-40B4-BE49-F238E27FC236}">
                <a16:creationId xmlns:a16="http://schemas.microsoft.com/office/drawing/2014/main" id="{CC4FE5CF-E695-4131-8041-17468BABC580}"/>
              </a:ext>
            </a:extLst>
          </p:cNvPr>
          <p:cNvCxnSpPr/>
          <p:nvPr/>
        </p:nvCxnSpPr>
        <p:spPr>
          <a:xfrm>
            <a:off x="4046799" y="4038600"/>
            <a:ext cx="838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7" name="Straight Arrow Connector 16">
            <a:extLst>
              <a:ext uri="{FF2B5EF4-FFF2-40B4-BE49-F238E27FC236}">
                <a16:creationId xmlns:a16="http://schemas.microsoft.com/office/drawing/2014/main" id="{453242A6-87D3-4F44-AD75-9E48FE5408FF}"/>
              </a:ext>
            </a:extLst>
          </p:cNvPr>
          <p:cNvCxnSpPr/>
          <p:nvPr/>
        </p:nvCxnSpPr>
        <p:spPr>
          <a:xfrm>
            <a:off x="6934200" y="3962400"/>
            <a:ext cx="838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11" name="Picture 10">
            <a:extLst>
              <a:ext uri="{FF2B5EF4-FFF2-40B4-BE49-F238E27FC236}">
                <a16:creationId xmlns:a16="http://schemas.microsoft.com/office/drawing/2014/main" id="{82431FFC-DD78-4443-952D-BA3B99709615}"/>
              </a:ext>
            </a:extLst>
          </p:cNvPr>
          <p:cNvPicPr>
            <a:picLocks noChangeAspect="1"/>
          </p:cNvPicPr>
          <p:nvPr/>
        </p:nvPicPr>
        <p:blipFill>
          <a:blip r:embed="rId5"/>
          <a:stretch>
            <a:fillRect/>
          </a:stretch>
        </p:blipFill>
        <p:spPr>
          <a:xfrm>
            <a:off x="5012933" y="3152775"/>
            <a:ext cx="1704975" cy="2105025"/>
          </a:xfrm>
          <a:prstGeom prst="rect">
            <a:avLst/>
          </a:prstGeom>
        </p:spPr>
      </p:pic>
      <p:pic>
        <p:nvPicPr>
          <p:cNvPr id="19" name="Picture 1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0236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xEl>
                                              <p:pRg st="2" end="2"/>
                                            </p:txEl>
                                          </p:spTgt>
                                        </p:tgtEl>
                                        <p:attrNameLst>
                                          <p:attrName>style.visibility</p:attrName>
                                        </p:attrNameLst>
                                      </p:cBhvr>
                                      <p:to>
                                        <p:strVal val="visible"/>
                                      </p:to>
                                    </p:set>
                                    <p:anim calcmode="lin" valueType="num">
                                      <p:cBhvr additive="base">
                                        <p:cTn id="13"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xEl>
                                              <p:pRg st="4" end="4"/>
                                            </p:txEl>
                                          </p:spTgt>
                                        </p:tgtEl>
                                        <p:attrNameLst>
                                          <p:attrName>style.visibility</p:attrName>
                                        </p:attrNameLst>
                                      </p:cBhvr>
                                      <p:to>
                                        <p:strVal val="visible"/>
                                      </p:to>
                                    </p:set>
                                    <p:anim calcmode="lin" valueType="num">
                                      <p:cBhvr additive="base">
                                        <p:cTn id="19"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arn(inVertical)">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down)">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barn(inVertical)">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down)">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barn(inVertical)">
                                      <p:cBhvr>
                                        <p:cTn id="5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1EDC421-66EA-4EE6-8565-E40501387CE4}"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Top-Down Parse Example </a:t>
            </a: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sp>
        <p:nvSpPr>
          <p:cNvPr id="5" name="AutoShape 2">
            <a:extLst>
              <a:ext uri="{FF2B5EF4-FFF2-40B4-BE49-F238E27FC236}">
                <a16:creationId xmlns:a16="http://schemas.microsoft.com/office/drawing/2014/main" id="{51C21CE7-4BFB-45AC-808C-E323946124CA}"/>
              </a:ext>
            </a:extLst>
          </p:cNvPr>
          <p:cNvSpPr>
            <a:spLocks noChangeAspect="1" noChangeArrowheads="1"/>
          </p:cNvSpPr>
          <p:nvPr/>
        </p:nvSpPr>
        <p:spPr bwMode="auto">
          <a:xfrm>
            <a:off x="4465899"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5" name="Content Placeholder 14">
            <a:extLst>
              <a:ext uri="{FF2B5EF4-FFF2-40B4-BE49-F238E27FC236}">
                <a16:creationId xmlns:a16="http://schemas.microsoft.com/office/drawing/2014/main" id="{4F50165E-0B0C-46B5-9EBC-1F7B0A508873}"/>
              </a:ext>
            </a:extLst>
          </p:cNvPr>
          <p:cNvSpPr>
            <a:spLocks noGrp="1"/>
          </p:cNvSpPr>
          <p:nvPr>
            <p:ph idx="1"/>
          </p:nvPr>
        </p:nvSpPr>
        <p:spPr>
          <a:xfrm>
            <a:off x="6553200" y="5477333"/>
            <a:ext cx="2162536" cy="768710"/>
          </a:xfrm>
        </p:spPr>
        <p:txBody>
          <a:bodyPr>
            <a:normAutofit fontScale="85000" lnSpcReduction="10000"/>
          </a:bodyPr>
          <a:lstStyle/>
          <a:p>
            <a:pPr marL="0" indent="0" algn="ctr">
              <a:buNone/>
            </a:pPr>
            <a:r>
              <a:rPr lang="it-IT" sz="20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Parse tree for word </a:t>
            </a:r>
          </a:p>
          <a:p>
            <a:pPr marL="0" indent="0" algn="ctr">
              <a:buNone/>
            </a:pPr>
            <a:r>
              <a:rPr lang="it-IT" sz="20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id+id*id </a:t>
            </a:r>
            <a:endParaRPr lang="en-US" sz="20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it-IT" sz="1400" b="0" i="0" dirty="0">
              <a:solidFill>
                <a:srgbClr val="000000"/>
              </a:solidFill>
              <a:effectLst/>
              <a:latin typeface="trebuchet ms" panose="020B0603020202020204" pitchFamily="34" charset="0"/>
            </a:endParaRPr>
          </a:p>
          <a:p>
            <a:pPr marL="0" indent="0" algn="ctr">
              <a:buNone/>
            </a:pPr>
            <a:endParaRPr lang="it-IT" sz="1400" b="0" i="0" dirty="0">
              <a:solidFill>
                <a:srgbClr val="000000"/>
              </a:solidFill>
              <a:effectLst/>
              <a:latin typeface="trebuchet ms" panose="020B0603020202020204" pitchFamily="34" charset="0"/>
            </a:endParaRPr>
          </a:p>
        </p:txBody>
      </p:sp>
      <p:pic>
        <p:nvPicPr>
          <p:cNvPr id="2050" name="Picture 2">
            <a:extLst>
              <a:ext uri="{FF2B5EF4-FFF2-40B4-BE49-F238E27FC236}">
                <a16:creationId xmlns:a16="http://schemas.microsoft.com/office/drawing/2014/main" id="{185B18AB-12CD-44C9-A1A4-F5E85AECF1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4125" y="1847850"/>
            <a:ext cx="2571750" cy="3162300"/>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EBD5218C-250F-4A22-B56C-2F4E8E0AF14E}"/>
              </a:ext>
            </a:extLst>
          </p:cNvPr>
          <p:cNvCxnSpPr/>
          <p:nvPr/>
        </p:nvCxnSpPr>
        <p:spPr>
          <a:xfrm>
            <a:off x="2523763" y="3048000"/>
            <a:ext cx="838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a:extLst>
              <a:ext uri="{FF2B5EF4-FFF2-40B4-BE49-F238E27FC236}">
                <a16:creationId xmlns:a16="http://schemas.microsoft.com/office/drawing/2014/main" id="{A16F5306-8DAA-4852-A5AF-97D96785D071}"/>
              </a:ext>
            </a:extLst>
          </p:cNvPr>
          <p:cNvCxnSpPr/>
          <p:nvPr/>
        </p:nvCxnSpPr>
        <p:spPr>
          <a:xfrm>
            <a:off x="5715000" y="3057632"/>
            <a:ext cx="838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2" name="Arrow: Down 11">
            <a:extLst>
              <a:ext uri="{FF2B5EF4-FFF2-40B4-BE49-F238E27FC236}">
                <a16:creationId xmlns:a16="http://schemas.microsoft.com/office/drawing/2014/main" id="{2640CD92-518E-4E06-9781-A38B7ADA75F3}"/>
              </a:ext>
            </a:extLst>
          </p:cNvPr>
          <p:cNvSpPr/>
          <p:nvPr/>
        </p:nvSpPr>
        <p:spPr>
          <a:xfrm>
            <a:off x="7543800" y="4876800"/>
            <a:ext cx="304800" cy="457200"/>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IN" dirty="0"/>
          </a:p>
        </p:txBody>
      </p:sp>
      <p:pic>
        <p:nvPicPr>
          <p:cNvPr id="2" name="Picture 1">
            <a:extLst>
              <a:ext uri="{FF2B5EF4-FFF2-40B4-BE49-F238E27FC236}">
                <a16:creationId xmlns:a16="http://schemas.microsoft.com/office/drawing/2014/main" id="{C11EBC95-E263-4EE1-89DB-739D2945B9B5}"/>
              </a:ext>
            </a:extLst>
          </p:cNvPr>
          <p:cNvPicPr>
            <a:picLocks noChangeAspect="1"/>
          </p:cNvPicPr>
          <p:nvPr/>
        </p:nvPicPr>
        <p:blipFill>
          <a:blip r:embed="rId4"/>
          <a:stretch>
            <a:fillRect/>
          </a:stretch>
        </p:blipFill>
        <p:spPr>
          <a:xfrm>
            <a:off x="533400" y="2400299"/>
            <a:ext cx="1828800" cy="2057400"/>
          </a:xfrm>
          <a:prstGeom prst="rect">
            <a:avLst/>
          </a:prstGeom>
        </p:spPr>
      </p:pic>
      <p:pic>
        <p:nvPicPr>
          <p:cNvPr id="3" name="Picture 2">
            <a:extLst>
              <a:ext uri="{FF2B5EF4-FFF2-40B4-BE49-F238E27FC236}">
                <a16:creationId xmlns:a16="http://schemas.microsoft.com/office/drawing/2014/main" id="{44F9AF25-2D90-425E-B21C-295197E42279}"/>
              </a:ext>
            </a:extLst>
          </p:cNvPr>
          <p:cNvPicPr>
            <a:picLocks noChangeAspect="1"/>
          </p:cNvPicPr>
          <p:nvPr/>
        </p:nvPicPr>
        <p:blipFill>
          <a:blip r:embed="rId5"/>
          <a:stretch>
            <a:fillRect/>
          </a:stretch>
        </p:blipFill>
        <p:spPr>
          <a:xfrm>
            <a:off x="3405187" y="1966912"/>
            <a:ext cx="2333625" cy="2924175"/>
          </a:xfrm>
          <a:prstGeom prst="rect">
            <a:avLst/>
          </a:prstGeom>
        </p:spPr>
      </p:pic>
      <p:pic>
        <p:nvPicPr>
          <p:cNvPr id="18" name="Picture 1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84751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arn(inVertic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050"/>
                                        </p:tgtEl>
                                        <p:attrNameLst>
                                          <p:attrName>style.visibility</p:attrName>
                                        </p:attrNameLst>
                                      </p:cBhvr>
                                      <p:to>
                                        <p:strVal val="visible"/>
                                      </p:to>
                                    </p:set>
                                    <p:animEffect transition="in" filter="wipe(down)">
                                      <p:cBhvr>
                                        <p:cTn id="27" dur="500"/>
                                        <p:tgtEl>
                                          <p:spTgt spid="205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arn(inVertical)">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animEffect transition="in" filter="wipe(down)">
                                      <p:cBhvr>
                                        <p:cTn id="37" dur="500"/>
                                        <p:tgtEl>
                                          <p:spTgt spid="1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5">
                                            <p:txEl>
                                              <p:pRg st="1" end="1"/>
                                            </p:txEl>
                                          </p:spTgt>
                                        </p:tgtEl>
                                        <p:attrNameLst>
                                          <p:attrName>style.visibility</p:attrName>
                                        </p:attrNameLst>
                                      </p:cBhvr>
                                      <p:to>
                                        <p:strVal val="visible"/>
                                      </p:to>
                                    </p:set>
                                    <p:animEffect transition="in" filter="wipe(down)">
                                      <p:cBhvr>
                                        <p:cTn id="42"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6F6C01E-E5B7-4DDC-97AC-3606E7BA2C62}"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Bottom-Up Parse(CO2) </a:t>
            </a:r>
          </a:p>
        </p:txBody>
      </p:sp>
      <p:sp>
        <p:nvSpPr>
          <p:cNvPr id="10" name="Content Placeholder 9">
            <a:extLst>
              <a:ext uri="{FF2B5EF4-FFF2-40B4-BE49-F238E27FC236}">
                <a16:creationId xmlns:a16="http://schemas.microsoft.com/office/drawing/2014/main" id="{11D2B113-4CD3-44DB-9684-C9E880601C63}"/>
              </a:ext>
            </a:extLst>
          </p:cNvPr>
          <p:cNvSpPr>
            <a:spLocks noGrp="1"/>
          </p:cNvSpPr>
          <p:nvPr>
            <p:ph idx="1"/>
          </p:nvPr>
        </p:nvSpPr>
        <p:spPr>
          <a:xfrm>
            <a:off x="457200" y="1219200"/>
            <a:ext cx="8229600" cy="4906964"/>
          </a:xfrm>
        </p:spPr>
        <p:txBody>
          <a:bodyPr>
            <a:noAutofit/>
          </a:bodyPr>
          <a:lstStyle/>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Bottom-up parsing starts from the leaf nodes of a tree and works in upward direction till it reaches the root node. </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Here, we start from a sentence and then apply production rules in reverse manner in order to reach the start symbol.</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Bottom up parser can be constructed for the grammar if it is free from ambiguity.</a:t>
            </a:r>
          </a:p>
        </p:txBody>
      </p:sp>
      <p:sp>
        <p:nvSpPr>
          <p:cNvPr id="9" name="Footer Placeholder 4">
            <a:extLst>
              <a:ext uri="{FF2B5EF4-FFF2-40B4-BE49-F238E27FC236}">
                <a16:creationId xmlns:a16="http://schemas.microsoft.com/office/drawing/2014/main" id="{E63A3375-E315-4294-88E8-FCEDE44E7F5D}"/>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91817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randombar(horizontal)">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randombar(horizontal)">
                                      <p:cBhvr>
                                        <p:cTn id="17"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575E645-45DB-49F1-8449-135EE7F5D3C6}"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Bottom-Up Parse Example </a:t>
            </a:r>
          </a:p>
        </p:txBody>
      </p:sp>
      <p:sp>
        <p:nvSpPr>
          <p:cNvPr id="10" name="Content Placeholder 9">
            <a:extLst>
              <a:ext uri="{FF2B5EF4-FFF2-40B4-BE49-F238E27FC236}">
                <a16:creationId xmlns:a16="http://schemas.microsoft.com/office/drawing/2014/main" id="{11D2B113-4CD3-44DB-9684-C9E880601C63}"/>
              </a:ext>
            </a:extLst>
          </p:cNvPr>
          <p:cNvSpPr>
            <a:spLocks noGrp="1"/>
          </p:cNvSpPr>
          <p:nvPr>
            <p:ph idx="1"/>
          </p:nvPr>
        </p:nvSpPr>
        <p:spPr>
          <a:xfrm>
            <a:off x="457200" y="685799"/>
            <a:ext cx="8229600" cy="5440365"/>
          </a:xfrm>
        </p:spPr>
        <p:txBody>
          <a:bodyPr>
            <a:noAutofit/>
          </a:bodyPr>
          <a:lstStyle/>
          <a:p>
            <a:pPr marL="0" indent="0" algn="just">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IN" sz="1800" dirty="0">
                <a:latin typeface="Times New Roman" panose="02020603050405020304" pitchFamily="18" charset="0"/>
                <a:cs typeface="Times New Roman" panose="02020603050405020304" pitchFamily="18" charset="0"/>
              </a:rPr>
              <a:t>Input string is </a:t>
            </a:r>
            <a:r>
              <a:rPr lang="en-IN" sz="1800" dirty="0" err="1">
                <a:latin typeface="Times New Roman" panose="02020603050405020304" pitchFamily="18" charset="0"/>
                <a:cs typeface="Times New Roman" panose="02020603050405020304" pitchFamily="18" charset="0"/>
              </a:rPr>
              <a:t>id+id</a:t>
            </a:r>
            <a:r>
              <a:rPr lang="en-IN" sz="1800" dirty="0">
                <a:latin typeface="Times New Roman" panose="02020603050405020304" pitchFamily="18" charset="0"/>
                <a:cs typeface="Times New Roman" panose="02020603050405020304" pitchFamily="18" charset="0"/>
              </a:rPr>
              <a:t>*id and production rules are as given below:</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S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E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T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T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T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T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a:t>
            </a:r>
            <a:r>
              <a:rPr lang="en-US" altLang="en-US" sz="1800" dirty="0">
                <a:latin typeface="Times New Roman" panose="02020603050405020304" pitchFamily="18" charset="0"/>
                <a:cs typeface="Times New Roman" panose="02020603050405020304" pitchFamily="18" charset="0"/>
              </a:rPr>
              <a:t> </a:t>
            </a:r>
          </a:p>
          <a:p>
            <a:pPr marL="0" indent="0" algn="just">
              <a:buNone/>
            </a:pPr>
            <a:r>
              <a:rPr lang="en-US" altLang="en-US" sz="1800" dirty="0">
                <a:latin typeface="Times New Roman" panose="02020603050405020304" pitchFamily="18" charset="0"/>
                <a:cs typeface="Times New Roman" panose="02020603050405020304" pitchFamily="18" charset="0"/>
              </a:rPr>
              <a:t>Perform bottom-up parsing technique.</a:t>
            </a:r>
          </a:p>
          <a:p>
            <a:pPr marL="0" indent="0" algn="just">
              <a:buNone/>
            </a:pPr>
            <a:r>
              <a:rPr lang="en-US" alt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r>
              <a:rPr lang="en-US" altLang="en-US" sz="1800" dirty="0">
                <a:latin typeface="Times New Roman" panose="02020603050405020304" pitchFamily="18" charset="0"/>
                <a:cs typeface="Times New Roman" panose="02020603050405020304" pitchFamily="18" charset="0"/>
              </a:rPr>
              <a:t>Starting with input string </a:t>
            </a:r>
            <a:r>
              <a:rPr lang="en-IN" sz="1800" dirty="0" err="1">
                <a:latin typeface="Times New Roman" panose="02020603050405020304" pitchFamily="18" charset="0"/>
                <a:cs typeface="Times New Roman" panose="02020603050405020304" pitchFamily="18" charset="0"/>
              </a:rPr>
              <a:t>id+id</a:t>
            </a:r>
            <a:r>
              <a:rPr lang="en-IN" sz="1800" dirty="0">
                <a:latin typeface="Times New Roman" panose="02020603050405020304" pitchFamily="18" charset="0"/>
                <a:cs typeface="Times New Roman" panose="02020603050405020304" pitchFamily="18" charset="0"/>
              </a:rPr>
              <a:t>*id </a:t>
            </a:r>
            <a:endParaRPr lang="en-US" altLang="en-US" sz="1800" dirty="0">
              <a:latin typeface="Times New Roman" panose="02020603050405020304" pitchFamily="18" charset="0"/>
              <a:cs typeface="Times New Roman" panose="02020603050405020304" pitchFamily="18" charset="0"/>
            </a:endParaRP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id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T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T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T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E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S</a:t>
            </a:r>
            <a:r>
              <a:rPr lang="en-US" altLang="en-US" sz="1800" dirty="0">
                <a:latin typeface="Times New Roman" panose="02020603050405020304" pitchFamily="18" charset="0"/>
                <a:cs typeface="Times New Roman" panose="02020603050405020304" pitchFamily="18" charset="0"/>
              </a:rPr>
              <a:t> </a:t>
            </a:r>
          </a:p>
          <a:p>
            <a:pPr marL="0" indent="0" algn="just">
              <a:buNone/>
            </a:pPr>
            <a:endParaRPr lang="en-US" altLang="en-US" sz="1800" dirty="0">
              <a:latin typeface="Times New Roman" panose="02020603050405020304" pitchFamily="18" charset="0"/>
              <a:cs typeface="Times New Roman" panose="02020603050405020304" pitchFamily="18" charset="0"/>
            </a:endParaRPr>
          </a:p>
          <a:p>
            <a:pPr marL="0" indent="0" algn="just">
              <a:buNone/>
            </a:pPr>
            <a:endParaRPr lang="en-US" altLang="en-US" sz="1800" dirty="0">
              <a:latin typeface="Times New Roman" panose="02020603050405020304" pitchFamily="18" charset="0"/>
              <a:cs typeface="Times New Roman" panose="02020603050405020304" pitchFamily="18" charset="0"/>
            </a:endParaRPr>
          </a:p>
          <a:p>
            <a:pPr marL="0" indent="0" algn="just">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E63A3375-E315-4294-88E8-FCEDE44E7F5D}"/>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sp>
        <p:nvSpPr>
          <p:cNvPr id="3" name="Rectangle 2">
            <a:extLst>
              <a:ext uri="{FF2B5EF4-FFF2-40B4-BE49-F238E27FC236}">
                <a16:creationId xmlns:a16="http://schemas.microsoft.com/office/drawing/2014/main" id="{5DE3E690-59F7-4E34-B211-021CE43A3012}"/>
              </a:ext>
            </a:extLst>
          </p:cNvPr>
          <p:cNvSpPr>
            <a:spLocks noChangeArrowheads="1"/>
          </p:cNvSpPr>
          <p:nvPr/>
        </p:nvSpPr>
        <p:spPr bwMode="auto">
          <a:xfrm>
            <a:off x="0" y="83042"/>
            <a:ext cx="184731" cy="29111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3174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685799"/>
          </a:xfrm>
          <a:prstGeom prst="rect">
            <a:avLst/>
          </a:prstGeom>
        </p:spPr>
      </p:pic>
    </p:spTree>
    <p:extLst>
      <p:ext uri="{BB962C8B-B14F-4D97-AF65-F5344CB8AC3E}">
        <p14:creationId xmlns:p14="http://schemas.microsoft.com/office/powerpoint/2010/main" val="497548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 calcmode="lin" valueType="num">
                                      <p:cBhvr additive="base">
                                        <p:cTn id="12"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0">
                                            <p:txEl>
                                              <p:pRg st="2" end="2"/>
                                            </p:txEl>
                                          </p:spTgt>
                                        </p:tgtEl>
                                        <p:attrNameLst>
                                          <p:attrName>style.visibility</p:attrName>
                                        </p:attrNameLst>
                                      </p:cBhvr>
                                      <p:to>
                                        <p:strVal val="visible"/>
                                      </p:to>
                                    </p:set>
                                    <p:anim calcmode="lin" valueType="num">
                                      <p:cBhvr additive="base">
                                        <p:cTn id="16"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0">
                                            <p:txEl>
                                              <p:pRg st="3" end="3"/>
                                            </p:txEl>
                                          </p:spTgt>
                                        </p:tgtEl>
                                        <p:attrNameLst>
                                          <p:attrName>style.visibility</p:attrName>
                                        </p:attrNameLst>
                                      </p:cBhvr>
                                      <p:to>
                                        <p:strVal val="visible"/>
                                      </p:to>
                                    </p:set>
                                    <p:anim calcmode="lin" valueType="num">
                                      <p:cBhvr additive="base">
                                        <p:cTn id="20"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0">
                                            <p:txEl>
                                              <p:pRg st="4" end="4"/>
                                            </p:txEl>
                                          </p:spTgt>
                                        </p:tgtEl>
                                        <p:attrNameLst>
                                          <p:attrName>style.visibility</p:attrName>
                                        </p:attrNameLst>
                                      </p:cBhvr>
                                      <p:to>
                                        <p:strVal val="visible"/>
                                      </p:to>
                                    </p:set>
                                    <p:anim calcmode="lin" valueType="num">
                                      <p:cBhvr additive="base">
                                        <p:cTn id="24"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0">
                                            <p:txEl>
                                              <p:pRg st="4" end="4"/>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0">
                                            <p:txEl>
                                              <p:pRg st="5" end="5"/>
                                            </p:txEl>
                                          </p:spTgt>
                                        </p:tgtEl>
                                        <p:attrNameLst>
                                          <p:attrName>style.visibility</p:attrName>
                                        </p:attrNameLst>
                                      </p:cBhvr>
                                      <p:to>
                                        <p:strVal val="visible"/>
                                      </p:to>
                                    </p:set>
                                    <p:anim calcmode="lin" valueType="num">
                                      <p:cBhvr additive="base">
                                        <p:cTn id="28"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0">
                                            <p:txEl>
                                              <p:pRg st="6" end="6"/>
                                            </p:txEl>
                                          </p:spTgt>
                                        </p:tgtEl>
                                        <p:attrNameLst>
                                          <p:attrName>style.visibility</p:attrName>
                                        </p:attrNameLst>
                                      </p:cBhvr>
                                      <p:to>
                                        <p:strVal val="visible"/>
                                      </p:to>
                                    </p:set>
                                    <p:animEffect transition="in" filter="wipe(down)">
                                      <p:cBhvr>
                                        <p:cTn id="34" dur="500"/>
                                        <p:tgtEl>
                                          <p:spTgt spid="10">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0">
                                            <p:txEl>
                                              <p:pRg st="7" end="7"/>
                                            </p:txEl>
                                          </p:spTgt>
                                        </p:tgtEl>
                                        <p:attrNameLst>
                                          <p:attrName>style.visibility</p:attrName>
                                        </p:attrNameLst>
                                      </p:cBhvr>
                                      <p:to>
                                        <p:strVal val="visible"/>
                                      </p:to>
                                    </p:set>
                                    <p:animEffect transition="in" filter="wipe(down)">
                                      <p:cBhvr>
                                        <p:cTn id="39" dur="500"/>
                                        <p:tgtEl>
                                          <p:spTgt spid="10">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0">
                                            <p:txEl>
                                              <p:pRg st="8" end="8"/>
                                            </p:txEl>
                                          </p:spTgt>
                                        </p:tgtEl>
                                        <p:attrNameLst>
                                          <p:attrName>style.visibility</p:attrName>
                                        </p:attrNameLst>
                                      </p:cBhvr>
                                      <p:to>
                                        <p:strVal val="visible"/>
                                      </p:to>
                                    </p:set>
                                    <p:animEffect transition="in" filter="wipe(down)">
                                      <p:cBhvr>
                                        <p:cTn id="44" dur="500"/>
                                        <p:tgtEl>
                                          <p:spTgt spid="10">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10">
                                            <p:txEl>
                                              <p:pRg st="9" end="9"/>
                                            </p:txEl>
                                          </p:spTgt>
                                        </p:tgtEl>
                                        <p:attrNameLst>
                                          <p:attrName>style.visibility</p:attrName>
                                        </p:attrNameLst>
                                      </p:cBhvr>
                                      <p:to>
                                        <p:strVal val="visible"/>
                                      </p:to>
                                    </p:set>
                                    <p:animEffect transition="in" filter="wipe(down)">
                                      <p:cBhvr>
                                        <p:cTn id="49" dur="500"/>
                                        <p:tgtEl>
                                          <p:spTgt spid="10">
                                            <p:txEl>
                                              <p:pRg st="9" end="9"/>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10">
                                            <p:txEl>
                                              <p:pRg st="10" end="10"/>
                                            </p:txEl>
                                          </p:spTgt>
                                        </p:tgtEl>
                                        <p:attrNameLst>
                                          <p:attrName>style.visibility</p:attrName>
                                        </p:attrNameLst>
                                      </p:cBhvr>
                                      <p:to>
                                        <p:strVal val="visible"/>
                                      </p:to>
                                    </p:set>
                                    <p:animEffect transition="in" filter="wipe(down)">
                                      <p:cBhvr>
                                        <p:cTn id="54" dur="500"/>
                                        <p:tgtEl>
                                          <p:spTgt spid="10">
                                            <p:txEl>
                                              <p:pRg st="10" end="1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10">
                                            <p:txEl>
                                              <p:pRg st="11" end="11"/>
                                            </p:txEl>
                                          </p:spTgt>
                                        </p:tgtEl>
                                        <p:attrNameLst>
                                          <p:attrName>style.visibility</p:attrName>
                                        </p:attrNameLst>
                                      </p:cBhvr>
                                      <p:to>
                                        <p:strVal val="visible"/>
                                      </p:to>
                                    </p:set>
                                    <p:animEffect transition="in" filter="wipe(down)">
                                      <p:cBhvr>
                                        <p:cTn id="59" dur="500"/>
                                        <p:tgtEl>
                                          <p:spTgt spid="10">
                                            <p:txEl>
                                              <p:pRg st="11" end="1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10">
                                            <p:txEl>
                                              <p:pRg st="12" end="12"/>
                                            </p:txEl>
                                          </p:spTgt>
                                        </p:tgtEl>
                                        <p:attrNameLst>
                                          <p:attrName>style.visibility</p:attrName>
                                        </p:attrNameLst>
                                      </p:cBhvr>
                                      <p:to>
                                        <p:strVal val="visible"/>
                                      </p:to>
                                    </p:set>
                                    <p:animEffect transition="in" filter="wipe(down)">
                                      <p:cBhvr>
                                        <p:cTn id="64" dur="500"/>
                                        <p:tgtEl>
                                          <p:spTgt spid="10">
                                            <p:txEl>
                                              <p:pRg st="12" end="12"/>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10">
                                            <p:txEl>
                                              <p:pRg st="13" end="13"/>
                                            </p:txEl>
                                          </p:spTgt>
                                        </p:tgtEl>
                                        <p:attrNameLst>
                                          <p:attrName>style.visibility</p:attrName>
                                        </p:attrNameLst>
                                      </p:cBhvr>
                                      <p:to>
                                        <p:strVal val="visible"/>
                                      </p:to>
                                    </p:set>
                                    <p:animEffect transition="in" filter="wipe(down)">
                                      <p:cBhvr>
                                        <p:cTn id="69" dur="500"/>
                                        <p:tgtEl>
                                          <p:spTgt spid="10">
                                            <p:txEl>
                                              <p:pRg st="13" end="13"/>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10">
                                            <p:txEl>
                                              <p:pRg st="14" end="14"/>
                                            </p:txEl>
                                          </p:spTgt>
                                        </p:tgtEl>
                                        <p:attrNameLst>
                                          <p:attrName>style.visibility</p:attrName>
                                        </p:attrNameLst>
                                      </p:cBhvr>
                                      <p:to>
                                        <p:strVal val="visible"/>
                                      </p:to>
                                    </p:set>
                                    <p:animEffect transition="in" filter="wipe(down)">
                                      <p:cBhvr>
                                        <p:cTn id="74" dur="500"/>
                                        <p:tgtEl>
                                          <p:spTgt spid="10">
                                            <p:txEl>
                                              <p:pRg st="14" end="14"/>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10">
                                            <p:txEl>
                                              <p:pRg st="15" end="15"/>
                                            </p:txEl>
                                          </p:spTgt>
                                        </p:tgtEl>
                                        <p:attrNameLst>
                                          <p:attrName>style.visibility</p:attrName>
                                        </p:attrNameLst>
                                      </p:cBhvr>
                                      <p:to>
                                        <p:strVal val="visible"/>
                                      </p:to>
                                    </p:set>
                                    <p:animEffect transition="in" filter="wipe(down)">
                                      <p:cBhvr>
                                        <p:cTn id="79" dur="500"/>
                                        <p:tgtEl>
                                          <p:spTgt spid="10">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85D67C7-177D-4C20-BE9C-968F3026E3FC}"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Bottom-Up Parse Example </a:t>
            </a:r>
          </a:p>
        </p:txBody>
      </p:sp>
      <p:sp>
        <p:nvSpPr>
          <p:cNvPr id="10" name="Content Placeholder 9">
            <a:extLst>
              <a:ext uri="{FF2B5EF4-FFF2-40B4-BE49-F238E27FC236}">
                <a16:creationId xmlns:a16="http://schemas.microsoft.com/office/drawing/2014/main" id="{11D2B113-4CD3-44DB-9684-C9E880601C63}"/>
              </a:ext>
            </a:extLst>
          </p:cNvPr>
          <p:cNvSpPr>
            <a:spLocks noGrp="1"/>
          </p:cNvSpPr>
          <p:nvPr>
            <p:ph idx="1"/>
          </p:nvPr>
        </p:nvSpPr>
        <p:spPr>
          <a:xfrm>
            <a:off x="457200" y="809729"/>
            <a:ext cx="8229600" cy="4906964"/>
          </a:xfrm>
        </p:spPr>
        <p:txBody>
          <a:bodyPr>
            <a:noAutofit/>
          </a:bodyPr>
          <a:lstStyle/>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Bottom-up parse of </a:t>
            </a:r>
            <a:r>
              <a:rPr lang="en-US" b="1" dirty="0">
                <a:latin typeface="Times New Roman" panose="02020603050405020304" pitchFamily="18" charset="0"/>
                <a:cs typeface="Times New Roman" panose="02020603050405020304" pitchFamily="18" charset="0"/>
              </a:rPr>
              <a:t>n + n * n</a:t>
            </a:r>
            <a:r>
              <a:rPr lang="en-US" dirty="0">
                <a:latin typeface="Times New Roman" panose="02020603050405020304" pitchFamily="18" charset="0"/>
                <a:cs typeface="Times New Roman" panose="02020603050405020304" pitchFamily="18" charset="0"/>
              </a:rPr>
              <a:t> using the following grammar</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E63A3375-E315-4294-88E8-FCEDE44E7F5D}"/>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graphicFrame>
        <p:nvGraphicFramePr>
          <p:cNvPr id="2" name="Table 1">
            <a:extLst>
              <a:ext uri="{FF2B5EF4-FFF2-40B4-BE49-F238E27FC236}">
                <a16:creationId xmlns:a16="http://schemas.microsoft.com/office/drawing/2014/main" id="{2DEF103D-CCB9-4A4D-98AF-2AABA9FAA44E}"/>
              </a:ext>
            </a:extLst>
          </p:cNvPr>
          <p:cNvGraphicFramePr>
            <a:graphicFrameLocks noGrp="1"/>
          </p:cNvGraphicFramePr>
          <p:nvPr>
            <p:extLst>
              <p:ext uri="{D42A27DB-BD31-4B8C-83A1-F6EECF244321}">
                <p14:modId xmlns:p14="http://schemas.microsoft.com/office/powerpoint/2010/main" val="2811338743"/>
              </p:ext>
            </p:extLst>
          </p:nvPr>
        </p:nvGraphicFramePr>
        <p:xfrm>
          <a:off x="3048000" y="2209800"/>
          <a:ext cx="2606040" cy="1874520"/>
        </p:xfrm>
        <a:graphic>
          <a:graphicData uri="http://schemas.openxmlformats.org/drawingml/2006/table">
            <a:tbl>
              <a:tblPr/>
              <a:tblGrid>
                <a:gridCol w="868680">
                  <a:extLst>
                    <a:ext uri="{9D8B030D-6E8A-4147-A177-3AD203B41FA5}">
                      <a16:colId xmlns:a16="http://schemas.microsoft.com/office/drawing/2014/main" val="1943787030"/>
                    </a:ext>
                  </a:extLst>
                </a:gridCol>
                <a:gridCol w="868680">
                  <a:extLst>
                    <a:ext uri="{9D8B030D-6E8A-4147-A177-3AD203B41FA5}">
                      <a16:colId xmlns:a16="http://schemas.microsoft.com/office/drawing/2014/main" val="2823484875"/>
                    </a:ext>
                  </a:extLst>
                </a:gridCol>
                <a:gridCol w="868680">
                  <a:extLst>
                    <a:ext uri="{9D8B030D-6E8A-4147-A177-3AD203B41FA5}">
                      <a16:colId xmlns:a16="http://schemas.microsoft.com/office/drawing/2014/main" val="1635977030"/>
                    </a:ext>
                  </a:extLst>
                </a:gridCol>
              </a:tblGrid>
              <a:tr h="0">
                <a:tc>
                  <a:txBody>
                    <a:bodyPr/>
                    <a:lstStyle/>
                    <a:p>
                      <a:r>
                        <a:rPr lang="en-IN" sz="1800" i="1">
                          <a:latin typeface="Times New Roman" panose="02020603050405020304" pitchFamily="18" charset="0"/>
                          <a:cs typeface="Times New Roman" panose="02020603050405020304" pitchFamily="18" charset="0"/>
                        </a:rPr>
                        <a:t>E</a:t>
                      </a:r>
                      <a:endParaRPr lang="en-IN" sz="180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tc>
                  <a:txBody>
                    <a:bodyPr/>
                    <a:lstStyle/>
                    <a:p>
                      <a:r>
                        <a:rPr lang="en-IN" sz="1800" dirty="0">
                          <a:latin typeface="Times New Roman" panose="02020603050405020304" pitchFamily="18" charset="0"/>
                          <a:cs typeface="Times New Roman" panose="02020603050405020304" pitchFamily="18" charset="0"/>
                        </a:rPr>
                        <a:t>→</a:t>
                      </a:r>
                    </a:p>
                  </a:txBody>
                  <a:tcPr marL="19050" marR="19050" marT="19050" marB="19050" anchor="ctr">
                    <a:lnL>
                      <a:noFill/>
                    </a:lnL>
                    <a:lnR>
                      <a:noFill/>
                    </a:lnR>
                    <a:lnT>
                      <a:noFill/>
                    </a:lnT>
                    <a:lnB>
                      <a:noFill/>
                    </a:lnB>
                    <a:solidFill>
                      <a:srgbClr val="FFFFFF"/>
                    </a:solidFill>
                  </a:tcPr>
                </a:tc>
                <a:tc>
                  <a:txBody>
                    <a:bodyPr/>
                    <a:lstStyle/>
                    <a:p>
                      <a:r>
                        <a:rPr lang="en-IN" sz="1800" i="1">
                          <a:latin typeface="Times New Roman" panose="02020603050405020304" pitchFamily="18" charset="0"/>
                          <a:cs typeface="Times New Roman" panose="02020603050405020304" pitchFamily="18" charset="0"/>
                        </a:rPr>
                        <a:t>T</a:t>
                      </a:r>
                      <a:endParaRPr lang="en-IN" sz="180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467653417"/>
                  </a:ext>
                </a:extLst>
              </a:tr>
              <a:tr h="0">
                <a:tc>
                  <a:txBody>
                    <a:bodyPr/>
                    <a:lstStyle/>
                    <a:p>
                      <a:r>
                        <a:rPr lang="en-IN" sz="1800" i="1">
                          <a:latin typeface="Times New Roman" panose="02020603050405020304" pitchFamily="18" charset="0"/>
                          <a:cs typeface="Times New Roman" panose="02020603050405020304" pitchFamily="18" charset="0"/>
                        </a:rPr>
                        <a:t>E</a:t>
                      </a:r>
                      <a:endParaRPr lang="en-IN" sz="180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tc>
                  <a:txBody>
                    <a:bodyPr/>
                    <a:lstStyle/>
                    <a:p>
                      <a:r>
                        <a:rPr lang="en-IN" sz="1800">
                          <a:latin typeface="Times New Roman" panose="02020603050405020304" pitchFamily="18" charset="0"/>
                          <a:cs typeface="Times New Roman" panose="02020603050405020304" pitchFamily="18" charset="0"/>
                        </a:rPr>
                        <a:t>→</a:t>
                      </a:r>
                    </a:p>
                  </a:txBody>
                  <a:tcPr marL="19050" marR="19050" marT="19050" marB="19050" anchor="ctr">
                    <a:lnL>
                      <a:noFill/>
                    </a:lnL>
                    <a:lnR>
                      <a:noFill/>
                    </a:lnR>
                    <a:lnT>
                      <a:noFill/>
                    </a:lnT>
                    <a:lnB>
                      <a:noFill/>
                    </a:lnB>
                    <a:solidFill>
                      <a:srgbClr val="FFFFFF"/>
                    </a:solidFill>
                  </a:tcPr>
                </a:tc>
                <a:tc>
                  <a:txBody>
                    <a:bodyPr/>
                    <a:lstStyle/>
                    <a:p>
                      <a:r>
                        <a:rPr lang="en-IN" sz="1800" i="1"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 + </a:t>
                      </a:r>
                      <a:r>
                        <a:rPr lang="en-IN" sz="1800" i="1" dirty="0">
                          <a:latin typeface="Times New Roman" panose="02020603050405020304" pitchFamily="18" charset="0"/>
                          <a:cs typeface="Times New Roman" panose="02020603050405020304" pitchFamily="18" charset="0"/>
                        </a:rPr>
                        <a:t>T</a:t>
                      </a:r>
                      <a:endParaRPr lang="en-IN" sz="1800" dirty="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918187437"/>
                  </a:ext>
                </a:extLst>
              </a:tr>
              <a:tr h="0">
                <a:tc>
                  <a:txBody>
                    <a:bodyPr/>
                    <a:lstStyle/>
                    <a:p>
                      <a:r>
                        <a:rPr lang="en-IN" sz="1800" i="1">
                          <a:latin typeface="Times New Roman" panose="02020603050405020304" pitchFamily="18" charset="0"/>
                          <a:cs typeface="Times New Roman" panose="02020603050405020304" pitchFamily="18" charset="0"/>
                        </a:rPr>
                        <a:t>T</a:t>
                      </a:r>
                      <a:endParaRPr lang="en-IN" sz="180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tc>
                  <a:txBody>
                    <a:bodyPr/>
                    <a:lstStyle/>
                    <a:p>
                      <a:r>
                        <a:rPr lang="en-IN" sz="1800">
                          <a:latin typeface="Times New Roman" panose="02020603050405020304" pitchFamily="18" charset="0"/>
                          <a:cs typeface="Times New Roman" panose="02020603050405020304" pitchFamily="18" charset="0"/>
                        </a:rPr>
                        <a:t>→</a:t>
                      </a:r>
                    </a:p>
                  </a:txBody>
                  <a:tcPr marL="19050" marR="19050" marT="19050" marB="19050" anchor="ctr">
                    <a:lnL>
                      <a:noFill/>
                    </a:lnL>
                    <a:lnR>
                      <a:noFill/>
                    </a:lnR>
                    <a:lnT>
                      <a:noFill/>
                    </a:lnT>
                    <a:lnB>
                      <a:noFill/>
                    </a:lnB>
                    <a:solidFill>
                      <a:srgbClr val="FFFFFF"/>
                    </a:solidFill>
                  </a:tcPr>
                </a:tc>
                <a:tc>
                  <a:txBody>
                    <a:bodyPr/>
                    <a:lstStyle/>
                    <a:p>
                      <a:r>
                        <a:rPr lang="en-IN" sz="1800" i="1" dirty="0">
                          <a:latin typeface="Times New Roman" panose="02020603050405020304" pitchFamily="18" charset="0"/>
                          <a:cs typeface="Times New Roman" panose="02020603050405020304" pitchFamily="18" charset="0"/>
                        </a:rPr>
                        <a:t>F</a:t>
                      </a:r>
                      <a:endParaRPr lang="en-IN" sz="1800" dirty="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2761735103"/>
                  </a:ext>
                </a:extLst>
              </a:tr>
              <a:tr h="0">
                <a:tc>
                  <a:txBody>
                    <a:bodyPr/>
                    <a:lstStyle/>
                    <a:p>
                      <a:r>
                        <a:rPr lang="en-IN" sz="1800" i="1">
                          <a:latin typeface="Times New Roman" panose="02020603050405020304" pitchFamily="18" charset="0"/>
                          <a:cs typeface="Times New Roman" panose="02020603050405020304" pitchFamily="18" charset="0"/>
                        </a:rPr>
                        <a:t>T</a:t>
                      </a:r>
                      <a:endParaRPr lang="en-IN" sz="180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tc>
                  <a:txBody>
                    <a:bodyPr/>
                    <a:lstStyle/>
                    <a:p>
                      <a:r>
                        <a:rPr lang="en-IN" sz="1800">
                          <a:latin typeface="Times New Roman" panose="02020603050405020304" pitchFamily="18" charset="0"/>
                          <a:cs typeface="Times New Roman" panose="02020603050405020304" pitchFamily="18" charset="0"/>
                        </a:rPr>
                        <a:t>→</a:t>
                      </a:r>
                    </a:p>
                  </a:txBody>
                  <a:tcPr marL="19050" marR="19050" marT="19050" marB="19050" anchor="ctr">
                    <a:lnL>
                      <a:noFill/>
                    </a:lnL>
                    <a:lnR>
                      <a:noFill/>
                    </a:lnR>
                    <a:lnT>
                      <a:noFill/>
                    </a:lnT>
                    <a:lnB>
                      <a:noFill/>
                    </a:lnB>
                    <a:solidFill>
                      <a:srgbClr val="FFFFFF"/>
                    </a:solidFill>
                  </a:tcPr>
                </a:tc>
                <a:tc>
                  <a:txBody>
                    <a:bodyPr/>
                    <a:lstStyle/>
                    <a:p>
                      <a:r>
                        <a:rPr lang="en-IN" sz="1800" i="1" dirty="0">
                          <a:latin typeface="Times New Roman" panose="02020603050405020304" pitchFamily="18" charset="0"/>
                          <a:cs typeface="Times New Roman" panose="02020603050405020304" pitchFamily="18" charset="0"/>
                        </a:rPr>
                        <a:t>T</a:t>
                      </a:r>
                      <a:r>
                        <a:rPr lang="en-IN" sz="1800" dirty="0">
                          <a:latin typeface="Times New Roman" panose="02020603050405020304" pitchFamily="18" charset="0"/>
                          <a:cs typeface="Times New Roman" panose="02020603050405020304" pitchFamily="18" charset="0"/>
                        </a:rPr>
                        <a:t> * </a:t>
                      </a:r>
                      <a:r>
                        <a:rPr lang="en-IN" sz="1800" i="1" dirty="0">
                          <a:latin typeface="Times New Roman" panose="02020603050405020304" pitchFamily="18" charset="0"/>
                          <a:cs typeface="Times New Roman" panose="02020603050405020304" pitchFamily="18" charset="0"/>
                        </a:rPr>
                        <a:t>F</a:t>
                      </a:r>
                      <a:endParaRPr lang="en-IN" sz="1800" dirty="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3429644104"/>
                  </a:ext>
                </a:extLst>
              </a:tr>
              <a:tr h="0">
                <a:tc>
                  <a:txBody>
                    <a:bodyPr/>
                    <a:lstStyle/>
                    <a:p>
                      <a:r>
                        <a:rPr lang="en-IN" sz="1800" i="1" dirty="0">
                          <a:latin typeface="Times New Roman" panose="02020603050405020304" pitchFamily="18" charset="0"/>
                          <a:cs typeface="Times New Roman" panose="02020603050405020304" pitchFamily="18" charset="0"/>
                        </a:rPr>
                        <a:t>F</a:t>
                      </a:r>
                      <a:endParaRPr lang="en-IN" sz="1800" dirty="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tc>
                  <a:txBody>
                    <a:bodyPr/>
                    <a:lstStyle/>
                    <a:p>
                      <a:r>
                        <a:rPr lang="en-IN" sz="1800">
                          <a:latin typeface="Times New Roman" panose="02020603050405020304" pitchFamily="18" charset="0"/>
                          <a:cs typeface="Times New Roman" panose="02020603050405020304" pitchFamily="18" charset="0"/>
                        </a:rPr>
                        <a:t>→</a:t>
                      </a:r>
                    </a:p>
                  </a:txBody>
                  <a:tcPr marL="19050" marR="19050" marT="19050" marB="19050" anchor="ctr">
                    <a:lnL>
                      <a:noFill/>
                    </a:lnL>
                    <a:lnR>
                      <a:noFill/>
                    </a:lnR>
                    <a:lnT>
                      <a:noFill/>
                    </a:lnT>
                    <a:lnB>
                      <a:noFill/>
                    </a:lnB>
                    <a:solidFill>
                      <a:srgbClr val="FFFFFF"/>
                    </a:solidFill>
                  </a:tcPr>
                </a:tc>
                <a:tc>
                  <a:txBody>
                    <a:bodyPr/>
                    <a:lstStyle/>
                    <a:p>
                      <a:r>
                        <a:rPr lang="en-IN" sz="1800" b="1" dirty="0">
                          <a:latin typeface="Times New Roman" panose="02020603050405020304" pitchFamily="18" charset="0"/>
                          <a:cs typeface="Times New Roman" panose="02020603050405020304" pitchFamily="18" charset="0"/>
                        </a:rPr>
                        <a:t>n</a:t>
                      </a:r>
                      <a:endParaRPr lang="en-IN" sz="1800" dirty="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2709762506"/>
                  </a:ext>
                </a:extLst>
              </a:tr>
              <a:tr h="0">
                <a:tc>
                  <a:txBody>
                    <a:bodyPr/>
                    <a:lstStyle/>
                    <a:p>
                      <a:r>
                        <a:rPr lang="en-IN" sz="1800" i="1">
                          <a:latin typeface="Times New Roman" panose="02020603050405020304" pitchFamily="18" charset="0"/>
                          <a:cs typeface="Times New Roman" panose="02020603050405020304" pitchFamily="18" charset="0"/>
                        </a:rPr>
                        <a:t>F</a:t>
                      </a:r>
                      <a:endParaRPr lang="en-IN" sz="180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tc>
                  <a:txBody>
                    <a:bodyPr/>
                    <a:lstStyle/>
                    <a:p>
                      <a:r>
                        <a:rPr lang="en-IN" sz="1800">
                          <a:latin typeface="Times New Roman" panose="02020603050405020304" pitchFamily="18" charset="0"/>
                          <a:cs typeface="Times New Roman" panose="02020603050405020304" pitchFamily="18" charset="0"/>
                        </a:rPr>
                        <a:t>→</a:t>
                      </a:r>
                    </a:p>
                  </a:txBody>
                  <a:tcPr marL="19050" marR="19050" marT="19050" marB="19050" anchor="ctr">
                    <a:lnL>
                      <a:noFill/>
                    </a:lnL>
                    <a:lnR>
                      <a:noFill/>
                    </a:lnR>
                    <a:lnT>
                      <a:noFill/>
                    </a:lnT>
                    <a:lnB>
                      <a:noFill/>
                    </a:lnB>
                    <a:solidFill>
                      <a:srgbClr val="FFFFFF"/>
                    </a:solidFill>
                  </a:tcPr>
                </a:tc>
                <a:tc>
                  <a:txBody>
                    <a:bodyPr/>
                    <a:lstStyle/>
                    <a:p>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 )</a:t>
                      </a: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2559034368"/>
                  </a:ext>
                </a:extLst>
              </a:tr>
            </a:tbl>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8658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barn(inVertical)">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style.rotation</p:attrName>
                                        </p:attrNameLst>
                                      </p:cBhvr>
                                      <p:tavLst>
                                        <p:tav tm="0">
                                          <p:val>
                                            <p:fltVal val="90"/>
                                          </p:val>
                                        </p:tav>
                                        <p:tav tm="100000">
                                          <p:val>
                                            <p:fltVal val="0"/>
                                          </p:val>
                                        </p:tav>
                                      </p:tavLst>
                                    </p:anim>
                                    <p:animEffect transition="in" filter="fade">
                                      <p:cBhvr>
                                        <p:cTn id="1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1645D81-95D3-4766-870B-AD78ACB7BC2C}"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Bottom-Up Parse Example </a:t>
            </a:r>
          </a:p>
        </p:txBody>
      </p:sp>
      <p:sp>
        <p:nvSpPr>
          <p:cNvPr id="9" name="Footer Placeholder 4">
            <a:extLst>
              <a:ext uri="{FF2B5EF4-FFF2-40B4-BE49-F238E27FC236}">
                <a16:creationId xmlns:a16="http://schemas.microsoft.com/office/drawing/2014/main" id="{E63A3375-E315-4294-88E8-FCEDE44E7F5D}"/>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sp>
        <p:nvSpPr>
          <p:cNvPr id="11" name="Rectangle 1">
            <a:extLst>
              <a:ext uri="{FF2B5EF4-FFF2-40B4-BE49-F238E27FC236}">
                <a16:creationId xmlns:a16="http://schemas.microsoft.com/office/drawing/2014/main" id="{9EF87DBC-6FD2-49F7-BE55-AD2D9C07A496}"/>
              </a:ext>
            </a:extLst>
          </p:cNvPr>
          <p:cNvSpPr>
            <a:spLocks noGrp="1" noChangeArrowheads="1"/>
          </p:cNvSpPr>
          <p:nvPr>
            <p:ph idx="1"/>
          </p:nvPr>
        </p:nvSpPr>
        <p:spPr bwMode="auto">
          <a:xfrm>
            <a:off x="457200" y="3441849"/>
            <a:ext cx="373820" cy="461665"/>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A7766C1C-43FC-444F-A527-3600536A6203}"/>
              </a:ext>
            </a:extLst>
          </p:cNvPr>
          <p:cNvSpPr>
            <a:spLocks noChangeArrowheads="1"/>
          </p:cNvSpPr>
          <p:nvPr/>
        </p:nvSpPr>
        <p:spPr bwMode="auto">
          <a:xfrm>
            <a:off x="1447800" y="3072518"/>
            <a:ext cx="437749" cy="1200329"/>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13" name="Rectangle 3">
            <a:extLst>
              <a:ext uri="{FF2B5EF4-FFF2-40B4-BE49-F238E27FC236}">
                <a16:creationId xmlns:a16="http://schemas.microsoft.com/office/drawing/2014/main" id="{35C14DBD-27C4-44A3-81DF-465EB1C65288}"/>
              </a:ext>
            </a:extLst>
          </p:cNvPr>
          <p:cNvSpPr>
            <a:spLocks noChangeArrowheads="1"/>
          </p:cNvSpPr>
          <p:nvPr/>
        </p:nvSpPr>
        <p:spPr bwMode="auto">
          <a:xfrm>
            <a:off x="2570275" y="2703185"/>
            <a:ext cx="461217" cy="1938992"/>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14" name="Rectangle 4">
            <a:extLst>
              <a:ext uri="{FF2B5EF4-FFF2-40B4-BE49-F238E27FC236}">
                <a16:creationId xmlns:a16="http://schemas.microsoft.com/office/drawing/2014/main" id="{E1A3EE65-4DA1-44E0-83C3-C5E521516733}"/>
              </a:ext>
            </a:extLst>
          </p:cNvPr>
          <p:cNvSpPr>
            <a:spLocks noChangeArrowheads="1"/>
          </p:cNvSpPr>
          <p:nvPr/>
        </p:nvSpPr>
        <p:spPr bwMode="auto">
          <a:xfrm>
            <a:off x="3638516" y="2333853"/>
            <a:ext cx="466794" cy="2677656"/>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15" name="Rectangle 5">
            <a:extLst>
              <a:ext uri="{FF2B5EF4-FFF2-40B4-BE49-F238E27FC236}">
                <a16:creationId xmlns:a16="http://schemas.microsoft.com/office/drawing/2014/main" id="{E939A1E1-4A93-4153-B59B-415716A1EB41}"/>
              </a:ext>
            </a:extLst>
          </p:cNvPr>
          <p:cNvSpPr>
            <a:spLocks noChangeArrowheads="1"/>
          </p:cNvSpPr>
          <p:nvPr/>
        </p:nvSpPr>
        <p:spPr bwMode="auto">
          <a:xfrm>
            <a:off x="4800600" y="2333118"/>
            <a:ext cx="684803" cy="2677656"/>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cxnSp>
        <p:nvCxnSpPr>
          <p:cNvPr id="17" name="Straight Arrow Connector 16">
            <a:extLst>
              <a:ext uri="{FF2B5EF4-FFF2-40B4-BE49-F238E27FC236}">
                <a16:creationId xmlns:a16="http://schemas.microsoft.com/office/drawing/2014/main" id="{976EA1ED-E9FD-4923-8263-CF52CA090786}"/>
              </a:ext>
            </a:extLst>
          </p:cNvPr>
          <p:cNvCxnSpPr>
            <a:stCxn id="11" idx="3"/>
            <a:endCxn id="12" idx="1"/>
          </p:cNvCxnSpPr>
          <p:nvPr/>
        </p:nvCxnSpPr>
        <p:spPr>
          <a:xfrm>
            <a:off x="831020" y="3672682"/>
            <a:ext cx="616780"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9" name="Straight Arrow Connector 18">
            <a:extLst>
              <a:ext uri="{FF2B5EF4-FFF2-40B4-BE49-F238E27FC236}">
                <a16:creationId xmlns:a16="http://schemas.microsoft.com/office/drawing/2014/main" id="{AF55D4B5-D895-416E-B351-1E96CD113702}"/>
              </a:ext>
            </a:extLst>
          </p:cNvPr>
          <p:cNvCxnSpPr>
            <a:stCxn id="12" idx="3"/>
            <a:endCxn id="13" idx="1"/>
          </p:cNvCxnSpPr>
          <p:nvPr/>
        </p:nvCxnSpPr>
        <p:spPr>
          <a:xfrm flipV="1">
            <a:off x="1885549" y="3672681"/>
            <a:ext cx="684726" cy="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Straight Arrow Connector 20">
            <a:extLst>
              <a:ext uri="{FF2B5EF4-FFF2-40B4-BE49-F238E27FC236}">
                <a16:creationId xmlns:a16="http://schemas.microsoft.com/office/drawing/2014/main" id="{0952B723-A645-457D-911D-01C17039AB3F}"/>
              </a:ext>
            </a:extLst>
          </p:cNvPr>
          <p:cNvCxnSpPr>
            <a:stCxn id="13" idx="3"/>
            <a:endCxn id="14" idx="1"/>
          </p:cNvCxnSpPr>
          <p:nvPr/>
        </p:nvCxnSpPr>
        <p:spPr>
          <a:xfrm>
            <a:off x="3031492" y="3672681"/>
            <a:ext cx="607024"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00896ACA-2612-4720-89C1-0014DE23853B}"/>
              </a:ext>
            </a:extLst>
          </p:cNvPr>
          <p:cNvCxnSpPr>
            <a:stCxn id="14" idx="3"/>
            <a:endCxn id="15" idx="1"/>
          </p:cNvCxnSpPr>
          <p:nvPr/>
        </p:nvCxnSpPr>
        <p:spPr>
          <a:xfrm flipV="1">
            <a:off x="4105310" y="3671946"/>
            <a:ext cx="695290" cy="73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7" name="Rectangle 6">
            <a:extLst>
              <a:ext uri="{FF2B5EF4-FFF2-40B4-BE49-F238E27FC236}">
                <a16:creationId xmlns:a16="http://schemas.microsoft.com/office/drawing/2014/main" id="{F352B415-1B58-4D4A-9838-6E9374FDC112}"/>
              </a:ext>
            </a:extLst>
          </p:cNvPr>
          <p:cNvSpPr>
            <a:spLocks noChangeArrowheads="1"/>
          </p:cNvSpPr>
          <p:nvPr/>
        </p:nvSpPr>
        <p:spPr bwMode="auto">
          <a:xfrm>
            <a:off x="6113747" y="2331758"/>
            <a:ext cx="1087157" cy="2677656"/>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T</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  +  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cxnSp>
        <p:nvCxnSpPr>
          <p:cNvPr id="29" name="Straight Arrow Connector 28">
            <a:extLst>
              <a:ext uri="{FF2B5EF4-FFF2-40B4-BE49-F238E27FC236}">
                <a16:creationId xmlns:a16="http://schemas.microsoft.com/office/drawing/2014/main" id="{89FEECB7-203F-4D49-9AFA-C7B48213B813}"/>
              </a:ext>
            </a:extLst>
          </p:cNvPr>
          <p:cNvCxnSpPr>
            <a:stCxn id="15" idx="3"/>
            <a:endCxn id="27" idx="1"/>
          </p:cNvCxnSpPr>
          <p:nvPr/>
        </p:nvCxnSpPr>
        <p:spPr>
          <a:xfrm flipV="1">
            <a:off x="5485403" y="3670586"/>
            <a:ext cx="628344" cy="136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42148A08-ACBE-43F1-8BA0-C1A891E648F5}"/>
              </a:ext>
            </a:extLst>
          </p:cNvPr>
          <p:cNvCxnSpPr/>
          <p:nvPr/>
        </p:nvCxnSpPr>
        <p:spPr>
          <a:xfrm flipV="1">
            <a:off x="7236464" y="3670586"/>
            <a:ext cx="628344" cy="136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22" name="Picture 2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263080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bg/>
                                          </p:spTgt>
                                        </p:tgtEl>
                                        <p:attrNameLst>
                                          <p:attrName>style.visibility</p:attrName>
                                        </p:attrNameLst>
                                      </p:cBhvr>
                                      <p:to>
                                        <p:strVal val="visible"/>
                                      </p:to>
                                    </p:set>
                                    <p:animEffect transition="in" filter="wipe(down)">
                                      <p:cBhvr>
                                        <p:cTn id="7" dur="500"/>
                                        <p:tgtEl>
                                          <p:spTgt spid="11">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wipe(down)">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arn(inVertic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arn(inVertical)">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down)">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barn(inVertical)">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down)">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barn(inVertical)">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down)">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barn(inVertical)">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down)">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barn(inVertical)">
                                      <p:cBhvr>
                                        <p:cTn id="6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nimBg="1"/>
      <p:bldP spid="12" grpId="0" animBg="1"/>
      <p:bldP spid="13" grpId="0" animBg="1"/>
      <p:bldP spid="14" grpId="0" animBg="1"/>
      <p:bldP spid="15" grpId="0" animBg="1"/>
      <p:bldP spid="2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85B6FFB-2F82-44E4-ADF7-91CC6655E47F}"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Bottom-Up Parse Example </a:t>
            </a:r>
          </a:p>
        </p:txBody>
      </p:sp>
      <p:sp>
        <p:nvSpPr>
          <p:cNvPr id="9" name="Footer Placeholder 4">
            <a:extLst>
              <a:ext uri="{FF2B5EF4-FFF2-40B4-BE49-F238E27FC236}">
                <a16:creationId xmlns:a16="http://schemas.microsoft.com/office/drawing/2014/main" id="{E63A3375-E315-4294-88E8-FCEDE44E7F5D}"/>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graphicFrame>
        <p:nvGraphicFramePr>
          <p:cNvPr id="2" name="Table 1">
            <a:extLst>
              <a:ext uri="{FF2B5EF4-FFF2-40B4-BE49-F238E27FC236}">
                <a16:creationId xmlns:a16="http://schemas.microsoft.com/office/drawing/2014/main" id="{2DEF103D-CCB9-4A4D-98AF-2AABA9FAA44E}"/>
              </a:ext>
            </a:extLst>
          </p:cNvPr>
          <p:cNvGraphicFramePr>
            <a:graphicFrameLocks noGrp="1"/>
          </p:cNvGraphicFramePr>
          <p:nvPr/>
        </p:nvGraphicFramePr>
        <p:xfrm>
          <a:off x="3175241" y="2373472"/>
          <a:ext cx="1524000" cy="2598420"/>
        </p:xfrm>
        <a:graphic>
          <a:graphicData uri="http://schemas.openxmlformats.org/drawingml/2006/table">
            <a:tbl>
              <a:tblPr/>
              <a:tblGrid>
                <a:gridCol w="1524000">
                  <a:extLst>
                    <a:ext uri="{9D8B030D-6E8A-4147-A177-3AD203B41FA5}">
                      <a16:colId xmlns:a16="http://schemas.microsoft.com/office/drawing/2014/main" val="1943787030"/>
                    </a:ext>
                  </a:extLst>
                </a:gridCol>
              </a:tblGrid>
              <a:tr h="2209959">
                <a:tc>
                  <a:txBody>
                    <a:bodyPr/>
                    <a:lstStyle/>
                    <a:p>
                      <a:r>
                        <a:rPr lang="pt-BR" sz="2400" dirty="0">
                          <a:latin typeface="Times New Roman" panose="02020603050405020304" pitchFamily="18" charset="0"/>
                          <a:cs typeface="Times New Roman" panose="02020603050405020304" pitchFamily="18" charset="0"/>
                        </a:rPr>
                        <a:t>E       T </a:t>
                      </a:r>
                    </a:p>
                    <a:p>
                      <a:r>
                        <a:rPr lang="pt-BR" sz="2400" dirty="0">
                          <a:latin typeface="Times New Roman" panose="02020603050405020304" pitchFamily="18" charset="0"/>
                          <a:cs typeface="Times New Roman" panose="02020603050405020304" pitchFamily="18" charset="0"/>
                        </a:rPr>
                        <a:t>|     / | \ </a:t>
                      </a:r>
                    </a:p>
                    <a:p>
                      <a:r>
                        <a:rPr lang="pt-BR" sz="2400" dirty="0">
                          <a:latin typeface="Times New Roman" panose="02020603050405020304" pitchFamily="18" charset="0"/>
                          <a:cs typeface="Times New Roman" panose="02020603050405020304" pitchFamily="18" charset="0"/>
                        </a:rPr>
                        <a:t>T    T  *  F </a:t>
                      </a:r>
                    </a:p>
                    <a:p>
                      <a:r>
                        <a:rPr lang="pt-BR" sz="2400" dirty="0">
                          <a:latin typeface="Times New Roman" panose="02020603050405020304" pitchFamily="18" charset="0"/>
                          <a:cs typeface="Times New Roman" panose="02020603050405020304" pitchFamily="18" charset="0"/>
                        </a:rPr>
                        <a:t>|    |      | </a:t>
                      </a:r>
                    </a:p>
                    <a:p>
                      <a:r>
                        <a:rPr lang="pt-BR" sz="2400" dirty="0">
                          <a:latin typeface="Times New Roman" panose="02020603050405020304" pitchFamily="18" charset="0"/>
                          <a:cs typeface="Times New Roman" panose="02020603050405020304" pitchFamily="18" charset="0"/>
                        </a:rPr>
                        <a:t>F    F      n </a:t>
                      </a:r>
                    </a:p>
                    <a:p>
                      <a:r>
                        <a:rPr lang="pt-BR" sz="2400" dirty="0">
                          <a:latin typeface="Times New Roman" panose="02020603050405020304" pitchFamily="18" charset="0"/>
                          <a:cs typeface="Times New Roman" panose="02020603050405020304" pitchFamily="18" charset="0"/>
                        </a:rPr>
                        <a:t>|    |       </a:t>
                      </a:r>
                    </a:p>
                    <a:p>
                      <a:r>
                        <a:rPr lang="pt-BR" sz="2400" dirty="0">
                          <a:latin typeface="Times New Roman" panose="02020603050405020304" pitchFamily="18" charset="0"/>
                          <a:cs typeface="Times New Roman" panose="02020603050405020304" pitchFamily="18" charset="0"/>
                        </a:rPr>
                        <a:t>n + n</a:t>
                      </a:r>
                      <a:endParaRPr lang="en-IN" sz="2400" dirty="0">
                        <a:latin typeface="Times New Roman" panose="02020603050405020304" pitchFamily="18" charset="0"/>
                        <a:cs typeface="Times New Roman" panose="02020603050405020304" pitchFamily="18" charset="0"/>
                      </a:endParaRP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67653417"/>
                  </a:ext>
                </a:extLst>
              </a:tr>
            </a:tbl>
          </a:graphicData>
        </a:graphic>
      </p:graphicFrame>
      <p:sp>
        <p:nvSpPr>
          <p:cNvPr id="3" name="Rectangle 1">
            <a:extLst>
              <a:ext uri="{FF2B5EF4-FFF2-40B4-BE49-F238E27FC236}">
                <a16:creationId xmlns:a16="http://schemas.microsoft.com/office/drawing/2014/main" id="{8E1D0CC8-DB88-4D18-BD44-46F9312686B4}"/>
              </a:ext>
            </a:extLst>
          </p:cNvPr>
          <p:cNvSpPr>
            <a:spLocks noGrp="1" noChangeArrowheads="1"/>
          </p:cNvSpPr>
          <p:nvPr>
            <p:ph idx="1"/>
          </p:nvPr>
        </p:nvSpPr>
        <p:spPr bwMode="auto">
          <a:xfrm>
            <a:off x="457200" y="2333854"/>
            <a:ext cx="1482522" cy="2677656"/>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T</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lang="en-US" altLang="en-US" sz="2400" b="1" dirty="0">
                <a:solidFill>
                  <a:srgbClr val="000000"/>
                </a:solidFill>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 + n * 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5" name="Rectangle 2">
            <a:extLst>
              <a:ext uri="{FF2B5EF4-FFF2-40B4-BE49-F238E27FC236}">
                <a16:creationId xmlns:a16="http://schemas.microsoft.com/office/drawing/2014/main" id="{9ACC3E82-7067-4DBA-9E88-E92DD7A5A5E3}"/>
              </a:ext>
            </a:extLst>
          </p:cNvPr>
          <p:cNvSpPr>
            <a:spLocks noChangeArrowheads="1"/>
          </p:cNvSpPr>
          <p:nvPr/>
        </p:nvSpPr>
        <p:spPr bwMode="auto">
          <a:xfrm>
            <a:off x="6004716" y="1595190"/>
            <a:ext cx="1554849" cy="4154984"/>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       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T</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cxnSp>
        <p:nvCxnSpPr>
          <p:cNvPr id="12" name="Straight Arrow Connector 11">
            <a:extLst>
              <a:ext uri="{FF2B5EF4-FFF2-40B4-BE49-F238E27FC236}">
                <a16:creationId xmlns:a16="http://schemas.microsoft.com/office/drawing/2014/main" id="{D6454EFB-F17A-4165-B46D-77145C4DF24D}"/>
              </a:ext>
            </a:extLst>
          </p:cNvPr>
          <p:cNvCxnSpPr>
            <a:stCxn id="3" idx="3"/>
            <a:endCxn id="2" idx="1"/>
          </p:cNvCxnSpPr>
          <p:nvPr/>
        </p:nvCxnSpPr>
        <p:spPr>
          <a:xfrm>
            <a:off x="1939722" y="3672682"/>
            <a:ext cx="123551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a:extLst>
              <a:ext uri="{FF2B5EF4-FFF2-40B4-BE49-F238E27FC236}">
                <a16:creationId xmlns:a16="http://schemas.microsoft.com/office/drawing/2014/main" id="{95AC04D8-C321-4E82-B0B8-5E66A37FB20D}"/>
              </a:ext>
            </a:extLst>
          </p:cNvPr>
          <p:cNvCxnSpPr>
            <a:cxnSpLocks/>
            <a:stCxn id="2" idx="3"/>
            <a:endCxn id="5" idx="1"/>
          </p:cNvCxnSpPr>
          <p:nvPr/>
        </p:nvCxnSpPr>
        <p:spPr>
          <a:xfrm>
            <a:off x="4699241" y="3672682"/>
            <a:ext cx="1305475"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14" name="Picture 13"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066580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down)">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down)">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down)">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wipe(down)">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wipe(down)">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barn(inVertical)">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ipe(down)">
                                      <p:cBhvr>
                                        <p:cTn id="52" dur="5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barn(inVertical)">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wipe(down)">
                                      <p:cBhvr>
                                        <p:cTn id="6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609600" y="817163"/>
            <a:ext cx="8229600" cy="5059363"/>
          </a:xfrm>
        </p:spPr>
        <p:txBody>
          <a:bodyPr>
            <a:noAutofit/>
          </a:bodyPr>
          <a:lstStyle/>
          <a:p>
            <a:pPr marL="0" indent="0" algn="ctr">
              <a:buNone/>
            </a:pPr>
            <a:r>
              <a:rPr lang="en-US" b="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 LL Parser accepts LL grammar. </a:t>
            </a:r>
          </a:p>
          <a:p>
            <a:pPr marL="0" indent="0" algn="ctr">
              <a:buNone/>
            </a:pPr>
            <a:endParaRPr lang="en-US" b="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b="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LL grammar can be implemented by means of both algorithms namely, recursive-descent or table-driven</a:t>
            </a: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b="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b="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b="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b="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81773FD-59B1-4F10-93C1-813ED155C3EE}"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LL (1) Parsing</a:t>
            </a:r>
            <a:r>
              <a:rPr lang="en-IN" sz="2400" dirty="0">
                <a:latin typeface="Times New Roman" panose="02020603050405020304" pitchFamily="18" charset="0"/>
                <a:cs typeface="Times New Roman" panose="02020603050405020304" pitchFamily="18" charset="0"/>
              </a:rPr>
              <a:t>(CO2)</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1026" name="Picture 2" descr="LL Parser">
            <a:extLst>
              <a:ext uri="{FF2B5EF4-FFF2-40B4-BE49-F238E27FC236}">
                <a16:creationId xmlns:a16="http://schemas.microsoft.com/office/drawing/2014/main" id="{5BCB94C1-A079-46D9-B9CE-71D824E41BDB}"/>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752600" y="2908611"/>
            <a:ext cx="5334000" cy="280638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0959044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17163"/>
            <a:ext cx="8229600" cy="5126437"/>
          </a:xfrm>
        </p:spPr>
        <p:txBody>
          <a:bodyPr>
            <a:normAutofit/>
          </a:bodyPr>
          <a:lstStyle/>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It is a type of parser which has the capability to predict which production is to be used to replace the input string.</a:t>
            </a: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 fulfil this tasks, the predictive parser uses a lookahead pointer, which points to the next symbols.</a:t>
            </a: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 make the parser back-tracking free, the predictive parser puts some constraints on the grammar and accepts only a class of grammar known as LL(K) grammar.</a:t>
            </a:r>
          </a:p>
        </p:txBody>
      </p:sp>
      <p:sp>
        <p:nvSpPr>
          <p:cNvPr id="4" name="Date Placeholder 3"/>
          <p:cNvSpPr>
            <a:spLocks noGrp="1"/>
          </p:cNvSpPr>
          <p:nvPr>
            <p:ph type="dt" sz="half" idx="10"/>
          </p:nvPr>
        </p:nvSpPr>
        <p:spPr/>
        <p:txBody>
          <a:bodyPr/>
          <a:lstStyle/>
          <a:p>
            <a:fld id="{FCA3CD4F-0CE3-49CD-AB0C-B07C2CD27065}"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i="0" dirty="0">
                <a:solidFill>
                  <a:srgbClr val="333333"/>
                </a:solidFill>
                <a:effectLst/>
                <a:latin typeface="Times New Roman" panose="02020603050405020304" pitchFamily="18" charset="0"/>
              </a:rPr>
              <a:t>Predictive parsing</a:t>
            </a:r>
            <a:r>
              <a:rPr lang="en-IN" sz="2400" dirty="0">
                <a:latin typeface="Times New Roman" panose="02020603050405020304" pitchFamily="18" charset="0"/>
                <a:cs typeface="Times New Roman" panose="02020603050405020304" pitchFamily="18" charset="0"/>
              </a:rPr>
              <a:t>(CO2)</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8" name="Footer Placeholder 4">
            <a:extLst>
              <a:ext uri="{FF2B5EF4-FFF2-40B4-BE49-F238E27FC236}">
                <a16:creationId xmlns:a16="http://schemas.microsoft.com/office/drawing/2014/main" id="{4B18AB5E-DCFE-4A94-BE73-C7190DA5E7E1}"/>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5116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D9AAF13-4A24-4BA2-9642-7284E6C7FD0D}"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i="0" dirty="0" smtClean="0">
                <a:solidFill>
                  <a:srgbClr val="333333"/>
                </a:solidFill>
                <a:effectLst/>
                <a:latin typeface="Times New Roman" panose="02020603050405020304" pitchFamily="18" charset="0"/>
              </a:rPr>
              <a:t>LL(1) Parser / Predictive </a:t>
            </a:r>
            <a:r>
              <a:rPr lang="en-IN" sz="2400" i="0" dirty="0">
                <a:solidFill>
                  <a:srgbClr val="333333"/>
                </a:solidFill>
                <a:effectLst/>
                <a:latin typeface="Times New Roman" panose="02020603050405020304" pitchFamily="18" charset="0"/>
              </a:rPr>
              <a:t>parsing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sp>
        <p:nvSpPr>
          <p:cNvPr id="2" name="Content Placeholder 1">
            <a:extLst>
              <a:ext uri="{FF2B5EF4-FFF2-40B4-BE49-F238E27FC236}">
                <a16:creationId xmlns:a16="http://schemas.microsoft.com/office/drawing/2014/main" id="{C783BD44-E25B-4F4F-AD9C-90DD453AB9D1}"/>
              </a:ext>
            </a:extLst>
          </p:cNvPr>
          <p:cNvSpPr>
            <a:spLocks noGrp="1"/>
          </p:cNvSpPr>
          <p:nvPr>
            <p:ph idx="1"/>
          </p:nvPr>
        </p:nvSpPr>
        <p:spPr>
          <a:xfrm>
            <a:off x="495300" y="3853179"/>
            <a:ext cx="8229600" cy="2697163"/>
          </a:xfrm>
        </p:spPr>
        <p:txBody>
          <a:bodyPr>
            <a:normAutofit/>
          </a:bodyPr>
          <a:lstStyle/>
          <a:p>
            <a:pPr algn="just"/>
            <a:r>
              <a:rPr lang="en-IN" dirty="0">
                <a:latin typeface="Times New Roman" panose="02020603050405020304" pitchFamily="18" charset="0"/>
                <a:cs typeface="Times New Roman" panose="02020603050405020304" pitchFamily="18" charset="0"/>
              </a:rPr>
              <a:t>It uses a stack and a parsing table to parse the input and generates a parse tree. Both the stack and the input contains an end symbol $ to denote that the stack is empty and the input is consumed.</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parser refers to the parsing table to take any decision on the input and stack element combination.</a:t>
            </a:r>
          </a:p>
          <a:p>
            <a:pPr algn="just"/>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7E6D37E-77A7-4F84-A480-F1E852BD0FAC}"/>
              </a:ext>
            </a:extLst>
          </p:cNvPr>
          <p:cNvPicPr>
            <a:picLocks noChangeAspect="1"/>
          </p:cNvPicPr>
          <p:nvPr/>
        </p:nvPicPr>
        <p:blipFill>
          <a:blip r:embed="rId2"/>
          <a:stretch>
            <a:fillRect/>
          </a:stretch>
        </p:blipFill>
        <p:spPr>
          <a:xfrm>
            <a:off x="1066800" y="863201"/>
            <a:ext cx="6708910" cy="2697163"/>
          </a:xfrm>
          <a:prstGeom prst="rect">
            <a:avLst/>
          </a:prstGeom>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17916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 calcmode="lin" valueType="num">
                                      <p:cBhvr additive="base">
                                        <p:cTn id="14"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 calcmode="lin" valueType="num">
                                      <p:cBhvr additive="base">
                                        <p:cTn id="20"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E8EC119-A4AE-4A0C-B229-7287B1FFE9A4}"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i="0" dirty="0">
                <a:solidFill>
                  <a:srgbClr val="333333"/>
                </a:solidFill>
                <a:effectLst/>
                <a:latin typeface="Times New Roman" panose="02020603050405020304" pitchFamily="18" charset="0"/>
              </a:rPr>
              <a:t>Predictive parsing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sp>
        <p:nvSpPr>
          <p:cNvPr id="2" name="Content Placeholder 1">
            <a:extLst>
              <a:ext uri="{FF2B5EF4-FFF2-40B4-BE49-F238E27FC236}">
                <a16:creationId xmlns:a16="http://schemas.microsoft.com/office/drawing/2014/main" id="{3593FBF7-6B9C-4296-8137-ED5A641555A1}"/>
              </a:ext>
            </a:extLst>
          </p:cNvPr>
          <p:cNvSpPr>
            <a:spLocks noGrp="1"/>
          </p:cNvSpPr>
          <p:nvPr>
            <p:ph idx="1"/>
          </p:nvPr>
        </p:nvSpPr>
        <p:spPr>
          <a:xfrm>
            <a:off x="457200" y="1219200"/>
            <a:ext cx="8229600" cy="4906963"/>
          </a:xfrm>
        </p:spPr>
        <p:txBody>
          <a:bodyPr>
            <a:normAutofit/>
          </a:bodyPr>
          <a:lstStyle/>
          <a:p>
            <a:pPr algn="just"/>
            <a:r>
              <a:rPr lang="en-US" b="0" i="1" dirty="0">
                <a:solidFill>
                  <a:srgbClr val="333333"/>
                </a:solidFill>
                <a:effectLst/>
              </a:rPr>
              <a:t>The input buffer contains the string to be parsed, followed by $, a symbol used as a right end marker to indicate the end of the input string. </a:t>
            </a:r>
          </a:p>
          <a:p>
            <a:pPr algn="just"/>
            <a:endParaRPr lang="en-US" b="0" i="1" dirty="0">
              <a:solidFill>
                <a:srgbClr val="333333"/>
              </a:solidFill>
              <a:effectLst/>
            </a:endParaRPr>
          </a:p>
          <a:p>
            <a:pPr algn="just"/>
            <a:endParaRPr lang="en-US" b="0" i="1" dirty="0">
              <a:solidFill>
                <a:srgbClr val="333333"/>
              </a:solidFill>
              <a:effectLst/>
            </a:endParaRPr>
          </a:p>
          <a:p>
            <a:pPr algn="just"/>
            <a:r>
              <a:rPr lang="en-US" b="0" i="1" dirty="0">
                <a:solidFill>
                  <a:srgbClr val="333333"/>
                </a:solidFill>
                <a:effectLst/>
              </a:rPr>
              <a:t>The stack contains a sequence of grammar symbols with $ on the bottom, indicating the bottom of the stack. Initially, the stack contains the start symbol of the grammar on top of $.</a:t>
            </a:r>
          </a:p>
          <a:p>
            <a:pPr algn="just"/>
            <a:endParaRPr lang="en-US" b="0" i="1" dirty="0">
              <a:solidFill>
                <a:srgbClr val="333333"/>
              </a:solidFill>
              <a:effectLst/>
            </a:endParaRPr>
          </a:p>
          <a:p>
            <a:pPr algn="just"/>
            <a:endParaRPr lang="en-US" b="0" i="1" dirty="0">
              <a:solidFill>
                <a:srgbClr val="333333"/>
              </a:solidFill>
              <a:effectLst/>
            </a:endParaRPr>
          </a:p>
          <a:p>
            <a:pPr algn="just"/>
            <a:r>
              <a:rPr lang="en-US" b="0" i="1" dirty="0">
                <a:solidFill>
                  <a:srgbClr val="333333"/>
                </a:solidFill>
                <a:effectLst/>
              </a:rPr>
              <a:t> The parsing table is a two dimensional array M[</a:t>
            </a:r>
            <a:r>
              <a:rPr lang="en-US" b="0" i="1" dirty="0" err="1">
                <a:solidFill>
                  <a:srgbClr val="333333"/>
                </a:solidFill>
                <a:effectLst/>
              </a:rPr>
              <a:t>A,a</a:t>
            </a:r>
            <a:r>
              <a:rPr lang="en-US" b="0" i="1" dirty="0">
                <a:solidFill>
                  <a:srgbClr val="333333"/>
                </a:solidFill>
                <a:effectLst/>
              </a:rPr>
              <a:t>] where A is a nonterminal, and a is a terminal or the symbol $.</a:t>
            </a:r>
            <a:endParaRPr lang="en-IN" i="1"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1877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anim calcmode="lin" valueType="num">
                                      <p:cBhvr additive="base">
                                        <p:cTn id="19"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4ACC38E-533C-4E56-910E-F069A48317B8}"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i="0" dirty="0">
                <a:solidFill>
                  <a:srgbClr val="333333"/>
                </a:solidFill>
                <a:effectLst/>
                <a:latin typeface="Times New Roman" panose="02020603050405020304" pitchFamily="18" charset="0"/>
              </a:rPr>
              <a:t>Predictive parsing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sp>
        <p:nvSpPr>
          <p:cNvPr id="10" name="Content Placeholder 9">
            <a:extLst>
              <a:ext uri="{FF2B5EF4-FFF2-40B4-BE49-F238E27FC236}">
                <a16:creationId xmlns:a16="http://schemas.microsoft.com/office/drawing/2014/main" id="{BB7067AD-5650-4F36-A9BB-801E78F09D86}"/>
              </a:ext>
            </a:extLst>
          </p:cNvPr>
          <p:cNvSpPr>
            <a:spLocks noGrp="1"/>
          </p:cNvSpPr>
          <p:nvPr>
            <p:ph idx="1"/>
          </p:nvPr>
        </p:nvSpPr>
        <p:spPr>
          <a:xfrm>
            <a:off x="609600" y="5181600"/>
            <a:ext cx="8229600" cy="533400"/>
          </a:xfrm>
        </p:spPr>
        <p:txBody>
          <a:bodyPr>
            <a:normAutofit/>
          </a:bodyPr>
          <a:lstStyle/>
          <a:p>
            <a:pPr marL="0" indent="0" algn="ctr">
              <a:buNone/>
            </a:pPr>
            <a:r>
              <a:rPr lang="en-IN" i="1" dirty="0">
                <a:latin typeface="Times New Roman" panose="02020603050405020304" pitchFamily="18" charset="0"/>
                <a:cs typeface="Times New Roman" panose="02020603050405020304" pitchFamily="18" charset="0"/>
              </a:rPr>
              <a:t>General Structure of paring Table</a:t>
            </a:r>
          </a:p>
        </p:txBody>
      </p:sp>
      <p:graphicFrame>
        <p:nvGraphicFramePr>
          <p:cNvPr id="11" name="Table 4">
            <a:extLst>
              <a:ext uri="{FF2B5EF4-FFF2-40B4-BE49-F238E27FC236}">
                <a16:creationId xmlns:a16="http://schemas.microsoft.com/office/drawing/2014/main" id="{C9DE2AD5-534C-4CAF-9369-4EDC329D42DD}"/>
              </a:ext>
            </a:extLst>
          </p:cNvPr>
          <p:cNvGraphicFramePr>
            <a:graphicFrameLocks/>
          </p:cNvGraphicFramePr>
          <p:nvPr>
            <p:extLst>
              <p:ext uri="{D42A27DB-BD31-4B8C-83A1-F6EECF244321}">
                <p14:modId xmlns:p14="http://schemas.microsoft.com/office/powerpoint/2010/main" val="1029995540"/>
              </p:ext>
            </p:extLst>
          </p:nvPr>
        </p:nvGraphicFramePr>
        <p:xfrm>
          <a:off x="1219200" y="1846579"/>
          <a:ext cx="6670038" cy="2743200"/>
        </p:xfrm>
        <a:graphic>
          <a:graphicData uri="http://schemas.openxmlformats.org/drawingml/2006/table">
            <a:tbl>
              <a:tblPr firstRow="1" bandRow="1">
                <a:tableStyleId>{21E4AEA4-8DFA-4A89-87EB-49C32662AFE0}</a:tableStyleId>
              </a:tblPr>
              <a:tblGrid>
                <a:gridCol w="1111673">
                  <a:extLst>
                    <a:ext uri="{9D8B030D-6E8A-4147-A177-3AD203B41FA5}">
                      <a16:colId xmlns:a16="http://schemas.microsoft.com/office/drawing/2014/main" val="2800326597"/>
                    </a:ext>
                  </a:extLst>
                </a:gridCol>
                <a:gridCol w="1111673">
                  <a:extLst>
                    <a:ext uri="{9D8B030D-6E8A-4147-A177-3AD203B41FA5}">
                      <a16:colId xmlns:a16="http://schemas.microsoft.com/office/drawing/2014/main" val="461165172"/>
                    </a:ext>
                  </a:extLst>
                </a:gridCol>
                <a:gridCol w="1111673">
                  <a:extLst>
                    <a:ext uri="{9D8B030D-6E8A-4147-A177-3AD203B41FA5}">
                      <a16:colId xmlns:a16="http://schemas.microsoft.com/office/drawing/2014/main" val="3451309190"/>
                    </a:ext>
                  </a:extLst>
                </a:gridCol>
                <a:gridCol w="1111673">
                  <a:extLst>
                    <a:ext uri="{9D8B030D-6E8A-4147-A177-3AD203B41FA5}">
                      <a16:colId xmlns:a16="http://schemas.microsoft.com/office/drawing/2014/main" val="3195031374"/>
                    </a:ext>
                  </a:extLst>
                </a:gridCol>
                <a:gridCol w="1111673">
                  <a:extLst>
                    <a:ext uri="{9D8B030D-6E8A-4147-A177-3AD203B41FA5}">
                      <a16:colId xmlns:a16="http://schemas.microsoft.com/office/drawing/2014/main" val="364479739"/>
                    </a:ext>
                  </a:extLst>
                </a:gridCol>
                <a:gridCol w="1111673">
                  <a:extLst>
                    <a:ext uri="{9D8B030D-6E8A-4147-A177-3AD203B41FA5}">
                      <a16:colId xmlns:a16="http://schemas.microsoft.com/office/drawing/2014/main" val="3914160633"/>
                    </a:ext>
                  </a:extLst>
                </a:gridCol>
              </a:tblGrid>
              <a:tr h="370840">
                <a:tc>
                  <a:txBody>
                    <a:bodyPr/>
                    <a:lstStyle/>
                    <a:p>
                      <a:pPr algn="ctr"/>
                      <a:r>
                        <a:rPr lang="en-IN" sz="2400" dirty="0"/>
                        <a:t>A(X)\a</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IN" sz="2400" dirty="0"/>
                        <a:t>+</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IN" sz="2400" dirty="0"/>
                        <a:t>*</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IN" sz="2400" dirty="0"/>
                        <a:t>id</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IN" sz="2400" dirty="0" err="1"/>
                        <a:t>num</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IN" sz="2400" dirty="0"/>
                        <a:t>$</a:t>
                      </a: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65041592"/>
                  </a:ext>
                </a:extLst>
              </a:tr>
              <a:tr h="370840">
                <a:tc>
                  <a:txBody>
                    <a:bodyPr/>
                    <a:lstStyle/>
                    <a:p>
                      <a:pPr algn="ctr"/>
                      <a:r>
                        <a:rPr lang="en-IN" sz="2400" dirty="0"/>
                        <a:t>E</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73090080"/>
                  </a:ext>
                </a:extLst>
              </a:tr>
              <a:tr h="370840">
                <a:tc>
                  <a:txBody>
                    <a:bodyPr/>
                    <a:lstStyle/>
                    <a:p>
                      <a:pPr algn="ctr"/>
                      <a:r>
                        <a:rPr lang="en-IN" sz="2400" dirty="0"/>
                        <a:t>T</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57874960"/>
                  </a:ext>
                </a:extLst>
              </a:tr>
              <a:tr h="370840">
                <a:tc>
                  <a:txBody>
                    <a:bodyPr/>
                    <a:lstStyle/>
                    <a:p>
                      <a:pPr algn="ctr"/>
                      <a:r>
                        <a:rPr lang="en-IN" sz="2400" dirty="0"/>
                        <a:t>T’</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39965713"/>
                  </a:ext>
                </a:extLst>
              </a:tr>
              <a:tr h="370840">
                <a:tc>
                  <a:txBody>
                    <a:bodyPr/>
                    <a:lstStyle/>
                    <a:p>
                      <a:pPr algn="ctr"/>
                      <a:r>
                        <a:rPr lang="en-IN" sz="2400" dirty="0"/>
                        <a:t>F</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86243228"/>
                  </a:ext>
                </a:extLst>
              </a:tr>
              <a:tr h="370840">
                <a:tc>
                  <a:txBody>
                    <a:bodyPr/>
                    <a:lstStyle/>
                    <a:p>
                      <a:pPr algn="ctr"/>
                      <a:r>
                        <a:rPr lang="en-IN" sz="2400" dirty="0"/>
                        <a:t>F’</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952843754"/>
                  </a:ext>
                </a:extLst>
              </a:tr>
            </a:tbl>
          </a:graphicData>
        </a:graphic>
      </p:graphicFrame>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76477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Effect transition="in" filter="wipe(down)">
                                      <p:cBhvr>
                                        <p:cTn id="15"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A34E78C-38B4-4BC5-806F-6917983E8C31}"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i="0" dirty="0">
                <a:solidFill>
                  <a:srgbClr val="333333"/>
                </a:solidFill>
                <a:effectLst/>
                <a:latin typeface="Times New Roman" panose="02020603050405020304" pitchFamily="18" charset="0"/>
              </a:rPr>
              <a:t>Predictive parsing table construction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grpSp>
        <p:nvGrpSpPr>
          <p:cNvPr id="27" name="Group 26">
            <a:extLst>
              <a:ext uri="{FF2B5EF4-FFF2-40B4-BE49-F238E27FC236}">
                <a16:creationId xmlns:a16="http://schemas.microsoft.com/office/drawing/2014/main" id="{47C57F6B-AC70-40CF-A95E-1F3B80C9FA19}"/>
              </a:ext>
            </a:extLst>
          </p:cNvPr>
          <p:cNvGrpSpPr/>
          <p:nvPr/>
        </p:nvGrpSpPr>
        <p:grpSpPr>
          <a:xfrm>
            <a:off x="1181100" y="1752600"/>
            <a:ext cx="6515100" cy="2819400"/>
            <a:chOff x="1181100" y="1752600"/>
            <a:chExt cx="6515100" cy="2819400"/>
          </a:xfrm>
        </p:grpSpPr>
        <p:sp>
          <p:nvSpPr>
            <p:cNvPr id="19" name="Oval 18">
              <a:extLst>
                <a:ext uri="{FF2B5EF4-FFF2-40B4-BE49-F238E27FC236}">
                  <a16:creationId xmlns:a16="http://schemas.microsoft.com/office/drawing/2014/main" id="{B81C3A54-79CE-4C5F-9811-E6D2CD0D01B1}"/>
                </a:ext>
              </a:extLst>
            </p:cNvPr>
            <p:cNvSpPr/>
            <p:nvPr/>
          </p:nvSpPr>
          <p:spPr>
            <a:xfrm>
              <a:off x="3124200" y="1752600"/>
              <a:ext cx="2667000" cy="9906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The predictive parser is aided by two functions</a:t>
              </a:r>
              <a:endParaRPr lang="en-IN" dirty="0"/>
            </a:p>
          </p:txBody>
        </p:sp>
        <p:sp>
          <p:nvSpPr>
            <p:cNvPr id="20" name="Rectangle: Rounded Corners 19">
              <a:extLst>
                <a:ext uri="{FF2B5EF4-FFF2-40B4-BE49-F238E27FC236}">
                  <a16:creationId xmlns:a16="http://schemas.microsoft.com/office/drawing/2014/main" id="{57F17ED0-ECEA-4043-9A26-B673BDAC3BC3}"/>
                </a:ext>
              </a:extLst>
            </p:cNvPr>
            <p:cNvSpPr/>
            <p:nvPr/>
          </p:nvSpPr>
          <p:spPr>
            <a:xfrm>
              <a:off x="1181100" y="3657600"/>
              <a:ext cx="2667000" cy="9144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dirty="0">
                  <a:ln>
                    <a:noFill/>
                  </a:ln>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FIRST</a:t>
              </a:r>
              <a:endParaRPr kumimoji="0" lang="en-US" altLang="en-US" sz="2400" b="0" i="1" u="none" strike="noStrike" cap="none" normalizeH="0" baseline="0" dirty="0">
                <a:ln>
                  <a:noFill/>
                </a:ln>
                <a:solidFill>
                  <a:schemeClr val="tx1"/>
                </a:solidFill>
                <a:effectLst>
                  <a:outerShdw blurRad="38100" dist="38100" dir="2700000" algn="tl">
                    <a:srgbClr val="000000">
                      <a:alpha val="43137"/>
                    </a:srgbClr>
                  </a:outerShdw>
                </a:effectLst>
              </a:endParaRPr>
            </a:p>
          </p:txBody>
        </p:sp>
        <p:sp>
          <p:nvSpPr>
            <p:cNvPr id="22" name="Rectangle: Rounded Corners 21">
              <a:extLst>
                <a:ext uri="{FF2B5EF4-FFF2-40B4-BE49-F238E27FC236}">
                  <a16:creationId xmlns:a16="http://schemas.microsoft.com/office/drawing/2014/main" id="{CB4D69A7-B9A8-42A6-A23F-1C6079A87586}"/>
                </a:ext>
              </a:extLst>
            </p:cNvPr>
            <p:cNvSpPr/>
            <p:nvPr/>
          </p:nvSpPr>
          <p:spPr>
            <a:xfrm>
              <a:off x="5029200" y="3657600"/>
              <a:ext cx="2667000" cy="9144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kumimoji="0" lang="en-US" altLang="en-US" sz="2400" b="0" i="1" u="none" strike="noStrike" cap="none" normalizeH="0" baseline="0" dirty="0">
                  <a:ln>
                    <a:noFill/>
                  </a:ln>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FOLLOW</a:t>
              </a:r>
              <a:endParaRPr lang="en-IN" sz="2400" i="1" dirty="0">
                <a:effectLst>
                  <a:outerShdw blurRad="38100" dist="38100" dir="2700000" algn="tl">
                    <a:srgbClr val="000000">
                      <a:alpha val="43137"/>
                    </a:srgbClr>
                  </a:outerShdw>
                </a:effectLst>
              </a:endParaRPr>
            </a:p>
          </p:txBody>
        </p:sp>
        <p:cxnSp>
          <p:nvCxnSpPr>
            <p:cNvPr id="24" name="Straight Arrow Connector 23">
              <a:extLst>
                <a:ext uri="{FF2B5EF4-FFF2-40B4-BE49-F238E27FC236}">
                  <a16:creationId xmlns:a16="http://schemas.microsoft.com/office/drawing/2014/main" id="{4AF87261-79AD-48A7-8ACE-38F1CB334A78}"/>
                </a:ext>
              </a:extLst>
            </p:cNvPr>
            <p:cNvCxnSpPr>
              <a:stCxn id="19" idx="3"/>
              <a:endCxn id="20" idx="0"/>
            </p:cNvCxnSpPr>
            <p:nvPr/>
          </p:nvCxnSpPr>
          <p:spPr>
            <a:xfrm flipH="1">
              <a:off x="2514600" y="2598130"/>
              <a:ext cx="1000173" cy="105947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F969AD6A-F8C6-461E-87D2-1EE6393CEE53}"/>
                </a:ext>
              </a:extLst>
            </p:cNvPr>
            <p:cNvCxnSpPr>
              <a:stCxn id="19" idx="5"/>
              <a:endCxn id="22" idx="0"/>
            </p:cNvCxnSpPr>
            <p:nvPr/>
          </p:nvCxnSpPr>
          <p:spPr>
            <a:xfrm>
              <a:off x="5400627" y="2598130"/>
              <a:ext cx="962073" cy="105947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pic>
        <p:nvPicPr>
          <p:cNvPr id="14" name="Picture 13"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92046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1000" fill="hold"/>
                                        <p:tgtEl>
                                          <p:spTgt spid="27"/>
                                        </p:tgtEl>
                                        <p:attrNameLst>
                                          <p:attrName>ppt_w</p:attrName>
                                        </p:attrNameLst>
                                      </p:cBhvr>
                                      <p:tavLst>
                                        <p:tav tm="0">
                                          <p:val>
                                            <p:fltVal val="0"/>
                                          </p:val>
                                        </p:tav>
                                        <p:tav tm="100000">
                                          <p:val>
                                            <p:strVal val="#ppt_w"/>
                                          </p:val>
                                        </p:tav>
                                      </p:tavLst>
                                    </p:anim>
                                    <p:anim calcmode="lin" valueType="num">
                                      <p:cBhvr>
                                        <p:cTn id="8" dur="1000" fill="hold"/>
                                        <p:tgtEl>
                                          <p:spTgt spid="27"/>
                                        </p:tgtEl>
                                        <p:attrNameLst>
                                          <p:attrName>ppt_h</p:attrName>
                                        </p:attrNameLst>
                                      </p:cBhvr>
                                      <p:tavLst>
                                        <p:tav tm="0">
                                          <p:val>
                                            <p:fltVal val="0"/>
                                          </p:val>
                                        </p:tav>
                                        <p:tav tm="100000">
                                          <p:val>
                                            <p:strVal val="#ppt_h"/>
                                          </p:val>
                                        </p:tav>
                                      </p:tavLst>
                                    </p:anim>
                                    <p:anim calcmode="lin" valueType="num">
                                      <p:cBhvr>
                                        <p:cTn id="9" dur="1000" fill="hold"/>
                                        <p:tgtEl>
                                          <p:spTgt spid="27"/>
                                        </p:tgtEl>
                                        <p:attrNameLst>
                                          <p:attrName>style.rotation</p:attrName>
                                        </p:attrNameLst>
                                      </p:cBhvr>
                                      <p:tavLst>
                                        <p:tav tm="0">
                                          <p:val>
                                            <p:fltVal val="90"/>
                                          </p:val>
                                        </p:tav>
                                        <p:tav tm="100000">
                                          <p:val>
                                            <p:fltVal val="0"/>
                                          </p:val>
                                        </p:tav>
                                      </p:tavLst>
                                    </p:anim>
                                    <p:animEffect transition="in" filter="fade">
                                      <p:cBhvr>
                                        <p:cTn id="10"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A5D929F-9D38-4F1A-8819-649A243A5428}"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333333"/>
                </a:solidFill>
                <a:effectLst/>
                <a:latin typeface="Times New Roman" panose="02020603050405020304" pitchFamily="18" charset="0"/>
              </a:rPr>
              <a:t>Predictive parsing</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sp>
        <p:nvSpPr>
          <p:cNvPr id="3" name="Rectangle 1">
            <a:extLst>
              <a:ext uri="{FF2B5EF4-FFF2-40B4-BE49-F238E27FC236}">
                <a16:creationId xmlns:a16="http://schemas.microsoft.com/office/drawing/2014/main" id="{EE4CA5BF-289F-4252-B4F5-5B2A32748C79}"/>
              </a:ext>
            </a:extLst>
          </p:cNvPr>
          <p:cNvSpPr>
            <a:spLocks noGrp="1" noChangeArrowheads="1"/>
          </p:cNvSpPr>
          <p:nvPr>
            <p:ph idx="1"/>
          </p:nvPr>
        </p:nvSpPr>
        <p:spPr bwMode="auto">
          <a:xfrm>
            <a:off x="266699" y="-1110734"/>
            <a:ext cx="861060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5238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eaLnBrk="1" fontAlgn="auto" hangingPunct="1">
              <a:spcBef>
                <a:spcPts val="0"/>
              </a:spcBef>
              <a:spcAft>
                <a:spcPts val="0"/>
              </a:spcAft>
              <a:buNone/>
              <a:defRPr/>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lvl="0" indent="0" algn="just" eaLnBrk="1" fontAlgn="auto" hangingPunct="1">
              <a:spcBef>
                <a:spcPts val="0"/>
              </a:spcBef>
              <a:spcAft>
                <a:spcPts val="0"/>
              </a:spcAft>
              <a:buNone/>
              <a:defRPr/>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lvl="0" indent="0" algn="just" eaLnBrk="1" fontAlgn="auto" hangingPunct="1">
              <a:spcBef>
                <a:spcPts val="0"/>
              </a:spcBef>
              <a:spcAft>
                <a:spcPts val="0"/>
              </a:spcAft>
              <a:buNone/>
              <a:defRPr/>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lvl="0" indent="0" algn="just" eaLnBrk="1" fontAlgn="auto" hangingPunct="1">
              <a:spcBef>
                <a:spcPts val="0"/>
              </a:spcBef>
              <a:spcAft>
                <a:spcPts val="0"/>
              </a:spcAft>
              <a:buNone/>
              <a:defRPr/>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lvl="0" indent="0" algn="just" eaLnBrk="1" fontAlgn="auto" hangingPunct="1">
              <a:spcBef>
                <a:spcPts val="0"/>
              </a:spcBef>
              <a:spcAft>
                <a:spcPts val="0"/>
              </a:spcAft>
              <a:buNone/>
              <a:defRPr/>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lvl="0" indent="0" algn="just" eaLnBrk="1" fontAlgn="auto" hangingPunct="1">
              <a:spcBef>
                <a:spcPts val="0"/>
              </a:spcBef>
              <a:spcAft>
                <a:spcPts val="0"/>
              </a:spcAft>
              <a:buNone/>
              <a:defRPr/>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lvl="0" indent="0" algn="just" eaLnBrk="1" fontAlgn="auto" hangingPunct="1">
              <a:spcBef>
                <a:spcPts val="0"/>
              </a:spcBef>
              <a:spcAft>
                <a:spcPts val="0"/>
              </a:spcAft>
              <a:buNone/>
              <a:defRPr/>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AED6A7B6-D4E0-4AD5-917A-0C6027748D53}"/>
              </a:ext>
            </a:extLst>
          </p:cNvPr>
          <p:cNvGraphicFramePr/>
          <p:nvPr>
            <p:extLst>
              <p:ext uri="{D42A27DB-BD31-4B8C-83A1-F6EECF244321}">
                <p14:modId xmlns:p14="http://schemas.microsoft.com/office/powerpoint/2010/main" val="1487390165"/>
              </p:ext>
            </p:extLst>
          </p:nvPr>
        </p:nvGraphicFramePr>
        <p:xfrm>
          <a:off x="713014" y="1284227"/>
          <a:ext cx="7619999" cy="4191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62517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4999A58-A144-41C7-82F5-4CDC23FA98C4}"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First Function</a:t>
            </a:r>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sp>
        <p:nvSpPr>
          <p:cNvPr id="2" name="Content Placeholder 1">
            <a:extLst>
              <a:ext uri="{FF2B5EF4-FFF2-40B4-BE49-F238E27FC236}">
                <a16:creationId xmlns:a16="http://schemas.microsoft.com/office/drawing/2014/main" id="{EFDAC73D-0306-40DD-9508-D935A5E7EC8B}"/>
              </a:ext>
            </a:extLst>
          </p:cNvPr>
          <p:cNvSpPr>
            <a:spLocks noGrp="1" noChangeArrowheads="1"/>
          </p:cNvSpPr>
          <p:nvPr>
            <p:ph idx="1"/>
          </p:nvPr>
        </p:nvSpPr>
        <p:spPr bwMode="auto">
          <a:xfrm>
            <a:off x="609600" y="933911"/>
            <a:ext cx="8000999" cy="535531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To complete first(x) for all grammar symbols X apply the following rules until no more terminal or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ε</a:t>
            </a:r>
            <a:r>
              <a:rPr kumimoji="0" lang="en-US" altLang="en-US"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be added to any first set.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Rules for first(X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1. If X is terminal, then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2. If X → ε is a production, then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3. If X is non-terminal and X → aα is a production then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4. If X is non-terminal and X → Y1 Y2…</a:t>
            </a:r>
            <a:r>
              <a:rPr kumimoji="0" lang="en-US" altLang="en-US"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Yk</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is a production, then</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If ε is in FIRST(Y1) then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D68E9D75-1531-4E34-B52D-929C050775B9}"/>
              </a:ext>
            </a:extLst>
          </p:cNvPr>
          <p:cNvSpPr/>
          <p:nvPr/>
        </p:nvSpPr>
        <p:spPr>
          <a:xfrm>
            <a:off x="3403600" y="2226909"/>
            <a:ext cx="1981200" cy="36512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FIRST(X) = {X}.</a:t>
            </a:r>
            <a:endParaRPr lang="en-IN" dirty="0"/>
          </a:p>
        </p:txBody>
      </p:sp>
      <p:sp>
        <p:nvSpPr>
          <p:cNvPr id="5" name="Rectangle: Rounded Corners 4">
            <a:extLst>
              <a:ext uri="{FF2B5EF4-FFF2-40B4-BE49-F238E27FC236}">
                <a16:creationId xmlns:a16="http://schemas.microsoft.com/office/drawing/2014/main" id="{5DC5A3C8-7170-4934-91FE-1358D3ADFF80}"/>
              </a:ext>
            </a:extLst>
          </p:cNvPr>
          <p:cNvSpPr/>
          <p:nvPr/>
        </p:nvSpPr>
        <p:spPr>
          <a:xfrm>
            <a:off x="4267200" y="2809252"/>
            <a:ext cx="1981200" cy="36512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FIRST(X) = {ε}.</a:t>
            </a:r>
            <a:endParaRPr lang="en-IN" dirty="0"/>
          </a:p>
        </p:txBody>
      </p:sp>
      <p:sp>
        <p:nvSpPr>
          <p:cNvPr id="11" name="Rectangle: Rounded Corners 10">
            <a:extLst>
              <a:ext uri="{FF2B5EF4-FFF2-40B4-BE49-F238E27FC236}">
                <a16:creationId xmlns:a16="http://schemas.microsoft.com/office/drawing/2014/main" id="{83ED7D4C-CA8D-4BC7-BCE4-FFA8B09D26DF}"/>
              </a:ext>
            </a:extLst>
          </p:cNvPr>
          <p:cNvSpPr/>
          <p:nvPr/>
        </p:nvSpPr>
        <p:spPr>
          <a:xfrm>
            <a:off x="3230880" y="3900842"/>
            <a:ext cx="1981200" cy="36512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FIRST(X) = {a}.</a:t>
            </a:r>
            <a:endParaRPr lang="en-IN" dirty="0"/>
          </a:p>
        </p:txBody>
      </p:sp>
      <p:sp>
        <p:nvSpPr>
          <p:cNvPr id="13" name="Rectangle: Rounded Corners 12">
            <a:extLst>
              <a:ext uri="{FF2B5EF4-FFF2-40B4-BE49-F238E27FC236}">
                <a16:creationId xmlns:a16="http://schemas.microsoft.com/office/drawing/2014/main" id="{549B8A59-FA4F-40E8-8531-DC56E31346E3}"/>
              </a:ext>
            </a:extLst>
          </p:cNvPr>
          <p:cNvSpPr/>
          <p:nvPr/>
        </p:nvSpPr>
        <p:spPr>
          <a:xfrm>
            <a:off x="3012440" y="4899635"/>
            <a:ext cx="2743200" cy="36512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FIRST(X) = {FIRST(Y1)}.</a:t>
            </a:r>
            <a:endParaRPr lang="en-IN" dirty="0"/>
          </a:p>
        </p:txBody>
      </p:sp>
      <p:sp>
        <p:nvSpPr>
          <p:cNvPr id="15" name="Rectangle: Rounded Corners 14">
            <a:extLst>
              <a:ext uri="{FF2B5EF4-FFF2-40B4-BE49-F238E27FC236}">
                <a16:creationId xmlns:a16="http://schemas.microsoft.com/office/drawing/2014/main" id="{0F1A5C3D-94AD-4692-8D5A-FF7506CE7D00}"/>
              </a:ext>
            </a:extLst>
          </p:cNvPr>
          <p:cNvSpPr/>
          <p:nvPr/>
        </p:nvSpPr>
        <p:spPr>
          <a:xfrm>
            <a:off x="3012440" y="5991225"/>
            <a:ext cx="2743200" cy="36512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FIRST(X) = {FIRST(Y2)}.</a:t>
            </a:r>
            <a:endParaRPr lang="en-IN" dirty="0"/>
          </a:p>
        </p:txBody>
      </p:sp>
      <p:pic>
        <p:nvPicPr>
          <p:cNvPr id="16" name="Picture 15"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095989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wipe(down)">
                                      <p:cBhvr>
                                        <p:cTn id="19" dur="500"/>
                                        <p:tgtEl>
                                          <p:spTgt spid="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wipe(down)">
                                      <p:cBhvr>
                                        <p:cTn id="31" dur="500"/>
                                        <p:tgtEl>
                                          <p:spTgt spid="2">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p:cTn id="36" dur="500" fill="hold"/>
                                        <p:tgtEl>
                                          <p:spTgt spid="5"/>
                                        </p:tgtEl>
                                        <p:attrNameLst>
                                          <p:attrName>ppt_w</p:attrName>
                                        </p:attrNameLst>
                                      </p:cBhvr>
                                      <p:tavLst>
                                        <p:tav tm="0">
                                          <p:val>
                                            <p:fltVal val="0"/>
                                          </p:val>
                                        </p:tav>
                                        <p:tav tm="100000">
                                          <p:val>
                                            <p:strVal val="#ppt_w"/>
                                          </p:val>
                                        </p:tav>
                                      </p:tavLst>
                                    </p:anim>
                                    <p:anim calcmode="lin" valueType="num">
                                      <p:cBhvr>
                                        <p:cTn id="37" dur="500" fill="hold"/>
                                        <p:tgtEl>
                                          <p:spTgt spid="5"/>
                                        </p:tgtEl>
                                        <p:attrNameLst>
                                          <p:attrName>ppt_h</p:attrName>
                                        </p:attrNameLst>
                                      </p:cBhvr>
                                      <p:tavLst>
                                        <p:tav tm="0">
                                          <p:val>
                                            <p:fltVal val="0"/>
                                          </p:val>
                                        </p:tav>
                                        <p:tav tm="100000">
                                          <p:val>
                                            <p:strVal val="#ppt_h"/>
                                          </p:val>
                                        </p:tav>
                                      </p:tavLst>
                                    </p:anim>
                                    <p:animEffect transition="in" filter="fade">
                                      <p:cBhvr>
                                        <p:cTn id="38"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animEffect transition="in" filter="wipe(down)">
                                      <p:cBhvr>
                                        <p:cTn id="43" dur="500"/>
                                        <p:tgtEl>
                                          <p:spTgt spid="2">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p:cTn id="48" dur="500" fill="hold"/>
                                        <p:tgtEl>
                                          <p:spTgt spid="11"/>
                                        </p:tgtEl>
                                        <p:attrNameLst>
                                          <p:attrName>ppt_w</p:attrName>
                                        </p:attrNameLst>
                                      </p:cBhvr>
                                      <p:tavLst>
                                        <p:tav tm="0">
                                          <p:val>
                                            <p:fltVal val="0"/>
                                          </p:val>
                                        </p:tav>
                                        <p:tav tm="100000">
                                          <p:val>
                                            <p:strVal val="#ppt_w"/>
                                          </p:val>
                                        </p:tav>
                                      </p:tavLst>
                                    </p:anim>
                                    <p:anim calcmode="lin" valueType="num">
                                      <p:cBhvr>
                                        <p:cTn id="49" dur="500" fill="hold"/>
                                        <p:tgtEl>
                                          <p:spTgt spid="11"/>
                                        </p:tgtEl>
                                        <p:attrNameLst>
                                          <p:attrName>ppt_h</p:attrName>
                                        </p:attrNameLst>
                                      </p:cBhvr>
                                      <p:tavLst>
                                        <p:tav tm="0">
                                          <p:val>
                                            <p:fltVal val="0"/>
                                          </p:val>
                                        </p:tav>
                                        <p:tav tm="100000">
                                          <p:val>
                                            <p:strVal val="#ppt_h"/>
                                          </p:val>
                                        </p:tav>
                                      </p:tavLst>
                                    </p:anim>
                                    <p:animEffect transition="in" filter="fade">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2">
                                            <p:txEl>
                                              <p:pRg st="11" end="11"/>
                                            </p:txEl>
                                          </p:spTgt>
                                        </p:tgtEl>
                                        <p:attrNameLst>
                                          <p:attrName>style.visibility</p:attrName>
                                        </p:attrNameLst>
                                      </p:cBhvr>
                                      <p:to>
                                        <p:strVal val="visible"/>
                                      </p:to>
                                    </p:set>
                                    <p:animEffect transition="in" filter="wipe(down)">
                                      <p:cBhvr>
                                        <p:cTn id="55" dur="500"/>
                                        <p:tgtEl>
                                          <p:spTgt spid="2">
                                            <p:txEl>
                                              <p:pRg st="11" end="1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p:cTn id="60" dur="500" fill="hold"/>
                                        <p:tgtEl>
                                          <p:spTgt spid="13"/>
                                        </p:tgtEl>
                                        <p:attrNameLst>
                                          <p:attrName>ppt_w</p:attrName>
                                        </p:attrNameLst>
                                      </p:cBhvr>
                                      <p:tavLst>
                                        <p:tav tm="0">
                                          <p:val>
                                            <p:fltVal val="0"/>
                                          </p:val>
                                        </p:tav>
                                        <p:tav tm="100000">
                                          <p:val>
                                            <p:strVal val="#ppt_w"/>
                                          </p:val>
                                        </p:tav>
                                      </p:tavLst>
                                    </p:anim>
                                    <p:anim calcmode="lin" valueType="num">
                                      <p:cBhvr>
                                        <p:cTn id="61" dur="500" fill="hold"/>
                                        <p:tgtEl>
                                          <p:spTgt spid="13"/>
                                        </p:tgtEl>
                                        <p:attrNameLst>
                                          <p:attrName>ppt_h</p:attrName>
                                        </p:attrNameLst>
                                      </p:cBhvr>
                                      <p:tavLst>
                                        <p:tav tm="0">
                                          <p:val>
                                            <p:fltVal val="0"/>
                                          </p:val>
                                        </p:tav>
                                        <p:tav tm="100000">
                                          <p:val>
                                            <p:strVal val="#ppt_h"/>
                                          </p:val>
                                        </p:tav>
                                      </p:tavLst>
                                    </p:anim>
                                    <p:animEffect transition="in" filter="fade">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2">
                                            <p:txEl>
                                              <p:pRg st="15" end="15"/>
                                            </p:txEl>
                                          </p:spTgt>
                                        </p:tgtEl>
                                        <p:attrNameLst>
                                          <p:attrName>style.visibility</p:attrName>
                                        </p:attrNameLst>
                                      </p:cBhvr>
                                      <p:to>
                                        <p:strVal val="visible"/>
                                      </p:to>
                                    </p:set>
                                    <p:animEffect transition="in" filter="wipe(down)">
                                      <p:cBhvr>
                                        <p:cTn id="67" dur="500"/>
                                        <p:tgtEl>
                                          <p:spTgt spid="2">
                                            <p:txEl>
                                              <p:pRg st="15" end="1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 calcmode="lin" valueType="num">
                                      <p:cBhvr>
                                        <p:cTn id="72" dur="500" fill="hold"/>
                                        <p:tgtEl>
                                          <p:spTgt spid="15"/>
                                        </p:tgtEl>
                                        <p:attrNameLst>
                                          <p:attrName>ppt_w</p:attrName>
                                        </p:attrNameLst>
                                      </p:cBhvr>
                                      <p:tavLst>
                                        <p:tav tm="0">
                                          <p:val>
                                            <p:fltVal val="0"/>
                                          </p:val>
                                        </p:tav>
                                        <p:tav tm="100000">
                                          <p:val>
                                            <p:strVal val="#ppt_w"/>
                                          </p:val>
                                        </p:tav>
                                      </p:tavLst>
                                    </p:anim>
                                    <p:anim calcmode="lin" valueType="num">
                                      <p:cBhvr>
                                        <p:cTn id="73" dur="500" fill="hold"/>
                                        <p:tgtEl>
                                          <p:spTgt spid="15"/>
                                        </p:tgtEl>
                                        <p:attrNameLst>
                                          <p:attrName>ppt_h</p:attrName>
                                        </p:attrNameLst>
                                      </p:cBhvr>
                                      <p:tavLst>
                                        <p:tav tm="0">
                                          <p:val>
                                            <p:fltVal val="0"/>
                                          </p:val>
                                        </p:tav>
                                        <p:tav tm="100000">
                                          <p:val>
                                            <p:strVal val="#ppt_h"/>
                                          </p:val>
                                        </p:tav>
                                      </p:tavLst>
                                    </p:anim>
                                    <p:animEffect transition="in" filter="fade">
                                      <p:cBhvr>
                                        <p:cTn id="7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1" grpId="0" animBg="1"/>
      <p:bldP spid="13" grpId="0" animBg="1"/>
      <p:bldP spid="1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1066800"/>
            <a:ext cx="8229600" cy="5059363"/>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US" altLang="en-US" dirty="0">
                <a:latin typeface="Times New Roman" panose="02020603050405020304" pitchFamily="18" charset="0"/>
                <a:cs typeface="Times New Roman" panose="02020603050405020304" pitchFamily="18" charset="0"/>
              </a:rPr>
              <a:t>Calculate the first function of production rules: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S-&gt;ABCD</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latin typeface="Times New Roman" panose="02020603050405020304" pitchFamily="18" charset="0"/>
                <a:cs typeface="Times New Roman" panose="02020603050405020304" pitchFamily="18" charset="0"/>
              </a:rPr>
              <a:t>		A-&gt;a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B-&gt;CD | b</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333333"/>
                </a:solidFill>
                <a:latin typeface="Times New Roman" panose="02020603050405020304" pitchFamily="18" charset="0"/>
                <a:cs typeface="Times New Roman" panose="02020603050405020304" pitchFamily="18" charset="0"/>
              </a:rPr>
              <a:t>		C-&gt;c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D-&gt;Aa | d | ε</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D38923F-4540-4DC2-82E2-10B91EC65789}"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on First Function</a:t>
            </a:r>
          </a:p>
        </p:txBody>
      </p:sp>
      <p:graphicFrame>
        <p:nvGraphicFramePr>
          <p:cNvPr id="17" name="Table 17">
            <a:extLst>
              <a:ext uri="{FF2B5EF4-FFF2-40B4-BE49-F238E27FC236}">
                <a16:creationId xmlns:a16="http://schemas.microsoft.com/office/drawing/2014/main" id="{2D385893-6C4D-4948-83F9-B59B0BFB87C2}"/>
              </a:ext>
            </a:extLst>
          </p:cNvPr>
          <p:cNvGraphicFramePr>
            <a:graphicFrameLocks noGrp="1"/>
          </p:cNvGraphicFramePr>
          <p:nvPr>
            <p:extLst>
              <p:ext uri="{D42A27DB-BD31-4B8C-83A1-F6EECF244321}">
                <p14:modId xmlns:p14="http://schemas.microsoft.com/office/powerpoint/2010/main" val="1258306863"/>
              </p:ext>
            </p:extLst>
          </p:nvPr>
        </p:nvGraphicFramePr>
        <p:xfrm>
          <a:off x="2362200" y="3599943"/>
          <a:ext cx="4648200" cy="2743200"/>
        </p:xfrm>
        <a:graphic>
          <a:graphicData uri="http://schemas.openxmlformats.org/drawingml/2006/table">
            <a:tbl>
              <a:tblPr firstRow="1" bandRow="1">
                <a:tableStyleId>{21E4AEA4-8DFA-4A89-87EB-49C32662AFE0}</a:tableStyleId>
              </a:tblPr>
              <a:tblGrid>
                <a:gridCol w="1859280">
                  <a:extLst>
                    <a:ext uri="{9D8B030D-6E8A-4147-A177-3AD203B41FA5}">
                      <a16:colId xmlns:a16="http://schemas.microsoft.com/office/drawing/2014/main" val="3571097689"/>
                    </a:ext>
                  </a:extLst>
                </a:gridCol>
                <a:gridCol w="2788920">
                  <a:extLst>
                    <a:ext uri="{9D8B030D-6E8A-4147-A177-3AD203B41FA5}">
                      <a16:colId xmlns:a16="http://schemas.microsoft.com/office/drawing/2014/main" val="561249135"/>
                    </a:ext>
                  </a:extLst>
                </a:gridCol>
              </a:tblGrid>
              <a:tr h="370840">
                <a:tc>
                  <a:txBody>
                    <a:bodyPr/>
                    <a:lstStyle/>
                    <a:p>
                      <a:r>
                        <a:rPr lang="en-IN" sz="2400" dirty="0"/>
                        <a:t>Symbols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t>First()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20641"/>
                  </a:ext>
                </a:extLst>
              </a:tr>
              <a:tr h="370840">
                <a:tc>
                  <a:txBody>
                    <a:bodyPr/>
                    <a:lstStyle/>
                    <a:p>
                      <a:r>
                        <a:rPr lang="en-IN" sz="2400" dirty="0"/>
                        <a:t>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t>{</a:t>
                      </a:r>
                      <a:r>
                        <a:rPr lang="en-IN" sz="2400" dirty="0" err="1"/>
                        <a:t>a,b,c,d</a:t>
                      </a:r>
                      <a:r>
                        <a:rPr lang="en-IN" sz="2400" dirty="0"/>
                        <a:t>,</a:t>
                      </a:r>
                      <a:r>
                        <a:rPr kumimoji="0" lang="en-US" altLang="en-US" sz="2400" u="none" strike="noStrike" cap="none" normalizeH="0" baseline="0" dirty="0">
                          <a:ln>
                            <a:noFill/>
                          </a:ln>
                          <a:effectLst/>
                        </a:rPr>
                        <a:t> ε}</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443980"/>
                  </a:ext>
                </a:extLst>
              </a:tr>
              <a:tr h="370840">
                <a:tc>
                  <a:txBody>
                    <a:bodyPr/>
                    <a:lstStyle/>
                    <a:p>
                      <a:r>
                        <a:rPr lang="en-IN" sz="2400" dirty="0"/>
                        <a:t>A</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t>{a,</a:t>
                      </a:r>
                      <a:r>
                        <a:rPr kumimoji="0" lang="en-US" altLang="en-US" sz="2400" u="none" strike="noStrike" cap="none" normalizeH="0" baseline="0" dirty="0">
                          <a:ln>
                            <a:noFill/>
                          </a:ln>
                          <a:effectLst/>
                        </a:rPr>
                        <a:t> ε}</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2192522"/>
                  </a:ext>
                </a:extLst>
              </a:tr>
              <a:tr h="370840">
                <a:tc>
                  <a:txBody>
                    <a:bodyPr/>
                    <a:lstStyle/>
                    <a:p>
                      <a:r>
                        <a:rPr lang="en-IN" sz="2400" dirty="0"/>
                        <a:t>B</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t>{</a:t>
                      </a:r>
                      <a:r>
                        <a:rPr lang="en-IN" sz="2400" dirty="0" err="1"/>
                        <a:t>c,a,d,b</a:t>
                      </a:r>
                      <a:r>
                        <a:rPr lang="en-IN" sz="2400" dirty="0"/>
                        <a:t>,</a:t>
                      </a:r>
                      <a:r>
                        <a:rPr kumimoji="0" lang="en-US" altLang="en-US" sz="2400" u="none" strike="noStrike" cap="none" normalizeH="0" baseline="0" dirty="0">
                          <a:ln>
                            <a:noFill/>
                          </a:ln>
                          <a:effectLst/>
                        </a:rPr>
                        <a:t>ε}</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121014"/>
                  </a:ext>
                </a:extLst>
              </a:tr>
              <a:tr h="370840">
                <a:tc>
                  <a:txBody>
                    <a:bodyPr/>
                    <a:lstStyle/>
                    <a:p>
                      <a:r>
                        <a:rPr lang="en-IN" sz="2400" dirty="0"/>
                        <a:t>C</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t>{c,</a:t>
                      </a:r>
                      <a:r>
                        <a:rPr kumimoji="0" lang="en-US" altLang="en-US" sz="2400" u="none" strike="noStrike" cap="none" normalizeH="0" baseline="0" dirty="0">
                          <a:ln>
                            <a:noFill/>
                          </a:ln>
                          <a:effectLst/>
                        </a:rPr>
                        <a:t> ε}</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9961594"/>
                  </a:ext>
                </a:extLst>
              </a:tr>
              <a:tr h="370840">
                <a:tc>
                  <a:txBody>
                    <a:bodyPr/>
                    <a:lstStyle/>
                    <a:p>
                      <a:r>
                        <a:rPr lang="en-IN" sz="2400" dirty="0"/>
                        <a:t>D</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t>{</a:t>
                      </a:r>
                      <a:r>
                        <a:rPr lang="en-IN" sz="2400" dirty="0" err="1"/>
                        <a:t>a,d</a:t>
                      </a:r>
                      <a:r>
                        <a:rPr lang="en-IN" sz="2400" dirty="0"/>
                        <a:t>,</a:t>
                      </a:r>
                      <a:r>
                        <a:rPr kumimoji="0" lang="en-US" altLang="en-US" sz="2400" u="none" strike="noStrike" cap="none" normalizeH="0" baseline="0" dirty="0">
                          <a:ln>
                            <a:noFill/>
                          </a:ln>
                          <a:effectLst/>
                        </a:rPr>
                        <a:t> ε}</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612043"/>
                  </a:ext>
                </a:extLst>
              </a:tr>
            </a:tbl>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08929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 calcmode="lin" valueType="num">
                                      <p:cBhvr additive="base">
                                        <p:cTn id="27"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 calcmode="lin" valueType="num">
                                      <p:cBhvr additive="base">
                                        <p:cTn id="31"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down)">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1066800"/>
            <a:ext cx="8229600" cy="5059363"/>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US" altLang="en-US" dirty="0">
                <a:latin typeface="Times New Roman" panose="02020603050405020304" pitchFamily="18" charset="0"/>
                <a:cs typeface="Times New Roman" panose="02020603050405020304" pitchFamily="18" charset="0"/>
              </a:rPr>
              <a:t>Calculate the first function of production rules:</a:t>
            </a:r>
          </a:p>
          <a:p>
            <a:pPr marL="0" indent="0" fontAlgn="base">
              <a:buNone/>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 → </a:t>
            </a:r>
            <a:r>
              <a:rPr lang="en-IN" dirty="0" err="1">
                <a:latin typeface="Times New Roman" panose="02020603050405020304" pitchFamily="18" charset="0"/>
                <a:cs typeface="Times New Roman" panose="02020603050405020304" pitchFamily="18" charset="0"/>
              </a:rPr>
              <a:t>aBDh</a:t>
            </a:r>
            <a:endParaRPr lang="en-IN" dirty="0">
              <a:latin typeface="Times New Roman" panose="02020603050405020304" pitchFamily="18" charset="0"/>
              <a:cs typeface="Times New Roman" panose="02020603050405020304" pitchFamily="18" charset="0"/>
            </a:endParaRPr>
          </a:p>
          <a:p>
            <a:pPr marL="0" indent="0" fontAlgn="base">
              <a:buNone/>
            </a:pPr>
            <a:r>
              <a:rPr lang="en-IN" dirty="0">
                <a:latin typeface="Times New Roman" panose="02020603050405020304" pitchFamily="18" charset="0"/>
                <a:cs typeface="Times New Roman" panose="02020603050405020304" pitchFamily="18" charset="0"/>
              </a:rPr>
              <a:t>		B → </a:t>
            </a:r>
            <a:r>
              <a:rPr lang="en-IN" dirty="0" err="1">
                <a:latin typeface="Times New Roman" panose="02020603050405020304" pitchFamily="18" charset="0"/>
                <a:cs typeface="Times New Roman" panose="02020603050405020304" pitchFamily="18" charset="0"/>
              </a:rPr>
              <a:t>cC</a:t>
            </a:r>
            <a:endParaRPr lang="en-IN" dirty="0">
              <a:latin typeface="Times New Roman" panose="02020603050405020304" pitchFamily="18" charset="0"/>
              <a:cs typeface="Times New Roman" panose="02020603050405020304" pitchFamily="18" charset="0"/>
            </a:endParaRPr>
          </a:p>
          <a:p>
            <a:pPr marL="0" indent="0" fontAlgn="base">
              <a:buNone/>
            </a:pPr>
            <a:r>
              <a:rPr lang="en-IN" dirty="0">
                <a:latin typeface="Times New Roman" panose="02020603050405020304" pitchFamily="18" charset="0"/>
                <a:cs typeface="Times New Roman" panose="02020603050405020304" pitchFamily="18" charset="0"/>
              </a:rPr>
              <a:t>		C → </a:t>
            </a:r>
            <a:r>
              <a:rPr lang="en-IN" dirty="0" err="1">
                <a:latin typeface="Times New Roman" panose="02020603050405020304" pitchFamily="18" charset="0"/>
                <a:cs typeface="Times New Roman" panose="02020603050405020304" pitchFamily="18" charset="0"/>
              </a:rPr>
              <a:t>bC</a:t>
            </a:r>
            <a:r>
              <a:rPr lang="en-IN" dirty="0">
                <a:latin typeface="Times New Roman" panose="02020603050405020304" pitchFamily="18" charset="0"/>
                <a:cs typeface="Times New Roman" panose="02020603050405020304" pitchFamily="18" charset="0"/>
              </a:rPr>
              <a:t> / ∈</a:t>
            </a:r>
          </a:p>
          <a:p>
            <a:pPr marL="0" indent="0" fontAlgn="base">
              <a:buNone/>
            </a:pPr>
            <a:r>
              <a:rPr lang="en-IN" dirty="0">
                <a:latin typeface="Times New Roman" panose="02020603050405020304" pitchFamily="18" charset="0"/>
                <a:cs typeface="Times New Roman" panose="02020603050405020304" pitchFamily="18" charset="0"/>
              </a:rPr>
              <a:t>		D → EF</a:t>
            </a:r>
          </a:p>
          <a:p>
            <a:pPr marL="0" indent="0" fontAlgn="base">
              <a:buNone/>
            </a:pPr>
            <a:r>
              <a:rPr lang="en-IN" dirty="0">
                <a:latin typeface="Times New Roman" panose="02020603050405020304" pitchFamily="18" charset="0"/>
                <a:cs typeface="Times New Roman" panose="02020603050405020304" pitchFamily="18" charset="0"/>
              </a:rPr>
              <a:t>		E → g / ∈</a:t>
            </a:r>
          </a:p>
          <a:p>
            <a:pPr marL="0" indent="0" fontAlgn="base">
              <a:buNone/>
            </a:pPr>
            <a:r>
              <a:rPr lang="en-IN" dirty="0">
                <a:latin typeface="Times New Roman" panose="02020603050405020304" pitchFamily="18" charset="0"/>
                <a:cs typeface="Times New Roman" panose="02020603050405020304" pitchFamily="18" charset="0"/>
              </a:rPr>
              <a:t>		F → f /∈ </a:t>
            </a:r>
          </a:p>
          <a:p>
            <a:pPr marL="0" marR="0" lvl="0" indent="0" algn="just" defTabSz="914400" rtl="0" eaLnBrk="0" fontAlgn="base" latinLnBrk="0" hangingPunct="0">
              <a:lnSpc>
                <a:spcPct val="100000"/>
              </a:lnSpc>
              <a:spcBef>
                <a:spcPct val="0"/>
              </a:spcBef>
              <a:spcAft>
                <a:spcPct val="0"/>
              </a:spcAft>
              <a:buClrTx/>
              <a:buSzTx/>
              <a:buFontTx/>
              <a:buNone/>
              <a:tabLst/>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EAC702D-6819-49A6-8EA9-7F0DFCECDF84}"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on First Function</a:t>
            </a:r>
          </a:p>
        </p:txBody>
      </p:sp>
      <p:graphicFrame>
        <p:nvGraphicFramePr>
          <p:cNvPr id="17" name="Table 17">
            <a:extLst>
              <a:ext uri="{FF2B5EF4-FFF2-40B4-BE49-F238E27FC236}">
                <a16:creationId xmlns:a16="http://schemas.microsoft.com/office/drawing/2014/main" id="{2D385893-6C4D-4948-83F9-B59B0BFB87C2}"/>
              </a:ext>
            </a:extLst>
          </p:cNvPr>
          <p:cNvGraphicFramePr>
            <a:graphicFrameLocks noGrp="1"/>
          </p:cNvGraphicFramePr>
          <p:nvPr>
            <p:extLst>
              <p:ext uri="{D42A27DB-BD31-4B8C-83A1-F6EECF244321}">
                <p14:modId xmlns:p14="http://schemas.microsoft.com/office/powerpoint/2010/main" val="1831559288"/>
              </p:ext>
            </p:extLst>
          </p:nvPr>
        </p:nvGraphicFramePr>
        <p:xfrm>
          <a:off x="2971800" y="3733800"/>
          <a:ext cx="3429000" cy="2595880"/>
        </p:xfrm>
        <a:graphic>
          <a:graphicData uri="http://schemas.openxmlformats.org/drawingml/2006/table">
            <a:tbl>
              <a:tblPr firstRow="1" bandRow="1">
                <a:tableStyleId>{21E4AEA4-8DFA-4A89-87EB-49C32662AFE0}</a:tableStyleId>
              </a:tblPr>
              <a:tblGrid>
                <a:gridCol w="1371600">
                  <a:extLst>
                    <a:ext uri="{9D8B030D-6E8A-4147-A177-3AD203B41FA5}">
                      <a16:colId xmlns:a16="http://schemas.microsoft.com/office/drawing/2014/main" val="3571097689"/>
                    </a:ext>
                  </a:extLst>
                </a:gridCol>
                <a:gridCol w="2057400">
                  <a:extLst>
                    <a:ext uri="{9D8B030D-6E8A-4147-A177-3AD203B41FA5}">
                      <a16:colId xmlns:a16="http://schemas.microsoft.com/office/drawing/2014/main" val="561249135"/>
                    </a:ext>
                  </a:extLst>
                </a:gridCol>
              </a:tblGrid>
              <a:tr h="370840">
                <a:tc>
                  <a:txBody>
                    <a:bodyPr/>
                    <a:lstStyle/>
                    <a:p>
                      <a:r>
                        <a:rPr lang="en-IN" sz="1800" dirty="0"/>
                        <a:t>Symbols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First()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20641"/>
                  </a:ext>
                </a:extLst>
              </a:tr>
              <a:tr h="370840">
                <a:tc>
                  <a:txBody>
                    <a:bodyPr/>
                    <a:lstStyle/>
                    <a:p>
                      <a:r>
                        <a:rPr lang="en-IN" sz="1800" dirty="0"/>
                        <a:t>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{a</a:t>
                      </a:r>
                      <a:r>
                        <a:rPr kumimoji="0" lang="en-US" altLang="en-US" sz="1800" u="none" strike="noStrike" cap="none" normalizeH="0" baseline="0" dirty="0">
                          <a:ln>
                            <a:noFill/>
                          </a:ln>
                          <a:effectLst/>
                        </a:rPr>
                        <a: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443980"/>
                  </a:ext>
                </a:extLst>
              </a:tr>
              <a:tr h="370840">
                <a:tc>
                  <a:txBody>
                    <a:bodyPr/>
                    <a:lstStyle/>
                    <a:p>
                      <a:r>
                        <a:rPr lang="en-IN" sz="1800" dirty="0"/>
                        <a:t>B</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{c</a:t>
                      </a:r>
                      <a:r>
                        <a:rPr kumimoji="0" lang="en-US" altLang="en-US" sz="1800" u="none" strike="noStrike" cap="none" normalizeH="0" baseline="0" dirty="0">
                          <a:ln>
                            <a:noFill/>
                          </a:ln>
                          <a:effectLst/>
                        </a:rPr>
                        <a: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2192522"/>
                  </a:ext>
                </a:extLst>
              </a:tr>
              <a:tr h="370840">
                <a:tc>
                  <a:txBody>
                    <a:bodyPr/>
                    <a:lstStyle/>
                    <a:p>
                      <a:r>
                        <a:rPr lang="en-IN" sz="1800" dirty="0"/>
                        <a:t>C</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{b,</a:t>
                      </a:r>
                      <a:r>
                        <a:rPr kumimoji="0" lang="en-US" altLang="en-US" sz="1800" u="none" strike="noStrike" cap="none" normalizeH="0" baseline="0" dirty="0">
                          <a:ln>
                            <a:noFill/>
                          </a:ln>
                          <a:effectLst/>
                        </a:rPr>
                        <a:t> ε}</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121014"/>
                  </a:ext>
                </a:extLst>
              </a:tr>
              <a:tr h="370840">
                <a:tc>
                  <a:txBody>
                    <a:bodyPr/>
                    <a:lstStyle/>
                    <a:p>
                      <a:r>
                        <a:rPr lang="en-IN" sz="1800" dirty="0"/>
                        <a:t>D</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a:t>
                      </a:r>
                      <a:r>
                        <a:rPr lang="en-IN" sz="1800" dirty="0" err="1"/>
                        <a:t>g,f</a:t>
                      </a:r>
                      <a:r>
                        <a:rPr kumimoji="0" lang="en-US" altLang="en-US" sz="1800" u="none" strike="noStrike" cap="none" normalizeH="0" baseline="0" dirty="0">
                          <a:ln>
                            <a:noFill/>
                          </a:ln>
                          <a:effectLst/>
                        </a:rPr>
                        <a:t> ε}</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9961594"/>
                  </a:ext>
                </a:extLst>
              </a:tr>
              <a:tr h="370840">
                <a:tc>
                  <a:txBody>
                    <a:bodyPr/>
                    <a:lstStyle/>
                    <a:p>
                      <a:r>
                        <a:rPr lang="en-IN" sz="1800" dirty="0"/>
                        <a:t>E</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{g,</a:t>
                      </a:r>
                      <a:r>
                        <a:rPr kumimoji="0" lang="en-US" altLang="en-US" sz="1800" u="none" strike="noStrike" cap="none" normalizeH="0" baseline="0" dirty="0">
                          <a:ln>
                            <a:noFill/>
                          </a:ln>
                          <a:effectLst/>
                        </a:rPr>
                        <a:t> ε}</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612043"/>
                  </a:ext>
                </a:extLst>
              </a:tr>
              <a:tr h="370840">
                <a:tc>
                  <a:txBody>
                    <a:bodyPr/>
                    <a:lstStyle/>
                    <a:p>
                      <a:r>
                        <a:rPr lang="en-IN" sz="1800" dirty="0"/>
                        <a:t>F</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{f,</a:t>
                      </a:r>
                      <a:r>
                        <a:rPr kumimoji="0" lang="en-US" altLang="en-US" sz="1800" u="none" strike="noStrike" cap="none" normalizeH="0" baseline="0" dirty="0">
                          <a:ln>
                            <a:noFill/>
                          </a:ln>
                          <a:effectLst/>
                        </a:rPr>
                        <a:t> ε}</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2570319"/>
                  </a:ext>
                </a:extLst>
              </a:tr>
            </a:tbl>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64412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 calcmode="lin" valueType="num">
                                      <p:cBhvr additive="base">
                                        <p:cTn id="27"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 calcmode="lin" valueType="num">
                                      <p:cBhvr additive="base">
                                        <p:cTn id="31"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
                                            <p:txEl>
                                              <p:pRg st="7" end="7"/>
                                            </p:txEl>
                                          </p:spTgt>
                                        </p:tgtEl>
                                        <p:attrNameLst>
                                          <p:attrName>style.visibility</p:attrName>
                                        </p:attrNameLst>
                                      </p:cBhvr>
                                      <p:to>
                                        <p:strVal val="visible"/>
                                      </p:to>
                                    </p:set>
                                    <p:anim calcmode="lin" valueType="num">
                                      <p:cBhvr additive="base">
                                        <p:cTn id="35"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down)">
                                      <p:cBhvr>
                                        <p:cTn id="4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817164"/>
            <a:ext cx="8229600" cy="5309000"/>
          </a:xfrm>
        </p:spPr>
        <p:txBody>
          <a:bodyPr>
            <a:normAutofit/>
          </a:bodyPr>
          <a:lstStyle/>
          <a:p>
            <a:pPr marL="0" indent="0">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 compute follows of A for all non-terminal A apply the following rules:-</a:t>
            </a: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1. If S is a start symbol,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2. If there is a production A → αBβ,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3. If there is a production A → αB, or a production A → αBβ where FIRST(β) contains</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ε, then everything in FOLLOW(A) is in FOLLOW(B).</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609E36E-6865-433A-87C9-5C2743400A09}"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Follow Function</a:t>
            </a:r>
          </a:p>
        </p:txBody>
      </p:sp>
      <p:sp>
        <p:nvSpPr>
          <p:cNvPr id="3" name="Rectangle: Rounded Corners 2">
            <a:extLst>
              <a:ext uri="{FF2B5EF4-FFF2-40B4-BE49-F238E27FC236}">
                <a16:creationId xmlns:a16="http://schemas.microsoft.com/office/drawing/2014/main" id="{4F51E3E6-3FC8-420D-90E8-E72A3C269CCF}"/>
              </a:ext>
            </a:extLst>
          </p:cNvPr>
          <p:cNvSpPr/>
          <p:nvPr/>
        </p:nvSpPr>
        <p:spPr>
          <a:xfrm>
            <a:off x="3429000" y="2473817"/>
            <a:ext cx="1981200" cy="36512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FOLLOW(S)={$}</a:t>
            </a:r>
            <a:endParaRPr lang="en-IN" dirty="0"/>
          </a:p>
        </p:txBody>
      </p:sp>
      <p:sp>
        <p:nvSpPr>
          <p:cNvPr id="5" name="Rectangle: Rounded Corners 4">
            <a:extLst>
              <a:ext uri="{FF2B5EF4-FFF2-40B4-BE49-F238E27FC236}">
                <a16:creationId xmlns:a16="http://schemas.microsoft.com/office/drawing/2014/main" id="{7EABBDC8-F201-46F0-9C7F-4DE3CD581254}"/>
              </a:ext>
            </a:extLst>
          </p:cNvPr>
          <p:cNvSpPr/>
          <p:nvPr/>
        </p:nvSpPr>
        <p:spPr>
          <a:xfrm>
            <a:off x="2745740" y="3751045"/>
            <a:ext cx="3683000" cy="5360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FOLLOW(B)=FIRST(β) except ε</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FAF63894-66D2-49E6-BAE6-89EBDE7110E2}"/>
              </a:ext>
            </a:extLst>
          </p:cNvPr>
          <p:cNvSpPr/>
          <p:nvPr/>
        </p:nvSpPr>
        <p:spPr>
          <a:xfrm>
            <a:off x="2745740" y="5504809"/>
            <a:ext cx="3683000" cy="5360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FOLLOW(B)=FOLLOW(A)</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779201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animEffect transition="in" filter="wipe(down)">
                                      <p:cBhvr>
                                        <p:cTn id="13" dur="500"/>
                                        <p:tgtEl>
                                          <p:spTgt spid="16">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6">
                                            <p:txEl>
                                              <p:pRg st="8" end="8"/>
                                            </p:txEl>
                                          </p:spTgt>
                                        </p:tgtEl>
                                        <p:attrNameLst>
                                          <p:attrName>style.visibility</p:attrName>
                                        </p:attrNameLst>
                                      </p:cBhvr>
                                      <p:to>
                                        <p:strVal val="visible"/>
                                      </p:to>
                                    </p:set>
                                    <p:animEffect transition="in" filter="wipe(down)">
                                      <p:cBhvr>
                                        <p:cTn id="25" dur="500"/>
                                        <p:tgtEl>
                                          <p:spTgt spid="16">
                                            <p:txEl>
                                              <p:pRg st="8" end="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p:cTn id="30" dur="500" fill="hold"/>
                                        <p:tgtEl>
                                          <p:spTgt spid="5"/>
                                        </p:tgtEl>
                                        <p:attrNameLst>
                                          <p:attrName>ppt_w</p:attrName>
                                        </p:attrNameLst>
                                      </p:cBhvr>
                                      <p:tavLst>
                                        <p:tav tm="0">
                                          <p:val>
                                            <p:fltVal val="0"/>
                                          </p:val>
                                        </p:tav>
                                        <p:tav tm="100000">
                                          <p:val>
                                            <p:strVal val="#ppt_w"/>
                                          </p:val>
                                        </p:tav>
                                      </p:tavLst>
                                    </p:anim>
                                    <p:anim calcmode="lin" valueType="num">
                                      <p:cBhvr>
                                        <p:cTn id="31" dur="500" fill="hold"/>
                                        <p:tgtEl>
                                          <p:spTgt spid="5"/>
                                        </p:tgtEl>
                                        <p:attrNameLst>
                                          <p:attrName>ppt_h</p:attrName>
                                        </p:attrNameLst>
                                      </p:cBhvr>
                                      <p:tavLst>
                                        <p:tav tm="0">
                                          <p:val>
                                            <p:fltVal val="0"/>
                                          </p:val>
                                        </p:tav>
                                        <p:tav tm="100000">
                                          <p:val>
                                            <p:strVal val="#ppt_h"/>
                                          </p:val>
                                        </p:tav>
                                      </p:tavLst>
                                    </p:anim>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6">
                                            <p:txEl>
                                              <p:pRg st="13" end="13"/>
                                            </p:txEl>
                                          </p:spTgt>
                                        </p:tgtEl>
                                        <p:attrNameLst>
                                          <p:attrName>style.visibility</p:attrName>
                                        </p:attrNameLst>
                                      </p:cBhvr>
                                      <p:to>
                                        <p:strVal val="visible"/>
                                      </p:to>
                                    </p:set>
                                    <p:animEffect transition="in" filter="wipe(down)">
                                      <p:cBhvr>
                                        <p:cTn id="37" dur="500"/>
                                        <p:tgtEl>
                                          <p:spTgt spid="16">
                                            <p:txEl>
                                              <p:pRg st="13" end="1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500" fill="hold"/>
                                        <p:tgtEl>
                                          <p:spTgt spid="11"/>
                                        </p:tgtEl>
                                        <p:attrNameLst>
                                          <p:attrName>ppt_w</p:attrName>
                                        </p:attrNameLst>
                                      </p:cBhvr>
                                      <p:tavLst>
                                        <p:tav tm="0">
                                          <p:val>
                                            <p:fltVal val="0"/>
                                          </p:val>
                                        </p:tav>
                                        <p:tav tm="100000">
                                          <p:val>
                                            <p:strVal val="#ppt_w"/>
                                          </p:val>
                                        </p:tav>
                                      </p:tavLst>
                                    </p:anim>
                                    <p:anim calcmode="lin" valueType="num">
                                      <p:cBhvr>
                                        <p:cTn id="43" dur="500" fill="hold"/>
                                        <p:tgtEl>
                                          <p:spTgt spid="11"/>
                                        </p:tgtEl>
                                        <p:attrNameLst>
                                          <p:attrName>ppt_h</p:attrName>
                                        </p:attrNameLst>
                                      </p:cBhvr>
                                      <p:tavLst>
                                        <p:tav tm="0">
                                          <p:val>
                                            <p:fltVal val="0"/>
                                          </p:val>
                                        </p:tav>
                                        <p:tav tm="100000">
                                          <p:val>
                                            <p:strVal val="#ppt_h"/>
                                          </p:val>
                                        </p:tav>
                                      </p:tavLst>
                                    </p:anim>
                                    <p:animEffect transition="in" filter="fade">
                                      <p:cBhvr>
                                        <p:cTn id="4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391885" y="763527"/>
            <a:ext cx="8229600" cy="5059363"/>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US" altLang="en-US" dirty="0">
                <a:latin typeface="Times New Roman" panose="02020603050405020304" pitchFamily="18" charset="0"/>
                <a:cs typeface="Times New Roman" panose="02020603050405020304" pitchFamily="18" charset="0"/>
              </a:rPr>
              <a:t>Calculate the follow function of production rules: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S-&gt;ABCD</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latin typeface="Times New Roman" panose="02020603050405020304" pitchFamily="18" charset="0"/>
                <a:cs typeface="Times New Roman" panose="02020603050405020304" pitchFamily="18" charset="0"/>
              </a:rPr>
              <a:t>		A-&gt;a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B-&gt;CD | b</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333333"/>
                </a:solidFill>
                <a:latin typeface="Times New Roman" panose="02020603050405020304" pitchFamily="18" charset="0"/>
                <a:cs typeface="Times New Roman" panose="02020603050405020304" pitchFamily="18" charset="0"/>
              </a:rPr>
              <a:t>		C-&gt;c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D-&gt;Aa | d | ε</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F944DFD-053F-4105-B650-40A8A63BC7A8}"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on Follow Function</a:t>
            </a:r>
          </a:p>
        </p:txBody>
      </p:sp>
      <p:graphicFrame>
        <p:nvGraphicFramePr>
          <p:cNvPr id="17" name="Table 17">
            <a:extLst>
              <a:ext uri="{FF2B5EF4-FFF2-40B4-BE49-F238E27FC236}">
                <a16:creationId xmlns:a16="http://schemas.microsoft.com/office/drawing/2014/main" id="{2D385893-6C4D-4948-83F9-B59B0BFB87C2}"/>
              </a:ext>
            </a:extLst>
          </p:cNvPr>
          <p:cNvGraphicFramePr>
            <a:graphicFrameLocks noGrp="1"/>
          </p:cNvGraphicFramePr>
          <p:nvPr>
            <p:extLst>
              <p:ext uri="{D42A27DB-BD31-4B8C-83A1-F6EECF244321}">
                <p14:modId xmlns:p14="http://schemas.microsoft.com/office/powerpoint/2010/main" val="2688982160"/>
              </p:ext>
            </p:extLst>
          </p:nvPr>
        </p:nvGraphicFramePr>
        <p:xfrm>
          <a:off x="4027715" y="3526518"/>
          <a:ext cx="4724400" cy="2743200"/>
        </p:xfrm>
        <a:graphic>
          <a:graphicData uri="http://schemas.openxmlformats.org/drawingml/2006/table">
            <a:tbl>
              <a:tblPr firstRow="1" bandRow="1">
                <a:tableStyleId>{21E4AEA4-8DFA-4A89-87EB-49C32662AFE0}</a:tableStyleId>
              </a:tblPr>
              <a:tblGrid>
                <a:gridCol w="1643270">
                  <a:extLst>
                    <a:ext uri="{9D8B030D-6E8A-4147-A177-3AD203B41FA5}">
                      <a16:colId xmlns:a16="http://schemas.microsoft.com/office/drawing/2014/main" val="3571097689"/>
                    </a:ext>
                  </a:extLst>
                </a:gridCol>
                <a:gridCol w="3081130">
                  <a:extLst>
                    <a:ext uri="{9D8B030D-6E8A-4147-A177-3AD203B41FA5}">
                      <a16:colId xmlns:a16="http://schemas.microsoft.com/office/drawing/2014/main" val="561249135"/>
                    </a:ext>
                  </a:extLst>
                </a:gridCol>
              </a:tblGrid>
              <a:tr h="370840">
                <a:tc>
                  <a:txBody>
                    <a:bodyPr/>
                    <a:lstStyle/>
                    <a:p>
                      <a:pPr algn="ctr"/>
                      <a:r>
                        <a:rPr lang="en-IN" sz="2400" dirty="0"/>
                        <a:t>Symbols</a:t>
                      </a:r>
                    </a:p>
                  </a:txBody>
                  <a:tcPr anchor="ctr"/>
                </a:tc>
                <a:tc>
                  <a:txBody>
                    <a:bodyPr/>
                    <a:lstStyle/>
                    <a:p>
                      <a:pPr algn="ctr"/>
                      <a:r>
                        <a:rPr lang="en-IN" sz="2400" dirty="0"/>
                        <a:t>Follow()</a:t>
                      </a:r>
                    </a:p>
                  </a:txBody>
                  <a:tcPr anchor="ctr"/>
                </a:tc>
                <a:extLst>
                  <a:ext uri="{0D108BD9-81ED-4DB2-BD59-A6C34878D82A}">
                    <a16:rowId xmlns:a16="http://schemas.microsoft.com/office/drawing/2014/main" val="3630920641"/>
                  </a:ext>
                </a:extLst>
              </a:tr>
              <a:tr h="370840">
                <a:tc>
                  <a:txBody>
                    <a:bodyPr/>
                    <a:lstStyle/>
                    <a:p>
                      <a:pPr algn="ctr"/>
                      <a:r>
                        <a:rPr lang="en-IN" sz="2400" dirty="0"/>
                        <a:t>S</a:t>
                      </a:r>
                    </a:p>
                  </a:txBody>
                  <a:tcPr anchor="ctr"/>
                </a:tc>
                <a:tc>
                  <a:txBody>
                    <a:bodyPr/>
                    <a:lstStyle/>
                    <a:p>
                      <a:pPr algn="ctr"/>
                      <a:endParaRPr lang="en-IN" sz="2400" dirty="0"/>
                    </a:p>
                  </a:txBody>
                  <a:tcPr anchor="ctr"/>
                </a:tc>
                <a:extLst>
                  <a:ext uri="{0D108BD9-81ED-4DB2-BD59-A6C34878D82A}">
                    <a16:rowId xmlns:a16="http://schemas.microsoft.com/office/drawing/2014/main" val="1247443980"/>
                  </a:ext>
                </a:extLst>
              </a:tr>
              <a:tr h="370840">
                <a:tc>
                  <a:txBody>
                    <a:bodyPr/>
                    <a:lstStyle/>
                    <a:p>
                      <a:pPr algn="ctr"/>
                      <a:r>
                        <a:rPr lang="en-IN" sz="2400" dirty="0"/>
                        <a:t>A</a:t>
                      </a:r>
                    </a:p>
                  </a:txBody>
                  <a:tcPr anchor="ctr"/>
                </a:tc>
                <a:tc>
                  <a:txBody>
                    <a:bodyPr/>
                    <a:lstStyle/>
                    <a:p>
                      <a:pPr algn="ctr"/>
                      <a:endParaRPr lang="en-IN" sz="2400" dirty="0"/>
                    </a:p>
                  </a:txBody>
                  <a:tcPr anchor="ctr"/>
                </a:tc>
                <a:extLst>
                  <a:ext uri="{0D108BD9-81ED-4DB2-BD59-A6C34878D82A}">
                    <a16:rowId xmlns:a16="http://schemas.microsoft.com/office/drawing/2014/main" val="3322192522"/>
                  </a:ext>
                </a:extLst>
              </a:tr>
              <a:tr h="370840">
                <a:tc>
                  <a:txBody>
                    <a:bodyPr/>
                    <a:lstStyle/>
                    <a:p>
                      <a:pPr algn="ctr"/>
                      <a:r>
                        <a:rPr lang="en-IN" sz="2400" dirty="0"/>
                        <a:t>B</a:t>
                      </a:r>
                    </a:p>
                  </a:txBody>
                  <a:tcPr anchor="ctr"/>
                </a:tc>
                <a:tc>
                  <a:txBody>
                    <a:bodyPr/>
                    <a:lstStyle/>
                    <a:p>
                      <a:pPr algn="ctr"/>
                      <a:endParaRPr lang="en-IN" sz="2400" dirty="0"/>
                    </a:p>
                  </a:txBody>
                  <a:tcPr anchor="ctr"/>
                </a:tc>
                <a:extLst>
                  <a:ext uri="{0D108BD9-81ED-4DB2-BD59-A6C34878D82A}">
                    <a16:rowId xmlns:a16="http://schemas.microsoft.com/office/drawing/2014/main" val="2958121014"/>
                  </a:ext>
                </a:extLst>
              </a:tr>
              <a:tr h="370840">
                <a:tc>
                  <a:txBody>
                    <a:bodyPr/>
                    <a:lstStyle/>
                    <a:p>
                      <a:pPr algn="ctr"/>
                      <a:r>
                        <a:rPr lang="en-IN" sz="2400" dirty="0"/>
                        <a:t>C</a:t>
                      </a:r>
                    </a:p>
                  </a:txBody>
                  <a:tcPr anchor="ctr"/>
                </a:tc>
                <a:tc>
                  <a:txBody>
                    <a:bodyPr/>
                    <a:lstStyle/>
                    <a:p>
                      <a:pPr algn="ctr"/>
                      <a:endParaRPr lang="en-IN" sz="2400" dirty="0"/>
                    </a:p>
                  </a:txBody>
                  <a:tcPr anchor="ctr"/>
                </a:tc>
                <a:extLst>
                  <a:ext uri="{0D108BD9-81ED-4DB2-BD59-A6C34878D82A}">
                    <a16:rowId xmlns:a16="http://schemas.microsoft.com/office/drawing/2014/main" val="4189961594"/>
                  </a:ext>
                </a:extLst>
              </a:tr>
              <a:tr h="370840">
                <a:tc>
                  <a:txBody>
                    <a:bodyPr/>
                    <a:lstStyle/>
                    <a:p>
                      <a:pPr algn="ctr"/>
                      <a:r>
                        <a:rPr lang="en-IN" sz="2400" dirty="0"/>
                        <a:t>D</a:t>
                      </a:r>
                    </a:p>
                  </a:txBody>
                  <a:tcPr anchor="ctr"/>
                </a:tc>
                <a:tc>
                  <a:txBody>
                    <a:bodyPr/>
                    <a:lstStyle/>
                    <a:p>
                      <a:pPr algn="ctr"/>
                      <a:endParaRPr lang="en-IN" sz="2400" dirty="0"/>
                    </a:p>
                  </a:txBody>
                  <a:tcPr anchor="ctr"/>
                </a:tc>
                <a:extLst>
                  <a:ext uri="{0D108BD9-81ED-4DB2-BD59-A6C34878D82A}">
                    <a16:rowId xmlns:a16="http://schemas.microsoft.com/office/drawing/2014/main" val="573612043"/>
                  </a:ext>
                </a:extLst>
              </a:tr>
            </a:tbl>
          </a:graphicData>
        </a:graphic>
      </p:graphicFrame>
      <p:graphicFrame>
        <p:nvGraphicFramePr>
          <p:cNvPr id="11" name="Table 17">
            <a:extLst>
              <a:ext uri="{FF2B5EF4-FFF2-40B4-BE49-F238E27FC236}">
                <a16:creationId xmlns:a16="http://schemas.microsoft.com/office/drawing/2014/main" id="{E11A39B4-2054-426F-990F-3536164D4B5F}"/>
              </a:ext>
            </a:extLst>
          </p:cNvPr>
          <p:cNvGraphicFramePr>
            <a:graphicFrameLocks noGrp="1"/>
          </p:cNvGraphicFramePr>
          <p:nvPr>
            <p:extLst>
              <p:ext uri="{D42A27DB-BD31-4B8C-83A1-F6EECF244321}">
                <p14:modId xmlns:p14="http://schemas.microsoft.com/office/powerpoint/2010/main" val="2124419428"/>
              </p:ext>
            </p:extLst>
          </p:nvPr>
        </p:nvGraphicFramePr>
        <p:xfrm>
          <a:off x="402771" y="3526518"/>
          <a:ext cx="3494314" cy="2743200"/>
        </p:xfrm>
        <a:graphic>
          <a:graphicData uri="http://schemas.openxmlformats.org/drawingml/2006/table">
            <a:tbl>
              <a:tblPr firstRow="1" bandRow="1">
                <a:tableStyleId>{21E4AEA4-8DFA-4A89-87EB-49C32662AFE0}</a:tableStyleId>
              </a:tblPr>
              <a:tblGrid>
                <a:gridCol w="1349829">
                  <a:extLst>
                    <a:ext uri="{9D8B030D-6E8A-4147-A177-3AD203B41FA5}">
                      <a16:colId xmlns:a16="http://schemas.microsoft.com/office/drawing/2014/main" val="3571097689"/>
                    </a:ext>
                  </a:extLst>
                </a:gridCol>
                <a:gridCol w="2144485">
                  <a:extLst>
                    <a:ext uri="{9D8B030D-6E8A-4147-A177-3AD203B41FA5}">
                      <a16:colId xmlns:a16="http://schemas.microsoft.com/office/drawing/2014/main" val="561249135"/>
                    </a:ext>
                  </a:extLst>
                </a:gridCol>
              </a:tblGrid>
              <a:tr h="370840">
                <a:tc>
                  <a:txBody>
                    <a:bodyPr/>
                    <a:lstStyle/>
                    <a:p>
                      <a:r>
                        <a:rPr lang="en-IN" sz="2400" dirty="0"/>
                        <a:t>Symbols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t>First()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20641"/>
                  </a:ext>
                </a:extLst>
              </a:tr>
              <a:tr h="370840">
                <a:tc>
                  <a:txBody>
                    <a:bodyPr/>
                    <a:lstStyle/>
                    <a:p>
                      <a:r>
                        <a:rPr lang="en-IN" sz="2400" dirty="0"/>
                        <a:t>S</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443980"/>
                  </a:ext>
                </a:extLst>
              </a:tr>
              <a:tr h="370840">
                <a:tc>
                  <a:txBody>
                    <a:bodyPr/>
                    <a:lstStyle/>
                    <a:p>
                      <a:r>
                        <a:rPr lang="en-IN" sz="2400" dirty="0"/>
                        <a:t>A</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2192522"/>
                  </a:ext>
                </a:extLst>
              </a:tr>
              <a:tr h="370840">
                <a:tc>
                  <a:txBody>
                    <a:bodyPr/>
                    <a:lstStyle/>
                    <a:p>
                      <a:r>
                        <a:rPr lang="en-IN" sz="2400" dirty="0"/>
                        <a:t>B</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121014"/>
                  </a:ext>
                </a:extLst>
              </a:tr>
              <a:tr h="370840">
                <a:tc>
                  <a:txBody>
                    <a:bodyPr/>
                    <a:lstStyle/>
                    <a:p>
                      <a:r>
                        <a:rPr lang="en-IN" sz="2400" dirty="0"/>
                        <a:t>C</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9961594"/>
                  </a:ext>
                </a:extLst>
              </a:tr>
              <a:tr h="370840">
                <a:tc>
                  <a:txBody>
                    <a:bodyPr/>
                    <a:lstStyle/>
                    <a:p>
                      <a:r>
                        <a:rPr lang="en-IN" sz="2400" dirty="0"/>
                        <a:t>D</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612043"/>
                  </a:ext>
                </a:extLst>
              </a:tr>
            </a:tbl>
          </a:graphicData>
        </a:graphic>
      </p:graphicFrame>
      <p:sp>
        <p:nvSpPr>
          <p:cNvPr id="5" name="TextBox 4">
            <a:extLst>
              <a:ext uri="{FF2B5EF4-FFF2-40B4-BE49-F238E27FC236}">
                <a16:creationId xmlns:a16="http://schemas.microsoft.com/office/drawing/2014/main" id="{BAC13D9C-2E34-429F-9847-44F5B37742DA}"/>
              </a:ext>
            </a:extLst>
          </p:cNvPr>
          <p:cNvSpPr txBox="1"/>
          <p:nvPr/>
        </p:nvSpPr>
        <p:spPr>
          <a:xfrm>
            <a:off x="6858000" y="3962400"/>
            <a:ext cx="583814" cy="461665"/>
          </a:xfrm>
          <a:prstGeom prst="rect">
            <a:avLst/>
          </a:prstGeom>
          <a:noFill/>
        </p:spPr>
        <p:txBody>
          <a:bodyPr wrap="none" rtlCol="0">
            <a:spAutoFit/>
          </a:bodyPr>
          <a:lstStyle/>
          <a:p>
            <a:pPr algn="ctr"/>
            <a:r>
              <a:rPr lang="en-IN" sz="2400" dirty="0"/>
              <a:t>{$</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400" dirty="0"/>
          </a:p>
        </p:txBody>
      </p:sp>
      <p:sp>
        <p:nvSpPr>
          <p:cNvPr id="10" name="TextBox 9">
            <a:extLst>
              <a:ext uri="{FF2B5EF4-FFF2-40B4-BE49-F238E27FC236}">
                <a16:creationId xmlns:a16="http://schemas.microsoft.com/office/drawing/2014/main" id="{0C5F880D-8613-41E8-B239-8219AC3F2553}"/>
              </a:ext>
            </a:extLst>
          </p:cNvPr>
          <p:cNvSpPr txBox="1"/>
          <p:nvPr/>
        </p:nvSpPr>
        <p:spPr>
          <a:xfrm>
            <a:off x="6447726" y="4424559"/>
            <a:ext cx="1492716" cy="461665"/>
          </a:xfrm>
          <a:prstGeom prst="rect">
            <a:avLst/>
          </a:prstGeom>
          <a:noFill/>
        </p:spPr>
        <p:txBody>
          <a:bodyPr wrap="none" rtlCol="0">
            <a:spAutoFit/>
          </a:bodyPr>
          <a:lstStyle/>
          <a:p>
            <a:pPr algn="ctr"/>
            <a:r>
              <a:rPr lang="en-IN" sz="2400" dirty="0"/>
              <a:t>{</a:t>
            </a:r>
            <a:r>
              <a:rPr lang="en-IN" sz="2400" dirty="0" err="1"/>
              <a:t>a,b,c,d</a:t>
            </a:r>
            <a:r>
              <a:rPr lang="en-IN" sz="2400" dirty="0"/>
              <a:t>,$</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400" dirty="0"/>
          </a:p>
        </p:txBody>
      </p:sp>
      <p:sp>
        <p:nvSpPr>
          <p:cNvPr id="14" name="TextBox 13">
            <a:extLst>
              <a:ext uri="{FF2B5EF4-FFF2-40B4-BE49-F238E27FC236}">
                <a16:creationId xmlns:a16="http://schemas.microsoft.com/office/drawing/2014/main" id="{1DD8EE2B-DDD7-4E2E-B6EB-2FFF66343DAC}"/>
              </a:ext>
            </a:extLst>
          </p:cNvPr>
          <p:cNvSpPr txBox="1"/>
          <p:nvPr/>
        </p:nvSpPr>
        <p:spPr>
          <a:xfrm>
            <a:off x="6567150" y="4878806"/>
            <a:ext cx="1253868" cy="461665"/>
          </a:xfrm>
          <a:prstGeom prst="rect">
            <a:avLst/>
          </a:prstGeom>
          <a:noFill/>
        </p:spPr>
        <p:txBody>
          <a:bodyPr wrap="none" rtlCol="0">
            <a:spAutoFit/>
          </a:bodyPr>
          <a:lstStyle/>
          <a:p>
            <a:pPr algn="ctr"/>
            <a:r>
              <a:rPr lang="en-IN" sz="2400" dirty="0"/>
              <a:t>{</a:t>
            </a:r>
            <a:r>
              <a:rPr lang="en-IN" sz="2400" dirty="0" err="1"/>
              <a:t>c,a,d</a:t>
            </a:r>
            <a:r>
              <a:rPr lang="en-IN" sz="2400" dirty="0"/>
              <a:t>,$</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400" dirty="0"/>
          </a:p>
        </p:txBody>
      </p:sp>
      <p:sp>
        <p:nvSpPr>
          <p:cNvPr id="15" name="TextBox 14">
            <a:extLst>
              <a:ext uri="{FF2B5EF4-FFF2-40B4-BE49-F238E27FC236}">
                <a16:creationId xmlns:a16="http://schemas.microsoft.com/office/drawing/2014/main" id="{20C1CE8E-7236-4A17-AC88-5EE049EC2198}"/>
              </a:ext>
            </a:extLst>
          </p:cNvPr>
          <p:cNvSpPr txBox="1"/>
          <p:nvPr/>
        </p:nvSpPr>
        <p:spPr>
          <a:xfrm>
            <a:off x="6553200" y="5322106"/>
            <a:ext cx="1253868" cy="461665"/>
          </a:xfrm>
          <a:prstGeom prst="rect">
            <a:avLst/>
          </a:prstGeom>
          <a:noFill/>
        </p:spPr>
        <p:txBody>
          <a:bodyPr wrap="none" rtlCol="0">
            <a:spAutoFit/>
          </a:bodyPr>
          <a:lstStyle/>
          <a:p>
            <a:pPr algn="ctr"/>
            <a:r>
              <a:rPr lang="en-IN" sz="2400" dirty="0"/>
              <a:t>{</a:t>
            </a:r>
            <a:r>
              <a:rPr lang="en-IN" sz="2400" dirty="0" err="1"/>
              <a:t>a,d,c</a:t>
            </a:r>
            <a:r>
              <a:rPr lang="en-IN" sz="2400" dirty="0"/>
              <a:t>,$</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400" dirty="0"/>
          </a:p>
        </p:txBody>
      </p:sp>
      <p:sp>
        <p:nvSpPr>
          <p:cNvPr id="22" name="TextBox 21">
            <a:extLst>
              <a:ext uri="{FF2B5EF4-FFF2-40B4-BE49-F238E27FC236}">
                <a16:creationId xmlns:a16="http://schemas.microsoft.com/office/drawing/2014/main" id="{1D67B354-CC5A-4D75-ABD5-1DE90B2951D9}"/>
              </a:ext>
            </a:extLst>
          </p:cNvPr>
          <p:cNvSpPr txBox="1"/>
          <p:nvPr/>
        </p:nvSpPr>
        <p:spPr>
          <a:xfrm>
            <a:off x="6522973" y="5809999"/>
            <a:ext cx="1253868" cy="461665"/>
          </a:xfrm>
          <a:prstGeom prst="rect">
            <a:avLst/>
          </a:prstGeom>
          <a:noFill/>
        </p:spPr>
        <p:txBody>
          <a:bodyPr wrap="none" rtlCol="0">
            <a:spAutoFit/>
          </a:bodyPr>
          <a:lstStyle/>
          <a:p>
            <a:pPr algn="ctr"/>
            <a:r>
              <a:rPr lang="en-IN" sz="2400" dirty="0"/>
              <a:t>{</a:t>
            </a:r>
            <a:r>
              <a:rPr lang="en-IN" sz="2400" dirty="0" err="1"/>
              <a:t>c,a,d</a:t>
            </a:r>
            <a:r>
              <a:rPr lang="en-IN" sz="2400" dirty="0"/>
              <a:t>,$</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400" dirty="0"/>
          </a:p>
        </p:txBody>
      </p:sp>
      <p:sp>
        <p:nvSpPr>
          <p:cNvPr id="23" name="TextBox 22">
            <a:extLst>
              <a:ext uri="{FF2B5EF4-FFF2-40B4-BE49-F238E27FC236}">
                <a16:creationId xmlns:a16="http://schemas.microsoft.com/office/drawing/2014/main" id="{8F2AE542-4D32-4C10-8F90-9E0118639C54}"/>
              </a:ext>
            </a:extLst>
          </p:cNvPr>
          <p:cNvSpPr txBox="1"/>
          <p:nvPr/>
        </p:nvSpPr>
        <p:spPr>
          <a:xfrm>
            <a:off x="1702186" y="3962400"/>
            <a:ext cx="1574470" cy="461665"/>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a,b,c,d</a:t>
            </a:r>
            <a:r>
              <a:rPr lang="en-IN" sz="2400" dirty="0">
                <a:latin typeface="Times New Roman" panose="02020603050405020304" pitchFamily="18" charset="0"/>
                <a:cs typeface="Times New Roman" panose="02020603050405020304" pitchFamily="18" charset="0"/>
              </a:rPr>
              <a:t>,</a:t>
            </a:r>
            <a:r>
              <a:rPr lang="en-US" altLang="en-US" sz="2400" dirty="0">
                <a:solidFill>
                  <a:srgbClr val="333333"/>
                </a:solidFill>
                <a:latin typeface="Times New Roman" panose="02020603050405020304" pitchFamily="18" charset="0"/>
                <a:cs typeface="Times New Roman" panose="02020603050405020304" pitchFamily="18" charset="0"/>
              </a:rPr>
              <a:t> ε}</a:t>
            </a:r>
            <a:endParaRPr lang="en-IN" sz="24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2E5CC1F8-329E-474C-A2FA-95684F11B640}"/>
              </a:ext>
            </a:extLst>
          </p:cNvPr>
          <p:cNvSpPr txBox="1"/>
          <p:nvPr/>
        </p:nvSpPr>
        <p:spPr>
          <a:xfrm>
            <a:off x="2039618" y="4430980"/>
            <a:ext cx="899605" cy="461665"/>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{a,</a:t>
            </a:r>
            <a:r>
              <a:rPr lang="en-US" altLang="en-US" sz="2400" dirty="0">
                <a:solidFill>
                  <a:srgbClr val="333333"/>
                </a:solidFill>
                <a:latin typeface="Times New Roman" panose="02020603050405020304" pitchFamily="18" charset="0"/>
                <a:cs typeface="Times New Roman" panose="02020603050405020304" pitchFamily="18" charset="0"/>
              </a:rPr>
              <a:t> ε}</a:t>
            </a:r>
            <a:endParaRPr lang="en-IN" sz="24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97A867BA-3C8A-4B3A-B89F-05050F44CEBA}"/>
              </a:ext>
            </a:extLst>
          </p:cNvPr>
          <p:cNvSpPr txBox="1"/>
          <p:nvPr/>
        </p:nvSpPr>
        <p:spPr>
          <a:xfrm>
            <a:off x="1759549" y="4877344"/>
            <a:ext cx="1497526" cy="461665"/>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c,a,d,b</a:t>
            </a:r>
            <a:r>
              <a:rPr lang="en-IN" sz="2400" dirty="0">
                <a:latin typeface="Times New Roman" panose="02020603050405020304" pitchFamily="18" charset="0"/>
                <a:cs typeface="Times New Roman" panose="02020603050405020304" pitchFamily="18" charset="0"/>
              </a:rPr>
              <a:t>,</a:t>
            </a:r>
            <a:r>
              <a:rPr lang="en-US" altLang="en-US" sz="2400" dirty="0">
                <a:solidFill>
                  <a:srgbClr val="333333"/>
                </a:solidFill>
                <a:latin typeface="Times New Roman" panose="02020603050405020304" pitchFamily="18" charset="0"/>
                <a:cs typeface="Times New Roman" panose="02020603050405020304" pitchFamily="18" charset="0"/>
              </a:rPr>
              <a:t>ε}</a:t>
            </a:r>
            <a:endParaRPr lang="en-IN" sz="24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DBEAB560-BAA3-4790-AEEE-E18B4EF4DC00}"/>
              </a:ext>
            </a:extLst>
          </p:cNvPr>
          <p:cNvSpPr txBox="1"/>
          <p:nvPr/>
        </p:nvSpPr>
        <p:spPr>
          <a:xfrm>
            <a:off x="2039617" y="5322106"/>
            <a:ext cx="899605" cy="461665"/>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{c,</a:t>
            </a:r>
            <a:r>
              <a:rPr lang="en-US" altLang="en-US" sz="2400" dirty="0">
                <a:solidFill>
                  <a:srgbClr val="333333"/>
                </a:solidFill>
                <a:latin typeface="Times New Roman" panose="02020603050405020304" pitchFamily="18" charset="0"/>
                <a:cs typeface="Times New Roman" panose="02020603050405020304" pitchFamily="18" charset="0"/>
              </a:rPr>
              <a:t> ε}</a:t>
            </a:r>
            <a:endParaRPr lang="en-IN" sz="2400"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EBDEB56D-A1E9-456F-A8A2-82E7725F9127}"/>
              </a:ext>
            </a:extLst>
          </p:cNvPr>
          <p:cNvSpPr txBox="1"/>
          <p:nvPr/>
        </p:nvSpPr>
        <p:spPr>
          <a:xfrm>
            <a:off x="1922002" y="5822890"/>
            <a:ext cx="1130439" cy="461665"/>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a,d</a:t>
            </a:r>
            <a:r>
              <a:rPr lang="en-IN" sz="2400" dirty="0">
                <a:latin typeface="Times New Roman" panose="02020603050405020304" pitchFamily="18" charset="0"/>
                <a:cs typeface="Times New Roman" panose="02020603050405020304" pitchFamily="18" charset="0"/>
              </a:rPr>
              <a:t>,</a:t>
            </a:r>
            <a:r>
              <a:rPr lang="en-US" altLang="en-US" sz="2400" dirty="0">
                <a:solidFill>
                  <a:srgbClr val="333333"/>
                </a:solidFill>
                <a:latin typeface="Times New Roman" panose="02020603050405020304" pitchFamily="18" charset="0"/>
                <a:cs typeface="Times New Roman" panose="02020603050405020304" pitchFamily="18" charset="0"/>
              </a:rPr>
              <a:t> ε}</a:t>
            </a:r>
            <a:endParaRPr lang="en-IN" sz="2400" dirty="0">
              <a:latin typeface="Times New Roman" panose="02020603050405020304" pitchFamily="18" charset="0"/>
              <a:cs typeface="Times New Roman" panose="02020603050405020304" pitchFamily="18" charset="0"/>
            </a:endParaRPr>
          </a:p>
        </p:txBody>
      </p:sp>
      <p:pic>
        <p:nvPicPr>
          <p:cNvPr id="21" name="Picture 2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702304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 calcmode="lin" valueType="num">
                                      <p:cBhvr additive="base">
                                        <p:cTn id="27"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 calcmode="lin" valueType="num">
                                      <p:cBhvr additive="base">
                                        <p:cTn id="31"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down)">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down)">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wipe(down)">
                                      <p:cBhvr>
                                        <p:cTn id="52" dur="500"/>
                                        <p:tgtEl>
                                          <p:spTgt spid="2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down)">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down)">
                                      <p:cBhvr>
                                        <p:cTn id="62" dur="500"/>
                                        <p:tgtEl>
                                          <p:spTgt spid="23"/>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ppt_w</p:attrName>
                                        </p:attrNameLst>
                                      </p:cBhvr>
                                      <p:tavLst>
                                        <p:tav tm="0">
                                          <p:val>
                                            <p:fltVal val="0"/>
                                          </p:val>
                                        </p:tav>
                                        <p:tav tm="100000">
                                          <p:val>
                                            <p:strVal val="#ppt_w"/>
                                          </p:val>
                                        </p:tav>
                                      </p:tavLst>
                                    </p:anim>
                                    <p:anim calcmode="lin" valueType="num">
                                      <p:cBhvr>
                                        <p:cTn id="68" dur="500" fill="hold"/>
                                        <p:tgtEl>
                                          <p:spTgt spid="17"/>
                                        </p:tgtEl>
                                        <p:attrNameLst>
                                          <p:attrName>ppt_h</p:attrName>
                                        </p:attrNameLst>
                                      </p:cBhvr>
                                      <p:tavLst>
                                        <p:tav tm="0">
                                          <p:val>
                                            <p:fltVal val="0"/>
                                          </p:val>
                                        </p:tav>
                                        <p:tav tm="100000">
                                          <p:val>
                                            <p:strVal val="#ppt_h"/>
                                          </p:val>
                                        </p:tav>
                                      </p:tavLst>
                                    </p:anim>
                                    <p:animEffect transition="in" filter="fade">
                                      <p:cBhvr>
                                        <p:cTn id="69" dur="500"/>
                                        <p:tgtEl>
                                          <p:spTgt spid="1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5"/>
                                        </p:tgtEl>
                                        <p:attrNameLst>
                                          <p:attrName>style.visibility</p:attrName>
                                        </p:attrNameLst>
                                      </p:cBhvr>
                                      <p:to>
                                        <p:strVal val="visible"/>
                                      </p:to>
                                    </p:set>
                                    <p:animEffect transition="in" filter="wipe(down)">
                                      <p:cBhvr>
                                        <p:cTn id="74" dur="500"/>
                                        <p:tgtEl>
                                          <p:spTgt spid="5"/>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wipe(down)">
                                      <p:cBhvr>
                                        <p:cTn id="79" dur="500"/>
                                        <p:tgtEl>
                                          <p:spTgt spid="1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wipe(down)">
                                      <p:cBhvr>
                                        <p:cTn id="84" dur="500"/>
                                        <p:tgtEl>
                                          <p:spTgt spid="14"/>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nodeType="clickEffect">
                                  <p:stCondLst>
                                    <p:cond delay="0"/>
                                  </p:stCondLst>
                                  <p:childTnLst>
                                    <p:set>
                                      <p:cBhvr>
                                        <p:cTn id="88" dur="1" fill="hold">
                                          <p:stCondLst>
                                            <p:cond delay="0"/>
                                          </p:stCondLst>
                                        </p:cTn>
                                        <p:tgtEl>
                                          <p:spTgt spid="15">
                                            <p:txEl>
                                              <p:pRg st="0" end="0"/>
                                            </p:txEl>
                                          </p:spTgt>
                                        </p:tgtEl>
                                        <p:attrNameLst>
                                          <p:attrName>style.visibility</p:attrName>
                                        </p:attrNameLst>
                                      </p:cBhvr>
                                      <p:to>
                                        <p:strVal val="visible"/>
                                      </p:to>
                                    </p:set>
                                    <p:animEffect transition="in" filter="wipe(down)">
                                      <p:cBhvr>
                                        <p:cTn id="89" dur="500"/>
                                        <p:tgtEl>
                                          <p:spTgt spid="15">
                                            <p:txEl>
                                              <p:pRg st="0" end="0"/>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nodeType="clickEffect">
                                  <p:stCondLst>
                                    <p:cond delay="0"/>
                                  </p:stCondLst>
                                  <p:childTnLst>
                                    <p:set>
                                      <p:cBhvr>
                                        <p:cTn id="93" dur="1" fill="hold">
                                          <p:stCondLst>
                                            <p:cond delay="0"/>
                                          </p:stCondLst>
                                        </p:cTn>
                                        <p:tgtEl>
                                          <p:spTgt spid="22">
                                            <p:txEl>
                                              <p:pRg st="0" end="0"/>
                                            </p:txEl>
                                          </p:spTgt>
                                        </p:tgtEl>
                                        <p:attrNameLst>
                                          <p:attrName>style.visibility</p:attrName>
                                        </p:attrNameLst>
                                      </p:cBhvr>
                                      <p:to>
                                        <p:strVal val="visible"/>
                                      </p:to>
                                    </p:set>
                                    <p:animEffect transition="in" filter="wipe(down)">
                                      <p:cBhvr>
                                        <p:cTn id="94"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4" grpId="0"/>
      <p:bldP spid="23" grpId="0"/>
      <p:bldP spid="24" grpId="0"/>
      <p:bldP spid="25" grpId="0"/>
      <p:bldP spid="26" grpId="0"/>
      <p:bldP spid="2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784506"/>
            <a:ext cx="8229600" cy="5059363"/>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US" altLang="en-US" dirty="0">
                <a:latin typeface="Times New Roman" panose="02020603050405020304" pitchFamily="18" charset="0"/>
                <a:cs typeface="Times New Roman" panose="02020603050405020304" pitchFamily="18" charset="0"/>
              </a:rPr>
              <a:t>Calculate the follow function of production rules:</a:t>
            </a:r>
          </a:p>
          <a:p>
            <a:pPr marL="0" indent="0" fontAlgn="base">
              <a:buNone/>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 → </a:t>
            </a:r>
            <a:r>
              <a:rPr lang="en-IN" dirty="0" err="1">
                <a:latin typeface="Times New Roman" panose="02020603050405020304" pitchFamily="18" charset="0"/>
                <a:cs typeface="Times New Roman" panose="02020603050405020304" pitchFamily="18" charset="0"/>
              </a:rPr>
              <a:t>aBDh</a:t>
            </a:r>
            <a:endParaRPr lang="en-IN" dirty="0">
              <a:latin typeface="Times New Roman" panose="02020603050405020304" pitchFamily="18" charset="0"/>
              <a:cs typeface="Times New Roman" panose="02020603050405020304" pitchFamily="18" charset="0"/>
            </a:endParaRPr>
          </a:p>
          <a:p>
            <a:pPr marL="0" indent="0" fontAlgn="base">
              <a:buNone/>
            </a:pPr>
            <a:r>
              <a:rPr lang="en-IN" dirty="0">
                <a:latin typeface="Times New Roman" panose="02020603050405020304" pitchFamily="18" charset="0"/>
                <a:cs typeface="Times New Roman" panose="02020603050405020304" pitchFamily="18" charset="0"/>
              </a:rPr>
              <a:t>		B → </a:t>
            </a:r>
            <a:r>
              <a:rPr lang="en-IN" dirty="0" err="1">
                <a:latin typeface="Times New Roman" panose="02020603050405020304" pitchFamily="18" charset="0"/>
                <a:cs typeface="Times New Roman" panose="02020603050405020304" pitchFamily="18" charset="0"/>
              </a:rPr>
              <a:t>cC</a:t>
            </a:r>
            <a:endParaRPr lang="en-IN" dirty="0">
              <a:latin typeface="Times New Roman" panose="02020603050405020304" pitchFamily="18" charset="0"/>
              <a:cs typeface="Times New Roman" panose="02020603050405020304" pitchFamily="18" charset="0"/>
            </a:endParaRPr>
          </a:p>
          <a:p>
            <a:pPr marL="0" indent="0" fontAlgn="base">
              <a:buNone/>
            </a:pPr>
            <a:r>
              <a:rPr lang="en-IN" dirty="0">
                <a:latin typeface="Times New Roman" panose="02020603050405020304" pitchFamily="18" charset="0"/>
                <a:cs typeface="Times New Roman" panose="02020603050405020304" pitchFamily="18" charset="0"/>
              </a:rPr>
              <a:t>		C → </a:t>
            </a:r>
            <a:r>
              <a:rPr lang="en-IN" dirty="0" err="1">
                <a:latin typeface="Times New Roman" panose="02020603050405020304" pitchFamily="18" charset="0"/>
                <a:cs typeface="Times New Roman" panose="02020603050405020304" pitchFamily="18" charset="0"/>
              </a:rPr>
              <a:t>bC</a:t>
            </a:r>
            <a:r>
              <a:rPr lang="en-IN" dirty="0">
                <a:latin typeface="Times New Roman" panose="02020603050405020304" pitchFamily="18" charset="0"/>
                <a:cs typeface="Times New Roman" panose="02020603050405020304" pitchFamily="18" charset="0"/>
              </a:rPr>
              <a:t> / ∈</a:t>
            </a:r>
          </a:p>
          <a:p>
            <a:pPr marL="0" indent="0" fontAlgn="base">
              <a:buNone/>
            </a:pPr>
            <a:r>
              <a:rPr lang="en-IN" dirty="0">
                <a:latin typeface="Times New Roman" panose="02020603050405020304" pitchFamily="18" charset="0"/>
                <a:cs typeface="Times New Roman" panose="02020603050405020304" pitchFamily="18" charset="0"/>
              </a:rPr>
              <a:t>		D → EF</a:t>
            </a:r>
          </a:p>
          <a:p>
            <a:pPr marL="0" indent="0" fontAlgn="base">
              <a:buNone/>
            </a:pPr>
            <a:r>
              <a:rPr lang="en-IN" dirty="0">
                <a:latin typeface="Times New Roman" panose="02020603050405020304" pitchFamily="18" charset="0"/>
                <a:cs typeface="Times New Roman" panose="02020603050405020304" pitchFamily="18" charset="0"/>
              </a:rPr>
              <a:t>		E → g / ∈</a:t>
            </a:r>
          </a:p>
          <a:p>
            <a:pPr marL="0" indent="0" fontAlgn="base">
              <a:buNone/>
            </a:pPr>
            <a:r>
              <a:rPr lang="en-IN" dirty="0">
                <a:latin typeface="Times New Roman" panose="02020603050405020304" pitchFamily="18" charset="0"/>
                <a:cs typeface="Times New Roman" panose="02020603050405020304" pitchFamily="18" charset="0"/>
              </a:rPr>
              <a:t>		F → f /∈ </a:t>
            </a:r>
          </a:p>
          <a:p>
            <a:pPr marL="0" marR="0" lvl="0" indent="0" algn="just" defTabSz="914400" rtl="0" eaLnBrk="0" fontAlgn="base" latinLnBrk="0" hangingPunct="0">
              <a:lnSpc>
                <a:spcPct val="100000"/>
              </a:lnSpc>
              <a:spcBef>
                <a:spcPct val="0"/>
              </a:spcBef>
              <a:spcAft>
                <a:spcPct val="0"/>
              </a:spcAft>
              <a:buClrTx/>
              <a:buSzTx/>
              <a:buFontTx/>
              <a:buNone/>
              <a:tabLst/>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651633B-EFE3-4B5D-BB50-14A4C9B15633}"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on Follow Function</a:t>
            </a:r>
          </a:p>
        </p:txBody>
      </p:sp>
      <p:graphicFrame>
        <p:nvGraphicFramePr>
          <p:cNvPr id="17" name="Table 17">
            <a:extLst>
              <a:ext uri="{FF2B5EF4-FFF2-40B4-BE49-F238E27FC236}">
                <a16:creationId xmlns:a16="http://schemas.microsoft.com/office/drawing/2014/main" id="{2D385893-6C4D-4948-83F9-B59B0BFB87C2}"/>
              </a:ext>
            </a:extLst>
          </p:cNvPr>
          <p:cNvGraphicFramePr>
            <a:graphicFrameLocks noGrp="1"/>
          </p:cNvGraphicFramePr>
          <p:nvPr>
            <p:extLst>
              <p:ext uri="{D42A27DB-BD31-4B8C-83A1-F6EECF244321}">
                <p14:modId xmlns:p14="http://schemas.microsoft.com/office/powerpoint/2010/main" val="361171178"/>
              </p:ext>
            </p:extLst>
          </p:nvPr>
        </p:nvGraphicFramePr>
        <p:xfrm>
          <a:off x="4400550" y="3837822"/>
          <a:ext cx="4191000" cy="2773680"/>
        </p:xfrm>
        <a:graphic>
          <a:graphicData uri="http://schemas.openxmlformats.org/drawingml/2006/table">
            <a:tbl>
              <a:tblPr firstRow="1" bandRow="1">
                <a:tableStyleId>{21E4AEA4-8DFA-4A89-87EB-49C32662AFE0}</a:tableStyleId>
              </a:tblPr>
              <a:tblGrid>
                <a:gridCol w="1676400">
                  <a:extLst>
                    <a:ext uri="{9D8B030D-6E8A-4147-A177-3AD203B41FA5}">
                      <a16:colId xmlns:a16="http://schemas.microsoft.com/office/drawing/2014/main" val="3571097689"/>
                    </a:ext>
                  </a:extLst>
                </a:gridCol>
                <a:gridCol w="2514600">
                  <a:extLst>
                    <a:ext uri="{9D8B030D-6E8A-4147-A177-3AD203B41FA5}">
                      <a16:colId xmlns:a16="http://schemas.microsoft.com/office/drawing/2014/main" val="561249135"/>
                    </a:ext>
                  </a:extLst>
                </a:gridCol>
              </a:tblGrid>
              <a:tr h="370840">
                <a:tc>
                  <a:txBody>
                    <a:bodyPr/>
                    <a:lstStyle/>
                    <a:p>
                      <a:r>
                        <a:rPr lang="en-IN" sz="2000" dirty="0"/>
                        <a:t>Symbols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Follow()</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20641"/>
                  </a:ext>
                </a:extLst>
              </a:tr>
              <a:tr h="370840">
                <a:tc>
                  <a:txBody>
                    <a:bodyPr/>
                    <a:lstStyle/>
                    <a:p>
                      <a:r>
                        <a:rPr lang="en-IN" sz="2000" dirty="0"/>
                        <a:t>S</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443980"/>
                  </a:ext>
                </a:extLst>
              </a:tr>
              <a:tr h="370840">
                <a:tc>
                  <a:txBody>
                    <a:bodyPr/>
                    <a:lstStyle/>
                    <a:p>
                      <a:r>
                        <a:rPr lang="en-IN" sz="2000" dirty="0"/>
                        <a:t>B</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2192522"/>
                  </a:ext>
                </a:extLst>
              </a:tr>
              <a:tr h="370840">
                <a:tc>
                  <a:txBody>
                    <a:bodyPr/>
                    <a:lstStyle/>
                    <a:p>
                      <a:r>
                        <a:rPr lang="en-IN" sz="2000" dirty="0"/>
                        <a:t>C</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121014"/>
                  </a:ext>
                </a:extLst>
              </a:tr>
              <a:tr h="370840">
                <a:tc>
                  <a:txBody>
                    <a:bodyPr/>
                    <a:lstStyle/>
                    <a:p>
                      <a:r>
                        <a:rPr lang="en-IN" sz="2000" dirty="0"/>
                        <a:t>D</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9961594"/>
                  </a:ext>
                </a:extLst>
              </a:tr>
              <a:tr h="370840">
                <a:tc>
                  <a:txBody>
                    <a:bodyPr/>
                    <a:lstStyle/>
                    <a:p>
                      <a:r>
                        <a:rPr lang="en-IN" sz="2000" dirty="0"/>
                        <a:t>E</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612043"/>
                  </a:ext>
                </a:extLst>
              </a:tr>
              <a:tr h="370840">
                <a:tc>
                  <a:txBody>
                    <a:bodyPr/>
                    <a:lstStyle/>
                    <a:p>
                      <a:r>
                        <a:rPr lang="en-IN" sz="2000" dirty="0"/>
                        <a:t>F</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2570319"/>
                  </a:ext>
                </a:extLst>
              </a:tr>
            </a:tbl>
          </a:graphicData>
        </a:graphic>
      </p:graphicFrame>
      <p:graphicFrame>
        <p:nvGraphicFramePr>
          <p:cNvPr id="10" name="Table 17">
            <a:extLst>
              <a:ext uri="{FF2B5EF4-FFF2-40B4-BE49-F238E27FC236}">
                <a16:creationId xmlns:a16="http://schemas.microsoft.com/office/drawing/2014/main" id="{46AAA6DC-040E-4CA1-8E14-914EE653EA3C}"/>
              </a:ext>
            </a:extLst>
          </p:cNvPr>
          <p:cNvGraphicFramePr>
            <a:graphicFrameLocks noGrp="1"/>
          </p:cNvGraphicFramePr>
          <p:nvPr>
            <p:extLst>
              <p:ext uri="{D42A27DB-BD31-4B8C-83A1-F6EECF244321}">
                <p14:modId xmlns:p14="http://schemas.microsoft.com/office/powerpoint/2010/main" val="1224319927"/>
              </p:ext>
            </p:extLst>
          </p:nvPr>
        </p:nvGraphicFramePr>
        <p:xfrm>
          <a:off x="514350" y="3837822"/>
          <a:ext cx="3429000" cy="2773680"/>
        </p:xfrm>
        <a:graphic>
          <a:graphicData uri="http://schemas.openxmlformats.org/drawingml/2006/table">
            <a:tbl>
              <a:tblPr firstRow="1" bandRow="1">
                <a:tableStyleId>{21E4AEA4-8DFA-4A89-87EB-49C32662AFE0}</a:tableStyleId>
              </a:tblPr>
              <a:tblGrid>
                <a:gridCol w="1371600">
                  <a:extLst>
                    <a:ext uri="{9D8B030D-6E8A-4147-A177-3AD203B41FA5}">
                      <a16:colId xmlns:a16="http://schemas.microsoft.com/office/drawing/2014/main" val="3571097689"/>
                    </a:ext>
                  </a:extLst>
                </a:gridCol>
                <a:gridCol w="2057400">
                  <a:extLst>
                    <a:ext uri="{9D8B030D-6E8A-4147-A177-3AD203B41FA5}">
                      <a16:colId xmlns:a16="http://schemas.microsoft.com/office/drawing/2014/main" val="561249135"/>
                    </a:ext>
                  </a:extLst>
                </a:gridCol>
              </a:tblGrid>
              <a:tr h="370840">
                <a:tc>
                  <a:txBody>
                    <a:bodyPr/>
                    <a:lstStyle/>
                    <a:p>
                      <a:r>
                        <a:rPr lang="en-IN" sz="2000" dirty="0"/>
                        <a:t>Symbols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First()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20641"/>
                  </a:ext>
                </a:extLst>
              </a:tr>
              <a:tr h="370840">
                <a:tc>
                  <a:txBody>
                    <a:bodyPr/>
                    <a:lstStyle/>
                    <a:p>
                      <a:r>
                        <a:rPr lang="en-IN" sz="2000" dirty="0"/>
                        <a:t>S</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443980"/>
                  </a:ext>
                </a:extLst>
              </a:tr>
              <a:tr h="370840">
                <a:tc>
                  <a:txBody>
                    <a:bodyPr/>
                    <a:lstStyle/>
                    <a:p>
                      <a:r>
                        <a:rPr lang="en-IN" sz="2000" dirty="0"/>
                        <a:t>B</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2192522"/>
                  </a:ext>
                </a:extLst>
              </a:tr>
              <a:tr h="370840">
                <a:tc>
                  <a:txBody>
                    <a:bodyPr/>
                    <a:lstStyle/>
                    <a:p>
                      <a:r>
                        <a:rPr lang="en-IN" sz="2000" dirty="0"/>
                        <a:t>C</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121014"/>
                  </a:ext>
                </a:extLst>
              </a:tr>
              <a:tr h="370840">
                <a:tc>
                  <a:txBody>
                    <a:bodyPr/>
                    <a:lstStyle/>
                    <a:p>
                      <a:r>
                        <a:rPr lang="en-IN" sz="2000" dirty="0"/>
                        <a:t>D</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9961594"/>
                  </a:ext>
                </a:extLst>
              </a:tr>
              <a:tr h="370840">
                <a:tc>
                  <a:txBody>
                    <a:bodyPr/>
                    <a:lstStyle/>
                    <a:p>
                      <a:r>
                        <a:rPr lang="en-IN" sz="2000" dirty="0"/>
                        <a:t>E</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612043"/>
                  </a:ext>
                </a:extLst>
              </a:tr>
              <a:tr h="370840">
                <a:tc>
                  <a:txBody>
                    <a:bodyPr/>
                    <a:lstStyle/>
                    <a:p>
                      <a:r>
                        <a:rPr lang="en-IN" sz="2000" dirty="0"/>
                        <a:t>F</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2570319"/>
                  </a:ext>
                </a:extLst>
              </a:tr>
            </a:tbl>
          </a:graphicData>
        </a:graphic>
      </p:graphicFrame>
      <p:sp>
        <p:nvSpPr>
          <p:cNvPr id="2" name="TextBox 1">
            <a:extLst>
              <a:ext uri="{FF2B5EF4-FFF2-40B4-BE49-F238E27FC236}">
                <a16:creationId xmlns:a16="http://schemas.microsoft.com/office/drawing/2014/main" id="{F5B856CC-E9FD-44AB-AF7B-72EF477FE7B2}"/>
              </a:ext>
            </a:extLst>
          </p:cNvPr>
          <p:cNvSpPr txBox="1"/>
          <p:nvPr/>
        </p:nvSpPr>
        <p:spPr>
          <a:xfrm>
            <a:off x="2438400" y="4259366"/>
            <a:ext cx="468398" cy="400110"/>
          </a:xfrm>
          <a:prstGeom prst="rect">
            <a:avLst/>
          </a:prstGeom>
          <a:noFill/>
        </p:spPr>
        <p:txBody>
          <a:bodyPr wrap="none" rtlCol="0">
            <a:spAutoFit/>
          </a:bodyPr>
          <a:lstStyle/>
          <a:p>
            <a:r>
              <a:rPr lang="en-IN" sz="2000" dirty="0"/>
              <a:t>{a}</a:t>
            </a:r>
          </a:p>
        </p:txBody>
      </p:sp>
      <p:sp>
        <p:nvSpPr>
          <p:cNvPr id="3" name="TextBox 2">
            <a:extLst>
              <a:ext uri="{FF2B5EF4-FFF2-40B4-BE49-F238E27FC236}">
                <a16:creationId xmlns:a16="http://schemas.microsoft.com/office/drawing/2014/main" id="{F6197D5A-A17E-4CA2-81DA-EBABA8F0F5E4}"/>
              </a:ext>
            </a:extLst>
          </p:cNvPr>
          <p:cNvSpPr txBox="1"/>
          <p:nvPr/>
        </p:nvSpPr>
        <p:spPr>
          <a:xfrm>
            <a:off x="2438400" y="4643182"/>
            <a:ext cx="453970" cy="400110"/>
          </a:xfrm>
          <a:prstGeom prst="rect">
            <a:avLst/>
          </a:prstGeom>
          <a:noFill/>
        </p:spPr>
        <p:txBody>
          <a:bodyPr wrap="none" rtlCol="0">
            <a:spAutoFit/>
          </a:bodyPr>
          <a:lstStyle/>
          <a:p>
            <a:r>
              <a:rPr lang="en-IN" sz="2000" dirty="0"/>
              <a:t>{c}</a:t>
            </a:r>
          </a:p>
        </p:txBody>
      </p:sp>
      <p:sp>
        <p:nvSpPr>
          <p:cNvPr id="5" name="TextBox 4">
            <a:extLst>
              <a:ext uri="{FF2B5EF4-FFF2-40B4-BE49-F238E27FC236}">
                <a16:creationId xmlns:a16="http://schemas.microsoft.com/office/drawing/2014/main" id="{641AA466-0046-42C6-A1C2-474D6495860D}"/>
              </a:ext>
            </a:extLst>
          </p:cNvPr>
          <p:cNvSpPr txBox="1"/>
          <p:nvPr/>
        </p:nvSpPr>
        <p:spPr>
          <a:xfrm>
            <a:off x="2161080" y="5416060"/>
            <a:ext cx="1008609"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{g, f,</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endParaRPr lang="en-IN"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471103E-DEAC-405E-9BA8-DFC8356303FD}"/>
              </a:ext>
            </a:extLst>
          </p:cNvPr>
          <p:cNvSpPr txBox="1"/>
          <p:nvPr/>
        </p:nvSpPr>
        <p:spPr>
          <a:xfrm>
            <a:off x="2228850" y="5024607"/>
            <a:ext cx="795411"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{b,</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endParaRPr lang="en-IN" sz="2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C3BCDD06-2991-4E49-8A82-524CA7E50017}"/>
              </a:ext>
            </a:extLst>
          </p:cNvPr>
          <p:cNvSpPr txBox="1"/>
          <p:nvPr/>
        </p:nvSpPr>
        <p:spPr>
          <a:xfrm>
            <a:off x="2239736" y="5795803"/>
            <a:ext cx="795411"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{g,</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endParaRPr lang="en-IN" sz="20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065E5B33-B322-44BE-A7A1-47AEB87AB349}"/>
              </a:ext>
            </a:extLst>
          </p:cNvPr>
          <p:cNvSpPr txBox="1"/>
          <p:nvPr/>
        </p:nvSpPr>
        <p:spPr>
          <a:xfrm>
            <a:off x="2221298" y="6203245"/>
            <a:ext cx="752129"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{f,</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endParaRPr lang="en-IN" sz="200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EC09ED81-1134-4A7E-858A-CB59719D6566}"/>
              </a:ext>
            </a:extLst>
          </p:cNvPr>
          <p:cNvSpPr txBox="1"/>
          <p:nvPr/>
        </p:nvSpPr>
        <p:spPr>
          <a:xfrm>
            <a:off x="6273315" y="4229527"/>
            <a:ext cx="559769"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043D401C-4811-4CD4-8754-D5899A35BAA8}"/>
              </a:ext>
            </a:extLst>
          </p:cNvPr>
          <p:cNvSpPr txBox="1"/>
          <p:nvPr/>
        </p:nvSpPr>
        <p:spPr>
          <a:xfrm>
            <a:off x="6038474" y="4621232"/>
            <a:ext cx="1029449"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{g, f, h</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3D3E8875-312C-4910-A40C-2EB08491E878}"/>
              </a:ext>
            </a:extLst>
          </p:cNvPr>
          <p:cNvSpPr txBox="1"/>
          <p:nvPr/>
        </p:nvSpPr>
        <p:spPr>
          <a:xfrm>
            <a:off x="6060245" y="5012937"/>
            <a:ext cx="1029449"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{g, f, h</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9BC76581-B563-4318-AA9D-6195E46296AE}"/>
              </a:ext>
            </a:extLst>
          </p:cNvPr>
          <p:cNvSpPr txBox="1"/>
          <p:nvPr/>
        </p:nvSpPr>
        <p:spPr>
          <a:xfrm>
            <a:off x="6309551" y="5410485"/>
            <a:ext cx="55826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{h</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1EBC246B-C727-4216-9E5C-741C08766639}"/>
              </a:ext>
            </a:extLst>
          </p:cNvPr>
          <p:cNvSpPr txBox="1"/>
          <p:nvPr/>
        </p:nvSpPr>
        <p:spPr>
          <a:xfrm>
            <a:off x="6172678" y="5816170"/>
            <a:ext cx="832013"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{f, h</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5ABF9033-249A-4FB8-9D24-7BEF2F3DB4BC}"/>
              </a:ext>
            </a:extLst>
          </p:cNvPr>
          <p:cNvSpPr txBox="1"/>
          <p:nvPr/>
        </p:nvSpPr>
        <p:spPr>
          <a:xfrm>
            <a:off x="6273315" y="6195913"/>
            <a:ext cx="55826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{h</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pic>
        <p:nvPicPr>
          <p:cNvPr id="25" name="Picture 24"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94286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 calcmode="lin" valueType="num">
                                      <p:cBhvr additive="base">
                                        <p:cTn id="27"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 calcmode="lin" valueType="num">
                                      <p:cBhvr additive="base">
                                        <p:cTn id="31"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
                                            <p:txEl>
                                              <p:pRg st="7" end="7"/>
                                            </p:txEl>
                                          </p:spTgt>
                                        </p:tgtEl>
                                        <p:attrNameLst>
                                          <p:attrName>style.visibility</p:attrName>
                                        </p:attrNameLst>
                                      </p:cBhvr>
                                      <p:to>
                                        <p:strVal val="visible"/>
                                      </p:to>
                                    </p:set>
                                    <p:anim calcmode="lin" valueType="num">
                                      <p:cBhvr additive="base">
                                        <p:cTn id="35"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down)">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down)">
                                      <p:cBhvr>
                                        <p:cTn id="46" dur="5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down)">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wipe(down)">
                                      <p:cBhvr>
                                        <p:cTn id="56" dur="500"/>
                                        <p:tgtEl>
                                          <p:spTgt spid="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wipe(down)">
                                      <p:cBhvr>
                                        <p:cTn id="61" dur="500"/>
                                        <p:tgtEl>
                                          <p:spTgt spid="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down)">
                                      <p:cBhvr>
                                        <p:cTn id="66" dur="500"/>
                                        <p:tgtEl>
                                          <p:spTgt spid="12"/>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5"/>
                                        </p:tgtEl>
                                        <p:attrNameLst>
                                          <p:attrName>style.visibility</p:attrName>
                                        </p:attrNameLst>
                                      </p:cBhvr>
                                      <p:to>
                                        <p:strVal val="visible"/>
                                      </p:to>
                                    </p:set>
                                    <p:animEffect transition="in" filter="wipe(down)">
                                      <p:cBhvr>
                                        <p:cTn id="71" dur="500"/>
                                        <p:tgtEl>
                                          <p:spTgt spid="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wipe(down)">
                                      <p:cBhvr>
                                        <p:cTn id="76" dur="500"/>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wipe(down)">
                                      <p:cBhvr>
                                        <p:cTn id="81" dur="500"/>
                                        <p:tgtEl>
                                          <p:spTgt spid="2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grpId="0" nodeType="click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wipe(down)">
                                      <p:cBhvr>
                                        <p:cTn id="86" dur="500"/>
                                        <p:tgtEl>
                                          <p:spTgt spid="2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grpId="0" nodeType="click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wipe(down)">
                                      <p:cBhvr>
                                        <p:cTn id="91" dur="500"/>
                                        <p:tgtEl>
                                          <p:spTgt spid="26"/>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grpId="0" nodeType="click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wipe(down)">
                                      <p:cBhvr>
                                        <p:cTn id="96" dur="500"/>
                                        <p:tgtEl>
                                          <p:spTgt spid="28"/>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nodeType="clickEffect">
                                  <p:stCondLst>
                                    <p:cond delay="0"/>
                                  </p:stCondLst>
                                  <p:childTnLst>
                                    <p:set>
                                      <p:cBhvr>
                                        <p:cTn id="100" dur="1" fill="hold">
                                          <p:stCondLst>
                                            <p:cond delay="0"/>
                                          </p:stCondLst>
                                        </p:cTn>
                                        <p:tgtEl>
                                          <p:spTgt spid="30">
                                            <p:txEl>
                                              <p:pRg st="0" end="0"/>
                                            </p:txEl>
                                          </p:spTgt>
                                        </p:tgtEl>
                                        <p:attrNameLst>
                                          <p:attrName>style.visibility</p:attrName>
                                        </p:attrNameLst>
                                      </p:cBhvr>
                                      <p:to>
                                        <p:strVal val="visible"/>
                                      </p:to>
                                    </p:set>
                                    <p:animEffect transition="in" filter="wipe(down)">
                                      <p:cBhvr>
                                        <p:cTn id="101" dur="500"/>
                                        <p:tgtEl>
                                          <p:spTgt spid="30">
                                            <p:txEl>
                                              <p:pRg st="0" end="0"/>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grpId="0" nodeType="clickEffect">
                                  <p:stCondLst>
                                    <p:cond delay="0"/>
                                  </p:stCondLst>
                                  <p:childTnLst>
                                    <p:set>
                                      <p:cBhvr>
                                        <p:cTn id="105" dur="1" fill="hold">
                                          <p:stCondLst>
                                            <p:cond delay="0"/>
                                          </p:stCondLst>
                                        </p:cTn>
                                        <p:tgtEl>
                                          <p:spTgt spid="32"/>
                                        </p:tgtEl>
                                        <p:attrNameLst>
                                          <p:attrName>style.visibility</p:attrName>
                                        </p:attrNameLst>
                                      </p:cBhvr>
                                      <p:to>
                                        <p:strVal val="visible"/>
                                      </p:to>
                                    </p:set>
                                    <p:animEffect transition="in" filter="wipe(down)">
                                      <p:cBhvr>
                                        <p:cTn id="10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12" grpId="0"/>
      <p:bldP spid="14" grpId="0"/>
      <p:bldP spid="20" grpId="0"/>
      <p:bldP spid="22" grpId="0"/>
      <p:bldP spid="24" grpId="0"/>
      <p:bldP spid="26" grpId="0"/>
      <p:bldP spid="28" grpId="0"/>
      <p:bldP spid="3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755930"/>
            <a:ext cx="8229600" cy="5059363"/>
          </a:xfrm>
        </p:spPr>
        <p:txBody>
          <a:bodyPr>
            <a:normAutofit/>
          </a:bodyPr>
          <a:lstStyle/>
          <a:p>
            <a:pPr marL="0" indent="0" algn="just">
              <a:buNone/>
            </a:pPr>
            <a:endParaRPr lang="en-US" b="1" u="sng" dirty="0">
              <a:latin typeface="Times New Roman" panose="02020603050405020304" pitchFamily="18" charset="0"/>
              <a:cs typeface="Times New Roman" panose="02020603050405020304" pitchFamily="18" charset="0"/>
            </a:endParaRPr>
          </a:p>
          <a:p>
            <a:pPr marL="0" indent="0" algn="just">
              <a:buNone/>
            </a:pPr>
            <a:r>
              <a:rPr lang="en-US" b="1" u="sng" dirty="0">
                <a:latin typeface="Times New Roman" panose="02020603050405020304" pitchFamily="18" charset="0"/>
                <a:cs typeface="Times New Roman" panose="02020603050405020304" pitchFamily="18" charset="0"/>
              </a:rPr>
              <a:t>Left Recursion:-</a:t>
            </a:r>
          </a:p>
          <a:p>
            <a:pPr marL="0" indent="0" algn="just">
              <a:buNone/>
            </a:pPr>
            <a:endParaRPr lang="en-US" b="1" u="sng"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A production of grammar is said to have </a:t>
            </a:r>
            <a:r>
              <a:rPr lang="en-US" b="1" dirty="0">
                <a:latin typeface="Times New Roman" panose="02020603050405020304" pitchFamily="18" charset="0"/>
                <a:cs typeface="Times New Roman" panose="02020603050405020304" pitchFamily="18" charset="0"/>
              </a:rPr>
              <a:t>left recursion</a:t>
            </a:r>
            <a:r>
              <a:rPr lang="en-US" dirty="0">
                <a:latin typeface="Times New Roman" panose="02020603050405020304" pitchFamily="18" charset="0"/>
                <a:cs typeface="Times New Roman" panose="02020603050405020304" pitchFamily="18" charset="0"/>
              </a:rPr>
              <a:t> if the leftmost variable of its RHS is same as variable of its LHS.</a:t>
            </a:r>
          </a:p>
          <a:p>
            <a:pPr marL="0" indent="0" algn="just">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1" u="sng" dirty="0">
              <a:latin typeface="Times New Roman" panose="02020603050405020304" pitchFamily="18" charset="0"/>
              <a:cs typeface="Times New Roman" panose="02020603050405020304" pitchFamily="18" charset="0"/>
            </a:endParaRPr>
          </a:p>
          <a:p>
            <a:pPr marL="0" indent="0" algn="just" fontAlgn="base">
              <a:buNone/>
            </a:pPr>
            <a:endParaRPr lang="en-US" b="1" u="sng" dirty="0">
              <a:latin typeface="Times New Roman" panose="02020603050405020304" pitchFamily="18" charset="0"/>
              <a:cs typeface="Times New Roman" panose="02020603050405020304" pitchFamily="18" charset="0"/>
            </a:endParaRPr>
          </a:p>
          <a:p>
            <a:pPr marL="0" indent="0" algn="just" fontAlgn="base">
              <a:buNone/>
            </a:pPr>
            <a:endParaRPr lang="en-US" b="1" u="sng" dirty="0">
              <a:latin typeface="Times New Roman" panose="02020603050405020304" pitchFamily="18" charset="0"/>
              <a:cs typeface="Times New Roman" panose="02020603050405020304" pitchFamily="18" charset="0"/>
            </a:endParaRPr>
          </a:p>
          <a:p>
            <a:pPr marL="0" indent="0" algn="just" fontAlgn="base">
              <a:buNone/>
            </a:pPr>
            <a:r>
              <a:rPr lang="en-US" b="1" u="sng" dirty="0">
                <a:latin typeface="Times New Roman" panose="02020603050405020304" pitchFamily="18" charset="0"/>
                <a:cs typeface="Times New Roman" panose="02020603050405020304" pitchFamily="18" charset="0"/>
              </a:rPr>
              <a:t>Right Recursion-</a:t>
            </a:r>
          </a:p>
          <a:p>
            <a:pPr marL="0" indent="0" algn="just" fontAlgn="base">
              <a:buNone/>
            </a:pPr>
            <a:endParaRPr lang="en-US" dirty="0">
              <a:latin typeface="Times New Roman" panose="02020603050405020304" pitchFamily="18" charset="0"/>
              <a:cs typeface="Times New Roman" panose="02020603050405020304" pitchFamily="18" charset="0"/>
            </a:endParaRPr>
          </a:p>
          <a:p>
            <a:pPr marL="0" indent="0" algn="just" fontAlgn="base">
              <a:buNone/>
            </a:pPr>
            <a:r>
              <a:rPr lang="en-US" dirty="0">
                <a:latin typeface="Times New Roman" panose="02020603050405020304" pitchFamily="18" charset="0"/>
                <a:cs typeface="Times New Roman" panose="02020603050405020304" pitchFamily="18" charset="0"/>
              </a:rPr>
              <a:t>A production of grammar is said to have </a:t>
            </a:r>
            <a:r>
              <a:rPr lang="en-US" b="1" dirty="0">
                <a:latin typeface="Times New Roman" panose="02020603050405020304" pitchFamily="18" charset="0"/>
                <a:cs typeface="Times New Roman" panose="02020603050405020304" pitchFamily="18" charset="0"/>
              </a:rPr>
              <a:t>right recursion</a:t>
            </a:r>
            <a:r>
              <a:rPr lang="en-US" dirty="0">
                <a:latin typeface="Times New Roman" panose="02020603050405020304" pitchFamily="18" charset="0"/>
                <a:cs typeface="Times New Roman" panose="02020603050405020304" pitchFamily="18" charset="0"/>
              </a:rPr>
              <a:t> if the rightmost variable of its RHS is same as variable of its LHS</a:t>
            </a:r>
          </a:p>
          <a:p>
            <a:pPr marL="0" indent="0" algn="just">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p:txBody>
      </p:sp>
      <p:sp>
        <p:nvSpPr>
          <p:cNvPr id="4" name="Date Placeholder 3"/>
          <p:cNvSpPr>
            <a:spLocks noGrp="1"/>
          </p:cNvSpPr>
          <p:nvPr>
            <p:ph type="dt" sz="half" idx="10"/>
          </p:nvPr>
        </p:nvSpPr>
        <p:spPr/>
        <p:txBody>
          <a:bodyPr/>
          <a:lstStyle/>
          <a:p>
            <a:fld id="{61B01545-0AE5-4930-982E-D4A7D9DB63D9}"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Recursion</a:t>
            </a:r>
          </a:p>
        </p:txBody>
      </p:sp>
      <p:sp>
        <p:nvSpPr>
          <p:cNvPr id="2" name="Rectangle: Rounded Corners 1">
            <a:extLst>
              <a:ext uri="{FF2B5EF4-FFF2-40B4-BE49-F238E27FC236}">
                <a16:creationId xmlns:a16="http://schemas.microsoft.com/office/drawing/2014/main" id="{320F8E95-2DD2-45A5-822D-68C0304251FD}"/>
              </a:ext>
            </a:extLst>
          </p:cNvPr>
          <p:cNvSpPr/>
          <p:nvPr/>
        </p:nvSpPr>
        <p:spPr>
          <a:xfrm>
            <a:off x="3200400" y="2523611"/>
            <a:ext cx="2743200" cy="762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just">
              <a:buNone/>
            </a:pPr>
            <a:r>
              <a:rPr lang="en-US"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A-&gt;A</a:t>
            </a:r>
            <a:r>
              <a:rPr lang="el-GR"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α</a:t>
            </a:r>
            <a:r>
              <a:rPr lang="en-IN"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l-GR"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β</a:t>
            </a:r>
            <a:endParaRPr lang="en-IN"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721A2FD0-4D97-46E9-8158-088818F92F71}"/>
              </a:ext>
            </a:extLst>
          </p:cNvPr>
          <p:cNvSpPr/>
          <p:nvPr/>
        </p:nvSpPr>
        <p:spPr>
          <a:xfrm>
            <a:off x="3211286" y="5181600"/>
            <a:ext cx="2743200" cy="762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just">
              <a:buNone/>
            </a:pPr>
            <a:r>
              <a:rPr lang="en-US"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A-&gt;</a:t>
            </a:r>
            <a:r>
              <a:rPr lang="el-GR"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α</a:t>
            </a:r>
            <a:r>
              <a:rPr lang="en-IN"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l-GR"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β</a:t>
            </a:r>
            <a:endParaRPr lang="en-IN"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73175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 calcmode="lin" valueType="num">
                                      <p:cBhvr additive="base">
                                        <p:cTn id="7"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8" end="8"/>
                                            </p:txEl>
                                          </p:spTgt>
                                        </p:tgtEl>
                                        <p:attrNameLst>
                                          <p:attrName>style.visibility</p:attrName>
                                        </p:attrNameLst>
                                      </p:cBhvr>
                                      <p:to>
                                        <p:strVal val="visible"/>
                                      </p:to>
                                    </p:set>
                                    <p:anim calcmode="lin" valueType="num">
                                      <p:cBhvr additive="base">
                                        <p:cTn id="13" dur="500" fill="hold"/>
                                        <p:tgtEl>
                                          <p:spTgt spid="16">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Effect transition="in" filter="barn(inVertical)">
                                      <p:cBhvr>
                                        <p:cTn id="19" dur="500"/>
                                        <p:tgtEl>
                                          <p:spTgt spid="16">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6">
                                            <p:txEl>
                                              <p:pRg st="10" end="10"/>
                                            </p:txEl>
                                          </p:spTgt>
                                        </p:tgtEl>
                                        <p:attrNameLst>
                                          <p:attrName>style.visibility</p:attrName>
                                        </p:attrNameLst>
                                      </p:cBhvr>
                                      <p:to>
                                        <p:strVal val="visible"/>
                                      </p:to>
                                    </p:set>
                                    <p:animEffect transition="in" filter="barn(inVertical)">
                                      <p:cBhvr>
                                        <p:cTn id="24" dur="500"/>
                                        <p:tgtEl>
                                          <p:spTgt spid="16">
                                            <p:txEl>
                                              <p:pRg st="10" end="1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p:cTn id="29" dur="1000" fill="hold"/>
                                        <p:tgtEl>
                                          <p:spTgt spid="2"/>
                                        </p:tgtEl>
                                        <p:attrNameLst>
                                          <p:attrName>ppt_w</p:attrName>
                                        </p:attrNameLst>
                                      </p:cBhvr>
                                      <p:tavLst>
                                        <p:tav tm="0">
                                          <p:val>
                                            <p:fltVal val="0"/>
                                          </p:val>
                                        </p:tav>
                                        <p:tav tm="100000">
                                          <p:val>
                                            <p:strVal val="#ppt_w"/>
                                          </p:val>
                                        </p:tav>
                                      </p:tavLst>
                                    </p:anim>
                                    <p:anim calcmode="lin" valueType="num">
                                      <p:cBhvr>
                                        <p:cTn id="30" dur="1000" fill="hold"/>
                                        <p:tgtEl>
                                          <p:spTgt spid="2"/>
                                        </p:tgtEl>
                                        <p:attrNameLst>
                                          <p:attrName>ppt_h</p:attrName>
                                        </p:attrNameLst>
                                      </p:cBhvr>
                                      <p:tavLst>
                                        <p:tav tm="0">
                                          <p:val>
                                            <p:fltVal val="0"/>
                                          </p:val>
                                        </p:tav>
                                        <p:tav tm="100000">
                                          <p:val>
                                            <p:strVal val="#ppt_h"/>
                                          </p:val>
                                        </p:tav>
                                      </p:tavLst>
                                    </p:anim>
                                    <p:anim calcmode="lin" valueType="num">
                                      <p:cBhvr>
                                        <p:cTn id="31" dur="1000" fill="hold"/>
                                        <p:tgtEl>
                                          <p:spTgt spid="2"/>
                                        </p:tgtEl>
                                        <p:attrNameLst>
                                          <p:attrName>style.rotation</p:attrName>
                                        </p:attrNameLst>
                                      </p:cBhvr>
                                      <p:tavLst>
                                        <p:tav tm="0">
                                          <p:val>
                                            <p:fltVal val="90"/>
                                          </p:val>
                                        </p:tav>
                                        <p:tav tm="100000">
                                          <p:val>
                                            <p:fltVal val="0"/>
                                          </p:val>
                                        </p:tav>
                                      </p:tavLst>
                                    </p:anim>
                                    <p:animEffect transition="in" filter="fade">
                                      <p:cBhvr>
                                        <p:cTn id="32" dur="10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p:cTn id="37" dur="1000" fill="hold"/>
                                        <p:tgtEl>
                                          <p:spTgt spid="3"/>
                                        </p:tgtEl>
                                        <p:attrNameLst>
                                          <p:attrName>ppt_w</p:attrName>
                                        </p:attrNameLst>
                                      </p:cBhvr>
                                      <p:tavLst>
                                        <p:tav tm="0">
                                          <p:val>
                                            <p:fltVal val="0"/>
                                          </p:val>
                                        </p:tav>
                                        <p:tav tm="100000">
                                          <p:val>
                                            <p:strVal val="#ppt_w"/>
                                          </p:val>
                                        </p:tav>
                                      </p:tavLst>
                                    </p:anim>
                                    <p:anim calcmode="lin" valueType="num">
                                      <p:cBhvr>
                                        <p:cTn id="38" dur="1000" fill="hold"/>
                                        <p:tgtEl>
                                          <p:spTgt spid="3"/>
                                        </p:tgtEl>
                                        <p:attrNameLst>
                                          <p:attrName>ppt_h</p:attrName>
                                        </p:attrNameLst>
                                      </p:cBhvr>
                                      <p:tavLst>
                                        <p:tav tm="0">
                                          <p:val>
                                            <p:fltVal val="0"/>
                                          </p:val>
                                        </p:tav>
                                        <p:tav tm="100000">
                                          <p:val>
                                            <p:strVal val="#ppt_h"/>
                                          </p:val>
                                        </p:tav>
                                      </p:tavLst>
                                    </p:anim>
                                    <p:anim calcmode="lin" valueType="num">
                                      <p:cBhvr>
                                        <p:cTn id="39" dur="1000" fill="hold"/>
                                        <p:tgtEl>
                                          <p:spTgt spid="3"/>
                                        </p:tgtEl>
                                        <p:attrNameLst>
                                          <p:attrName>style.rotation</p:attrName>
                                        </p:attrNameLst>
                                      </p:cBhvr>
                                      <p:tavLst>
                                        <p:tav tm="0">
                                          <p:val>
                                            <p:fltVal val="90"/>
                                          </p:val>
                                        </p:tav>
                                        <p:tav tm="100000">
                                          <p:val>
                                            <p:fltVal val="0"/>
                                          </p:val>
                                        </p:tav>
                                      </p:tavLst>
                                    </p:anim>
                                    <p:animEffect transition="in" filter="fade">
                                      <p:cBhvr>
                                        <p:cTn id="4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817163"/>
            <a:ext cx="8229600" cy="5059363"/>
          </a:xfrm>
        </p:spPr>
        <p:txBody>
          <a:bodyPr>
            <a:noAutofit/>
          </a:bodyPr>
          <a:lstStyle/>
          <a:p>
            <a:pPr marL="0" indent="0" algn="ctr" fontAlgn="base">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Left recursion is eliminated by converting the grammar into a right recursive grammar.</a:t>
            </a:r>
          </a:p>
          <a:p>
            <a:pPr marL="0" indent="0" fontAlgn="base">
              <a:buNone/>
            </a:pPr>
            <a:r>
              <a:rPr lang="en-US" dirty="0">
                <a:latin typeface="Times New Roman" panose="02020603050405020304" pitchFamily="18" charset="0"/>
                <a:cs typeface="Times New Roman" panose="02020603050405020304" pitchFamily="18" charset="0"/>
              </a:rPr>
              <a:t> </a:t>
            </a:r>
          </a:p>
          <a:p>
            <a:pPr marL="0" indent="0" fontAlgn="base">
              <a:buNone/>
            </a:pPr>
            <a:r>
              <a:rPr lang="en-US" dirty="0">
                <a:latin typeface="Times New Roman" panose="02020603050405020304" pitchFamily="18" charset="0"/>
                <a:cs typeface="Times New Roman" panose="02020603050405020304" pitchFamily="18" charset="0"/>
              </a:rPr>
              <a:t>If we have the left-recursive pair of productions:- </a:t>
            </a:r>
          </a:p>
          <a:p>
            <a:pPr marL="0" indent="0" fontAlgn="base">
              <a:buNone/>
            </a:pPr>
            <a:endParaRPr lang="en-US" dirty="0">
              <a:latin typeface="Times New Roman" panose="02020603050405020304" pitchFamily="18" charset="0"/>
              <a:cs typeface="Times New Roman" panose="02020603050405020304" pitchFamily="18" charset="0"/>
            </a:endParaRPr>
          </a:p>
          <a:p>
            <a:pPr marL="0" indent="0" fontAlgn="base">
              <a:buNone/>
            </a:pPr>
            <a:r>
              <a:rPr lang="en-US" dirty="0">
                <a:latin typeface="Times New Roman" panose="02020603050405020304" pitchFamily="18" charset="0"/>
                <a:cs typeface="Times New Roman" panose="02020603050405020304" pitchFamily="18" charset="0"/>
              </a:rPr>
              <a:t>                                         </a:t>
            </a:r>
          </a:p>
          <a:p>
            <a:pPr marL="0" indent="0" fontAlgn="base">
              <a:buNone/>
            </a:pPr>
            <a:endParaRPr lang="en-US" dirty="0"/>
          </a:p>
          <a:p>
            <a:pPr marL="0" indent="0" fontAlgn="base">
              <a:buNone/>
            </a:pPr>
            <a:r>
              <a:rPr lang="en-US" dirty="0">
                <a:latin typeface="Times New Roman" panose="02020603050405020304" pitchFamily="18" charset="0"/>
                <a:cs typeface="Times New Roman" panose="02020603050405020304" pitchFamily="18" charset="0"/>
              </a:rPr>
              <a:t>				where β does not begin with an A.</a:t>
            </a:r>
          </a:p>
          <a:p>
            <a:pPr marL="0" indent="0" fontAlgn="base">
              <a:buNone/>
            </a:pPr>
            <a:endParaRPr lang="en-US" dirty="0">
              <a:latin typeface="Times New Roman" panose="02020603050405020304" pitchFamily="18" charset="0"/>
              <a:cs typeface="Times New Roman" panose="02020603050405020304" pitchFamily="18" charset="0"/>
            </a:endParaRPr>
          </a:p>
          <a:p>
            <a:pPr marL="0" indent="0" fontAlgn="base">
              <a:buNone/>
            </a:pPr>
            <a:endParaRPr lang="en-US" dirty="0">
              <a:latin typeface="Times New Roman" panose="02020603050405020304" pitchFamily="18" charset="0"/>
              <a:cs typeface="Times New Roman" panose="02020603050405020304" pitchFamily="18" charset="0"/>
            </a:endParaRPr>
          </a:p>
          <a:p>
            <a:pPr marL="0" indent="0" fontAlgn="base">
              <a:buNone/>
            </a:pPr>
            <a:r>
              <a:rPr lang="en-US" dirty="0">
                <a:latin typeface="Times New Roman" panose="02020603050405020304" pitchFamily="18" charset="0"/>
                <a:cs typeface="Times New Roman" panose="02020603050405020304" pitchFamily="18" charset="0"/>
              </a:rPr>
              <a:t>Then, we can eliminate left recursion by replacing the pair of productions with-</a:t>
            </a:r>
          </a:p>
          <a:p>
            <a:pPr marL="0" indent="0" fontAlgn="base">
              <a:buNone/>
            </a:pPr>
            <a:r>
              <a:rPr lang="en-US" b="1" dirty="0">
                <a:latin typeface="Times New Roman" panose="02020603050405020304" pitchFamily="18" charset="0"/>
                <a:cs typeface="Times New Roman" panose="02020603050405020304" pitchFamily="18" charset="0"/>
              </a:rPr>
              <a:t>		</a:t>
            </a:r>
          </a:p>
          <a:p>
            <a:pPr marL="0" indent="0" fontAlgn="base">
              <a:buNone/>
            </a:pPr>
            <a:endParaRPr lang="en-US" b="1" dirty="0"/>
          </a:p>
          <a:p>
            <a:pPr marL="0" indent="0" fontAlgn="base">
              <a:buNone/>
            </a:pPr>
            <a:r>
              <a:rPr lang="en-US" dirty="0">
                <a:latin typeface="Times New Roman" panose="02020603050405020304" pitchFamily="18" charset="0"/>
                <a:cs typeface="Times New Roman" panose="02020603050405020304" pitchFamily="18" charset="0"/>
              </a:rPr>
              <a:t> </a:t>
            </a:r>
          </a:p>
          <a:p>
            <a:pPr marL="0" indent="0" fontAlgn="base">
              <a:buNone/>
            </a:pPr>
            <a:endParaRPr lang="en-US" dirty="0">
              <a:latin typeface="Times New Roman" panose="02020603050405020304" pitchFamily="18" charset="0"/>
              <a:cs typeface="Times New Roman" panose="02020603050405020304" pitchFamily="18" charset="0"/>
            </a:endParaRPr>
          </a:p>
          <a:p>
            <a:pPr marL="0" indent="0" fontAlgn="base">
              <a:buNone/>
            </a:pPr>
            <a:r>
              <a:rPr lang="en-US" dirty="0">
                <a:latin typeface="Times New Roman" panose="02020603050405020304" pitchFamily="18" charset="0"/>
                <a:cs typeface="Times New Roman" panose="02020603050405020304" pitchFamily="18" charset="0"/>
              </a:rPr>
              <a:t>This right recursive grammar functions same as left recursive grammar.</a:t>
            </a:r>
          </a:p>
          <a:p>
            <a:pPr marL="0" indent="0" algn="just">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15E7D40-1215-481E-8A81-9F8733FD7D4E}"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Left Recursion</a:t>
            </a:r>
          </a:p>
        </p:txBody>
      </p:sp>
      <p:sp>
        <p:nvSpPr>
          <p:cNvPr id="2" name="Rectangle: Single Corner Rounded 1">
            <a:extLst>
              <a:ext uri="{FF2B5EF4-FFF2-40B4-BE49-F238E27FC236}">
                <a16:creationId xmlns:a16="http://schemas.microsoft.com/office/drawing/2014/main" id="{FE20542B-E0F7-4252-B920-100B3DE7974C}"/>
              </a:ext>
            </a:extLst>
          </p:cNvPr>
          <p:cNvSpPr/>
          <p:nvPr/>
        </p:nvSpPr>
        <p:spPr>
          <a:xfrm>
            <a:off x="3352800" y="4396185"/>
            <a:ext cx="2057400" cy="914400"/>
          </a:xfrm>
          <a:prstGeom prst="round1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fontAlgn="base">
              <a:buNone/>
            </a:pPr>
            <a:r>
              <a:rPr lang="en-US" sz="2400" b="1" dirty="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βA’</a:t>
            </a:r>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αA’ / ∈</a:t>
            </a:r>
            <a:endParaRPr lang="en-US" sz="2400" dirty="0">
              <a:latin typeface="Times New Roman" panose="02020603050405020304" pitchFamily="18" charset="0"/>
              <a:cs typeface="Times New Roman" panose="02020603050405020304" pitchFamily="18" charset="0"/>
            </a:endParaRPr>
          </a:p>
        </p:txBody>
      </p:sp>
      <p:sp>
        <p:nvSpPr>
          <p:cNvPr id="5" name="Rectangle: Single Corner Rounded 4">
            <a:extLst>
              <a:ext uri="{FF2B5EF4-FFF2-40B4-BE49-F238E27FC236}">
                <a16:creationId xmlns:a16="http://schemas.microsoft.com/office/drawing/2014/main" id="{8358B5BC-93C5-480A-9621-9F0316B4C92A}"/>
              </a:ext>
            </a:extLst>
          </p:cNvPr>
          <p:cNvSpPr/>
          <p:nvPr/>
        </p:nvSpPr>
        <p:spPr>
          <a:xfrm>
            <a:off x="1393371" y="2752383"/>
            <a:ext cx="2057400" cy="914400"/>
          </a:xfrm>
          <a:prstGeom prst="round1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fontAlgn="base">
              <a:buNone/>
            </a:pPr>
            <a:r>
              <a:rPr lang="en-US" sz="2400" b="1" dirty="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Aα / β</a:t>
            </a:r>
            <a:endParaRPr lang="en-US" sz="2400" dirty="0">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58843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anim calcmode="lin" valueType="num">
                                      <p:cBhvr additive="base">
                                        <p:cTn id="13"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6">
                                            <p:txEl>
                                              <p:pRg st="2" end="2"/>
                                            </p:txEl>
                                          </p:spTgt>
                                        </p:tgtEl>
                                        <p:attrNameLst>
                                          <p:attrName>style.visibility</p:attrName>
                                        </p:attrNameLst>
                                      </p:cBhvr>
                                      <p:to>
                                        <p:strVal val="visible"/>
                                      </p:to>
                                    </p:set>
                                    <p:animEffect transition="in" filter="wipe(down)">
                                      <p:cBhvr>
                                        <p:cTn id="19" dur="500"/>
                                        <p:tgtEl>
                                          <p:spTgt spid="16">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heel(1)">
                                      <p:cBhvr>
                                        <p:cTn id="24" dur="20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6">
                                            <p:txEl>
                                              <p:pRg st="4" end="4"/>
                                            </p:txEl>
                                          </p:spTgt>
                                        </p:tgtEl>
                                        <p:attrNameLst>
                                          <p:attrName>style.visibility</p:attrName>
                                        </p:attrNameLst>
                                      </p:cBhvr>
                                      <p:to>
                                        <p:strVal val="visible"/>
                                      </p:to>
                                    </p:set>
                                    <p:animEffect transition="in" filter="wipe(down)">
                                      <p:cBhvr>
                                        <p:cTn id="29" dur="500"/>
                                        <p:tgtEl>
                                          <p:spTgt spid="16">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6">
                                            <p:txEl>
                                              <p:pRg st="6" end="6"/>
                                            </p:txEl>
                                          </p:spTgt>
                                        </p:tgtEl>
                                        <p:attrNameLst>
                                          <p:attrName>style.visibility</p:attrName>
                                        </p:attrNameLst>
                                      </p:cBhvr>
                                      <p:to>
                                        <p:strVal val="visible"/>
                                      </p:to>
                                    </p:set>
                                    <p:animEffect transition="in" filter="wipe(down)">
                                      <p:cBhvr>
                                        <p:cTn id="34" dur="500"/>
                                        <p:tgtEl>
                                          <p:spTgt spid="16">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6">
                                            <p:txEl>
                                              <p:pRg st="9" end="9"/>
                                            </p:txEl>
                                          </p:spTgt>
                                        </p:tgtEl>
                                        <p:attrNameLst>
                                          <p:attrName>style.visibility</p:attrName>
                                        </p:attrNameLst>
                                      </p:cBhvr>
                                      <p:to>
                                        <p:strVal val="visible"/>
                                      </p:to>
                                    </p:set>
                                    <p:animEffect transition="in" filter="wipe(down)">
                                      <p:cBhvr>
                                        <p:cTn id="39" dur="500"/>
                                        <p:tgtEl>
                                          <p:spTgt spid="16">
                                            <p:txEl>
                                              <p:pRg st="9" end="9"/>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1" presetClass="entr" presetSubtype="1" fill="hold" grpId="0" nodeType="click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wheel(1)">
                                      <p:cBhvr>
                                        <p:cTn id="44" dur="2000"/>
                                        <p:tgtEl>
                                          <p:spTgt spid="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16">
                                            <p:txEl>
                                              <p:pRg st="14" end="14"/>
                                            </p:txEl>
                                          </p:spTgt>
                                        </p:tgtEl>
                                        <p:attrNameLst>
                                          <p:attrName>style.visibility</p:attrName>
                                        </p:attrNameLst>
                                      </p:cBhvr>
                                      <p:to>
                                        <p:strVal val="visible"/>
                                      </p:to>
                                    </p:set>
                                    <p:animEffect transition="in" filter="wipe(down)">
                                      <p:cBhvr>
                                        <p:cTn id="49" dur="500"/>
                                        <p:tgtEl>
                                          <p:spTgt spid="16">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817163"/>
            <a:ext cx="8229600" cy="5059363"/>
          </a:xfrm>
        </p:spPr>
        <p:txBody>
          <a:bodyPr>
            <a:noAutofit/>
          </a:bodyPr>
          <a:lstStyle/>
          <a:p>
            <a:pPr marL="0" indent="0" fontAlgn="base">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Example1:- </a:t>
            </a:r>
            <a:r>
              <a:rPr lang="en-US" dirty="0">
                <a:latin typeface="Times New Roman" panose="02020603050405020304" pitchFamily="18" charset="0"/>
                <a:cs typeface="Times New Roman" panose="02020603050405020304" pitchFamily="18" charset="0"/>
              </a:rPr>
              <a:t>Consider the following grammar and eliminate left recursion-</a:t>
            </a:r>
          </a:p>
          <a:p>
            <a:pPr marL="0" indent="0" fontAlgn="base">
              <a:buNone/>
            </a:pPr>
            <a:r>
              <a:rPr lang="en-US" dirty="0">
                <a:latin typeface="Times New Roman" panose="02020603050405020304" pitchFamily="18" charset="0"/>
                <a:cs typeface="Times New Roman" panose="02020603050405020304" pitchFamily="18" charset="0"/>
              </a:rPr>
              <a:t>		A → </a:t>
            </a:r>
            <a:r>
              <a:rPr lang="en-US" dirty="0" err="1">
                <a:latin typeface="Times New Roman" panose="02020603050405020304" pitchFamily="18" charset="0"/>
                <a:cs typeface="Times New Roman" panose="02020603050405020304" pitchFamily="18" charset="0"/>
              </a:rPr>
              <a:t>ABd</a:t>
            </a:r>
            <a:r>
              <a:rPr lang="en-US" dirty="0">
                <a:latin typeface="Times New Roman" panose="02020603050405020304" pitchFamily="18" charset="0"/>
                <a:cs typeface="Times New Roman" panose="02020603050405020304" pitchFamily="18" charset="0"/>
              </a:rPr>
              <a:t> / Aa / a</a:t>
            </a:r>
          </a:p>
          <a:p>
            <a:pPr marL="0" indent="0" fontAlgn="base">
              <a:buNone/>
            </a:pPr>
            <a:r>
              <a:rPr lang="en-US" dirty="0">
                <a:latin typeface="Times New Roman" panose="02020603050405020304" pitchFamily="18" charset="0"/>
                <a:cs typeface="Times New Roman" panose="02020603050405020304" pitchFamily="18" charset="0"/>
              </a:rPr>
              <a:t>		B → Be / b</a:t>
            </a:r>
          </a:p>
          <a:p>
            <a:pPr marL="0" indent="0" fontAlgn="base">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fontAlgn="base">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a:p>
            <a:pPr marL="0" indent="0" fontAlgn="base">
              <a:buNone/>
            </a:pPr>
            <a:endParaRPr lang="en-US" i="1" dirty="0">
              <a:effectLst>
                <a:outerShdw blurRad="38100" dist="38100" dir="2700000" algn="tl">
                  <a:srgbClr val="000000">
                    <a:alpha val="43137"/>
                  </a:srgbClr>
                </a:outerShdw>
              </a:effectLst>
            </a:endParaRPr>
          </a:p>
          <a:p>
            <a:pPr marL="0" indent="0" fontAlgn="base">
              <a:buNone/>
            </a:pPr>
            <a:r>
              <a:rPr lang="en-US" dirty="0">
                <a:latin typeface="Times New Roman" panose="02020603050405020304" pitchFamily="18" charset="0"/>
                <a:cs typeface="Times New Roman" panose="02020603050405020304" pitchFamily="18" charset="0"/>
              </a:rPr>
              <a:t>Firstly break the production according to the format-</a:t>
            </a:r>
          </a:p>
          <a:p>
            <a:pPr marL="0" indent="0" fontAlgn="base">
              <a:buNone/>
            </a:pPr>
            <a:endParaRPr lang="en-US" dirty="0">
              <a:latin typeface="Times New Roman" panose="02020603050405020304" pitchFamily="18" charset="0"/>
              <a:cs typeface="Times New Roman" panose="02020603050405020304" pitchFamily="18" charset="0"/>
            </a:endParaRPr>
          </a:p>
          <a:p>
            <a:pPr marL="0" indent="0" fontAlgn="base">
              <a:buNone/>
            </a:pPr>
            <a:r>
              <a:rPr lang="en-US" dirty="0">
                <a:latin typeface="Times New Roman" panose="02020603050405020304" pitchFamily="18" charset="0"/>
                <a:cs typeface="Times New Roman" panose="02020603050405020304" pitchFamily="18" charset="0"/>
              </a:rPr>
              <a:t> 		A → </a:t>
            </a:r>
            <a:r>
              <a:rPr lang="en-US" dirty="0" err="1">
                <a:latin typeface="Times New Roman" panose="02020603050405020304" pitchFamily="18" charset="0"/>
                <a:cs typeface="Times New Roman" panose="02020603050405020304" pitchFamily="18" charset="0"/>
              </a:rPr>
              <a:t>ABd</a:t>
            </a:r>
            <a:r>
              <a:rPr lang="en-US" dirty="0">
                <a:latin typeface="Times New Roman" panose="02020603050405020304" pitchFamily="18" charset="0"/>
                <a:cs typeface="Times New Roman" panose="02020603050405020304" pitchFamily="18" charset="0"/>
              </a:rPr>
              <a:t> / a</a:t>
            </a:r>
          </a:p>
          <a:p>
            <a:pPr marL="0" indent="0" fontAlgn="base">
              <a:buNone/>
            </a:pPr>
            <a:r>
              <a:rPr lang="en-US" dirty="0">
                <a:latin typeface="Times New Roman" panose="02020603050405020304" pitchFamily="18" charset="0"/>
                <a:cs typeface="Times New Roman" panose="02020603050405020304" pitchFamily="18" charset="0"/>
              </a:rPr>
              <a:t>		A → Aa / a</a:t>
            </a:r>
          </a:p>
          <a:p>
            <a:pPr marL="0" indent="0" fontAlgn="base">
              <a:buNone/>
            </a:pPr>
            <a:r>
              <a:rPr lang="en-US" dirty="0">
                <a:latin typeface="Times New Roman" panose="02020603050405020304" pitchFamily="18" charset="0"/>
                <a:cs typeface="Times New Roman" panose="02020603050405020304" pitchFamily="18" charset="0"/>
              </a:rPr>
              <a:t>		B → Be / b</a:t>
            </a:r>
          </a:p>
          <a:p>
            <a:pPr marL="0" indent="0" fontAlgn="base">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fontAlgn="base">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 apply the rule</a:t>
            </a:r>
          </a:p>
          <a:p>
            <a:pPr marL="0" indent="0" fontAlgn="base">
              <a:buNone/>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DE809F-777A-4DB3-BBA7-2E02F25559DE}"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Left Recursion</a:t>
            </a:r>
          </a:p>
        </p:txBody>
      </p:sp>
      <p:sp>
        <p:nvSpPr>
          <p:cNvPr id="3" name="Rectangle: Single Corner Rounded 2">
            <a:extLst>
              <a:ext uri="{FF2B5EF4-FFF2-40B4-BE49-F238E27FC236}">
                <a16:creationId xmlns:a16="http://schemas.microsoft.com/office/drawing/2014/main" id="{BE0AFDAC-ABFF-4294-AFAD-9988E3104E0F}"/>
              </a:ext>
            </a:extLst>
          </p:cNvPr>
          <p:cNvSpPr/>
          <p:nvPr/>
        </p:nvSpPr>
        <p:spPr>
          <a:xfrm>
            <a:off x="2895600" y="5202038"/>
            <a:ext cx="4419600" cy="914400"/>
          </a:xfrm>
          <a:prstGeom prst="round1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fontAlgn="base">
              <a:buNone/>
            </a:pPr>
            <a:r>
              <a:rPr lang="en-US" sz="2400" b="1" dirty="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Aα / β   =&gt; A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βA’</a:t>
            </a:r>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		   A’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αA’ / ∈</a:t>
            </a:r>
            <a:endParaRPr lang="en-US" sz="2400" dirty="0">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68251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6">
                                            <p:txEl>
                                              <p:pRg st="4" end="4"/>
                                            </p:txEl>
                                          </p:spTgt>
                                        </p:tgtEl>
                                        <p:attrNameLst>
                                          <p:attrName>style.visibility</p:attrName>
                                        </p:attrNameLst>
                                      </p:cBhvr>
                                      <p:to>
                                        <p:strVal val="visible"/>
                                      </p:to>
                                    </p:set>
                                    <p:animEffect transition="in" filter="wipe(down)">
                                      <p:cBhvr>
                                        <p:cTn id="21" dur="500"/>
                                        <p:tgtEl>
                                          <p:spTgt spid="16">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6">
                                            <p:txEl>
                                              <p:pRg st="6" end="6"/>
                                            </p:txEl>
                                          </p:spTgt>
                                        </p:tgtEl>
                                        <p:attrNameLst>
                                          <p:attrName>style.visibility</p:attrName>
                                        </p:attrNameLst>
                                      </p:cBhvr>
                                      <p:to>
                                        <p:strVal val="visible"/>
                                      </p:to>
                                    </p:set>
                                    <p:animEffect transition="in" filter="wipe(down)">
                                      <p:cBhvr>
                                        <p:cTn id="26" dur="500"/>
                                        <p:tgtEl>
                                          <p:spTgt spid="16">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6">
                                            <p:txEl>
                                              <p:pRg st="8" end="8"/>
                                            </p:txEl>
                                          </p:spTgt>
                                        </p:tgtEl>
                                        <p:attrNameLst>
                                          <p:attrName>style.visibility</p:attrName>
                                        </p:attrNameLst>
                                      </p:cBhvr>
                                      <p:to>
                                        <p:strVal val="visible"/>
                                      </p:to>
                                    </p:set>
                                    <p:animEffect transition="in" filter="barn(inVertical)">
                                      <p:cBhvr>
                                        <p:cTn id="31" dur="500"/>
                                        <p:tgtEl>
                                          <p:spTgt spid="16">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16">
                                            <p:txEl>
                                              <p:pRg st="9" end="9"/>
                                            </p:txEl>
                                          </p:spTgt>
                                        </p:tgtEl>
                                        <p:attrNameLst>
                                          <p:attrName>style.visibility</p:attrName>
                                        </p:attrNameLst>
                                      </p:cBhvr>
                                      <p:to>
                                        <p:strVal val="visible"/>
                                      </p:to>
                                    </p:set>
                                    <p:animEffect transition="in" filter="barn(inVertical)">
                                      <p:cBhvr>
                                        <p:cTn id="36" dur="500"/>
                                        <p:tgtEl>
                                          <p:spTgt spid="16">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6">
                                            <p:txEl>
                                              <p:pRg st="10" end="10"/>
                                            </p:txEl>
                                          </p:spTgt>
                                        </p:tgtEl>
                                        <p:attrNameLst>
                                          <p:attrName>style.visibility</p:attrName>
                                        </p:attrNameLst>
                                      </p:cBhvr>
                                      <p:to>
                                        <p:strVal val="visible"/>
                                      </p:to>
                                    </p:set>
                                    <p:animEffect transition="in" filter="barn(inVertical)">
                                      <p:cBhvr>
                                        <p:cTn id="41" dur="500"/>
                                        <p:tgtEl>
                                          <p:spTgt spid="16">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6">
                                            <p:txEl>
                                              <p:pRg st="12" end="12"/>
                                            </p:txEl>
                                          </p:spTgt>
                                        </p:tgtEl>
                                        <p:attrNameLst>
                                          <p:attrName>style.visibility</p:attrName>
                                        </p:attrNameLst>
                                      </p:cBhvr>
                                      <p:to>
                                        <p:strVal val="visible"/>
                                      </p:to>
                                    </p:set>
                                    <p:anim calcmode="lin" valueType="num">
                                      <p:cBhvr additive="base">
                                        <p:cTn id="46" dur="500" fill="hold"/>
                                        <p:tgtEl>
                                          <p:spTgt spid="16">
                                            <p:txEl>
                                              <p:pRg st="12" end="12"/>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6">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heel(1)">
                                      <p:cBhvr>
                                        <p:cTn id="5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817163"/>
            <a:ext cx="8229600" cy="5059363"/>
          </a:xfrm>
        </p:spPr>
        <p:txBody>
          <a:bodyPr>
            <a:noAutofit/>
          </a:bodyPr>
          <a:lstStyle/>
          <a:p>
            <a:pPr marL="0" indent="0" fontAlgn="base">
              <a:buNone/>
            </a:pPr>
            <a:r>
              <a:rPr lang="en-IN" sz="2000" dirty="0">
                <a:latin typeface="Times New Roman" panose="02020603050405020304" pitchFamily="18" charset="0"/>
                <a:cs typeface="Times New Roman" panose="02020603050405020304" pitchFamily="18" charset="0"/>
              </a:rPr>
              <a:t> The grammar after eliminating left recursion is-</a:t>
            </a:r>
          </a:p>
          <a:p>
            <a:pPr marL="0" indent="0" fontAlgn="base">
              <a:buNone/>
            </a:pPr>
            <a:r>
              <a:rPr lang="en-IN" sz="2000" dirty="0">
                <a:latin typeface="Times New Roman" panose="02020603050405020304" pitchFamily="18" charset="0"/>
                <a:cs typeface="Times New Roman" panose="02020603050405020304" pitchFamily="18" charset="0"/>
              </a:rPr>
              <a:t>		</a:t>
            </a:r>
          </a:p>
          <a:p>
            <a:pPr marL="0" indent="0" fontAlgn="base">
              <a:buNone/>
            </a:pPr>
            <a:r>
              <a:rPr lang="en-IN"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857A90A-80EC-4B77-A604-2158589BED02}"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Left Recursion</a:t>
            </a:r>
          </a:p>
        </p:txBody>
      </p:sp>
      <p:sp>
        <p:nvSpPr>
          <p:cNvPr id="2" name="Rectangle: Rounded Corners 1">
            <a:extLst>
              <a:ext uri="{FF2B5EF4-FFF2-40B4-BE49-F238E27FC236}">
                <a16:creationId xmlns:a16="http://schemas.microsoft.com/office/drawing/2014/main" id="{92B7CFA0-125D-4FF9-AC7C-5C9054CBE2FF}"/>
              </a:ext>
            </a:extLst>
          </p:cNvPr>
          <p:cNvSpPr/>
          <p:nvPr/>
        </p:nvSpPr>
        <p:spPr>
          <a:xfrm>
            <a:off x="4572000" y="2247900"/>
            <a:ext cx="4190999" cy="20193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fontAlgn="base">
              <a:buNone/>
            </a:pPr>
            <a:r>
              <a:rPr lang="en-IN" dirty="0">
                <a:latin typeface="Times New Roman" panose="02020603050405020304" pitchFamily="18" charset="0"/>
                <a:cs typeface="Times New Roman" panose="02020603050405020304" pitchFamily="18" charset="0"/>
              </a:rPr>
              <a:t>A → </a:t>
            </a:r>
            <a:r>
              <a:rPr lang="en-IN" dirty="0" err="1">
                <a:latin typeface="Times New Roman" panose="02020603050405020304" pitchFamily="18" charset="0"/>
                <a:cs typeface="Times New Roman" panose="02020603050405020304" pitchFamily="18" charset="0"/>
              </a:rPr>
              <a:t>aA</a:t>
            </a:r>
            <a:r>
              <a:rPr lang="en-IN" dirty="0">
                <a:latin typeface="Times New Roman" panose="02020603050405020304" pitchFamily="18" charset="0"/>
                <a:cs typeface="Times New Roman" panose="02020603050405020304" pitchFamily="18" charset="0"/>
              </a:rPr>
              <a:t>’</a:t>
            </a:r>
          </a:p>
          <a:p>
            <a:pPr marL="0" indent="0" fontAlgn="base">
              <a:buNone/>
            </a:pPr>
            <a:r>
              <a:rPr lang="en-IN" dirty="0">
                <a:latin typeface="Times New Roman" panose="02020603050405020304" pitchFamily="18" charset="0"/>
                <a:cs typeface="Times New Roman" panose="02020603050405020304" pitchFamily="18" charset="0"/>
              </a:rPr>
              <a:t>A’ → </a:t>
            </a:r>
            <a:r>
              <a:rPr lang="en-IN" dirty="0" err="1">
                <a:latin typeface="Times New Roman" panose="02020603050405020304" pitchFamily="18" charset="0"/>
                <a:cs typeface="Times New Roman" panose="02020603050405020304" pitchFamily="18" charset="0"/>
              </a:rPr>
              <a:t>BdA</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aA</a:t>
            </a:r>
            <a:r>
              <a:rPr lang="en-IN" dirty="0">
                <a:latin typeface="Times New Roman" panose="02020603050405020304" pitchFamily="18" charset="0"/>
                <a:cs typeface="Times New Roman" panose="02020603050405020304" pitchFamily="18" charset="0"/>
              </a:rPr>
              <a:t>’ / ∈</a:t>
            </a:r>
          </a:p>
          <a:p>
            <a:pPr marL="0" indent="0" fontAlgn="base">
              <a:buNone/>
            </a:pPr>
            <a:r>
              <a:rPr lang="en-IN" dirty="0">
                <a:latin typeface="Times New Roman" panose="02020603050405020304" pitchFamily="18" charset="0"/>
                <a:cs typeface="Times New Roman" panose="02020603050405020304" pitchFamily="18" charset="0"/>
              </a:rPr>
              <a:t>B → </a:t>
            </a:r>
            <a:r>
              <a:rPr lang="en-IN" dirty="0" err="1">
                <a:latin typeface="Times New Roman" panose="02020603050405020304" pitchFamily="18" charset="0"/>
                <a:cs typeface="Times New Roman" panose="02020603050405020304" pitchFamily="18" charset="0"/>
              </a:rPr>
              <a:t>bB</a:t>
            </a:r>
            <a:r>
              <a:rPr lang="en-IN" dirty="0">
                <a:latin typeface="Times New Roman" panose="02020603050405020304" pitchFamily="18" charset="0"/>
                <a:cs typeface="Times New Roman" panose="02020603050405020304" pitchFamily="18" charset="0"/>
              </a:rPr>
              <a:t>’</a:t>
            </a:r>
          </a:p>
          <a:p>
            <a:pPr marL="0" indent="0" fontAlgn="base">
              <a:buNone/>
            </a:pPr>
            <a:r>
              <a:rPr lang="en-IN" dirty="0">
                <a:latin typeface="Times New Roman" panose="02020603050405020304" pitchFamily="18" charset="0"/>
                <a:cs typeface="Times New Roman" panose="02020603050405020304" pitchFamily="18" charset="0"/>
              </a:rPr>
              <a:t>B’ → </a:t>
            </a:r>
            <a:r>
              <a:rPr lang="en-IN" dirty="0" err="1">
                <a:latin typeface="Times New Roman" panose="02020603050405020304" pitchFamily="18" charset="0"/>
                <a:cs typeface="Times New Roman" panose="02020603050405020304" pitchFamily="18" charset="0"/>
              </a:rPr>
              <a:t>eB</a:t>
            </a:r>
            <a:r>
              <a:rPr lang="en-IN" dirty="0">
                <a:latin typeface="Times New Roman" panose="02020603050405020304" pitchFamily="18" charset="0"/>
                <a:cs typeface="Times New Roman" panose="02020603050405020304" pitchFamily="18" charset="0"/>
              </a:rPr>
              <a:t>’ / ∈</a:t>
            </a:r>
          </a:p>
        </p:txBody>
      </p:sp>
      <p:sp>
        <p:nvSpPr>
          <p:cNvPr id="3" name="Rectangle: Rounded Corners 2">
            <a:extLst>
              <a:ext uri="{FF2B5EF4-FFF2-40B4-BE49-F238E27FC236}">
                <a16:creationId xmlns:a16="http://schemas.microsoft.com/office/drawing/2014/main" id="{726186E4-EA43-4C0D-9469-EA2E0AB52BED}"/>
              </a:ext>
            </a:extLst>
          </p:cNvPr>
          <p:cNvSpPr/>
          <p:nvPr/>
        </p:nvSpPr>
        <p:spPr>
          <a:xfrm>
            <a:off x="457200" y="2405656"/>
            <a:ext cx="2895600" cy="186154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fontAlgn="base">
              <a:buNone/>
            </a:pPr>
            <a:r>
              <a:rPr lang="en-US" dirty="0">
                <a:latin typeface="Times New Roman" panose="02020603050405020304" pitchFamily="18" charset="0"/>
                <a:cs typeface="Times New Roman" panose="02020603050405020304" pitchFamily="18" charset="0"/>
              </a:rPr>
              <a:t>A → </a:t>
            </a:r>
            <a:r>
              <a:rPr lang="en-US" dirty="0" err="1">
                <a:latin typeface="Times New Roman" panose="02020603050405020304" pitchFamily="18" charset="0"/>
                <a:cs typeface="Times New Roman" panose="02020603050405020304" pitchFamily="18" charset="0"/>
              </a:rPr>
              <a:t>ABd</a:t>
            </a:r>
            <a:r>
              <a:rPr lang="en-US" dirty="0">
                <a:latin typeface="Times New Roman" panose="02020603050405020304" pitchFamily="18" charset="0"/>
                <a:cs typeface="Times New Roman" panose="02020603050405020304" pitchFamily="18" charset="0"/>
              </a:rPr>
              <a:t> / a</a:t>
            </a:r>
          </a:p>
          <a:p>
            <a:pPr marL="0" indent="0" fontAlgn="base">
              <a:buNone/>
            </a:pPr>
            <a:r>
              <a:rPr lang="en-US" dirty="0">
                <a:latin typeface="Times New Roman" panose="02020603050405020304" pitchFamily="18" charset="0"/>
                <a:cs typeface="Times New Roman" panose="02020603050405020304" pitchFamily="18" charset="0"/>
              </a:rPr>
              <a:t>A → Aa / a</a:t>
            </a:r>
          </a:p>
          <a:p>
            <a:pPr marL="0" indent="0" fontAlgn="base">
              <a:buNone/>
            </a:pPr>
            <a:r>
              <a:rPr lang="en-US" dirty="0">
                <a:latin typeface="Times New Roman" panose="02020603050405020304" pitchFamily="18" charset="0"/>
                <a:cs typeface="Times New Roman" panose="02020603050405020304" pitchFamily="18" charset="0"/>
              </a:rPr>
              <a:t>B → Be / b</a:t>
            </a:r>
          </a:p>
        </p:txBody>
      </p:sp>
      <p:sp>
        <p:nvSpPr>
          <p:cNvPr id="5" name="Arrow: Right 4">
            <a:extLst>
              <a:ext uri="{FF2B5EF4-FFF2-40B4-BE49-F238E27FC236}">
                <a16:creationId xmlns:a16="http://schemas.microsoft.com/office/drawing/2014/main" id="{574FD546-AD42-49AA-AC50-2D119DC11A64}"/>
              </a:ext>
            </a:extLst>
          </p:cNvPr>
          <p:cNvSpPr/>
          <p:nvPr/>
        </p:nvSpPr>
        <p:spPr>
          <a:xfrm>
            <a:off x="3573780" y="3200400"/>
            <a:ext cx="838200" cy="4512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94367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1000"/>
                                        <p:tgtEl>
                                          <p:spTgt spid="16">
                                            <p:txEl>
                                              <p:pRg st="0" end="0"/>
                                            </p:txEl>
                                          </p:spTgt>
                                        </p:tgtEl>
                                      </p:cBhvr>
                                    </p:animEffect>
                                    <p:anim calcmode="lin" valueType="num">
                                      <p:cBhvr>
                                        <p:cTn id="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heel(1)">
                                      <p:cBhvr>
                                        <p:cTn id="14" dur="2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heel(1)">
                                      <p:cBhvr>
                                        <p:cTn id="2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817163"/>
            <a:ext cx="8229600" cy="5059363"/>
          </a:xfrm>
        </p:spPr>
        <p:txBody>
          <a:bodyPr>
            <a:noAutofit/>
          </a:bodyPr>
          <a:lstStyle/>
          <a:p>
            <a:pPr marL="0" indent="0" fontAlgn="base">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2:- </a:t>
            </a:r>
            <a:r>
              <a:rPr lang="en-US" dirty="0">
                <a:latin typeface="Times New Roman" panose="02020603050405020304" pitchFamily="18" charset="0"/>
                <a:cs typeface="Times New Roman" panose="02020603050405020304" pitchFamily="18" charset="0"/>
              </a:rPr>
              <a:t>Consider the following grammar and eliminate left recursion-</a:t>
            </a:r>
          </a:p>
          <a:p>
            <a:pPr marL="0" indent="0" fontAlgn="base">
              <a:buNone/>
            </a:pPr>
            <a:r>
              <a:rPr lang="en-US" dirty="0">
                <a:latin typeface="Times New Roman" panose="02020603050405020304" pitchFamily="18" charset="0"/>
                <a:cs typeface="Times New Roman" panose="02020603050405020304" pitchFamily="18" charset="0"/>
              </a:rPr>
              <a:t>		</a:t>
            </a:r>
            <a:r>
              <a:rPr lang="de-DE" dirty="0">
                <a:latin typeface="Times New Roman" panose="02020603050405020304" pitchFamily="18" charset="0"/>
                <a:cs typeface="Times New Roman" panose="02020603050405020304" pitchFamily="18" charset="0"/>
              </a:rPr>
              <a:t>E → E + T / T</a:t>
            </a:r>
          </a:p>
          <a:p>
            <a:pPr marL="0" indent="0" fontAlgn="base">
              <a:buNone/>
            </a:pPr>
            <a:r>
              <a:rPr lang="de-DE" dirty="0">
                <a:latin typeface="Times New Roman" panose="02020603050405020304" pitchFamily="18" charset="0"/>
                <a:cs typeface="Times New Roman" panose="02020603050405020304" pitchFamily="18" charset="0"/>
              </a:rPr>
              <a:t>		T → T x F / F</a:t>
            </a:r>
          </a:p>
          <a:p>
            <a:pPr marL="0" indent="0" fontAlgn="base">
              <a:buNone/>
            </a:pPr>
            <a:r>
              <a:rPr lang="de-DE" dirty="0">
                <a:latin typeface="Times New Roman" panose="02020603050405020304" pitchFamily="18" charset="0"/>
                <a:cs typeface="Times New Roman" panose="02020603050405020304" pitchFamily="18" charset="0"/>
              </a:rPr>
              <a:t>		F → id</a:t>
            </a:r>
          </a:p>
          <a:p>
            <a:pPr marL="0" indent="0" fontAlgn="base">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fontAlgn="base">
              <a:buNone/>
            </a:pPr>
            <a:endParaRPr lang="en-US" i="1" dirty="0">
              <a:effectLst>
                <a:outerShdw blurRad="38100" dist="38100" dir="2700000" algn="tl">
                  <a:srgbClr val="000000">
                    <a:alpha val="43137"/>
                  </a:srgbClr>
                </a:outerShdw>
              </a:effectLst>
            </a:endParaRPr>
          </a:p>
          <a:p>
            <a:pPr marL="0" indent="0" fontAlgn="base">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r>
              <a:rPr lang="en-US" dirty="0">
                <a:latin typeface="Times New Roman" panose="02020603050405020304" pitchFamily="18" charset="0"/>
                <a:cs typeface="Times New Roman" panose="02020603050405020304" pitchFamily="18" charset="0"/>
              </a:rPr>
              <a:t>The grammar after eliminating left recursion is</a:t>
            </a:r>
          </a:p>
          <a:p>
            <a:pPr marL="0" indent="0" fontAlgn="base">
              <a:buNone/>
            </a:pPr>
            <a:r>
              <a:rPr lang="en-US" dirty="0">
                <a:solidFill>
                  <a:srgbClr val="303030"/>
                </a:solidFill>
                <a:latin typeface="Times New Roman" panose="02020603050405020304" pitchFamily="18" charset="0"/>
                <a:cs typeface="Times New Roman" panose="02020603050405020304" pitchFamily="18" charset="0"/>
              </a:rPr>
              <a:t>		</a:t>
            </a:r>
            <a:r>
              <a:rPr lang="en-IN" dirty="0">
                <a:solidFill>
                  <a:srgbClr val="303030"/>
                </a:solidFill>
                <a:latin typeface="Times New Roman" panose="02020603050405020304" pitchFamily="18" charset="0"/>
                <a:cs typeface="Times New Roman" panose="02020603050405020304" pitchFamily="18" charset="0"/>
              </a:rPr>
              <a:t>E → TE’</a:t>
            </a:r>
          </a:p>
          <a:p>
            <a:pPr marL="0" indent="0" fontAlgn="base">
              <a:buNone/>
            </a:pPr>
            <a:r>
              <a:rPr lang="en-IN" dirty="0">
                <a:solidFill>
                  <a:srgbClr val="303030"/>
                </a:solidFill>
                <a:latin typeface="Times New Roman" panose="02020603050405020304" pitchFamily="18" charset="0"/>
                <a:cs typeface="Times New Roman" panose="02020603050405020304" pitchFamily="18" charset="0"/>
              </a:rPr>
              <a:t>		E’ → +TE’ / ∈</a:t>
            </a:r>
          </a:p>
          <a:p>
            <a:pPr marL="0" indent="0" fontAlgn="base">
              <a:buNone/>
            </a:pPr>
            <a:r>
              <a:rPr lang="en-IN" dirty="0">
                <a:solidFill>
                  <a:srgbClr val="303030"/>
                </a:solidFill>
                <a:latin typeface="Times New Roman" panose="02020603050405020304" pitchFamily="18" charset="0"/>
                <a:cs typeface="Times New Roman" panose="02020603050405020304" pitchFamily="18" charset="0"/>
              </a:rPr>
              <a:t>		T → FT’</a:t>
            </a:r>
          </a:p>
          <a:p>
            <a:pPr marL="0" indent="0" fontAlgn="base">
              <a:buNone/>
            </a:pPr>
            <a:r>
              <a:rPr lang="en-IN" dirty="0">
                <a:solidFill>
                  <a:srgbClr val="303030"/>
                </a:solidFill>
                <a:latin typeface="Times New Roman" panose="02020603050405020304" pitchFamily="18" charset="0"/>
                <a:cs typeface="Times New Roman" panose="02020603050405020304" pitchFamily="18" charset="0"/>
              </a:rPr>
              <a:t>		T’ → </a:t>
            </a:r>
            <a:r>
              <a:rPr lang="en-IN" dirty="0" err="1">
                <a:solidFill>
                  <a:srgbClr val="303030"/>
                </a:solidFill>
                <a:latin typeface="Times New Roman" panose="02020603050405020304" pitchFamily="18" charset="0"/>
                <a:cs typeface="Times New Roman" panose="02020603050405020304" pitchFamily="18" charset="0"/>
              </a:rPr>
              <a:t>xFT</a:t>
            </a:r>
            <a:r>
              <a:rPr lang="en-IN" dirty="0">
                <a:solidFill>
                  <a:srgbClr val="303030"/>
                </a:solidFill>
                <a:latin typeface="Times New Roman" panose="02020603050405020304" pitchFamily="18" charset="0"/>
                <a:cs typeface="Times New Roman" panose="02020603050405020304" pitchFamily="18" charset="0"/>
              </a:rPr>
              <a:t>’ / ∈</a:t>
            </a:r>
          </a:p>
          <a:p>
            <a:pPr marL="0" indent="0" fontAlgn="base">
              <a:buNone/>
            </a:pPr>
            <a:r>
              <a:rPr lang="en-IN" dirty="0">
                <a:solidFill>
                  <a:srgbClr val="303030"/>
                </a:solidFill>
                <a:latin typeface="Times New Roman" panose="02020603050405020304" pitchFamily="18" charset="0"/>
                <a:cs typeface="Times New Roman" panose="02020603050405020304" pitchFamily="18" charset="0"/>
              </a:rPr>
              <a:t>		F → id</a:t>
            </a:r>
          </a:p>
          <a:p>
            <a:pPr marL="0" indent="0" fontAlgn="base">
              <a:buNone/>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D2CACD2-0E80-4F99-B355-98DAC259C96C}"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Left Recursion</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592227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
                                            <p:txEl>
                                              <p:pRg st="6" end="6"/>
                                            </p:txEl>
                                          </p:spTgt>
                                        </p:tgtEl>
                                        <p:attrNameLst>
                                          <p:attrName>style.visibility</p:attrName>
                                        </p:attrNameLst>
                                      </p:cBhvr>
                                      <p:to>
                                        <p:strVal val="visible"/>
                                      </p:to>
                                    </p:set>
                                    <p:anim calcmode="lin" valueType="num">
                                      <p:cBhvr additive="base">
                                        <p:cTn id="25"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xEl>
                                              <p:pRg st="7" end="7"/>
                                            </p:txEl>
                                          </p:spTgt>
                                        </p:tgtEl>
                                        <p:attrNameLst>
                                          <p:attrName>style.visibility</p:attrName>
                                        </p:attrNameLst>
                                      </p:cBhvr>
                                      <p:to>
                                        <p:strVal val="visible"/>
                                      </p:to>
                                    </p:set>
                                    <p:anim calcmode="lin" valueType="num">
                                      <p:cBhvr additive="base">
                                        <p:cTn id="31"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
                                            <p:txEl>
                                              <p:pRg st="8" end="8"/>
                                            </p:txEl>
                                          </p:spTgt>
                                        </p:tgtEl>
                                        <p:attrNameLst>
                                          <p:attrName>style.visibility</p:attrName>
                                        </p:attrNameLst>
                                      </p:cBhvr>
                                      <p:to>
                                        <p:strVal val="visible"/>
                                      </p:to>
                                    </p:set>
                                    <p:anim calcmode="lin" valueType="num">
                                      <p:cBhvr additive="base">
                                        <p:cTn id="37" dur="500" fill="hold"/>
                                        <p:tgtEl>
                                          <p:spTgt spid="16">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
                                            <p:txEl>
                                              <p:pRg st="9" end="9"/>
                                            </p:txEl>
                                          </p:spTgt>
                                        </p:tgtEl>
                                        <p:attrNameLst>
                                          <p:attrName>style.visibility</p:attrName>
                                        </p:attrNameLst>
                                      </p:cBhvr>
                                      <p:to>
                                        <p:strVal val="visible"/>
                                      </p:to>
                                    </p:set>
                                    <p:anim calcmode="lin" valueType="num">
                                      <p:cBhvr additive="base">
                                        <p:cTn id="43" dur="500" fill="hold"/>
                                        <p:tgtEl>
                                          <p:spTgt spid="16">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6">
                                            <p:txEl>
                                              <p:pRg st="10" end="10"/>
                                            </p:txEl>
                                          </p:spTgt>
                                        </p:tgtEl>
                                        <p:attrNameLst>
                                          <p:attrName>style.visibility</p:attrName>
                                        </p:attrNameLst>
                                      </p:cBhvr>
                                      <p:to>
                                        <p:strVal val="visible"/>
                                      </p:to>
                                    </p:set>
                                    <p:anim calcmode="lin" valueType="num">
                                      <p:cBhvr additive="base">
                                        <p:cTn id="49" dur="500" fill="hold"/>
                                        <p:tgtEl>
                                          <p:spTgt spid="16">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6">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6">
                                            <p:txEl>
                                              <p:pRg st="11" end="11"/>
                                            </p:txEl>
                                          </p:spTgt>
                                        </p:tgtEl>
                                        <p:attrNameLst>
                                          <p:attrName>style.visibility</p:attrName>
                                        </p:attrNameLst>
                                      </p:cBhvr>
                                      <p:to>
                                        <p:strVal val="visible"/>
                                      </p:to>
                                    </p:set>
                                    <p:anim calcmode="lin" valueType="num">
                                      <p:cBhvr additive="base">
                                        <p:cTn id="55" dur="500" fill="hold"/>
                                        <p:tgtEl>
                                          <p:spTgt spid="16">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1066800"/>
            <a:ext cx="8229600" cy="5059363"/>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US" altLang="en-US" dirty="0">
                <a:latin typeface="Times New Roman" panose="02020603050405020304" pitchFamily="18" charset="0"/>
                <a:cs typeface="Times New Roman" panose="02020603050405020304" pitchFamily="18" charset="0"/>
              </a:rPr>
              <a:t>Calculate the first and follow function of production rules:</a:t>
            </a:r>
          </a:p>
          <a:p>
            <a:pPr marL="0" indent="0" fontAlgn="base">
              <a:buNone/>
            </a:pPr>
            <a:r>
              <a:rPr lang="en-US" dirty="0">
                <a:latin typeface="Times New Roman" panose="02020603050405020304" pitchFamily="18" charset="0"/>
                <a:cs typeface="Times New Roman" panose="02020603050405020304" pitchFamily="18" charset="0"/>
              </a:rPr>
              <a:t>		S → A</a:t>
            </a:r>
          </a:p>
          <a:p>
            <a:pPr marL="0" indent="0" fontAlgn="base">
              <a:buNone/>
            </a:pPr>
            <a:r>
              <a:rPr lang="en-US" dirty="0">
                <a:latin typeface="Times New Roman" panose="02020603050405020304" pitchFamily="18" charset="0"/>
                <a:cs typeface="Times New Roman" panose="02020603050405020304" pitchFamily="18" charset="0"/>
              </a:rPr>
              <a:t>		A → </a:t>
            </a:r>
            <a:r>
              <a:rPr lang="en-US" dirty="0" err="1">
                <a:latin typeface="Times New Roman" panose="02020603050405020304" pitchFamily="18" charset="0"/>
                <a:cs typeface="Times New Roman" panose="02020603050405020304" pitchFamily="18" charset="0"/>
              </a:rPr>
              <a:t>aB</a:t>
            </a:r>
            <a:r>
              <a:rPr lang="en-US" dirty="0">
                <a:latin typeface="Times New Roman" panose="02020603050405020304" pitchFamily="18" charset="0"/>
                <a:cs typeface="Times New Roman" panose="02020603050405020304" pitchFamily="18" charset="0"/>
              </a:rPr>
              <a:t> / Ad</a:t>
            </a:r>
          </a:p>
          <a:p>
            <a:pPr marL="0" indent="0" fontAlgn="base">
              <a:buNone/>
            </a:pPr>
            <a:r>
              <a:rPr lang="en-US" dirty="0">
                <a:latin typeface="Times New Roman" panose="02020603050405020304" pitchFamily="18" charset="0"/>
                <a:cs typeface="Times New Roman" panose="02020603050405020304" pitchFamily="18" charset="0"/>
              </a:rPr>
              <a:t>		B → b</a:t>
            </a:r>
          </a:p>
          <a:p>
            <a:pPr marL="0" indent="0" fontAlgn="base">
              <a:buNone/>
            </a:pPr>
            <a:r>
              <a:rPr lang="en-US" dirty="0">
                <a:latin typeface="Times New Roman" panose="02020603050405020304" pitchFamily="18" charset="0"/>
                <a:cs typeface="Times New Roman" panose="02020603050405020304" pitchFamily="18" charset="0"/>
              </a:rPr>
              <a:t>		C → g</a:t>
            </a:r>
          </a:p>
          <a:p>
            <a:pPr marL="0" indent="0" fontAlgn="base">
              <a:buNone/>
            </a:pPr>
            <a:r>
              <a:rPr lang="en-IN" dirty="0">
                <a:latin typeface="Times New Roman" panose="02020603050405020304" pitchFamily="18" charset="0"/>
                <a:cs typeface="Times New Roman" panose="02020603050405020304" pitchFamily="18" charset="0"/>
              </a:rPr>
              <a:t> </a:t>
            </a:r>
          </a:p>
          <a:p>
            <a:pPr marL="0" indent="0" fontAlgn="base">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fontAlgn="base">
              <a:buNone/>
            </a:pPr>
            <a:endParaRPr lang="en-IN" i="1" dirty="0">
              <a:effectLst>
                <a:outerShdw blurRad="38100" dist="38100" dir="2700000" algn="tl">
                  <a:srgbClr val="000000">
                    <a:alpha val="43137"/>
                  </a:srgbClr>
                </a:outerShdw>
              </a:effectLst>
            </a:endParaRPr>
          </a:p>
          <a:p>
            <a:pPr marL="0" indent="0" fontAlgn="base">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fontAlgn="base">
              <a:buNone/>
            </a:pPr>
            <a:r>
              <a:rPr lang="en-US" dirty="0">
                <a:latin typeface="Times New Roman" panose="02020603050405020304" pitchFamily="18" charset="0"/>
                <a:cs typeface="Times New Roman" panose="02020603050405020304" pitchFamily="18" charset="0"/>
              </a:rPr>
              <a:t>Given grammar is left recursive.</a:t>
            </a:r>
          </a:p>
          <a:p>
            <a:pPr marL="0" indent="0" fontAlgn="base">
              <a:buNone/>
            </a:pPr>
            <a:endParaRPr lang="en-US" dirty="0">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So, first remove left recursion from the given grammar.</a:t>
            </a:r>
          </a:p>
          <a:p>
            <a:pPr marL="0" indent="0" fontAlgn="base">
              <a:buNone/>
            </a:pPr>
            <a:endParaRPr lang="en-US"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B18223A-3DA8-41A5-B72D-E1964C734168}"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of first and follow function with left recursion</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676952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 calcmode="lin" valueType="num">
                                      <p:cBhvr additive="base">
                                        <p:cTn id="27"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 calcmode="lin" valueType="num">
                                      <p:cBhvr additive="base">
                                        <p:cTn id="31"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
                                            <p:txEl>
                                              <p:pRg st="9" end="9"/>
                                            </p:txEl>
                                          </p:spTgt>
                                        </p:tgtEl>
                                        <p:attrNameLst>
                                          <p:attrName>style.visibility</p:attrName>
                                        </p:attrNameLst>
                                      </p:cBhvr>
                                      <p:to>
                                        <p:strVal val="visible"/>
                                      </p:to>
                                    </p:set>
                                    <p:anim calcmode="lin" valueType="num">
                                      <p:cBhvr additive="base">
                                        <p:cTn id="35" dur="500" fill="hold"/>
                                        <p:tgtEl>
                                          <p:spTgt spid="16">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6">
                                            <p:txEl>
                                              <p:pRg st="11" end="11"/>
                                            </p:txEl>
                                          </p:spTgt>
                                        </p:tgtEl>
                                        <p:attrNameLst>
                                          <p:attrName>style.visibility</p:attrName>
                                        </p:attrNameLst>
                                      </p:cBhvr>
                                      <p:to>
                                        <p:strVal val="visible"/>
                                      </p:to>
                                    </p:set>
                                    <p:anim calcmode="lin" valueType="num">
                                      <p:cBhvr additive="base">
                                        <p:cTn id="39" dur="500" fill="hold"/>
                                        <p:tgtEl>
                                          <p:spTgt spid="16">
                                            <p:txEl>
                                              <p:pRg st="11" end="1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1066800"/>
            <a:ext cx="8229600" cy="5059363"/>
          </a:xfrm>
        </p:spPr>
        <p:txBody>
          <a:bodyPr>
            <a:normAutofit/>
          </a:bodyPr>
          <a:lstStyle/>
          <a:p>
            <a:pPr marL="0" indent="0" fontAlgn="base">
              <a:buNone/>
            </a:pPr>
            <a:r>
              <a:rPr lang="en-US" dirty="0">
                <a:latin typeface="Times New Roman" panose="02020603050405020304" pitchFamily="18" charset="0"/>
                <a:cs typeface="Times New Roman" panose="02020603050405020304" pitchFamily="18" charset="0"/>
              </a:rPr>
              <a:t>After eliminating left recursion, we get the following grammar</a:t>
            </a:r>
          </a:p>
          <a:p>
            <a:pPr fontAlgn="base"/>
            <a:endParaRPr lang="pt-BR" dirty="0">
              <a:latin typeface="Times New Roman" panose="02020603050405020304" pitchFamily="18" charset="0"/>
              <a:cs typeface="Times New Roman" panose="02020603050405020304" pitchFamily="18" charset="0"/>
            </a:endParaRPr>
          </a:p>
          <a:p>
            <a:pPr fontAlgn="base"/>
            <a:r>
              <a:rPr lang="pt-BR" dirty="0">
                <a:latin typeface="Times New Roman" panose="02020603050405020304" pitchFamily="18" charset="0"/>
                <a:cs typeface="Times New Roman" panose="02020603050405020304" pitchFamily="18" charset="0"/>
              </a:rPr>
              <a:t>S → A</a:t>
            </a:r>
          </a:p>
          <a:p>
            <a:pPr fontAlgn="base"/>
            <a:r>
              <a:rPr lang="pt-BR" dirty="0">
                <a:latin typeface="Times New Roman" panose="02020603050405020304" pitchFamily="18" charset="0"/>
                <a:cs typeface="Times New Roman" panose="02020603050405020304" pitchFamily="18" charset="0"/>
              </a:rPr>
              <a:t>A → aBA’</a:t>
            </a:r>
          </a:p>
          <a:p>
            <a:pPr fontAlgn="base"/>
            <a:r>
              <a:rPr lang="pt-BR" dirty="0">
                <a:latin typeface="Times New Roman" panose="02020603050405020304" pitchFamily="18" charset="0"/>
                <a:cs typeface="Times New Roman" panose="02020603050405020304" pitchFamily="18" charset="0"/>
              </a:rPr>
              <a:t>A’ → dA’ / ∈</a:t>
            </a:r>
          </a:p>
          <a:p>
            <a:pPr fontAlgn="base"/>
            <a:r>
              <a:rPr lang="pt-BR" dirty="0">
                <a:latin typeface="Times New Roman" panose="02020603050405020304" pitchFamily="18" charset="0"/>
                <a:cs typeface="Times New Roman" panose="02020603050405020304" pitchFamily="18" charset="0"/>
              </a:rPr>
              <a:t>B → b</a:t>
            </a:r>
          </a:p>
          <a:p>
            <a:pPr fontAlgn="base"/>
            <a:r>
              <a:rPr lang="pt-BR" dirty="0">
                <a:latin typeface="Times New Roman" panose="02020603050405020304" pitchFamily="18" charset="0"/>
                <a:cs typeface="Times New Roman" panose="02020603050405020304" pitchFamily="18" charset="0"/>
              </a:rPr>
              <a:t>C → g</a:t>
            </a:r>
          </a:p>
          <a:p>
            <a:pPr fontAlgn="base"/>
            <a:endParaRPr lang="pt-BR" dirty="0">
              <a:latin typeface="Times New Roman" panose="02020603050405020304" pitchFamily="18" charset="0"/>
              <a:cs typeface="Times New Roman" panose="02020603050405020304" pitchFamily="18" charset="0"/>
            </a:endParaRPr>
          </a:p>
          <a:p>
            <a:pPr marL="0" indent="0" fontAlgn="base">
              <a:buNone/>
            </a:pPr>
            <a:r>
              <a:rPr lang="pt-BR" dirty="0">
                <a:latin typeface="Times New Roman" panose="02020603050405020304" pitchFamily="18" charset="0"/>
                <a:cs typeface="Times New Roman" panose="02020603050405020304" pitchFamily="18" charset="0"/>
              </a:rPr>
              <a:t>First Function</a:t>
            </a: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39C9F99-2ED0-444E-BC39-2EA4DFE7CF17}"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of first and follow function with left recursion</a:t>
            </a:r>
          </a:p>
        </p:txBody>
      </p:sp>
      <p:graphicFrame>
        <p:nvGraphicFramePr>
          <p:cNvPr id="17" name="Table 17">
            <a:extLst>
              <a:ext uri="{FF2B5EF4-FFF2-40B4-BE49-F238E27FC236}">
                <a16:creationId xmlns:a16="http://schemas.microsoft.com/office/drawing/2014/main" id="{2D385893-6C4D-4948-83F9-B59B0BFB87C2}"/>
              </a:ext>
            </a:extLst>
          </p:cNvPr>
          <p:cNvGraphicFramePr>
            <a:graphicFrameLocks noGrp="1"/>
          </p:cNvGraphicFramePr>
          <p:nvPr>
            <p:extLst>
              <p:ext uri="{D42A27DB-BD31-4B8C-83A1-F6EECF244321}">
                <p14:modId xmlns:p14="http://schemas.microsoft.com/office/powerpoint/2010/main" val="2461849952"/>
              </p:ext>
            </p:extLst>
          </p:nvPr>
        </p:nvGraphicFramePr>
        <p:xfrm>
          <a:off x="3810000" y="2743199"/>
          <a:ext cx="4724400" cy="3382962"/>
        </p:xfrm>
        <a:graphic>
          <a:graphicData uri="http://schemas.openxmlformats.org/drawingml/2006/table">
            <a:tbl>
              <a:tblPr firstRow="1" bandRow="1">
                <a:tableStyleId>{21E4AEA4-8DFA-4A89-87EB-49C32662AFE0}</a:tableStyleId>
              </a:tblPr>
              <a:tblGrid>
                <a:gridCol w="1889760">
                  <a:extLst>
                    <a:ext uri="{9D8B030D-6E8A-4147-A177-3AD203B41FA5}">
                      <a16:colId xmlns:a16="http://schemas.microsoft.com/office/drawing/2014/main" val="3571097689"/>
                    </a:ext>
                  </a:extLst>
                </a:gridCol>
                <a:gridCol w="2834640">
                  <a:extLst>
                    <a:ext uri="{9D8B030D-6E8A-4147-A177-3AD203B41FA5}">
                      <a16:colId xmlns:a16="http://schemas.microsoft.com/office/drawing/2014/main" val="561249135"/>
                    </a:ext>
                  </a:extLst>
                </a:gridCol>
              </a:tblGrid>
              <a:tr h="563827">
                <a:tc>
                  <a:txBody>
                    <a:bodyPr/>
                    <a:lstStyle/>
                    <a:p>
                      <a:r>
                        <a:rPr lang="en-IN" sz="2000" dirty="0"/>
                        <a:t>Symbols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a:t>First()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20641"/>
                  </a:ext>
                </a:extLst>
              </a:tr>
              <a:tr h="563827">
                <a:tc>
                  <a:txBody>
                    <a:bodyPr/>
                    <a:lstStyle/>
                    <a:p>
                      <a:r>
                        <a:rPr lang="en-IN" sz="2000"/>
                        <a:t>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a:t>{a</a:t>
                      </a:r>
                      <a:r>
                        <a:rPr kumimoji="0" lang="en-US" altLang="en-US" sz="2000" u="none" strike="noStrike" cap="none" normalizeH="0" baseline="0">
                          <a:ln>
                            <a:noFill/>
                          </a:ln>
                          <a:effectLst/>
                        </a:rPr>
                        <a: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443980"/>
                  </a:ext>
                </a:extLst>
              </a:tr>
              <a:tr h="563827">
                <a:tc>
                  <a:txBody>
                    <a:bodyPr/>
                    <a:lstStyle/>
                    <a:p>
                      <a:r>
                        <a:rPr lang="en-IN" sz="2000"/>
                        <a:t>A</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{a</a:t>
                      </a:r>
                      <a:r>
                        <a:rPr kumimoji="0" lang="en-US" altLang="en-US" sz="2000" u="none" strike="noStrike" cap="none" normalizeH="0" baseline="0" dirty="0">
                          <a:ln>
                            <a:noFill/>
                          </a:ln>
                          <a:effectLst/>
                        </a:rPr>
                        <a: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2192522"/>
                  </a:ext>
                </a:extLst>
              </a:tr>
              <a:tr h="563827">
                <a:tc>
                  <a:txBody>
                    <a:bodyPr/>
                    <a:lstStyle/>
                    <a:p>
                      <a:r>
                        <a:rPr lang="en-IN" sz="2000"/>
                        <a:t>A’</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{d,</a:t>
                      </a:r>
                      <a:r>
                        <a:rPr kumimoji="0" lang="en-US" altLang="en-US" sz="2000" u="none" strike="noStrike" cap="none" normalizeH="0" baseline="0" dirty="0">
                          <a:ln>
                            <a:noFill/>
                          </a:ln>
                          <a:effectLst/>
                        </a:rPr>
                        <a:t> ε}</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121014"/>
                  </a:ext>
                </a:extLst>
              </a:tr>
              <a:tr h="563827">
                <a:tc>
                  <a:txBody>
                    <a:bodyPr/>
                    <a:lstStyle/>
                    <a:p>
                      <a:r>
                        <a:rPr lang="en-IN" sz="2000"/>
                        <a:t>B</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{b</a:t>
                      </a:r>
                      <a:r>
                        <a:rPr kumimoji="0" lang="en-US" altLang="en-US" sz="2000" u="none" strike="noStrike" cap="none" normalizeH="0" baseline="0" dirty="0">
                          <a:ln>
                            <a:noFill/>
                          </a:ln>
                          <a:effectLst/>
                        </a:rPr>
                        <a: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9961594"/>
                  </a:ext>
                </a:extLst>
              </a:tr>
              <a:tr h="563827">
                <a:tc>
                  <a:txBody>
                    <a:bodyPr/>
                    <a:lstStyle/>
                    <a:p>
                      <a:r>
                        <a:rPr lang="en-IN" sz="2000"/>
                        <a:t>C</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{g</a:t>
                      </a:r>
                      <a:r>
                        <a:rPr kumimoji="0" lang="en-US" altLang="en-US" sz="2000" u="none" strike="noStrike" cap="none" normalizeH="0" baseline="0" dirty="0">
                          <a:ln>
                            <a:noFill/>
                          </a:ln>
                          <a:effectLst/>
                        </a:rPr>
                        <a: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612043"/>
                  </a:ext>
                </a:extLst>
              </a:tr>
            </a:tbl>
          </a:graphicData>
        </a:graphic>
      </p:graphicFrame>
      <p:sp>
        <p:nvSpPr>
          <p:cNvPr id="2" name="Arrow: Right 1">
            <a:extLst>
              <a:ext uri="{FF2B5EF4-FFF2-40B4-BE49-F238E27FC236}">
                <a16:creationId xmlns:a16="http://schemas.microsoft.com/office/drawing/2014/main" id="{5487E69C-B37B-4825-950F-681413EE0BC0}"/>
              </a:ext>
            </a:extLst>
          </p:cNvPr>
          <p:cNvSpPr/>
          <p:nvPr/>
        </p:nvSpPr>
        <p:spPr>
          <a:xfrm>
            <a:off x="2514600" y="4648200"/>
            <a:ext cx="838200" cy="5334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dirty="0"/>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57321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anim calcmode="lin" valueType="num">
                                      <p:cBhvr additive="base">
                                        <p:cTn id="11"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anim calcmode="lin" valueType="num">
                                      <p:cBhvr additive="base">
                                        <p:cTn id="15"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anim calcmode="lin" valueType="num">
                                      <p:cBhvr additive="base">
                                        <p:cTn id="19"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5" end="5"/>
                                            </p:txEl>
                                          </p:spTgt>
                                        </p:tgtEl>
                                        <p:attrNameLst>
                                          <p:attrName>style.visibility</p:attrName>
                                        </p:attrNameLst>
                                      </p:cBhvr>
                                      <p:to>
                                        <p:strVal val="visible"/>
                                      </p:to>
                                    </p:set>
                                    <p:anim calcmode="lin" valueType="num">
                                      <p:cBhvr additive="base">
                                        <p:cTn id="23"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6" end="6"/>
                                            </p:txEl>
                                          </p:spTgt>
                                        </p:tgtEl>
                                        <p:attrNameLst>
                                          <p:attrName>style.visibility</p:attrName>
                                        </p:attrNameLst>
                                      </p:cBhvr>
                                      <p:to>
                                        <p:strVal val="visible"/>
                                      </p:to>
                                    </p:set>
                                    <p:anim calcmode="lin" valueType="num">
                                      <p:cBhvr additive="base">
                                        <p:cTn id="27"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16">
                                            <p:txEl>
                                              <p:pRg st="8" end="8"/>
                                            </p:txEl>
                                          </p:spTgt>
                                        </p:tgtEl>
                                        <p:attrNameLst>
                                          <p:attrName>style.visibility</p:attrName>
                                        </p:attrNameLst>
                                      </p:cBhvr>
                                      <p:to>
                                        <p:strVal val="visible"/>
                                      </p:to>
                                    </p:set>
                                    <p:animEffect transition="in" filter="barn(inVertical)">
                                      <p:cBhvr>
                                        <p:cTn id="33" dur="500"/>
                                        <p:tgtEl>
                                          <p:spTgt spid="16">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down)">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heel(1)">
                                      <p:cBhvr>
                                        <p:cTn id="43"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1066800"/>
            <a:ext cx="8229600" cy="5059363"/>
          </a:xfrm>
        </p:spPr>
        <p:txBody>
          <a:bodyPr>
            <a:normAutofit/>
          </a:bodyPr>
          <a:lstStyle/>
          <a:p>
            <a:pPr marL="0" indent="0" fontAlgn="base">
              <a:buNone/>
            </a:pPr>
            <a:r>
              <a:rPr lang="pt-BR" sz="2400" dirty="0">
                <a:latin typeface="Times New Roman" panose="02020603050405020304" pitchFamily="18" charset="0"/>
                <a:cs typeface="Times New Roman" panose="02020603050405020304" pitchFamily="18" charset="0"/>
              </a:rPr>
              <a:t>Follow Function:-</a:t>
            </a:r>
            <a:endParaRPr lang="en-IN"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C75D1AF-FDC4-43B6-92B4-8E8A4D0E53A2}"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of first and follow function with left recursion</a:t>
            </a:r>
          </a:p>
        </p:txBody>
      </p:sp>
      <p:graphicFrame>
        <p:nvGraphicFramePr>
          <p:cNvPr id="17" name="Table 17">
            <a:extLst>
              <a:ext uri="{FF2B5EF4-FFF2-40B4-BE49-F238E27FC236}">
                <a16:creationId xmlns:a16="http://schemas.microsoft.com/office/drawing/2014/main" id="{2D385893-6C4D-4948-83F9-B59B0BFB87C2}"/>
              </a:ext>
            </a:extLst>
          </p:cNvPr>
          <p:cNvGraphicFramePr>
            <a:graphicFrameLocks noGrp="1"/>
          </p:cNvGraphicFramePr>
          <p:nvPr>
            <p:extLst>
              <p:ext uri="{D42A27DB-BD31-4B8C-83A1-F6EECF244321}">
                <p14:modId xmlns:p14="http://schemas.microsoft.com/office/powerpoint/2010/main" val="3547507673"/>
              </p:ext>
            </p:extLst>
          </p:nvPr>
        </p:nvGraphicFramePr>
        <p:xfrm>
          <a:off x="1066800" y="2057400"/>
          <a:ext cx="5334000" cy="3901440"/>
        </p:xfrm>
        <a:graphic>
          <a:graphicData uri="http://schemas.openxmlformats.org/drawingml/2006/table">
            <a:tbl>
              <a:tblPr firstRow="1" bandRow="1">
                <a:tableStyleId>{21E4AEA4-8DFA-4A89-87EB-49C32662AFE0}</a:tableStyleId>
              </a:tblPr>
              <a:tblGrid>
                <a:gridCol w="2133600">
                  <a:extLst>
                    <a:ext uri="{9D8B030D-6E8A-4147-A177-3AD203B41FA5}">
                      <a16:colId xmlns:a16="http://schemas.microsoft.com/office/drawing/2014/main" val="3571097689"/>
                    </a:ext>
                  </a:extLst>
                </a:gridCol>
                <a:gridCol w="3200400">
                  <a:extLst>
                    <a:ext uri="{9D8B030D-6E8A-4147-A177-3AD203B41FA5}">
                      <a16:colId xmlns:a16="http://schemas.microsoft.com/office/drawing/2014/main" val="561249135"/>
                    </a:ext>
                  </a:extLst>
                </a:gridCol>
              </a:tblGrid>
              <a:tr h="650240">
                <a:tc>
                  <a:txBody>
                    <a:bodyPr/>
                    <a:lstStyle/>
                    <a:p>
                      <a:r>
                        <a:rPr lang="en-IN" sz="1800" dirty="0"/>
                        <a:t>Symbols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Follow()</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20641"/>
                  </a:ext>
                </a:extLst>
              </a:tr>
              <a:tr h="650240">
                <a:tc>
                  <a:txBody>
                    <a:bodyPr/>
                    <a:lstStyle/>
                    <a:p>
                      <a:r>
                        <a:rPr lang="en-IN" sz="1800"/>
                        <a:t>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a:t>
                      </a:r>
                      <a:r>
                        <a:rPr kumimoji="0" lang="en-US" altLang="en-US" sz="1800" u="none" strike="noStrike" cap="none" normalizeH="0" baseline="0" dirty="0">
                          <a:ln>
                            <a:noFill/>
                          </a:ln>
                          <a:effectLst/>
                        </a:rPr>
                        <a: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443980"/>
                  </a:ext>
                </a:extLst>
              </a:tr>
              <a:tr h="650240">
                <a:tc>
                  <a:txBody>
                    <a:bodyPr/>
                    <a:lstStyle/>
                    <a:p>
                      <a:r>
                        <a:rPr lang="en-IN" sz="1800"/>
                        <a:t>A</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a:t>
                      </a:r>
                      <a:r>
                        <a:rPr kumimoji="0" lang="en-US" altLang="en-US" sz="1800" u="none" strike="noStrike" cap="none" normalizeH="0" baseline="0" dirty="0">
                          <a:ln>
                            <a:noFill/>
                          </a:ln>
                          <a:effectLst/>
                        </a:rPr>
                        <a: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2192522"/>
                  </a:ext>
                </a:extLst>
              </a:tr>
              <a:tr h="650240">
                <a:tc>
                  <a:txBody>
                    <a:bodyPr/>
                    <a:lstStyle/>
                    <a:p>
                      <a:r>
                        <a:rPr lang="en-IN" sz="1800"/>
                        <a:t>A’</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a:t>
                      </a:r>
                      <a:r>
                        <a:rPr kumimoji="0" lang="en-US" altLang="en-US" sz="1800" u="none" strike="noStrike" cap="none" normalizeH="0" baseline="0" dirty="0">
                          <a:ln>
                            <a:noFill/>
                          </a:ln>
                          <a:effectLst/>
                        </a:rPr>
                        <a: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121014"/>
                  </a:ext>
                </a:extLst>
              </a:tr>
              <a:tr h="650240">
                <a:tc>
                  <a:txBody>
                    <a:bodyPr/>
                    <a:lstStyle/>
                    <a:p>
                      <a:r>
                        <a:rPr lang="en-IN" sz="1800"/>
                        <a:t>B</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{d,$</a:t>
                      </a:r>
                      <a:r>
                        <a:rPr kumimoji="0" lang="en-US" altLang="en-US" sz="1800" u="none" strike="noStrike" cap="none" normalizeH="0" baseline="0" dirty="0">
                          <a:ln>
                            <a:noFill/>
                          </a:ln>
                          <a:effectLst/>
                        </a:rPr>
                        <a: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9961594"/>
                  </a:ext>
                </a:extLst>
              </a:tr>
              <a:tr h="650240">
                <a:tc>
                  <a:txBody>
                    <a:bodyPr/>
                    <a:lstStyle/>
                    <a:p>
                      <a:r>
                        <a:rPr lang="en-IN" sz="1800"/>
                        <a:t>C</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{NA</a:t>
                      </a:r>
                      <a:r>
                        <a:rPr kumimoji="0" lang="en-US" altLang="en-US" sz="1800" u="none" strike="noStrike" cap="none" normalizeH="0" baseline="0" dirty="0">
                          <a:ln>
                            <a:noFill/>
                          </a:ln>
                          <a:effectLst/>
                        </a:rPr>
                        <a: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612043"/>
                  </a:ext>
                </a:extLst>
              </a:tr>
            </a:tbl>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55484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heel(1)">
                                      <p:cBhvr>
                                        <p:cTn id="13"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1066800"/>
            <a:ext cx="8229600" cy="5059363"/>
          </a:xfrm>
        </p:spPr>
        <p:txBody>
          <a:bodyPr>
            <a:normAutofit/>
          </a:bodyPr>
          <a:lstStyle/>
          <a:p>
            <a:pPr marL="0" indent="0" algn="ctr" fontAlgn="base">
              <a:buNone/>
            </a:pPr>
            <a:r>
              <a:rPr lang="en-US" b="0" i="1" dirty="0">
                <a:solidFill>
                  <a:srgbClr val="303030"/>
                </a:solidFill>
                <a:effectLst/>
                <a:latin typeface="Times New Roman" panose="02020603050405020304" pitchFamily="18" charset="0"/>
                <a:cs typeface="Times New Roman" panose="02020603050405020304" pitchFamily="18" charset="0"/>
              </a:rPr>
              <a:t>Left factoring is a process by which the grammar with common prefixes is transformed.</a:t>
            </a:r>
          </a:p>
          <a:p>
            <a:pPr marL="0" indent="0" algn="ctr" fontAlgn="base">
              <a:buNone/>
            </a:pPr>
            <a:endParaRPr lang="en-US" b="0" i="1" dirty="0">
              <a:solidFill>
                <a:srgbClr val="303030"/>
              </a:solidFill>
              <a:effectLst/>
              <a:latin typeface="Times New Roman" panose="02020603050405020304" pitchFamily="18" charset="0"/>
              <a:cs typeface="Times New Roman" panose="02020603050405020304" pitchFamily="18" charset="0"/>
            </a:endParaRPr>
          </a:p>
          <a:p>
            <a:pPr marL="0" indent="0" algn="ctr" fontAlgn="base">
              <a:buNone/>
            </a:pPr>
            <a:r>
              <a:rPr lang="en-US" i="1" dirty="0">
                <a:solidFill>
                  <a:srgbClr val="303030"/>
                </a:solidFill>
                <a:latin typeface="Times New Roman" panose="02020603050405020304" pitchFamily="18" charset="0"/>
                <a:cs typeface="Times New Roman" panose="02020603050405020304" pitchFamily="18" charset="0"/>
              </a:rPr>
              <a:t>T</a:t>
            </a:r>
            <a:r>
              <a:rPr lang="en-US" b="0" i="1" dirty="0">
                <a:solidFill>
                  <a:srgbClr val="303030"/>
                </a:solidFill>
                <a:effectLst/>
                <a:latin typeface="Times New Roman" panose="02020603050405020304" pitchFamily="18" charset="0"/>
                <a:cs typeface="Times New Roman" panose="02020603050405020304" pitchFamily="18" charset="0"/>
              </a:rPr>
              <a:t>o make it useful for Top down parsers.</a:t>
            </a:r>
          </a:p>
          <a:p>
            <a:pPr marL="0" indent="0" algn="l" fontAlgn="base">
              <a:buNone/>
            </a:pPr>
            <a:endParaRPr lang="en-US" b="1" i="0" u="sng" dirty="0">
              <a:solidFill>
                <a:srgbClr val="303030"/>
              </a:solidFill>
              <a:effectLst/>
              <a:latin typeface="Times New Roman" panose="02020603050405020304" pitchFamily="18" charset="0"/>
              <a:cs typeface="Times New Roman" panose="02020603050405020304" pitchFamily="18" charset="0"/>
            </a:endParaRPr>
          </a:p>
          <a:p>
            <a:pPr marL="0" indent="0" algn="l" fontAlgn="base">
              <a:buNone/>
            </a:pPr>
            <a:endParaRPr lang="en-US" b="1" i="0" u="sng" dirty="0">
              <a:solidFill>
                <a:srgbClr val="303030"/>
              </a:solidFill>
              <a:effectLst/>
              <a:latin typeface="Times New Roman" panose="02020603050405020304" pitchFamily="18" charset="0"/>
              <a:cs typeface="Times New Roman" panose="02020603050405020304" pitchFamily="18" charset="0"/>
            </a:endParaRPr>
          </a:p>
          <a:p>
            <a:pPr marL="0" indent="0" algn="l" fontAlgn="base">
              <a:buNone/>
            </a:pPr>
            <a:r>
              <a:rPr lang="en-US" b="1" i="0" u="sng" dirty="0">
                <a:solidFill>
                  <a:srgbClr val="303030"/>
                </a:solidFill>
                <a:effectLst/>
                <a:latin typeface="Times New Roman" panose="02020603050405020304" pitchFamily="18" charset="0"/>
                <a:cs typeface="Times New Roman" panose="02020603050405020304" pitchFamily="18" charset="0"/>
              </a:rPr>
              <a:t>Example-</a:t>
            </a:r>
            <a:r>
              <a:rPr lang="en-US" b="1" u="sng" dirty="0">
                <a:solidFill>
                  <a:srgbClr val="303030"/>
                </a:solidFill>
                <a:latin typeface="Times New Roman" panose="02020603050405020304" pitchFamily="18" charset="0"/>
                <a:cs typeface="Times New Roman" panose="02020603050405020304" pitchFamily="18" charset="0"/>
              </a:rPr>
              <a:t>   </a:t>
            </a:r>
            <a:r>
              <a:rPr lang="en-US" b="1" i="0" dirty="0">
                <a:solidFill>
                  <a:srgbClr val="FF9900"/>
                </a:solidFill>
                <a:effectLst/>
                <a:latin typeface="Times New Roman" panose="02020603050405020304" pitchFamily="18" charset="0"/>
                <a:cs typeface="Times New Roman" panose="02020603050405020304" pitchFamily="18" charset="0"/>
              </a:rPr>
              <a:t>A </a:t>
            </a:r>
            <a:r>
              <a:rPr lang="en-US" b="0" i="0" dirty="0">
                <a:solidFill>
                  <a:srgbClr val="FF9900"/>
                </a:solidFill>
                <a:effectLst/>
                <a:latin typeface="Times New Roman" panose="02020603050405020304" pitchFamily="18" charset="0"/>
                <a:cs typeface="Times New Roman" panose="02020603050405020304" pitchFamily="18" charset="0"/>
              </a:rPr>
              <a:t>→</a:t>
            </a:r>
            <a:r>
              <a:rPr lang="en-US" b="1" i="0" dirty="0">
                <a:solidFill>
                  <a:srgbClr val="FF9900"/>
                </a:solidFill>
                <a:effectLst/>
                <a:latin typeface="Times New Roman" panose="02020603050405020304" pitchFamily="18" charset="0"/>
                <a:cs typeface="Times New Roman" panose="02020603050405020304" pitchFamily="18" charset="0"/>
              </a:rPr>
              <a:t> αβ</a:t>
            </a:r>
            <a:r>
              <a:rPr lang="en-US" b="1" i="0" baseline="-25000" dirty="0">
                <a:solidFill>
                  <a:srgbClr val="FF9900"/>
                </a:solidFill>
                <a:effectLst/>
                <a:latin typeface="Times New Roman" panose="02020603050405020304" pitchFamily="18" charset="0"/>
                <a:cs typeface="Times New Roman" panose="02020603050405020304" pitchFamily="18" charset="0"/>
              </a:rPr>
              <a:t>1</a:t>
            </a:r>
            <a:r>
              <a:rPr lang="en-US" b="1" i="0" dirty="0">
                <a:solidFill>
                  <a:srgbClr val="FF9900"/>
                </a:solidFill>
                <a:effectLst/>
                <a:latin typeface="Times New Roman" panose="02020603050405020304" pitchFamily="18" charset="0"/>
                <a:cs typeface="Times New Roman" panose="02020603050405020304" pitchFamily="18" charset="0"/>
              </a:rPr>
              <a:t> / αβ</a:t>
            </a:r>
            <a:r>
              <a:rPr lang="en-US" b="1" i="0" baseline="-25000" dirty="0">
                <a:solidFill>
                  <a:srgbClr val="FF9900"/>
                </a:solidFill>
                <a:effectLst/>
                <a:latin typeface="Times New Roman" panose="02020603050405020304" pitchFamily="18" charset="0"/>
                <a:cs typeface="Times New Roman" panose="02020603050405020304" pitchFamily="18" charset="0"/>
              </a:rPr>
              <a:t>2</a:t>
            </a:r>
            <a:r>
              <a:rPr lang="en-US" b="1" i="0" dirty="0">
                <a:solidFill>
                  <a:srgbClr val="FF9900"/>
                </a:solidFill>
                <a:effectLst/>
                <a:latin typeface="Times New Roman" panose="02020603050405020304" pitchFamily="18" charset="0"/>
                <a:cs typeface="Times New Roman" panose="02020603050405020304" pitchFamily="18" charset="0"/>
              </a:rPr>
              <a:t> / αβ</a:t>
            </a:r>
            <a:r>
              <a:rPr lang="en-US" b="1" i="0" baseline="-25000" dirty="0">
                <a:solidFill>
                  <a:srgbClr val="FF9900"/>
                </a:solidFill>
                <a:effectLst/>
                <a:latin typeface="Times New Roman" panose="02020603050405020304" pitchFamily="18" charset="0"/>
                <a:cs typeface="Times New Roman" panose="02020603050405020304" pitchFamily="18" charset="0"/>
              </a:rPr>
              <a:t>3</a:t>
            </a:r>
          </a:p>
          <a:p>
            <a:pPr marL="0" indent="0" algn="l" fontAlgn="base">
              <a:buNone/>
            </a:pPr>
            <a:endParaRPr lang="en-US" b="1" baseline="-25000" dirty="0">
              <a:solidFill>
                <a:srgbClr val="FF9900"/>
              </a:solidFill>
              <a:latin typeface="Times New Roman" panose="02020603050405020304" pitchFamily="18" charset="0"/>
              <a:cs typeface="Times New Roman" panose="02020603050405020304" pitchFamily="18" charset="0"/>
            </a:endParaRPr>
          </a:p>
          <a:p>
            <a:pPr marL="0" indent="0" algn="l"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Top down parsers can not decide which production must be chosen to parse the string in hand.</a:t>
            </a:r>
          </a:p>
          <a:p>
            <a:pPr algn="l" fontAlgn="base">
              <a:buFont typeface="Arial" panose="020B0604020202020204" pitchFamily="34" charset="0"/>
              <a:buChar char="•"/>
            </a:pPr>
            <a:endParaRPr lang="en-US" b="0" i="0" dirty="0">
              <a:solidFill>
                <a:srgbClr val="303030"/>
              </a:solidFill>
              <a:effectLst/>
              <a:latin typeface="Times New Roman" panose="02020603050405020304" pitchFamily="18" charset="0"/>
              <a:cs typeface="Times New Roman" panose="02020603050405020304" pitchFamily="18" charset="0"/>
            </a:endParaRPr>
          </a:p>
          <a:p>
            <a:pPr algn="just" fontAlgn="base"/>
            <a:r>
              <a:rPr lang="en-US" b="0" i="0" dirty="0">
                <a:solidFill>
                  <a:srgbClr val="303030"/>
                </a:solidFill>
                <a:effectLst/>
                <a:latin typeface="Times New Roman" panose="02020603050405020304" pitchFamily="18" charset="0"/>
                <a:cs typeface="Times New Roman" panose="02020603050405020304" pitchFamily="18" charset="0"/>
              </a:rPr>
              <a:t>To remove this confusion, we use left factoring.</a:t>
            </a: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5E67415-F10E-45A9-9D3A-7545DF83F167}"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Left Factoring</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35131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00"/>
                                        <p:tgtEl>
                                          <p:spTgt spid="1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6">
                                            <p:txEl>
                                              <p:pRg st="2" end="2"/>
                                            </p:txEl>
                                          </p:spTgt>
                                        </p:tgtEl>
                                        <p:attrNameLst>
                                          <p:attrName>style.visibility</p:attrName>
                                        </p:attrNameLst>
                                      </p:cBhvr>
                                      <p:to>
                                        <p:strVal val="visible"/>
                                      </p:to>
                                    </p:set>
                                    <p:animEffect transition="in" filter="wipe(down)">
                                      <p:cBhvr>
                                        <p:cTn id="10" dur="500"/>
                                        <p:tgtEl>
                                          <p:spTgt spid="1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6">
                                            <p:txEl>
                                              <p:pRg st="5" end="5"/>
                                            </p:txEl>
                                          </p:spTgt>
                                        </p:tgtEl>
                                        <p:attrNameLst>
                                          <p:attrName>style.visibility</p:attrName>
                                        </p:attrNameLst>
                                      </p:cBhvr>
                                      <p:to>
                                        <p:strVal val="visible"/>
                                      </p:to>
                                    </p:set>
                                    <p:anim calcmode="lin" valueType="num">
                                      <p:cBhvr additive="base">
                                        <p:cTn id="15"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6">
                                            <p:txEl>
                                              <p:pRg st="8" end="8"/>
                                            </p:txEl>
                                          </p:spTgt>
                                        </p:tgtEl>
                                        <p:attrNameLst>
                                          <p:attrName>style.visibility</p:attrName>
                                        </p:attrNameLst>
                                      </p:cBhvr>
                                      <p:to>
                                        <p:strVal val="visible"/>
                                      </p:to>
                                    </p:set>
                                    <p:animEffect transition="in" filter="fade">
                                      <p:cBhvr>
                                        <p:cTn id="21" dur="1000"/>
                                        <p:tgtEl>
                                          <p:spTgt spid="16">
                                            <p:txEl>
                                              <p:pRg st="8" end="8"/>
                                            </p:txEl>
                                          </p:spTgt>
                                        </p:tgtEl>
                                      </p:cBhvr>
                                    </p:animEffect>
                                    <p:anim calcmode="lin" valueType="num">
                                      <p:cBhvr>
                                        <p:cTn id="22" dur="1000" fill="hold"/>
                                        <p:tgtEl>
                                          <p:spTgt spid="16">
                                            <p:txEl>
                                              <p:pRg st="8" end="8"/>
                                            </p:txEl>
                                          </p:spTgt>
                                        </p:tgtEl>
                                        <p:attrNameLst>
                                          <p:attrName>ppt_x</p:attrName>
                                        </p:attrNameLst>
                                      </p:cBhvr>
                                      <p:tavLst>
                                        <p:tav tm="0">
                                          <p:val>
                                            <p:strVal val="#ppt_x"/>
                                          </p:val>
                                        </p:tav>
                                        <p:tav tm="100000">
                                          <p:val>
                                            <p:strVal val="#ppt_x"/>
                                          </p:val>
                                        </p:tav>
                                      </p:tavLst>
                                    </p:anim>
                                    <p:anim calcmode="lin" valueType="num">
                                      <p:cBhvr>
                                        <p:cTn id="23" dur="1000" fill="hold"/>
                                        <p:tgtEl>
                                          <p:spTgt spid="16">
                                            <p:txEl>
                                              <p:pRg st="8" end="8"/>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6">
                                            <p:txEl>
                                              <p:pRg st="10" end="10"/>
                                            </p:txEl>
                                          </p:spTgt>
                                        </p:tgtEl>
                                        <p:attrNameLst>
                                          <p:attrName>style.visibility</p:attrName>
                                        </p:attrNameLst>
                                      </p:cBhvr>
                                      <p:to>
                                        <p:strVal val="visible"/>
                                      </p:to>
                                    </p:set>
                                    <p:animEffect transition="in" filter="fade">
                                      <p:cBhvr>
                                        <p:cTn id="26" dur="1000"/>
                                        <p:tgtEl>
                                          <p:spTgt spid="16">
                                            <p:txEl>
                                              <p:pRg st="10" end="10"/>
                                            </p:txEl>
                                          </p:spTgt>
                                        </p:tgtEl>
                                      </p:cBhvr>
                                    </p:animEffect>
                                    <p:anim calcmode="lin" valueType="num">
                                      <p:cBhvr>
                                        <p:cTn id="27" dur="1000" fill="hold"/>
                                        <p:tgtEl>
                                          <p:spTgt spid="16">
                                            <p:txEl>
                                              <p:pRg st="10" end="10"/>
                                            </p:txEl>
                                          </p:spTgt>
                                        </p:tgtEl>
                                        <p:attrNameLst>
                                          <p:attrName>ppt_x</p:attrName>
                                        </p:attrNameLst>
                                      </p:cBhvr>
                                      <p:tavLst>
                                        <p:tav tm="0">
                                          <p:val>
                                            <p:strVal val="#ppt_x"/>
                                          </p:val>
                                        </p:tav>
                                        <p:tav tm="100000">
                                          <p:val>
                                            <p:strVal val="#ppt_x"/>
                                          </p:val>
                                        </p:tav>
                                      </p:tavLst>
                                    </p:anim>
                                    <p:anim calcmode="lin" valueType="num">
                                      <p:cBhvr>
                                        <p:cTn id="28" dur="1000" fill="hold"/>
                                        <p:tgtEl>
                                          <p:spTgt spid="16">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rmAutofit/>
          </a:bodyPr>
          <a:lstStyle/>
          <a:p>
            <a:pPr marL="0" indent="0" algn="l" fontAlgn="base">
              <a:buNone/>
            </a:pPr>
            <a:r>
              <a:rPr lang="en-US" b="0" i="0" dirty="0">
                <a:solidFill>
                  <a:srgbClr val="303030"/>
                </a:solidFill>
                <a:effectLst/>
                <a:latin typeface="Times New Roman" panose="02020603050405020304" pitchFamily="18" charset="0"/>
                <a:cs typeface="Times New Roman" panose="02020603050405020304" pitchFamily="18" charset="0"/>
              </a:rPr>
              <a:t>In left factoring,</a:t>
            </a:r>
          </a:p>
          <a:p>
            <a:pPr marL="0" indent="0" algn="l"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We make one production for each common prefixes.</a:t>
            </a:r>
          </a:p>
          <a:p>
            <a:pPr algn="l" fontAlgn="base">
              <a:buFont typeface="Arial" panose="020B0604020202020204" pitchFamily="34" charset="0"/>
              <a:buChar char="•"/>
            </a:pPr>
            <a:endParaRPr lang="en-US"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The common prefix may be a terminal or a non-terminal or a combination of both.</a:t>
            </a:r>
          </a:p>
          <a:p>
            <a:pPr algn="l" fontAlgn="base">
              <a:buFont typeface="Arial" panose="020B0604020202020204" pitchFamily="34" charset="0"/>
              <a:buChar char="•"/>
            </a:pPr>
            <a:endParaRPr lang="en-US"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Rest of the derivation is added by new productions.</a:t>
            </a:r>
          </a:p>
        </p:txBody>
      </p:sp>
      <p:sp>
        <p:nvSpPr>
          <p:cNvPr id="4" name="Date Placeholder 3"/>
          <p:cNvSpPr>
            <a:spLocks noGrp="1"/>
          </p:cNvSpPr>
          <p:nvPr>
            <p:ph type="dt" sz="half" idx="10"/>
          </p:nvPr>
        </p:nvSpPr>
        <p:spPr/>
        <p:txBody>
          <a:bodyPr/>
          <a:lstStyle/>
          <a:p>
            <a:fld id="{12C698F1-33C5-455C-A86D-82EE67BE7F90}"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Left Factoring</a:t>
            </a:r>
          </a:p>
        </p:txBody>
      </p:sp>
      <p:sp>
        <p:nvSpPr>
          <p:cNvPr id="3" name="Rectangle: Diagonal Corners Rounded 2">
            <a:extLst>
              <a:ext uri="{FF2B5EF4-FFF2-40B4-BE49-F238E27FC236}">
                <a16:creationId xmlns:a16="http://schemas.microsoft.com/office/drawing/2014/main" id="{A88E6B14-BE18-47BB-8484-9BB75C0477CD}"/>
              </a:ext>
            </a:extLst>
          </p:cNvPr>
          <p:cNvSpPr/>
          <p:nvPr/>
        </p:nvSpPr>
        <p:spPr>
          <a:xfrm>
            <a:off x="762000" y="3816350"/>
            <a:ext cx="2819400" cy="1143000"/>
          </a:xfrm>
          <a:prstGeom prst="round2Diag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buNone/>
            </a:pPr>
            <a:r>
              <a:rPr lang="en-IN" sz="2400" b="1" i="0" dirty="0">
                <a:solidFill>
                  <a:schemeClr val="tx1"/>
                </a:solidFill>
                <a:effectLst/>
                <a:latin typeface="Times New Roman" panose="02020603050405020304" pitchFamily="18" charset="0"/>
                <a:cs typeface="Times New Roman" panose="02020603050405020304" pitchFamily="18" charset="0"/>
              </a:rPr>
              <a:t>A </a:t>
            </a:r>
            <a:r>
              <a:rPr lang="en-IN" sz="2400" b="0" i="0" dirty="0">
                <a:solidFill>
                  <a:schemeClr val="tx1"/>
                </a:solidFill>
                <a:effectLst/>
                <a:latin typeface="Times New Roman" panose="02020603050405020304" pitchFamily="18" charset="0"/>
                <a:cs typeface="Times New Roman" panose="02020603050405020304" pitchFamily="18" charset="0"/>
              </a:rPr>
              <a:t>→</a:t>
            </a:r>
            <a:r>
              <a:rPr lang="en-IN" sz="2400" b="1" i="0" dirty="0">
                <a:solidFill>
                  <a:schemeClr val="tx1"/>
                </a:solidFill>
                <a:effectLst/>
                <a:latin typeface="Times New Roman" panose="02020603050405020304" pitchFamily="18" charset="0"/>
                <a:cs typeface="Times New Roman" panose="02020603050405020304" pitchFamily="18" charset="0"/>
              </a:rPr>
              <a:t> </a:t>
            </a:r>
            <a:r>
              <a:rPr lang="el-GR" sz="2400" b="1" i="0" dirty="0">
                <a:solidFill>
                  <a:schemeClr val="tx1"/>
                </a:solidFill>
                <a:effectLst/>
                <a:latin typeface="Times New Roman" panose="02020603050405020304" pitchFamily="18" charset="0"/>
                <a:cs typeface="Times New Roman" panose="02020603050405020304" pitchFamily="18" charset="0"/>
              </a:rPr>
              <a:t>αβ</a:t>
            </a:r>
            <a:r>
              <a:rPr lang="el-GR" sz="2400" b="1" i="0" baseline="-25000" dirty="0">
                <a:solidFill>
                  <a:schemeClr val="tx1"/>
                </a:solidFill>
                <a:effectLst/>
                <a:latin typeface="Times New Roman" panose="02020603050405020304" pitchFamily="18" charset="0"/>
                <a:cs typeface="Times New Roman" panose="02020603050405020304" pitchFamily="18" charset="0"/>
              </a:rPr>
              <a:t>1</a:t>
            </a:r>
            <a:r>
              <a:rPr lang="el-GR" sz="2400" b="1" i="0" dirty="0">
                <a:solidFill>
                  <a:schemeClr val="tx1"/>
                </a:solidFill>
                <a:effectLst/>
                <a:latin typeface="Times New Roman" panose="02020603050405020304" pitchFamily="18" charset="0"/>
                <a:cs typeface="Times New Roman" panose="02020603050405020304" pitchFamily="18" charset="0"/>
              </a:rPr>
              <a:t> / αβ</a:t>
            </a:r>
            <a:r>
              <a:rPr lang="el-GR" sz="2400" b="1" i="0" baseline="-25000" dirty="0">
                <a:solidFill>
                  <a:schemeClr val="tx1"/>
                </a:solidFill>
                <a:effectLst/>
                <a:latin typeface="Times New Roman" panose="02020603050405020304" pitchFamily="18" charset="0"/>
                <a:cs typeface="Times New Roman" panose="02020603050405020304" pitchFamily="18" charset="0"/>
              </a:rPr>
              <a:t>2</a:t>
            </a:r>
            <a:r>
              <a:rPr lang="el-GR" sz="2400" b="1" i="0" dirty="0">
                <a:solidFill>
                  <a:schemeClr val="tx1"/>
                </a:solidFill>
                <a:effectLst/>
                <a:latin typeface="Times New Roman" panose="02020603050405020304" pitchFamily="18" charset="0"/>
                <a:cs typeface="Times New Roman" panose="02020603050405020304" pitchFamily="18" charset="0"/>
              </a:rPr>
              <a:t> / αβ</a:t>
            </a:r>
            <a:r>
              <a:rPr lang="el-GR" sz="2400" b="1" i="0" baseline="-25000" dirty="0">
                <a:solidFill>
                  <a:schemeClr val="tx1"/>
                </a:solidFill>
                <a:effectLst/>
                <a:latin typeface="Times New Roman" panose="02020603050405020304" pitchFamily="18" charset="0"/>
                <a:cs typeface="Times New Roman" panose="02020603050405020304" pitchFamily="18" charset="0"/>
              </a:rPr>
              <a:t>3</a:t>
            </a:r>
            <a:endParaRPr lang="en-IN" sz="2400" b="1" i="0" baseline="-25000" dirty="0">
              <a:solidFill>
                <a:schemeClr val="tx1"/>
              </a:solidFill>
              <a:effectLst/>
              <a:latin typeface="Times New Roman" panose="02020603050405020304" pitchFamily="18" charset="0"/>
              <a:cs typeface="Times New Roman" panose="02020603050405020304" pitchFamily="18" charset="0"/>
            </a:endParaRPr>
          </a:p>
        </p:txBody>
      </p:sp>
      <p:sp>
        <p:nvSpPr>
          <p:cNvPr id="5" name="Rectangle: Diagonal Corners Rounded 4">
            <a:extLst>
              <a:ext uri="{FF2B5EF4-FFF2-40B4-BE49-F238E27FC236}">
                <a16:creationId xmlns:a16="http://schemas.microsoft.com/office/drawing/2014/main" id="{18DDBAA0-23FF-452B-8557-977E2C4FCBE7}"/>
              </a:ext>
            </a:extLst>
          </p:cNvPr>
          <p:cNvSpPr/>
          <p:nvPr/>
        </p:nvSpPr>
        <p:spPr>
          <a:xfrm>
            <a:off x="5384800" y="3816350"/>
            <a:ext cx="3276600" cy="1143000"/>
          </a:xfrm>
          <a:prstGeom prst="round2Diag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buNone/>
            </a:pPr>
            <a:r>
              <a:rPr lang="en-IN" sz="2400" b="1" i="0" dirty="0">
                <a:solidFill>
                  <a:schemeClr val="tx1"/>
                </a:solidFill>
                <a:effectLst/>
                <a:latin typeface="Times New Roman" panose="02020603050405020304" pitchFamily="18" charset="0"/>
                <a:cs typeface="Times New Roman" panose="02020603050405020304" pitchFamily="18" charset="0"/>
              </a:rPr>
              <a:t>A </a:t>
            </a:r>
            <a:r>
              <a:rPr lang="en-IN" sz="2400" b="0" i="0" dirty="0">
                <a:solidFill>
                  <a:schemeClr val="tx1"/>
                </a:solidFill>
                <a:effectLst/>
                <a:latin typeface="Times New Roman" panose="02020603050405020304" pitchFamily="18" charset="0"/>
                <a:cs typeface="Times New Roman" panose="02020603050405020304" pitchFamily="18" charset="0"/>
              </a:rPr>
              <a:t>→</a:t>
            </a:r>
            <a:r>
              <a:rPr lang="en-IN" sz="2400" b="1" i="0" dirty="0">
                <a:solidFill>
                  <a:schemeClr val="tx1"/>
                </a:solidFill>
                <a:effectLst/>
                <a:latin typeface="Times New Roman" panose="02020603050405020304" pitchFamily="18" charset="0"/>
                <a:cs typeface="Times New Roman" panose="02020603050405020304" pitchFamily="18" charset="0"/>
              </a:rPr>
              <a:t> </a:t>
            </a:r>
            <a:r>
              <a:rPr lang="el-GR" sz="2400" b="1" i="0" dirty="0">
                <a:solidFill>
                  <a:schemeClr val="tx1"/>
                </a:solidFill>
                <a:effectLst/>
                <a:latin typeface="Times New Roman" panose="02020603050405020304" pitchFamily="18" charset="0"/>
                <a:cs typeface="Times New Roman" panose="02020603050405020304" pitchFamily="18" charset="0"/>
              </a:rPr>
              <a:t>α</a:t>
            </a:r>
            <a:r>
              <a:rPr lang="en-IN" sz="2400" b="1" i="0" dirty="0">
                <a:solidFill>
                  <a:schemeClr val="tx1"/>
                </a:solidFill>
                <a:effectLst/>
                <a:latin typeface="Times New Roman" panose="02020603050405020304" pitchFamily="18" charset="0"/>
                <a:cs typeface="Times New Roman" panose="02020603050405020304" pitchFamily="18" charset="0"/>
              </a:rPr>
              <a:t>A’</a:t>
            </a:r>
            <a:endParaRPr lang="en-IN" sz="2400" b="1" i="1" baseline="-250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en-IN" sz="2400" b="1" i="0" dirty="0">
                <a:solidFill>
                  <a:schemeClr val="tx1"/>
                </a:solidFill>
                <a:effectLst/>
                <a:latin typeface="Times New Roman" panose="02020603050405020304" pitchFamily="18" charset="0"/>
                <a:cs typeface="Times New Roman" panose="02020603050405020304" pitchFamily="18" charset="0"/>
              </a:rPr>
              <a:t>A’ </a:t>
            </a:r>
            <a:r>
              <a:rPr lang="en-IN" sz="2400" b="0" i="0" dirty="0">
                <a:solidFill>
                  <a:schemeClr val="tx1"/>
                </a:solidFill>
                <a:effectLst/>
                <a:latin typeface="Times New Roman" panose="02020603050405020304" pitchFamily="18" charset="0"/>
                <a:cs typeface="Times New Roman" panose="02020603050405020304" pitchFamily="18" charset="0"/>
              </a:rPr>
              <a:t>→</a:t>
            </a:r>
            <a:r>
              <a:rPr lang="en-IN" sz="2400" b="1" i="0" dirty="0">
                <a:solidFill>
                  <a:schemeClr val="tx1"/>
                </a:solidFill>
                <a:effectLst/>
                <a:latin typeface="Times New Roman" panose="02020603050405020304" pitchFamily="18" charset="0"/>
                <a:cs typeface="Times New Roman" panose="02020603050405020304" pitchFamily="18" charset="0"/>
              </a:rPr>
              <a:t> </a:t>
            </a:r>
            <a:r>
              <a:rPr lang="el-GR" sz="2400" b="1" i="0" dirty="0">
                <a:solidFill>
                  <a:schemeClr val="tx1"/>
                </a:solidFill>
                <a:effectLst/>
                <a:latin typeface="Times New Roman" panose="02020603050405020304" pitchFamily="18" charset="0"/>
                <a:cs typeface="Times New Roman" panose="02020603050405020304" pitchFamily="18" charset="0"/>
              </a:rPr>
              <a:t>β</a:t>
            </a:r>
            <a:r>
              <a:rPr lang="el-GR" sz="2400" b="1" i="0" baseline="-25000" dirty="0">
                <a:solidFill>
                  <a:schemeClr val="tx1"/>
                </a:solidFill>
                <a:effectLst/>
                <a:latin typeface="Times New Roman" panose="02020603050405020304" pitchFamily="18" charset="0"/>
                <a:cs typeface="Times New Roman" panose="02020603050405020304" pitchFamily="18" charset="0"/>
              </a:rPr>
              <a:t>1</a:t>
            </a:r>
            <a:r>
              <a:rPr lang="el-GR" sz="2400" b="1" i="0" dirty="0">
                <a:solidFill>
                  <a:schemeClr val="tx1"/>
                </a:solidFill>
                <a:effectLst/>
                <a:latin typeface="Times New Roman" panose="02020603050405020304" pitchFamily="18" charset="0"/>
                <a:cs typeface="Times New Roman" panose="02020603050405020304" pitchFamily="18" charset="0"/>
              </a:rPr>
              <a:t> / β</a:t>
            </a:r>
            <a:r>
              <a:rPr lang="el-GR" sz="2400" b="1" i="0" baseline="-25000" dirty="0">
                <a:solidFill>
                  <a:schemeClr val="tx1"/>
                </a:solidFill>
                <a:effectLst/>
                <a:latin typeface="Times New Roman" panose="02020603050405020304" pitchFamily="18" charset="0"/>
                <a:cs typeface="Times New Roman" panose="02020603050405020304" pitchFamily="18" charset="0"/>
              </a:rPr>
              <a:t>2</a:t>
            </a:r>
            <a:r>
              <a:rPr lang="el-GR" sz="2400" b="1" i="0" dirty="0">
                <a:solidFill>
                  <a:schemeClr val="tx1"/>
                </a:solidFill>
                <a:effectLst/>
                <a:latin typeface="Times New Roman" panose="02020603050405020304" pitchFamily="18" charset="0"/>
                <a:cs typeface="Times New Roman" panose="02020603050405020304" pitchFamily="18" charset="0"/>
              </a:rPr>
              <a:t> / β</a:t>
            </a:r>
            <a:r>
              <a:rPr lang="el-GR" sz="2400" b="1" i="0" baseline="-25000" dirty="0">
                <a:solidFill>
                  <a:schemeClr val="tx1"/>
                </a:solidFill>
                <a:effectLst/>
                <a:latin typeface="Times New Roman" panose="02020603050405020304" pitchFamily="18" charset="0"/>
                <a:cs typeface="Times New Roman" panose="02020603050405020304" pitchFamily="18" charset="0"/>
              </a:rPr>
              <a:t>3</a:t>
            </a:r>
            <a:endParaRPr lang="en-IN" sz="2400" i="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3" name="Arrow: Right 12">
            <a:extLst>
              <a:ext uri="{FF2B5EF4-FFF2-40B4-BE49-F238E27FC236}">
                <a16:creationId xmlns:a16="http://schemas.microsoft.com/office/drawing/2014/main" id="{30ACB3BF-66C0-40D2-B3AD-2B8D89A30F25}"/>
              </a:ext>
            </a:extLst>
          </p:cNvPr>
          <p:cNvSpPr/>
          <p:nvPr/>
        </p:nvSpPr>
        <p:spPr>
          <a:xfrm>
            <a:off x="4102100" y="4224736"/>
            <a:ext cx="838200" cy="365125"/>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dirty="0"/>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3167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anim calcmode="lin" valueType="num">
                                      <p:cBhvr additive="base">
                                        <p:cTn id="11"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anim calcmode="lin" valueType="num">
                                      <p:cBhvr additive="base">
                                        <p:cTn id="15"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anim calcmode="lin" valueType="num">
                                      <p:cBhvr additive="base">
                                        <p:cTn id="19"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heel(1)">
                                      <p:cBhvr>
                                        <p:cTn id="25" dur="20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arn(inVertical)">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heel(1)">
                                      <p:cBhvr>
                                        <p:cTn id="35"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rmAutofit/>
          </a:bodyPr>
          <a:lstStyle/>
          <a:p>
            <a:pPr marL="0" indent="0" algn="l"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US" b="0" i="0" dirty="0">
                <a:solidFill>
                  <a:srgbClr val="303030"/>
                </a:solidFill>
                <a:effectLst/>
                <a:latin typeface="Times New Roman" panose="02020603050405020304" pitchFamily="18" charset="0"/>
                <a:cs typeface="Times New Roman" panose="02020603050405020304" pitchFamily="18" charset="0"/>
              </a:rPr>
              <a:t>Do left factoring in the following grammar-</a:t>
            </a:r>
          </a:p>
          <a:p>
            <a:pPr marL="0" indent="0" algn="l" fontAlgn="base">
              <a:buNone/>
            </a:pPr>
            <a:r>
              <a:rPr lang="en-US" b="0" i="0" dirty="0">
                <a:solidFill>
                  <a:srgbClr val="303030"/>
                </a:solidFill>
                <a:effectLst/>
                <a:latin typeface="Times New Roman" panose="02020603050405020304" pitchFamily="18" charset="0"/>
                <a:cs typeface="Times New Roman" panose="02020603050405020304" pitchFamily="18" charset="0"/>
              </a:rPr>
              <a:t>			</a:t>
            </a:r>
          </a:p>
          <a:p>
            <a:pPr marL="0" indent="0" algn="l" fontAlgn="base">
              <a:buNone/>
            </a:pPr>
            <a:r>
              <a:rPr lang="en-US" dirty="0">
                <a:solidFill>
                  <a:srgbClr val="303030"/>
                </a:solidFill>
                <a:latin typeface="Times New Roman" panose="02020603050405020304" pitchFamily="18" charset="0"/>
                <a:cs typeface="Times New Roman" panose="02020603050405020304" pitchFamily="18" charset="0"/>
              </a:rPr>
              <a:t>		</a:t>
            </a:r>
            <a:r>
              <a:rPr lang="en-US" b="0" i="0" dirty="0">
                <a:solidFill>
                  <a:srgbClr val="303030"/>
                </a:solidFill>
                <a:effectLst/>
                <a:latin typeface="Times New Roman" panose="02020603050405020304" pitchFamily="18" charset="0"/>
                <a:cs typeface="Times New Roman" panose="02020603050405020304" pitchFamily="18" charset="0"/>
              </a:rPr>
              <a:t>S → </a:t>
            </a:r>
            <a:r>
              <a:rPr lang="en-US" b="0" i="0" dirty="0" err="1">
                <a:solidFill>
                  <a:srgbClr val="303030"/>
                </a:solidFill>
                <a:effectLst/>
                <a:latin typeface="Times New Roman" panose="02020603050405020304" pitchFamily="18" charset="0"/>
                <a:cs typeface="Times New Roman" panose="02020603050405020304" pitchFamily="18" charset="0"/>
              </a:rPr>
              <a:t>iEtS</a:t>
            </a:r>
            <a:r>
              <a:rPr lang="en-US" b="0" i="0" dirty="0">
                <a:solidFill>
                  <a:srgbClr val="303030"/>
                </a:solidFill>
                <a:effectLst/>
                <a:latin typeface="Times New Roman" panose="02020603050405020304" pitchFamily="18" charset="0"/>
                <a:cs typeface="Times New Roman" panose="02020603050405020304" pitchFamily="18" charset="0"/>
              </a:rPr>
              <a:t> / </a:t>
            </a:r>
            <a:r>
              <a:rPr lang="en-US" b="0" i="0" dirty="0" err="1">
                <a:solidFill>
                  <a:srgbClr val="303030"/>
                </a:solidFill>
                <a:effectLst/>
                <a:latin typeface="Times New Roman" panose="02020603050405020304" pitchFamily="18" charset="0"/>
                <a:cs typeface="Times New Roman" panose="02020603050405020304" pitchFamily="18" charset="0"/>
              </a:rPr>
              <a:t>iEtSeS</a:t>
            </a:r>
            <a:r>
              <a:rPr lang="en-US" b="0" i="0" dirty="0">
                <a:solidFill>
                  <a:srgbClr val="303030"/>
                </a:solidFill>
                <a:effectLst/>
                <a:latin typeface="Times New Roman" panose="02020603050405020304" pitchFamily="18" charset="0"/>
                <a:cs typeface="Times New Roman" panose="02020603050405020304" pitchFamily="18" charset="0"/>
              </a:rPr>
              <a:t> / a</a:t>
            </a:r>
          </a:p>
          <a:p>
            <a:pPr marL="0" indent="0" algn="l" fontAlgn="base">
              <a:buNone/>
            </a:pPr>
            <a:r>
              <a:rPr lang="en-US" dirty="0">
                <a:solidFill>
                  <a:srgbClr val="303030"/>
                </a:solidFill>
                <a:latin typeface="Times New Roman" panose="02020603050405020304" pitchFamily="18" charset="0"/>
                <a:cs typeface="Times New Roman" panose="02020603050405020304" pitchFamily="18" charset="0"/>
              </a:rPr>
              <a:t>		</a:t>
            </a:r>
            <a:r>
              <a:rPr lang="en-US" b="0" i="0" dirty="0">
                <a:solidFill>
                  <a:srgbClr val="303030"/>
                </a:solidFill>
                <a:effectLst/>
                <a:latin typeface="Times New Roman" panose="02020603050405020304" pitchFamily="18" charset="0"/>
                <a:cs typeface="Times New Roman" panose="02020603050405020304" pitchFamily="18" charset="0"/>
              </a:rPr>
              <a:t>E → b</a:t>
            </a:r>
          </a:p>
          <a:p>
            <a:pPr marL="0" indent="0" algn="l"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a:p>
            <a:pPr marL="0" indent="0" algn="l" fontAlgn="base">
              <a:buNone/>
            </a:pP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a:p>
            <a:pPr marL="0" indent="0" algn="l" fontAlgn="base">
              <a:buNone/>
            </a:pPr>
            <a:endParaRPr lang="en-US" b="0" i="1" dirty="0">
              <a:solidFill>
                <a:srgbClr val="303030"/>
              </a:solidFill>
              <a:effectLst>
                <a:outerShdw blurRad="38100" dist="38100" dir="2700000" algn="tl">
                  <a:srgbClr val="000000">
                    <a:alpha val="43137"/>
                  </a:srgbClr>
                </a:outerShdw>
              </a:effectLst>
            </a:endParaRPr>
          </a:p>
          <a:p>
            <a:pPr marL="0" indent="0" algn="l" fontAlgn="base">
              <a:buNone/>
            </a:pPr>
            <a:r>
              <a:rPr lang="en-US" b="0" i="0" dirty="0">
                <a:solidFill>
                  <a:srgbClr val="303030"/>
                </a:solidFill>
                <a:effectLst/>
                <a:latin typeface="Times New Roman" panose="02020603050405020304" pitchFamily="18" charset="0"/>
                <a:cs typeface="Times New Roman" panose="02020603050405020304" pitchFamily="18" charset="0"/>
              </a:rPr>
              <a:t>The left factored grammar is-</a:t>
            </a:r>
          </a:p>
          <a:p>
            <a:pPr marL="0" indent="0" algn="l" fontAlgn="base">
              <a:buNone/>
            </a:pPr>
            <a:r>
              <a:rPr lang="en-US" dirty="0">
                <a:solidFill>
                  <a:srgbClr val="303030"/>
                </a:solidFill>
                <a:latin typeface="Times New Roman" panose="02020603050405020304" pitchFamily="18" charset="0"/>
                <a:cs typeface="Times New Roman" panose="02020603050405020304" pitchFamily="18" charset="0"/>
              </a:rPr>
              <a:t>		</a:t>
            </a:r>
          </a:p>
          <a:p>
            <a:pPr marL="0" indent="0" algn="l" fontAlgn="base">
              <a:buNone/>
            </a:pPr>
            <a:r>
              <a:rPr lang="en-US" b="0" i="0" dirty="0">
                <a:solidFill>
                  <a:srgbClr val="303030"/>
                </a:solidFill>
                <a:effectLst/>
                <a:latin typeface="Times New Roman" panose="02020603050405020304" pitchFamily="18" charset="0"/>
                <a:cs typeface="Times New Roman" panose="02020603050405020304" pitchFamily="18" charset="0"/>
              </a:rPr>
              <a:t>		S → </a:t>
            </a:r>
            <a:r>
              <a:rPr lang="en-US" b="0" i="0" dirty="0" err="1">
                <a:solidFill>
                  <a:srgbClr val="303030"/>
                </a:solidFill>
                <a:effectLst/>
                <a:latin typeface="Times New Roman" panose="02020603050405020304" pitchFamily="18" charset="0"/>
                <a:cs typeface="Times New Roman" panose="02020603050405020304" pitchFamily="18" charset="0"/>
              </a:rPr>
              <a:t>iEtSS</a:t>
            </a:r>
            <a:r>
              <a:rPr lang="en-US" b="0" i="0" dirty="0">
                <a:solidFill>
                  <a:srgbClr val="303030"/>
                </a:solidFill>
                <a:effectLst/>
                <a:latin typeface="Times New Roman" panose="02020603050405020304" pitchFamily="18" charset="0"/>
                <a:cs typeface="Times New Roman" panose="02020603050405020304" pitchFamily="18" charset="0"/>
              </a:rPr>
              <a:t>’ / a</a:t>
            </a:r>
          </a:p>
          <a:p>
            <a:pPr marL="0" indent="0" algn="l" fontAlgn="base">
              <a:buNone/>
            </a:pPr>
            <a:r>
              <a:rPr lang="en-US" dirty="0">
                <a:solidFill>
                  <a:srgbClr val="303030"/>
                </a:solidFill>
                <a:latin typeface="Times New Roman" panose="02020603050405020304" pitchFamily="18" charset="0"/>
                <a:cs typeface="Times New Roman" panose="02020603050405020304" pitchFamily="18" charset="0"/>
              </a:rPr>
              <a:t>		</a:t>
            </a:r>
            <a:r>
              <a:rPr lang="en-US" b="0" i="0" dirty="0">
                <a:solidFill>
                  <a:srgbClr val="303030"/>
                </a:solidFill>
                <a:effectLst/>
                <a:latin typeface="Times New Roman" panose="02020603050405020304" pitchFamily="18" charset="0"/>
                <a:cs typeface="Times New Roman" panose="02020603050405020304" pitchFamily="18" charset="0"/>
              </a:rPr>
              <a:t>S’ → </a:t>
            </a:r>
            <a:r>
              <a:rPr lang="en-US" b="0" i="0" dirty="0" err="1">
                <a:solidFill>
                  <a:srgbClr val="303030"/>
                </a:solidFill>
                <a:effectLst/>
                <a:latin typeface="Times New Roman" panose="02020603050405020304" pitchFamily="18" charset="0"/>
                <a:cs typeface="Times New Roman" panose="02020603050405020304" pitchFamily="18" charset="0"/>
              </a:rPr>
              <a:t>eS</a:t>
            </a:r>
            <a:r>
              <a:rPr lang="en-US" b="0" i="0" dirty="0">
                <a:solidFill>
                  <a:srgbClr val="303030"/>
                </a:solidFill>
                <a:effectLst/>
                <a:latin typeface="Times New Roman" panose="02020603050405020304" pitchFamily="18" charset="0"/>
                <a:cs typeface="Times New Roman" panose="02020603050405020304" pitchFamily="18" charset="0"/>
              </a:rPr>
              <a:t> / ∈</a:t>
            </a:r>
          </a:p>
          <a:p>
            <a:pPr marL="0" indent="0" algn="l" fontAlgn="base">
              <a:buNone/>
            </a:pPr>
            <a:r>
              <a:rPr lang="en-US" dirty="0">
                <a:solidFill>
                  <a:srgbClr val="303030"/>
                </a:solidFill>
                <a:latin typeface="Times New Roman" panose="02020603050405020304" pitchFamily="18" charset="0"/>
                <a:cs typeface="Times New Roman" panose="02020603050405020304" pitchFamily="18" charset="0"/>
              </a:rPr>
              <a:t>		</a:t>
            </a:r>
            <a:r>
              <a:rPr lang="en-US" b="0" i="0" dirty="0">
                <a:solidFill>
                  <a:srgbClr val="303030"/>
                </a:solidFill>
                <a:effectLst/>
                <a:latin typeface="Times New Roman" panose="02020603050405020304" pitchFamily="18" charset="0"/>
                <a:cs typeface="Times New Roman" panose="02020603050405020304" pitchFamily="18" charset="0"/>
              </a:rPr>
              <a:t>E → b</a:t>
            </a:r>
          </a:p>
          <a:p>
            <a:pPr marL="0" indent="0" algn="l"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D9DD951-42D1-4706-A73C-AF6E4AEB53C1}"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of Left Factoring</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44707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anim calcmode="lin" valueType="num">
                                      <p:cBhvr additive="base">
                                        <p:cTn id="13"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 calcmode="lin" valueType="num">
                                      <p:cBhvr additive="base">
                                        <p:cTn id="17"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6">
                                            <p:txEl>
                                              <p:pRg st="3" end="3"/>
                                            </p:txEl>
                                          </p:spTgt>
                                        </p:tgtEl>
                                        <p:attrNameLst>
                                          <p:attrName>style.visibility</p:attrName>
                                        </p:attrNameLst>
                                      </p:cBhvr>
                                      <p:to>
                                        <p:strVal val="visible"/>
                                      </p:to>
                                    </p:set>
                                    <p:anim calcmode="lin" valueType="num">
                                      <p:cBhvr additive="base">
                                        <p:cTn id="21"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Effect transition="in" filter="barn(inVertical)">
                                      <p:cBhvr>
                                        <p:cTn id="27" dur="500"/>
                                        <p:tgtEl>
                                          <p:spTgt spid="1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6">
                                            <p:txEl>
                                              <p:pRg st="7" end="7"/>
                                            </p:txEl>
                                          </p:spTgt>
                                        </p:tgtEl>
                                        <p:attrNameLst>
                                          <p:attrName>style.visibility</p:attrName>
                                        </p:attrNameLst>
                                      </p:cBhvr>
                                      <p:to>
                                        <p:strVal val="visible"/>
                                      </p:to>
                                    </p:set>
                                    <p:animEffect transition="in" filter="barn(inVertical)">
                                      <p:cBhvr>
                                        <p:cTn id="32" dur="500"/>
                                        <p:tgtEl>
                                          <p:spTgt spid="16">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
                                            <p:txEl>
                                              <p:pRg st="9" end="9"/>
                                            </p:txEl>
                                          </p:spTgt>
                                        </p:tgtEl>
                                        <p:attrNameLst>
                                          <p:attrName>style.visibility</p:attrName>
                                        </p:attrNameLst>
                                      </p:cBhvr>
                                      <p:to>
                                        <p:strVal val="visible"/>
                                      </p:to>
                                    </p:set>
                                    <p:anim calcmode="lin" valueType="num">
                                      <p:cBhvr additive="base">
                                        <p:cTn id="37" dur="500" fill="hold"/>
                                        <p:tgtEl>
                                          <p:spTgt spid="16">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6">
                                            <p:txEl>
                                              <p:pRg st="10" end="10"/>
                                            </p:txEl>
                                          </p:spTgt>
                                        </p:tgtEl>
                                        <p:attrNameLst>
                                          <p:attrName>style.visibility</p:attrName>
                                        </p:attrNameLst>
                                      </p:cBhvr>
                                      <p:to>
                                        <p:strVal val="visible"/>
                                      </p:to>
                                    </p:set>
                                    <p:anim calcmode="lin" valueType="num">
                                      <p:cBhvr additive="base">
                                        <p:cTn id="41" dur="500" fill="hold"/>
                                        <p:tgtEl>
                                          <p:spTgt spid="16">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6">
                                            <p:txEl>
                                              <p:pRg st="10" end="10"/>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6">
                                            <p:txEl>
                                              <p:pRg st="11" end="11"/>
                                            </p:txEl>
                                          </p:spTgt>
                                        </p:tgtEl>
                                        <p:attrNameLst>
                                          <p:attrName>style.visibility</p:attrName>
                                        </p:attrNameLst>
                                      </p:cBhvr>
                                      <p:to>
                                        <p:strVal val="visible"/>
                                      </p:to>
                                    </p:set>
                                    <p:anim calcmode="lin" valueType="num">
                                      <p:cBhvr additive="base">
                                        <p:cTn id="45" dur="500" fill="hold"/>
                                        <p:tgtEl>
                                          <p:spTgt spid="16">
                                            <p:txEl>
                                              <p:pRg st="11" end="1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US" b="0" i="0" dirty="0">
                <a:solidFill>
                  <a:srgbClr val="303030"/>
                </a:solidFill>
                <a:effectLst/>
                <a:latin typeface="Times New Roman" panose="02020603050405020304" pitchFamily="18" charset="0"/>
                <a:cs typeface="Times New Roman" panose="02020603050405020304" pitchFamily="18" charset="0"/>
              </a:rPr>
              <a:t>Do left factoring in the following grammar-</a:t>
            </a: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		A → </a:t>
            </a:r>
            <a:r>
              <a:rPr lang="en-US" b="0" i="0" dirty="0" err="1">
                <a:solidFill>
                  <a:srgbClr val="303030"/>
                </a:solidFill>
                <a:effectLst/>
                <a:latin typeface="Times New Roman" panose="02020603050405020304" pitchFamily="18" charset="0"/>
                <a:cs typeface="Times New Roman" panose="02020603050405020304" pitchFamily="18" charset="0"/>
              </a:rPr>
              <a:t>aAB</a:t>
            </a:r>
            <a:r>
              <a:rPr lang="en-US" b="0" i="0" dirty="0">
                <a:solidFill>
                  <a:srgbClr val="303030"/>
                </a:solidFill>
                <a:effectLst/>
                <a:latin typeface="Times New Roman" panose="02020603050405020304" pitchFamily="18" charset="0"/>
                <a:cs typeface="Times New Roman" panose="02020603050405020304" pitchFamily="18" charset="0"/>
              </a:rPr>
              <a:t> / </a:t>
            </a:r>
            <a:r>
              <a:rPr lang="en-US" b="0" i="0" dirty="0" err="1">
                <a:solidFill>
                  <a:srgbClr val="303030"/>
                </a:solidFill>
                <a:effectLst/>
                <a:latin typeface="Times New Roman" panose="02020603050405020304" pitchFamily="18" charset="0"/>
                <a:cs typeface="Times New Roman" panose="02020603050405020304" pitchFamily="18" charset="0"/>
              </a:rPr>
              <a:t>aBc</a:t>
            </a:r>
            <a:r>
              <a:rPr lang="en-US" b="0" i="0" dirty="0">
                <a:solidFill>
                  <a:srgbClr val="303030"/>
                </a:solidFill>
                <a:effectLst/>
                <a:latin typeface="Times New Roman" panose="02020603050405020304" pitchFamily="18" charset="0"/>
                <a:cs typeface="Times New Roman" panose="02020603050405020304" pitchFamily="18" charset="0"/>
              </a:rPr>
              <a:t> / </a:t>
            </a:r>
            <a:r>
              <a:rPr lang="en-US" b="0" i="0" dirty="0" err="1">
                <a:solidFill>
                  <a:srgbClr val="303030"/>
                </a:solidFill>
                <a:effectLst/>
                <a:latin typeface="Times New Roman" panose="02020603050405020304" pitchFamily="18" charset="0"/>
                <a:cs typeface="Times New Roman" panose="02020603050405020304" pitchFamily="18" charset="0"/>
              </a:rPr>
              <a:t>aAc</a:t>
            </a:r>
            <a:endParaRPr lang="en-US" b="0" i="0"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a:p>
            <a:pPr marL="0" indent="0" algn="just" fontAlgn="base">
              <a:buNone/>
            </a:pPr>
            <a:endParaRPr lang="en-US" b="1" i="0" u="sng"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b="1" i="0" u="sng" dirty="0">
                <a:solidFill>
                  <a:srgbClr val="303030"/>
                </a:solidFill>
                <a:effectLst/>
                <a:latin typeface="Times New Roman" panose="02020603050405020304" pitchFamily="18" charset="0"/>
                <a:cs typeface="Times New Roman" panose="02020603050405020304" pitchFamily="18" charset="0"/>
              </a:rPr>
              <a:t>Step-01:</a:t>
            </a:r>
            <a:endParaRPr lang="en-US" b="0" i="0"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		A → </a:t>
            </a:r>
            <a:r>
              <a:rPr lang="en-US" b="0" i="0" dirty="0" err="1">
                <a:solidFill>
                  <a:srgbClr val="303030"/>
                </a:solidFill>
                <a:effectLst/>
                <a:latin typeface="Times New Roman" panose="02020603050405020304" pitchFamily="18" charset="0"/>
                <a:cs typeface="Times New Roman" panose="02020603050405020304" pitchFamily="18" charset="0"/>
              </a:rPr>
              <a:t>aA</a:t>
            </a:r>
            <a:r>
              <a:rPr lang="en-US" b="0" i="0" dirty="0">
                <a:solidFill>
                  <a:srgbClr val="303030"/>
                </a:solidFill>
                <a:effectLst/>
                <a:latin typeface="Times New Roman" panose="02020603050405020304" pitchFamily="18" charset="0"/>
                <a:cs typeface="Times New Roman" panose="02020603050405020304" pitchFamily="18" charset="0"/>
              </a:rPr>
              <a:t>’</a:t>
            </a: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		A’ → AB / </a:t>
            </a:r>
            <a:r>
              <a:rPr lang="en-US" b="0" i="0" dirty="0" err="1">
                <a:solidFill>
                  <a:srgbClr val="303030"/>
                </a:solidFill>
                <a:effectLst/>
                <a:latin typeface="Times New Roman" panose="02020603050405020304" pitchFamily="18" charset="0"/>
                <a:cs typeface="Times New Roman" panose="02020603050405020304" pitchFamily="18" charset="0"/>
              </a:rPr>
              <a:t>Bc</a:t>
            </a:r>
            <a:r>
              <a:rPr lang="en-US" b="0" i="0" dirty="0">
                <a:solidFill>
                  <a:srgbClr val="303030"/>
                </a:solidFill>
                <a:effectLst/>
                <a:latin typeface="Times New Roman" panose="02020603050405020304" pitchFamily="18" charset="0"/>
                <a:cs typeface="Times New Roman" panose="02020603050405020304" pitchFamily="18" charset="0"/>
              </a:rPr>
              <a:t> / Ac</a:t>
            </a: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Again, this is a grammar with common prefixes. </a:t>
            </a:r>
          </a:p>
          <a:p>
            <a:pPr marL="0" indent="0" algn="just" fontAlgn="base">
              <a:buNone/>
            </a:pPr>
            <a:endParaRPr lang="en-US" b="1" i="0" u="sng"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b="1" i="0" u="sng" dirty="0">
                <a:solidFill>
                  <a:srgbClr val="303030"/>
                </a:solidFill>
                <a:effectLst/>
                <a:latin typeface="Times New Roman" panose="02020603050405020304" pitchFamily="18" charset="0"/>
                <a:cs typeface="Times New Roman" panose="02020603050405020304" pitchFamily="18" charset="0"/>
              </a:rPr>
              <a:t>Step-02:</a:t>
            </a:r>
            <a:endParaRPr lang="en-US" b="0" i="0"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		A → </a:t>
            </a:r>
            <a:r>
              <a:rPr lang="en-US" b="0" i="0" dirty="0" err="1">
                <a:solidFill>
                  <a:srgbClr val="303030"/>
                </a:solidFill>
                <a:effectLst/>
                <a:latin typeface="Times New Roman" panose="02020603050405020304" pitchFamily="18" charset="0"/>
                <a:cs typeface="Times New Roman" panose="02020603050405020304" pitchFamily="18" charset="0"/>
              </a:rPr>
              <a:t>aA</a:t>
            </a:r>
            <a:r>
              <a:rPr lang="en-US" b="0" i="0" dirty="0">
                <a:solidFill>
                  <a:srgbClr val="303030"/>
                </a:solidFill>
                <a:effectLst/>
                <a:latin typeface="Times New Roman" panose="02020603050405020304" pitchFamily="18" charset="0"/>
                <a:cs typeface="Times New Roman" panose="02020603050405020304" pitchFamily="18" charset="0"/>
              </a:rPr>
              <a:t>’</a:t>
            </a: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		A’ → AD / </a:t>
            </a:r>
            <a:r>
              <a:rPr lang="en-US" b="0" i="0" dirty="0" err="1">
                <a:solidFill>
                  <a:srgbClr val="303030"/>
                </a:solidFill>
                <a:effectLst/>
                <a:latin typeface="Times New Roman" panose="02020603050405020304" pitchFamily="18" charset="0"/>
                <a:cs typeface="Times New Roman" panose="02020603050405020304" pitchFamily="18" charset="0"/>
              </a:rPr>
              <a:t>Bc</a:t>
            </a:r>
            <a:endParaRPr lang="en-US" b="0" i="0"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		D → B / c</a:t>
            </a: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This is a left factored grammar.</a:t>
            </a:r>
          </a:p>
          <a:p>
            <a:pPr marL="0" indent="0" algn="just"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B1237B2-CBDA-46BA-8AA0-AFFB7DE8C12E}"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of Left Factoring</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84157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 calcmode="lin" valueType="num">
                                      <p:cBhvr additive="base">
                                        <p:cTn id="17"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6">
                                            <p:txEl>
                                              <p:pRg st="4" end="4"/>
                                            </p:txEl>
                                          </p:spTgt>
                                        </p:tgtEl>
                                        <p:attrNameLst>
                                          <p:attrName>style.visibility</p:attrName>
                                        </p:attrNameLst>
                                      </p:cBhvr>
                                      <p:to>
                                        <p:strVal val="visible"/>
                                      </p:to>
                                    </p:set>
                                    <p:anim calcmode="lin" valueType="num">
                                      <p:cBhvr additive="base">
                                        <p:cTn id="21"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6">
                                            <p:txEl>
                                              <p:pRg st="5" end="5"/>
                                            </p:txEl>
                                          </p:spTgt>
                                        </p:tgtEl>
                                        <p:attrNameLst>
                                          <p:attrName>style.visibility</p:attrName>
                                        </p:attrNameLst>
                                      </p:cBhvr>
                                      <p:to>
                                        <p:strVal val="visible"/>
                                      </p:to>
                                    </p:set>
                                    <p:anim calcmode="lin" valueType="num">
                                      <p:cBhvr additive="base">
                                        <p:cTn id="25"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6">
                                            <p:txEl>
                                              <p:pRg st="6" end="6"/>
                                            </p:txEl>
                                          </p:spTgt>
                                        </p:tgtEl>
                                        <p:attrNameLst>
                                          <p:attrName>style.visibility</p:attrName>
                                        </p:attrNameLst>
                                      </p:cBhvr>
                                      <p:to>
                                        <p:strVal val="visible"/>
                                      </p:to>
                                    </p:set>
                                    <p:anim calcmode="lin" valueType="num">
                                      <p:cBhvr additive="base">
                                        <p:cTn id="29"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16">
                                            <p:txEl>
                                              <p:pRg st="7" end="7"/>
                                            </p:txEl>
                                          </p:spTgt>
                                        </p:tgtEl>
                                        <p:attrNameLst>
                                          <p:attrName>style.visibility</p:attrName>
                                        </p:attrNameLst>
                                      </p:cBhvr>
                                      <p:to>
                                        <p:strVal val="visible"/>
                                      </p:to>
                                    </p:set>
                                    <p:animEffect transition="in" filter="barn(inVertical)">
                                      <p:cBhvr>
                                        <p:cTn id="35" dur="500"/>
                                        <p:tgtEl>
                                          <p:spTgt spid="16">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6">
                                            <p:txEl>
                                              <p:pRg st="9" end="9"/>
                                            </p:txEl>
                                          </p:spTgt>
                                        </p:tgtEl>
                                        <p:attrNameLst>
                                          <p:attrName>style.visibility</p:attrName>
                                        </p:attrNameLst>
                                      </p:cBhvr>
                                      <p:to>
                                        <p:strVal val="visible"/>
                                      </p:to>
                                    </p:set>
                                    <p:animEffect transition="in" filter="fade">
                                      <p:cBhvr>
                                        <p:cTn id="40" dur="1000"/>
                                        <p:tgtEl>
                                          <p:spTgt spid="16">
                                            <p:txEl>
                                              <p:pRg st="9" end="9"/>
                                            </p:txEl>
                                          </p:spTgt>
                                        </p:tgtEl>
                                      </p:cBhvr>
                                    </p:animEffect>
                                    <p:anim calcmode="lin" valueType="num">
                                      <p:cBhvr>
                                        <p:cTn id="41" dur="1000" fill="hold"/>
                                        <p:tgtEl>
                                          <p:spTgt spid="16">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16">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16">
                                            <p:txEl>
                                              <p:pRg st="10" end="10"/>
                                            </p:txEl>
                                          </p:spTgt>
                                        </p:tgtEl>
                                        <p:attrNameLst>
                                          <p:attrName>style.visibility</p:attrName>
                                        </p:attrNameLst>
                                      </p:cBhvr>
                                      <p:to>
                                        <p:strVal val="visible"/>
                                      </p:to>
                                    </p:set>
                                    <p:animEffect transition="in" filter="fade">
                                      <p:cBhvr>
                                        <p:cTn id="45" dur="1000"/>
                                        <p:tgtEl>
                                          <p:spTgt spid="16">
                                            <p:txEl>
                                              <p:pRg st="10" end="10"/>
                                            </p:txEl>
                                          </p:spTgt>
                                        </p:tgtEl>
                                      </p:cBhvr>
                                    </p:animEffect>
                                    <p:anim calcmode="lin" valueType="num">
                                      <p:cBhvr>
                                        <p:cTn id="46" dur="1000" fill="hold"/>
                                        <p:tgtEl>
                                          <p:spTgt spid="16">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16">
                                            <p:txEl>
                                              <p:pRg st="10" end="1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16">
                                            <p:txEl>
                                              <p:pRg st="11" end="11"/>
                                            </p:txEl>
                                          </p:spTgt>
                                        </p:tgtEl>
                                        <p:attrNameLst>
                                          <p:attrName>style.visibility</p:attrName>
                                        </p:attrNameLst>
                                      </p:cBhvr>
                                      <p:to>
                                        <p:strVal val="visible"/>
                                      </p:to>
                                    </p:set>
                                    <p:animEffect transition="in" filter="fade">
                                      <p:cBhvr>
                                        <p:cTn id="50" dur="1000"/>
                                        <p:tgtEl>
                                          <p:spTgt spid="16">
                                            <p:txEl>
                                              <p:pRg st="11" end="11"/>
                                            </p:txEl>
                                          </p:spTgt>
                                        </p:tgtEl>
                                      </p:cBhvr>
                                    </p:animEffect>
                                    <p:anim calcmode="lin" valueType="num">
                                      <p:cBhvr>
                                        <p:cTn id="51" dur="1000" fill="hold"/>
                                        <p:tgtEl>
                                          <p:spTgt spid="16">
                                            <p:txEl>
                                              <p:pRg st="11" end="11"/>
                                            </p:txEl>
                                          </p:spTgt>
                                        </p:tgtEl>
                                        <p:attrNameLst>
                                          <p:attrName>ppt_x</p:attrName>
                                        </p:attrNameLst>
                                      </p:cBhvr>
                                      <p:tavLst>
                                        <p:tav tm="0">
                                          <p:val>
                                            <p:strVal val="#ppt_x"/>
                                          </p:val>
                                        </p:tav>
                                        <p:tav tm="100000">
                                          <p:val>
                                            <p:strVal val="#ppt_x"/>
                                          </p:val>
                                        </p:tav>
                                      </p:tavLst>
                                    </p:anim>
                                    <p:anim calcmode="lin" valueType="num">
                                      <p:cBhvr>
                                        <p:cTn id="52" dur="1000" fill="hold"/>
                                        <p:tgtEl>
                                          <p:spTgt spid="16">
                                            <p:txEl>
                                              <p:pRg st="11" end="11"/>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16">
                                            <p:txEl>
                                              <p:pRg st="12" end="12"/>
                                            </p:txEl>
                                          </p:spTgt>
                                        </p:tgtEl>
                                        <p:attrNameLst>
                                          <p:attrName>style.visibility</p:attrName>
                                        </p:attrNameLst>
                                      </p:cBhvr>
                                      <p:to>
                                        <p:strVal val="visible"/>
                                      </p:to>
                                    </p:set>
                                    <p:animEffect transition="in" filter="fade">
                                      <p:cBhvr>
                                        <p:cTn id="55" dur="1000"/>
                                        <p:tgtEl>
                                          <p:spTgt spid="16">
                                            <p:txEl>
                                              <p:pRg st="12" end="12"/>
                                            </p:txEl>
                                          </p:spTgt>
                                        </p:tgtEl>
                                      </p:cBhvr>
                                    </p:animEffect>
                                    <p:anim calcmode="lin" valueType="num">
                                      <p:cBhvr>
                                        <p:cTn id="56" dur="1000" fill="hold"/>
                                        <p:tgtEl>
                                          <p:spTgt spid="16">
                                            <p:txEl>
                                              <p:pRg st="12" end="12"/>
                                            </p:txEl>
                                          </p:spTgt>
                                        </p:tgtEl>
                                        <p:attrNameLst>
                                          <p:attrName>ppt_x</p:attrName>
                                        </p:attrNameLst>
                                      </p:cBhvr>
                                      <p:tavLst>
                                        <p:tav tm="0">
                                          <p:val>
                                            <p:strVal val="#ppt_x"/>
                                          </p:val>
                                        </p:tav>
                                        <p:tav tm="100000">
                                          <p:val>
                                            <p:strVal val="#ppt_x"/>
                                          </p:val>
                                        </p:tav>
                                      </p:tavLst>
                                    </p:anim>
                                    <p:anim calcmode="lin" valueType="num">
                                      <p:cBhvr>
                                        <p:cTn id="57" dur="1000" fill="hold"/>
                                        <p:tgtEl>
                                          <p:spTgt spid="16">
                                            <p:txEl>
                                              <p:pRg st="12" end="12"/>
                                            </p:txEl>
                                          </p:spTgt>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16">
                                            <p:txEl>
                                              <p:pRg st="13" end="13"/>
                                            </p:txEl>
                                          </p:spTgt>
                                        </p:tgtEl>
                                        <p:attrNameLst>
                                          <p:attrName>style.visibility</p:attrName>
                                        </p:attrNameLst>
                                      </p:cBhvr>
                                      <p:to>
                                        <p:strVal val="visible"/>
                                      </p:to>
                                    </p:set>
                                    <p:animEffect transition="in" filter="fade">
                                      <p:cBhvr>
                                        <p:cTn id="60" dur="1000"/>
                                        <p:tgtEl>
                                          <p:spTgt spid="16">
                                            <p:txEl>
                                              <p:pRg st="13" end="13"/>
                                            </p:txEl>
                                          </p:spTgt>
                                        </p:tgtEl>
                                      </p:cBhvr>
                                    </p:animEffect>
                                    <p:anim calcmode="lin" valueType="num">
                                      <p:cBhvr>
                                        <p:cTn id="61" dur="1000" fill="hold"/>
                                        <p:tgtEl>
                                          <p:spTgt spid="16">
                                            <p:txEl>
                                              <p:pRg st="13" end="13"/>
                                            </p:txEl>
                                          </p:spTgt>
                                        </p:tgtEl>
                                        <p:attrNameLst>
                                          <p:attrName>ppt_x</p:attrName>
                                        </p:attrNameLst>
                                      </p:cBhvr>
                                      <p:tavLst>
                                        <p:tav tm="0">
                                          <p:val>
                                            <p:strVal val="#ppt_x"/>
                                          </p:val>
                                        </p:tav>
                                        <p:tav tm="100000">
                                          <p:val>
                                            <p:strVal val="#ppt_x"/>
                                          </p:val>
                                        </p:tav>
                                      </p:tavLst>
                                    </p:anim>
                                    <p:anim calcmode="lin" valueType="num">
                                      <p:cBhvr>
                                        <p:cTn id="62" dur="1000" fill="hold"/>
                                        <p:tgtEl>
                                          <p:spTgt spid="16">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it-IT"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it-IT" dirty="0">
                <a:solidFill>
                  <a:srgbClr val="000000"/>
                </a:solidFill>
                <a:latin typeface="Times New Roman" panose="02020603050405020304" pitchFamily="18" charset="0"/>
                <a:cs typeface="Times New Roman" panose="02020603050405020304" pitchFamily="18" charset="0"/>
              </a:rPr>
              <a:t>Production rule-</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id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Input string:-id+id+id</a:t>
            </a:r>
            <a:endParaRPr lang="en-US"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6476BB4-839E-4805-B816-66C23E66584E}"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pic>
        <p:nvPicPr>
          <p:cNvPr id="2" name="Picture 1">
            <a:extLst>
              <a:ext uri="{FF2B5EF4-FFF2-40B4-BE49-F238E27FC236}">
                <a16:creationId xmlns:a16="http://schemas.microsoft.com/office/drawing/2014/main" id="{704B6FCC-4436-40DD-BEF3-36A6A16DC1C2}"/>
              </a:ext>
            </a:extLst>
          </p:cNvPr>
          <p:cNvPicPr>
            <a:picLocks noChangeAspect="1"/>
          </p:cNvPicPr>
          <p:nvPr/>
        </p:nvPicPr>
        <p:blipFill>
          <a:blip r:embed="rId3"/>
          <a:stretch>
            <a:fillRect/>
          </a:stretch>
        </p:blipFill>
        <p:spPr>
          <a:xfrm>
            <a:off x="5334000" y="3092138"/>
            <a:ext cx="2438400" cy="285007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5" name="Picture 4">
            <a:extLst>
              <a:ext uri="{FF2B5EF4-FFF2-40B4-BE49-F238E27FC236}">
                <a16:creationId xmlns:a16="http://schemas.microsoft.com/office/drawing/2014/main" id="{ECF9B860-1CD2-45E1-9F51-79CE9CE1A313}"/>
              </a:ext>
            </a:extLst>
          </p:cNvPr>
          <p:cNvPicPr>
            <a:picLocks noChangeAspect="1"/>
          </p:cNvPicPr>
          <p:nvPr/>
        </p:nvPicPr>
        <p:blipFill>
          <a:blip r:embed="rId4"/>
          <a:stretch>
            <a:fillRect/>
          </a:stretch>
        </p:blipFill>
        <p:spPr>
          <a:xfrm>
            <a:off x="501122" y="3207540"/>
            <a:ext cx="2438400" cy="280035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21" name="TextBox 20">
            <a:extLst>
              <a:ext uri="{FF2B5EF4-FFF2-40B4-BE49-F238E27FC236}">
                <a16:creationId xmlns:a16="http://schemas.microsoft.com/office/drawing/2014/main" id="{F359158D-0A21-4312-808D-4F12E5F598F9}"/>
              </a:ext>
            </a:extLst>
          </p:cNvPr>
          <p:cNvSpPr txBox="1"/>
          <p:nvPr/>
        </p:nvSpPr>
        <p:spPr>
          <a:xfrm>
            <a:off x="3720044" y="3297636"/>
            <a:ext cx="877356" cy="369332"/>
          </a:xfrm>
          <a:prstGeom prst="rect">
            <a:avLst/>
          </a:prstGeom>
          <a:noFill/>
        </p:spPr>
        <p:txBody>
          <a:bodyPr wrap="none" rtlCol="0">
            <a:spAutoFit/>
          </a:bodyPr>
          <a:lstStyle/>
          <a:p>
            <a:r>
              <a:rPr lang="en-IN" dirty="0"/>
              <a:t>Correct</a:t>
            </a:r>
          </a:p>
        </p:txBody>
      </p:sp>
      <p:cxnSp>
        <p:nvCxnSpPr>
          <p:cNvPr id="23" name="Straight Arrow Connector 22">
            <a:extLst>
              <a:ext uri="{FF2B5EF4-FFF2-40B4-BE49-F238E27FC236}">
                <a16:creationId xmlns:a16="http://schemas.microsoft.com/office/drawing/2014/main" id="{2A03363F-A035-4C2F-BBCB-DD291EB69888}"/>
              </a:ext>
            </a:extLst>
          </p:cNvPr>
          <p:cNvCxnSpPr>
            <a:cxnSpLocks/>
          </p:cNvCxnSpPr>
          <p:nvPr/>
        </p:nvCxnSpPr>
        <p:spPr>
          <a:xfrm flipV="1">
            <a:off x="2979524" y="3613666"/>
            <a:ext cx="771491" cy="852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E09BA73-4445-4077-9C63-DF954A18FE3E}"/>
              </a:ext>
            </a:extLst>
          </p:cNvPr>
          <p:cNvSpPr txBox="1"/>
          <p:nvPr/>
        </p:nvSpPr>
        <p:spPr>
          <a:xfrm>
            <a:off x="3422123" y="4635871"/>
            <a:ext cx="1607078" cy="1200329"/>
          </a:xfrm>
          <a:prstGeom prst="rect">
            <a:avLst/>
          </a:prstGeom>
          <a:noFill/>
        </p:spPr>
        <p:txBody>
          <a:bodyPr wrap="square" rtlCol="0">
            <a:spAutoFit/>
          </a:bodyPr>
          <a:lstStyle/>
          <a:p>
            <a:pPr algn="ctr"/>
            <a:r>
              <a:rPr lang="en-IN" dirty="0"/>
              <a:t>Incorrect</a:t>
            </a:r>
          </a:p>
          <a:p>
            <a:pPr algn="ctr"/>
            <a:r>
              <a:rPr lang="en-IN" dirty="0" err="1"/>
              <a:t>Bcoz</a:t>
            </a:r>
            <a:r>
              <a:rPr lang="en-IN" dirty="0"/>
              <a:t> the rule of associativity is failed</a:t>
            </a:r>
          </a:p>
        </p:txBody>
      </p:sp>
      <p:cxnSp>
        <p:nvCxnSpPr>
          <p:cNvPr id="28" name="Straight Arrow Connector 27">
            <a:extLst>
              <a:ext uri="{FF2B5EF4-FFF2-40B4-BE49-F238E27FC236}">
                <a16:creationId xmlns:a16="http://schemas.microsoft.com/office/drawing/2014/main" id="{65849D7F-24E4-4E35-B9CF-8A842F0F62CC}"/>
              </a:ext>
            </a:extLst>
          </p:cNvPr>
          <p:cNvCxnSpPr>
            <a:cxnSpLocks/>
            <a:stCxn id="2" idx="1"/>
            <a:endCxn id="24" idx="3"/>
          </p:cNvCxnSpPr>
          <p:nvPr/>
        </p:nvCxnSpPr>
        <p:spPr>
          <a:xfrm flipH="1">
            <a:off x="5029201" y="4517173"/>
            <a:ext cx="304799" cy="7188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50309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ppt_w</p:attrName>
                                        </p:attrNameLst>
                                      </p:cBhvr>
                                      <p:tavLst>
                                        <p:tav tm="0">
                                          <p:val>
                                            <p:fltVal val="0"/>
                                          </p:val>
                                        </p:tav>
                                        <p:tav tm="100000">
                                          <p:val>
                                            <p:strVal val="#ppt_w"/>
                                          </p:val>
                                        </p:tav>
                                      </p:tavLst>
                                    </p:anim>
                                    <p:anim calcmode="lin" valueType="num">
                                      <p:cBhvr>
                                        <p:cTn id="30" dur="500" fill="hold"/>
                                        <p:tgtEl>
                                          <p:spTgt spid="5"/>
                                        </p:tgtEl>
                                        <p:attrNameLst>
                                          <p:attrName>ppt_h</p:attrName>
                                        </p:attrNameLst>
                                      </p:cBhvr>
                                      <p:tavLst>
                                        <p:tav tm="0">
                                          <p:val>
                                            <p:fltVal val="0"/>
                                          </p:val>
                                        </p:tav>
                                        <p:tav tm="100000">
                                          <p:val>
                                            <p:strVal val="#ppt_h"/>
                                          </p:val>
                                        </p:tav>
                                      </p:tavLst>
                                    </p:anim>
                                    <p:animEffect transition="in" filter="fade">
                                      <p:cBhvr>
                                        <p:cTn id="31" dur="500"/>
                                        <p:tgtEl>
                                          <p:spTgt spid="5"/>
                                        </p:tgtEl>
                                      </p:cBhvr>
                                    </p:animEffect>
                                  </p:childTnLst>
                                </p:cTn>
                              </p:par>
                              <p:par>
                                <p:cTn id="32" presetID="53" presetClass="entr" presetSubtype="16" fill="hold" nodeType="with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p:cTn id="34" dur="500" fill="hold"/>
                                        <p:tgtEl>
                                          <p:spTgt spid="2"/>
                                        </p:tgtEl>
                                        <p:attrNameLst>
                                          <p:attrName>ppt_w</p:attrName>
                                        </p:attrNameLst>
                                      </p:cBhvr>
                                      <p:tavLst>
                                        <p:tav tm="0">
                                          <p:val>
                                            <p:fltVal val="0"/>
                                          </p:val>
                                        </p:tav>
                                        <p:tav tm="100000">
                                          <p:val>
                                            <p:strVal val="#ppt_w"/>
                                          </p:val>
                                        </p:tav>
                                      </p:tavLst>
                                    </p:anim>
                                    <p:anim calcmode="lin" valueType="num">
                                      <p:cBhvr>
                                        <p:cTn id="35" dur="500" fill="hold"/>
                                        <p:tgtEl>
                                          <p:spTgt spid="2"/>
                                        </p:tgtEl>
                                        <p:attrNameLst>
                                          <p:attrName>ppt_h</p:attrName>
                                        </p:attrNameLst>
                                      </p:cBhvr>
                                      <p:tavLst>
                                        <p:tav tm="0">
                                          <p:val>
                                            <p:fltVal val="0"/>
                                          </p:val>
                                        </p:tav>
                                        <p:tav tm="100000">
                                          <p:val>
                                            <p:strVal val="#ppt_h"/>
                                          </p:val>
                                        </p:tav>
                                      </p:tavLst>
                                    </p:anim>
                                    <p:animEffect transition="in" filter="fade">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barn(inVertical)">
                                      <p:cBhvr>
                                        <p:cTn id="41" dur="500"/>
                                        <p:tgtEl>
                                          <p:spTgt spid="28"/>
                                        </p:tgtEl>
                                      </p:cBhvr>
                                    </p:animEffect>
                                  </p:childTnLst>
                                </p:cTn>
                              </p:par>
                              <p:par>
                                <p:cTn id="42" presetID="16" presetClass="entr" presetSubtype="21"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barn(inVertical)">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wipe(down)">
                                      <p:cBhvr>
                                        <p:cTn id="49" dur="500"/>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wipe(down)">
                                      <p:cBhvr>
                                        <p:cTn id="5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it-IT"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it-IT" dirty="0">
                <a:solidFill>
                  <a:srgbClr val="000000"/>
                </a:solidFill>
                <a:latin typeface="Times New Roman" panose="02020603050405020304" pitchFamily="18" charset="0"/>
                <a:cs typeface="Times New Roman" panose="02020603050405020304" pitchFamily="18" charset="0"/>
              </a:rPr>
              <a:t>Production rule-</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id </a:t>
            </a:r>
          </a:p>
          <a:p>
            <a:pPr marL="0" indent="0" algn="just" fontAlgn="base">
              <a:buNone/>
            </a:pPr>
            <a:endParaRPr lang="it-IT" dirty="0">
              <a:solidFill>
                <a:srgbClr val="000000"/>
              </a:solidFill>
              <a:latin typeface="Times New Roman" panose="02020603050405020304" pitchFamily="18" charset="0"/>
              <a:cs typeface="Times New Roman" panose="02020603050405020304" pitchFamily="18" charset="0"/>
            </a:endParaRP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Input string:-id+id*id</a:t>
            </a:r>
            <a:endParaRPr lang="en-US"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E077392-11A1-4D72-8014-30E002213176}"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sp>
        <p:nvSpPr>
          <p:cNvPr id="21" name="TextBox 20">
            <a:extLst>
              <a:ext uri="{FF2B5EF4-FFF2-40B4-BE49-F238E27FC236}">
                <a16:creationId xmlns:a16="http://schemas.microsoft.com/office/drawing/2014/main" id="{F359158D-0A21-4312-808D-4F12E5F598F9}"/>
              </a:ext>
            </a:extLst>
          </p:cNvPr>
          <p:cNvSpPr txBox="1"/>
          <p:nvPr/>
        </p:nvSpPr>
        <p:spPr>
          <a:xfrm>
            <a:off x="723900" y="3545485"/>
            <a:ext cx="877356" cy="369332"/>
          </a:xfrm>
          <a:prstGeom prst="rect">
            <a:avLst/>
          </a:prstGeom>
          <a:noFill/>
        </p:spPr>
        <p:txBody>
          <a:bodyPr wrap="none" rtlCol="0">
            <a:spAutoFit/>
          </a:bodyPr>
          <a:lstStyle/>
          <a:p>
            <a:r>
              <a:rPr lang="en-IN" dirty="0"/>
              <a:t>Correct</a:t>
            </a:r>
          </a:p>
        </p:txBody>
      </p:sp>
      <p:sp>
        <p:nvSpPr>
          <p:cNvPr id="24" name="TextBox 23">
            <a:extLst>
              <a:ext uri="{FF2B5EF4-FFF2-40B4-BE49-F238E27FC236}">
                <a16:creationId xmlns:a16="http://schemas.microsoft.com/office/drawing/2014/main" id="{BE09BA73-4445-4077-9C63-DF954A18FE3E}"/>
              </a:ext>
            </a:extLst>
          </p:cNvPr>
          <p:cNvSpPr txBox="1"/>
          <p:nvPr/>
        </p:nvSpPr>
        <p:spPr>
          <a:xfrm>
            <a:off x="7256994" y="3314652"/>
            <a:ext cx="1607078" cy="1477328"/>
          </a:xfrm>
          <a:prstGeom prst="rect">
            <a:avLst/>
          </a:prstGeom>
          <a:noFill/>
        </p:spPr>
        <p:txBody>
          <a:bodyPr wrap="square" rtlCol="0">
            <a:spAutoFit/>
          </a:bodyPr>
          <a:lstStyle/>
          <a:p>
            <a:pPr algn="ctr"/>
            <a:r>
              <a:rPr lang="en-IN" dirty="0"/>
              <a:t>Incorrect</a:t>
            </a:r>
          </a:p>
          <a:p>
            <a:pPr algn="ctr"/>
            <a:r>
              <a:rPr lang="en-IN" dirty="0"/>
              <a:t>Because  precedence is not taken care of</a:t>
            </a:r>
          </a:p>
        </p:txBody>
      </p:sp>
      <p:pic>
        <p:nvPicPr>
          <p:cNvPr id="10" name="Picture 9">
            <a:extLst>
              <a:ext uri="{FF2B5EF4-FFF2-40B4-BE49-F238E27FC236}">
                <a16:creationId xmlns:a16="http://schemas.microsoft.com/office/drawing/2014/main" id="{67585C51-1A06-4325-9092-10D0F9B82C92}"/>
              </a:ext>
            </a:extLst>
          </p:cNvPr>
          <p:cNvPicPr>
            <a:picLocks noChangeAspect="1"/>
          </p:cNvPicPr>
          <p:nvPr/>
        </p:nvPicPr>
        <p:blipFill>
          <a:blip r:embed="rId3"/>
          <a:stretch>
            <a:fillRect/>
          </a:stretch>
        </p:blipFill>
        <p:spPr>
          <a:xfrm>
            <a:off x="1905000" y="3346450"/>
            <a:ext cx="5029200" cy="2694387"/>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71724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5" end="5"/>
                                            </p:txEl>
                                          </p:spTgt>
                                        </p:tgtEl>
                                        <p:attrNameLst>
                                          <p:attrName>style.visibility</p:attrName>
                                        </p:attrNameLst>
                                      </p:cBhvr>
                                      <p:to>
                                        <p:strVal val="visible"/>
                                      </p:to>
                                    </p:set>
                                    <p:anim calcmode="lin" valueType="num">
                                      <p:cBhvr additive="base">
                                        <p:cTn id="23"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heel(1)">
                                      <p:cBhvr>
                                        <p:cTn id="29" dur="20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down)">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down)">
                                      <p:cBhvr>
                                        <p:cTn id="3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ctr" fontAlgn="base">
              <a:buNone/>
            </a:pPr>
            <a:r>
              <a:rPr lang="en-US" b="1" i="1" dirty="0">
                <a:solidFill>
                  <a:srgbClr val="303030"/>
                </a:solidFill>
                <a:effectLst/>
                <a:latin typeface="Times New Roman" panose="02020603050405020304" pitchFamily="18" charset="0"/>
                <a:cs typeface="Times New Roman" panose="02020603050405020304" pitchFamily="18" charset="0"/>
              </a:rPr>
              <a:t>Left Recursion, Common Prefixes makes the grammar Ambiguous</a:t>
            </a:r>
            <a:endParaRPr lang="en-US" dirty="0">
              <a:solidFill>
                <a:srgbClr val="303030"/>
              </a:solidFill>
              <a:latin typeface="Times New Roman" panose="02020603050405020304" pitchFamily="18" charset="0"/>
              <a:cs typeface="Times New Roman" panose="02020603050405020304" pitchFamily="18" charset="0"/>
            </a:endParaRPr>
          </a:p>
          <a:p>
            <a:pPr marL="0" indent="0" algn="l" fontAlgn="base">
              <a:buNone/>
            </a:pPr>
            <a:endParaRPr lang="en-US" dirty="0">
              <a:solidFill>
                <a:srgbClr val="303030"/>
              </a:solidFill>
              <a:latin typeface="Times New Roman" panose="02020603050405020304" pitchFamily="18" charset="0"/>
              <a:cs typeface="Times New Roman" panose="02020603050405020304" pitchFamily="18" charset="0"/>
            </a:endParaRPr>
          </a:p>
          <a:p>
            <a:pPr marL="0" indent="0" algn="ctr" fontAlgn="base">
              <a:buNone/>
            </a:pP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 ambiguous grammar may be converted into an unambiguous grammar by implementing</a:t>
            </a:r>
          </a:p>
          <a:p>
            <a:pPr marL="0" indent="0" algn="l"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Precedence Constraints:-</a:t>
            </a:r>
          </a:p>
          <a:p>
            <a:pPr algn="l" fontAlgn="base">
              <a:buFont typeface="Arial" panose="020B0604020202020204" pitchFamily="34" charset="0"/>
              <a:buChar char="•"/>
            </a:pPr>
            <a:endParaRPr lang="en-US"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endParaRPr lang="en-US"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Associativity Constraints</a:t>
            </a:r>
          </a:p>
          <a:p>
            <a:pPr marL="0" indent="0" algn="just"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0B4E949-121B-4CB7-B798-2BA9C2271085}"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22844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fade">
                                      <p:cBhvr>
                                        <p:cTn id="13" dur="1000"/>
                                        <p:tgtEl>
                                          <p:spTgt spid="16">
                                            <p:txEl>
                                              <p:pRg st="2" end="2"/>
                                            </p:txEl>
                                          </p:spTgt>
                                        </p:tgtEl>
                                      </p:cBhvr>
                                    </p:animEffect>
                                    <p:anim calcmode="lin" valueType="num">
                                      <p:cBhvr>
                                        <p:cTn id="14" dur="1000" fill="hold"/>
                                        <p:tgtEl>
                                          <p:spTgt spid="16">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6">
                                            <p:txEl>
                                              <p:pRg st="4" end="4"/>
                                            </p:txEl>
                                          </p:spTgt>
                                        </p:tgtEl>
                                        <p:attrNameLst>
                                          <p:attrName>style.visibility</p:attrName>
                                        </p:attrNameLst>
                                      </p:cBhvr>
                                      <p:to>
                                        <p:strVal val="visible"/>
                                      </p:to>
                                    </p:set>
                                    <p:anim calcmode="lin" valueType="num">
                                      <p:cBhvr additive="base">
                                        <p:cTn id="20"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6">
                                            <p:txEl>
                                              <p:pRg st="7" end="7"/>
                                            </p:txEl>
                                          </p:spTgt>
                                        </p:tgtEl>
                                        <p:attrNameLst>
                                          <p:attrName>style.visibility</p:attrName>
                                        </p:attrNameLst>
                                      </p:cBhvr>
                                      <p:to>
                                        <p:strVal val="visible"/>
                                      </p:to>
                                    </p:set>
                                    <p:anim calcmode="lin" valueType="num">
                                      <p:cBhvr additive="base">
                                        <p:cTn id="24"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b="1" i="0" u="sng" dirty="0">
                <a:solidFill>
                  <a:srgbClr val="303030"/>
                </a:solidFill>
                <a:effectLst/>
                <a:latin typeface="Times New Roman" panose="02020603050405020304" pitchFamily="18" charset="0"/>
                <a:cs typeface="Times New Roman" panose="02020603050405020304" pitchFamily="18" charset="0"/>
              </a:rPr>
              <a:t>Associativity Rule:</a:t>
            </a:r>
            <a:r>
              <a:rPr lang="en-US" b="0" i="0" dirty="0">
                <a:solidFill>
                  <a:srgbClr val="303030"/>
                </a:solidFill>
                <a:effectLst/>
                <a:latin typeface="Times New Roman" panose="02020603050405020304" pitchFamily="18" charset="0"/>
                <a:cs typeface="Times New Roman" panose="02020603050405020304" pitchFamily="18" charset="0"/>
              </a:rPr>
              <a:t> </a:t>
            </a:r>
          </a:p>
          <a:p>
            <a:pPr marL="0" indent="0" algn="just" fontAlgn="base">
              <a:buNone/>
            </a:pPr>
            <a:endParaRPr lang="en-US" dirty="0">
              <a:solidFill>
                <a:srgbClr val="303030"/>
              </a:solidFill>
              <a:latin typeface="Times New Roman" panose="02020603050405020304" pitchFamily="18" charset="0"/>
              <a:cs typeface="Times New Roman" panose="02020603050405020304" pitchFamily="18" charset="0"/>
            </a:endParaRPr>
          </a:p>
          <a:p>
            <a:pPr marL="0" indent="0" algn="just"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If the operator is left associative, induce left recursion in its production.</a:t>
            </a:r>
          </a:p>
          <a:p>
            <a:pPr algn="just" fontAlgn="base">
              <a:buFont typeface="Arial" panose="020B0604020202020204" pitchFamily="34" charset="0"/>
              <a:buChar char="•"/>
            </a:pPr>
            <a:endParaRPr lang="en-US" b="0" i="0" dirty="0">
              <a:solidFill>
                <a:srgbClr val="303030"/>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If the operator is right associative, induce right recursion in its production.</a:t>
            </a:r>
          </a:p>
          <a:p>
            <a:pPr marL="0" indent="0" algn="just"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E74360-3308-456F-B840-83A5CBF051B4}"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052622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 calcmode="lin" valueType="num">
                                      <p:cBhvr additive="base">
                                        <p:cTn id="7"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4" end="4"/>
                                            </p:txEl>
                                          </p:spTgt>
                                        </p:tgtEl>
                                        <p:attrNameLst>
                                          <p:attrName>style.visibility</p:attrName>
                                        </p:attrNameLst>
                                      </p:cBhvr>
                                      <p:to>
                                        <p:strVal val="visible"/>
                                      </p:to>
                                    </p:set>
                                    <p:anim calcmode="lin" valueType="num">
                                      <p:cBhvr additive="base">
                                        <p:cTn id="11"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6" end="6"/>
                                            </p:txEl>
                                          </p:spTgt>
                                        </p:tgtEl>
                                        <p:attrNameLst>
                                          <p:attrName>style.visibility</p:attrName>
                                        </p:attrNameLst>
                                      </p:cBhvr>
                                      <p:to>
                                        <p:strVal val="visible"/>
                                      </p:to>
                                    </p:set>
                                    <p:anim calcmode="lin" valueType="num">
                                      <p:cBhvr additive="base">
                                        <p:cTn id="15"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dirty="0">
                <a:solidFill>
                  <a:srgbClr val="303030"/>
                </a:solidFill>
                <a:latin typeface="Times New Roman" panose="02020603050405020304" pitchFamily="18" charset="0"/>
                <a:cs typeface="Times New Roman" panose="02020603050405020304" pitchFamily="18" charset="0"/>
              </a:rPr>
              <a:t>According to the associativity rule:- Left associativity is obtain by converting the grammar into left recursion.</a:t>
            </a:r>
          </a:p>
          <a:p>
            <a:pPr marL="0" indent="0" algn="just" fontAlgn="base">
              <a:buNone/>
            </a:pPr>
            <a:endParaRPr lang="it-IT"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r>
              <a:rPr lang="it-IT"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Production rule:  </a:t>
            </a:r>
            <a:r>
              <a:rPr lang="it-IT" dirty="0">
                <a:solidFill>
                  <a:srgbClr val="000000"/>
                </a:solidFill>
                <a:latin typeface="Times New Roman" panose="02020603050405020304" pitchFamily="18" charset="0"/>
                <a:cs typeface="Times New Roman" panose="02020603050405020304" pitchFamily="18" charset="0"/>
              </a:rPr>
              <a:t>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id </a:t>
            </a:r>
          </a:p>
          <a:p>
            <a:pPr marL="0" indent="0" algn="just" fontAlgn="base">
              <a:buNone/>
            </a:pPr>
            <a:endParaRPr lang="en-US"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02E71BC-3DF3-48B8-B265-B49DB7DB0AF8}"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sp>
        <p:nvSpPr>
          <p:cNvPr id="10" name="Arrow: Right 9">
            <a:extLst>
              <a:ext uri="{FF2B5EF4-FFF2-40B4-BE49-F238E27FC236}">
                <a16:creationId xmlns:a16="http://schemas.microsoft.com/office/drawing/2014/main" id="{8DE3EC5E-E914-4936-B912-7109D6633DE9}"/>
              </a:ext>
            </a:extLst>
          </p:cNvPr>
          <p:cNvSpPr/>
          <p:nvPr/>
        </p:nvSpPr>
        <p:spPr>
          <a:xfrm>
            <a:off x="4597400" y="2483001"/>
            <a:ext cx="914400"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6F73BE65-8E57-4834-8B7C-E315D4660F93}"/>
              </a:ext>
            </a:extLst>
          </p:cNvPr>
          <p:cNvSpPr txBox="1"/>
          <p:nvPr/>
        </p:nvSpPr>
        <p:spPr>
          <a:xfrm>
            <a:off x="6079853" y="1836670"/>
            <a:ext cx="2186214" cy="646331"/>
          </a:xfrm>
          <a:prstGeom prst="rect">
            <a:avLst/>
          </a:prstGeom>
          <a:noFill/>
        </p:spPr>
        <p:txBody>
          <a:bodyPr wrap="square" rtlCol="0">
            <a:spAutoFit/>
          </a:bodyPr>
          <a:lstStyle/>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E –&gt; E + id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E –&gt; id </a:t>
            </a:r>
          </a:p>
        </p:txBody>
      </p:sp>
      <p:pic>
        <p:nvPicPr>
          <p:cNvPr id="2" name="Picture 1">
            <a:extLst>
              <a:ext uri="{FF2B5EF4-FFF2-40B4-BE49-F238E27FC236}">
                <a16:creationId xmlns:a16="http://schemas.microsoft.com/office/drawing/2014/main" id="{8972228E-6F38-420A-A0F2-DC75D6758778}"/>
              </a:ext>
            </a:extLst>
          </p:cNvPr>
          <p:cNvPicPr>
            <a:picLocks noChangeAspect="1"/>
          </p:cNvPicPr>
          <p:nvPr/>
        </p:nvPicPr>
        <p:blipFill>
          <a:blip r:embed="rId3"/>
          <a:stretch>
            <a:fillRect/>
          </a:stretch>
        </p:blipFill>
        <p:spPr>
          <a:xfrm>
            <a:off x="3140075" y="3276601"/>
            <a:ext cx="3171825" cy="3079750"/>
          </a:xfrm>
          <a:prstGeom prst="rect">
            <a:avLst/>
          </a:prstGeom>
        </p:spPr>
      </p:pic>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3737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 calcmode="lin" valueType="num">
                                      <p:cBhvr additive="base">
                                        <p:cTn id="13"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6">
                                            <p:txEl>
                                              <p:pRg st="3" end="3"/>
                                            </p:txEl>
                                          </p:spTgt>
                                        </p:tgtEl>
                                        <p:attrNameLst>
                                          <p:attrName>style.visibility</p:attrName>
                                        </p:attrNameLst>
                                      </p:cBhvr>
                                      <p:to>
                                        <p:strVal val="visible"/>
                                      </p:to>
                                    </p:set>
                                    <p:anim calcmode="lin" valueType="num">
                                      <p:cBhvr additive="base">
                                        <p:cTn id="17"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6">
                                            <p:txEl>
                                              <p:pRg st="4" end="4"/>
                                            </p:txEl>
                                          </p:spTgt>
                                        </p:tgtEl>
                                        <p:attrNameLst>
                                          <p:attrName>style.visibility</p:attrName>
                                        </p:attrNameLst>
                                      </p:cBhvr>
                                      <p:to>
                                        <p:strVal val="visible"/>
                                      </p:to>
                                    </p:set>
                                    <p:anim calcmode="lin" valueType="num">
                                      <p:cBhvr additive="base">
                                        <p:cTn id="21"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inVertic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ppt_x"/>
                                          </p:val>
                                        </p:tav>
                                        <p:tav tm="100000">
                                          <p:val>
                                            <p:strVal val="#ppt_x"/>
                                          </p:val>
                                        </p:tav>
                                      </p:tavLst>
                                    </p:anim>
                                    <p:anim calcmode="lin" valueType="num">
                                      <p:cBhvr additive="base">
                                        <p:cTn id="3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p:cTn id="38" dur="500" fill="hold"/>
                                        <p:tgtEl>
                                          <p:spTgt spid="2"/>
                                        </p:tgtEl>
                                        <p:attrNameLst>
                                          <p:attrName>ppt_w</p:attrName>
                                        </p:attrNameLst>
                                      </p:cBhvr>
                                      <p:tavLst>
                                        <p:tav tm="0">
                                          <p:val>
                                            <p:fltVal val="0"/>
                                          </p:val>
                                        </p:tav>
                                        <p:tav tm="100000">
                                          <p:val>
                                            <p:strVal val="#ppt_w"/>
                                          </p:val>
                                        </p:tav>
                                      </p:tavLst>
                                    </p:anim>
                                    <p:anim calcmode="lin" valueType="num">
                                      <p:cBhvr>
                                        <p:cTn id="39" dur="500" fill="hold"/>
                                        <p:tgtEl>
                                          <p:spTgt spid="2"/>
                                        </p:tgtEl>
                                        <p:attrNameLst>
                                          <p:attrName>ppt_h</p:attrName>
                                        </p:attrNameLst>
                                      </p:cBhvr>
                                      <p:tavLst>
                                        <p:tav tm="0">
                                          <p:val>
                                            <p:fltVal val="0"/>
                                          </p:val>
                                        </p:tav>
                                        <p:tav tm="100000">
                                          <p:val>
                                            <p:strVal val="#ppt_h"/>
                                          </p:val>
                                        </p:tav>
                                      </p:tavLst>
                                    </p:anim>
                                    <p:animEffect transition="in" filter="fade">
                                      <p:cBhvr>
                                        <p:cTn id="4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b="1" i="0" u="sng" dirty="0">
                <a:solidFill>
                  <a:srgbClr val="303030"/>
                </a:solidFill>
                <a:effectLst/>
                <a:latin typeface="Times New Roman" panose="02020603050405020304" pitchFamily="18" charset="0"/>
                <a:cs typeface="Times New Roman" panose="02020603050405020304" pitchFamily="18" charset="0"/>
              </a:rPr>
              <a:t>Precedence Rule:</a:t>
            </a:r>
          </a:p>
          <a:p>
            <a:pPr marL="0" indent="0" algn="just" fontAlgn="base">
              <a:buNone/>
            </a:pPr>
            <a:endParaRPr lang="en-US" b="1" i="0" dirty="0">
              <a:solidFill>
                <a:srgbClr val="303030"/>
              </a:solidFill>
              <a:effectLst/>
              <a:latin typeface="Times New Roman" panose="02020603050405020304" pitchFamily="18" charset="0"/>
              <a:cs typeface="Times New Roman" panose="02020603050405020304" pitchFamily="18" charset="0"/>
            </a:endParaRPr>
          </a:p>
          <a:p>
            <a:pPr algn="just" fontAlgn="base"/>
            <a:r>
              <a:rPr lang="en-US" b="0" i="0" dirty="0">
                <a:solidFill>
                  <a:srgbClr val="303030"/>
                </a:solidFill>
                <a:effectLst/>
                <a:latin typeface="Times New Roman" panose="02020603050405020304" pitchFamily="18" charset="0"/>
                <a:cs typeface="Times New Roman" panose="02020603050405020304" pitchFamily="18" charset="0"/>
              </a:rPr>
              <a:t>The level at which the production is present defines the priority of the operator contained in it.</a:t>
            </a:r>
          </a:p>
          <a:p>
            <a:pPr algn="just" fontAlgn="base"/>
            <a:endParaRPr lang="en-US" b="0" i="0" dirty="0">
              <a:solidFill>
                <a:srgbClr val="303030"/>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The higher the level of the production, the lower the priority of operator.</a:t>
            </a:r>
          </a:p>
          <a:p>
            <a:pPr algn="just" fontAlgn="base">
              <a:buFont typeface="Arial" panose="020B0604020202020204" pitchFamily="34" charset="0"/>
              <a:buChar char="•"/>
            </a:pPr>
            <a:endParaRPr lang="en-US" b="0" i="0" dirty="0">
              <a:solidFill>
                <a:srgbClr val="303030"/>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The lower the level of the production, the higher the priority of operator.</a:t>
            </a:r>
          </a:p>
          <a:p>
            <a:pPr marL="0" indent="0" algn="just"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69AD606-0AD6-43EF-8FC1-52F68AD5EEE9}"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28657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anim calcmode="lin" valueType="num">
                                      <p:cBhvr additive="base">
                                        <p:cTn id="11"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anim calcmode="lin" valueType="num">
                                      <p:cBhvr additive="base">
                                        <p:cTn id="15"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anim calcmode="lin" valueType="num">
                                      <p:cBhvr additive="base">
                                        <p:cTn id="19"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dirty="0">
                <a:solidFill>
                  <a:srgbClr val="303030"/>
                </a:solidFill>
                <a:latin typeface="Times New Roman" panose="02020603050405020304" pitchFamily="18" charset="0"/>
                <a:cs typeface="Times New Roman" panose="02020603050405020304" pitchFamily="18" charset="0"/>
              </a:rPr>
              <a:t>According to the Precedence rule:- Highest precedence operator should be at the least level.</a:t>
            </a:r>
          </a:p>
          <a:p>
            <a:pPr marL="0" indent="0" algn="just" fontAlgn="base">
              <a:buNone/>
            </a:pPr>
            <a:endParaRPr lang="it-IT"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r>
              <a:rPr lang="it-IT"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Production rule:  </a:t>
            </a:r>
            <a:r>
              <a:rPr lang="it-IT" dirty="0">
                <a:solidFill>
                  <a:srgbClr val="000000"/>
                </a:solidFill>
                <a:latin typeface="Times New Roman" panose="02020603050405020304" pitchFamily="18" charset="0"/>
                <a:cs typeface="Times New Roman" panose="02020603050405020304" pitchFamily="18" charset="0"/>
              </a:rPr>
              <a:t>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id </a:t>
            </a:r>
          </a:p>
          <a:p>
            <a:pPr marL="0" indent="0" algn="just" fontAlgn="base">
              <a:buNone/>
            </a:pPr>
            <a:endParaRPr lang="en-US"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F88059B-62D6-45A1-A0FC-1B01839E9181}"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sp>
        <p:nvSpPr>
          <p:cNvPr id="10" name="Arrow: Right 9">
            <a:extLst>
              <a:ext uri="{FF2B5EF4-FFF2-40B4-BE49-F238E27FC236}">
                <a16:creationId xmlns:a16="http://schemas.microsoft.com/office/drawing/2014/main" id="{8DE3EC5E-E914-4936-B912-7109D6633DE9}"/>
              </a:ext>
            </a:extLst>
          </p:cNvPr>
          <p:cNvSpPr/>
          <p:nvPr/>
        </p:nvSpPr>
        <p:spPr>
          <a:xfrm>
            <a:off x="4646386" y="2136640"/>
            <a:ext cx="914400"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TextBox 10">
            <a:extLst>
              <a:ext uri="{FF2B5EF4-FFF2-40B4-BE49-F238E27FC236}">
                <a16:creationId xmlns:a16="http://schemas.microsoft.com/office/drawing/2014/main" id="{6F73BE65-8E57-4834-8B7C-E315D4660F93}"/>
              </a:ext>
            </a:extLst>
          </p:cNvPr>
          <p:cNvSpPr txBox="1"/>
          <p:nvPr/>
        </p:nvSpPr>
        <p:spPr>
          <a:xfrm>
            <a:off x="6221730" y="1787824"/>
            <a:ext cx="2186214" cy="923330"/>
          </a:xfrm>
          <a:prstGeom prst="rect">
            <a:avLst/>
          </a:prstGeom>
          <a:noFill/>
        </p:spPr>
        <p:txBody>
          <a:bodyPr wrap="square" rtlCol="0">
            <a:spAutoFit/>
          </a:bodyPr>
          <a:lstStyle/>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E –&gt; E +T|T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T –&gt; T * F|F</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F-&gt;id</a:t>
            </a:r>
          </a:p>
        </p:txBody>
      </p:sp>
      <p:pic>
        <p:nvPicPr>
          <p:cNvPr id="2" name="Picture 1">
            <a:extLst>
              <a:ext uri="{FF2B5EF4-FFF2-40B4-BE49-F238E27FC236}">
                <a16:creationId xmlns:a16="http://schemas.microsoft.com/office/drawing/2014/main" id="{482A8EAE-5E27-413F-85AE-455E0DFF4A7F}"/>
              </a:ext>
            </a:extLst>
          </p:cNvPr>
          <p:cNvPicPr>
            <a:picLocks noChangeAspect="1"/>
          </p:cNvPicPr>
          <p:nvPr/>
        </p:nvPicPr>
        <p:blipFill>
          <a:blip r:embed="rId3"/>
          <a:stretch>
            <a:fillRect/>
          </a:stretch>
        </p:blipFill>
        <p:spPr>
          <a:xfrm>
            <a:off x="2489200" y="3581400"/>
            <a:ext cx="3759200" cy="277495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910079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wipe(down)">
                                      <p:cBhvr>
                                        <p:cTn id="13" dur="500"/>
                                        <p:tgtEl>
                                          <p:spTgt spid="16">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6">
                                            <p:txEl>
                                              <p:pRg st="3" end="3"/>
                                            </p:txEl>
                                          </p:spTgt>
                                        </p:tgtEl>
                                        <p:attrNameLst>
                                          <p:attrName>style.visibility</p:attrName>
                                        </p:attrNameLst>
                                      </p:cBhvr>
                                      <p:to>
                                        <p:strVal val="visible"/>
                                      </p:to>
                                    </p:set>
                                    <p:animEffect transition="in" filter="wipe(down)">
                                      <p:cBhvr>
                                        <p:cTn id="16" dur="500"/>
                                        <p:tgtEl>
                                          <p:spTgt spid="16">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animEffect transition="in" filter="wipe(down)">
                                      <p:cBhvr>
                                        <p:cTn id="19" dur="500"/>
                                        <p:tgtEl>
                                          <p:spTgt spid="16">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inVertical)">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down)">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p:cTn id="34" dur="500" fill="hold"/>
                                        <p:tgtEl>
                                          <p:spTgt spid="2"/>
                                        </p:tgtEl>
                                        <p:attrNameLst>
                                          <p:attrName>ppt_w</p:attrName>
                                        </p:attrNameLst>
                                      </p:cBhvr>
                                      <p:tavLst>
                                        <p:tav tm="0">
                                          <p:val>
                                            <p:fltVal val="0"/>
                                          </p:val>
                                        </p:tav>
                                        <p:tav tm="100000">
                                          <p:val>
                                            <p:strVal val="#ppt_w"/>
                                          </p:val>
                                        </p:tav>
                                      </p:tavLst>
                                    </p:anim>
                                    <p:anim calcmode="lin" valueType="num">
                                      <p:cBhvr>
                                        <p:cTn id="35" dur="500" fill="hold"/>
                                        <p:tgtEl>
                                          <p:spTgt spid="2"/>
                                        </p:tgtEl>
                                        <p:attrNameLst>
                                          <p:attrName>ppt_h</p:attrName>
                                        </p:attrNameLst>
                                      </p:cBhvr>
                                      <p:tavLst>
                                        <p:tav tm="0">
                                          <p:val>
                                            <p:fltVal val="0"/>
                                          </p:val>
                                        </p:tav>
                                        <p:tav tm="100000">
                                          <p:val>
                                            <p:strVal val="#ppt_h"/>
                                          </p:val>
                                        </p:tav>
                                      </p:tavLst>
                                    </p:anim>
                                    <p:animEffect transition="in" filter="fade">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333333"/>
                </a:solidFill>
                <a:effectLst>
                  <a:outerShdw blurRad="38100" dist="38100" dir="2700000" algn="tl">
                    <a:srgbClr val="000000">
                      <a:alpha val="43137"/>
                    </a:srgbClr>
                  </a:outerShdw>
                </a:effectLst>
              </a:rPr>
              <a:t>Example: </a:t>
            </a:r>
            <a:r>
              <a:rPr kumimoji="0" lang="en-US" altLang="en-US" b="0" i="0" u="none" strike="noStrike" cap="none" normalizeH="0" baseline="0" dirty="0">
                <a:ln>
                  <a:noFill/>
                </a:ln>
                <a:solidFill>
                  <a:srgbClr val="333333"/>
                </a:solidFill>
                <a:effectLst/>
              </a:rPr>
              <a:t>Consider the following grammar :</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E→E+E</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a:t>
            </a:r>
            <a:r>
              <a:rPr kumimoji="0" lang="en-US" altLang="en-US" b="0" i="0" u="none" strike="noStrike" cap="none" normalizeH="0" baseline="0" dirty="0" smtClean="0">
                <a:ln>
                  <a:noFill/>
                </a:ln>
                <a:solidFill>
                  <a:srgbClr val="333333"/>
                </a:solidFill>
                <a:effectLst/>
              </a:rPr>
              <a:t>E→</a:t>
            </a:r>
            <a:r>
              <a:rPr lang="en-US" altLang="en-US" dirty="0">
                <a:solidFill>
                  <a:srgbClr val="333333"/>
                </a:solidFill>
              </a:rPr>
              <a:t>E*E</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a:t>
            </a:r>
            <a:r>
              <a:rPr kumimoji="0" lang="en-US" altLang="en-US" b="0" i="0" u="none" strike="noStrike" cap="none" normalizeH="0" baseline="0" dirty="0" smtClean="0">
                <a:ln>
                  <a:noFill/>
                </a:ln>
                <a:solidFill>
                  <a:srgbClr val="333333"/>
                </a:solidFill>
                <a:effectLst/>
              </a:rPr>
              <a:t>E→</a:t>
            </a:r>
            <a:r>
              <a:rPr kumimoji="0" lang="en-US" altLang="en-US" b="0" i="0" u="none" strike="noStrike" cap="none" normalizeH="0" baseline="0" dirty="0">
                <a:ln>
                  <a:noFill/>
                </a:ln>
                <a:solidFill>
                  <a:srgbClr val="333333"/>
                </a:solidFill>
                <a:effectLst/>
              </a:rPr>
              <a:t>(E)|id</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333333"/>
                </a:solidFill>
              </a:rPr>
              <a:t>Check whether this input string </a:t>
            </a:r>
            <a:r>
              <a:rPr lang="en-US" altLang="en-US" dirty="0" err="1">
                <a:solidFill>
                  <a:srgbClr val="333333"/>
                </a:solidFill>
              </a:rPr>
              <a:t>id+id</a:t>
            </a:r>
            <a:r>
              <a:rPr lang="en-US" altLang="en-US" dirty="0">
                <a:solidFill>
                  <a:srgbClr val="333333"/>
                </a:solidFill>
              </a:rPr>
              <a:t>*id is accepted using LL(1) parsing technique</a:t>
            </a:r>
            <a:endParaRPr kumimoji="0" lang="en-US" altLang="en-US" b="0" i="0" u="none" strike="noStrike" cap="none" normalizeH="0" baseline="0" dirty="0">
              <a:ln>
                <a:noFill/>
              </a:ln>
              <a:solidFill>
                <a:schemeClr val="tx1"/>
              </a:solidFill>
              <a:effectLst/>
            </a:endParaRPr>
          </a:p>
          <a:p>
            <a:pPr marL="0" indent="0" algn="just" fontAlgn="base">
              <a:buNone/>
            </a:pPr>
            <a:endParaRPr lang="en-US" b="0" i="1" dirty="0">
              <a:solidFill>
                <a:srgbClr val="303030"/>
              </a:solidFill>
              <a:effectLst>
                <a:outerShdw blurRad="38100" dist="38100" dir="2700000" algn="tl">
                  <a:srgbClr val="000000">
                    <a:alpha val="43137"/>
                  </a:srgbClr>
                </a:outerShdw>
              </a:effectLst>
            </a:endParaRPr>
          </a:p>
          <a:p>
            <a:pPr marL="0" indent="0" algn="just" fontAlgn="base">
              <a:buNone/>
            </a:pPr>
            <a:r>
              <a:rPr lang="en-US" b="0" i="1" dirty="0">
                <a:solidFill>
                  <a:srgbClr val="303030"/>
                </a:solidFill>
                <a:effectLst>
                  <a:outerShdw blurRad="38100" dist="38100" dir="2700000" algn="tl">
                    <a:srgbClr val="000000">
                      <a:alpha val="43137"/>
                    </a:srgbClr>
                  </a:outerShdw>
                </a:effectLst>
              </a:rPr>
              <a:t>Solution: </a:t>
            </a:r>
          </a:p>
          <a:p>
            <a:pPr marL="0" indent="0" algn="just" fontAlgn="base">
              <a:buNone/>
            </a:pPr>
            <a:endParaRPr lang="en-US" b="0" i="1" dirty="0">
              <a:solidFill>
                <a:srgbClr val="303030"/>
              </a:solidFill>
              <a:effectLst>
                <a:outerShdw blurRad="38100" dist="38100" dir="2700000" algn="tl">
                  <a:srgbClr val="000000">
                    <a:alpha val="43137"/>
                  </a:srgbClr>
                </a:outerShdw>
              </a:effectLst>
            </a:endParaRPr>
          </a:p>
          <a:p>
            <a:pPr marL="0" indent="0" algn="just" fontAlgn="base">
              <a:buNone/>
            </a:pPr>
            <a:r>
              <a:rPr lang="en-US" b="0" i="1" dirty="0">
                <a:solidFill>
                  <a:srgbClr val="303030"/>
                </a:solidFill>
                <a:effectLst>
                  <a:outerShdw blurRad="38100" dist="38100" dir="2700000" algn="tl">
                    <a:srgbClr val="000000">
                      <a:alpha val="43137"/>
                    </a:srgbClr>
                  </a:outerShdw>
                </a:effectLst>
              </a:rPr>
              <a:t>Step 1: Check whether a given grammar is ambiguous or not.</a:t>
            </a:r>
          </a:p>
          <a:p>
            <a:pPr marL="0" indent="0" algn="just" fontAlgn="base">
              <a:buNone/>
            </a:pPr>
            <a:endParaRPr lang="en-US" i="1" dirty="0">
              <a:solidFill>
                <a:srgbClr val="303030"/>
              </a:solidFill>
              <a:effectLst>
                <a:outerShdw blurRad="38100" dist="38100" dir="2700000" algn="tl">
                  <a:srgbClr val="000000">
                    <a:alpha val="43137"/>
                  </a:srgbClr>
                </a:outerShdw>
              </a:effectLst>
            </a:endParaRPr>
          </a:p>
          <a:p>
            <a:pPr marL="0" indent="0" algn="just" fontAlgn="base">
              <a:buNone/>
            </a:pPr>
            <a:r>
              <a:rPr lang="en-US" i="1" dirty="0">
                <a:solidFill>
                  <a:srgbClr val="303030"/>
                </a:solidFill>
                <a:effectLst>
                  <a:outerShdw blurRad="38100" dist="38100" dir="2700000" algn="tl">
                    <a:srgbClr val="000000">
                      <a:alpha val="43137"/>
                    </a:srgbClr>
                  </a:outerShdw>
                </a:effectLst>
              </a:rPr>
              <a:t>If ambiguous remove ambiguity: </a:t>
            </a:r>
          </a:p>
          <a:p>
            <a:pPr marL="0" indent="0" algn="just" fontAlgn="base">
              <a:buNone/>
            </a:pPr>
            <a:endParaRPr lang="en-US" b="0" i="1" dirty="0">
              <a:solidFill>
                <a:srgbClr val="303030"/>
              </a:solidFill>
              <a:effectLst>
                <a:outerShdw blurRad="38100" dist="38100" dir="2700000" algn="tl">
                  <a:srgbClr val="000000">
                    <a:alpha val="43137"/>
                  </a:srgbClr>
                </a:outerShdw>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E→E+T |T</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T→T*F |F</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F→(E) |id</a:t>
            </a:r>
            <a:endParaRPr kumimoji="0" lang="en-US" altLang="en-US" b="0" i="0" u="none" strike="noStrike" cap="none" normalizeH="0" baseline="0" dirty="0">
              <a:ln>
                <a:noFill/>
              </a:ln>
              <a:solidFill>
                <a:schemeClr val="tx1"/>
              </a:solidFill>
              <a:effectLst/>
            </a:endParaRPr>
          </a:p>
          <a:p>
            <a:pPr marL="0" indent="0" algn="just" fontAlgn="base">
              <a:buNone/>
            </a:pPr>
            <a:endParaRPr lang="en-US" b="0" i="1" dirty="0">
              <a:solidFill>
                <a:srgbClr val="30303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E6F04A9C-0D8A-4D19-A814-346C9235E132}"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7635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6">
                                            <p:txEl>
                                              <p:pRg st="6" end="6"/>
                                            </p:txEl>
                                          </p:spTgt>
                                        </p:tgtEl>
                                        <p:attrNameLst>
                                          <p:attrName>style.visibility</p:attrName>
                                        </p:attrNameLst>
                                      </p:cBhvr>
                                      <p:to>
                                        <p:strVal val="visible"/>
                                      </p:to>
                                    </p:set>
                                    <p:anim calcmode="lin" valueType="num">
                                      <p:cBhvr additive="base">
                                        <p:cTn id="29"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6">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6">
                                            <p:txEl>
                                              <p:pRg st="8" end="8"/>
                                            </p:txEl>
                                          </p:spTgt>
                                        </p:tgtEl>
                                        <p:attrNameLst>
                                          <p:attrName>style.visibility</p:attrName>
                                        </p:attrNameLst>
                                      </p:cBhvr>
                                      <p:to>
                                        <p:strVal val="visible"/>
                                      </p:to>
                                    </p:set>
                                    <p:anim calcmode="lin" valueType="num">
                                      <p:cBhvr additive="base">
                                        <p:cTn id="33" dur="500" fill="hold"/>
                                        <p:tgtEl>
                                          <p:spTgt spid="16">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6">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6">
                                            <p:txEl>
                                              <p:pRg st="10" end="10"/>
                                            </p:txEl>
                                          </p:spTgt>
                                        </p:tgtEl>
                                        <p:attrNameLst>
                                          <p:attrName>style.visibility</p:attrName>
                                        </p:attrNameLst>
                                      </p:cBhvr>
                                      <p:to>
                                        <p:strVal val="visible"/>
                                      </p:to>
                                    </p:set>
                                    <p:anim calcmode="lin" valueType="num">
                                      <p:cBhvr additive="base">
                                        <p:cTn id="37" dur="500" fill="hold"/>
                                        <p:tgtEl>
                                          <p:spTgt spid="16">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16">
                                            <p:txEl>
                                              <p:pRg st="12" end="12"/>
                                            </p:txEl>
                                          </p:spTgt>
                                        </p:tgtEl>
                                        <p:attrNameLst>
                                          <p:attrName>style.visibility</p:attrName>
                                        </p:attrNameLst>
                                      </p:cBhvr>
                                      <p:to>
                                        <p:strVal val="visible"/>
                                      </p:to>
                                    </p:set>
                                    <p:animEffect transition="in" filter="wipe(down)">
                                      <p:cBhvr>
                                        <p:cTn id="43" dur="500"/>
                                        <p:tgtEl>
                                          <p:spTgt spid="16">
                                            <p:txEl>
                                              <p:pRg st="12" end="12"/>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16">
                                            <p:txEl>
                                              <p:pRg st="13" end="13"/>
                                            </p:txEl>
                                          </p:spTgt>
                                        </p:tgtEl>
                                        <p:attrNameLst>
                                          <p:attrName>style.visibility</p:attrName>
                                        </p:attrNameLst>
                                      </p:cBhvr>
                                      <p:to>
                                        <p:strVal val="visible"/>
                                      </p:to>
                                    </p:set>
                                    <p:animEffect transition="in" filter="wipe(down)">
                                      <p:cBhvr>
                                        <p:cTn id="46" dur="500"/>
                                        <p:tgtEl>
                                          <p:spTgt spid="16">
                                            <p:txEl>
                                              <p:pRg st="13" end="13"/>
                                            </p:txEl>
                                          </p:spTgt>
                                        </p:tgtEl>
                                      </p:cBhvr>
                                    </p:animEffect>
                                  </p:childTnLst>
                                </p:cTn>
                              </p:par>
                              <p:par>
                                <p:cTn id="47" presetID="22" presetClass="entr" presetSubtype="4" fill="hold" nodeType="withEffect">
                                  <p:stCondLst>
                                    <p:cond delay="0"/>
                                  </p:stCondLst>
                                  <p:childTnLst>
                                    <p:set>
                                      <p:cBhvr>
                                        <p:cTn id="48" dur="1" fill="hold">
                                          <p:stCondLst>
                                            <p:cond delay="0"/>
                                          </p:stCondLst>
                                        </p:cTn>
                                        <p:tgtEl>
                                          <p:spTgt spid="16">
                                            <p:txEl>
                                              <p:pRg st="14" end="14"/>
                                            </p:txEl>
                                          </p:spTgt>
                                        </p:tgtEl>
                                        <p:attrNameLst>
                                          <p:attrName>style.visibility</p:attrName>
                                        </p:attrNameLst>
                                      </p:cBhvr>
                                      <p:to>
                                        <p:strVal val="visible"/>
                                      </p:to>
                                    </p:set>
                                    <p:animEffect transition="in" filter="wipe(down)">
                                      <p:cBhvr>
                                        <p:cTn id="49" dur="500"/>
                                        <p:tgtEl>
                                          <p:spTgt spid="16">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b="0" i="1" dirty="0">
                <a:solidFill>
                  <a:srgbClr val="303030"/>
                </a:solidFill>
                <a:effectLst>
                  <a:outerShdw blurRad="38100" dist="38100" dir="2700000" algn="tl">
                    <a:srgbClr val="000000">
                      <a:alpha val="43137"/>
                    </a:srgbClr>
                  </a:outerShdw>
                </a:effectLst>
              </a:rPr>
              <a:t>Step </a:t>
            </a:r>
            <a:r>
              <a:rPr lang="en-US" i="1" dirty="0">
                <a:solidFill>
                  <a:srgbClr val="303030"/>
                </a:solidFill>
                <a:effectLst>
                  <a:outerShdw blurRad="38100" dist="38100" dir="2700000" algn="tl">
                    <a:srgbClr val="000000">
                      <a:alpha val="43137"/>
                    </a:srgbClr>
                  </a:outerShdw>
                </a:effectLst>
              </a:rPr>
              <a:t>2</a:t>
            </a:r>
            <a:r>
              <a:rPr lang="en-US" b="0" i="1" dirty="0">
                <a:solidFill>
                  <a:srgbClr val="303030"/>
                </a:solidFill>
                <a:effectLst>
                  <a:outerShdw blurRad="38100" dist="38100" dir="2700000" algn="tl">
                    <a:srgbClr val="000000">
                      <a:alpha val="43137"/>
                    </a:srgbClr>
                  </a:outerShdw>
                </a:effectLst>
              </a:rPr>
              <a:t>: </a:t>
            </a:r>
          </a:p>
          <a:p>
            <a:pPr marL="0" indent="0" algn="just" fontAlgn="base">
              <a:buNone/>
            </a:pPr>
            <a:endParaRPr lang="en-US" i="1" dirty="0">
              <a:solidFill>
                <a:srgbClr val="303030"/>
              </a:solidFill>
              <a:effectLst>
                <a:outerShdw blurRad="38100" dist="38100" dir="2700000" algn="tl">
                  <a:srgbClr val="000000">
                    <a:alpha val="43137"/>
                  </a:srgbClr>
                </a:outerShdw>
              </a:effectLst>
            </a:endParaRPr>
          </a:p>
          <a:p>
            <a:pPr marL="0" indent="0" algn="just" fontAlgn="base">
              <a:buNone/>
            </a:pPr>
            <a:r>
              <a:rPr lang="en-US" i="1" dirty="0">
                <a:solidFill>
                  <a:srgbClr val="303030"/>
                </a:solidFill>
                <a:effectLst>
                  <a:outerShdw blurRad="38100" dist="38100" dir="2700000" algn="tl">
                    <a:srgbClr val="000000">
                      <a:alpha val="43137"/>
                    </a:srgbClr>
                  </a:outerShdw>
                </a:effectLst>
              </a:rPr>
              <a:t>C</a:t>
            </a:r>
            <a:r>
              <a:rPr lang="en-US" b="0" i="1" dirty="0">
                <a:solidFill>
                  <a:srgbClr val="303030"/>
                </a:solidFill>
                <a:effectLst>
                  <a:outerShdw blurRad="38100" dist="38100" dir="2700000" algn="tl">
                    <a:srgbClr val="000000">
                      <a:alpha val="43137"/>
                    </a:srgbClr>
                  </a:outerShdw>
                </a:effectLst>
              </a:rPr>
              <a:t>heck </a:t>
            </a:r>
            <a:r>
              <a:rPr lang="en-US" i="1" dirty="0">
                <a:solidFill>
                  <a:srgbClr val="303030"/>
                </a:solidFill>
                <a:effectLst>
                  <a:outerShdw blurRad="38100" dist="38100" dir="2700000" algn="tl">
                    <a:srgbClr val="000000">
                      <a:alpha val="43137"/>
                    </a:srgbClr>
                  </a:outerShdw>
                </a:effectLst>
              </a:rPr>
              <a:t>and </a:t>
            </a:r>
            <a:r>
              <a:rPr lang="en-US" b="0" i="1" dirty="0">
                <a:solidFill>
                  <a:srgbClr val="303030"/>
                </a:solidFill>
                <a:effectLst>
                  <a:outerShdw blurRad="38100" dist="38100" dir="2700000" algn="tl">
                    <a:srgbClr val="000000">
                      <a:alpha val="43137"/>
                    </a:srgbClr>
                  </a:outerShdw>
                </a:effectLst>
              </a:rPr>
              <a:t>Remove Left –Recursion </a:t>
            </a:r>
          </a:p>
          <a:p>
            <a:pPr marL="0" indent="0" algn="just" fontAlgn="base">
              <a:buNone/>
            </a:pPr>
            <a:endParaRPr lang="en-US" b="0" i="1" dirty="0">
              <a:solidFill>
                <a:srgbClr val="303030"/>
              </a:solidFill>
              <a:effectLst>
                <a:outerShdw blurRad="38100" dist="38100" dir="2700000" algn="tl">
                  <a:srgbClr val="000000">
                    <a:alpha val="43137"/>
                  </a:srgbClr>
                </a:outerShdw>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After eliminating left-recursion the grammar is</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E →TE’</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E’ → +TE’ | ε</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T →FT’</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T’ → *FT’ | ε</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F → (E)|id</a:t>
            </a:r>
            <a:endParaRPr kumimoji="0" lang="en-US" altLang="en-US" b="0" i="0" u="none" strike="noStrike" cap="none" normalizeH="0" baseline="0" dirty="0">
              <a:ln>
                <a:noFill/>
              </a:ln>
              <a:solidFill>
                <a:schemeClr val="tx1"/>
              </a:solidFill>
              <a:effectLst/>
            </a:endParaRPr>
          </a:p>
          <a:p>
            <a:pPr marL="0" indent="0" algn="just" fontAlgn="base">
              <a:buNone/>
            </a:pPr>
            <a:endParaRPr lang="en-US" b="0" i="1" dirty="0">
              <a:solidFill>
                <a:srgbClr val="303030"/>
              </a:solidFill>
              <a:effectLst>
                <a:outerShdw blurRad="38100" dist="38100" dir="2700000" algn="tl">
                  <a:srgbClr val="000000">
                    <a:alpha val="43137"/>
                  </a:srgbClr>
                </a:outerShdw>
              </a:effectLst>
            </a:endParaRPr>
          </a:p>
          <a:p>
            <a:pPr marL="0" indent="0" algn="just" fontAlgn="base">
              <a:buNone/>
            </a:pPr>
            <a:endParaRPr lang="en-US" b="0" i="1" dirty="0">
              <a:solidFill>
                <a:srgbClr val="30303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088D4933-D3FB-409D-AE36-A8002C02231A}"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sp>
        <p:nvSpPr>
          <p:cNvPr id="5" name="Rectangle: Single Corner Rounded 4">
            <a:extLst>
              <a:ext uri="{FF2B5EF4-FFF2-40B4-BE49-F238E27FC236}">
                <a16:creationId xmlns:a16="http://schemas.microsoft.com/office/drawing/2014/main" id="{BE3A0F64-2B10-48D9-ACD7-77A2F6512E66}"/>
              </a:ext>
            </a:extLst>
          </p:cNvPr>
          <p:cNvSpPr/>
          <p:nvPr/>
        </p:nvSpPr>
        <p:spPr>
          <a:xfrm>
            <a:off x="2209800" y="4973438"/>
            <a:ext cx="4076700" cy="762000"/>
          </a:xfrm>
          <a:prstGeom prst="round1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fontAlgn="base">
              <a:buNone/>
            </a:pPr>
            <a:r>
              <a:rPr lang="en-US" sz="2400" b="1" dirty="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Aα / β   =&gt; A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βA’</a:t>
            </a:r>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		   A’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αA’ / ∈</a:t>
            </a:r>
            <a:endParaRPr lang="en-US" sz="2400" dirty="0">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419439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 calcmode="lin" valueType="num">
                                      <p:cBhvr additive="base">
                                        <p:cTn id="13"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6">
                                            <p:txEl>
                                              <p:pRg st="4" end="4"/>
                                            </p:txEl>
                                          </p:spTgt>
                                        </p:tgtEl>
                                        <p:attrNameLst>
                                          <p:attrName>style.visibility</p:attrName>
                                        </p:attrNameLst>
                                      </p:cBhvr>
                                      <p:to>
                                        <p:strVal val="visible"/>
                                      </p:to>
                                    </p:set>
                                    <p:anim calcmode="lin" valueType="num">
                                      <p:cBhvr additive="base">
                                        <p:cTn id="24"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6">
                                            <p:txEl>
                                              <p:pRg st="7" end="7"/>
                                            </p:txEl>
                                          </p:spTgt>
                                        </p:tgtEl>
                                        <p:attrNameLst>
                                          <p:attrName>style.visibility</p:attrName>
                                        </p:attrNameLst>
                                      </p:cBhvr>
                                      <p:to>
                                        <p:strVal val="visible"/>
                                      </p:to>
                                    </p:set>
                                    <p:anim calcmode="lin" valueType="num">
                                      <p:cBhvr additive="base">
                                        <p:cTn id="28"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6">
                                            <p:txEl>
                                              <p:pRg st="7" end="7"/>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6">
                                            <p:txEl>
                                              <p:pRg st="8" end="8"/>
                                            </p:txEl>
                                          </p:spTgt>
                                        </p:tgtEl>
                                        <p:attrNameLst>
                                          <p:attrName>style.visibility</p:attrName>
                                        </p:attrNameLst>
                                      </p:cBhvr>
                                      <p:to>
                                        <p:strVal val="visible"/>
                                      </p:to>
                                    </p:set>
                                    <p:anim calcmode="lin" valueType="num">
                                      <p:cBhvr additive="base">
                                        <p:cTn id="32" dur="500" fill="hold"/>
                                        <p:tgtEl>
                                          <p:spTgt spid="16">
                                            <p:txEl>
                                              <p:pRg st="8" end="8"/>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6">
                                            <p:txEl>
                                              <p:pRg st="8" end="8"/>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16">
                                            <p:txEl>
                                              <p:pRg st="9" end="9"/>
                                            </p:txEl>
                                          </p:spTgt>
                                        </p:tgtEl>
                                        <p:attrNameLst>
                                          <p:attrName>style.visibility</p:attrName>
                                        </p:attrNameLst>
                                      </p:cBhvr>
                                      <p:to>
                                        <p:strVal val="visible"/>
                                      </p:to>
                                    </p:set>
                                    <p:anim calcmode="lin" valueType="num">
                                      <p:cBhvr additive="base">
                                        <p:cTn id="36" dur="500" fill="hold"/>
                                        <p:tgtEl>
                                          <p:spTgt spid="16">
                                            <p:txEl>
                                              <p:pRg st="9" end="9"/>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6">
                                            <p:txEl>
                                              <p:pRg st="9" end="9"/>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16">
                                            <p:txEl>
                                              <p:pRg st="10" end="10"/>
                                            </p:txEl>
                                          </p:spTgt>
                                        </p:tgtEl>
                                        <p:attrNameLst>
                                          <p:attrName>style.visibility</p:attrName>
                                        </p:attrNameLst>
                                      </p:cBhvr>
                                      <p:to>
                                        <p:strVal val="visible"/>
                                      </p:to>
                                    </p:set>
                                    <p:anim calcmode="lin" valueType="num">
                                      <p:cBhvr additive="base">
                                        <p:cTn id="40" dur="500" fill="hold"/>
                                        <p:tgtEl>
                                          <p:spTgt spid="16">
                                            <p:txEl>
                                              <p:pRg st="10" end="1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6">
                                            <p:txEl>
                                              <p:pRg st="10" end="10"/>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16">
                                            <p:txEl>
                                              <p:pRg st="11" end="11"/>
                                            </p:txEl>
                                          </p:spTgt>
                                        </p:tgtEl>
                                        <p:attrNameLst>
                                          <p:attrName>style.visibility</p:attrName>
                                        </p:attrNameLst>
                                      </p:cBhvr>
                                      <p:to>
                                        <p:strVal val="visible"/>
                                      </p:to>
                                    </p:set>
                                    <p:anim calcmode="lin" valueType="num">
                                      <p:cBhvr additive="base">
                                        <p:cTn id="44" dur="500" fill="hold"/>
                                        <p:tgtEl>
                                          <p:spTgt spid="16">
                                            <p:txEl>
                                              <p:pRg st="11" end="11"/>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1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 3: </a:t>
            </a:r>
          </a:p>
          <a:p>
            <a:pPr marL="0" indent="0" algn="just" fontAlgn="base">
              <a:buNone/>
            </a:pPr>
            <a:endParaRPr lang="en-US" i="1" dirty="0">
              <a:solidFill>
                <a:srgbClr val="303030"/>
              </a:solidFill>
              <a:effectLst>
                <a:outerShdw blurRad="38100" dist="38100" dir="2700000" algn="tl">
                  <a:srgbClr val="000000">
                    <a:alpha val="43137"/>
                  </a:srgbClr>
                </a:outerShdw>
              </a:effectLst>
            </a:endParaRPr>
          </a:p>
          <a:p>
            <a:pPr marL="0" indent="0" algn="just"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and Remove Left –Factoring</a:t>
            </a: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r>
              <a:rPr lang="en-US" dirty="0">
                <a:solidFill>
                  <a:srgbClr val="303030"/>
                </a:solidFill>
                <a:latin typeface="Times New Roman" panose="02020603050405020304" pitchFamily="18" charset="0"/>
                <a:cs typeface="Times New Roman" panose="02020603050405020304" pitchFamily="18" charset="0"/>
              </a:rPr>
              <a:t>There is no left factoring.</a:t>
            </a: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3B1D808-D5DB-41B6-A239-58784CC61876}"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sp>
        <p:nvSpPr>
          <p:cNvPr id="2" name="Rectangle: Diagonal Corners Rounded 1">
            <a:extLst>
              <a:ext uri="{FF2B5EF4-FFF2-40B4-BE49-F238E27FC236}">
                <a16:creationId xmlns:a16="http://schemas.microsoft.com/office/drawing/2014/main" id="{3C0DBB1D-A7BE-4EF2-A71A-16A37063DCB0}"/>
              </a:ext>
            </a:extLst>
          </p:cNvPr>
          <p:cNvSpPr/>
          <p:nvPr/>
        </p:nvSpPr>
        <p:spPr>
          <a:xfrm>
            <a:off x="762000" y="2514600"/>
            <a:ext cx="2819400" cy="1143000"/>
          </a:xfrm>
          <a:prstGeom prst="round2Diag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buNone/>
            </a:pPr>
            <a:r>
              <a:rPr lang="en-IN" sz="2400" b="1" i="0" dirty="0">
                <a:solidFill>
                  <a:schemeClr val="tx1"/>
                </a:solidFill>
                <a:effectLst/>
                <a:latin typeface="Times New Roman" panose="02020603050405020304" pitchFamily="18" charset="0"/>
                <a:cs typeface="Times New Roman" panose="02020603050405020304" pitchFamily="18" charset="0"/>
              </a:rPr>
              <a:t>A </a:t>
            </a:r>
            <a:r>
              <a:rPr lang="en-IN" sz="2400" b="0" i="0" dirty="0">
                <a:solidFill>
                  <a:schemeClr val="tx1"/>
                </a:solidFill>
                <a:effectLst/>
                <a:latin typeface="Times New Roman" panose="02020603050405020304" pitchFamily="18" charset="0"/>
                <a:cs typeface="Times New Roman" panose="02020603050405020304" pitchFamily="18" charset="0"/>
              </a:rPr>
              <a:t>→</a:t>
            </a:r>
            <a:r>
              <a:rPr lang="en-IN" sz="2400" b="1" i="0" dirty="0">
                <a:solidFill>
                  <a:schemeClr val="tx1"/>
                </a:solidFill>
                <a:effectLst/>
                <a:latin typeface="Times New Roman" panose="02020603050405020304" pitchFamily="18" charset="0"/>
                <a:cs typeface="Times New Roman" panose="02020603050405020304" pitchFamily="18" charset="0"/>
              </a:rPr>
              <a:t> </a:t>
            </a:r>
            <a:r>
              <a:rPr lang="el-GR" sz="2400" b="1" i="0" dirty="0">
                <a:solidFill>
                  <a:schemeClr val="tx1"/>
                </a:solidFill>
                <a:effectLst/>
                <a:latin typeface="Times New Roman" panose="02020603050405020304" pitchFamily="18" charset="0"/>
                <a:cs typeface="Times New Roman" panose="02020603050405020304" pitchFamily="18" charset="0"/>
              </a:rPr>
              <a:t>αβ</a:t>
            </a:r>
            <a:r>
              <a:rPr lang="el-GR" sz="2400" b="1" i="0" baseline="-25000" dirty="0">
                <a:solidFill>
                  <a:schemeClr val="tx1"/>
                </a:solidFill>
                <a:effectLst/>
                <a:latin typeface="Times New Roman" panose="02020603050405020304" pitchFamily="18" charset="0"/>
                <a:cs typeface="Times New Roman" panose="02020603050405020304" pitchFamily="18" charset="0"/>
              </a:rPr>
              <a:t>1</a:t>
            </a:r>
            <a:r>
              <a:rPr lang="el-GR" sz="2400" b="1" i="0" dirty="0">
                <a:solidFill>
                  <a:schemeClr val="tx1"/>
                </a:solidFill>
                <a:effectLst/>
                <a:latin typeface="Times New Roman" panose="02020603050405020304" pitchFamily="18" charset="0"/>
                <a:cs typeface="Times New Roman" panose="02020603050405020304" pitchFamily="18" charset="0"/>
              </a:rPr>
              <a:t> / αβ</a:t>
            </a:r>
            <a:r>
              <a:rPr lang="el-GR" sz="2400" b="1" i="0" baseline="-25000" dirty="0">
                <a:solidFill>
                  <a:schemeClr val="tx1"/>
                </a:solidFill>
                <a:effectLst/>
                <a:latin typeface="Times New Roman" panose="02020603050405020304" pitchFamily="18" charset="0"/>
                <a:cs typeface="Times New Roman" panose="02020603050405020304" pitchFamily="18" charset="0"/>
              </a:rPr>
              <a:t>2</a:t>
            </a:r>
            <a:r>
              <a:rPr lang="el-GR" sz="2400" b="1" i="0" dirty="0">
                <a:solidFill>
                  <a:schemeClr val="tx1"/>
                </a:solidFill>
                <a:effectLst/>
                <a:latin typeface="Times New Roman" panose="02020603050405020304" pitchFamily="18" charset="0"/>
                <a:cs typeface="Times New Roman" panose="02020603050405020304" pitchFamily="18" charset="0"/>
              </a:rPr>
              <a:t> / αβ</a:t>
            </a:r>
            <a:r>
              <a:rPr lang="el-GR" sz="2400" b="1" i="0" baseline="-25000" dirty="0">
                <a:solidFill>
                  <a:schemeClr val="tx1"/>
                </a:solidFill>
                <a:effectLst/>
                <a:latin typeface="Times New Roman" panose="02020603050405020304" pitchFamily="18" charset="0"/>
                <a:cs typeface="Times New Roman" panose="02020603050405020304" pitchFamily="18" charset="0"/>
              </a:rPr>
              <a:t>3</a:t>
            </a:r>
            <a:endParaRPr lang="en-IN" sz="2400" b="1" i="0" baseline="-25000" dirty="0">
              <a:solidFill>
                <a:schemeClr val="tx1"/>
              </a:solidFill>
              <a:effectLst/>
              <a:latin typeface="Times New Roman" panose="02020603050405020304" pitchFamily="18" charset="0"/>
              <a:cs typeface="Times New Roman" panose="02020603050405020304" pitchFamily="18" charset="0"/>
            </a:endParaRPr>
          </a:p>
        </p:txBody>
      </p:sp>
      <p:sp>
        <p:nvSpPr>
          <p:cNvPr id="3" name="Rectangle: Diagonal Corners Rounded 2">
            <a:extLst>
              <a:ext uri="{FF2B5EF4-FFF2-40B4-BE49-F238E27FC236}">
                <a16:creationId xmlns:a16="http://schemas.microsoft.com/office/drawing/2014/main" id="{566BF6B6-0B18-43D0-8EAD-AED5C5441ABD}"/>
              </a:ext>
            </a:extLst>
          </p:cNvPr>
          <p:cNvSpPr/>
          <p:nvPr/>
        </p:nvSpPr>
        <p:spPr>
          <a:xfrm>
            <a:off x="5384800" y="2514600"/>
            <a:ext cx="3276600" cy="1143000"/>
          </a:xfrm>
          <a:prstGeom prst="round2Diag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buNone/>
            </a:pPr>
            <a:r>
              <a:rPr lang="en-IN" sz="2400" b="1" i="0" dirty="0">
                <a:solidFill>
                  <a:schemeClr val="tx1"/>
                </a:solidFill>
                <a:effectLst/>
                <a:latin typeface="Times New Roman" panose="02020603050405020304" pitchFamily="18" charset="0"/>
                <a:cs typeface="Times New Roman" panose="02020603050405020304" pitchFamily="18" charset="0"/>
              </a:rPr>
              <a:t>A </a:t>
            </a:r>
            <a:r>
              <a:rPr lang="en-IN" sz="2400" b="0" i="0" dirty="0">
                <a:solidFill>
                  <a:schemeClr val="tx1"/>
                </a:solidFill>
                <a:effectLst/>
                <a:latin typeface="Times New Roman" panose="02020603050405020304" pitchFamily="18" charset="0"/>
                <a:cs typeface="Times New Roman" panose="02020603050405020304" pitchFamily="18" charset="0"/>
              </a:rPr>
              <a:t>→</a:t>
            </a:r>
            <a:r>
              <a:rPr lang="en-IN" sz="2400" b="1" i="0" dirty="0">
                <a:solidFill>
                  <a:schemeClr val="tx1"/>
                </a:solidFill>
                <a:effectLst/>
                <a:latin typeface="Times New Roman" panose="02020603050405020304" pitchFamily="18" charset="0"/>
                <a:cs typeface="Times New Roman" panose="02020603050405020304" pitchFamily="18" charset="0"/>
              </a:rPr>
              <a:t> </a:t>
            </a:r>
            <a:r>
              <a:rPr lang="el-GR" sz="2400" b="1" i="0" dirty="0">
                <a:solidFill>
                  <a:schemeClr val="tx1"/>
                </a:solidFill>
                <a:effectLst/>
                <a:latin typeface="Times New Roman" panose="02020603050405020304" pitchFamily="18" charset="0"/>
                <a:cs typeface="Times New Roman" panose="02020603050405020304" pitchFamily="18" charset="0"/>
              </a:rPr>
              <a:t>α</a:t>
            </a:r>
            <a:r>
              <a:rPr lang="en-IN" sz="2400" b="1" i="0" dirty="0">
                <a:solidFill>
                  <a:schemeClr val="tx1"/>
                </a:solidFill>
                <a:effectLst/>
                <a:latin typeface="Times New Roman" panose="02020603050405020304" pitchFamily="18" charset="0"/>
                <a:cs typeface="Times New Roman" panose="02020603050405020304" pitchFamily="18" charset="0"/>
              </a:rPr>
              <a:t>A’</a:t>
            </a:r>
            <a:endParaRPr lang="en-IN" sz="2400" b="1" i="1" baseline="-250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en-IN" sz="2400" b="1" i="0" dirty="0">
                <a:solidFill>
                  <a:schemeClr val="tx1"/>
                </a:solidFill>
                <a:effectLst/>
                <a:latin typeface="Times New Roman" panose="02020603050405020304" pitchFamily="18" charset="0"/>
                <a:cs typeface="Times New Roman" panose="02020603050405020304" pitchFamily="18" charset="0"/>
              </a:rPr>
              <a:t>A’ </a:t>
            </a:r>
            <a:r>
              <a:rPr lang="en-IN" sz="2400" b="0" i="0" dirty="0">
                <a:solidFill>
                  <a:schemeClr val="tx1"/>
                </a:solidFill>
                <a:effectLst/>
                <a:latin typeface="Times New Roman" panose="02020603050405020304" pitchFamily="18" charset="0"/>
                <a:cs typeface="Times New Roman" panose="02020603050405020304" pitchFamily="18" charset="0"/>
              </a:rPr>
              <a:t>→</a:t>
            </a:r>
            <a:r>
              <a:rPr lang="en-IN" sz="2400" b="1" i="0" dirty="0">
                <a:solidFill>
                  <a:schemeClr val="tx1"/>
                </a:solidFill>
                <a:effectLst/>
                <a:latin typeface="Times New Roman" panose="02020603050405020304" pitchFamily="18" charset="0"/>
                <a:cs typeface="Times New Roman" panose="02020603050405020304" pitchFamily="18" charset="0"/>
              </a:rPr>
              <a:t> </a:t>
            </a:r>
            <a:r>
              <a:rPr lang="el-GR" sz="2400" b="1" i="0" dirty="0">
                <a:solidFill>
                  <a:schemeClr val="tx1"/>
                </a:solidFill>
                <a:effectLst/>
                <a:latin typeface="Times New Roman" panose="02020603050405020304" pitchFamily="18" charset="0"/>
                <a:cs typeface="Times New Roman" panose="02020603050405020304" pitchFamily="18" charset="0"/>
              </a:rPr>
              <a:t>β</a:t>
            </a:r>
            <a:r>
              <a:rPr lang="el-GR" sz="2400" b="1" i="0" baseline="-25000" dirty="0">
                <a:solidFill>
                  <a:schemeClr val="tx1"/>
                </a:solidFill>
                <a:effectLst/>
                <a:latin typeface="Times New Roman" panose="02020603050405020304" pitchFamily="18" charset="0"/>
                <a:cs typeface="Times New Roman" panose="02020603050405020304" pitchFamily="18" charset="0"/>
              </a:rPr>
              <a:t>1</a:t>
            </a:r>
            <a:r>
              <a:rPr lang="el-GR" sz="2400" b="1" i="0" dirty="0">
                <a:solidFill>
                  <a:schemeClr val="tx1"/>
                </a:solidFill>
                <a:effectLst/>
                <a:latin typeface="Times New Roman" panose="02020603050405020304" pitchFamily="18" charset="0"/>
                <a:cs typeface="Times New Roman" panose="02020603050405020304" pitchFamily="18" charset="0"/>
              </a:rPr>
              <a:t> / β</a:t>
            </a:r>
            <a:r>
              <a:rPr lang="el-GR" sz="2400" b="1" i="0" baseline="-25000" dirty="0">
                <a:solidFill>
                  <a:schemeClr val="tx1"/>
                </a:solidFill>
                <a:effectLst/>
                <a:latin typeface="Times New Roman" panose="02020603050405020304" pitchFamily="18" charset="0"/>
                <a:cs typeface="Times New Roman" panose="02020603050405020304" pitchFamily="18" charset="0"/>
              </a:rPr>
              <a:t>2</a:t>
            </a:r>
            <a:r>
              <a:rPr lang="el-GR" sz="2400" b="1" i="0" dirty="0">
                <a:solidFill>
                  <a:schemeClr val="tx1"/>
                </a:solidFill>
                <a:effectLst/>
                <a:latin typeface="Times New Roman" panose="02020603050405020304" pitchFamily="18" charset="0"/>
                <a:cs typeface="Times New Roman" panose="02020603050405020304" pitchFamily="18" charset="0"/>
              </a:rPr>
              <a:t> / β</a:t>
            </a:r>
            <a:r>
              <a:rPr lang="el-GR" sz="2400" b="1" i="0" baseline="-25000" dirty="0">
                <a:solidFill>
                  <a:schemeClr val="tx1"/>
                </a:solidFill>
                <a:effectLst/>
                <a:latin typeface="Times New Roman" panose="02020603050405020304" pitchFamily="18" charset="0"/>
                <a:cs typeface="Times New Roman" panose="02020603050405020304" pitchFamily="18" charset="0"/>
              </a:rPr>
              <a:t>3</a:t>
            </a:r>
            <a:endParaRPr lang="en-IN" sz="2400" i="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A8C5339D-FF6F-4A71-9409-C274A154782A}"/>
              </a:ext>
            </a:extLst>
          </p:cNvPr>
          <p:cNvSpPr/>
          <p:nvPr/>
        </p:nvSpPr>
        <p:spPr>
          <a:xfrm>
            <a:off x="4102100" y="2922986"/>
            <a:ext cx="838200" cy="365125"/>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27738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 calcmode="lin" valueType="num">
                                      <p:cBhvr additive="base">
                                        <p:cTn id="13"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00"/>
                                        <p:tgtEl>
                                          <p:spTgt spid="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down)">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6">
                                            <p:txEl>
                                              <p:pRg st="11" end="11"/>
                                            </p:txEl>
                                          </p:spTgt>
                                        </p:tgtEl>
                                        <p:attrNameLst>
                                          <p:attrName>style.visibility</p:attrName>
                                        </p:attrNameLst>
                                      </p:cBhvr>
                                      <p:to>
                                        <p:strVal val="visible"/>
                                      </p:to>
                                    </p:set>
                                    <p:anim calcmode="lin" valueType="num">
                                      <p:cBhvr additive="base">
                                        <p:cTn id="30" dur="500" fill="hold"/>
                                        <p:tgtEl>
                                          <p:spTgt spid="16">
                                            <p:txEl>
                                              <p:pRg st="11" end="1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7017" y="685799"/>
            <a:ext cx="8229600" cy="5059363"/>
          </a:xfrm>
        </p:spPr>
        <p:txBody>
          <a:bodyPr>
            <a:noAutofit/>
          </a:bodyPr>
          <a:lstStyle/>
          <a:p>
            <a:pPr marL="0" indent="0" algn="just"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 4:Construct predictive parse table.</a:t>
            </a: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r>
              <a:rPr lang="en-US" dirty="0">
                <a:solidFill>
                  <a:srgbClr val="303030"/>
                </a:solidFill>
                <a:latin typeface="Times New Roman" panose="02020603050405020304" pitchFamily="18" charset="0"/>
                <a:cs typeface="Times New Roman" panose="02020603050405020304" pitchFamily="18" charset="0"/>
              </a:rPr>
              <a:t>Calculate first and follow function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None/>
            </a:pP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First function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FIRST(E) = { ( , id}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FIRST(E’) ={+ , ε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FIRST(T) = { ( , id}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FIRST(T’) = {*, ε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FIRST(F) = { ( , id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194FDD8-4164-438A-AC77-B1B2F56A2A55}"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1695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wipe(down)">
                                      <p:cBhvr>
                                        <p:cTn id="13" dur="500"/>
                                        <p:tgtEl>
                                          <p:spTgt spid="1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6">
                                            <p:txEl>
                                              <p:pRg st="4" end="4"/>
                                            </p:txEl>
                                          </p:spTgt>
                                        </p:tgtEl>
                                        <p:attrNameLst>
                                          <p:attrName>style.visibility</p:attrName>
                                        </p:attrNameLst>
                                      </p:cBhvr>
                                      <p:to>
                                        <p:strVal val="visible"/>
                                      </p:to>
                                    </p:set>
                                    <p:anim calcmode="lin" valueType="num">
                                      <p:cBhvr additive="base">
                                        <p:cTn id="18"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6">
                                            <p:txEl>
                                              <p:pRg st="14" end="14"/>
                                            </p:txEl>
                                          </p:spTgt>
                                        </p:tgtEl>
                                        <p:attrNameLst>
                                          <p:attrName>style.visibility</p:attrName>
                                        </p:attrNameLst>
                                      </p:cBhvr>
                                      <p:to>
                                        <p:strVal val="visible"/>
                                      </p:to>
                                    </p:set>
                                    <p:animEffect transition="in" filter="wipe(down)">
                                      <p:cBhvr>
                                        <p:cTn id="24" dur="500"/>
                                        <p:tgtEl>
                                          <p:spTgt spid="16">
                                            <p:txEl>
                                              <p:pRg st="14" end="1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6">
                                            <p:txEl>
                                              <p:pRg st="12" end="12"/>
                                            </p:txEl>
                                          </p:spTgt>
                                        </p:tgtEl>
                                        <p:attrNameLst>
                                          <p:attrName>style.visibility</p:attrName>
                                        </p:attrNameLst>
                                      </p:cBhvr>
                                      <p:to>
                                        <p:strVal val="visible"/>
                                      </p:to>
                                    </p:set>
                                    <p:animEffect transition="in" filter="wipe(down)">
                                      <p:cBhvr>
                                        <p:cTn id="29" dur="500"/>
                                        <p:tgtEl>
                                          <p:spTgt spid="16">
                                            <p:txEl>
                                              <p:pRg st="12" end="1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6">
                                            <p:txEl>
                                              <p:pRg st="8" end="8"/>
                                            </p:txEl>
                                          </p:spTgt>
                                        </p:tgtEl>
                                        <p:attrNameLst>
                                          <p:attrName>style.visibility</p:attrName>
                                        </p:attrNameLst>
                                      </p:cBhvr>
                                      <p:to>
                                        <p:strVal val="visible"/>
                                      </p:to>
                                    </p:set>
                                    <p:animEffect transition="in" filter="wipe(down)">
                                      <p:cBhvr>
                                        <p:cTn id="34" dur="500"/>
                                        <p:tgtEl>
                                          <p:spTgt spid="16">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6">
                                            <p:txEl>
                                              <p:pRg st="10" end="10"/>
                                            </p:txEl>
                                          </p:spTgt>
                                        </p:tgtEl>
                                        <p:attrNameLst>
                                          <p:attrName>style.visibility</p:attrName>
                                        </p:attrNameLst>
                                      </p:cBhvr>
                                      <p:to>
                                        <p:strVal val="visible"/>
                                      </p:to>
                                    </p:set>
                                    <p:animEffect transition="in" filter="wipe(down)">
                                      <p:cBhvr>
                                        <p:cTn id="39" dur="500"/>
                                        <p:tgtEl>
                                          <p:spTgt spid="16">
                                            <p:txEl>
                                              <p:pRg st="10" end="1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6">
                                            <p:txEl>
                                              <p:pRg st="6" end="6"/>
                                            </p:txEl>
                                          </p:spTgt>
                                        </p:tgtEl>
                                        <p:attrNameLst>
                                          <p:attrName>style.visibility</p:attrName>
                                        </p:attrNameLst>
                                      </p:cBhvr>
                                      <p:to>
                                        <p:strVal val="visible"/>
                                      </p:to>
                                    </p:set>
                                    <p:animEffect transition="in" filter="wipe(down)">
                                      <p:cBhvr>
                                        <p:cTn id="44" dur="500"/>
                                        <p:tgtEl>
                                          <p:spTgt spid="1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Follow function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333333"/>
                </a:solidFill>
              </a:rPr>
              <a:t>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FOLLOW(E) = { $, )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FOLLOW(E’) = { $, )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FOLLOW(T) = { +, $, )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FOLLOW(T’) = { +, $, )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FOLLOW(F) = {+, * , $ , )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12C8E76-C188-4A4F-BC7A-40B8FC35A69B}"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984644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 calcmode="lin" valueType="num">
                                      <p:cBhvr additive="base">
                                        <p:cTn id="7"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anim calcmode="lin" valueType="num">
                                      <p:cBhvr additive="base">
                                        <p:cTn id="11"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anim calcmode="lin" valueType="num">
                                      <p:cBhvr additive="base">
                                        <p:cTn id="15"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anim calcmode="lin" valueType="num">
                                      <p:cBhvr additive="base">
                                        <p:cTn id="19"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6" end="6"/>
                                            </p:txEl>
                                          </p:spTgt>
                                        </p:tgtEl>
                                        <p:attrNameLst>
                                          <p:attrName>style.visibility</p:attrName>
                                        </p:attrNameLst>
                                      </p:cBhvr>
                                      <p:to>
                                        <p:strVal val="visible"/>
                                      </p:to>
                                    </p:set>
                                    <p:anim calcmode="lin" valueType="num">
                                      <p:cBhvr additive="base">
                                        <p:cTn id="23"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8" end="8"/>
                                            </p:txEl>
                                          </p:spTgt>
                                        </p:tgtEl>
                                        <p:attrNameLst>
                                          <p:attrName>style.visibility</p:attrName>
                                        </p:attrNameLst>
                                      </p:cBhvr>
                                      <p:to>
                                        <p:strVal val="visible"/>
                                      </p:to>
                                    </p:set>
                                    <p:anim calcmode="lin" valueType="num">
                                      <p:cBhvr additive="base">
                                        <p:cTn id="27" dur="500" fill="hold"/>
                                        <p:tgtEl>
                                          <p:spTgt spid="16">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xEl>
                                              <p:pRg st="10" end="10"/>
                                            </p:txEl>
                                          </p:spTgt>
                                        </p:tgtEl>
                                        <p:attrNameLst>
                                          <p:attrName>style.visibility</p:attrName>
                                        </p:attrNameLst>
                                      </p:cBhvr>
                                      <p:to>
                                        <p:strVal val="visible"/>
                                      </p:to>
                                    </p:set>
                                    <p:anim calcmode="lin" valueType="num">
                                      <p:cBhvr additive="base">
                                        <p:cTn id="31" dur="500" fill="hold"/>
                                        <p:tgtEl>
                                          <p:spTgt spid="16">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
                                            <p:txEl>
                                              <p:pRg st="12" end="12"/>
                                            </p:txEl>
                                          </p:spTgt>
                                        </p:tgtEl>
                                        <p:attrNameLst>
                                          <p:attrName>style.visibility</p:attrName>
                                        </p:attrNameLst>
                                      </p:cBhvr>
                                      <p:to>
                                        <p:strVal val="visible"/>
                                      </p:to>
                                    </p:set>
                                    <p:anim calcmode="lin" valueType="num">
                                      <p:cBhvr additive="base">
                                        <p:cTn id="35" dur="500" fill="hold"/>
                                        <p:tgtEl>
                                          <p:spTgt spid="16">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sz="2400"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Predictive Parse Table</a:t>
            </a:r>
          </a:p>
          <a:p>
            <a:pPr marL="0" indent="0" algn="just" fontAlgn="base">
              <a:buNone/>
            </a:pPr>
            <a:endParaRPr lang="en-US" sz="2400"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25ADBC3-6847-44AE-A41A-9F47253664BB}"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pic>
        <p:nvPicPr>
          <p:cNvPr id="2" name="Picture 1">
            <a:extLst>
              <a:ext uri="{FF2B5EF4-FFF2-40B4-BE49-F238E27FC236}">
                <a16:creationId xmlns:a16="http://schemas.microsoft.com/office/drawing/2014/main" id="{6C56DB1D-A83F-431B-B443-09258355CD8B}"/>
              </a:ext>
            </a:extLst>
          </p:cNvPr>
          <p:cNvPicPr>
            <a:picLocks noChangeAspect="1"/>
          </p:cNvPicPr>
          <p:nvPr/>
        </p:nvPicPr>
        <p:blipFill>
          <a:blip r:embed="rId3"/>
          <a:stretch>
            <a:fillRect/>
          </a:stretch>
        </p:blipFill>
        <p:spPr>
          <a:xfrm>
            <a:off x="80962" y="1552575"/>
            <a:ext cx="8982075" cy="3752850"/>
          </a:xfrm>
          <a:prstGeom prst="rect">
            <a:avLst/>
          </a:prstGeom>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902003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heel(1)">
                                      <p:cBhvr>
                                        <p:cTn id="1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685799"/>
            <a:ext cx="8229600" cy="5059363"/>
          </a:xfrm>
        </p:spPr>
        <p:txBody>
          <a:bodyPr>
            <a:noAutofit/>
          </a:bodyPr>
          <a:lstStyle/>
          <a:p>
            <a:pPr marL="0" indent="0" algn="just"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Stack Implementation:</a:t>
            </a: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93A4F54-872E-4D2C-A1BD-C97CD38BC557}"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pic>
        <p:nvPicPr>
          <p:cNvPr id="6146" name="Picture 2">
            <a:extLst>
              <a:ext uri="{FF2B5EF4-FFF2-40B4-BE49-F238E27FC236}">
                <a16:creationId xmlns:a16="http://schemas.microsoft.com/office/drawing/2014/main" id="{3379FAD6-5AFC-43C1-8672-6C33566426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 y="1112838"/>
            <a:ext cx="9156700" cy="613873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3181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6146"/>
                                        </p:tgtEl>
                                        <p:attrNameLst>
                                          <p:attrName>style.visibility</p:attrName>
                                        </p:attrNameLst>
                                      </p:cBhvr>
                                      <p:to>
                                        <p:strVal val="visible"/>
                                      </p:to>
                                    </p:set>
                                    <p:animEffect transition="in" filter="wheel(1)">
                                      <p:cBhvr>
                                        <p:cTn id="13" dur="20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Implementation of predictive parser:</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1.   Elimination of left recursion, left factoring and ambiguous grammar.</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2.  Construct FIRST() and FOLLOW() for all non-terminals.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3.  Construct predictive parsing table.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4.  Parse the given input string using stack and parsing table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CD26A58-6A62-4C31-AE0F-778C0AB168D5}"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21229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3" end="3"/>
                                            </p:txEl>
                                          </p:spTgt>
                                        </p:tgtEl>
                                        <p:attrNameLst>
                                          <p:attrName>style.visibility</p:attrName>
                                        </p:attrNameLst>
                                      </p:cBhvr>
                                      <p:to>
                                        <p:strVal val="visible"/>
                                      </p:to>
                                    </p:set>
                                    <p:anim calcmode="lin" valueType="num">
                                      <p:cBhvr additive="base">
                                        <p:cTn id="11"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6" end="6"/>
                                            </p:txEl>
                                          </p:spTgt>
                                        </p:tgtEl>
                                        <p:attrNameLst>
                                          <p:attrName>style.visibility</p:attrName>
                                        </p:attrNameLst>
                                      </p:cBhvr>
                                      <p:to>
                                        <p:strVal val="visible"/>
                                      </p:to>
                                    </p:set>
                                    <p:anim calcmode="lin" valueType="num">
                                      <p:cBhvr additive="base">
                                        <p:cTn id="15"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9" end="9"/>
                                            </p:txEl>
                                          </p:spTgt>
                                        </p:tgtEl>
                                        <p:attrNameLst>
                                          <p:attrName>style.visibility</p:attrName>
                                        </p:attrNameLst>
                                      </p:cBhvr>
                                      <p:to>
                                        <p:strVal val="visible"/>
                                      </p:to>
                                    </p:set>
                                    <p:anim calcmode="lin" valueType="num">
                                      <p:cBhvr additive="base">
                                        <p:cTn id="19" dur="500" fill="hold"/>
                                        <p:tgtEl>
                                          <p:spTgt spid="16">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12" end="12"/>
                                            </p:txEl>
                                          </p:spTgt>
                                        </p:tgtEl>
                                        <p:attrNameLst>
                                          <p:attrName>style.visibility</p:attrName>
                                        </p:attrNameLst>
                                      </p:cBhvr>
                                      <p:to>
                                        <p:strVal val="visible"/>
                                      </p:to>
                                    </p:set>
                                    <p:anim calcmode="lin" valueType="num">
                                      <p:cBhvr additive="base">
                                        <p:cTn id="23" dur="500" fill="hold"/>
                                        <p:tgtEl>
                                          <p:spTgt spid="16">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ctr" fontAlgn="base">
              <a:buNone/>
            </a:pPr>
            <a:r>
              <a:rPr lang="en-US" b="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Bottom-up parsing starts from the leaf nodes of a tree and works in upward direction till it reaches the root node.</a:t>
            </a:r>
          </a:p>
          <a:p>
            <a:pPr marL="0" indent="0" algn="ctr" fontAlgn="base">
              <a:buNone/>
            </a:pPr>
            <a:r>
              <a:rPr lang="en-US" b="0" i="0" dirty="0">
                <a:solidFill>
                  <a:srgbClr val="000000"/>
                </a:solidFill>
                <a:effectLst/>
                <a:latin typeface="Times New Roman" panose="02020603050405020304" pitchFamily="18" charset="0"/>
                <a:cs typeface="Times New Roman" panose="02020603050405020304" pitchFamily="18" charset="0"/>
              </a:rPr>
              <a:t> </a:t>
            </a:r>
          </a:p>
          <a:p>
            <a:pPr marL="0" indent="0" algn="ctr" fontAlgn="base">
              <a:buNone/>
            </a:pPr>
            <a:r>
              <a:rPr lang="en-US" b="0" i="0" dirty="0">
                <a:solidFill>
                  <a:srgbClr val="000000"/>
                </a:solidFill>
                <a:effectLst/>
                <a:latin typeface="Times New Roman" panose="02020603050405020304" pitchFamily="18" charset="0"/>
                <a:cs typeface="Times New Roman" panose="02020603050405020304" pitchFamily="18" charset="0"/>
              </a:rPr>
              <a:t>Here, we start from a sentence and then apply production rules in reverse manner in order to reach the start symbol</a:t>
            </a:r>
          </a:p>
          <a:p>
            <a:pPr marL="0" indent="0" algn="ctr" fontAlgn="base">
              <a:buNone/>
            </a:pPr>
            <a:endParaRPr lang="en-US" dirty="0">
              <a:solidFill>
                <a:srgbClr val="000000"/>
              </a:solidFill>
            </a:endParaRPr>
          </a:p>
          <a:p>
            <a:pPr marL="0" indent="0" algn="ctr"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       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T     </a:t>
            </a:r>
            <a:r>
              <a:rPr kumimoji="0" lang="en-US" altLang="en-US"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T</a:t>
            </a: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F     </a:t>
            </a:r>
            <a:r>
              <a:rPr kumimoji="0" lang="en-US" altLang="en-US"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a:t>
            </a: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n     </a:t>
            </a:r>
            <a:r>
              <a:rPr kumimoji="0" lang="en-US" altLang="en-US"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9B15073-C4BB-4F59-88CA-4797EFDEF940}" type="datetime1">
              <a:rPr lang="en-US" smtClean="0"/>
              <a:t>4/10/2026</a:t>
            </a:fld>
            <a:endParaRPr lang="en-US" dirty="0"/>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Bottom-up Parsing</a:t>
            </a:r>
            <a:r>
              <a:rPr lang="en-IN" sz="2400" dirty="0">
                <a:latin typeface="Times New Roman" panose="02020603050405020304" pitchFamily="18" charset="0"/>
                <a:cs typeface="Times New Roman" panose="02020603050405020304" pitchFamily="18" charset="0"/>
              </a:rPr>
              <a:t>(CO2)</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Arrow: Up 4">
            <a:extLst>
              <a:ext uri="{FF2B5EF4-FFF2-40B4-BE49-F238E27FC236}">
                <a16:creationId xmlns:a16="http://schemas.microsoft.com/office/drawing/2014/main" id="{0DACC1D1-5318-4483-B85C-42565A2B5B18}"/>
              </a:ext>
            </a:extLst>
          </p:cNvPr>
          <p:cNvSpPr/>
          <p:nvPr/>
        </p:nvSpPr>
        <p:spPr>
          <a:xfrm>
            <a:off x="2057400" y="3276600"/>
            <a:ext cx="533400" cy="2438400"/>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503570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wipe(down)">
                                      <p:cBhvr>
                                        <p:cTn id="13" dur="500"/>
                                        <p:tgtEl>
                                          <p:spTgt spid="1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6">
                                            <p:txEl>
                                              <p:pRg st="5" end="5"/>
                                            </p:txEl>
                                          </p:spTgt>
                                        </p:tgtEl>
                                        <p:attrNameLst>
                                          <p:attrName>style.visibility</p:attrName>
                                        </p:attrNameLst>
                                      </p:cBhvr>
                                      <p:to>
                                        <p:strVal val="visible"/>
                                      </p:to>
                                    </p:set>
                                    <p:animEffect transition="in" filter="wipe(down)">
                                      <p:cBhvr>
                                        <p:cTn id="18" dur="500"/>
                                        <p:tgtEl>
                                          <p:spTgt spid="16">
                                            <p:txEl>
                                              <p:pRg st="5" end="5"/>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16">
                                            <p:txEl>
                                              <p:pRg st="6" end="6"/>
                                            </p:txEl>
                                          </p:spTgt>
                                        </p:tgtEl>
                                        <p:attrNameLst>
                                          <p:attrName>style.visibility</p:attrName>
                                        </p:attrNameLst>
                                      </p:cBhvr>
                                      <p:to>
                                        <p:strVal val="visible"/>
                                      </p:to>
                                    </p:set>
                                    <p:animEffect transition="in" filter="wipe(down)">
                                      <p:cBhvr>
                                        <p:cTn id="21" dur="500"/>
                                        <p:tgtEl>
                                          <p:spTgt spid="16">
                                            <p:txEl>
                                              <p:pRg st="6" end="6"/>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16">
                                            <p:txEl>
                                              <p:pRg st="7" end="7"/>
                                            </p:txEl>
                                          </p:spTgt>
                                        </p:tgtEl>
                                        <p:attrNameLst>
                                          <p:attrName>style.visibility</p:attrName>
                                        </p:attrNameLst>
                                      </p:cBhvr>
                                      <p:to>
                                        <p:strVal val="visible"/>
                                      </p:to>
                                    </p:set>
                                    <p:animEffect transition="in" filter="wipe(down)">
                                      <p:cBhvr>
                                        <p:cTn id="24" dur="500"/>
                                        <p:tgtEl>
                                          <p:spTgt spid="16">
                                            <p:txEl>
                                              <p:pRg st="7" end="7"/>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16">
                                            <p:txEl>
                                              <p:pRg st="8" end="8"/>
                                            </p:txEl>
                                          </p:spTgt>
                                        </p:tgtEl>
                                        <p:attrNameLst>
                                          <p:attrName>style.visibility</p:attrName>
                                        </p:attrNameLst>
                                      </p:cBhvr>
                                      <p:to>
                                        <p:strVal val="visible"/>
                                      </p:to>
                                    </p:set>
                                    <p:animEffect transition="in" filter="wipe(down)">
                                      <p:cBhvr>
                                        <p:cTn id="27" dur="500"/>
                                        <p:tgtEl>
                                          <p:spTgt spid="16">
                                            <p:txEl>
                                              <p:pRg st="8" end="8"/>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16">
                                            <p:txEl>
                                              <p:pRg st="9" end="9"/>
                                            </p:txEl>
                                          </p:spTgt>
                                        </p:tgtEl>
                                        <p:attrNameLst>
                                          <p:attrName>style.visibility</p:attrName>
                                        </p:attrNameLst>
                                      </p:cBhvr>
                                      <p:to>
                                        <p:strVal val="visible"/>
                                      </p:to>
                                    </p:set>
                                    <p:animEffect transition="in" filter="wipe(down)">
                                      <p:cBhvr>
                                        <p:cTn id="30" dur="500"/>
                                        <p:tgtEl>
                                          <p:spTgt spid="16">
                                            <p:txEl>
                                              <p:pRg st="9" end="9"/>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16">
                                            <p:txEl>
                                              <p:pRg st="10" end="10"/>
                                            </p:txEl>
                                          </p:spTgt>
                                        </p:tgtEl>
                                        <p:attrNameLst>
                                          <p:attrName>style.visibility</p:attrName>
                                        </p:attrNameLst>
                                      </p:cBhvr>
                                      <p:to>
                                        <p:strVal val="visible"/>
                                      </p:to>
                                    </p:set>
                                    <p:animEffect transition="in" filter="wipe(down)">
                                      <p:cBhvr>
                                        <p:cTn id="33" dur="500"/>
                                        <p:tgtEl>
                                          <p:spTgt spid="16">
                                            <p:txEl>
                                              <p:pRg st="10" end="10"/>
                                            </p:txEl>
                                          </p:spTgt>
                                        </p:tgtEl>
                                      </p:cBhvr>
                                    </p:animEffect>
                                  </p:childTnLst>
                                </p:cTn>
                              </p:par>
                              <p:par>
                                <p:cTn id="34" presetID="22" presetClass="entr" presetSubtype="4" fill="hold" nodeType="withEffect">
                                  <p:stCondLst>
                                    <p:cond delay="0"/>
                                  </p:stCondLst>
                                  <p:childTnLst>
                                    <p:set>
                                      <p:cBhvr>
                                        <p:cTn id="35" dur="1" fill="hold">
                                          <p:stCondLst>
                                            <p:cond delay="0"/>
                                          </p:stCondLst>
                                        </p:cTn>
                                        <p:tgtEl>
                                          <p:spTgt spid="16">
                                            <p:txEl>
                                              <p:pRg st="11" end="11"/>
                                            </p:txEl>
                                          </p:spTgt>
                                        </p:tgtEl>
                                        <p:attrNameLst>
                                          <p:attrName>style.visibility</p:attrName>
                                        </p:attrNameLst>
                                      </p:cBhvr>
                                      <p:to>
                                        <p:strVal val="visible"/>
                                      </p:to>
                                    </p:set>
                                    <p:animEffect transition="in" filter="wipe(down)">
                                      <p:cBhvr>
                                        <p:cTn id="36" dur="500"/>
                                        <p:tgtEl>
                                          <p:spTgt spid="16">
                                            <p:txEl>
                                              <p:pRg st="11" end="11"/>
                                            </p:txEl>
                                          </p:spTgt>
                                        </p:tgtEl>
                                      </p:cBhvr>
                                    </p:animEffect>
                                  </p:childTnLst>
                                </p:cTn>
                              </p:par>
                              <p:par>
                                <p:cTn id="37" presetID="22" presetClass="entr" presetSubtype="4" fill="hold" nodeType="withEffect">
                                  <p:stCondLst>
                                    <p:cond delay="0"/>
                                  </p:stCondLst>
                                  <p:childTnLst>
                                    <p:set>
                                      <p:cBhvr>
                                        <p:cTn id="38" dur="1" fill="hold">
                                          <p:stCondLst>
                                            <p:cond delay="0"/>
                                          </p:stCondLst>
                                        </p:cTn>
                                        <p:tgtEl>
                                          <p:spTgt spid="16">
                                            <p:txEl>
                                              <p:pRg st="12" end="12"/>
                                            </p:txEl>
                                          </p:spTgt>
                                        </p:tgtEl>
                                        <p:attrNameLst>
                                          <p:attrName>style.visibility</p:attrName>
                                        </p:attrNameLst>
                                      </p:cBhvr>
                                      <p:to>
                                        <p:strVal val="visible"/>
                                      </p:to>
                                    </p:set>
                                    <p:animEffect transition="in" filter="wipe(down)">
                                      <p:cBhvr>
                                        <p:cTn id="39" dur="500"/>
                                        <p:tgtEl>
                                          <p:spTgt spid="16">
                                            <p:txEl>
                                              <p:pRg st="12" end="12"/>
                                            </p:txEl>
                                          </p:spTgt>
                                        </p:tgtEl>
                                      </p:cBhvr>
                                    </p:animEffect>
                                  </p:childTnLst>
                                </p:cTn>
                              </p:par>
                              <p:par>
                                <p:cTn id="40" presetID="22" presetClass="entr" presetSubtype="4" fill="hold" nodeType="withEffect">
                                  <p:stCondLst>
                                    <p:cond delay="0"/>
                                  </p:stCondLst>
                                  <p:childTnLst>
                                    <p:set>
                                      <p:cBhvr>
                                        <p:cTn id="41" dur="1" fill="hold">
                                          <p:stCondLst>
                                            <p:cond delay="0"/>
                                          </p:stCondLst>
                                        </p:cTn>
                                        <p:tgtEl>
                                          <p:spTgt spid="16">
                                            <p:txEl>
                                              <p:pRg st="13" end="13"/>
                                            </p:txEl>
                                          </p:spTgt>
                                        </p:tgtEl>
                                        <p:attrNameLst>
                                          <p:attrName>style.visibility</p:attrName>
                                        </p:attrNameLst>
                                      </p:cBhvr>
                                      <p:to>
                                        <p:strVal val="visible"/>
                                      </p:to>
                                    </p:set>
                                    <p:animEffect transition="in" filter="wipe(down)">
                                      <p:cBhvr>
                                        <p:cTn id="42" dur="500"/>
                                        <p:tgtEl>
                                          <p:spTgt spid="16">
                                            <p:txEl>
                                              <p:pRg st="13" end="13"/>
                                            </p:txEl>
                                          </p:spTgt>
                                        </p:tgtEl>
                                      </p:cBhvr>
                                    </p:animEffect>
                                  </p:childTnLst>
                                </p:cTn>
                              </p:par>
                              <p:par>
                                <p:cTn id="43" presetID="22" presetClass="entr" presetSubtype="4" fill="hold" nodeType="withEffect">
                                  <p:stCondLst>
                                    <p:cond delay="0"/>
                                  </p:stCondLst>
                                  <p:childTnLst>
                                    <p:set>
                                      <p:cBhvr>
                                        <p:cTn id="44" dur="1" fill="hold">
                                          <p:stCondLst>
                                            <p:cond delay="0"/>
                                          </p:stCondLst>
                                        </p:cTn>
                                        <p:tgtEl>
                                          <p:spTgt spid="16">
                                            <p:txEl>
                                              <p:pRg st="14" end="14"/>
                                            </p:txEl>
                                          </p:spTgt>
                                        </p:tgtEl>
                                        <p:attrNameLst>
                                          <p:attrName>style.visibility</p:attrName>
                                        </p:attrNameLst>
                                      </p:cBhvr>
                                      <p:to>
                                        <p:strVal val="visible"/>
                                      </p:to>
                                    </p:set>
                                    <p:animEffect transition="in" filter="wipe(down)">
                                      <p:cBhvr>
                                        <p:cTn id="45" dur="500"/>
                                        <p:tgtEl>
                                          <p:spTgt spid="16">
                                            <p:txEl>
                                              <p:pRg st="14" end="14"/>
                                            </p:txEl>
                                          </p:spTgt>
                                        </p:tgtEl>
                                      </p:cBhvr>
                                    </p:animEffect>
                                  </p:childTnLst>
                                </p:cTn>
                              </p:par>
                              <p:par>
                                <p:cTn id="46" presetID="22" presetClass="entr" presetSubtype="4" fill="hold" nodeType="withEffect">
                                  <p:stCondLst>
                                    <p:cond delay="0"/>
                                  </p:stCondLst>
                                  <p:childTnLst>
                                    <p:set>
                                      <p:cBhvr>
                                        <p:cTn id="47" dur="1" fill="hold">
                                          <p:stCondLst>
                                            <p:cond delay="0"/>
                                          </p:stCondLst>
                                        </p:cTn>
                                        <p:tgtEl>
                                          <p:spTgt spid="16">
                                            <p:txEl>
                                              <p:pRg st="15" end="15"/>
                                            </p:txEl>
                                          </p:spTgt>
                                        </p:tgtEl>
                                        <p:attrNameLst>
                                          <p:attrName>style.visibility</p:attrName>
                                        </p:attrNameLst>
                                      </p:cBhvr>
                                      <p:to>
                                        <p:strVal val="visible"/>
                                      </p:to>
                                    </p:set>
                                    <p:animEffect transition="in" filter="wipe(down)">
                                      <p:cBhvr>
                                        <p:cTn id="48" dur="500"/>
                                        <p:tgtEl>
                                          <p:spTgt spid="16">
                                            <p:txEl>
                                              <p:pRg st="15" end="15"/>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wipe(down)">
                                      <p:cBhvr>
                                        <p:cTn id="5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675648"/>
            <a:ext cx="8229600" cy="5059363"/>
          </a:xfrm>
        </p:spPr>
        <p:txBody>
          <a:bodyPr>
            <a:noAutofit/>
          </a:bodyPr>
          <a:lstStyle/>
          <a:p>
            <a:pPr marL="0" indent="0" algn="ctr">
              <a:buNone/>
            </a:pPr>
            <a:r>
              <a:rPr lang="en-US" b="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Shift-Reduce </a:t>
            </a:r>
            <a:r>
              <a:rPr lang="en-US"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t>
            </a:r>
            <a:r>
              <a:rPr lang="en-US" b="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arsing uses two unique steps for bottom-up parsing. These steps are known as shift-step and reduce-step.</a:t>
            </a:r>
          </a:p>
          <a:p>
            <a:pPr algn="just"/>
            <a:endParaRPr lang="en-US" b="0" i="0" dirty="0">
              <a:solidFill>
                <a:srgbClr val="000000"/>
              </a:solidFill>
              <a:effectLst/>
              <a:latin typeface="Times New Roman" panose="02020603050405020304" pitchFamily="18" charset="0"/>
              <a:cs typeface="Times New Roman" panose="02020603050405020304" pitchFamily="18" charset="0"/>
            </a:endParaRPr>
          </a:p>
          <a:p>
            <a:pPr marL="0" indent="0" algn="just">
              <a:buNone/>
            </a:pPr>
            <a:r>
              <a:rPr lang="en-US" b="1" i="0" dirty="0">
                <a:solidFill>
                  <a:srgbClr val="000000"/>
                </a:solidFill>
                <a:effectLst/>
                <a:latin typeface="Times New Roman" panose="02020603050405020304" pitchFamily="18" charset="0"/>
                <a:cs typeface="Times New Roman" panose="02020603050405020304" pitchFamily="18" charset="0"/>
              </a:rPr>
              <a:t>Shift step</a:t>
            </a:r>
            <a:r>
              <a:rPr lang="en-US" b="0" i="0" dirty="0">
                <a:solidFill>
                  <a:srgbClr val="000000"/>
                </a:solidFill>
                <a:effectLst/>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The shift step refers to the advancement of the input pointer to the next input symbol, which is called the shifted symbol. </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This symbol is pushed onto the stack. </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The shifted symbol is treated as a single node of the parse tree.</a:t>
            </a:r>
          </a:p>
          <a:p>
            <a:pPr algn="just">
              <a:buFont typeface="Arial" panose="020B0604020202020204" pitchFamily="34" charset="0"/>
              <a:buChar char="•"/>
            </a:pPr>
            <a:endParaRPr lang="en-US" b="0" i="0" dirty="0">
              <a:solidFill>
                <a:srgbClr val="000000"/>
              </a:solidFill>
              <a:effectLst/>
              <a:latin typeface="Times New Roman" panose="02020603050405020304" pitchFamily="18" charset="0"/>
              <a:cs typeface="Times New Roman" panose="02020603050405020304" pitchFamily="18" charset="0"/>
            </a:endParaRPr>
          </a:p>
          <a:p>
            <a:pPr marL="0" indent="0" algn="just">
              <a:buNone/>
            </a:pPr>
            <a:r>
              <a:rPr lang="en-US" b="1" i="0" dirty="0">
                <a:solidFill>
                  <a:srgbClr val="000000"/>
                </a:solidFill>
                <a:effectLst/>
                <a:latin typeface="Times New Roman" panose="02020603050405020304" pitchFamily="18" charset="0"/>
                <a:cs typeface="Times New Roman" panose="02020603050405020304" pitchFamily="18" charset="0"/>
              </a:rPr>
              <a:t>Reduce step</a:t>
            </a:r>
            <a:r>
              <a:rPr lang="en-US" b="0" i="0" dirty="0">
                <a:solidFill>
                  <a:srgbClr val="000000"/>
                </a:solidFill>
                <a:effectLst/>
                <a:latin typeface="Times New Roman" panose="02020603050405020304" pitchFamily="18" charset="0"/>
                <a:cs typeface="Times New Roman" panose="02020603050405020304" pitchFamily="18" charset="0"/>
              </a:rPr>
              <a:t> : </a:t>
            </a:r>
          </a:p>
          <a:p>
            <a:pPr algn="just"/>
            <a:r>
              <a:rPr lang="en-US" b="0" i="0" dirty="0">
                <a:solidFill>
                  <a:srgbClr val="000000"/>
                </a:solidFill>
                <a:effectLst/>
                <a:latin typeface="Times New Roman" panose="02020603050405020304" pitchFamily="18" charset="0"/>
                <a:cs typeface="Times New Roman" panose="02020603050405020304" pitchFamily="18" charset="0"/>
              </a:rPr>
              <a:t>When the parser finds a complete grammar rule (RHS) and replaces it to (LHS), it is known as reduce-step. </a:t>
            </a:r>
          </a:p>
          <a:p>
            <a:pPr algn="just"/>
            <a:r>
              <a:rPr lang="en-US" b="0" i="0" dirty="0">
                <a:solidFill>
                  <a:srgbClr val="000000"/>
                </a:solidFill>
                <a:effectLst/>
                <a:latin typeface="Times New Roman" panose="02020603050405020304" pitchFamily="18" charset="0"/>
                <a:cs typeface="Times New Roman" panose="02020603050405020304" pitchFamily="18" charset="0"/>
              </a:rPr>
              <a:t>This occurs when the top of the stack contains a handle.</a:t>
            </a:r>
          </a:p>
          <a:p>
            <a:pPr algn="just"/>
            <a:r>
              <a:rPr lang="en-US" b="0" i="0" dirty="0">
                <a:solidFill>
                  <a:srgbClr val="000000"/>
                </a:solidFill>
                <a:effectLst/>
                <a:latin typeface="Times New Roman" panose="02020603050405020304" pitchFamily="18" charset="0"/>
                <a:cs typeface="Times New Roman" panose="02020603050405020304" pitchFamily="18" charset="0"/>
              </a:rPr>
              <a:t> To reduce, a POP function is performed on the stack which pops off the handle and replaces it with LHS non-terminal symbol.</a:t>
            </a:r>
          </a:p>
          <a:p>
            <a:pPr algn="just">
              <a:buFont typeface="Arial" panose="020B0604020202020204" pitchFamily="34" charset="0"/>
              <a:buChar char="•"/>
            </a:pPr>
            <a:endParaRPr lang="en-US" b="0" i="0" dirty="0">
              <a:solidFill>
                <a:srgbClr val="000000"/>
              </a:solidFill>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29BFE9D-6750-4F12-981F-D06A3A788173}"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Shift-Reduce Parsing</a:t>
            </a:r>
            <a:r>
              <a:rPr lang="en-IN" sz="2400" dirty="0">
                <a:latin typeface="Times New Roman" panose="02020603050405020304" pitchFamily="18" charset="0"/>
                <a:cs typeface="Times New Roman" panose="02020603050405020304" pitchFamily="18" charset="0"/>
              </a:rPr>
              <a:t>(CO2)</a:t>
            </a:r>
            <a:endParaRPr lang="en-US" sz="2400" b="0" i="0" dirty="0">
              <a:effectLst/>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015992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 calcmode="lin" valueType="num">
                                      <p:cBhvr additive="base">
                                        <p:cTn id="13"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6">
                                            <p:txEl>
                                              <p:pRg st="3" end="3"/>
                                            </p:txEl>
                                          </p:spTgt>
                                        </p:tgtEl>
                                        <p:attrNameLst>
                                          <p:attrName>style.visibility</p:attrName>
                                        </p:attrNameLst>
                                      </p:cBhvr>
                                      <p:to>
                                        <p:strVal val="visible"/>
                                      </p:to>
                                    </p:set>
                                    <p:anim calcmode="lin" valueType="num">
                                      <p:cBhvr additive="base">
                                        <p:cTn id="17"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6">
                                            <p:txEl>
                                              <p:pRg st="4" end="4"/>
                                            </p:txEl>
                                          </p:spTgt>
                                        </p:tgtEl>
                                        <p:attrNameLst>
                                          <p:attrName>style.visibility</p:attrName>
                                        </p:attrNameLst>
                                      </p:cBhvr>
                                      <p:to>
                                        <p:strVal val="visible"/>
                                      </p:to>
                                    </p:set>
                                    <p:anim calcmode="lin" valueType="num">
                                      <p:cBhvr additive="base">
                                        <p:cTn id="21"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6">
                                            <p:txEl>
                                              <p:pRg st="5" end="5"/>
                                            </p:txEl>
                                          </p:spTgt>
                                        </p:tgtEl>
                                        <p:attrNameLst>
                                          <p:attrName>style.visibility</p:attrName>
                                        </p:attrNameLst>
                                      </p:cBhvr>
                                      <p:to>
                                        <p:strVal val="visible"/>
                                      </p:to>
                                    </p:set>
                                    <p:anim calcmode="lin" valueType="num">
                                      <p:cBhvr additive="base">
                                        <p:cTn id="25"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xEl>
                                              <p:pRg st="7" end="7"/>
                                            </p:txEl>
                                          </p:spTgt>
                                        </p:tgtEl>
                                        <p:attrNameLst>
                                          <p:attrName>style.visibility</p:attrName>
                                        </p:attrNameLst>
                                      </p:cBhvr>
                                      <p:to>
                                        <p:strVal val="visible"/>
                                      </p:to>
                                    </p:set>
                                    <p:anim calcmode="lin" valueType="num">
                                      <p:cBhvr additive="base">
                                        <p:cTn id="31"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
                                            <p:txEl>
                                              <p:pRg st="8" end="8"/>
                                            </p:txEl>
                                          </p:spTgt>
                                        </p:tgtEl>
                                        <p:attrNameLst>
                                          <p:attrName>style.visibility</p:attrName>
                                        </p:attrNameLst>
                                      </p:cBhvr>
                                      <p:to>
                                        <p:strVal val="visible"/>
                                      </p:to>
                                    </p:set>
                                    <p:anim calcmode="lin" valueType="num">
                                      <p:cBhvr additive="base">
                                        <p:cTn id="35" dur="500" fill="hold"/>
                                        <p:tgtEl>
                                          <p:spTgt spid="16">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6">
                                            <p:txEl>
                                              <p:pRg st="9" end="9"/>
                                            </p:txEl>
                                          </p:spTgt>
                                        </p:tgtEl>
                                        <p:attrNameLst>
                                          <p:attrName>style.visibility</p:attrName>
                                        </p:attrNameLst>
                                      </p:cBhvr>
                                      <p:to>
                                        <p:strVal val="visible"/>
                                      </p:to>
                                    </p:set>
                                    <p:anim calcmode="lin" valueType="num">
                                      <p:cBhvr additive="base">
                                        <p:cTn id="39" dur="500" fill="hold"/>
                                        <p:tgtEl>
                                          <p:spTgt spid="16">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6">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6">
                                            <p:txEl>
                                              <p:pRg st="10" end="10"/>
                                            </p:txEl>
                                          </p:spTgt>
                                        </p:tgtEl>
                                        <p:attrNameLst>
                                          <p:attrName>style.visibility</p:attrName>
                                        </p:attrNameLst>
                                      </p:cBhvr>
                                      <p:to>
                                        <p:strVal val="visible"/>
                                      </p:to>
                                    </p:set>
                                    <p:anim calcmode="lin" valueType="num">
                                      <p:cBhvr additive="base">
                                        <p:cTn id="43" dur="500" fill="hold"/>
                                        <p:tgtEl>
                                          <p:spTgt spid="16">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6">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ctr"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Shift Action, the current symbol in the input string pushed into a stack.</a:t>
            </a:r>
          </a:p>
          <a:p>
            <a:pPr marL="0" indent="0" algn="ctr"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fontAlgn="base">
              <a:buNone/>
            </a:pP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each reduction, the symbol will replaced by the non-terminals.</a:t>
            </a: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B126B72-3CD7-410D-8B20-A34DF5CBE0D1}"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Shift-Reduce Parsing</a:t>
            </a:r>
          </a:p>
        </p:txBody>
      </p:sp>
      <p:pic>
        <p:nvPicPr>
          <p:cNvPr id="2" name="Picture 2" descr="Shift reduce parsing">
            <a:extLst>
              <a:ext uri="{FF2B5EF4-FFF2-40B4-BE49-F238E27FC236}">
                <a16:creationId xmlns:a16="http://schemas.microsoft.com/office/drawing/2014/main" id="{7442CFC1-32DF-49EF-B8BF-6E9F9FFDAD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906" y="2895600"/>
            <a:ext cx="7482987" cy="196688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78394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 calcmode="lin" valueType="num">
                                      <p:cBhvr additive="base">
                                        <p:cTn id="7"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4" end="4"/>
                                            </p:txEl>
                                          </p:spTgt>
                                        </p:tgtEl>
                                        <p:attrNameLst>
                                          <p:attrName>style.visibility</p:attrName>
                                        </p:attrNameLst>
                                      </p:cBhvr>
                                      <p:to>
                                        <p:strVal val="visible"/>
                                      </p:to>
                                    </p:set>
                                    <p:anim calcmode="lin" valueType="num">
                                      <p:cBhvr additive="base">
                                        <p:cTn id="11"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596900" y="817162"/>
            <a:ext cx="8229600" cy="5059363"/>
          </a:xfrm>
        </p:spPr>
        <p:txBody>
          <a:bodyPr>
            <a:noAutofit/>
          </a:bodyPr>
          <a:lstStyle/>
          <a:p>
            <a:pPr marL="0" indent="0" algn="just" fontAlgn="base">
              <a:buNone/>
            </a:pPr>
            <a:r>
              <a:rPr lang="en-IN" b="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p>
          <a:p>
            <a:pPr marL="0" indent="0" algn="just" fontAlgn="base">
              <a:buNone/>
            </a:pPr>
            <a:endParaRPr lang="en-IN" b="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l">
              <a:buNone/>
            </a:pPr>
            <a:r>
              <a:rPr lang="en-US" b="0" dirty="0">
                <a:solidFill>
                  <a:srgbClr val="303030"/>
                </a:solidFill>
                <a:latin typeface="Times New Roman" panose="02020603050405020304" pitchFamily="18" charset="0"/>
                <a:cs typeface="Times New Roman" panose="02020603050405020304" pitchFamily="18" charset="0"/>
              </a:rPr>
              <a:t>Grammar:	</a:t>
            </a:r>
            <a:r>
              <a:rPr lang="en-IN" b="0" dirty="0">
                <a:solidFill>
                  <a:srgbClr val="000000"/>
                </a:solidFill>
                <a:latin typeface="Times New Roman" panose="02020603050405020304" pitchFamily="18" charset="0"/>
                <a:cs typeface="Times New Roman" panose="02020603050405020304" pitchFamily="18" charset="0"/>
              </a:rPr>
              <a:t>S → S+S    </a:t>
            </a:r>
          </a:p>
          <a:p>
            <a:pPr marL="0" indent="0" algn="l">
              <a:buNone/>
            </a:pPr>
            <a:r>
              <a:rPr lang="en-IN" b="0" dirty="0">
                <a:solidFill>
                  <a:srgbClr val="000000"/>
                </a:solidFill>
                <a:latin typeface="Times New Roman" panose="02020603050405020304" pitchFamily="18" charset="0"/>
                <a:cs typeface="Times New Roman" panose="02020603050405020304" pitchFamily="18" charset="0"/>
              </a:rPr>
              <a:t>		S → S-S    </a:t>
            </a:r>
          </a:p>
          <a:p>
            <a:pPr marL="0" indent="0" algn="l">
              <a:buNone/>
            </a:pPr>
            <a:r>
              <a:rPr lang="en-IN" b="0" dirty="0">
                <a:solidFill>
                  <a:srgbClr val="000000"/>
                </a:solidFill>
                <a:latin typeface="Times New Roman" panose="02020603050405020304" pitchFamily="18" charset="0"/>
                <a:cs typeface="Times New Roman" panose="02020603050405020304" pitchFamily="18" charset="0"/>
              </a:rPr>
              <a:t>		S → (S)  </a:t>
            </a:r>
          </a:p>
          <a:p>
            <a:pPr marL="0" indent="0" algn="l">
              <a:buNone/>
            </a:pPr>
            <a:r>
              <a:rPr lang="en-IN" b="0" dirty="0">
                <a:solidFill>
                  <a:srgbClr val="000000"/>
                </a:solidFill>
                <a:latin typeface="Times New Roman" panose="02020603050405020304" pitchFamily="18" charset="0"/>
                <a:cs typeface="Times New Roman" panose="02020603050405020304" pitchFamily="18" charset="0"/>
              </a:rPr>
              <a:t>		S → a</a:t>
            </a:r>
          </a:p>
          <a:p>
            <a:pPr marL="0" indent="0" algn="l">
              <a:buNone/>
            </a:pPr>
            <a:endParaRPr lang="en-IN" b="0" dirty="0">
              <a:solidFill>
                <a:srgbClr val="000000"/>
              </a:solidFill>
              <a:latin typeface="Times New Roman" panose="02020603050405020304" pitchFamily="18" charset="0"/>
              <a:cs typeface="Times New Roman" panose="02020603050405020304" pitchFamily="18" charset="0"/>
            </a:endParaRPr>
          </a:p>
          <a:p>
            <a:pPr marL="0" indent="0" algn="just" fontAlgn="base">
              <a:buNone/>
            </a:pPr>
            <a:r>
              <a:rPr lang="en-US" b="0" dirty="0">
                <a:solidFill>
                  <a:srgbClr val="303030"/>
                </a:solidFill>
                <a:latin typeface="Times New Roman" panose="02020603050405020304" pitchFamily="18" charset="0"/>
                <a:cs typeface="Times New Roman" panose="02020603050405020304" pitchFamily="18" charset="0"/>
              </a:rPr>
              <a:t>Input String:	</a:t>
            </a:r>
            <a:r>
              <a:rPr lang="en-IN" b="0" dirty="0">
                <a:solidFill>
                  <a:srgbClr val="000000"/>
                </a:solidFill>
                <a:latin typeface="Times New Roman" panose="02020603050405020304" pitchFamily="18" charset="0"/>
                <a:cs typeface="Times New Roman" panose="02020603050405020304" pitchFamily="18" charset="0"/>
              </a:rPr>
              <a:t>a1-(a2+a3) </a:t>
            </a:r>
          </a:p>
          <a:p>
            <a:pPr marL="0" indent="0" algn="just" fontAlgn="base">
              <a:buNone/>
            </a:pPr>
            <a:endParaRPr lang="en-IN" b="0" dirty="0">
              <a:solidFill>
                <a:srgbClr val="000000"/>
              </a:solidFill>
              <a:latin typeface="Times New Roman" panose="02020603050405020304" pitchFamily="18" charset="0"/>
              <a:cs typeface="Times New Roman" panose="02020603050405020304" pitchFamily="18" charset="0"/>
            </a:endParaRPr>
          </a:p>
          <a:p>
            <a:pPr marL="0" indent="0" algn="just" fontAlgn="base">
              <a:buNone/>
            </a:pPr>
            <a:endParaRPr lang="en-IN" dirty="0">
              <a:solidFill>
                <a:srgbClr val="000000"/>
              </a:solidFill>
              <a:latin typeface="Times New Roman" panose="02020603050405020304" pitchFamily="18" charset="0"/>
              <a:cs typeface="Times New Roman" panose="02020603050405020304" pitchFamily="18" charset="0"/>
            </a:endParaRPr>
          </a:p>
          <a:p>
            <a:pPr marL="0" indent="0" algn="just" fontAlgn="base">
              <a:buNone/>
            </a:pPr>
            <a:r>
              <a:rPr lang="en-IN" dirty="0">
                <a:solidFill>
                  <a:srgbClr val="000000"/>
                </a:solidFill>
                <a:latin typeface="Times New Roman" panose="02020603050405020304" pitchFamily="18" charset="0"/>
                <a:cs typeface="Times New Roman" panose="02020603050405020304" pitchFamily="18" charset="0"/>
              </a:rPr>
              <a:t>Perform Shift –Reduce Parsing on above grammar.</a:t>
            </a:r>
            <a:endParaRPr lang="en-IN" b="0" dirty="0">
              <a:solidFill>
                <a:srgbClr val="000000"/>
              </a:solidFill>
              <a:latin typeface="Times New Roman" panose="02020603050405020304" pitchFamily="18" charset="0"/>
              <a:cs typeface="Times New Roman" panose="02020603050405020304" pitchFamily="18" charset="0"/>
            </a:endParaRPr>
          </a:p>
          <a:p>
            <a:pPr marL="0" indent="0" algn="just" fontAlgn="base">
              <a:buNone/>
            </a:pPr>
            <a:endParaRPr lang="en-US" b="0"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85E0B80-6694-4470-BBB5-E46D8740E599}"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Example of Shift-Reduce Parsing</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417195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barn(inVertical)">
                                      <p:cBhvr>
                                        <p:cTn id="7" dur="500"/>
                                        <p:tgtEl>
                                          <p:spTgt spid="16">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16">
                                            <p:txEl>
                                              <p:pRg st="2" end="2"/>
                                            </p:txEl>
                                          </p:spTgt>
                                        </p:tgtEl>
                                        <p:attrNameLst>
                                          <p:attrName>style.visibility</p:attrName>
                                        </p:attrNameLst>
                                      </p:cBhvr>
                                      <p:to>
                                        <p:strVal val="visible"/>
                                      </p:to>
                                    </p:set>
                                    <p:animEffect transition="in" filter="barn(inVertical)">
                                      <p:cBhvr>
                                        <p:cTn id="10" dur="500"/>
                                        <p:tgtEl>
                                          <p:spTgt spid="16">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animEffect transition="in" filter="barn(inVertical)">
                                      <p:cBhvr>
                                        <p:cTn id="13" dur="500"/>
                                        <p:tgtEl>
                                          <p:spTgt spid="16">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16">
                                            <p:txEl>
                                              <p:pRg st="4" end="4"/>
                                            </p:txEl>
                                          </p:spTgt>
                                        </p:tgtEl>
                                        <p:attrNameLst>
                                          <p:attrName>style.visibility</p:attrName>
                                        </p:attrNameLst>
                                      </p:cBhvr>
                                      <p:to>
                                        <p:strVal val="visible"/>
                                      </p:to>
                                    </p:set>
                                    <p:animEffect transition="in" filter="barn(inVertical)">
                                      <p:cBhvr>
                                        <p:cTn id="16" dur="500"/>
                                        <p:tgtEl>
                                          <p:spTgt spid="16">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16">
                                            <p:txEl>
                                              <p:pRg st="5" end="5"/>
                                            </p:txEl>
                                          </p:spTgt>
                                        </p:tgtEl>
                                        <p:attrNameLst>
                                          <p:attrName>style.visibility</p:attrName>
                                        </p:attrNameLst>
                                      </p:cBhvr>
                                      <p:to>
                                        <p:strVal val="visible"/>
                                      </p:to>
                                    </p:set>
                                    <p:animEffect transition="in" filter="barn(inVertical)">
                                      <p:cBhvr>
                                        <p:cTn id="19" dur="500"/>
                                        <p:tgtEl>
                                          <p:spTgt spid="16">
                                            <p:txEl>
                                              <p:pRg st="5" end="5"/>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16">
                                            <p:txEl>
                                              <p:pRg st="7" end="7"/>
                                            </p:txEl>
                                          </p:spTgt>
                                        </p:tgtEl>
                                        <p:attrNameLst>
                                          <p:attrName>style.visibility</p:attrName>
                                        </p:attrNameLst>
                                      </p:cBhvr>
                                      <p:to>
                                        <p:strVal val="visible"/>
                                      </p:to>
                                    </p:set>
                                    <p:animEffect transition="in" filter="barn(inVertical)">
                                      <p:cBhvr>
                                        <p:cTn id="22" dur="500"/>
                                        <p:tgtEl>
                                          <p:spTgt spid="16">
                                            <p:txEl>
                                              <p:pRg st="7" end="7"/>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16">
                                            <p:txEl>
                                              <p:pRg st="10" end="10"/>
                                            </p:txEl>
                                          </p:spTgt>
                                        </p:tgtEl>
                                        <p:attrNameLst>
                                          <p:attrName>style.visibility</p:attrName>
                                        </p:attrNameLst>
                                      </p:cBhvr>
                                      <p:to>
                                        <p:strVal val="visible"/>
                                      </p:to>
                                    </p:set>
                                    <p:animEffect transition="in" filter="barn(inVertical)">
                                      <p:cBhvr>
                                        <p:cTn id="25" dur="500"/>
                                        <p:tgtEl>
                                          <p:spTgt spid="1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596900" y="817162"/>
            <a:ext cx="8229600" cy="5059363"/>
          </a:xfrm>
        </p:spPr>
        <p:txBody>
          <a:bodyPr>
            <a:noAutofit/>
          </a:bodyPr>
          <a:lstStyle/>
          <a:p>
            <a:pPr marL="0" indent="0" algn="just" fontAlgn="base">
              <a:buNone/>
            </a:pPr>
            <a:endParaRPr lang="en-US" sz="2000"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1C0416C-F11D-4EDF-82CB-A9823C6D7E4D}"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Example of Shift-Reduce Parsing</a:t>
            </a:r>
          </a:p>
        </p:txBody>
      </p:sp>
      <p:pic>
        <p:nvPicPr>
          <p:cNvPr id="2050" name="Picture 2" descr="Shift reduce parsing 1">
            <a:extLst>
              <a:ext uri="{FF2B5EF4-FFF2-40B4-BE49-F238E27FC236}">
                <a16:creationId xmlns:a16="http://schemas.microsoft.com/office/drawing/2014/main" id="{21ED242A-3045-4695-B358-736CB4A887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314" y="743404"/>
            <a:ext cx="8394700" cy="559117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01918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heel(1)">
                                      <p:cBhvr>
                                        <p:cTn id="7"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596900" y="817162"/>
            <a:ext cx="8229600" cy="5059363"/>
          </a:xfrm>
        </p:spPr>
        <p:txBody>
          <a:bodyPr>
            <a:noAutofit/>
          </a:bodyPr>
          <a:lstStyle/>
          <a:p>
            <a:pPr marL="0" indent="0" algn="just" fontAlgn="base">
              <a:buNone/>
            </a:pPr>
            <a:r>
              <a:rPr lang="en-IN" b="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p>
          <a:p>
            <a:pPr marL="0" indent="0" algn="just" fontAlgn="base">
              <a:buNone/>
            </a:pPr>
            <a:endParaRPr lang="en-IN" b="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l">
              <a:buNone/>
            </a:pPr>
            <a:r>
              <a:rPr lang="en-US" b="0" dirty="0">
                <a:solidFill>
                  <a:srgbClr val="303030"/>
                </a:solidFill>
                <a:latin typeface="Times New Roman" panose="02020603050405020304" pitchFamily="18" charset="0"/>
                <a:cs typeface="Times New Roman" panose="02020603050405020304" pitchFamily="18" charset="0"/>
              </a:rPr>
              <a:t>Grammar:	</a:t>
            </a:r>
            <a:r>
              <a:rPr lang="en-IN" b="0" i="0" dirty="0">
                <a:effectLst/>
                <a:latin typeface="Times New Roman" panose="02020603050405020304" pitchFamily="18" charset="0"/>
                <a:cs typeface="Times New Roman" panose="02020603050405020304" pitchFamily="18" charset="0"/>
              </a:rPr>
              <a:t>E –&gt; 2E2</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     	E –&gt; 3E3</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      	E –&gt; 4</a:t>
            </a:r>
          </a:p>
          <a:p>
            <a:pPr marL="0" indent="0" algn="l">
              <a:buNone/>
            </a:pPr>
            <a:endParaRPr lang="en-US" b="0" dirty="0">
              <a:solidFill>
                <a:srgbClr val="303030"/>
              </a:solidFill>
              <a:latin typeface="Times New Roman" panose="02020603050405020304" pitchFamily="18" charset="0"/>
              <a:cs typeface="Times New Roman" panose="02020603050405020304" pitchFamily="18" charset="0"/>
            </a:endParaRPr>
          </a:p>
          <a:p>
            <a:pPr marL="0" indent="0" algn="l">
              <a:buNone/>
            </a:pPr>
            <a:r>
              <a:rPr lang="en-US" b="0" dirty="0">
                <a:solidFill>
                  <a:srgbClr val="303030"/>
                </a:solidFill>
                <a:latin typeface="Times New Roman" panose="02020603050405020304" pitchFamily="18" charset="0"/>
                <a:cs typeface="Times New Roman" panose="02020603050405020304" pitchFamily="18" charset="0"/>
              </a:rPr>
              <a:t>Input String:	</a:t>
            </a:r>
            <a:r>
              <a:rPr lang="en-IN" b="0" i="0" dirty="0">
                <a:effectLst/>
                <a:latin typeface="Times New Roman" panose="02020603050405020304" pitchFamily="18" charset="0"/>
                <a:cs typeface="Times New Roman" panose="02020603050405020304" pitchFamily="18" charset="0"/>
              </a:rPr>
              <a:t>32423</a:t>
            </a:r>
          </a:p>
          <a:p>
            <a:pPr marL="0" indent="0" algn="l">
              <a:buNone/>
            </a:pPr>
            <a:endParaRPr lang="en-IN" dirty="0">
              <a:solidFill>
                <a:srgbClr val="000000"/>
              </a:solidFill>
              <a:latin typeface="Times New Roman" panose="02020603050405020304" pitchFamily="18" charset="0"/>
              <a:cs typeface="Times New Roman" panose="02020603050405020304" pitchFamily="18" charset="0"/>
            </a:endParaRPr>
          </a:p>
          <a:p>
            <a:pPr marL="0" indent="0" algn="l">
              <a:buNone/>
            </a:pPr>
            <a:endParaRPr lang="en-IN" dirty="0">
              <a:solidFill>
                <a:srgbClr val="000000"/>
              </a:solidFill>
              <a:latin typeface="Times New Roman" panose="02020603050405020304" pitchFamily="18" charset="0"/>
              <a:cs typeface="Times New Roman" panose="02020603050405020304" pitchFamily="18" charset="0"/>
            </a:endParaRPr>
          </a:p>
          <a:p>
            <a:pPr marL="0" indent="0" algn="l">
              <a:buNone/>
            </a:pPr>
            <a:r>
              <a:rPr lang="en-IN" dirty="0">
                <a:solidFill>
                  <a:srgbClr val="000000"/>
                </a:solidFill>
                <a:latin typeface="Times New Roman" panose="02020603050405020304" pitchFamily="18" charset="0"/>
                <a:cs typeface="Times New Roman" panose="02020603050405020304" pitchFamily="18" charset="0"/>
              </a:rPr>
              <a:t>Perform Shift –Reduce Parsing on above grammar.</a:t>
            </a:r>
            <a:endParaRPr lang="en-IN" b="0" dirty="0">
              <a:solidFill>
                <a:srgbClr val="000000"/>
              </a:solidFill>
              <a:latin typeface="Times New Roman" panose="02020603050405020304" pitchFamily="18" charset="0"/>
              <a:cs typeface="Times New Roman" panose="02020603050405020304" pitchFamily="18" charset="0"/>
            </a:endParaRPr>
          </a:p>
          <a:p>
            <a:pPr marL="0" indent="0" algn="just" fontAlgn="base">
              <a:buNone/>
            </a:pPr>
            <a:endParaRPr lang="en-US" b="0"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D81DD31-BA14-40C7-97BD-E10717349A77}"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Example of Shift-Reduce Parsing</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796247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anim calcmode="lin" valueType="num">
                                      <p:cBhvr additive="base">
                                        <p:cTn id="11"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anim calcmode="lin" valueType="num">
                                      <p:cBhvr additive="base">
                                        <p:cTn id="15"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7" end="7"/>
                                            </p:txEl>
                                          </p:spTgt>
                                        </p:tgtEl>
                                        <p:attrNameLst>
                                          <p:attrName>style.visibility</p:attrName>
                                        </p:attrNameLst>
                                      </p:cBhvr>
                                      <p:to>
                                        <p:strVal val="visible"/>
                                      </p:to>
                                    </p:set>
                                    <p:anim calcmode="lin" valueType="num">
                                      <p:cBhvr additive="base">
                                        <p:cTn id="19"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596900" y="817162"/>
            <a:ext cx="8229600" cy="5059363"/>
          </a:xfrm>
        </p:spPr>
        <p:txBody>
          <a:bodyPr>
            <a:noAutofit/>
          </a:bodyPr>
          <a:lstStyle/>
          <a:p>
            <a:pPr marL="0" indent="0" algn="just" fontAlgn="base">
              <a:buNone/>
            </a:pPr>
            <a:endParaRPr lang="en-US" sz="2400" b="0"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E71A216-BDDC-4772-A8D0-1DAFED70EE11}"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Example of Shift-Reduce Parsing</a:t>
            </a:r>
          </a:p>
        </p:txBody>
      </p:sp>
      <p:pic>
        <p:nvPicPr>
          <p:cNvPr id="4098" name="Picture 2">
            <a:extLst>
              <a:ext uri="{FF2B5EF4-FFF2-40B4-BE49-F238E27FC236}">
                <a16:creationId xmlns:a16="http://schemas.microsoft.com/office/drawing/2014/main" id="{631DEDC5-0D0E-4174-A92E-F6409966E46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07352" y="817160"/>
            <a:ext cx="8508048" cy="533578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5387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wheel(1)">
                                      <p:cBhvr>
                                        <p:cTn id="7" dur="2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F951F0E-ED0F-4229-A0F8-255FDEC56CC1}"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spc="-4" dirty="0">
                <a:solidFill>
                  <a:schemeClr val="tx1"/>
                </a:solidFill>
                <a:latin typeface="Times New Roman" panose="02020603050405020304" pitchFamily="18" charset="0"/>
                <a:cs typeface="Times New Roman" panose="02020603050405020304" pitchFamily="18" charset="0"/>
              </a:rPr>
              <a:t>L</a:t>
            </a:r>
            <a:r>
              <a:rPr lang="en-IN" sz="2400" dirty="0">
                <a:solidFill>
                  <a:schemeClr val="tx1"/>
                </a:solidFill>
                <a:latin typeface="Times New Roman" panose="02020603050405020304" pitchFamily="18" charset="0"/>
                <a:cs typeface="Times New Roman" panose="02020603050405020304" pitchFamily="18" charset="0"/>
              </a:rPr>
              <a:t>R P</a:t>
            </a:r>
            <a:r>
              <a:rPr lang="en-IN" sz="2400" spc="-4" dirty="0">
                <a:solidFill>
                  <a:schemeClr val="tx1"/>
                </a:solidFill>
                <a:latin typeface="Times New Roman" panose="02020603050405020304" pitchFamily="18" charset="0"/>
                <a:cs typeface="Times New Roman" panose="02020603050405020304" pitchFamily="18" charset="0"/>
              </a:rPr>
              <a:t>a</a:t>
            </a:r>
            <a:r>
              <a:rPr lang="en-IN" sz="2400" dirty="0">
                <a:solidFill>
                  <a:schemeClr val="tx1"/>
                </a:solidFill>
                <a:latin typeface="Times New Roman" panose="02020603050405020304" pitchFamily="18" charset="0"/>
                <a:cs typeface="Times New Roman" panose="02020603050405020304" pitchFamily="18" charset="0"/>
              </a:rPr>
              <a:t>r</a:t>
            </a:r>
            <a:r>
              <a:rPr lang="en-IN" sz="2400" spc="4" dirty="0">
                <a:solidFill>
                  <a:schemeClr val="tx1"/>
                </a:solidFill>
                <a:latin typeface="Times New Roman" panose="02020603050405020304" pitchFamily="18" charset="0"/>
                <a:cs typeface="Times New Roman" panose="02020603050405020304" pitchFamily="18" charset="0"/>
              </a:rPr>
              <a:t>s</a:t>
            </a:r>
            <a:r>
              <a:rPr lang="en-IN" sz="2400" spc="-4" dirty="0">
                <a:solidFill>
                  <a:schemeClr val="tx1"/>
                </a:solidFill>
                <a:latin typeface="Times New Roman" panose="02020603050405020304" pitchFamily="18" charset="0"/>
                <a:cs typeface="Times New Roman" panose="02020603050405020304" pitchFamily="18" charset="0"/>
              </a:rPr>
              <a:t>ing</a:t>
            </a:r>
            <a:r>
              <a:rPr lang="en-IN" sz="2400" dirty="0">
                <a:latin typeface="Times New Roman" panose="02020603050405020304" pitchFamily="18" charset="0"/>
                <a:cs typeface="Times New Roman" panose="02020603050405020304" pitchFamily="18" charset="0"/>
              </a:rPr>
              <a:t>(CO2)</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229600" cy="5211763"/>
          </a:xfrm>
        </p:spPr>
        <p:txBody>
          <a:bodyPr>
            <a:noAutofit/>
          </a:bodyPr>
          <a:lstStyle/>
          <a:p>
            <a:pPr marL="0" indent="0">
              <a:lnSpc>
                <a:spcPts val="2550"/>
              </a:lnSpc>
              <a:spcBef>
                <a:spcPts val="127"/>
              </a:spcBef>
              <a:buNone/>
            </a:pPr>
            <a:r>
              <a:rPr lang="en-US" sz="1800" dirty="0">
                <a:latin typeface="Times New Roman" panose="02020603050405020304" pitchFamily="18" charset="0"/>
                <a:cs typeface="Times New Roman" panose="02020603050405020304" pitchFamily="18" charset="0"/>
              </a:rPr>
              <a:t>The</a:t>
            </a:r>
            <a:r>
              <a:rPr lang="en-US" sz="1800" spc="-19"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R</a:t>
            </a:r>
            <a:r>
              <a:rPr lang="en-US" sz="1800" spc="4" dirty="0">
                <a:latin typeface="Times New Roman" panose="02020603050405020304" pitchFamily="18" charset="0"/>
                <a:cs typeface="Times New Roman" panose="02020603050405020304" pitchFamily="18" charset="0"/>
              </a:rPr>
              <a:t>(</a:t>
            </a:r>
            <a:r>
              <a:rPr lang="en-US" sz="1800" i="1" dirty="0">
                <a:latin typeface="Times New Roman" panose="02020603050405020304" pitchFamily="18" charset="0"/>
                <a:cs typeface="Times New Roman" panose="02020603050405020304" pitchFamily="18" charset="0"/>
              </a:rPr>
              <a:t>k</a:t>
            </a:r>
            <a:r>
              <a:rPr lang="en-US" sz="1800" dirty="0">
                <a:latin typeface="Times New Roman" panose="02020603050405020304" pitchFamily="18" charset="0"/>
                <a:cs typeface="Times New Roman" panose="02020603050405020304" pitchFamily="18" charset="0"/>
              </a:rPr>
              <a:t>)</a:t>
            </a:r>
            <a:r>
              <a:rPr lang="en-US" sz="1800" spc="-4"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pa</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ng</a:t>
            </a:r>
            <a:r>
              <a:rPr lang="en-US" sz="1800"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echn</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que</a:t>
            </a:r>
            <a:endParaRPr lang="en-US" sz="1800" spc="-34" dirty="0">
              <a:latin typeface="Times New Roman" panose="02020603050405020304" pitchFamily="18" charset="0"/>
              <a:cs typeface="Times New Roman" panose="02020603050405020304" pitchFamily="18" charset="0"/>
            </a:endParaRPr>
          </a:p>
          <a:p>
            <a:pPr marL="0" indent="0">
              <a:lnSpc>
                <a:spcPts val="2550"/>
              </a:lnSpc>
              <a:spcBef>
                <a:spcPts val="127"/>
              </a:spcBef>
              <a:buNone/>
            </a:pPr>
            <a:endParaRPr lang="en-US" sz="1800" dirty="0">
              <a:latin typeface="Times New Roman" panose="02020603050405020304" pitchFamily="18" charset="0"/>
              <a:cs typeface="Times New Roman" panose="02020603050405020304" pitchFamily="18" charset="0"/>
            </a:endParaRPr>
          </a:p>
          <a:p>
            <a:pPr marL="584200" marR="45720" indent="-342900">
              <a:lnSpc>
                <a:spcPct val="95825"/>
              </a:lnSpc>
              <a:spcBef>
                <a:spcPts val="738"/>
              </a:spcBef>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L</a:t>
            </a:r>
            <a:r>
              <a:rPr lang="en-US" sz="1800"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s</a:t>
            </a:r>
            <a:r>
              <a:rPr lang="en-US" sz="1800"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fo</a:t>
            </a:r>
            <a:r>
              <a:rPr lang="en-US" sz="1800" dirty="0">
                <a:latin typeface="Times New Roman" panose="02020603050405020304" pitchFamily="18" charset="0"/>
                <a:cs typeface="Times New Roman" panose="02020603050405020304" pitchFamily="18" charset="0"/>
              </a:rPr>
              <a:t>r</a:t>
            </a:r>
            <a:r>
              <a:rPr lang="en-US" sz="1800" spc="-2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Le</a:t>
            </a:r>
            <a:r>
              <a:rPr lang="en-US" sz="1800" spc="4" dirty="0">
                <a:latin typeface="Times New Roman" panose="02020603050405020304" pitchFamily="18" charset="0"/>
                <a:cs typeface="Times New Roman" panose="02020603050405020304" pitchFamily="18" charset="0"/>
              </a:rPr>
              <a:t>f</a:t>
            </a:r>
            <a:r>
              <a:rPr lang="en-US" sz="1800" spc="-4" dirty="0">
                <a:latin typeface="Times New Roman" panose="02020603050405020304" pitchFamily="18" charset="0"/>
                <a:cs typeface="Times New Roman" panose="02020603050405020304" pitchFamily="18" charset="0"/>
              </a:rPr>
              <a:t>t</a:t>
            </a:r>
            <a:r>
              <a:rPr lang="en-US" sz="1800" spc="4" dirty="0">
                <a:latin typeface="Times New Roman" panose="02020603050405020304" pitchFamily="18" charset="0"/>
                <a:cs typeface="Times New Roman" panose="02020603050405020304" pitchFamily="18" charset="0"/>
              </a:rPr>
              <a:t>-</a:t>
            </a:r>
            <a:r>
              <a:rPr lang="en-US" sz="1800" spc="-4" dirty="0">
                <a:latin typeface="Times New Roman" panose="02020603050405020304" pitchFamily="18" charset="0"/>
                <a:cs typeface="Times New Roman" panose="02020603050405020304" pitchFamily="18" charset="0"/>
              </a:rPr>
              <a:t>t</a:t>
            </a:r>
            <a:r>
              <a:rPr lang="en-US" sz="1800" spc="4" dirty="0">
                <a:latin typeface="Times New Roman" panose="02020603050405020304" pitchFamily="18" charset="0"/>
                <a:cs typeface="Times New Roman" panose="02020603050405020304" pitchFamily="18" charset="0"/>
              </a:rPr>
              <a:t>o-r</a:t>
            </a:r>
            <a:r>
              <a:rPr lang="en-US" sz="1800" spc="-4" dirty="0">
                <a:latin typeface="Times New Roman" panose="02020603050405020304" pitchFamily="18" charset="0"/>
                <a:cs typeface="Times New Roman" panose="02020603050405020304" pitchFamily="18" charset="0"/>
              </a:rPr>
              <a:t>ig</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t</a:t>
            </a:r>
            <a:r>
              <a:rPr lang="en-US" sz="1800" spc="-59"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sca</a:t>
            </a:r>
            <a:r>
              <a:rPr lang="en-US" sz="1800" spc="4" dirty="0">
                <a:latin typeface="Times New Roman" panose="02020603050405020304" pitchFamily="18" charset="0"/>
                <a:cs typeface="Times New Roman" panose="02020603050405020304" pitchFamily="18" charset="0"/>
              </a:rPr>
              <a:t>nn</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n</a:t>
            </a:r>
            <a:r>
              <a:rPr lang="en-US" sz="1800" dirty="0">
                <a:latin typeface="Times New Roman" panose="02020603050405020304" pitchFamily="18" charset="0"/>
                <a:cs typeface="Times New Roman" panose="02020603050405020304" pitchFamily="18" charset="0"/>
              </a:rPr>
              <a:t>g</a:t>
            </a:r>
            <a:r>
              <a:rPr lang="en-US" sz="1800" spc="-3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f </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nput</a:t>
            </a:r>
          </a:p>
          <a:p>
            <a:pPr marL="241300" marR="45720" indent="0">
              <a:lnSpc>
                <a:spcPct val="95825"/>
              </a:lnSpc>
              <a:spcBef>
                <a:spcPts val="738"/>
              </a:spcBef>
              <a:buNone/>
            </a:pPr>
            <a:endParaRPr lang="en-US" sz="1800" dirty="0">
              <a:latin typeface="Times New Roman" panose="02020603050405020304" pitchFamily="18" charset="0"/>
              <a:cs typeface="Times New Roman" panose="02020603050405020304" pitchFamily="18" charset="0"/>
            </a:endParaRPr>
          </a:p>
          <a:p>
            <a:pPr marL="584200" marR="45720" indent="-342900">
              <a:lnSpc>
                <a:spcPct val="95825"/>
              </a:lnSpc>
              <a:spcBef>
                <a:spcPts val="820"/>
              </a:spcBef>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a:t>
            </a:r>
            <a:r>
              <a:rPr lang="en-US" sz="1800" spc="-14"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a:t>
            </a:r>
            <a:r>
              <a:rPr lang="en-US" sz="1800" spc="4" dirty="0">
                <a:latin typeface="Times New Roman" panose="02020603050405020304" pitchFamily="18" charset="0"/>
                <a:cs typeface="Times New Roman" panose="02020603050405020304" pitchFamily="18" charset="0"/>
              </a:rPr>
              <a:t>orr</a:t>
            </a:r>
            <a:r>
              <a:rPr lang="en-US" sz="1800" dirty="0">
                <a:latin typeface="Times New Roman" panose="02020603050405020304" pitchFamily="18" charset="0"/>
                <a:cs typeface="Times New Roman" panose="02020603050405020304" pitchFamily="18" charset="0"/>
              </a:rPr>
              <a:t>es</a:t>
            </a:r>
            <a:r>
              <a:rPr lang="en-US" sz="1800" spc="4" dirty="0">
                <a:latin typeface="Times New Roman" panose="02020603050405020304" pitchFamily="18" charset="0"/>
                <a:cs typeface="Times New Roman" panose="02020603050405020304" pitchFamily="18" charset="0"/>
              </a:rPr>
              <a:t>po</a:t>
            </a:r>
            <a:r>
              <a:rPr lang="en-US" sz="1800" spc="-4" dirty="0">
                <a:latin typeface="Times New Roman" panose="02020603050405020304" pitchFamily="18" charset="0"/>
                <a:cs typeface="Times New Roman" panose="02020603050405020304" pitchFamily="18" charset="0"/>
              </a:rPr>
              <a:t>n</a:t>
            </a:r>
            <a:r>
              <a:rPr lang="en-US" sz="1800" spc="4" dirty="0">
                <a:latin typeface="Times New Roman" panose="02020603050405020304" pitchFamily="18" charset="0"/>
                <a:cs typeface="Times New Roman" panose="02020603050405020304" pitchFamily="18" charset="0"/>
              </a:rPr>
              <a:t>d</a:t>
            </a:r>
            <a:r>
              <a:rPr lang="en-US" sz="1800" dirty="0">
                <a:latin typeface="Times New Roman" panose="02020603050405020304" pitchFamily="18" charset="0"/>
                <a:cs typeface="Times New Roman" panose="02020603050405020304" pitchFamily="18" charset="0"/>
              </a:rPr>
              <a:t>s</a:t>
            </a:r>
            <a:r>
              <a:rPr lang="en-US" sz="1800" spc="-5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o a</a:t>
            </a:r>
            <a:r>
              <a:rPr lang="en-US" sz="1800"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Ri</a:t>
            </a:r>
            <a:r>
              <a:rPr lang="en-US" sz="1800" spc="4" dirty="0">
                <a:latin typeface="Times New Roman" panose="02020603050405020304" pitchFamily="18" charset="0"/>
                <a:cs typeface="Times New Roman" panose="02020603050405020304" pitchFamily="18" charset="0"/>
              </a:rPr>
              <a:t>gh</a:t>
            </a:r>
            <a:r>
              <a:rPr lang="en-US" sz="1800" spc="-4" dirty="0">
                <a:latin typeface="Times New Roman" panose="02020603050405020304" pitchFamily="18" charset="0"/>
                <a:cs typeface="Times New Roman" panose="02020603050405020304" pitchFamily="18" charset="0"/>
              </a:rPr>
              <a:t>t</a:t>
            </a:r>
            <a:r>
              <a:rPr lang="en-US" sz="1800" spc="-25" dirty="0">
                <a:latin typeface="Times New Roman" panose="02020603050405020304" pitchFamily="18" charset="0"/>
                <a:cs typeface="Times New Roman" panose="02020603050405020304" pitchFamily="18" charset="0"/>
              </a:rPr>
              <a:t>m</a:t>
            </a:r>
            <a:r>
              <a:rPr lang="en-US" sz="1800" spc="4"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st</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d</a:t>
            </a:r>
            <a:r>
              <a:rPr lang="en-US" sz="1800" dirty="0">
                <a:latin typeface="Times New Roman" panose="02020603050405020304" pitchFamily="18" charset="0"/>
                <a:cs typeface="Times New Roman" panose="02020603050405020304" pitchFamily="18" charset="0"/>
              </a:rPr>
              <a:t>e</a:t>
            </a:r>
            <a:r>
              <a:rPr lang="en-US" sz="1800" spc="4" dirty="0">
                <a:latin typeface="Times New Roman" panose="02020603050405020304" pitchFamily="18" charset="0"/>
                <a:cs typeface="Times New Roman" panose="02020603050405020304" pitchFamily="18" charset="0"/>
              </a:rPr>
              <a:t>r</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v</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ti</a:t>
            </a:r>
            <a:r>
              <a:rPr lang="en-US" sz="1800" spc="4"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n</a:t>
            </a:r>
            <a:r>
              <a:rPr lang="en-US" sz="1800" spc="-50"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don</a:t>
            </a:r>
            <a:r>
              <a:rPr lang="en-US" sz="1800" dirty="0">
                <a:latin typeface="Times New Roman" panose="02020603050405020304" pitchFamily="18" charset="0"/>
                <a:cs typeface="Times New Roman" panose="02020603050405020304" pitchFamily="18" charset="0"/>
              </a:rPr>
              <a:t>e</a:t>
            </a:r>
            <a:r>
              <a:rPr lang="en-US" sz="1800" spc="-1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n </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e</a:t>
            </a:r>
            <a:r>
              <a:rPr lang="en-US" sz="1800" spc="4" dirty="0">
                <a:latin typeface="Times New Roman" panose="02020603050405020304" pitchFamily="18" charset="0"/>
                <a:cs typeface="Times New Roman" panose="02020603050405020304" pitchFamily="18" charset="0"/>
              </a:rPr>
              <a:t>v</a:t>
            </a:r>
            <a:r>
              <a:rPr lang="en-US" sz="1800" dirty="0">
                <a:latin typeface="Times New Roman" panose="02020603050405020304" pitchFamily="18" charset="0"/>
                <a:cs typeface="Times New Roman" panose="02020603050405020304" pitchFamily="18" charset="0"/>
              </a:rPr>
              <a:t>e</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se</a:t>
            </a:r>
          </a:p>
          <a:p>
            <a:pPr marL="584200" marR="45720" indent="-342900">
              <a:lnSpc>
                <a:spcPct val="95825"/>
              </a:lnSpc>
              <a:spcBef>
                <a:spcPts val="820"/>
              </a:spcBef>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584200" marR="45720" indent="-342900">
              <a:lnSpc>
                <a:spcPct val="95825"/>
              </a:lnSpc>
              <a:spcBef>
                <a:spcPts val="820"/>
              </a:spcBef>
              <a:buFont typeface="Wingdings" panose="05000000000000000000" pitchFamily="2" charset="2"/>
              <a:buChar char="­"/>
            </a:pPr>
            <a:r>
              <a:rPr lang="en-US" sz="1800" i="1" dirty="0">
                <a:latin typeface="Times New Roman" panose="02020603050405020304" pitchFamily="18" charset="0"/>
                <a:cs typeface="Times New Roman" panose="02020603050405020304" pitchFamily="18" charset="0"/>
              </a:rPr>
              <a:t>k</a:t>
            </a:r>
            <a:r>
              <a:rPr lang="en-US" sz="1800" i="1"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 t</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e</a:t>
            </a:r>
            <a:r>
              <a:rPr lang="en-US" sz="1800" spc="-1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nu</a:t>
            </a:r>
            <a:r>
              <a:rPr lang="en-US" sz="1800" spc="-25" dirty="0">
                <a:latin typeface="Times New Roman" panose="02020603050405020304" pitchFamily="18" charset="0"/>
                <a:cs typeface="Times New Roman" panose="02020603050405020304" pitchFamily="18" charset="0"/>
              </a:rPr>
              <a:t>m</a:t>
            </a:r>
            <a:r>
              <a:rPr lang="en-US" sz="1800" spc="4" dirty="0">
                <a:latin typeface="Times New Roman" panose="02020603050405020304" pitchFamily="18" charset="0"/>
                <a:cs typeface="Times New Roman" panose="02020603050405020304" pitchFamily="18" charset="0"/>
              </a:rPr>
              <a:t>b</a:t>
            </a:r>
            <a:r>
              <a:rPr lang="en-US" sz="1800" dirty="0">
                <a:latin typeface="Times New Roman" panose="02020603050405020304" pitchFamily="18" charset="0"/>
                <a:cs typeface="Times New Roman" panose="02020603050405020304" pitchFamily="18" charset="0"/>
              </a:rPr>
              <a:t>er </a:t>
            </a:r>
            <a:r>
              <a:rPr lang="en-US" sz="1800" spc="4"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f</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ook</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ead</a:t>
            </a:r>
            <a:r>
              <a:rPr lang="en-US" sz="1800" spc="-39"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y</a:t>
            </a:r>
            <a:r>
              <a:rPr lang="en-US" sz="1800" spc="-25" dirty="0">
                <a:latin typeface="Times New Roman" panose="02020603050405020304" pitchFamily="18" charset="0"/>
                <a:cs typeface="Times New Roman" panose="02020603050405020304" pitchFamily="18" charset="0"/>
              </a:rPr>
              <a:t>m</a:t>
            </a:r>
            <a:r>
              <a:rPr lang="en-US" sz="1800" spc="4" dirty="0">
                <a:latin typeface="Times New Roman" panose="02020603050405020304" pitchFamily="18" charset="0"/>
                <a:cs typeface="Times New Roman" panose="02020603050405020304" pitchFamily="18" charset="0"/>
              </a:rPr>
              <a:t>bo</a:t>
            </a:r>
            <a:r>
              <a:rPr lang="en-US" sz="1800" spc="-4" dirty="0">
                <a:latin typeface="Times New Roman" panose="02020603050405020304" pitchFamily="18" charset="0"/>
                <a:cs typeface="Times New Roman" panose="02020603050405020304" pitchFamily="18" charset="0"/>
              </a:rPr>
              <a:t>l</a:t>
            </a:r>
            <a:r>
              <a:rPr lang="en-US" sz="1800" dirty="0">
                <a:latin typeface="Times New Roman" panose="02020603050405020304" pitchFamily="18" charset="0"/>
                <a:cs typeface="Times New Roman" panose="02020603050405020304" pitchFamily="18" charset="0"/>
              </a:rPr>
              <a:t>s</a:t>
            </a:r>
            <a:r>
              <a:rPr lang="en-US" sz="1800"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u</a:t>
            </a:r>
            <a:r>
              <a:rPr lang="en-US" sz="1800" dirty="0">
                <a:latin typeface="Times New Roman" panose="02020603050405020304" pitchFamily="18" charset="0"/>
                <a:cs typeface="Times New Roman" panose="02020603050405020304" pitchFamily="18" charset="0"/>
              </a:rPr>
              <a:t>sed</a:t>
            </a:r>
            <a:r>
              <a:rPr lang="en-US" sz="1800" spc="-25"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o </a:t>
            </a:r>
            <a:r>
              <a:rPr lang="en-US" sz="1800" spc="-25" dirty="0">
                <a:latin typeface="Times New Roman" panose="02020603050405020304" pitchFamily="18" charset="0"/>
                <a:cs typeface="Times New Roman" panose="02020603050405020304" pitchFamily="18" charset="0"/>
              </a:rPr>
              <a:t>m</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k</a:t>
            </a:r>
            <a:r>
              <a:rPr lang="en-US" sz="1800" dirty="0">
                <a:latin typeface="Times New Roman" panose="02020603050405020304" pitchFamily="18" charset="0"/>
                <a:cs typeface="Times New Roman" panose="02020603050405020304" pitchFamily="18" charset="0"/>
              </a:rPr>
              <a:t>e </a:t>
            </a:r>
            <a:r>
              <a:rPr lang="en-US" sz="1800" spc="4" dirty="0">
                <a:latin typeface="Times New Roman" panose="02020603050405020304" pitchFamily="18" charset="0"/>
                <a:cs typeface="Times New Roman" panose="02020603050405020304" pitchFamily="18" charset="0"/>
              </a:rPr>
              <a:t>p</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n</a:t>
            </a:r>
            <a:r>
              <a:rPr lang="en-US" sz="1800" dirty="0">
                <a:latin typeface="Times New Roman" panose="02020603050405020304" pitchFamily="18" charset="0"/>
                <a:cs typeface="Times New Roman" panose="02020603050405020304" pitchFamily="18" charset="0"/>
              </a:rPr>
              <a:t>g</a:t>
            </a:r>
            <a:r>
              <a:rPr lang="en-US" sz="1800" spc="-25"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d</a:t>
            </a:r>
            <a:r>
              <a:rPr lang="en-US" sz="1800" dirty="0">
                <a:latin typeface="Times New Roman" panose="02020603050405020304" pitchFamily="18" charset="0"/>
                <a:cs typeface="Times New Roman" panose="02020603050405020304" pitchFamily="18" charset="0"/>
              </a:rPr>
              <a:t>ec</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ons</a:t>
            </a:r>
            <a:endParaRPr lang="en-US" sz="1800" dirty="0">
              <a:latin typeface="Times New Roman" panose="02020603050405020304" pitchFamily="18" charset="0"/>
              <a:cs typeface="Times New Roman" panose="02020603050405020304" pitchFamily="18" charset="0"/>
            </a:endParaRPr>
          </a:p>
          <a:p>
            <a:pPr marL="241300" marR="45720" indent="0">
              <a:lnSpc>
                <a:spcPct val="95825"/>
              </a:lnSpc>
              <a:spcBef>
                <a:spcPts val="820"/>
              </a:spcBef>
              <a:buNone/>
            </a:pPr>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540052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Effect transition="in" filter="wipe(down)">
                                      <p:cBhvr>
                                        <p:cTn id="13" dur="500"/>
                                        <p:tgtEl>
                                          <p:spTgt spid="1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2">
                                            <p:txEl>
                                              <p:pRg st="4" end="4"/>
                                            </p:txEl>
                                          </p:spTgt>
                                        </p:tgtEl>
                                        <p:attrNameLst>
                                          <p:attrName>style.visibility</p:attrName>
                                        </p:attrNameLst>
                                      </p:cBhvr>
                                      <p:to>
                                        <p:strVal val="visible"/>
                                      </p:to>
                                    </p:set>
                                    <p:animEffect transition="in" filter="wipe(down)">
                                      <p:cBhvr>
                                        <p:cTn id="18" dur="500"/>
                                        <p:tgtEl>
                                          <p:spTgt spid="1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2">
                                            <p:txEl>
                                              <p:pRg st="6" end="6"/>
                                            </p:txEl>
                                          </p:spTgt>
                                        </p:tgtEl>
                                        <p:attrNameLst>
                                          <p:attrName>style.visibility</p:attrName>
                                        </p:attrNameLst>
                                      </p:cBhvr>
                                      <p:to>
                                        <p:strVal val="visible"/>
                                      </p:to>
                                    </p:set>
                                    <p:animEffect transition="in" filter="wipe(down)">
                                      <p:cBhvr>
                                        <p:cTn id="23"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3864134-04DD-4804-97B5-F453BAF772B9}"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latin typeface="Times New Roman" panose="02020603050405020304" pitchFamily="18" charset="0"/>
                <a:cs typeface="Times New Roman" panose="02020603050405020304" pitchFamily="18" charset="0"/>
              </a:rPr>
              <a:t>Types of LR Parser</a:t>
            </a:r>
            <a:r>
              <a:rPr lang="en-IN" sz="2400" dirty="0">
                <a:latin typeface="Times New Roman" panose="02020603050405020304" pitchFamily="18" charset="0"/>
                <a:cs typeface="Times New Roman" panose="02020603050405020304" pitchFamily="18" charset="0"/>
              </a:rPr>
              <a:t>(CO2)</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229600" cy="5211763"/>
          </a:xfrm>
        </p:spPr>
        <p:txBody>
          <a:bodyPr>
            <a:noAutofit/>
          </a:bodyPr>
          <a:lstStyle/>
          <a:p>
            <a:pPr marL="0" indent="0" algn="ctr">
              <a:buNone/>
            </a:pPr>
            <a:r>
              <a:rPr lang="en-US" sz="1800" i="1" dirty="0">
                <a:effectLst>
                  <a:outerShdw blurRad="38100" dist="38100" dir="2700000" algn="tl">
                    <a:srgbClr val="000000">
                      <a:alpha val="43137"/>
                    </a:srgbClr>
                  </a:outerShdw>
                </a:effectLst>
                <a:latin typeface="Times New Roman"/>
                <a:cs typeface="Times New Roman"/>
              </a:rPr>
              <a:t>Four</a:t>
            </a:r>
            <a:r>
              <a:rPr lang="en-US" sz="1800" i="1" spc="-4" dirty="0">
                <a:effectLst>
                  <a:outerShdw blurRad="38100" dist="38100" dir="2700000" algn="tl">
                    <a:srgbClr val="000000">
                      <a:alpha val="43137"/>
                    </a:srgbClr>
                  </a:outerShdw>
                </a:effectLst>
                <a:latin typeface="Times New Roman"/>
                <a:cs typeface="Times New Roman"/>
              </a:rPr>
              <a:t> </a:t>
            </a:r>
            <a:r>
              <a:rPr lang="en-US" sz="1800" i="1" dirty="0">
                <a:effectLst>
                  <a:outerShdw blurRad="38100" dist="38100" dir="2700000" algn="tl">
                    <a:srgbClr val="000000">
                      <a:alpha val="43137"/>
                    </a:srgbClr>
                  </a:outerShdw>
                </a:effectLst>
                <a:latin typeface="Times New Roman"/>
                <a:cs typeface="Times New Roman"/>
              </a:rPr>
              <a:t>LR pa</a:t>
            </a:r>
            <a:r>
              <a:rPr lang="en-US" sz="1800" i="1" spc="4" dirty="0">
                <a:effectLst>
                  <a:outerShdw blurRad="38100" dist="38100" dir="2700000" algn="tl">
                    <a:srgbClr val="000000">
                      <a:alpha val="43137"/>
                    </a:srgbClr>
                  </a:outerShdw>
                </a:effectLst>
                <a:latin typeface="Times New Roman"/>
                <a:cs typeface="Times New Roman"/>
              </a:rPr>
              <a:t>r</a:t>
            </a:r>
            <a:r>
              <a:rPr lang="en-US" sz="1800" i="1" dirty="0">
                <a:effectLst>
                  <a:outerShdw blurRad="38100" dist="38100" dir="2700000" algn="tl">
                    <a:srgbClr val="000000">
                      <a:alpha val="43137"/>
                    </a:srgbClr>
                  </a:outerShdw>
                </a:effectLst>
                <a:latin typeface="Times New Roman"/>
                <a:cs typeface="Times New Roman"/>
              </a:rPr>
              <a:t>s</a:t>
            </a:r>
            <a:r>
              <a:rPr lang="en-US" sz="1800" i="1" spc="4" dirty="0">
                <a:effectLst>
                  <a:outerShdw blurRad="38100" dist="38100" dir="2700000" algn="tl">
                    <a:srgbClr val="000000">
                      <a:alpha val="43137"/>
                    </a:srgbClr>
                  </a:outerShdw>
                </a:effectLst>
                <a:latin typeface="Times New Roman"/>
                <a:cs typeface="Times New Roman"/>
              </a:rPr>
              <a:t>i</a:t>
            </a:r>
            <a:r>
              <a:rPr lang="en-US" sz="1800" i="1" dirty="0">
                <a:effectLst>
                  <a:outerShdw blurRad="38100" dist="38100" dir="2700000" algn="tl">
                    <a:srgbClr val="000000">
                      <a:alpha val="43137"/>
                    </a:srgbClr>
                  </a:outerShdw>
                </a:effectLst>
                <a:latin typeface="Times New Roman"/>
                <a:cs typeface="Times New Roman"/>
              </a:rPr>
              <a:t>ng</a:t>
            </a:r>
            <a:r>
              <a:rPr lang="en-US" sz="1800" i="1" spc="-9" dirty="0">
                <a:effectLst>
                  <a:outerShdw blurRad="38100" dist="38100" dir="2700000" algn="tl">
                    <a:srgbClr val="000000">
                      <a:alpha val="43137"/>
                    </a:srgbClr>
                  </a:outerShdw>
                </a:effectLst>
                <a:latin typeface="Times New Roman"/>
                <a:cs typeface="Times New Roman"/>
              </a:rPr>
              <a:t> </a:t>
            </a:r>
            <a:r>
              <a:rPr lang="en-US" sz="1800" i="1" spc="4" dirty="0">
                <a:effectLst>
                  <a:outerShdw blurRad="38100" dist="38100" dir="2700000" algn="tl">
                    <a:srgbClr val="000000">
                      <a:alpha val="43137"/>
                    </a:srgbClr>
                  </a:outerShdw>
                </a:effectLst>
                <a:latin typeface="Times New Roman"/>
                <a:cs typeface="Times New Roman"/>
              </a:rPr>
              <a:t>t</a:t>
            </a:r>
            <a:r>
              <a:rPr lang="en-US" sz="1800" i="1" dirty="0">
                <a:effectLst>
                  <a:outerShdw blurRad="38100" dist="38100" dir="2700000" algn="tl">
                    <a:srgbClr val="000000">
                      <a:alpha val="43137"/>
                    </a:srgbClr>
                  </a:outerShdw>
                </a:effectLst>
                <a:latin typeface="Times New Roman"/>
                <a:cs typeface="Times New Roman"/>
              </a:rPr>
              <a:t>echn</a:t>
            </a:r>
            <a:r>
              <a:rPr lang="en-US" sz="1800" i="1" spc="4" dirty="0">
                <a:effectLst>
                  <a:outerShdw blurRad="38100" dist="38100" dir="2700000" algn="tl">
                    <a:srgbClr val="000000">
                      <a:alpha val="43137"/>
                    </a:srgbClr>
                  </a:outerShdw>
                </a:effectLst>
                <a:latin typeface="Times New Roman"/>
                <a:cs typeface="Times New Roman"/>
              </a:rPr>
              <a:t>i</a:t>
            </a:r>
            <a:r>
              <a:rPr lang="en-US" sz="1800" i="1" dirty="0">
                <a:effectLst>
                  <a:outerShdw blurRad="38100" dist="38100" dir="2700000" algn="tl">
                    <a:srgbClr val="000000">
                      <a:alpha val="43137"/>
                    </a:srgbClr>
                  </a:outerShdw>
                </a:effectLst>
                <a:latin typeface="Times New Roman"/>
                <a:cs typeface="Times New Roman"/>
              </a:rPr>
              <a:t>ques</a:t>
            </a:r>
            <a:r>
              <a:rPr lang="en-US" sz="1800" i="1" spc="-34" dirty="0">
                <a:effectLst>
                  <a:outerShdw blurRad="38100" dist="38100" dir="2700000" algn="tl">
                    <a:srgbClr val="000000">
                      <a:alpha val="43137"/>
                    </a:srgbClr>
                  </a:outerShdw>
                </a:effectLst>
                <a:latin typeface="Times New Roman"/>
                <a:cs typeface="Times New Roman"/>
              </a:rPr>
              <a:t> </a:t>
            </a:r>
            <a:r>
              <a:rPr lang="en-US" sz="1800" i="1" spc="-4" dirty="0">
                <a:effectLst>
                  <a:outerShdw blurRad="38100" dist="38100" dir="2700000" algn="tl">
                    <a:srgbClr val="000000">
                      <a:alpha val="43137"/>
                    </a:srgbClr>
                  </a:outerShdw>
                </a:effectLst>
                <a:latin typeface="Times New Roman"/>
                <a:cs typeface="Times New Roman"/>
              </a:rPr>
              <a:t>w</a:t>
            </a:r>
            <a:r>
              <a:rPr lang="en-US" sz="1800" i="1" spc="4" dirty="0">
                <a:effectLst>
                  <a:outerShdw blurRad="38100" dist="38100" dir="2700000" algn="tl">
                    <a:srgbClr val="000000">
                      <a:alpha val="43137"/>
                    </a:srgbClr>
                  </a:outerShdw>
                </a:effectLst>
                <a:latin typeface="Times New Roman"/>
                <a:cs typeface="Times New Roman"/>
              </a:rPr>
              <a:t>il</a:t>
            </a:r>
            <a:r>
              <a:rPr lang="en-US" sz="1800" i="1" dirty="0">
                <a:effectLst>
                  <a:outerShdw blurRad="38100" dist="38100" dir="2700000" algn="tl">
                    <a:srgbClr val="000000">
                      <a:alpha val="43137"/>
                    </a:srgbClr>
                  </a:outerShdw>
                </a:effectLst>
                <a:latin typeface="Times New Roman"/>
                <a:cs typeface="Times New Roman"/>
              </a:rPr>
              <a:t>l</a:t>
            </a:r>
            <a:r>
              <a:rPr lang="en-US" sz="1800" i="1" spc="-19" dirty="0">
                <a:effectLst>
                  <a:outerShdw blurRad="38100" dist="38100" dir="2700000" algn="tl">
                    <a:srgbClr val="000000">
                      <a:alpha val="43137"/>
                    </a:srgbClr>
                  </a:outerShdw>
                </a:effectLst>
                <a:latin typeface="Times New Roman"/>
                <a:cs typeface="Times New Roman"/>
              </a:rPr>
              <a:t> </a:t>
            </a:r>
            <a:r>
              <a:rPr lang="en-US" sz="1800" i="1" dirty="0">
                <a:effectLst>
                  <a:outerShdw blurRad="38100" dist="38100" dir="2700000" algn="tl">
                    <a:srgbClr val="000000">
                      <a:alpha val="43137"/>
                    </a:srgbClr>
                  </a:outerShdw>
                </a:effectLst>
                <a:latin typeface="Times New Roman"/>
                <a:cs typeface="Times New Roman"/>
              </a:rPr>
              <a:t>be cons</a:t>
            </a:r>
            <a:r>
              <a:rPr lang="en-US" sz="1800" i="1" spc="4" dirty="0">
                <a:effectLst>
                  <a:outerShdw blurRad="38100" dist="38100" dir="2700000" algn="tl">
                    <a:srgbClr val="000000">
                      <a:alpha val="43137"/>
                    </a:srgbClr>
                  </a:outerShdw>
                </a:effectLst>
                <a:latin typeface="Times New Roman"/>
                <a:cs typeface="Times New Roman"/>
              </a:rPr>
              <a:t>i</a:t>
            </a:r>
            <a:r>
              <a:rPr lang="en-US" sz="1800" i="1" dirty="0">
                <a:effectLst>
                  <a:outerShdw blurRad="38100" dist="38100" dir="2700000" algn="tl">
                    <a:srgbClr val="000000">
                      <a:alpha val="43137"/>
                    </a:srgbClr>
                  </a:outerShdw>
                </a:effectLst>
                <a:latin typeface="Times New Roman"/>
                <a:cs typeface="Times New Roman"/>
              </a:rPr>
              <a:t>de</a:t>
            </a:r>
            <a:r>
              <a:rPr lang="en-US" sz="1800" i="1" spc="4" dirty="0">
                <a:effectLst>
                  <a:outerShdw blurRad="38100" dist="38100" dir="2700000" algn="tl">
                    <a:srgbClr val="000000">
                      <a:alpha val="43137"/>
                    </a:srgbClr>
                  </a:outerShdw>
                </a:effectLst>
                <a:latin typeface="Times New Roman"/>
                <a:cs typeface="Times New Roman"/>
              </a:rPr>
              <a:t>r</a:t>
            </a:r>
            <a:r>
              <a:rPr lang="en-US" sz="1800" i="1" dirty="0">
                <a:effectLst>
                  <a:outerShdw blurRad="38100" dist="38100" dir="2700000" algn="tl">
                    <a:srgbClr val="000000">
                      <a:alpha val="43137"/>
                    </a:srgbClr>
                  </a:outerShdw>
                </a:effectLst>
                <a:latin typeface="Times New Roman"/>
                <a:cs typeface="Times New Roman"/>
              </a:rPr>
              <a:t>ed</a:t>
            </a:r>
          </a:p>
          <a:p>
            <a:pPr marL="0" indent="0">
              <a:buNone/>
            </a:pPr>
            <a:endParaRPr lang="en-IN" sz="1800" dirty="0"/>
          </a:p>
        </p:txBody>
      </p:sp>
      <p:pic>
        <p:nvPicPr>
          <p:cNvPr id="3" name="Picture 2" descr="LR Parser">
            <a:extLst>
              <a:ext uri="{FF2B5EF4-FFF2-40B4-BE49-F238E27FC236}">
                <a16:creationId xmlns:a16="http://schemas.microsoft.com/office/drawing/2014/main" id="{E8FF45FA-42D7-4BE4-A54A-FA3C534C3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204573"/>
            <a:ext cx="7315200" cy="27813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
        <p:nvSpPr>
          <p:cNvPr id="5" name="Oval 4"/>
          <p:cNvSpPr/>
          <p:nvPr/>
        </p:nvSpPr>
        <p:spPr>
          <a:xfrm>
            <a:off x="838200" y="3276600"/>
            <a:ext cx="1905000" cy="144780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2819400" y="3314700"/>
            <a:ext cx="1905000" cy="133872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8360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E9F741-7846-434D-BA63-105D96B04766}"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latin typeface="Times New Roman" panose="02020603050405020304" pitchFamily="18" charset="0"/>
                <a:cs typeface="Times New Roman" panose="02020603050405020304" pitchFamily="18" charset="0"/>
              </a:rPr>
              <a:t>Types of LR Parser</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229600" cy="5211763"/>
          </a:xfrm>
        </p:spPr>
        <p:txBody>
          <a:bodyPr>
            <a:noAutofit/>
          </a:bodyPr>
          <a:lstStyle/>
          <a:p>
            <a:pPr algn="just"/>
            <a:r>
              <a:rPr lang="en-IN" sz="1800" dirty="0">
                <a:latin typeface="Times New Roman" panose="02020603050405020304" pitchFamily="18" charset="0"/>
                <a:cs typeface="Times New Roman" panose="02020603050405020304" pitchFamily="18" charset="0"/>
              </a:rPr>
              <a:t>LR(0)-</a:t>
            </a:r>
            <a:r>
              <a:rPr lang="en-US" sz="1800" dirty="0">
                <a:latin typeface="Times New Roman" panose="02020603050405020304" pitchFamily="18" charset="0"/>
                <a:cs typeface="Times New Roman" panose="02020603050405020304" pitchFamily="18" charset="0"/>
              </a:rPr>
              <a:t>LR</a:t>
            </a:r>
            <a:r>
              <a:rPr lang="en-US" sz="1800"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p</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n</a:t>
            </a:r>
            <a:r>
              <a:rPr lang="en-US" sz="1800" dirty="0">
                <a:latin typeface="Times New Roman" panose="02020603050405020304" pitchFamily="18" charset="0"/>
                <a:cs typeface="Times New Roman" panose="02020603050405020304" pitchFamily="18" charset="0"/>
              </a:rPr>
              <a:t>g</a:t>
            </a:r>
            <a:r>
              <a:rPr lang="en-US" sz="1800" spc="-3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w</a:t>
            </a:r>
            <a:r>
              <a:rPr lang="en-US" sz="1800" spc="-4" dirty="0">
                <a:latin typeface="Times New Roman" panose="02020603050405020304" pitchFamily="18" charset="0"/>
                <a:cs typeface="Times New Roman" panose="02020603050405020304" pitchFamily="18" charset="0"/>
              </a:rPr>
              <a:t>it</a:t>
            </a:r>
            <a:r>
              <a:rPr lang="en-US" sz="1800" dirty="0">
                <a:latin typeface="Times New Roman" panose="02020603050405020304" pitchFamily="18" charset="0"/>
                <a:cs typeface="Times New Roman" panose="02020603050405020304" pitchFamily="18" charset="0"/>
              </a:rPr>
              <a:t>h</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n</a:t>
            </a:r>
            <a:r>
              <a:rPr lang="en-US" sz="1800" dirty="0">
                <a:latin typeface="Times New Roman" panose="02020603050405020304" pitchFamily="18" charset="0"/>
                <a:cs typeface="Times New Roman" panose="02020603050405020304" pitchFamily="18" charset="0"/>
              </a:rPr>
              <a:t>o </a:t>
            </a:r>
            <a:r>
              <a:rPr lang="en-US" sz="1800" spc="-4"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ook</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ead</a:t>
            </a:r>
            <a:r>
              <a:rPr lang="en-US" sz="1800" spc="-3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spc="4" dirty="0">
                <a:latin typeface="Times New Roman" panose="02020603050405020304" pitchFamily="18" charset="0"/>
                <a:cs typeface="Times New Roman" panose="02020603050405020304" pitchFamily="18" charset="0"/>
              </a:rPr>
              <a:t>ok</a:t>
            </a:r>
            <a:r>
              <a:rPr lang="en-US" sz="1800" dirty="0">
                <a:latin typeface="Times New Roman" panose="02020603050405020304" pitchFamily="18" charset="0"/>
                <a:cs typeface="Times New Roman" panose="02020603050405020304" pitchFamily="18" charset="0"/>
              </a:rPr>
              <a:t>en</a:t>
            </a:r>
            <a:r>
              <a:rPr lang="en-US" sz="1800" spc="-25"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o </a:t>
            </a:r>
            <a:r>
              <a:rPr lang="en-US" sz="1800" spc="-25" dirty="0">
                <a:latin typeface="Times New Roman" panose="02020603050405020304" pitchFamily="18" charset="0"/>
                <a:cs typeface="Times New Roman" panose="02020603050405020304" pitchFamily="18" charset="0"/>
              </a:rPr>
              <a:t>m</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k</a:t>
            </a:r>
            <a:r>
              <a:rPr lang="en-US" sz="1800" dirty="0">
                <a:latin typeface="Times New Roman" panose="02020603050405020304" pitchFamily="18" charset="0"/>
                <a:cs typeface="Times New Roman" panose="02020603050405020304" pitchFamily="18" charset="0"/>
              </a:rPr>
              <a:t>e </a:t>
            </a:r>
            <a:r>
              <a:rPr lang="en-US" sz="1800" spc="4" dirty="0">
                <a:latin typeface="Times New Roman" panose="02020603050405020304" pitchFamily="18" charset="0"/>
                <a:cs typeface="Times New Roman" panose="02020603050405020304" pitchFamily="18" charset="0"/>
              </a:rPr>
              <a:t>p</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n</a:t>
            </a:r>
            <a:r>
              <a:rPr lang="en-US" sz="1800" dirty="0">
                <a:latin typeface="Times New Roman" panose="02020603050405020304" pitchFamily="18" charset="0"/>
                <a:cs typeface="Times New Roman" panose="02020603050405020304" pitchFamily="18" charset="0"/>
              </a:rPr>
              <a:t>g</a:t>
            </a:r>
            <a:r>
              <a:rPr lang="en-US" sz="1800" spc="-3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d</a:t>
            </a:r>
            <a:r>
              <a:rPr lang="en-US" sz="1800" dirty="0">
                <a:latin typeface="Times New Roman" panose="02020603050405020304" pitchFamily="18" charset="0"/>
                <a:cs typeface="Times New Roman" panose="02020603050405020304" pitchFamily="18" charset="0"/>
              </a:rPr>
              <a:t>ec</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ons</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SL</a:t>
            </a:r>
            <a:r>
              <a:rPr lang="en-IN" sz="1800" spc="-4"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(1</a:t>
            </a:r>
            <a:r>
              <a:rPr lang="en-IN"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i</a:t>
            </a:r>
            <a:r>
              <a:rPr lang="en-US" sz="1800" spc="-25" dirty="0">
                <a:latin typeface="Times New Roman" panose="02020603050405020304" pitchFamily="18" charset="0"/>
                <a:cs typeface="Times New Roman" panose="02020603050405020304" pitchFamily="18" charset="0"/>
              </a:rPr>
              <a:t>m</a:t>
            </a:r>
            <a:r>
              <a:rPr lang="en-US" sz="1800" spc="4" dirty="0">
                <a:latin typeface="Times New Roman" panose="02020603050405020304" pitchFamily="18" charset="0"/>
                <a:cs typeface="Times New Roman" panose="02020603050405020304" pitchFamily="18" charset="0"/>
              </a:rPr>
              <a:t>p</a:t>
            </a:r>
            <a:r>
              <a:rPr lang="en-US" sz="1800" spc="-4" dirty="0">
                <a:latin typeface="Times New Roman" panose="02020603050405020304" pitchFamily="18" charset="0"/>
                <a:cs typeface="Times New Roman" panose="02020603050405020304" pitchFamily="18" charset="0"/>
              </a:rPr>
              <a:t>l</a:t>
            </a:r>
            <a:r>
              <a:rPr lang="en-US" sz="1800" dirty="0">
                <a:latin typeface="Times New Roman" panose="02020603050405020304" pitchFamily="18" charset="0"/>
                <a:cs typeface="Times New Roman" panose="02020603050405020304" pitchFamily="18" charset="0"/>
              </a:rPr>
              <a:t>e L</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a:t>
            </a:r>
            <a:r>
              <a:rPr lang="en-US" sz="1800" spc="4" dirty="0">
                <a:latin typeface="Times New Roman" panose="02020603050405020304" pitchFamily="18" charset="0"/>
                <a:cs typeface="Times New Roman" panose="02020603050405020304" pitchFamily="18" charset="0"/>
              </a:rPr>
              <a:t> w</a:t>
            </a:r>
            <a:r>
              <a:rPr lang="en-US" sz="1800" spc="-4" dirty="0">
                <a:latin typeface="Times New Roman" panose="02020603050405020304" pitchFamily="18" charset="0"/>
                <a:cs typeface="Times New Roman" panose="02020603050405020304" pitchFamily="18" charset="0"/>
              </a:rPr>
              <a:t>it</a:t>
            </a:r>
            <a:r>
              <a:rPr lang="en-US" sz="1800" dirty="0">
                <a:latin typeface="Times New Roman" panose="02020603050405020304" pitchFamily="18" charset="0"/>
                <a:cs typeface="Times New Roman" panose="02020603050405020304" pitchFamily="18" charset="0"/>
              </a:rPr>
              <a:t>h</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on</a:t>
            </a:r>
            <a:r>
              <a:rPr lang="en-US" sz="1800" dirty="0">
                <a:latin typeface="Times New Roman" panose="02020603050405020304" pitchFamily="18" charset="0"/>
                <a:cs typeface="Times New Roman" panose="02020603050405020304" pitchFamily="18" charset="0"/>
              </a:rPr>
              <a:t>e</a:t>
            </a:r>
            <a:r>
              <a:rPr lang="en-US" sz="1800"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spc="4" dirty="0">
                <a:latin typeface="Times New Roman" panose="02020603050405020304" pitchFamily="18" charset="0"/>
                <a:cs typeface="Times New Roman" panose="02020603050405020304" pitchFamily="18" charset="0"/>
              </a:rPr>
              <a:t>ok</a:t>
            </a:r>
            <a:r>
              <a:rPr lang="en-US" sz="1800" dirty="0">
                <a:latin typeface="Times New Roman" panose="02020603050405020304" pitchFamily="18" charset="0"/>
                <a:cs typeface="Times New Roman" panose="02020603050405020304" pitchFamily="18" charset="0"/>
              </a:rPr>
              <a:t>en</a:t>
            </a:r>
            <a:r>
              <a:rPr lang="en-US" sz="1800" spc="-25"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f</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ook</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ead</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CL</a:t>
            </a:r>
            <a:r>
              <a:rPr lang="en-IN" sz="1800" spc="-4"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(1</a:t>
            </a:r>
            <a:r>
              <a:rPr lang="en-IN" sz="1800" dirty="0">
                <a:latin typeface="Times New Roman" panose="02020603050405020304" pitchFamily="18" charset="0"/>
                <a:cs typeface="Times New Roman" panose="02020603050405020304" pitchFamily="18" charset="0"/>
              </a:rPr>
              <a:t>)-</a:t>
            </a:r>
            <a:r>
              <a:rPr lang="en-US" sz="1800" spc="-4" dirty="0">
                <a:latin typeface="Times New Roman" panose="02020603050405020304" pitchFamily="18" charset="0"/>
                <a:cs typeface="Times New Roman" panose="02020603050405020304" pitchFamily="18" charset="0"/>
              </a:rPr>
              <a:t> C</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non</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cal</a:t>
            </a:r>
            <a:r>
              <a:rPr lang="en-US" sz="1800" spc="-2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a:t>
            </a:r>
            <a:r>
              <a:rPr lang="en-US" sz="1800" spc="4" dirty="0">
                <a:latin typeface="Times New Roman" panose="02020603050405020304" pitchFamily="18" charset="0"/>
                <a:cs typeface="Times New Roman" panose="02020603050405020304" pitchFamily="18" charset="0"/>
              </a:rPr>
              <a:t> w</a:t>
            </a:r>
            <a:r>
              <a:rPr lang="en-US" sz="1800" spc="-4" dirty="0">
                <a:latin typeface="Times New Roman" panose="02020603050405020304" pitchFamily="18" charset="0"/>
                <a:cs typeface="Times New Roman" panose="02020603050405020304" pitchFamily="18" charset="0"/>
              </a:rPr>
              <a:t>it</a:t>
            </a:r>
            <a:r>
              <a:rPr lang="en-US" sz="1800" dirty="0">
                <a:latin typeface="Times New Roman" panose="02020603050405020304" pitchFamily="18" charset="0"/>
                <a:cs typeface="Times New Roman" panose="02020603050405020304" pitchFamily="18" charset="0"/>
              </a:rPr>
              <a:t>h </a:t>
            </a:r>
            <a:r>
              <a:rPr lang="en-US" sz="1800" spc="4" dirty="0">
                <a:latin typeface="Times New Roman" panose="02020603050405020304" pitchFamily="18" charset="0"/>
                <a:cs typeface="Times New Roman" panose="02020603050405020304" pitchFamily="18" charset="0"/>
              </a:rPr>
              <a:t>on</a:t>
            </a:r>
            <a:r>
              <a:rPr lang="en-US" sz="1800" dirty="0">
                <a:latin typeface="Times New Roman" panose="02020603050405020304" pitchFamily="18" charset="0"/>
                <a:cs typeface="Times New Roman" panose="02020603050405020304" pitchFamily="18" charset="0"/>
              </a:rPr>
              <a:t>e</a:t>
            </a:r>
            <a:r>
              <a:rPr lang="en-US" sz="1800" spc="-1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spc="4" dirty="0">
                <a:latin typeface="Times New Roman" panose="02020603050405020304" pitchFamily="18" charset="0"/>
                <a:cs typeface="Times New Roman" panose="02020603050405020304" pitchFamily="18" charset="0"/>
              </a:rPr>
              <a:t>ok</a:t>
            </a:r>
            <a:r>
              <a:rPr lang="en-US" sz="1800" dirty="0">
                <a:latin typeface="Times New Roman" panose="02020603050405020304" pitchFamily="18" charset="0"/>
                <a:cs typeface="Times New Roman" panose="02020603050405020304" pitchFamily="18" charset="0"/>
              </a:rPr>
              <a:t>en</a:t>
            </a:r>
            <a:r>
              <a:rPr lang="en-US" sz="1800" spc="-25"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f </a:t>
            </a:r>
            <a:r>
              <a:rPr lang="en-US" sz="1800" spc="-4"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ook</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ead</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R</a:t>
            </a:r>
            <a:r>
              <a:rPr lang="en-US" sz="1800" spc="4"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 :</a:t>
            </a:r>
            <a:r>
              <a:rPr lang="en-US" sz="1800" spc="-2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ook</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ead</a:t>
            </a:r>
            <a:r>
              <a:rPr lang="en-US" sz="1800" spc="-2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a:t>
            </a:r>
            <a:r>
              <a:rPr lang="en-US" sz="1800" spc="4" dirty="0">
                <a:latin typeface="Times New Roman" panose="02020603050405020304" pitchFamily="18" charset="0"/>
                <a:cs typeface="Times New Roman" panose="02020603050405020304" pitchFamily="18" charset="0"/>
              </a:rPr>
              <a:t> w</a:t>
            </a:r>
            <a:r>
              <a:rPr lang="en-US" sz="1800" spc="-4" dirty="0">
                <a:latin typeface="Times New Roman" panose="02020603050405020304" pitchFamily="18" charset="0"/>
                <a:cs typeface="Times New Roman" panose="02020603050405020304" pitchFamily="18" charset="0"/>
              </a:rPr>
              <a:t>it</a:t>
            </a:r>
            <a:r>
              <a:rPr lang="en-US" sz="1800" dirty="0">
                <a:latin typeface="Times New Roman" panose="02020603050405020304" pitchFamily="18" charset="0"/>
                <a:cs typeface="Times New Roman" panose="02020603050405020304" pitchFamily="18" charset="0"/>
              </a:rPr>
              <a:t>h</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on</a:t>
            </a:r>
            <a:r>
              <a:rPr lang="en-US" sz="1800" dirty="0">
                <a:latin typeface="Times New Roman" panose="02020603050405020304" pitchFamily="18" charset="0"/>
                <a:cs typeface="Times New Roman" panose="02020603050405020304" pitchFamily="18" charset="0"/>
              </a:rPr>
              <a:t>e</a:t>
            </a:r>
            <a:r>
              <a:rPr lang="en-US" sz="1800" spc="-1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spc="4" dirty="0">
                <a:latin typeface="Times New Roman" panose="02020603050405020304" pitchFamily="18" charset="0"/>
                <a:cs typeface="Times New Roman" panose="02020603050405020304" pitchFamily="18" charset="0"/>
              </a:rPr>
              <a:t>ok</a:t>
            </a:r>
            <a:r>
              <a:rPr lang="en-US" sz="1800" dirty="0">
                <a:latin typeface="Times New Roman" panose="02020603050405020304" pitchFamily="18" charset="0"/>
                <a:cs typeface="Times New Roman" panose="02020603050405020304" pitchFamily="18" charset="0"/>
              </a:rPr>
              <a:t>en</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f</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ook</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ead</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 </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he</a:t>
            </a:r>
            <a:r>
              <a:rPr lang="en-US" sz="1800" i="1" spc="-19"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a:t>
            </a:r>
            <a:r>
              <a:rPr lang="en-US" sz="1800" i="1" spc="-19"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echn</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a:t>
            </a:r>
            <a:r>
              <a:rPr lang="en-US" sz="1800" i="1" spc="-3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used</a:t>
            </a:r>
            <a:r>
              <a:rPr lang="en-US" sz="1800" i="1" spc="-9"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by pa</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ser</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gene</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070043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xEl>
                                              <p:pRg st="3" end="3"/>
                                            </p:txEl>
                                          </p:spTgt>
                                        </p:tgtEl>
                                        <p:attrNameLst>
                                          <p:attrName>style.visibility</p:attrName>
                                        </p:attrNameLst>
                                      </p:cBhvr>
                                      <p:to>
                                        <p:strVal val="visible"/>
                                      </p:to>
                                    </p:set>
                                    <p:animEffect transition="in" filter="wipe(down)">
                                      <p:cBhvr>
                                        <p:cTn id="12" dur="500"/>
                                        <p:tgtEl>
                                          <p:spTgt spid="1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xEl>
                                              <p:pRg st="6" end="6"/>
                                            </p:txEl>
                                          </p:spTgt>
                                        </p:tgtEl>
                                        <p:attrNameLst>
                                          <p:attrName>style.visibility</p:attrName>
                                        </p:attrNameLst>
                                      </p:cBhvr>
                                      <p:to>
                                        <p:strVal val="visible"/>
                                      </p:to>
                                    </p:set>
                                    <p:animEffect transition="in" filter="wipe(down)">
                                      <p:cBhvr>
                                        <p:cTn id="17" dur="500"/>
                                        <p:tgtEl>
                                          <p:spTgt spid="12">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xEl>
                                              <p:pRg st="9" end="9"/>
                                            </p:txEl>
                                          </p:spTgt>
                                        </p:tgtEl>
                                        <p:attrNameLst>
                                          <p:attrName>style.visibility</p:attrName>
                                        </p:attrNameLst>
                                      </p:cBhvr>
                                      <p:to>
                                        <p:strVal val="visible"/>
                                      </p:to>
                                    </p:set>
                                    <p:animEffect transition="in" filter="wipe(down)">
                                      <p:cBhvr>
                                        <p:cTn id="22" dur="500"/>
                                        <p:tgtEl>
                                          <p:spTgt spid="12">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xEl>
                                              <p:pRg st="12" end="12"/>
                                            </p:txEl>
                                          </p:spTgt>
                                        </p:tgtEl>
                                        <p:attrNameLst>
                                          <p:attrName>style.visibility</p:attrName>
                                        </p:attrNameLst>
                                      </p:cBhvr>
                                      <p:to>
                                        <p:strVal val="visible"/>
                                      </p:to>
                                    </p:set>
                                    <p:animEffect transition="in" filter="wipe(down)">
                                      <p:cBhvr>
                                        <p:cTn id="27" dur="500"/>
                                        <p:tgtEl>
                                          <p:spTgt spid="1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014968B-6310-4CF3-ADFB-39096360C55D}"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spc="-4" dirty="0">
                <a:solidFill>
                  <a:schemeClr val="tx1"/>
                </a:solidFill>
                <a:latin typeface="+mj-lt"/>
                <a:cs typeface="Arial"/>
              </a:rPr>
              <a:t>Structure of L</a:t>
            </a:r>
            <a:r>
              <a:rPr lang="en-IN" sz="2400" dirty="0">
                <a:solidFill>
                  <a:schemeClr val="tx1"/>
                </a:solidFill>
                <a:latin typeface="+mj-lt"/>
                <a:cs typeface="Arial"/>
              </a:rPr>
              <a:t>R P</a:t>
            </a:r>
            <a:r>
              <a:rPr lang="en-IN" sz="2400" spc="-4" dirty="0">
                <a:solidFill>
                  <a:schemeClr val="tx1"/>
                </a:solidFill>
                <a:latin typeface="+mj-lt"/>
                <a:cs typeface="Arial"/>
              </a:rPr>
              <a:t>a</a:t>
            </a:r>
            <a:r>
              <a:rPr lang="en-IN" sz="2400" dirty="0">
                <a:solidFill>
                  <a:schemeClr val="tx1"/>
                </a:solidFill>
                <a:latin typeface="+mj-lt"/>
                <a:cs typeface="Arial"/>
              </a:rPr>
              <a:t>r</a:t>
            </a:r>
            <a:r>
              <a:rPr lang="en-IN" sz="2400" spc="4" dirty="0">
                <a:solidFill>
                  <a:schemeClr val="tx1"/>
                </a:solidFill>
                <a:latin typeface="+mj-lt"/>
                <a:cs typeface="Arial"/>
              </a:rPr>
              <a:t>s</a:t>
            </a:r>
            <a:r>
              <a:rPr lang="en-IN" sz="2400" spc="-4" dirty="0">
                <a:solidFill>
                  <a:schemeClr val="tx1"/>
                </a:solidFill>
                <a:latin typeface="+mj-lt"/>
                <a:cs typeface="Arial"/>
              </a:rPr>
              <a:t>e</a:t>
            </a:r>
            <a:r>
              <a:rPr lang="en-IN" sz="2400" dirty="0">
                <a:solidFill>
                  <a:schemeClr val="tx1"/>
                </a:solidFill>
                <a:latin typeface="+mj-lt"/>
                <a:cs typeface="Arial"/>
              </a:rPr>
              <a:t>r</a:t>
            </a:r>
          </a:p>
        </p:txBody>
      </p:sp>
      <p:grpSp>
        <p:nvGrpSpPr>
          <p:cNvPr id="153" name="Group 152">
            <a:extLst>
              <a:ext uri="{FF2B5EF4-FFF2-40B4-BE49-F238E27FC236}">
                <a16:creationId xmlns:a16="http://schemas.microsoft.com/office/drawing/2014/main" id="{76A5048B-EE3D-4280-B9F5-8E359D29BB4E}"/>
              </a:ext>
            </a:extLst>
          </p:cNvPr>
          <p:cNvGrpSpPr/>
          <p:nvPr/>
        </p:nvGrpSpPr>
        <p:grpSpPr>
          <a:xfrm>
            <a:off x="1447800" y="1295400"/>
            <a:ext cx="5791200" cy="4343400"/>
            <a:chOff x="3124200" y="1692274"/>
            <a:chExt cx="2726579" cy="2727326"/>
          </a:xfrm>
        </p:grpSpPr>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6" name="object 30">
              <a:extLst>
                <a:ext uri="{FF2B5EF4-FFF2-40B4-BE49-F238E27FC236}">
                  <a16:creationId xmlns:a16="http://schemas.microsoft.com/office/drawing/2014/main" id="{C62329C7-BC3C-445C-9060-627D2BD3EB37}"/>
                </a:ext>
              </a:extLst>
            </p:cNvPr>
            <p:cNvSpPr/>
            <p:nvPr/>
          </p:nvSpPr>
          <p:spPr>
            <a:xfrm>
              <a:off x="3124200" y="2609849"/>
              <a:ext cx="1676400" cy="666750"/>
            </a:xfrm>
            <a:custGeom>
              <a:avLst/>
              <a:gdLst/>
              <a:ahLst/>
              <a:cxnLst/>
              <a:rect l="l" t="t" r="r" b="b"/>
              <a:pathLst>
                <a:path w="1676400" h="666750">
                  <a:moveTo>
                    <a:pt x="0" y="0"/>
                  </a:moveTo>
                  <a:lnTo>
                    <a:pt x="1676400" y="0"/>
                  </a:lnTo>
                  <a:lnTo>
                    <a:pt x="1676400" y="666750"/>
                  </a:lnTo>
                  <a:lnTo>
                    <a:pt x="0" y="666750"/>
                  </a:lnTo>
                  <a:lnTo>
                    <a:pt x="0" y="0"/>
                  </a:lnTo>
                  <a:close/>
                </a:path>
              </a:pathLst>
            </a:custGeom>
            <a:ln w="9525">
              <a:solidFill>
                <a:srgbClr val="000000"/>
              </a:solidFill>
            </a:ln>
          </p:spPr>
          <p:txBody>
            <a:bodyPr wrap="square" lIns="0" tIns="0" rIns="0" bIns="0" rtlCol="0">
              <a:noAutofit/>
            </a:bodyPr>
            <a:lstStyle/>
            <a:p>
              <a:endParaRPr/>
            </a:p>
          </p:txBody>
        </p:sp>
        <p:sp>
          <p:nvSpPr>
            <p:cNvPr id="78" name="object 31">
              <a:extLst>
                <a:ext uri="{FF2B5EF4-FFF2-40B4-BE49-F238E27FC236}">
                  <a16:creationId xmlns:a16="http://schemas.microsoft.com/office/drawing/2014/main" id="{E5E670DB-366E-41FB-BD79-5DCF0270778E}"/>
                </a:ext>
              </a:extLst>
            </p:cNvPr>
            <p:cNvSpPr/>
            <p:nvPr/>
          </p:nvSpPr>
          <p:spPr>
            <a:xfrm>
              <a:off x="3124200" y="3524249"/>
              <a:ext cx="1676400" cy="895350"/>
            </a:xfrm>
            <a:custGeom>
              <a:avLst/>
              <a:gdLst/>
              <a:ahLst/>
              <a:cxnLst/>
              <a:rect l="l" t="t" r="r" b="b"/>
              <a:pathLst>
                <a:path w="1676400" h="895350">
                  <a:moveTo>
                    <a:pt x="0" y="0"/>
                  </a:moveTo>
                  <a:lnTo>
                    <a:pt x="1676400" y="0"/>
                  </a:lnTo>
                  <a:lnTo>
                    <a:pt x="1676400" y="895350"/>
                  </a:lnTo>
                  <a:lnTo>
                    <a:pt x="0" y="895350"/>
                  </a:lnTo>
                  <a:lnTo>
                    <a:pt x="0" y="0"/>
                  </a:lnTo>
                  <a:close/>
                </a:path>
              </a:pathLst>
            </a:custGeom>
            <a:ln w="9525">
              <a:solidFill>
                <a:srgbClr val="000000"/>
              </a:solidFill>
            </a:ln>
          </p:spPr>
          <p:txBody>
            <a:bodyPr wrap="square" lIns="0" tIns="0" rIns="0" bIns="0" rtlCol="0">
              <a:noAutofit/>
            </a:bodyPr>
            <a:lstStyle/>
            <a:p>
              <a:endParaRPr/>
            </a:p>
          </p:txBody>
        </p:sp>
        <p:sp>
          <p:nvSpPr>
            <p:cNvPr id="80" name="object 32">
              <a:extLst>
                <a:ext uri="{FF2B5EF4-FFF2-40B4-BE49-F238E27FC236}">
                  <a16:creationId xmlns:a16="http://schemas.microsoft.com/office/drawing/2014/main" id="{CAC57E11-C8B3-4BC3-8589-660E4B64FC19}"/>
                </a:ext>
              </a:extLst>
            </p:cNvPr>
            <p:cNvSpPr/>
            <p:nvPr/>
          </p:nvSpPr>
          <p:spPr>
            <a:xfrm>
              <a:off x="3962400" y="3340099"/>
              <a:ext cx="0" cy="184150"/>
            </a:xfrm>
            <a:custGeom>
              <a:avLst/>
              <a:gdLst/>
              <a:ahLst/>
              <a:cxnLst/>
              <a:rect l="l" t="t" r="r" b="b"/>
              <a:pathLst>
                <a:path h="184150">
                  <a:moveTo>
                    <a:pt x="0" y="184150"/>
                  </a:moveTo>
                  <a:lnTo>
                    <a:pt x="0" y="0"/>
                  </a:lnTo>
                </a:path>
              </a:pathLst>
            </a:custGeom>
            <a:ln w="12700">
              <a:solidFill>
                <a:srgbClr val="000000"/>
              </a:solidFill>
            </a:ln>
          </p:spPr>
          <p:txBody>
            <a:bodyPr wrap="square" lIns="0" tIns="0" rIns="0" bIns="0" rtlCol="0">
              <a:noAutofit/>
            </a:bodyPr>
            <a:lstStyle/>
            <a:p>
              <a:endParaRPr/>
            </a:p>
          </p:txBody>
        </p:sp>
        <p:sp>
          <p:nvSpPr>
            <p:cNvPr id="82" name="object 33">
              <a:extLst>
                <a:ext uri="{FF2B5EF4-FFF2-40B4-BE49-F238E27FC236}">
                  <a16:creationId xmlns:a16="http://schemas.microsoft.com/office/drawing/2014/main" id="{F496C763-F0A7-4F17-913E-FBD9275B619C}"/>
                </a:ext>
              </a:extLst>
            </p:cNvPr>
            <p:cNvSpPr/>
            <p:nvPr/>
          </p:nvSpPr>
          <p:spPr>
            <a:xfrm>
              <a:off x="3924306" y="3276602"/>
              <a:ext cx="76200" cy="76200"/>
            </a:xfrm>
            <a:custGeom>
              <a:avLst/>
              <a:gdLst/>
              <a:ahLst/>
              <a:cxnLst/>
              <a:rect l="l" t="t" r="r" b="b"/>
              <a:pathLst>
                <a:path w="76200" h="76200">
                  <a:moveTo>
                    <a:pt x="0" y="76200"/>
                  </a:moveTo>
                  <a:lnTo>
                    <a:pt x="76200" y="76187"/>
                  </a:lnTo>
                  <a:lnTo>
                    <a:pt x="38087" y="0"/>
                  </a:lnTo>
                  <a:lnTo>
                    <a:pt x="0" y="76200"/>
                  </a:lnTo>
                  <a:close/>
                </a:path>
              </a:pathLst>
            </a:custGeom>
            <a:solidFill>
              <a:srgbClr val="000000"/>
            </a:solidFill>
          </p:spPr>
          <p:txBody>
            <a:bodyPr wrap="square" lIns="0" tIns="0" rIns="0" bIns="0" rtlCol="0">
              <a:noAutofit/>
            </a:bodyPr>
            <a:lstStyle/>
            <a:p>
              <a:endParaRPr/>
            </a:p>
          </p:txBody>
        </p:sp>
        <p:sp>
          <p:nvSpPr>
            <p:cNvPr id="84" name="object 34">
              <a:extLst>
                <a:ext uri="{FF2B5EF4-FFF2-40B4-BE49-F238E27FC236}">
                  <a16:creationId xmlns:a16="http://schemas.microsoft.com/office/drawing/2014/main" id="{83C60A19-39E6-4F1A-9ACC-5D95A7A0D4C1}"/>
                </a:ext>
              </a:extLst>
            </p:cNvPr>
            <p:cNvSpPr/>
            <p:nvPr/>
          </p:nvSpPr>
          <p:spPr>
            <a:xfrm>
              <a:off x="4800600" y="2743199"/>
              <a:ext cx="317500" cy="0"/>
            </a:xfrm>
            <a:custGeom>
              <a:avLst/>
              <a:gdLst/>
              <a:ahLst/>
              <a:cxnLst/>
              <a:rect l="l" t="t" r="r" b="b"/>
              <a:pathLst>
                <a:path w="317500">
                  <a:moveTo>
                    <a:pt x="0" y="0"/>
                  </a:moveTo>
                  <a:lnTo>
                    <a:pt x="317500" y="0"/>
                  </a:lnTo>
                </a:path>
              </a:pathLst>
            </a:custGeom>
            <a:ln w="12700">
              <a:solidFill>
                <a:srgbClr val="000000"/>
              </a:solidFill>
            </a:ln>
          </p:spPr>
          <p:txBody>
            <a:bodyPr wrap="square" lIns="0" tIns="0" rIns="0" bIns="0" rtlCol="0">
              <a:noAutofit/>
            </a:bodyPr>
            <a:lstStyle/>
            <a:p>
              <a:endParaRPr/>
            </a:p>
          </p:txBody>
        </p:sp>
        <p:sp>
          <p:nvSpPr>
            <p:cNvPr id="86" name="object 35">
              <a:extLst>
                <a:ext uri="{FF2B5EF4-FFF2-40B4-BE49-F238E27FC236}">
                  <a16:creationId xmlns:a16="http://schemas.microsoft.com/office/drawing/2014/main" id="{B95DAB94-5350-4D71-B2DA-6FBCCF62264B}"/>
                </a:ext>
              </a:extLst>
            </p:cNvPr>
            <p:cNvSpPr/>
            <p:nvPr/>
          </p:nvSpPr>
          <p:spPr>
            <a:xfrm>
              <a:off x="5105402" y="2705095"/>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noAutofit/>
            </a:bodyPr>
            <a:lstStyle/>
            <a:p>
              <a:endParaRPr/>
            </a:p>
          </p:txBody>
        </p:sp>
        <p:sp>
          <p:nvSpPr>
            <p:cNvPr id="88" name="object 36">
              <a:extLst>
                <a:ext uri="{FF2B5EF4-FFF2-40B4-BE49-F238E27FC236}">
                  <a16:creationId xmlns:a16="http://schemas.microsoft.com/office/drawing/2014/main" id="{7B66FC7C-BE5B-4417-BDBD-6664123EBD70}"/>
                </a:ext>
              </a:extLst>
            </p:cNvPr>
            <p:cNvSpPr/>
            <p:nvPr/>
          </p:nvSpPr>
          <p:spPr>
            <a:xfrm>
              <a:off x="4864100" y="3063874"/>
              <a:ext cx="254000" cy="0"/>
            </a:xfrm>
            <a:custGeom>
              <a:avLst/>
              <a:gdLst/>
              <a:ahLst/>
              <a:cxnLst/>
              <a:rect l="l" t="t" r="r" b="b"/>
              <a:pathLst>
                <a:path w="254000">
                  <a:moveTo>
                    <a:pt x="0" y="0"/>
                  </a:moveTo>
                  <a:lnTo>
                    <a:pt x="254000" y="0"/>
                  </a:lnTo>
                </a:path>
              </a:pathLst>
            </a:custGeom>
            <a:ln w="12700">
              <a:solidFill>
                <a:srgbClr val="000000"/>
              </a:solidFill>
            </a:ln>
          </p:spPr>
          <p:txBody>
            <a:bodyPr wrap="square" lIns="0" tIns="0" rIns="0" bIns="0" rtlCol="0">
              <a:noAutofit/>
            </a:bodyPr>
            <a:lstStyle/>
            <a:p>
              <a:endParaRPr/>
            </a:p>
          </p:txBody>
        </p:sp>
        <p:sp>
          <p:nvSpPr>
            <p:cNvPr id="90" name="object 37">
              <a:extLst>
                <a:ext uri="{FF2B5EF4-FFF2-40B4-BE49-F238E27FC236}">
                  <a16:creationId xmlns:a16="http://schemas.microsoft.com/office/drawing/2014/main" id="{9C61B901-910B-4C37-9F9A-AC1E92DA2341}"/>
                </a:ext>
              </a:extLst>
            </p:cNvPr>
            <p:cNvSpPr/>
            <p:nvPr/>
          </p:nvSpPr>
          <p:spPr>
            <a:xfrm>
              <a:off x="5105402" y="302577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noAutofit/>
            </a:bodyPr>
            <a:lstStyle/>
            <a:p>
              <a:endParaRPr/>
            </a:p>
          </p:txBody>
        </p:sp>
        <p:sp>
          <p:nvSpPr>
            <p:cNvPr id="92" name="object 38">
              <a:extLst>
                <a:ext uri="{FF2B5EF4-FFF2-40B4-BE49-F238E27FC236}">
                  <a16:creationId xmlns:a16="http://schemas.microsoft.com/office/drawing/2014/main" id="{116BC183-A7F0-4FCC-BE37-086643E24EFC}"/>
                </a:ext>
              </a:extLst>
            </p:cNvPr>
            <p:cNvSpPr/>
            <p:nvPr/>
          </p:nvSpPr>
          <p:spPr>
            <a:xfrm>
              <a:off x="4800602" y="3025770"/>
              <a:ext cx="76200" cy="76200"/>
            </a:xfrm>
            <a:custGeom>
              <a:avLst/>
              <a:gdLst/>
              <a:ahLst/>
              <a:cxnLst/>
              <a:rect l="l" t="t" r="r" b="b"/>
              <a:pathLst>
                <a:path w="76200" h="76200">
                  <a:moveTo>
                    <a:pt x="76200" y="76200"/>
                  </a:moveTo>
                  <a:lnTo>
                    <a:pt x="76200" y="0"/>
                  </a:lnTo>
                  <a:lnTo>
                    <a:pt x="0" y="38100"/>
                  </a:lnTo>
                  <a:lnTo>
                    <a:pt x="76200" y="76200"/>
                  </a:lnTo>
                  <a:close/>
                </a:path>
              </a:pathLst>
            </a:custGeom>
            <a:solidFill>
              <a:srgbClr val="000000"/>
            </a:solidFill>
          </p:spPr>
          <p:txBody>
            <a:bodyPr wrap="square" lIns="0" tIns="0" rIns="0" bIns="0" rtlCol="0">
              <a:noAutofit/>
            </a:bodyPr>
            <a:lstStyle/>
            <a:p>
              <a:endParaRPr/>
            </a:p>
          </p:txBody>
        </p:sp>
        <p:sp>
          <p:nvSpPr>
            <p:cNvPr id="94" name="object 39">
              <a:extLst>
                <a:ext uri="{FF2B5EF4-FFF2-40B4-BE49-F238E27FC236}">
                  <a16:creationId xmlns:a16="http://schemas.microsoft.com/office/drawing/2014/main" id="{F303C2F8-F0FF-4DC8-8280-B62B23034628}"/>
                </a:ext>
              </a:extLst>
            </p:cNvPr>
            <p:cNvSpPr/>
            <p:nvPr/>
          </p:nvSpPr>
          <p:spPr>
            <a:xfrm>
              <a:off x="3124200" y="1692274"/>
              <a:ext cx="1676400" cy="609600"/>
            </a:xfrm>
            <a:custGeom>
              <a:avLst/>
              <a:gdLst/>
              <a:ahLst/>
              <a:cxnLst/>
              <a:rect l="l" t="t" r="r" b="b"/>
              <a:pathLst>
                <a:path w="1676400" h="609600">
                  <a:moveTo>
                    <a:pt x="0" y="0"/>
                  </a:moveTo>
                  <a:lnTo>
                    <a:pt x="1676400" y="0"/>
                  </a:lnTo>
                  <a:lnTo>
                    <a:pt x="1676400" y="609600"/>
                  </a:lnTo>
                  <a:lnTo>
                    <a:pt x="0" y="609600"/>
                  </a:lnTo>
                  <a:lnTo>
                    <a:pt x="0" y="0"/>
                  </a:lnTo>
                  <a:close/>
                </a:path>
              </a:pathLst>
            </a:custGeom>
            <a:ln w="9525">
              <a:solidFill>
                <a:srgbClr val="000000"/>
              </a:solidFill>
            </a:ln>
          </p:spPr>
          <p:txBody>
            <a:bodyPr wrap="square" lIns="0" tIns="0" rIns="0" bIns="0" rtlCol="0">
              <a:noAutofit/>
            </a:bodyPr>
            <a:lstStyle/>
            <a:p>
              <a:endParaRPr/>
            </a:p>
          </p:txBody>
        </p:sp>
        <p:sp>
          <p:nvSpPr>
            <p:cNvPr id="96" name="object 40">
              <a:extLst>
                <a:ext uri="{FF2B5EF4-FFF2-40B4-BE49-F238E27FC236}">
                  <a16:creationId xmlns:a16="http://schemas.microsoft.com/office/drawing/2014/main" id="{D053A99A-CB5B-4C21-AC44-4002DB52C8EA}"/>
                </a:ext>
              </a:extLst>
            </p:cNvPr>
            <p:cNvSpPr/>
            <p:nvPr/>
          </p:nvSpPr>
          <p:spPr>
            <a:xfrm>
              <a:off x="3962400" y="2301874"/>
              <a:ext cx="0" cy="241300"/>
            </a:xfrm>
            <a:custGeom>
              <a:avLst/>
              <a:gdLst/>
              <a:ahLst/>
              <a:cxnLst/>
              <a:rect l="l" t="t" r="r" b="b"/>
              <a:pathLst>
                <a:path h="241300">
                  <a:moveTo>
                    <a:pt x="0" y="0"/>
                  </a:moveTo>
                  <a:lnTo>
                    <a:pt x="0" y="241300"/>
                  </a:lnTo>
                </a:path>
              </a:pathLst>
            </a:custGeom>
            <a:ln w="12700">
              <a:solidFill>
                <a:srgbClr val="000000"/>
              </a:solidFill>
            </a:ln>
          </p:spPr>
          <p:txBody>
            <a:bodyPr wrap="square" lIns="0" tIns="0" rIns="0" bIns="0" rtlCol="0">
              <a:noAutofit/>
            </a:bodyPr>
            <a:lstStyle/>
            <a:p>
              <a:endParaRPr/>
            </a:p>
          </p:txBody>
        </p:sp>
        <p:sp>
          <p:nvSpPr>
            <p:cNvPr id="98" name="object 41">
              <a:extLst>
                <a:ext uri="{FF2B5EF4-FFF2-40B4-BE49-F238E27FC236}">
                  <a16:creationId xmlns:a16="http://schemas.microsoft.com/office/drawing/2014/main" id="{BB4C6091-1520-4C48-B34F-9C77F6F9F1F2}"/>
                </a:ext>
              </a:extLst>
            </p:cNvPr>
            <p:cNvSpPr/>
            <p:nvPr/>
          </p:nvSpPr>
          <p:spPr>
            <a:xfrm>
              <a:off x="3924300" y="2530474"/>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noAutofit/>
            </a:bodyPr>
            <a:lstStyle/>
            <a:p>
              <a:endParaRPr/>
            </a:p>
          </p:txBody>
        </p:sp>
        <p:sp>
          <p:nvSpPr>
            <p:cNvPr id="100" name="object 42">
              <a:extLst>
                <a:ext uri="{FF2B5EF4-FFF2-40B4-BE49-F238E27FC236}">
                  <a16:creationId xmlns:a16="http://schemas.microsoft.com/office/drawing/2014/main" id="{32DE1B5D-916D-4E1E-BDCB-69C3EB949E6D}"/>
                </a:ext>
              </a:extLst>
            </p:cNvPr>
            <p:cNvSpPr/>
            <p:nvPr/>
          </p:nvSpPr>
          <p:spPr>
            <a:xfrm>
              <a:off x="3124200" y="3962399"/>
              <a:ext cx="1676400" cy="0"/>
            </a:xfrm>
            <a:custGeom>
              <a:avLst/>
              <a:gdLst/>
              <a:ahLst/>
              <a:cxnLst/>
              <a:rect l="l" t="t" r="r" b="b"/>
              <a:pathLst>
                <a:path w="1676400">
                  <a:moveTo>
                    <a:pt x="0" y="0"/>
                  </a:moveTo>
                  <a:lnTo>
                    <a:pt x="1676400" y="0"/>
                  </a:lnTo>
                </a:path>
              </a:pathLst>
            </a:custGeom>
            <a:ln w="9525">
              <a:solidFill>
                <a:srgbClr val="000000"/>
              </a:solidFill>
            </a:ln>
          </p:spPr>
          <p:txBody>
            <a:bodyPr wrap="square" lIns="0" tIns="0" rIns="0" bIns="0" rtlCol="0">
              <a:noAutofit/>
            </a:bodyPr>
            <a:lstStyle/>
            <a:p>
              <a:endParaRPr/>
            </a:p>
          </p:txBody>
        </p:sp>
        <p:sp>
          <p:nvSpPr>
            <p:cNvPr id="102" name="object 43">
              <a:extLst>
                <a:ext uri="{FF2B5EF4-FFF2-40B4-BE49-F238E27FC236}">
                  <a16:creationId xmlns:a16="http://schemas.microsoft.com/office/drawing/2014/main" id="{F619EB95-5A12-434A-8B24-3A3B4782C8C3}"/>
                </a:ext>
              </a:extLst>
            </p:cNvPr>
            <p:cNvSpPr/>
            <p:nvPr/>
          </p:nvSpPr>
          <p:spPr>
            <a:xfrm>
              <a:off x="3962400" y="3962399"/>
              <a:ext cx="0" cy="457200"/>
            </a:xfrm>
            <a:custGeom>
              <a:avLst/>
              <a:gdLst/>
              <a:ahLst/>
              <a:cxnLst/>
              <a:rect l="l" t="t" r="r" b="b"/>
              <a:pathLst>
                <a:path h="457200">
                  <a:moveTo>
                    <a:pt x="0" y="0"/>
                  </a:moveTo>
                  <a:lnTo>
                    <a:pt x="0" y="457200"/>
                  </a:lnTo>
                </a:path>
              </a:pathLst>
            </a:custGeom>
            <a:ln w="9525">
              <a:solidFill>
                <a:srgbClr val="000000"/>
              </a:solidFill>
            </a:ln>
          </p:spPr>
          <p:txBody>
            <a:bodyPr wrap="square" lIns="0" tIns="0" rIns="0" bIns="0" rtlCol="0">
              <a:noAutofit/>
            </a:bodyPr>
            <a:lstStyle/>
            <a:p>
              <a:endParaRPr/>
            </a:p>
          </p:txBody>
        </p:sp>
        <p:sp>
          <p:nvSpPr>
            <p:cNvPr id="104" name="object 44">
              <a:extLst>
                <a:ext uri="{FF2B5EF4-FFF2-40B4-BE49-F238E27FC236}">
                  <a16:creationId xmlns:a16="http://schemas.microsoft.com/office/drawing/2014/main" id="{D71884D9-0803-4CEF-99C9-3C8431B8C7A9}"/>
                </a:ext>
              </a:extLst>
            </p:cNvPr>
            <p:cNvSpPr/>
            <p:nvPr/>
          </p:nvSpPr>
          <p:spPr>
            <a:xfrm>
              <a:off x="5181600" y="2911475"/>
              <a:ext cx="304800" cy="1508125"/>
            </a:xfrm>
            <a:custGeom>
              <a:avLst/>
              <a:gdLst/>
              <a:ahLst/>
              <a:cxnLst/>
              <a:rect l="l" t="t" r="r" b="b"/>
              <a:pathLst>
                <a:path w="304800" h="1508125">
                  <a:moveTo>
                    <a:pt x="0" y="0"/>
                  </a:moveTo>
                  <a:lnTo>
                    <a:pt x="304800" y="0"/>
                  </a:lnTo>
                  <a:lnTo>
                    <a:pt x="304800" y="1508125"/>
                  </a:lnTo>
                  <a:lnTo>
                    <a:pt x="0" y="1508125"/>
                  </a:lnTo>
                  <a:lnTo>
                    <a:pt x="0" y="0"/>
                  </a:lnTo>
                  <a:close/>
                </a:path>
              </a:pathLst>
            </a:custGeom>
            <a:ln w="9525">
              <a:solidFill>
                <a:srgbClr val="000000"/>
              </a:solidFill>
            </a:ln>
          </p:spPr>
          <p:txBody>
            <a:bodyPr wrap="square" lIns="0" tIns="0" rIns="0" bIns="0" rtlCol="0">
              <a:noAutofit/>
            </a:bodyPr>
            <a:lstStyle/>
            <a:p>
              <a:endParaRPr/>
            </a:p>
          </p:txBody>
        </p:sp>
        <p:sp>
          <p:nvSpPr>
            <p:cNvPr id="106" name="object 45">
              <a:extLst>
                <a:ext uri="{FF2B5EF4-FFF2-40B4-BE49-F238E27FC236}">
                  <a16:creationId xmlns:a16="http://schemas.microsoft.com/office/drawing/2014/main" id="{42180C05-15C1-4617-9AF2-98B469BF206B}"/>
                </a:ext>
              </a:extLst>
            </p:cNvPr>
            <p:cNvSpPr/>
            <p:nvPr/>
          </p:nvSpPr>
          <p:spPr>
            <a:xfrm>
              <a:off x="5181600" y="3505199"/>
              <a:ext cx="304800" cy="0"/>
            </a:xfrm>
            <a:custGeom>
              <a:avLst/>
              <a:gdLst/>
              <a:ahLst/>
              <a:cxnLst/>
              <a:rect l="l" t="t" r="r" b="b"/>
              <a:pathLst>
                <a:path w="304800">
                  <a:moveTo>
                    <a:pt x="0" y="0"/>
                  </a:moveTo>
                  <a:lnTo>
                    <a:pt x="304800" y="0"/>
                  </a:lnTo>
                </a:path>
              </a:pathLst>
            </a:custGeom>
            <a:ln w="9525">
              <a:solidFill>
                <a:srgbClr val="000000"/>
              </a:solidFill>
            </a:ln>
          </p:spPr>
          <p:txBody>
            <a:bodyPr wrap="square" lIns="0" tIns="0" rIns="0" bIns="0" rtlCol="0">
              <a:noAutofit/>
            </a:bodyPr>
            <a:lstStyle/>
            <a:p>
              <a:endParaRPr/>
            </a:p>
          </p:txBody>
        </p:sp>
        <p:sp>
          <p:nvSpPr>
            <p:cNvPr id="108" name="object 46">
              <a:extLst>
                <a:ext uri="{FF2B5EF4-FFF2-40B4-BE49-F238E27FC236}">
                  <a16:creationId xmlns:a16="http://schemas.microsoft.com/office/drawing/2014/main" id="{6FE1A6A4-D3C0-458E-8BB5-026703312AB4}"/>
                </a:ext>
              </a:extLst>
            </p:cNvPr>
            <p:cNvSpPr/>
            <p:nvPr/>
          </p:nvSpPr>
          <p:spPr>
            <a:xfrm>
              <a:off x="5181600" y="3809999"/>
              <a:ext cx="304800" cy="0"/>
            </a:xfrm>
            <a:custGeom>
              <a:avLst/>
              <a:gdLst/>
              <a:ahLst/>
              <a:cxnLst/>
              <a:rect l="l" t="t" r="r" b="b"/>
              <a:pathLst>
                <a:path w="304800">
                  <a:moveTo>
                    <a:pt x="0" y="0"/>
                  </a:moveTo>
                  <a:lnTo>
                    <a:pt x="304800" y="0"/>
                  </a:lnTo>
                </a:path>
              </a:pathLst>
            </a:custGeom>
            <a:ln w="9525">
              <a:solidFill>
                <a:srgbClr val="000000"/>
              </a:solidFill>
            </a:ln>
          </p:spPr>
          <p:txBody>
            <a:bodyPr wrap="square" lIns="0" tIns="0" rIns="0" bIns="0" rtlCol="0">
              <a:noAutofit/>
            </a:bodyPr>
            <a:lstStyle/>
            <a:p>
              <a:endParaRPr/>
            </a:p>
          </p:txBody>
        </p:sp>
        <p:sp>
          <p:nvSpPr>
            <p:cNvPr id="110" name="object 47">
              <a:extLst>
                <a:ext uri="{FF2B5EF4-FFF2-40B4-BE49-F238E27FC236}">
                  <a16:creationId xmlns:a16="http://schemas.microsoft.com/office/drawing/2014/main" id="{A2085E63-E2B8-474A-9B70-99FA1F7E08CB}"/>
                </a:ext>
              </a:extLst>
            </p:cNvPr>
            <p:cNvSpPr/>
            <p:nvPr/>
          </p:nvSpPr>
          <p:spPr>
            <a:xfrm>
              <a:off x="5181600" y="4114799"/>
              <a:ext cx="304800" cy="0"/>
            </a:xfrm>
            <a:custGeom>
              <a:avLst/>
              <a:gdLst/>
              <a:ahLst/>
              <a:cxnLst/>
              <a:rect l="l" t="t" r="r" b="b"/>
              <a:pathLst>
                <a:path w="304800">
                  <a:moveTo>
                    <a:pt x="0" y="0"/>
                  </a:moveTo>
                  <a:lnTo>
                    <a:pt x="304800" y="0"/>
                  </a:lnTo>
                </a:path>
              </a:pathLst>
            </a:custGeom>
            <a:ln w="9525">
              <a:solidFill>
                <a:srgbClr val="000000"/>
              </a:solidFill>
            </a:ln>
          </p:spPr>
          <p:txBody>
            <a:bodyPr wrap="square" lIns="0" tIns="0" rIns="0" bIns="0" rtlCol="0">
              <a:noAutofit/>
            </a:bodyPr>
            <a:lstStyle/>
            <a:p>
              <a:endParaRPr/>
            </a:p>
          </p:txBody>
        </p:sp>
        <p:sp>
          <p:nvSpPr>
            <p:cNvPr id="112" name="object 48">
              <a:extLst>
                <a:ext uri="{FF2B5EF4-FFF2-40B4-BE49-F238E27FC236}">
                  <a16:creationId xmlns:a16="http://schemas.microsoft.com/office/drawing/2014/main" id="{FE65A180-EFBC-4BF0-BF54-F30380D8C6B5}"/>
                </a:ext>
              </a:extLst>
            </p:cNvPr>
            <p:cNvSpPr/>
            <p:nvPr/>
          </p:nvSpPr>
          <p:spPr>
            <a:xfrm>
              <a:off x="5181600" y="3216274"/>
              <a:ext cx="304800" cy="0"/>
            </a:xfrm>
            <a:custGeom>
              <a:avLst/>
              <a:gdLst/>
              <a:ahLst/>
              <a:cxnLst/>
              <a:rect l="l" t="t" r="r" b="b"/>
              <a:pathLst>
                <a:path w="304800">
                  <a:moveTo>
                    <a:pt x="0" y="0"/>
                  </a:moveTo>
                  <a:lnTo>
                    <a:pt x="304800" y="0"/>
                  </a:lnTo>
                </a:path>
              </a:pathLst>
            </a:custGeom>
            <a:ln w="9525">
              <a:solidFill>
                <a:srgbClr val="000000"/>
              </a:solidFill>
            </a:ln>
          </p:spPr>
          <p:txBody>
            <a:bodyPr wrap="square" lIns="0" tIns="0" rIns="0" bIns="0" rtlCol="0">
              <a:noAutofit/>
            </a:bodyPr>
            <a:lstStyle/>
            <a:p>
              <a:endParaRPr/>
            </a:p>
          </p:txBody>
        </p:sp>
        <p:sp>
          <p:nvSpPr>
            <p:cNvPr id="114" name="object 27">
              <a:extLst>
                <a:ext uri="{FF2B5EF4-FFF2-40B4-BE49-F238E27FC236}">
                  <a16:creationId xmlns:a16="http://schemas.microsoft.com/office/drawing/2014/main" id="{4E9C0BB4-866D-4F2E-9FB8-3D832D45FD6E}"/>
                </a:ext>
              </a:extLst>
            </p:cNvPr>
            <p:cNvSpPr txBox="1"/>
            <p:nvPr/>
          </p:nvSpPr>
          <p:spPr>
            <a:xfrm>
              <a:off x="4106989" y="2336639"/>
              <a:ext cx="884327" cy="228092"/>
            </a:xfrm>
            <a:prstGeom prst="rect">
              <a:avLst/>
            </a:prstGeom>
          </p:spPr>
          <p:txBody>
            <a:bodyPr wrap="square" lIns="0" tIns="0" rIns="0" bIns="0" rtlCol="0">
              <a:noAutofit/>
            </a:bodyPr>
            <a:lstStyle/>
            <a:p>
              <a:pPr marL="12700">
                <a:lnSpc>
                  <a:spcPts val="1730"/>
                </a:lnSpc>
                <a:spcBef>
                  <a:spcPts val="86"/>
                </a:spcBef>
              </a:pPr>
              <a:r>
                <a:rPr sz="1600" i="1" spc="4" dirty="0">
                  <a:latin typeface="Times New Roman"/>
                  <a:cs typeface="Times New Roman"/>
                </a:rPr>
                <a:t>n</a:t>
              </a:r>
              <a:r>
                <a:rPr sz="1600" i="1" dirty="0">
                  <a:latin typeface="Times New Roman"/>
                  <a:cs typeface="Times New Roman"/>
                </a:rPr>
                <a:t>ext</a:t>
              </a:r>
              <a:r>
                <a:rPr sz="1600" i="1" spc="-12" dirty="0">
                  <a:latin typeface="Times New Roman"/>
                  <a:cs typeface="Times New Roman"/>
                </a:rPr>
                <a:t> </a:t>
              </a:r>
              <a:r>
                <a:rPr sz="1600" i="1" dirty="0">
                  <a:latin typeface="Times New Roman"/>
                  <a:cs typeface="Times New Roman"/>
                </a:rPr>
                <a:t>t</a:t>
              </a:r>
              <a:r>
                <a:rPr sz="1600" i="1" spc="4" dirty="0">
                  <a:latin typeface="Times New Roman"/>
                  <a:cs typeface="Times New Roman"/>
                </a:rPr>
                <a:t>o</a:t>
              </a:r>
              <a:r>
                <a:rPr sz="1600" i="1" dirty="0">
                  <a:latin typeface="Times New Roman"/>
                  <a:cs typeface="Times New Roman"/>
                </a:rPr>
                <a:t>ken</a:t>
              </a:r>
              <a:endParaRPr sz="1600">
                <a:latin typeface="Times New Roman"/>
                <a:cs typeface="Times New Roman"/>
              </a:endParaRPr>
            </a:p>
          </p:txBody>
        </p:sp>
        <p:sp>
          <p:nvSpPr>
            <p:cNvPr id="116" name="object 26">
              <a:extLst>
                <a:ext uri="{FF2B5EF4-FFF2-40B4-BE49-F238E27FC236}">
                  <a16:creationId xmlns:a16="http://schemas.microsoft.com/office/drawing/2014/main" id="{573613D8-D6FA-41F8-A0B9-872BE4ED9B3D}"/>
                </a:ext>
              </a:extLst>
            </p:cNvPr>
            <p:cNvSpPr txBox="1"/>
            <p:nvPr/>
          </p:nvSpPr>
          <p:spPr>
            <a:xfrm>
              <a:off x="5228654" y="2625564"/>
              <a:ext cx="622125" cy="228092"/>
            </a:xfrm>
            <a:prstGeom prst="rect">
              <a:avLst/>
            </a:prstGeom>
          </p:spPr>
          <p:txBody>
            <a:bodyPr wrap="square" lIns="0" tIns="0" rIns="0" bIns="0" rtlCol="0">
              <a:noAutofit/>
            </a:bodyPr>
            <a:lstStyle/>
            <a:p>
              <a:pPr marL="12700">
                <a:lnSpc>
                  <a:spcPts val="1730"/>
                </a:lnSpc>
                <a:spcBef>
                  <a:spcPts val="86"/>
                </a:spcBef>
              </a:pPr>
              <a:r>
                <a:rPr sz="1600" i="1" dirty="0">
                  <a:latin typeface="Times New Roman"/>
                  <a:cs typeface="Times New Roman"/>
                </a:rPr>
                <a:t>O</a:t>
              </a:r>
              <a:r>
                <a:rPr sz="1600" i="1" spc="4" dirty="0">
                  <a:latin typeface="Times New Roman"/>
                  <a:cs typeface="Times New Roman"/>
                </a:rPr>
                <a:t>u</a:t>
              </a:r>
              <a:r>
                <a:rPr sz="1600" i="1" dirty="0">
                  <a:latin typeface="Times New Roman"/>
                  <a:cs typeface="Times New Roman"/>
                </a:rPr>
                <a:t>t</a:t>
              </a:r>
              <a:r>
                <a:rPr sz="1600" i="1" spc="4" dirty="0">
                  <a:latin typeface="Times New Roman"/>
                  <a:cs typeface="Times New Roman"/>
                </a:rPr>
                <a:t>put</a:t>
              </a:r>
              <a:endParaRPr sz="1600" dirty="0">
                <a:latin typeface="Times New Roman"/>
                <a:cs typeface="Times New Roman"/>
              </a:endParaRPr>
            </a:p>
          </p:txBody>
        </p:sp>
        <p:sp>
          <p:nvSpPr>
            <p:cNvPr id="118" name="object 25">
              <a:extLst>
                <a:ext uri="{FF2B5EF4-FFF2-40B4-BE49-F238E27FC236}">
                  <a16:creationId xmlns:a16="http://schemas.microsoft.com/office/drawing/2014/main" id="{112E895C-7783-4D7A-9FD7-A6AEE787F558}"/>
                </a:ext>
              </a:extLst>
            </p:cNvPr>
            <p:cNvSpPr txBox="1"/>
            <p:nvPr/>
          </p:nvSpPr>
          <p:spPr>
            <a:xfrm>
              <a:off x="5325903" y="3933519"/>
              <a:ext cx="113563" cy="161036"/>
            </a:xfrm>
            <a:prstGeom prst="rect">
              <a:avLst/>
            </a:prstGeom>
          </p:spPr>
          <p:txBody>
            <a:bodyPr wrap="square" lIns="0" tIns="0" rIns="0" bIns="0" rtlCol="0">
              <a:noAutofit/>
            </a:bodyPr>
            <a:lstStyle/>
            <a:p>
              <a:pPr marL="12700">
                <a:lnSpc>
                  <a:spcPts val="1185"/>
                </a:lnSpc>
                <a:spcBef>
                  <a:spcPts val="59"/>
                </a:spcBef>
              </a:pPr>
              <a:r>
                <a:rPr sz="1050" i="1" dirty="0">
                  <a:latin typeface="Times New Roman"/>
                  <a:cs typeface="Times New Roman"/>
                </a:rPr>
                <a:t>1</a:t>
              </a:r>
              <a:endParaRPr sz="1050">
                <a:latin typeface="Times New Roman"/>
                <a:cs typeface="Times New Roman"/>
              </a:endParaRPr>
            </a:p>
          </p:txBody>
        </p:sp>
        <p:sp>
          <p:nvSpPr>
            <p:cNvPr id="120" name="object 19">
              <a:extLst>
                <a:ext uri="{FF2B5EF4-FFF2-40B4-BE49-F238E27FC236}">
                  <a16:creationId xmlns:a16="http://schemas.microsoft.com/office/drawing/2014/main" id="{45E8D6B5-9CD5-42E1-9E3D-E5B99698B324}"/>
                </a:ext>
              </a:extLst>
            </p:cNvPr>
            <p:cNvSpPr txBox="1"/>
            <p:nvPr/>
          </p:nvSpPr>
          <p:spPr>
            <a:xfrm rot="16200000">
              <a:off x="5031052" y="3632371"/>
              <a:ext cx="1302982" cy="219710"/>
            </a:xfrm>
            <a:prstGeom prst="rect">
              <a:avLst/>
            </a:prstGeom>
          </p:spPr>
          <p:txBody>
            <a:bodyPr wrap="square" lIns="0" tIns="0" rIns="0" bIns="0" rtlCol="0">
              <a:noAutofit/>
            </a:bodyPr>
            <a:lstStyle/>
            <a:p>
              <a:pPr marL="12700">
                <a:lnSpc>
                  <a:spcPts val="1730"/>
                </a:lnSpc>
                <a:spcBef>
                  <a:spcPts val="86"/>
                </a:spcBef>
              </a:pPr>
              <a:r>
                <a:rPr sz="1600" spc="4" dirty="0">
                  <a:latin typeface="Arial"/>
                  <a:cs typeface="Arial"/>
                </a:rPr>
                <a:t>P</a:t>
              </a:r>
              <a:r>
                <a:rPr sz="1600" dirty="0">
                  <a:latin typeface="Arial"/>
                  <a:cs typeface="Arial"/>
                </a:rPr>
                <a:t>a</a:t>
              </a:r>
              <a:r>
                <a:rPr sz="1600" spc="-4" dirty="0">
                  <a:latin typeface="Arial"/>
                  <a:cs typeface="Arial"/>
                </a:rPr>
                <a:t>r</a:t>
              </a:r>
              <a:r>
                <a:rPr sz="1600" spc="4" dirty="0">
                  <a:latin typeface="Arial"/>
                  <a:cs typeface="Arial"/>
                </a:rPr>
                <a:t>si</a:t>
              </a:r>
              <a:r>
                <a:rPr sz="1600" dirty="0">
                  <a:latin typeface="Arial"/>
                  <a:cs typeface="Arial"/>
                </a:rPr>
                <a:t>ng</a:t>
              </a:r>
              <a:r>
                <a:rPr sz="1600" spc="-64" dirty="0">
                  <a:latin typeface="Arial"/>
                  <a:cs typeface="Arial"/>
                </a:rPr>
                <a:t> </a:t>
              </a:r>
              <a:r>
                <a:rPr sz="1600" spc="4" dirty="0">
                  <a:latin typeface="Arial"/>
                  <a:cs typeface="Arial"/>
                </a:rPr>
                <a:t>S</a:t>
              </a:r>
              <a:r>
                <a:rPr sz="1600" dirty="0">
                  <a:latin typeface="Arial"/>
                  <a:cs typeface="Arial"/>
                </a:rPr>
                <a:t>ta</a:t>
              </a:r>
              <a:r>
                <a:rPr sz="1600" spc="4" dirty="0">
                  <a:latin typeface="Arial"/>
                  <a:cs typeface="Arial"/>
                </a:rPr>
                <a:t>c</a:t>
              </a:r>
              <a:r>
                <a:rPr sz="1600" dirty="0">
                  <a:latin typeface="Arial"/>
                  <a:cs typeface="Arial"/>
                </a:rPr>
                <a:t>k</a:t>
              </a:r>
            </a:p>
          </p:txBody>
        </p:sp>
        <p:sp>
          <p:nvSpPr>
            <p:cNvPr id="122" name="object 18">
              <a:extLst>
                <a:ext uri="{FF2B5EF4-FFF2-40B4-BE49-F238E27FC236}">
                  <a16:creationId xmlns:a16="http://schemas.microsoft.com/office/drawing/2014/main" id="{D1B52DA2-5932-47B4-92E3-FE55FDEBC03F}"/>
                </a:ext>
              </a:extLst>
            </p:cNvPr>
            <p:cNvSpPr txBox="1"/>
            <p:nvPr/>
          </p:nvSpPr>
          <p:spPr>
            <a:xfrm>
              <a:off x="3124200" y="3340099"/>
              <a:ext cx="838200" cy="184150"/>
            </a:xfrm>
            <a:prstGeom prst="rect">
              <a:avLst/>
            </a:prstGeom>
          </p:spPr>
          <p:txBody>
            <a:bodyPr wrap="square" lIns="0" tIns="0" rIns="0" bIns="0" rtlCol="0">
              <a:noAutofit/>
            </a:bodyPr>
            <a:lstStyle/>
            <a:p>
              <a:pPr marL="25400">
                <a:lnSpc>
                  <a:spcPts val="1000"/>
                </a:lnSpc>
              </a:pPr>
              <a:endParaRPr sz="1000"/>
            </a:p>
          </p:txBody>
        </p:sp>
        <p:sp>
          <p:nvSpPr>
            <p:cNvPr id="124" name="object 17">
              <a:extLst>
                <a:ext uri="{FF2B5EF4-FFF2-40B4-BE49-F238E27FC236}">
                  <a16:creationId xmlns:a16="http://schemas.microsoft.com/office/drawing/2014/main" id="{8FFDFFD8-C724-470A-AA08-C043CC0A09D6}"/>
                </a:ext>
              </a:extLst>
            </p:cNvPr>
            <p:cNvSpPr txBox="1"/>
            <p:nvPr/>
          </p:nvSpPr>
          <p:spPr>
            <a:xfrm>
              <a:off x="3962400" y="3340099"/>
              <a:ext cx="838200" cy="184150"/>
            </a:xfrm>
            <a:prstGeom prst="rect">
              <a:avLst/>
            </a:prstGeom>
          </p:spPr>
          <p:txBody>
            <a:bodyPr wrap="square" lIns="0" tIns="0" rIns="0" bIns="0" rtlCol="0">
              <a:noAutofit/>
            </a:bodyPr>
            <a:lstStyle/>
            <a:p>
              <a:pPr marL="25400">
                <a:lnSpc>
                  <a:spcPts val="1000"/>
                </a:lnSpc>
              </a:pPr>
              <a:endParaRPr sz="1000"/>
            </a:p>
          </p:txBody>
        </p:sp>
        <p:sp>
          <p:nvSpPr>
            <p:cNvPr id="126" name="object 16">
              <a:extLst>
                <a:ext uri="{FF2B5EF4-FFF2-40B4-BE49-F238E27FC236}">
                  <a16:creationId xmlns:a16="http://schemas.microsoft.com/office/drawing/2014/main" id="{3EFD2F32-5CFF-4FB6-94DD-BD0FA18F7C8B}"/>
                </a:ext>
              </a:extLst>
            </p:cNvPr>
            <p:cNvSpPr txBox="1"/>
            <p:nvPr/>
          </p:nvSpPr>
          <p:spPr>
            <a:xfrm>
              <a:off x="3124200" y="3524249"/>
              <a:ext cx="1676400" cy="438150"/>
            </a:xfrm>
            <a:prstGeom prst="rect">
              <a:avLst/>
            </a:prstGeom>
          </p:spPr>
          <p:txBody>
            <a:bodyPr wrap="square" lIns="0" tIns="0" rIns="0" bIns="0" rtlCol="0">
              <a:noAutofit/>
            </a:bodyPr>
            <a:lstStyle/>
            <a:p>
              <a:pPr>
                <a:lnSpc>
                  <a:spcPts val="850"/>
                </a:lnSpc>
                <a:spcBef>
                  <a:spcPts val="23"/>
                </a:spcBef>
              </a:pPr>
              <a:endParaRPr sz="850" dirty="0"/>
            </a:p>
            <a:p>
              <a:pPr marL="149350" algn="ctr">
                <a:lnSpc>
                  <a:spcPct val="95825"/>
                </a:lnSpc>
              </a:pPr>
              <a:r>
                <a:rPr dirty="0">
                  <a:latin typeface="Arial"/>
                  <a:cs typeface="Arial"/>
                </a:rPr>
                <a:t>P</a:t>
              </a:r>
              <a:r>
                <a:rPr spc="-4" dirty="0">
                  <a:latin typeface="Arial"/>
                  <a:cs typeface="Arial"/>
                </a:rPr>
                <a:t>a</a:t>
              </a:r>
              <a:r>
                <a:rPr dirty="0">
                  <a:latin typeface="Arial"/>
                  <a:cs typeface="Arial"/>
                </a:rPr>
                <a:t>rs</a:t>
              </a:r>
              <a:r>
                <a:rPr spc="-4" dirty="0">
                  <a:latin typeface="Arial"/>
                  <a:cs typeface="Arial"/>
                </a:rPr>
                <a:t>in</a:t>
              </a:r>
              <a:r>
                <a:rPr dirty="0">
                  <a:latin typeface="Arial"/>
                  <a:cs typeface="Arial"/>
                </a:rPr>
                <a:t>g</a:t>
              </a:r>
              <a:r>
                <a:rPr spc="-34" dirty="0">
                  <a:latin typeface="Arial"/>
                  <a:cs typeface="Arial"/>
                </a:rPr>
                <a:t> </a:t>
              </a:r>
              <a:r>
                <a:rPr spc="-189" dirty="0">
                  <a:latin typeface="Arial"/>
                  <a:cs typeface="Arial"/>
                </a:rPr>
                <a:t>T</a:t>
              </a:r>
              <a:r>
                <a:rPr spc="-4" dirty="0">
                  <a:latin typeface="Arial"/>
                  <a:cs typeface="Arial"/>
                </a:rPr>
                <a:t>abl</a:t>
              </a:r>
              <a:r>
                <a:rPr dirty="0">
                  <a:latin typeface="Arial"/>
                  <a:cs typeface="Arial"/>
                </a:rPr>
                <a:t>e</a:t>
              </a:r>
            </a:p>
          </p:txBody>
        </p:sp>
        <p:sp>
          <p:nvSpPr>
            <p:cNvPr id="128" name="object 15">
              <a:extLst>
                <a:ext uri="{FF2B5EF4-FFF2-40B4-BE49-F238E27FC236}">
                  <a16:creationId xmlns:a16="http://schemas.microsoft.com/office/drawing/2014/main" id="{757148E6-4916-404E-8005-50A849F8DE06}"/>
                </a:ext>
              </a:extLst>
            </p:cNvPr>
            <p:cNvSpPr txBox="1"/>
            <p:nvPr/>
          </p:nvSpPr>
          <p:spPr>
            <a:xfrm>
              <a:off x="3124200" y="3962399"/>
              <a:ext cx="838200" cy="457200"/>
            </a:xfrm>
            <a:prstGeom prst="rect">
              <a:avLst/>
            </a:prstGeom>
          </p:spPr>
          <p:txBody>
            <a:bodyPr wrap="square" lIns="0" tIns="0" rIns="0" bIns="0" rtlCol="0">
              <a:noAutofit/>
            </a:bodyPr>
            <a:lstStyle/>
            <a:p>
              <a:pPr>
                <a:lnSpc>
                  <a:spcPts val="650"/>
                </a:lnSpc>
                <a:spcBef>
                  <a:spcPts val="13"/>
                </a:spcBef>
              </a:pPr>
              <a:endParaRPr sz="650" dirty="0"/>
            </a:p>
            <a:p>
              <a:pPr marL="108202">
                <a:lnSpc>
                  <a:spcPct val="95825"/>
                </a:lnSpc>
              </a:pPr>
              <a:r>
                <a:rPr spc="-4" dirty="0">
                  <a:latin typeface="Arial"/>
                  <a:cs typeface="Arial"/>
                </a:rPr>
                <a:t>a</a:t>
              </a:r>
              <a:r>
                <a:rPr dirty="0">
                  <a:latin typeface="Arial"/>
                  <a:cs typeface="Arial"/>
                </a:rPr>
                <a:t>c</a:t>
              </a:r>
              <a:r>
                <a:rPr spc="4" dirty="0">
                  <a:latin typeface="Arial"/>
                  <a:cs typeface="Arial"/>
                </a:rPr>
                <a:t>t</a:t>
              </a:r>
              <a:r>
                <a:rPr spc="-4" dirty="0">
                  <a:latin typeface="Arial"/>
                  <a:cs typeface="Arial"/>
                </a:rPr>
                <a:t>ion</a:t>
              </a:r>
              <a:endParaRPr dirty="0">
                <a:latin typeface="Arial"/>
                <a:cs typeface="Arial"/>
              </a:endParaRPr>
            </a:p>
          </p:txBody>
        </p:sp>
        <p:sp>
          <p:nvSpPr>
            <p:cNvPr id="130" name="object 14">
              <a:extLst>
                <a:ext uri="{FF2B5EF4-FFF2-40B4-BE49-F238E27FC236}">
                  <a16:creationId xmlns:a16="http://schemas.microsoft.com/office/drawing/2014/main" id="{738240C8-C6A4-49BA-9F70-34A634273B66}"/>
                </a:ext>
              </a:extLst>
            </p:cNvPr>
            <p:cNvSpPr txBox="1"/>
            <p:nvPr/>
          </p:nvSpPr>
          <p:spPr>
            <a:xfrm>
              <a:off x="3962400" y="3962399"/>
              <a:ext cx="838200" cy="457200"/>
            </a:xfrm>
            <a:prstGeom prst="rect">
              <a:avLst/>
            </a:prstGeom>
          </p:spPr>
          <p:txBody>
            <a:bodyPr wrap="square" lIns="0" tIns="0" rIns="0" bIns="0" rtlCol="0">
              <a:noAutofit/>
            </a:bodyPr>
            <a:lstStyle/>
            <a:p>
              <a:pPr>
                <a:lnSpc>
                  <a:spcPts val="650"/>
                </a:lnSpc>
                <a:spcBef>
                  <a:spcPts val="13"/>
                </a:spcBef>
              </a:pPr>
              <a:endParaRPr sz="650"/>
            </a:p>
            <a:p>
              <a:pPr marL="196381">
                <a:lnSpc>
                  <a:spcPct val="95825"/>
                </a:lnSpc>
              </a:pPr>
              <a:r>
                <a:rPr spc="-4" dirty="0">
                  <a:latin typeface="Arial"/>
                  <a:cs typeface="Arial"/>
                </a:rPr>
                <a:t>go</a:t>
              </a:r>
              <a:r>
                <a:rPr spc="4" dirty="0">
                  <a:latin typeface="Arial"/>
                  <a:cs typeface="Arial"/>
                </a:rPr>
                <a:t>t</a:t>
              </a:r>
              <a:r>
                <a:rPr dirty="0">
                  <a:latin typeface="Arial"/>
                  <a:cs typeface="Arial"/>
                </a:rPr>
                <a:t>o</a:t>
              </a:r>
              <a:endParaRPr>
                <a:latin typeface="Arial"/>
                <a:cs typeface="Arial"/>
              </a:endParaRPr>
            </a:p>
          </p:txBody>
        </p:sp>
        <p:sp>
          <p:nvSpPr>
            <p:cNvPr id="132" name="object 13">
              <a:extLst>
                <a:ext uri="{FF2B5EF4-FFF2-40B4-BE49-F238E27FC236}">
                  <a16:creationId xmlns:a16="http://schemas.microsoft.com/office/drawing/2014/main" id="{D122474A-3C47-4C99-A38D-0440BCC64CC3}"/>
                </a:ext>
              </a:extLst>
            </p:cNvPr>
            <p:cNvSpPr txBox="1"/>
            <p:nvPr/>
          </p:nvSpPr>
          <p:spPr>
            <a:xfrm>
              <a:off x="5181600" y="2911474"/>
              <a:ext cx="304800" cy="304800"/>
            </a:xfrm>
            <a:prstGeom prst="rect">
              <a:avLst/>
            </a:prstGeom>
          </p:spPr>
          <p:txBody>
            <a:bodyPr wrap="square" lIns="0" tIns="0" rIns="0" bIns="0" rtlCol="0">
              <a:noAutofit/>
            </a:bodyPr>
            <a:lstStyle/>
            <a:p>
              <a:pPr marL="64007">
                <a:lnSpc>
                  <a:spcPts val="2050"/>
                </a:lnSpc>
                <a:spcBef>
                  <a:spcPts val="102"/>
                </a:spcBef>
              </a:pPr>
              <a:r>
                <a:rPr sz="2400" i="1" spc="4" baseline="7246" dirty="0">
                  <a:latin typeface="Times New Roman"/>
                  <a:cs typeface="Times New Roman"/>
                </a:rPr>
                <a:t>s</a:t>
              </a:r>
              <a:r>
                <a:rPr sz="1575" i="1" baseline="-8282" dirty="0">
                  <a:latin typeface="Times New Roman"/>
                  <a:cs typeface="Times New Roman"/>
                </a:rPr>
                <a:t>m</a:t>
              </a:r>
              <a:endParaRPr sz="1050">
                <a:latin typeface="Times New Roman"/>
                <a:cs typeface="Times New Roman"/>
              </a:endParaRPr>
            </a:p>
          </p:txBody>
        </p:sp>
        <p:sp>
          <p:nvSpPr>
            <p:cNvPr id="134" name="object 12">
              <a:extLst>
                <a:ext uri="{FF2B5EF4-FFF2-40B4-BE49-F238E27FC236}">
                  <a16:creationId xmlns:a16="http://schemas.microsoft.com/office/drawing/2014/main" id="{D481A86E-E979-4ADE-86A7-D0AA9FEFD3AA}"/>
                </a:ext>
              </a:extLst>
            </p:cNvPr>
            <p:cNvSpPr txBox="1"/>
            <p:nvPr/>
          </p:nvSpPr>
          <p:spPr>
            <a:xfrm>
              <a:off x="5181600" y="3216275"/>
              <a:ext cx="304800" cy="288925"/>
            </a:xfrm>
            <a:prstGeom prst="rect">
              <a:avLst/>
            </a:prstGeom>
          </p:spPr>
          <p:txBody>
            <a:bodyPr wrap="square" lIns="0" tIns="0" rIns="0" bIns="0" rtlCol="0">
              <a:noAutofit/>
            </a:bodyPr>
            <a:lstStyle/>
            <a:p>
              <a:pPr marL="25400">
                <a:lnSpc>
                  <a:spcPts val="1000"/>
                </a:lnSpc>
              </a:pPr>
              <a:endParaRPr sz="1000"/>
            </a:p>
          </p:txBody>
        </p:sp>
        <p:sp>
          <p:nvSpPr>
            <p:cNvPr id="136" name="object 11">
              <a:extLst>
                <a:ext uri="{FF2B5EF4-FFF2-40B4-BE49-F238E27FC236}">
                  <a16:creationId xmlns:a16="http://schemas.microsoft.com/office/drawing/2014/main" id="{ED124C03-AF3C-4915-A445-D8158FFB78B4}"/>
                </a:ext>
              </a:extLst>
            </p:cNvPr>
            <p:cNvSpPr txBox="1"/>
            <p:nvPr/>
          </p:nvSpPr>
          <p:spPr>
            <a:xfrm>
              <a:off x="5181600" y="3505199"/>
              <a:ext cx="304800" cy="304800"/>
            </a:xfrm>
            <a:prstGeom prst="rect">
              <a:avLst/>
            </a:prstGeom>
          </p:spPr>
          <p:txBody>
            <a:bodyPr wrap="square" lIns="0" tIns="0" rIns="0" bIns="0" rtlCol="0">
              <a:noAutofit/>
            </a:bodyPr>
            <a:lstStyle/>
            <a:p>
              <a:pPr marL="25400">
                <a:lnSpc>
                  <a:spcPts val="1000"/>
                </a:lnSpc>
              </a:pPr>
              <a:endParaRPr sz="1000"/>
            </a:p>
          </p:txBody>
        </p:sp>
        <p:sp>
          <p:nvSpPr>
            <p:cNvPr id="138" name="object 10">
              <a:extLst>
                <a:ext uri="{FF2B5EF4-FFF2-40B4-BE49-F238E27FC236}">
                  <a16:creationId xmlns:a16="http://schemas.microsoft.com/office/drawing/2014/main" id="{3484286C-C4C9-4FC8-85CF-BE91829E8DA3}"/>
                </a:ext>
              </a:extLst>
            </p:cNvPr>
            <p:cNvSpPr txBox="1"/>
            <p:nvPr/>
          </p:nvSpPr>
          <p:spPr>
            <a:xfrm>
              <a:off x="5181600" y="3809999"/>
              <a:ext cx="304800" cy="304800"/>
            </a:xfrm>
            <a:prstGeom prst="rect">
              <a:avLst/>
            </a:prstGeom>
          </p:spPr>
          <p:txBody>
            <a:bodyPr wrap="square" lIns="0" tIns="0" rIns="0" bIns="0" rtlCol="0">
              <a:noAutofit/>
            </a:bodyPr>
            <a:lstStyle/>
            <a:p>
              <a:pPr marL="77754">
                <a:lnSpc>
                  <a:spcPct val="95825"/>
                </a:lnSpc>
                <a:spcBef>
                  <a:spcPts val="55"/>
                </a:spcBef>
              </a:pPr>
              <a:r>
                <a:rPr sz="1600" i="1" dirty="0">
                  <a:latin typeface="Times New Roman"/>
                  <a:cs typeface="Times New Roman"/>
                </a:rPr>
                <a:t>s</a:t>
              </a:r>
              <a:endParaRPr sz="1600">
                <a:latin typeface="Times New Roman"/>
                <a:cs typeface="Times New Roman"/>
              </a:endParaRPr>
            </a:p>
          </p:txBody>
        </p:sp>
        <p:sp>
          <p:nvSpPr>
            <p:cNvPr id="140" name="object 9">
              <a:extLst>
                <a:ext uri="{FF2B5EF4-FFF2-40B4-BE49-F238E27FC236}">
                  <a16:creationId xmlns:a16="http://schemas.microsoft.com/office/drawing/2014/main" id="{098A18EB-8522-4D50-BE2A-5AE5BEA969D8}"/>
                </a:ext>
              </a:extLst>
            </p:cNvPr>
            <p:cNvSpPr txBox="1"/>
            <p:nvPr/>
          </p:nvSpPr>
          <p:spPr>
            <a:xfrm>
              <a:off x="5181600" y="4114799"/>
              <a:ext cx="304800" cy="304800"/>
            </a:xfrm>
            <a:prstGeom prst="rect">
              <a:avLst/>
            </a:prstGeom>
          </p:spPr>
          <p:txBody>
            <a:bodyPr wrap="square" lIns="0" tIns="0" rIns="0" bIns="0" rtlCol="0">
              <a:noAutofit/>
            </a:bodyPr>
            <a:lstStyle/>
            <a:p>
              <a:pPr marL="77754">
                <a:lnSpc>
                  <a:spcPts val="1839"/>
                </a:lnSpc>
                <a:spcBef>
                  <a:spcPts val="55"/>
                </a:spcBef>
              </a:pPr>
              <a:r>
                <a:rPr sz="1600" i="1" spc="4" dirty="0">
                  <a:latin typeface="Times New Roman"/>
                  <a:cs typeface="Times New Roman"/>
                </a:rPr>
                <a:t>s</a:t>
              </a:r>
              <a:r>
                <a:rPr sz="1575" i="1" baseline="-22086" dirty="0">
                  <a:latin typeface="Times New Roman"/>
                  <a:cs typeface="Times New Roman"/>
                </a:rPr>
                <a:t>0</a:t>
              </a:r>
              <a:endParaRPr sz="1050">
                <a:latin typeface="Times New Roman"/>
                <a:cs typeface="Times New Roman"/>
              </a:endParaRPr>
            </a:p>
          </p:txBody>
        </p:sp>
        <p:sp>
          <p:nvSpPr>
            <p:cNvPr id="142" name="object 8">
              <a:extLst>
                <a:ext uri="{FF2B5EF4-FFF2-40B4-BE49-F238E27FC236}">
                  <a16:creationId xmlns:a16="http://schemas.microsoft.com/office/drawing/2014/main" id="{54C90252-FEEB-4C16-9A87-2F1297191A3A}"/>
                </a:ext>
              </a:extLst>
            </p:cNvPr>
            <p:cNvSpPr txBox="1"/>
            <p:nvPr/>
          </p:nvSpPr>
          <p:spPr>
            <a:xfrm>
              <a:off x="3124200" y="2609849"/>
              <a:ext cx="1676400" cy="666750"/>
            </a:xfrm>
            <a:prstGeom prst="rect">
              <a:avLst/>
            </a:prstGeom>
          </p:spPr>
          <p:txBody>
            <a:bodyPr wrap="square" lIns="0" tIns="0" rIns="0" bIns="0" rtlCol="0">
              <a:noAutofit/>
            </a:bodyPr>
            <a:lstStyle/>
            <a:p>
              <a:pPr>
                <a:lnSpc>
                  <a:spcPts val="600"/>
                </a:lnSpc>
                <a:spcBef>
                  <a:spcPts val="23"/>
                </a:spcBef>
              </a:pPr>
              <a:endParaRPr sz="600" dirty="0"/>
            </a:p>
            <a:p>
              <a:pPr marL="292514" marR="294378" algn="ctr">
                <a:lnSpc>
                  <a:spcPct val="95825"/>
                </a:lnSpc>
              </a:pPr>
              <a:r>
                <a:rPr spc="-4" dirty="0">
                  <a:latin typeface="Arial"/>
                  <a:cs typeface="Arial"/>
                </a:rPr>
                <a:t>L</a:t>
              </a:r>
              <a:r>
                <a:rPr dirty="0">
                  <a:latin typeface="Arial"/>
                  <a:cs typeface="Arial"/>
                </a:rPr>
                <a:t>R</a:t>
              </a:r>
              <a:r>
                <a:rPr spc="-9" dirty="0">
                  <a:latin typeface="Arial"/>
                  <a:cs typeface="Arial"/>
                </a:rPr>
                <a:t> </a:t>
              </a:r>
              <a:r>
                <a:rPr dirty="0">
                  <a:latin typeface="Arial"/>
                  <a:cs typeface="Arial"/>
                </a:rPr>
                <a:t>P</a:t>
              </a:r>
              <a:r>
                <a:rPr spc="-4" dirty="0">
                  <a:latin typeface="Arial"/>
                  <a:cs typeface="Arial"/>
                </a:rPr>
                <a:t>a</a:t>
              </a:r>
              <a:r>
                <a:rPr dirty="0">
                  <a:latin typeface="Arial"/>
                  <a:cs typeface="Arial"/>
                </a:rPr>
                <a:t>rs</a:t>
              </a:r>
              <a:r>
                <a:rPr spc="-4" dirty="0">
                  <a:latin typeface="Arial"/>
                  <a:cs typeface="Arial"/>
                </a:rPr>
                <a:t>er</a:t>
              </a:r>
              <a:endParaRPr dirty="0">
                <a:latin typeface="Arial"/>
                <a:cs typeface="Arial"/>
              </a:endParaRPr>
            </a:p>
            <a:p>
              <a:pPr marL="504024" marR="504677" algn="ctr">
                <a:lnSpc>
                  <a:spcPct val="95825"/>
                </a:lnSpc>
                <a:spcBef>
                  <a:spcPts val="90"/>
                </a:spcBef>
              </a:pPr>
              <a:r>
                <a:rPr spc="-4" dirty="0">
                  <a:latin typeface="Arial"/>
                  <a:cs typeface="Arial"/>
                </a:rPr>
                <a:t>D</a:t>
              </a:r>
              <a:r>
                <a:rPr dirty="0">
                  <a:latin typeface="Arial"/>
                  <a:cs typeface="Arial"/>
                </a:rPr>
                <a:t>r</a:t>
              </a:r>
              <a:r>
                <a:rPr spc="-4" dirty="0">
                  <a:latin typeface="Arial"/>
                  <a:cs typeface="Arial"/>
                </a:rPr>
                <a:t>i</a:t>
              </a:r>
              <a:r>
                <a:rPr dirty="0">
                  <a:latin typeface="Arial"/>
                  <a:cs typeface="Arial"/>
                </a:rPr>
                <a:t>v</a:t>
              </a:r>
              <a:r>
                <a:rPr spc="-4" dirty="0">
                  <a:latin typeface="Arial"/>
                  <a:cs typeface="Arial"/>
                </a:rPr>
                <a:t>e</a:t>
              </a:r>
              <a:r>
                <a:rPr dirty="0">
                  <a:latin typeface="Arial"/>
                  <a:cs typeface="Arial"/>
                </a:rPr>
                <a:t>r</a:t>
              </a:r>
            </a:p>
          </p:txBody>
        </p:sp>
        <p:sp>
          <p:nvSpPr>
            <p:cNvPr id="144" name="object 7">
              <a:extLst>
                <a:ext uri="{FF2B5EF4-FFF2-40B4-BE49-F238E27FC236}">
                  <a16:creationId xmlns:a16="http://schemas.microsoft.com/office/drawing/2014/main" id="{5E17274E-EADE-4215-A48E-C88891AF2808}"/>
                </a:ext>
              </a:extLst>
            </p:cNvPr>
            <p:cNvSpPr txBox="1"/>
            <p:nvPr/>
          </p:nvSpPr>
          <p:spPr>
            <a:xfrm>
              <a:off x="4800600" y="2609849"/>
              <a:ext cx="317500" cy="133350"/>
            </a:xfrm>
            <a:prstGeom prst="rect">
              <a:avLst/>
            </a:prstGeom>
          </p:spPr>
          <p:txBody>
            <a:bodyPr wrap="square" lIns="0" tIns="0" rIns="0" bIns="0" rtlCol="0">
              <a:noAutofit/>
            </a:bodyPr>
            <a:lstStyle/>
            <a:p>
              <a:pPr marL="25400">
                <a:lnSpc>
                  <a:spcPts val="1000"/>
                </a:lnSpc>
              </a:pPr>
              <a:endParaRPr sz="1000"/>
            </a:p>
          </p:txBody>
        </p:sp>
        <p:sp>
          <p:nvSpPr>
            <p:cNvPr id="146" name="object 6">
              <a:extLst>
                <a:ext uri="{FF2B5EF4-FFF2-40B4-BE49-F238E27FC236}">
                  <a16:creationId xmlns:a16="http://schemas.microsoft.com/office/drawing/2014/main" id="{377F481A-CD75-4092-BE1F-DFB782FB91BA}"/>
                </a:ext>
              </a:extLst>
            </p:cNvPr>
            <p:cNvSpPr txBox="1"/>
            <p:nvPr/>
          </p:nvSpPr>
          <p:spPr>
            <a:xfrm>
              <a:off x="4800600" y="2743199"/>
              <a:ext cx="317500" cy="533400"/>
            </a:xfrm>
            <a:prstGeom prst="rect">
              <a:avLst/>
            </a:prstGeom>
          </p:spPr>
          <p:txBody>
            <a:bodyPr wrap="square" lIns="0" tIns="0" rIns="0" bIns="0" rtlCol="0">
              <a:noAutofit/>
            </a:bodyPr>
            <a:lstStyle/>
            <a:p>
              <a:pPr marL="25400">
                <a:lnSpc>
                  <a:spcPts val="1000"/>
                </a:lnSpc>
              </a:pPr>
              <a:endParaRPr sz="1000"/>
            </a:p>
          </p:txBody>
        </p:sp>
        <p:sp>
          <p:nvSpPr>
            <p:cNvPr id="148" name="object 5">
              <a:extLst>
                <a:ext uri="{FF2B5EF4-FFF2-40B4-BE49-F238E27FC236}">
                  <a16:creationId xmlns:a16="http://schemas.microsoft.com/office/drawing/2014/main" id="{A71DDA5D-8C28-491E-98D9-06D2B1357ECF}"/>
                </a:ext>
              </a:extLst>
            </p:cNvPr>
            <p:cNvSpPr txBox="1"/>
            <p:nvPr/>
          </p:nvSpPr>
          <p:spPr>
            <a:xfrm>
              <a:off x="3124200" y="1692274"/>
              <a:ext cx="1676400" cy="609600"/>
            </a:xfrm>
            <a:prstGeom prst="rect">
              <a:avLst/>
            </a:prstGeom>
          </p:spPr>
          <p:txBody>
            <a:bodyPr wrap="square" lIns="0" tIns="0" rIns="0" bIns="0" rtlCol="0">
              <a:noAutofit/>
            </a:bodyPr>
            <a:lstStyle/>
            <a:p>
              <a:pPr>
                <a:lnSpc>
                  <a:spcPts val="1300"/>
                </a:lnSpc>
                <a:spcBef>
                  <a:spcPts val="61"/>
                </a:spcBef>
              </a:pPr>
              <a:endParaRPr sz="1300" dirty="0"/>
            </a:p>
            <a:p>
              <a:pPr marL="389882" algn="ctr">
                <a:lnSpc>
                  <a:spcPct val="95825"/>
                </a:lnSpc>
              </a:pPr>
              <a:r>
                <a:rPr dirty="0">
                  <a:latin typeface="Arial"/>
                  <a:cs typeface="Arial"/>
                </a:rPr>
                <a:t>Sc</a:t>
              </a:r>
              <a:r>
                <a:rPr spc="-4" dirty="0">
                  <a:latin typeface="Arial"/>
                  <a:cs typeface="Arial"/>
                </a:rPr>
                <a:t>anner</a:t>
              </a:r>
              <a:endParaRPr dirty="0">
                <a:latin typeface="Arial"/>
                <a:cs typeface="Arial"/>
              </a:endParaRPr>
            </a:p>
          </p:txBody>
        </p:sp>
        <p:sp>
          <p:nvSpPr>
            <p:cNvPr id="150" name="object 4">
              <a:extLst>
                <a:ext uri="{FF2B5EF4-FFF2-40B4-BE49-F238E27FC236}">
                  <a16:creationId xmlns:a16="http://schemas.microsoft.com/office/drawing/2014/main" id="{F48181B4-376D-4E26-BD82-3F340659F246}"/>
                </a:ext>
              </a:extLst>
            </p:cNvPr>
            <p:cNvSpPr txBox="1"/>
            <p:nvPr/>
          </p:nvSpPr>
          <p:spPr>
            <a:xfrm>
              <a:off x="3124200" y="2301874"/>
              <a:ext cx="838200" cy="241300"/>
            </a:xfrm>
            <a:prstGeom prst="rect">
              <a:avLst/>
            </a:prstGeom>
          </p:spPr>
          <p:txBody>
            <a:bodyPr wrap="square" lIns="0" tIns="0" rIns="0" bIns="0" rtlCol="0">
              <a:noAutofit/>
            </a:bodyPr>
            <a:lstStyle/>
            <a:p>
              <a:pPr marL="25400">
                <a:lnSpc>
                  <a:spcPts val="1000"/>
                </a:lnSpc>
              </a:pPr>
              <a:endParaRPr sz="1000"/>
            </a:p>
          </p:txBody>
        </p:sp>
        <p:sp>
          <p:nvSpPr>
            <p:cNvPr id="152" name="object 3">
              <a:extLst>
                <a:ext uri="{FF2B5EF4-FFF2-40B4-BE49-F238E27FC236}">
                  <a16:creationId xmlns:a16="http://schemas.microsoft.com/office/drawing/2014/main" id="{C0AE3AA7-73BB-4127-A170-09A2E1D9FDA6}"/>
                </a:ext>
              </a:extLst>
            </p:cNvPr>
            <p:cNvSpPr txBox="1"/>
            <p:nvPr/>
          </p:nvSpPr>
          <p:spPr>
            <a:xfrm>
              <a:off x="3962400" y="2301874"/>
              <a:ext cx="838200" cy="241300"/>
            </a:xfrm>
            <a:prstGeom prst="rect">
              <a:avLst/>
            </a:prstGeom>
          </p:spPr>
          <p:txBody>
            <a:bodyPr wrap="square" lIns="0" tIns="0" rIns="0" bIns="0" rtlCol="0">
              <a:noAutofit/>
            </a:bodyPr>
            <a:lstStyle/>
            <a:p>
              <a:pPr marL="157288">
                <a:lnSpc>
                  <a:spcPts val="1735"/>
                </a:lnSpc>
                <a:spcBef>
                  <a:spcPts val="251"/>
                </a:spcBef>
              </a:pPr>
              <a:endParaRPr sz="1600" dirty="0">
                <a:latin typeface="Times New Roman"/>
                <a:cs typeface="Times New Roman"/>
              </a:endParaRPr>
            </a:p>
          </p:txBody>
        </p:sp>
      </p:grpSp>
      <p:pic>
        <p:nvPicPr>
          <p:cNvPr id="49" name="Picture 4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533991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wheel(1)">
                                      <p:cBhvr>
                                        <p:cTn id="7" dur="20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C226AE1-E420-4621-B95A-BA188622FF30}"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spc="-4" dirty="0">
                <a:solidFill>
                  <a:schemeClr val="tx1"/>
                </a:solidFill>
                <a:latin typeface="+mj-lt"/>
                <a:cs typeface="Arial"/>
              </a:rPr>
              <a:t>Structure of L</a:t>
            </a:r>
            <a:r>
              <a:rPr lang="en-IN" sz="2400" dirty="0">
                <a:solidFill>
                  <a:schemeClr val="tx1"/>
                </a:solidFill>
                <a:latin typeface="+mj-lt"/>
                <a:cs typeface="Arial"/>
              </a:rPr>
              <a:t>R P</a:t>
            </a:r>
            <a:r>
              <a:rPr lang="en-IN" sz="2400" spc="-4" dirty="0">
                <a:solidFill>
                  <a:schemeClr val="tx1"/>
                </a:solidFill>
                <a:latin typeface="+mj-lt"/>
                <a:cs typeface="Arial"/>
              </a:rPr>
              <a:t>a</a:t>
            </a:r>
            <a:r>
              <a:rPr lang="en-IN" sz="2400" dirty="0">
                <a:solidFill>
                  <a:schemeClr val="tx1"/>
                </a:solidFill>
                <a:latin typeface="+mj-lt"/>
                <a:cs typeface="Arial"/>
              </a:rPr>
              <a:t>r</a:t>
            </a:r>
            <a:r>
              <a:rPr lang="en-IN" sz="2400" spc="4" dirty="0">
                <a:solidFill>
                  <a:schemeClr val="tx1"/>
                </a:solidFill>
                <a:latin typeface="+mj-lt"/>
                <a:cs typeface="Arial"/>
              </a:rPr>
              <a:t>s</a:t>
            </a:r>
            <a:r>
              <a:rPr lang="en-IN" sz="2400" spc="-4" dirty="0">
                <a:solidFill>
                  <a:schemeClr val="tx1"/>
                </a:solidFill>
                <a:latin typeface="+mj-lt"/>
                <a:cs typeface="Arial"/>
              </a:rPr>
              <a:t>e</a:t>
            </a:r>
            <a:r>
              <a:rPr lang="en-IN" sz="2400" dirty="0">
                <a:solidFill>
                  <a:schemeClr val="tx1"/>
                </a:solidFill>
                <a:latin typeface="+mj-lt"/>
                <a:cs typeface="Arial"/>
              </a:rPr>
              <a:t>r</a:t>
            </a: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229600" cy="5211763"/>
          </a:xfrm>
        </p:spPr>
        <p:txBody>
          <a:bodyPr>
            <a:noAutofit/>
          </a:bodyPr>
          <a:lstStyle/>
          <a:p>
            <a:pPr marL="0" marR="40515" indent="0">
              <a:lnSpc>
                <a:spcPts val="2550"/>
              </a:lnSpc>
              <a:spcBef>
                <a:spcPts val="127"/>
              </a:spcBef>
              <a:buNone/>
            </a:pPr>
            <a:r>
              <a:rPr lang="en-IN" sz="1800" spc="-4" dirty="0">
                <a:latin typeface="Times New Roman" panose="02020603050405020304" pitchFamily="18" charset="0"/>
                <a:cs typeface="Times New Roman" panose="02020603050405020304" pitchFamily="18" charset="0"/>
              </a:rPr>
              <a:t>A</a:t>
            </a:r>
            <a:r>
              <a:rPr lang="en-IN" sz="1800" dirty="0">
                <a:latin typeface="Times New Roman" panose="02020603050405020304" pitchFamily="18" charset="0"/>
                <a:cs typeface="Times New Roman" panose="02020603050405020304" pitchFamily="18" charset="0"/>
              </a:rPr>
              <a:t>n LR pa</a:t>
            </a:r>
            <a:r>
              <a:rPr lang="en-IN" sz="1800" spc="4" dirty="0">
                <a:latin typeface="Times New Roman" panose="02020603050405020304" pitchFamily="18" charset="0"/>
                <a:cs typeface="Times New Roman" panose="02020603050405020304" pitchFamily="18" charset="0"/>
              </a:rPr>
              <a:t>r</a:t>
            </a:r>
            <a:r>
              <a:rPr lang="en-IN" sz="1800" dirty="0">
                <a:latin typeface="Times New Roman" panose="02020603050405020304" pitchFamily="18" charset="0"/>
                <a:cs typeface="Times New Roman" panose="02020603050405020304" pitchFamily="18" charset="0"/>
              </a:rPr>
              <a:t>ser</a:t>
            </a:r>
            <a:r>
              <a:rPr lang="en-IN" sz="1800" spc="-4"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cons</a:t>
            </a:r>
            <a:r>
              <a:rPr lang="en-IN" sz="1800" spc="4" dirty="0">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t</a:t>
            </a:r>
            <a:r>
              <a:rPr lang="en-IN" sz="1800" dirty="0">
                <a:latin typeface="Times New Roman" panose="02020603050405020304" pitchFamily="18" charset="0"/>
                <a:cs typeface="Times New Roman" panose="02020603050405020304" pitchFamily="18" charset="0"/>
              </a:rPr>
              <a:t>s</a:t>
            </a:r>
            <a:r>
              <a:rPr lang="en-IN" sz="1800" spc="-19"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of …</a:t>
            </a:r>
          </a:p>
          <a:p>
            <a:pPr marL="0" marR="40515" indent="0">
              <a:lnSpc>
                <a:spcPts val="2550"/>
              </a:lnSpc>
              <a:spcBef>
                <a:spcPts val="127"/>
              </a:spcBef>
              <a:buNone/>
            </a:pPr>
            <a:endParaRPr lang="en-IN" sz="1800" dirty="0">
              <a:latin typeface="Times New Roman" panose="02020603050405020304" pitchFamily="18" charset="0"/>
              <a:cs typeface="Times New Roman" panose="02020603050405020304" pitchFamily="18" charset="0"/>
            </a:endParaRPr>
          </a:p>
          <a:p>
            <a:pPr marL="127000" marR="40515" indent="0">
              <a:lnSpc>
                <a:spcPct val="95825"/>
              </a:lnSpc>
              <a:spcBef>
                <a:spcPts val="738"/>
              </a:spcBef>
              <a:buNone/>
            </a:pP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er</a:t>
            </a:r>
            <a:r>
              <a:rPr lang="en-IN" sz="1800" i="1" spc="-39"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progr</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am</a:t>
            </a:r>
          </a:p>
          <a:p>
            <a:pPr marL="815847" marR="40515">
              <a:lnSpc>
                <a:spcPct val="95825"/>
              </a:lnSpc>
              <a:spcBef>
                <a:spcPts val="766"/>
              </a:spcBef>
            </a:pP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a</a:t>
            </a:r>
            <a:r>
              <a:rPr lang="en-IN" sz="1800" spc="-9" dirty="0">
                <a:latin typeface="Times New Roman" panose="02020603050405020304" pitchFamily="18" charset="0"/>
                <a:cs typeface="Times New Roman" panose="02020603050405020304" pitchFamily="18" charset="0"/>
              </a:rPr>
              <a:t>m</a:t>
            </a:r>
            <a:r>
              <a:rPr lang="en-IN" sz="1800" dirty="0">
                <a:latin typeface="Times New Roman" panose="02020603050405020304" pitchFamily="18" charset="0"/>
                <a:cs typeface="Times New Roman" panose="02020603050405020304" pitchFamily="18" charset="0"/>
              </a:rPr>
              <a:t>e dr</a:t>
            </a:r>
            <a:r>
              <a:rPr lang="en-IN" sz="1800" spc="4" dirty="0">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v</a:t>
            </a:r>
            <a:r>
              <a:rPr lang="en-IN" sz="1800" spc="4"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s</a:t>
            </a:r>
            <a:r>
              <a:rPr lang="en-IN" sz="1800" spc="-9"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u</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d</a:t>
            </a:r>
            <a:r>
              <a:rPr lang="en-IN" sz="1800" spc="4"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for</a:t>
            </a:r>
            <a:r>
              <a:rPr lang="en-IN" sz="1800" spc="-4"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al</a:t>
            </a:r>
            <a:r>
              <a:rPr lang="en-IN" sz="1800" dirty="0">
                <a:latin typeface="Times New Roman" panose="02020603050405020304" pitchFamily="18" charset="0"/>
                <a:cs typeface="Times New Roman" panose="02020603050405020304" pitchFamily="18" charset="0"/>
              </a:rPr>
              <a:t>l </a:t>
            </a:r>
            <a:r>
              <a:rPr lang="en-IN" sz="1800" spc="4" dirty="0">
                <a:latin typeface="Times New Roman" panose="02020603050405020304" pitchFamily="18" charset="0"/>
                <a:cs typeface="Times New Roman" panose="02020603050405020304" pitchFamily="18" charset="0"/>
              </a:rPr>
              <a:t>L</a:t>
            </a:r>
            <a:r>
              <a:rPr lang="en-IN" sz="1800"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p</a:t>
            </a:r>
            <a:r>
              <a:rPr lang="en-IN" sz="1800" spc="4" dirty="0">
                <a:latin typeface="Times New Roman" panose="02020603050405020304" pitchFamily="18" charset="0"/>
                <a:cs typeface="Times New Roman" panose="02020603050405020304" pitchFamily="18" charset="0"/>
              </a:rPr>
              <a:t>a</a:t>
            </a:r>
            <a:r>
              <a:rPr lang="en-IN" sz="1800"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rs</a:t>
            </a:r>
          </a:p>
          <a:p>
            <a:pPr marL="815847" marR="40515">
              <a:lnSpc>
                <a:spcPct val="95825"/>
              </a:lnSpc>
              <a:spcBef>
                <a:spcPts val="766"/>
              </a:spcBef>
            </a:pPr>
            <a:endParaRPr lang="en-IN" sz="1800" dirty="0">
              <a:latin typeface="Times New Roman" panose="02020603050405020304" pitchFamily="18" charset="0"/>
              <a:cs typeface="Times New Roman" panose="02020603050405020304" pitchFamily="18" charset="0"/>
            </a:endParaRPr>
          </a:p>
          <a:p>
            <a:pPr marL="127000" marR="40515" indent="0">
              <a:lnSpc>
                <a:spcPct val="95825"/>
              </a:lnSpc>
              <a:spcBef>
                <a:spcPts val="791"/>
              </a:spcBef>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a:t>
            </a:r>
            <a:r>
              <a:rPr lang="en-IN" sz="1800" i="1" spc="-3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ack</a:t>
            </a:r>
          </a:p>
          <a:p>
            <a:pPr marL="815847">
              <a:lnSpc>
                <a:spcPts val="1916"/>
              </a:lnSpc>
              <a:spcBef>
                <a:spcPts val="766"/>
              </a:spcBef>
            </a:pPr>
            <a:r>
              <a:rPr lang="en-IN" sz="1800" dirty="0">
                <a:latin typeface="Times New Roman" panose="02020603050405020304" pitchFamily="18" charset="0"/>
                <a:cs typeface="Times New Roman" panose="02020603050405020304" pitchFamily="18" charset="0"/>
              </a:rPr>
              <a:t>Con</a:t>
            </a:r>
            <a:r>
              <a:rPr lang="en-IN" sz="1800" spc="4" dirty="0">
                <a:latin typeface="Times New Roman" panose="02020603050405020304" pitchFamily="18" charset="0"/>
                <a:cs typeface="Times New Roman" panose="02020603050405020304" pitchFamily="18" charset="0"/>
              </a:rPr>
              <a:t>tai</a:t>
            </a:r>
            <a:r>
              <a:rPr lang="en-IN" sz="1800" dirty="0">
                <a:latin typeface="Times New Roman" panose="02020603050405020304" pitchFamily="18" charset="0"/>
                <a:cs typeface="Times New Roman" panose="02020603050405020304" pitchFamily="18" charset="0"/>
              </a:rPr>
              <a:t>ns</a:t>
            </a:r>
            <a:r>
              <a:rPr lang="en-IN" sz="1800" spc="-19"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tat</a:t>
            </a:r>
            <a:r>
              <a:rPr lang="en-IN" sz="1800" dirty="0">
                <a:latin typeface="Times New Roman" panose="02020603050405020304" pitchFamily="18" charset="0"/>
                <a:cs typeface="Times New Roman" panose="02020603050405020304" pitchFamily="18" charset="0"/>
              </a:rPr>
              <a:t>e</a:t>
            </a:r>
            <a:r>
              <a:rPr lang="en-IN" sz="1800" spc="-14"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nfor</a:t>
            </a:r>
            <a:r>
              <a:rPr lang="en-IN" sz="1800" spc="-9" dirty="0">
                <a:latin typeface="Times New Roman" panose="02020603050405020304" pitchFamily="18" charset="0"/>
                <a:cs typeface="Times New Roman" panose="02020603050405020304" pitchFamily="18" charset="0"/>
              </a:rPr>
              <a:t>m</a:t>
            </a:r>
            <a:r>
              <a:rPr lang="en-IN" sz="1800" spc="4" dirty="0">
                <a:latin typeface="Times New Roman" panose="02020603050405020304" pitchFamily="18" charset="0"/>
                <a:cs typeface="Times New Roman" panose="02020603050405020304" pitchFamily="18" charset="0"/>
              </a:rPr>
              <a:t>ati</a:t>
            </a:r>
            <a:r>
              <a:rPr lang="en-IN" sz="1800" dirty="0">
                <a:latin typeface="Times New Roman" panose="02020603050405020304" pitchFamily="18" charset="0"/>
                <a:cs typeface="Times New Roman" panose="02020603050405020304" pitchFamily="18" charset="0"/>
              </a:rPr>
              <a:t>on, </a:t>
            </a:r>
            <a:r>
              <a:rPr lang="en-IN" sz="1800" spc="-4" dirty="0">
                <a:latin typeface="Times New Roman" panose="02020603050405020304" pitchFamily="18" charset="0"/>
                <a:cs typeface="Times New Roman" panose="02020603050405020304" pitchFamily="18" charset="0"/>
              </a:rPr>
              <a:t>w</a:t>
            </a:r>
            <a:r>
              <a:rPr lang="en-IN" sz="1800" dirty="0">
                <a:latin typeface="Times New Roman" panose="02020603050405020304" pitchFamily="18" charset="0"/>
                <a:cs typeface="Times New Roman" panose="02020603050405020304" pitchFamily="18" charset="0"/>
              </a:rPr>
              <a:t>h</a:t>
            </a:r>
            <a:r>
              <a:rPr lang="en-IN" sz="1800" spc="4"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re </a:t>
            </a:r>
            <a:r>
              <a:rPr lang="en-IN" sz="1800" i="1" spc="-4" dirty="0" err="1">
                <a:solidFill>
                  <a:srgbClr val="CC0000"/>
                </a:solidFill>
                <a:latin typeface="Times New Roman" panose="02020603050405020304" pitchFamily="18" charset="0"/>
                <a:cs typeface="Times New Roman" panose="02020603050405020304" pitchFamily="18" charset="0"/>
              </a:rPr>
              <a:t>s</a:t>
            </a:r>
            <a:r>
              <a:rPr lang="en-IN" sz="1800" i="1" baseline="-21740" dirty="0" err="1">
                <a:solidFill>
                  <a:srgbClr val="CC0000"/>
                </a:solidFill>
                <a:latin typeface="Times New Roman" panose="02020603050405020304" pitchFamily="18" charset="0"/>
                <a:cs typeface="Times New Roman" panose="02020603050405020304" pitchFamily="18" charset="0"/>
              </a:rPr>
              <a:t>i</a:t>
            </a:r>
            <a:r>
              <a:rPr lang="en-IN" sz="1800" i="1" spc="160" baseline="-21740" dirty="0">
                <a:solidFill>
                  <a:srgbClr val="CC0000"/>
                </a:solidFill>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s</a:t>
            </a:r>
            <a:r>
              <a:rPr lang="en-IN" sz="1800" spc="-9" dirty="0">
                <a:latin typeface="Times New Roman" panose="02020603050405020304" pitchFamily="18" charset="0"/>
                <a:cs typeface="Times New Roman" panose="02020603050405020304" pitchFamily="18" charset="0"/>
              </a:rPr>
              <a:t> </a:t>
            </a:r>
            <a:r>
              <a:rPr lang="en-IN" sz="1800" i="1" spc="-4" dirty="0">
                <a:solidFill>
                  <a:srgbClr val="CC0000"/>
                </a:solidFill>
                <a:latin typeface="Times New Roman" panose="02020603050405020304" pitchFamily="18" charset="0"/>
                <a:cs typeface="Times New Roman" panose="02020603050405020304" pitchFamily="18" charset="0"/>
              </a:rPr>
              <a:t>s</a:t>
            </a:r>
            <a:r>
              <a:rPr lang="en-IN" sz="1800" i="1" spc="4" dirty="0">
                <a:solidFill>
                  <a:srgbClr val="CC0000"/>
                </a:solidFill>
                <a:latin typeface="Times New Roman" panose="02020603050405020304" pitchFamily="18" charset="0"/>
                <a:cs typeface="Times New Roman" panose="02020603050405020304" pitchFamily="18" charset="0"/>
              </a:rPr>
              <a:t>t</a:t>
            </a:r>
            <a:r>
              <a:rPr lang="en-IN" sz="1800" i="1" dirty="0">
                <a:solidFill>
                  <a:srgbClr val="CC0000"/>
                </a:solidFill>
                <a:latin typeface="Times New Roman" panose="02020603050405020304" pitchFamily="18" charset="0"/>
                <a:cs typeface="Times New Roman" panose="02020603050405020304" pitchFamily="18" charset="0"/>
              </a:rPr>
              <a:t>a</a:t>
            </a:r>
            <a:r>
              <a:rPr lang="en-IN" sz="1800" i="1" spc="4" dirty="0">
                <a:solidFill>
                  <a:srgbClr val="CC0000"/>
                </a:solidFill>
                <a:latin typeface="Times New Roman" panose="02020603050405020304" pitchFamily="18" charset="0"/>
                <a:cs typeface="Times New Roman" panose="02020603050405020304" pitchFamily="18" charset="0"/>
              </a:rPr>
              <a:t>t</a:t>
            </a:r>
            <a:r>
              <a:rPr lang="en-IN" sz="1800" i="1" dirty="0">
                <a:solidFill>
                  <a:srgbClr val="CC0000"/>
                </a:solidFill>
                <a:latin typeface="Times New Roman" panose="02020603050405020304" pitchFamily="18" charset="0"/>
                <a:cs typeface="Times New Roman" panose="02020603050405020304" pitchFamily="18" charset="0"/>
              </a:rPr>
              <a:t>e </a:t>
            </a:r>
            <a:r>
              <a:rPr lang="en-IN" sz="1800" i="1" dirty="0" err="1">
                <a:solidFill>
                  <a:srgbClr val="CC0000"/>
                </a:solidFill>
                <a:latin typeface="Times New Roman" panose="02020603050405020304" pitchFamily="18" charset="0"/>
                <a:cs typeface="Times New Roman" panose="02020603050405020304" pitchFamily="18" charset="0"/>
              </a:rPr>
              <a:t>i</a:t>
            </a:r>
            <a:endParaRPr lang="en-IN" sz="1800" dirty="0">
              <a:latin typeface="Times New Roman" panose="02020603050405020304" pitchFamily="18" charset="0"/>
              <a:cs typeface="Times New Roman" panose="02020603050405020304" pitchFamily="18" charset="0"/>
            </a:endParaRPr>
          </a:p>
          <a:p>
            <a:pPr marL="815847" marR="40515">
              <a:lnSpc>
                <a:spcPct val="95825"/>
              </a:lnSpc>
              <a:spcBef>
                <a:spcPts val="865"/>
              </a:spcBef>
            </a:pP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tate</a:t>
            </a:r>
            <a:r>
              <a:rPr lang="en-IN" sz="1800" dirty="0">
                <a:latin typeface="Times New Roman" panose="02020603050405020304" pitchFamily="18" charset="0"/>
                <a:cs typeface="Times New Roman" panose="02020603050405020304" pitchFamily="18" charset="0"/>
              </a:rPr>
              <a:t>s</a:t>
            </a:r>
            <a:r>
              <a:rPr lang="en-IN" sz="1800" spc="-19"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a</a:t>
            </a:r>
            <a:r>
              <a:rPr lang="en-IN" sz="1800" dirty="0">
                <a:latin typeface="Times New Roman" panose="02020603050405020304" pitchFamily="18" charset="0"/>
                <a:cs typeface="Times New Roman" panose="02020603050405020304" pitchFamily="18" charset="0"/>
              </a:rPr>
              <a:t>re ob</a:t>
            </a:r>
            <a:r>
              <a:rPr lang="en-IN" sz="1800" spc="4" dirty="0">
                <a:latin typeface="Times New Roman" panose="02020603050405020304" pitchFamily="18" charset="0"/>
                <a:cs typeface="Times New Roman" panose="02020603050405020304" pitchFamily="18" charset="0"/>
              </a:rPr>
              <a:t>tai</a:t>
            </a:r>
            <a:r>
              <a:rPr lang="en-IN" sz="1800" dirty="0">
                <a:latin typeface="Times New Roman" panose="02020603050405020304" pitchFamily="18" charset="0"/>
                <a:cs typeface="Times New Roman" panose="02020603050405020304" pitchFamily="18" charset="0"/>
              </a:rPr>
              <a:t>n</a:t>
            </a:r>
            <a:r>
              <a:rPr lang="en-IN" sz="1800" spc="4"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d</a:t>
            </a:r>
            <a:r>
              <a:rPr lang="en-IN" sz="1800" spc="-19"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from gr</a:t>
            </a:r>
            <a:r>
              <a:rPr lang="en-IN" sz="1800" spc="4" dirty="0">
                <a:latin typeface="Times New Roman" panose="02020603050405020304" pitchFamily="18" charset="0"/>
                <a:cs typeface="Times New Roman" panose="02020603050405020304" pitchFamily="18" charset="0"/>
              </a:rPr>
              <a:t>a</a:t>
            </a:r>
            <a:r>
              <a:rPr lang="en-IN" sz="1800" spc="-9" dirty="0">
                <a:latin typeface="Times New Roman" panose="02020603050405020304" pitchFamily="18" charset="0"/>
                <a:cs typeface="Times New Roman" panose="02020603050405020304" pitchFamily="18" charset="0"/>
              </a:rPr>
              <a:t>mm</a:t>
            </a:r>
            <a:r>
              <a:rPr lang="en-IN" sz="1800" spc="4" dirty="0">
                <a:latin typeface="Times New Roman" panose="02020603050405020304" pitchFamily="18" charset="0"/>
                <a:cs typeface="Times New Roman" panose="02020603050405020304" pitchFamily="18" charset="0"/>
              </a:rPr>
              <a:t>a</a:t>
            </a:r>
            <a:r>
              <a:rPr lang="en-IN" sz="1800"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 a</a:t>
            </a:r>
            <a:r>
              <a:rPr lang="en-IN" sz="1800" dirty="0">
                <a:latin typeface="Times New Roman" panose="02020603050405020304" pitchFamily="18" charset="0"/>
                <a:cs typeface="Times New Roman" panose="02020603050405020304" pitchFamily="18" charset="0"/>
              </a:rPr>
              <a:t>n</a:t>
            </a:r>
            <a:r>
              <a:rPr lang="en-IN" sz="1800" spc="4" dirty="0">
                <a:latin typeface="Times New Roman" panose="02020603050405020304" pitchFamily="18" charset="0"/>
                <a:cs typeface="Times New Roman" panose="02020603050405020304" pitchFamily="18" charset="0"/>
              </a:rPr>
              <a:t>al</a:t>
            </a:r>
            <a:r>
              <a:rPr lang="en-IN" sz="1800" spc="25" dirty="0">
                <a:latin typeface="Times New Roman" panose="02020603050405020304" pitchFamily="18" charset="0"/>
                <a:cs typeface="Times New Roman" panose="02020603050405020304" pitchFamily="18" charset="0"/>
              </a:rPr>
              <a:t>y</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s</a:t>
            </a:r>
          </a:p>
          <a:p>
            <a:pPr marL="815847" marR="40515">
              <a:lnSpc>
                <a:spcPct val="95825"/>
              </a:lnSpc>
              <a:spcBef>
                <a:spcPts val="865"/>
              </a:spcBef>
            </a:pPr>
            <a:endParaRPr lang="en-IN" sz="1800" dirty="0">
              <a:latin typeface="Times New Roman" panose="02020603050405020304" pitchFamily="18" charset="0"/>
              <a:cs typeface="Times New Roman" panose="02020603050405020304" pitchFamily="18" charset="0"/>
            </a:endParaRPr>
          </a:p>
          <a:p>
            <a:pPr marL="127000" marR="40515" indent="0">
              <a:lnSpc>
                <a:spcPct val="95825"/>
              </a:lnSpc>
              <a:spcBef>
                <a:spcPts val="791"/>
              </a:spcBef>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a:t>
            </a:r>
            <a:r>
              <a:rPr lang="en-IN" sz="1800" i="1" spc="-39"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a:t>
            </a:r>
            <a:r>
              <a:rPr lang="en-IN" sz="1800" i="1" spc="-1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wh</a:t>
            </a:r>
            <a:r>
              <a:rPr lang="en-IN" sz="1800" spc="-4" dirty="0">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ch</a:t>
            </a:r>
            <a:r>
              <a:rPr lang="en-IN" sz="1800" spc="-14"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h</a:t>
            </a:r>
            <a:r>
              <a:rPr lang="en-IN" sz="1800" dirty="0">
                <a:latin typeface="Times New Roman" panose="02020603050405020304" pitchFamily="18" charset="0"/>
                <a:cs typeface="Times New Roman" panose="02020603050405020304" pitchFamily="18" charset="0"/>
              </a:rPr>
              <a:t>as</a:t>
            </a:r>
            <a:r>
              <a:rPr lang="en-IN" sz="1800" spc="-19"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t</a:t>
            </a:r>
            <a:r>
              <a:rPr lang="en-IN" sz="1800" spc="4" dirty="0">
                <a:latin typeface="Times New Roman" panose="02020603050405020304" pitchFamily="18" charset="0"/>
                <a:cs typeface="Times New Roman" panose="02020603050405020304" pitchFamily="18" charset="0"/>
              </a:rPr>
              <a:t>w</a:t>
            </a:r>
            <a:r>
              <a:rPr lang="en-IN" sz="1800" dirty="0">
                <a:latin typeface="Times New Roman" panose="02020603050405020304" pitchFamily="18" charset="0"/>
                <a:cs typeface="Times New Roman" panose="02020603050405020304" pitchFamily="18" charset="0"/>
              </a:rPr>
              <a:t>o </a:t>
            </a:r>
            <a:r>
              <a:rPr lang="en-IN" sz="1800" spc="4" dirty="0">
                <a:latin typeface="Times New Roman" panose="02020603050405020304" pitchFamily="18" charset="0"/>
                <a:cs typeface="Times New Roman" panose="02020603050405020304" pitchFamily="18" charset="0"/>
              </a:rPr>
              <a:t>p</a:t>
            </a:r>
            <a:r>
              <a:rPr lang="en-IN" sz="1800" dirty="0">
                <a:latin typeface="Times New Roman" panose="02020603050405020304" pitchFamily="18" charset="0"/>
                <a:cs typeface="Times New Roman" panose="02020603050405020304" pitchFamily="18" charset="0"/>
              </a:rPr>
              <a:t>a</a:t>
            </a:r>
            <a:r>
              <a:rPr lang="en-IN" sz="1800" spc="4"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t</a:t>
            </a:r>
            <a:r>
              <a:rPr lang="en-IN" sz="1800" dirty="0">
                <a:latin typeface="Times New Roman" panose="02020603050405020304" pitchFamily="18" charset="0"/>
                <a:cs typeface="Times New Roman" panose="02020603050405020304" pitchFamily="18" charset="0"/>
              </a:rPr>
              <a:t>s</a:t>
            </a:r>
          </a:p>
          <a:p>
            <a:pPr marL="815847" marR="40515">
              <a:lnSpc>
                <a:spcPct val="95825"/>
              </a:lnSpc>
              <a:spcBef>
                <a:spcPts val="766"/>
              </a:spcBef>
            </a:pPr>
            <a:r>
              <a:rPr lang="en-IN" sz="1800" spc="-4" dirty="0">
                <a:latin typeface="Times New Roman" panose="02020603050405020304" pitchFamily="18" charset="0"/>
                <a:cs typeface="Times New Roman" panose="02020603050405020304" pitchFamily="18" charset="0"/>
              </a:rPr>
              <a:t>A</a:t>
            </a:r>
            <a:r>
              <a:rPr lang="en-IN" sz="1800" spc="4" dirty="0">
                <a:latin typeface="Times New Roman" panose="02020603050405020304" pitchFamily="18" charset="0"/>
                <a:cs typeface="Times New Roman" panose="02020603050405020304" pitchFamily="18" charset="0"/>
              </a:rPr>
              <a:t>cti</a:t>
            </a:r>
            <a:r>
              <a:rPr lang="en-IN" sz="1800" dirty="0">
                <a:latin typeface="Times New Roman" panose="02020603050405020304" pitchFamily="18" charset="0"/>
                <a:cs typeface="Times New Roman" panose="02020603050405020304" pitchFamily="18" charset="0"/>
              </a:rPr>
              <a:t>on</a:t>
            </a:r>
            <a:r>
              <a:rPr lang="en-IN" sz="1800" spc="-19"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ecti</a:t>
            </a:r>
            <a:r>
              <a:rPr lang="en-IN" sz="1800" dirty="0">
                <a:latin typeface="Times New Roman" panose="02020603050405020304" pitchFamily="18" charset="0"/>
                <a:cs typeface="Times New Roman" panose="02020603050405020304" pitchFamily="18" charset="0"/>
              </a:rPr>
              <a:t>on:</a:t>
            </a:r>
            <a:r>
              <a:rPr lang="en-IN" sz="1800" spc="-14"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s</a:t>
            </a:r>
            <a:r>
              <a:rPr lang="en-IN" sz="1800" dirty="0">
                <a:latin typeface="Times New Roman" panose="02020603050405020304" pitchFamily="18" charset="0"/>
                <a:cs typeface="Times New Roman" panose="02020603050405020304" pitchFamily="18" charset="0"/>
              </a:rPr>
              <a:t>p</a:t>
            </a:r>
            <a:r>
              <a:rPr lang="en-IN" sz="1800" spc="4" dirty="0">
                <a:latin typeface="Times New Roman" panose="02020603050405020304" pitchFamily="18" charset="0"/>
                <a:cs typeface="Times New Roman" panose="02020603050405020304" pitchFamily="18" charset="0"/>
              </a:rPr>
              <a:t>eci</a:t>
            </a:r>
            <a:r>
              <a:rPr lang="en-IN" sz="1800" dirty="0">
                <a:latin typeface="Times New Roman" panose="02020603050405020304" pitchFamily="18" charset="0"/>
                <a:cs typeface="Times New Roman" panose="02020603050405020304" pitchFamily="18" charset="0"/>
              </a:rPr>
              <a:t>f</a:t>
            </a:r>
            <a:r>
              <a:rPr lang="en-IN" sz="1800" spc="4" dirty="0">
                <a:latin typeface="Times New Roman" panose="02020603050405020304" pitchFamily="18" charset="0"/>
                <a:cs typeface="Times New Roman" panose="02020603050405020304" pitchFamily="18" charset="0"/>
              </a:rPr>
              <a:t>ie</a:t>
            </a:r>
            <a:r>
              <a:rPr lang="en-IN" sz="1800" dirty="0">
                <a:latin typeface="Times New Roman" panose="02020603050405020304" pitchFamily="18" charset="0"/>
                <a:cs typeface="Times New Roman" panose="02020603050405020304" pitchFamily="18" charset="0"/>
              </a:rPr>
              <a:t>s</a:t>
            </a:r>
            <a:r>
              <a:rPr lang="en-IN" sz="1800" spc="-9"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t</a:t>
            </a:r>
            <a:r>
              <a:rPr lang="en-IN" sz="1800" dirty="0">
                <a:latin typeface="Times New Roman" panose="02020603050405020304" pitchFamily="18" charset="0"/>
                <a:cs typeface="Times New Roman" panose="02020603050405020304" pitchFamily="18" charset="0"/>
              </a:rPr>
              <a:t>he</a:t>
            </a:r>
            <a:r>
              <a:rPr lang="en-IN" sz="1800" spc="-14"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p</a:t>
            </a:r>
            <a:r>
              <a:rPr lang="en-IN" sz="1800" spc="4" dirty="0">
                <a:latin typeface="Times New Roman" panose="02020603050405020304" pitchFamily="18" charset="0"/>
                <a:cs typeface="Times New Roman" panose="02020603050405020304" pitchFamily="18" charset="0"/>
              </a:rPr>
              <a:t>a</a:t>
            </a:r>
            <a:r>
              <a:rPr lang="en-IN" sz="1800"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 acti</a:t>
            </a:r>
            <a:r>
              <a:rPr lang="en-IN" sz="1800" dirty="0">
                <a:latin typeface="Times New Roman" panose="02020603050405020304" pitchFamily="18" charset="0"/>
                <a:cs typeface="Times New Roman" panose="02020603050405020304" pitchFamily="18" charset="0"/>
              </a:rPr>
              <a:t>ons</a:t>
            </a:r>
          </a:p>
          <a:p>
            <a:pPr marL="815847" marR="40515">
              <a:lnSpc>
                <a:spcPct val="95825"/>
              </a:lnSpc>
              <a:spcBef>
                <a:spcPts val="738"/>
              </a:spcBef>
            </a:pPr>
            <a:r>
              <a:rPr lang="en-IN" sz="1800" spc="-4" dirty="0" err="1">
                <a:latin typeface="Times New Roman" panose="02020603050405020304" pitchFamily="18" charset="0"/>
                <a:cs typeface="Times New Roman" panose="02020603050405020304" pitchFamily="18" charset="0"/>
              </a:rPr>
              <a:t>G</a:t>
            </a:r>
            <a:r>
              <a:rPr lang="en-IN" sz="1800" dirty="0" err="1">
                <a:latin typeface="Times New Roman" panose="02020603050405020304" pitchFamily="18" charset="0"/>
                <a:cs typeface="Times New Roman" panose="02020603050405020304" pitchFamily="18" charset="0"/>
              </a:rPr>
              <a:t>o</a:t>
            </a:r>
            <a:r>
              <a:rPr lang="en-IN" sz="1800" spc="4" dirty="0" err="1">
                <a:latin typeface="Times New Roman" panose="02020603050405020304" pitchFamily="18" charset="0"/>
                <a:cs typeface="Times New Roman" panose="02020603050405020304" pitchFamily="18" charset="0"/>
              </a:rPr>
              <a:t>t</a:t>
            </a:r>
            <a:r>
              <a:rPr lang="en-IN" sz="1800" dirty="0" err="1">
                <a:latin typeface="Times New Roman" panose="02020603050405020304" pitchFamily="18" charset="0"/>
                <a:cs typeface="Times New Roman" panose="02020603050405020304" pitchFamily="18" charset="0"/>
              </a:rPr>
              <a:t>o</a:t>
            </a:r>
            <a:r>
              <a:rPr lang="en-IN" sz="1800" spc="-19"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ecti</a:t>
            </a:r>
            <a:r>
              <a:rPr lang="en-IN" sz="1800" dirty="0">
                <a:latin typeface="Times New Roman" panose="02020603050405020304" pitchFamily="18" charset="0"/>
                <a:cs typeface="Times New Roman" panose="02020603050405020304" pitchFamily="18" charset="0"/>
              </a:rPr>
              <a:t>on: </a:t>
            </a:r>
            <a:r>
              <a:rPr lang="en-IN" sz="1800" spc="-4" dirty="0">
                <a:latin typeface="Times New Roman" panose="02020603050405020304" pitchFamily="18" charset="0"/>
                <a:cs typeface="Times New Roman" panose="02020603050405020304" pitchFamily="18" charset="0"/>
              </a:rPr>
              <a:t>s</a:t>
            </a:r>
            <a:r>
              <a:rPr lang="en-IN" sz="1800" dirty="0">
                <a:latin typeface="Times New Roman" panose="02020603050405020304" pitchFamily="18" charset="0"/>
                <a:cs typeface="Times New Roman" panose="02020603050405020304" pitchFamily="18" charset="0"/>
              </a:rPr>
              <a:t>p</a:t>
            </a:r>
            <a:r>
              <a:rPr lang="en-IN" sz="1800" spc="4" dirty="0">
                <a:latin typeface="Times New Roman" panose="02020603050405020304" pitchFamily="18" charset="0"/>
                <a:cs typeface="Times New Roman" panose="02020603050405020304" pitchFamily="18" charset="0"/>
              </a:rPr>
              <a:t>eci</a:t>
            </a:r>
            <a:r>
              <a:rPr lang="en-IN" sz="1800" dirty="0">
                <a:latin typeface="Times New Roman" panose="02020603050405020304" pitchFamily="18" charset="0"/>
                <a:cs typeface="Times New Roman" panose="02020603050405020304" pitchFamily="18" charset="0"/>
              </a:rPr>
              <a:t>f</a:t>
            </a:r>
            <a:r>
              <a:rPr lang="en-IN" sz="1800" spc="4" dirty="0">
                <a:latin typeface="Times New Roman" panose="02020603050405020304" pitchFamily="18" charset="0"/>
                <a:cs typeface="Times New Roman" panose="02020603050405020304" pitchFamily="18" charset="0"/>
              </a:rPr>
              <a:t>ie</a:t>
            </a:r>
            <a:r>
              <a:rPr lang="en-IN" sz="1800" dirty="0">
                <a:latin typeface="Times New Roman" panose="02020603050405020304" pitchFamily="18" charset="0"/>
                <a:cs typeface="Times New Roman" panose="02020603050405020304" pitchFamily="18" charset="0"/>
              </a:rPr>
              <a:t>s</a:t>
            </a:r>
            <a:r>
              <a:rPr lang="en-IN" sz="1800" spc="-19"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t</a:t>
            </a:r>
            <a:r>
              <a:rPr lang="en-IN" sz="1800" dirty="0">
                <a:latin typeface="Times New Roman" panose="02020603050405020304" pitchFamily="18" charset="0"/>
                <a:cs typeface="Times New Roman" panose="02020603050405020304" pitchFamily="18" charset="0"/>
              </a:rPr>
              <a:t>he </a:t>
            </a:r>
            <a:r>
              <a:rPr lang="en-IN" sz="1800" spc="-4" dirty="0">
                <a:latin typeface="Times New Roman" panose="02020603050405020304" pitchFamily="18" charset="0"/>
                <a:cs typeface="Times New Roman" panose="02020603050405020304" pitchFamily="18" charset="0"/>
              </a:rPr>
              <a:t>s</a:t>
            </a:r>
            <a:r>
              <a:rPr lang="en-IN" sz="1800" dirty="0">
                <a:latin typeface="Times New Roman" panose="02020603050405020304" pitchFamily="18" charset="0"/>
                <a:cs typeface="Times New Roman" panose="02020603050405020304" pitchFamily="18" charset="0"/>
              </a:rPr>
              <a:t>u</a:t>
            </a:r>
            <a:r>
              <a:rPr lang="en-IN" sz="1800" spc="4" dirty="0">
                <a:latin typeface="Times New Roman" panose="02020603050405020304" pitchFamily="18" charset="0"/>
                <a:cs typeface="Times New Roman" panose="02020603050405020304" pitchFamily="18" charset="0"/>
              </a:rPr>
              <a:t>cce</a:t>
            </a:r>
            <a:r>
              <a:rPr lang="en-IN" sz="1800" spc="-4" dirty="0">
                <a:latin typeface="Times New Roman" panose="02020603050405020304" pitchFamily="18" charset="0"/>
                <a:cs typeface="Times New Roman" panose="02020603050405020304" pitchFamily="18" charset="0"/>
              </a:rPr>
              <a:t>ss</a:t>
            </a:r>
            <a:r>
              <a:rPr lang="en-IN" sz="1800" dirty="0">
                <a:latin typeface="Times New Roman" panose="02020603050405020304" pitchFamily="18" charset="0"/>
                <a:cs typeface="Times New Roman" panose="02020603050405020304" pitchFamily="18" charset="0"/>
              </a:rPr>
              <a:t>or</a:t>
            </a:r>
            <a:r>
              <a:rPr lang="en-IN" sz="1800" spc="4"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tates</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216195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Effect transition="in" filter="wipe(down)">
                                      <p:cBhvr>
                                        <p:cTn id="13" dur="500"/>
                                        <p:tgtEl>
                                          <p:spTgt spid="12">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2">
                                            <p:txEl>
                                              <p:pRg st="3" end="3"/>
                                            </p:txEl>
                                          </p:spTgt>
                                        </p:tgtEl>
                                        <p:attrNameLst>
                                          <p:attrName>style.visibility</p:attrName>
                                        </p:attrNameLst>
                                      </p:cBhvr>
                                      <p:to>
                                        <p:strVal val="visible"/>
                                      </p:to>
                                    </p:set>
                                    <p:animEffect transition="in" filter="wipe(down)">
                                      <p:cBhvr>
                                        <p:cTn id="16" dur="500"/>
                                        <p:tgtEl>
                                          <p:spTgt spid="1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2">
                                            <p:txEl>
                                              <p:pRg st="5" end="5"/>
                                            </p:txEl>
                                          </p:spTgt>
                                        </p:tgtEl>
                                        <p:attrNameLst>
                                          <p:attrName>style.visibility</p:attrName>
                                        </p:attrNameLst>
                                      </p:cBhvr>
                                      <p:to>
                                        <p:strVal val="visible"/>
                                      </p:to>
                                    </p:set>
                                    <p:animEffect transition="in" filter="wipe(down)">
                                      <p:cBhvr>
                                        <p:cTn id="21" dur="500"/>
                                        <p:tgtEl>
                                          <p:spTgt spid="12">
                                            <p:txEl>
                                              <p:pRg st="5" end="5"/>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12">
                                            <p:txEl>
                                              <p:pRg st="6" end="6"/>
                                            </p:txEl>
                                          </p:spTgt>
                                        </p:tgtEl>
                                        <p:attrNameLst>
                                          <p:attrName>style.visibility</p:attrName>
                                        </p:attrNameLst>
                                      </p:cBhvr>
                                      <p:to>
                                        <p:strVal val="visible"/>
                                      </p:to>
                                    </p:set>
                                    <p:animEffect transition="in" filter="wipe(down)">
                                      <p:cBhvr>
                                        <p:cTn id="24" dur="500"/>
                                        <p:tgtEl>
                                          <p:spTgt spid="12">
                                            <p:txEl>
                                              <p:pRg st="6" end="6"/>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12">
                                            <p:txEl>
                                              <p:pRg st="7" end="7"/>
                                            </p:txEl>
                                          </p:spTgt>
                                        </p:tgtEl>
                                        <p:attrNameLst>
                                          <p:attrName>style.visibility</p:attrName>
                                        </p:attrNameLst>
                                      </p:cBhvr>
                                      <p:to>
                                        <p:strVal val="visible"/>
                                      </p:to>
                                    </p:set>
                                    <p:animEffect transition="in" filter="wipe(down)">
                                      <p:cBhvr>
                                        <p:cTn id="27" dur="500"/>
                                        <p:tgtEl>
                                          <p:spTgt spid="12">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2">
                                            <p:txEl>
                                              <p:pRg st="9" end="9"/>
                                            </p:txEl>
                                          </p:spTgt>
                                        </p:tgtEl>
                                        <p:attrNameLst>
                                          <p:attrName>style.visibility</p:attrName>
                                        </p:attrNameLst>
                                      </p:cBhvr>
                                      <p:to>
                                        <p:strVal val="visible"/>
                                      </p:to>
                                    </p:set>
                                    <p:animEffect transition="in" filter="wipe(down)">
                                      <p:cBhvr>
                                        <p:cTn id="32" dur="500"/>
                                        <p:tgtEl>
                                          <p:spTgt spid="12">
                                            <p:txEl>
                                              <p:pRg st="9" end="9"/>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12">
                                            <p:txEl>
                                              <p:pRg st="10" end="10"/>
                                            </p:txEl>
                                          </p:spTgt>
                                        </p:tgtEl>
                                        <p:attrNameLst>
                                          <p:attrName>style.visibility</p:attrName>
                                        </p:attrNameLst>
                                      </p:cBhvr>
                                      <p:to>
                                        <p:strVal val="visible"/>
                                      </p:to>
                                    </p:set>
                                    <p:animEffect transition="in" filter="wipe(down)">
                                      <p:cBhvr>
                                        <p:cTn id="35" dur="500"/>
                                        <p:tgtEl>
                                          <p:spTgt spid="12">
                                            <p:txEl>
                                              <p:pRg st="10" end="10"/>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12">
                                            <p:txEl>
                                              <p:pRg st="11" end="11"/>
                                            </p:txEl>
                                          </p:spTgt>
                                        </p:tgtEl>
                                        <p:attrNameLst>
                                          <p:attrName>style.visibility</p:attrName>
                                        </p:attrNameLst>
                                      </p:cBhvr>
                                      <p:to>
                                        <p:strVal val="visible"/>
                                      </p:to>
                                    </p:set>
                                    <p:animEffect transition="in" filter="wipe(down)">
                                      <p:cBhvr>
                                        <p:cTn id="38" dur="500"/>
                                        <p:tgtEl>
                                          <p:spTgt spid="1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0D65845-DCB0-4363-8D09-8F5D1B4AFF45}"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Various steps involved in the LR (0) Parsing</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en-I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D25E4C5E-5898-4860-8D95-0E8DFB0E341C}"/>
              </a:ext>
            </a:extLst>
          </p:cNvPr>
          <p:cNvGraphicFramePr/>
          <p:nvPr>
            <p:extLst>
              <p:ext uri="{D42A27DB-BD31-4B8C-83A1-F6EECF244321}">
                <p14:modId xmlns:p14="http://schemas.microsoft.com/office/powerpoint/2010/main" val="1203592358"/>
              </p:ext>
            </p:extLst>
          </p:nvPr>
        </p:nvGraphicFramePr>
        <p:xfrm>
          <a:off x="533400" y="1083922"/>
          <a:ext cx="8077200" cy="4830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410171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6008AAD-8A78-454C-9E6B-EE4A18E2B885}"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rPr>
              <a:t>Example: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buNone/>
            </a:pPr>
            <a:r>
              <a:rPr lang="en-IN" sz="1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Question:</a:t>
            </a:r>
          </a:p>
          <a:p>
            <a:pPr marL="0" indent="0">
              <a:lnSpc>
                <a:spcPct val="100000"/>
              </a:lnSpc>
              <a:buNone/>
            </a:pPr>
            <a:r>
              <a:rPr lang="en-IN" sz="1800" dirty="0">
                <a:latin typeface="Times New Roman" panose="02020603050405020304" pitchFamily="18" charset="0"/>
                <a:cs typeface="Times New Roman" panose="02020603050405020304" pitchFamily="18" charset="0"/>
              </a:rPr>
              <a:t>	S → AA  </a:t>
            </a:r>
          </a:p>
          <a:p>
            <a:pPr marL="0" indent="0">
              <a:lnSpc>
                <a:spcPct val="100000"/>
              </a:lnSpc>
              <a:buNone/>
            </a:pPr>
            <a:r>
              <a:rPr lang="en-IN" sz="1800" dirty="0">
                <a:latin typeface="Times New Roman" panose="02020603050405020304" pitchFamily="18" charset="0"/>
                <a:cs typeface="Times New Roman" panose="02020603050405020304" pitchFamily="18" charset="0"/>
              </a:rPr>
              <a:t>	A → </a:t>
            </a:r>
            <a:r>
              <a:rPr lang="en-IN" sz="1800" dirty="0" err="1">
                <a:latin typeface="Times New Roman" panose="02020603050405020304" pitchFamily="18" charset="0"/>
                <a:cs typeface="Times New Roman" panose="02020603050405020304" pitchFamily="18" charset="0"/>
              </a:rPr>
              <a:t>aA</a:t>
            </a:r>
            <a:r>
              <a:rPr lang="en-IN" sz="1800" dirty="0">
                <a:latin typeface="Times New Roman" panose="02020603050405020304" pitchFamily="18" charset="0"/>
                <a:cs typeface="Times New Roman" panose="02020603050405020304" pitchFamily="18" charset="0"/>
              </a:rPr>
              <a:t> | b  </a:t>
            </a:r>
          </a:p>
          <a:p>
            <a:pPr>
              <a:lnSpc>
                <a:spcPct val="100000"/>
              </a:lnSpc>
            </a:pPr>
            <a:endParaRPr lang="en-IN" sz="1800" dirty="0">
              <a:latin typeface="Times New Roman" panose="02020603050405020304" pitchFamily="18" charset="0"/>
              <a:cs typeface="Times New Roman" panose="02020603050405020304" pitchFamily="18" charset="0"/>
            </a:endParaRPr>
          </a:p>
          <a:p>
            <a:pPr>
              <a:lnSpc>
                <a:spcPct val="100000"/>
              </a:lnSpc>
            </a:pPr>
            <a:endParaRPr lang="en-IN" sz="1800" dirty="0">
              <a:latin typeface="Times New Roman" panose="02020603050405020304" pitchFamily="18" charset="0"/>
              <a:cs typeface="Times New Roman" panose="02020603050405020304" pitchFamily="18" charset="0"/>
            </a:endParaRPr>
          </a:p>
          <a:p>
            <a:pPr marL="0" indent="0">
              <a:buNone/>
            </a:pPr>
            <a:r>
              <a:rPr lang="en-IN" sz="1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r>
              <a:rPr lang="en-IN" sz="1800" dirty="0">
                <a:latin typeface="Times New Roman" panose="02020603050405020304" pitchFamily="18" charset="0"/>
                <a:cs typeface="Times New Roman" panose="02020603050405020304" pitchFamily="18" charset="0"/>
              </a:rPr>
              <a:t>: </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Augment grammar G` is represented by</a:t>
            </a:r>
            <a:endParaRPr lang="en-IN" sz="1800" dirty="0">
              <a:latin typeface="Times New Roman" panose="02020603050405020304" pitchFamily="18" charset="0"/>
              <a:cs typeface="Times New Roman" panose="02020603050405020304" pitchFamily="18" charset="0"/>
            </a:endParaRPr>
          </a:p>
          <a:p>
            <a:pPr marL="0" indent="0">
              <a:lnSpc>
                <a:spcPct val="100000"/>
              </a:lnSpc>
              <a:buNone/>
            </a:pPr>
            <a:r>
              <a:rPr lang="en-IN" sz="1800" dirty="0">
                <a:latin typeface="Times New Roman" panose="02020603050405020304" pitchFamily="18" charset="0"/>
                <a:cs typeface="Times New Roman" panose="02020603050405020304" pitchFamily="18" charset="0"/>
              </a:rPr>
              <a:t>	</a:t>
            </a:r>
          </a:p>
          <a:p>
            <a:pPr marL="0" indent="0">
              <a:lnSpc>
                <a:spcPct val="100000"/>
              </a:lnSpc>
              <a:buNone/>
            </a:pPr>
            <a:r>
              <a:rPr lang="en-IN" sz="1800" dirty="0">
                <a:latin typeface="Times New Roman" panose="02020603050405020304" pitchFamily="18" charset="0"/>
                <a:cs typeface="Times New Roman" panose="02020603050405020304" pitchFamily="18" charset="0"/>
              </a:rPr>
              <a:t>		S`→ S  </a:t>
            </a:r>
          </a:p>
          <a:p>
            <a:pPr marL="0" indent="0">
              <a:lnSpc>
                <a:spcPct val="100000"/>
              </a:lnSpc>
              <a:buNone/>
            </a:pPr>
            <a:r>
              <a:rPr lang="en-IN" sz="1800" dirty="0">
                <a:latin typeface="Times New Roman" panose="02020603050405020304" pitchFamily="18" charset="0"/>
                <a:cs typeface="Times New Roman" panose="02020603050405020304" pitchFamily="18" charset="0"/>
              </a:rPr>
              <a:t>		S → AA  </a:t>
            </a:r>
          </a:p>
          <a:p>
            <a:pPr marL="0" indent="0">
              <a:lnSpc>
                <a:spcPct val="100000"/>
              </a:lnSpc>
              <a:buNone/>
            </a:pPr>
            <a:r>
              <a:rPr lang="en-IN" sz="1800" dirty="0">
                <a:latin typeface="Times New Roman" panose="02020603050405020304" pitchFamily="18" charset="0"/>
                <a:cs typeface="Times New Roman" panose="02020603050405020304" pitchFamily="18" charset="0"/>
              </a:rPr>
              <a:t>		A → </a:t>
            </a:r>
            <a:r>
              <a:rPr lang="en-IN" sz="1800" dirty="0" err="1">
                <a:latin typeface="Times New Roman" panose="02020603050405020304" pitchFamily="18" charset="0"/>
                <a:cs typeface="Times New Roman" panose="02020603050405020304" pitchFamily="18" charset="0"/>
              </a:rPr>
              <a:t>aA</a:t>
            </a:r>
            <a:r>
              <a:rPr lang="en-IN" sz="1800" dirty="0">
                <a:latin typeface="Times New Roman" panose="02020603050405020304" pitchFamily="18" charset="0"/>
                <a:cs typeface="Times New Roman" panose="02020603050405020304" pitchFamily="18" charset="0"/>
              </a:rPr>
              <a:t> | b  </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9281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anim calcmode="lin" valueType="num">
                                      <p:cBhvr additive="base">
                                        <p:cTn id="11"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anim calcmode="lin" valueType="num">
                                      <p:cBhvr additive="base">
                                        <p:cTn id="15"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2">
                                            <p:txEl>
                                              <p:pRg st="5" end="5"/>
                                            </p:txEl>
                                          </p:spTgt>
                                        </p:tgtEl>
                                        <p:attrNameLst>
                                          <p:attrName>style.visibility</p:attrName>
                                        </p:attrNameLst>
                                      </p:cBhvr>
                                      <p:to>
                                        <p:strVal val="visible"/>
                                      </p:to>
                                    </p:set>
                                    <p:anim calcmode="lin" valueType="num">
                                      <p:cBhvr additive="base">
                                        <p:cTn id="21" dur="500" fill="hold"/>
                                        <p:tgtEl>
                                          <p:spTgt spid="12">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2">
                                            <p:txEl>
                                              <p:pRg st="7" end="7"/>
                                            </p:txEl>
                                          </p:spTgt>
                                        </p:tgtEl>
                                        <p:attrNameLst>
                                          <p:attrName>style.visibility</p:attrName>
                                        </p:attrNameLst>
                                      </p:cBhvr>
                                      <p:to>
                                        <p:strVal val="visible"/>
                                      </p:to>
                                    </p:set>
                                    <p:anim calcmode="lin" valueType="num">
                                      <p:cBhvr additive="base">
                                        <p:cTn id="27" dur="500" fill="hold"/>
                                        <p:tgtEl>
                                          <p:spTgt spid="12">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12">
                                            <p:txEl>
                                              <p:pRg st="8" end="8"/>
                                            </p:txEl>
                                          </p:spTgt>
                                        </p:tgtEl>
                                        <p:attrNameLst>
                                          <p:attrName>style.visibility</p:attrName>
                                        </p:attrNameLst>
                                      </p:cBhvr>
                                      <p:to>
                                        <p:strVal val="visible"/>
                                      </p:to>
                                    </p:set>
                                    <p:animEffect transition="in" filter="wipe(down)">
                                      <p:cBhvr>
                                        <p:cTn id="33" dur="500"/>
                                        <p:tgtEl>
                                          <p:spTgt spid="12">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2">
                                            <p:txEl>
                                              <p:pRg st="9" end="9"/>
                                            </p:txEl>
                                          </p:spTgt>
                                        </p:tgtEl>
                                        <p:attrNameLst>
                                          <p:attrName>style.visibility</p:attrName>
                                        </p:attrNameLst>
                                      </p:cBhvr>
                                      <p:to>
                                        <p:strVal val="visible"/>
                                      </p:to>
                                    </p:set>
                                    <p:animEffect transition="in" filter="wipe(down)">
                                      <p:cBhvr>
                                        <p:cTn id="38" dur="500"/>
                                        <p:tgtEl>
                                          <p:spTgt spid="12">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12">
                                            <p:txEl>
                                              <p:pRg st="10" end="10"/>
                                            </p:txEl>
                                          </p:spTgt>
                                        </p:tgtEl>
                                        <p:attrNameLst>
                                          <p:attrName>style.visibility</p:attrName>
                                        </p:attrNameLst>
                                      </p:cBhvr>
                                      <p:to>
                                        <p:strVal val="visible"/>
                                      </p:to>
                                    </p:set>
                                    <p:animEffect transition="in" filter="wipe(down)">
                                      <p:cBhvr>
                                        <p:cTn id="43" dur="500"/>
                                        <p:tgtEl>
                                          <p:spTgt spid="12">
                                            <p:txEl>
                                              <p:pRg st="10" end="10"/>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12">
                                            <p:txEl>
                                              <p:pRg st="11" end="11"/>
                                            </p:txEl>
                                          </p:spTgt>
                                        </p:tgtEl>
                                        <p:attrNameLst>
                                          <p:attrName>style.visibility</p:attrName>
                                        </p:attrNameLst>
                                      </p:cBhvr>
                                      <p:to>
                                        <p:strVal val="visible"/>
                                      </p:to>
                                    </p:set>
                                    <p:animEffect transition="in" filter="wipe(down)">
                                      <p:cBhvr>
                                        <p:cTn id="46" dur="500"/>
                                        <p:tgtEl>
                                          <p:spTgt spid="1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AAD163D-87F7-43C3-873C-55D3D302B27F}"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rPr>
              <a:t>Canonical Collection of LR(0)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algn="just"/>
            <a:r>
              <a:rPr lang="en-US" sz="1800" dirty="0">
                <a:latin typeface="Times New Roman" panose="02020603050405020304" pitchFamily="18" charset="0"/>
                <a:cs typeface="Times New Roman" panose="02020603050405020304" pitchFamily="18" charset="0"/>
              </a:rPr>
              <a:t>An LR (0) item is a production G with dot at some position on the right side of the production.</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LR(0) items is useful to indicate that how much of the input has been scanned up to a given point in the process of parsing.</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In the LR (0), we place the reduce node in the entire row.</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85406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anim calcmode="lin" valueType="num">
                                      <p:cBhvr additive="base">
                                        <p:cTn id="11"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anim calcmode="lin" valueType="num">
                                      <p:cBhvr additive="base">
                                        <p:cTn id="15"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FF4FC88-1D2D-42AC-AB27-AF3CD6F9E163}"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EXAMPLE</a:t>
            </a: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lgn="just">
              <a:lnSpc>
                <a:spcPct val="100000"/>
              </a:lnSpc>
              <a:buNone/>
            </a:pPr>
            <a:r>
              <a:rPr lang="en-IN" sz="1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p>
          <a:p>
            <a:pPr marL="0" indent="0" algn="just">
              <a:lnSpc>
                <a:spcPct val="100000"/>
              </a:lnSpc>
              <a:buNone/>
            </a:pPr>
            <a:r>
              <a:rPr lang="en-IN" sz="1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S → AA    &amp;   A → </a:t>
            </a:r>
            <a:r>
              <a:rPr lang="en-IN" sz="1800" dirty="0" err="1">
                <a:latin typeface="Times New Roman" panose="02020603050405020304" pitchFamily="18" charset="0"/>
                <a:cs typeface="Times New Roman" panose="02020603050405020304" pitchFamily="18" charset="0"/>
              </a:rPr>
              <a:t>aA</a:t>
            </a:r>
            <a:r>
              <a:rPr lang="en-IN" sz="1800" dirty="0">
                <a:latin typeface="Times New Roman" panose="02020603050405020304" pitchFamily="18" charset="0"/>
                <a:cs typeface="Times New Roman" panose="02020603050405020304" pitchFamily="18" charset="0"/>
              </a:rPr>
              <a:t> | b  </a:t>
            </a:r>
          </a:p>
          <a:p>
            <a:pPr marL="0" indent="0" algn="just">
              <a:lnSpc>
                <a:spcPct val="100000"/>
              </a:lnSpc>
              <a:buNone/>
            </a:pPr>
            <a:endParaRPr lang="en-IN" sz="1800" dirty="0">
              <a:latin typeface="Times New Roman" panose="02020603050405020304" pitchFamily="18" charset="0"/>
              <a:cs typeface="Times New Roman" panose="02020603050405020304" pitchFamily="18" charset="0"/>
            </a:endParaRPr>
          </a:p>
          <a:p>
            <a:pPr marL="0" indent="0" algn="just">
              <a:buNone/>
            </a:pPr>
            <a:r>
              <a:rPr lang="en-IN" sz="1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Add Augment Production and insert '•' symbol at the first position for S` → •S  production.</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lnSpc>
                <a:spcPct val="100000"/>
              </a:lnSpc>
              <a:buNone/>
            </a:pPr>
            <a:r>
              <a:rPr lang="en-US" sz="1800" dirty="0">
                <a:latin typeface="Times New Roman" panose="02020603050405020304" pitchFamily="18" charset="0"/>
                <a:cs typeface="Times New Roman" panose="02020603050405020304" pitchFamily="18" charset="0"/>
              </a:rPr>
              <a:t>	S` → •S  </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S → •AA  </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A → •b </a:t>
            </a:r>
          </a:p>
          <a:p>
            <a:pPr marL="0" indent="0" algn="just">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914805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anim calcmode="lin" valueType="num">
                                      <p:cBhvr additive="base">
                                        <p:cTn id="11"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anim calcmode="lin" valueType="num">
                                      <p:cBhvr additive="base">
                                        <p:cTn id="17" dur="500" fill="hold"/>
                                        <p:tgtEl>
                                          <p:spTgt spid="12">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anim calcmode="lin" valueType="num">
                                      <p:cBhvr additive="base">
                                        <p:cTn id="23" dur="500" fill="hold"/>
                                        <p:tgtEl>
                                          <p:spTgt spid="1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2">
                                            <p:txEl>
                                              <p:pRg st="7" end="7"/>
                                            </p:txEl>
                                          </p:spTgt>
                                        </p:tgtEl>
                                        <p:attrNameLst>
                                          <p:attrName>style.visibility</p:attrName>
                                        </p:attrNameLst>
                                      </p:cBhvr>
                                      <p:to>
                                        <p:strVal val="visible"/>
                                      </p:to>
                                    </p:set>
                                    <p:animEffect transition="in" filter="wipe(down)">
                                      <p:cBhvr>
                                        <p:cTn id="29" dur="500"/>
                                        <p:tgtEl>
                                          <p:spTgt spid="12">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2">
                                            <p:txEl>
                                              <p:pRg st="8" end="8"/>
                                            </p:txEl>
                                          </p:spTgt>
                                        </p:tgtEl>
                                        <p:attrNameLst>
                                          <p:attrName>style.visibility</p:attrName>
                                        </p:attrNameLst>
                                      </p:cBhvr>
                                      <p:to>
                                        <p:strVal val="visible"/>
                                      </p:to>
                                    </p:set>
                                    <p:animEffect transition="in" filter="wipe(down)">
                                      <p:cBhvr>
                                        <p:cTn id="34" dur="500"/>
                                        <p:tgtEl>
                                          <p:spTgt spid="12">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2">
                                            <p:txEl>
                                              <p:pRg st="9" end="9"/>
                                            </p:txEl>
                                          </p:spTgt>
                                        </p:tgtEl>
                                        <p:attrNameLst>
                                          <p:attrName>style.visibility</p:attrName>
                                        </p:attrNameLst>
                                      </p:cBhvr>
                                      <p:to>
                                        <p:strVal val="visible"/>
                                      </p:to>
                                    </p:set>
                                    <p:animEffect transition="in" filter="wipe(down)">
                                      <p:cBhvr>
                                        <p:cTn id="39" dur="500"/>
                                        <p:tgtEl>
                                          <p:spTgt spid="12">
                                            <p:txEl>
                                              <p:pRg st="9" end="9"/>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2">
                                            <p:txEl>
                                              <p:pRg st="10" end="10"/>
                                            </p:txEl>
                                          </p:spTgt>
                                        </p:tgtEl>
                                        <p:attrNameLst>
                                          <p:attrName>style.visibility</p:attrName>
                                        </p:attrNameLst>
                                      </p:cBhvr>
                                      <p:to>
                                        <p:strVal val="visible"/>
                                      </p:to>
                                    </p:set>
                                    <p:animEffect transition="in" filter="wipe(down)">
                                      <p:cBhvr>
                                        <p:cTn id="44" dur="500"/>
                                        <p:tgtEl>
                                          <p:spTgt spid="1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795205A-5DEE-40A2-9898-37A5F97261AE}"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tx1"/>
                </a:solidFill>
              </a:rPr>
              <a:t>Create Canonical Collection of LR(0) items</a:t>
            </a:r>
            <a:endParaRPr lang="en-US" sz="32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lgn="just">
              <a:buNone/>
            </a:pPr>
            <a:r>
              <a:rPr lang="en-US" sz="1800" i="1" dirty="0">
                <a:effectLst>
                  <a:outerShdw blurRad="38100" dist="38100" dir="2700000" algn="tl">
                    <a:srgbClr val="000000">
                      <a:alpha val="43137"/>
                    </a:srgbClr>
                  </a:outerShdw>
                </a:effectLst>
              </a:rPr>
              <a:t>I0 State:   </a:t>
            </a:r>
          </a:p>
          <a:p>
            <a:pPr marL="0" indent="0" algn="just">
              <a:buNone/>
            </a:pPr>
            <a:endParaRPr lang="en-US" sz="1800" dirty="0"/>
          </a:p>
          <a:p>
            <a:pPr marL="0" indent="0" algn="just">
              <a:buNone/>
            </a:pPr>
            <a:r>
              <a:rPr lang="en-US" sz="1800" dirty="0"/>
              <a:t>Add Augment production to the I0 State and Compute the Closure</a:t>
            </a:r>
          </a:p>
          <a:p>
            <a:pPr marL="0" indent="0" algn="just">
              <a:buNone/>
            </a:pPr>
            <a:endParaRPr lang="en-US" sz="1800" dirty="0"/>
          </a:p>
          <a:p>
            <a:pPr marL="0" indent="0" algn="just">
              <a:buNone/>
            </a:pPr>
            <a:r>
              <a:rPr lang="en-US" sz="1800" u="sng" dirty="0"/>
              <a:t>I0 = Closure (S` → •S)   </a:t>
            </a:r>
          </a:p>
          <a:p>
            <a:pPr marL="0" indent="0" algn="just">
              <a:buNone/>
            </a:pPr>
            <a:endParaRPr lang="en-US" sz="1800" dirty="0"/>
          </a:p>
          <a:p>
            <a:pPr marL="0" indent="0" algn="just">
              <a:buNone/>
            </a:pPr>
            <a:r>
              <a:rPr lang="en-US" sz="1800" dirty="0"/>
              <a:t>Add all productions starting with S in to I0 State because "•" is followed by the non-terminal. So, the I0 State becomes</a:t>
            </a:r>
          </a:p>
          <a:p>
            <a:pPr marL="0" indent="0">
              <a:buNone/>
            </a:pPr>
            <a:endParaRPr lang="en-US" sz="1800" b="1" dirty="0"/>
          </a:p>
          <a:p>
            <a:pPr marL="0" indent="0">
              <a:buNone/>
            </a:pPr>
            <a:r>
              <a:rPr lang="en-US" sz="1800" b="1" dirty="0"/>
              <a:t>I0 =</a:t>
            </a:r>
            <a:r>
              <a:rPr lang="en-US" sz="1800" dirty="0"/>
              <a:t> S` → •S</a:t>
            </a:r>
            <a:br>
              <a:rPr lang="en-US" sz="1800" dirty="0"/>
            </a:br>
            <a:r>
              <a:rPr lang="en-US" sz="1800" dirty="0"/>
              <a:t>       </a:t>
            </a:r>
            <a:r>
              <a:rPr lang="en-US" sz="1800" dirty="0" err="1"/>
              <a:t>S</a:t>
            </a:r>
            <a:r>
              <a:rPr lang="en-US" sz="1800" dirty="0"/>
              <a:t> → •AA</a:t>
            </a:r>
          </a:p>
          <a:p>
            <a:pPr marL="0" indent="0" algn="just">
              <a:buNone/>
            </a:pPr>
            <a:endParaRPr lang="en-US" sz="1800" dirty="0"/>
          </a:p>
          <a:p>
            <a:pPr marL="0" indent="0" algn="just">
              <a:buNone/>
            </a:pPr>
            <a:r>
              <a:rPr lang="en-US" sz="1800" dirty="0"/>
              <a:t>Add all productions starting with "A" in modified I0 State because "•" is followed by the non-terminal. So, the I0 State becomes.</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8465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12">
                                            <p:txEl>
                                              <p:pRg st="2" end="2"/>
                                            </p:txEl>
                                          </p:spTgt>
                                        </p:tgtEl>
                                        <p:attrNameLst>
                                          <p:attrName>style.visibility</p:attrName>
                                        </p:attrNameLst>
                                      </p:cBhvr>
                                      <p:to>
                                        <p:strVal val="visible"/>
                                      </p:to>
                                    </p:set>
                                    <p:anim calcmode="lin" valueType="num">
                                      <p:cBhvr additive="base">
                                        <p:cTn id="10"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1"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2">
                                            <p:txEl>
                                              <p:pRg st="4" end="4"/>
                                            </p:txEl>
                                          </p:spTgt>
                                        </p:tgtEl>
                                        <p:attrNameLst>
                                          <p:attrName>style.visibility</p:attrName>
                                        </p:attrNameLst>
                                      </p:cBhvr>
                                      <p:to>
                                        <p:strVal val="visible"/>
                                      </p:to>
                                    </p:set>
                                    <p:animEffect transition="in" filter="wipe(down)">
                                      <p:cBhvr>
                                        <p:cTn id="16" dur="500"/>
                                        <p:tgtEl>
                                          <p:spTgt spid="12">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2">
                                            <p:txEl>
                                              <p:pRg st="6" end="6"/>
                                            </p:txEl>
                                          </p:spTgt>
                                        </p:tgtEl>
                                        <p:attrNameLst>
                                          <p:attrName>style.visibility</p:attrName>
                                        </p:attrNameLst>
                                      </p:cBhvr>
                                      <p:to>
                                        <p:strVal val="visible"/>
                                      </p:to>
                                    </p:set>
                                    <p:anim calcmode="lin" valueType="num">
                                      <p:cBhvr additive="base">
                                        <p:cTn id="21"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2">
                                            <p:txEl>
                                              <p:pRg st="8" end="8"/>
                                            </p:txEl>
                                          </p:spTgt>
                                        </p:tgtEl>
                                        <p:attrNameLst>
                                          <p:attrName>style.visibility</p:attrName>
                                        </p:attrNameLst>
                                      </p:cBhvr>
                                      <p:to>
                                        <p:strVal val="visible"/>
                                      </p:to>
                                    </p:set>
                                    <p:anim calcmode="lin" valueType="num">
                                      <p:cBhvr additive="base">
                                        <p:cTn id="27" dur="500" fill="hold"/>
                                        <p:tgtEl>
                                          <p:spTgt spid="12">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2">
                                            <p:txEl>
                                              <p:pRg st="10" end="10"/>
                                            </p:txEl>
                                          </p:spTgt>
                                        </p:tgtEl>
                                        <p:attrNameLst>
                                          <p:attrName>style.visibility</p:attrName>
                                        </p:attrNameLst>
                                      </p:cBhvr>
                                      <p:to>
                                        <p:strVal val="visible"/>
                                      </p:to>
                                    </p:set>
                                    <p:anim calcmode="lin" valueType="num">
                                      <p:cBhvr additive="base">
                                        <p:cTn id="33" dur="500" fill="hold"/>
                                        <p:tgtEl>
                                          <p:spTgt spid="12">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783DC72-5D1D-4BC3-BC15-20BE3AE56D18}"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rPr>
              <a:t>Create Canonical Collection of LR(0)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buNone/>
            </a:pPr>
            <a:r>
              <a:rPr lang="en-US" sz="1800" b="1" dirty="0"/>
              <a:t>I0=</a:t>
            </a:r>
            <a:r>
              <a:rPr lang="en-US" sz="1800" dirty="0"/>
              <a:t> S` → •S</a:t>
            </a:r>
            <a:br>
              <a:rPr lang="en-US" sz="1800" dirty="0"/>
            </a:br>
            <a:r>
              <a:rPr lang="en-US" sz="1800" dirty="0"/>
              <a:t>       </a:t>
            </a:r>
            <a:r>
              <a:rPr lang="en-US" sz="1800" dirty="0" err="1"/>
              <a:t>S</a:t>
            </a:r>
            <a:r>
              <a:rPr lang="en-US" sz="1800" dirty="0"/>
              <a:t> → •AA</a:t>
            </a:r>
            <a:br>
              <a:rPr lang="en-US" sz="1800" dirty="0"/>
            </a:br>
            <a:r>
              <a:rPr lang="en-US" sz="1800" dirty="0"/>
              <a:t>       A → •</a:t>
            </a:r>
            <a:r>
              <a:rPr lang="en-US" sz="1800" dirty="0" err="1"/>
              <a:t>aA</a:t>
            </a:r>
            <a:r>
              <a:rPr lang="en-US" sz="1800" dirty="0"/>
              <a:t/>
            </a:r>
            <a:br>
              <a:rPr lang="en-US" sz="1800" dirty="0"/>
            </a:br>
            <a:r>
              <a:rPr lang="en-US" sz="1800" dirty="0"/>
              <a:t>       A → •b</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US" sz="1800" b="1" u="sng" dirty="0">
                <a:latin typeface="Times New Roman" panose="02020603050405020304" pitchFamily="18" charset="0"/>
                <a:cs typeface="Times New Roman" panose="02020603050405020304" pitchFamily="18" charset="0"/>
              </a:rPr>
              <a:t>I1=</a:t>
            </a:r>
            <a:r>
              <a:rPr lang="en-US" sz="1800" u="sng" dirty="0">
                <a:latin typeface="Times New Roman" panose="02020603050405020304" pitchFamily="18" charset="0"/>
                <a:cs typeface="Times New Roman" panose="02020603050405020304" pitchFamily="18" charset="0"/>
              </a:rPr>
              <a:t> Go to (I0, S) </a:t>
            </a:r>
            <a:r>
              <a:rPr lang="en-US" sz="1800" dirty="0">
                <a:latin typeface="Times New Roman" panose="02020603050405020304" pitchFamily="18" charset="0"/>
                <a:cs typeface="Times New Roman" panose="02020603050405020304" pitchFamily="18" charset="0"/>
              </a:rPr>
              <a:t>= closure (S` → S•) = S` → 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Here, the Production is reduced so close the State.</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I1=</a:t>
            </a:r>
            <a:r>
              <a:rPr lang="en-US" sz="1800" dirty="0">
                <a:latin typeface="Times New Roman" panose="02020603050405020304" pitchFamily="18" charset="0"/>
                <a:cs typeface="Times New Roman" panose="02020603050405020304" pitchFamily="18" charset="0"/>
              </a:rPr>
              <a:t> S` → S•</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428D65E-AE31-42D8-A01E-C374C7A4ACB5}"/>
              </a:ext>
            </a:extLst>
          </p:cNvPr>
          <p:cNvPicPr>
            <a:picLocks noChangeAspect="1"/>
          </p:cNvPicPr>
          <p:nvPr/>
        </p:nvPicPr>
        <p:blipFill>
          <a:blip r:embed="rId3"/>
          <a:stretch>
            <a:fillRect/>
          </a:stretch>
        </p:blipFill>
        <p:spPr>
          <a:xfrm>
            <a:off x="4991100" y="836612"/>
            <a:ext cx="2171700" cy="1847850"/>
          </a:xfrm>
          <a:prstGeom prst="rect">
            <a:avLst/>
          </a:prstGeom>
        </p:spPr>
      </p:pic>
      <p:pic>
        <p:nvPicPr>
          <p:cNvPr id="10" name="Picture 9">
            <a:extLst>
              <a:ext uri="{FF2B5EF4-FFF2-40B4-BE49-F238E27FC236}">
                <a16:creationId xmlns:a16="http://schemas.microsoft.com/office/drawing/2014/main" id="{95CC0B6D-5D5C-4613-A3D1-AFE53CBB1F74}"/>
              </a:ext>
            </a:extLst>
          </p:cNvPr>
          <p:cNvPicPr>
            <a:picLocks noChangeAspect="1"/>
          </p:cNvPicPr>
          <p:nvPr/>
        </p:nvPicPr>
        <p:blipFill>
          <a:blip r:embed="rId4"/>
          <a:stretch>
            <a:fillRect/>
          </a:stretch>
        </p:blipFill>
        <p:spPr>
          <a:xfrm>
            <a:off x="4545330" y="3554094"/>
            <a:ext cx="3867150" cy="2790825"/>
          </a:xfrm>
          <a:prstGeom prst="rect">
            <a:avLst/>
          </a:prstGeom>
        </p:spPr>
      </p:pic>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679186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wipe(down)">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animEffect transition="in" filter="wipe(down)">
                                      <p:cBhvr>
                                        <p:cTn id="17" dur="500"/>
                                        <p:tgtEl>
                                          <p:spTgt spid="1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xEl>
                                              <p:pRg st="6" end="6"/>
                                            </p:txEl>
                                          </p:spTgt>
                                        </p:tgtEl>
                                        <p:attrNameLst>
                                          <p:attrName>style.visibility</p:attrName>
                                        </p:attrNameLst>
                                      </p:cBhvr>
                                      <p:to>
                                        <p:strVal val="visible"/>
                                      </p:to>
                                    </p:set>
                                    <p:animEffect transition="in" filter="wipe(down)">
                                      <p:cBhvr>
                                        <p:cTn id="22" dur="500"/>
                                        <p:tgtEl>
                                          <p:spTgt spid="1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heel(1)">
                                      <p:cBhvr>
                                        <p:cTn id="27" dur="20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6DDC994-CA20-4E2C-AF22-5BBF807F4801}"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DRAWING DFD</a:t>
            </a:r>
          </a:p>
        </p:txBody>
      </p:sp>
      <p:pic>
        <p:nvPicPr>
          <p:cNvPr id="10" name="Picture 2" descr="Canonical Collection of LR(0) items">
            <a:extLst>
              <a:ext uri="{FF2B5EF4-FFF2-40B4-BE49-F238E27FC236}">
                <a16:creationId xmlns:a16="http://schemas.microsoft.com/office/drawing/2014/main" id="{9F730007-11A7-4AAB-BE6D-9739925182B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62000" y="1180991"/>
            <a:ext cx="7620000" cy="483098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911189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9ABA8E9-96E2-420F-B846-535D1FC69413}"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rPr>
              <a:t>Canonical Collection of LR(0)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For I2, consider 2</a:t>
            </a:r>
            <a:r>
              <a:rPr lang="en-US" sz="1800" b="1" baseline="30000" dirty="0">
                <a:latin typeface="Times New Roman" panose="02020603050405020304" pitchFamily="18" charset="0"/>
                <a:cs typeface="Times New Roman" panose="02020603050405020304" pitchFamily="18" charset="0"/>
              </a:rPr>
              <a:t>nd</a:t>
            </a:r>
            <a:r>
              <a:rPr lang="en-US" sz="1800" b="1" dirty="0">
                <a:latin typeface="Times New Roman" panose="02020603050405020304" pitchFamily="18" charset="0"/>
                <a:cs typeface="Times New Roman" panose="02020603050405020304" pitchFamily="18" charset="0"/>
              </a:rPr>
              <a:t> production in I0 </a:t>
            </a:r>
            <a:r>
              <a:rPr lang="en-US" sz="1800" dirty="0">
                <a:latin typeface="Times New Roman" panose="02020603050405020304" pitchFamily="18" charset="0"/>
                <a:cs typeface="Times New Roman" panose="02020603050405020304" pitchFamily="18" charset="0"/>
              </a:rPr>
              <a:t>S → •AA</a:t>
            </a: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Go to (I0, A) = closure (S → A•A)</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Add all productions starting with A in to I2 State because "•" is followed by the non-terminal. So, the I2 State becomes</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I2 =</a:t>
            </a:r>
            <a:r>
              <a:rPr lang="en-US" sz="1800" dirty="0">
                <a:latin typeface="Times New Roman" panose="02020603050405020304" pitchFamily="18" charset="0"/>
                <a:cs typeface="Times New Roman" panose="02020603050405020304" pitchFamily="18" charset="0"/>
              </a:rPr>
              <a:t>S→A•A</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 → •b</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Go to (I2,a) = Closure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 (same as I3)</a:t>
            </a:r>
          </a:p>
          <a:p>
            <a:r>
              <a:rPr lang="en-US" sz="1800" dirty="0">
                <a:latin typeface="Times New Roman" panose="02020603050405020304" pitchFamily="18" charset="0"/>
                <a:cs typeface="Times New Roman" panose="02020603050405020304" pitchFamily="18" charset="0"/>
              </a:rPr>
              <a:t>Go to (I2, b) = Closure (A → b•) = (same as I4)</a:t>
            </a: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1417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2">
                                            <p:txEl>
                                              <p:pRg st="2" end="2"/>
                                            </p:txEl>
                                          </p:spTgt>
                                        </p:tgtEl>
                                        <p:attrNameLst>
                                          <p:attrName>style.visibility</p:attrName>
                                        </p:attrNameLst>
                                      </p:cBhvr>
                                      <p:to>
                                        <p:strVal val="visible"/>
                                      </p:to>
                                    </p:set>
                                    <p:animEffect transition="in" filter="wipe(down)">
                                      <p:cBhvr>
                                        <p:cTn id="10" dur="500"/>
                                        <p:tgtEl>
                                          <p:spTgt spid="1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2">
                                            <p:txEl>
                                              <p:pRg st="4" end="4"/>
                                            </p:txEl>
                                          </p:spTgt>
                                        </p:tgtEl>
                                        <p:attrNameLst>
                                          <p:attrName>style.visibility</p:attrName>
                                        </p:attrNameLst>
                                      </p:cBhvr>
                                      <p:to>
                                        <p:strVal val="visible"/>
                                      </p:to>
                                    </p:set>
                                    <p:animEffect transition="in" filter="wipe(down)">
                                      <p:cBhvr>
                                        <p:cTn id="13" dur="500"/>
                                        <p:tgtEl>
                                          <p:spTgt spid="12">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2">
                                            <p:txEl>
                                              <p:pRg st="6" end="6"/>
                                            </p:txEl>
                                          </p:spTgt>
                                        </p:tgtEl>
                                        <p:attrNameLst>
                                          <p:attrName>style.visibility</p:attrName>
                                        </p:attrNameLst>
                                      </p:cBhvr>
                                      <p:to>
                                        <p:strVal val="visible"/>
                                      </p:to>
                                    </p:set>
                                    <p:animEffect transition="in" filter="wipe(down)">
                                      <p:cBhvr>
                                        <p:cTn id="16" dur="500"/>
                                        <p:tgtEl>
                                          <p:spTgt spid="12">
                                            <p:txEl>
                                              <p:pRg st="6" end="6"/>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2">
                                            <p:txEl>
                                              <p:pRg st="8" end="8"/>
                                            </p:txEl>
                                          </p:spTgt>
                                        </p:tgtEl>
                                        <p:attrNameLst>
                                          <p:attrName>style.visibility</p:attrName>
                                        </p:attrNameLst>
                                      </p:cBhvr>
                                      <p:to>
                                        <p:strVal val="visible"/>
                                      </p:to>
                                    </p:set>
                                    <p:animEffect transition="in" filter="wipe(down)">
                                      <p:cBhvr>
                                        <p:cTn id="19" dur="500"/>
                                        <p:tgtEl>
                                          <p:spTgt spid="12">
                                            <p:txEl>
                                              <p:pRg st="8" end="8"/>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12">
                                            <p:txEl>
                                              <p:pRg st="9" end="9"/>
                                            </p:txEl>
                                          </p:spTgt>
                                        </p:tgtEl>
                                        <p:attrNameLst>
                                          <p:attrName>style.visibility</p:attrName>
                                        </p:attrNameLst>
                                      </p:cBhvr>
                                      <p:to>
                                        <p:strVal val="visible"/>
                                      </p:to>
                                    </p:set>
                                    <p:animEffect transition="in" filter="wipe(down)">
                                      <p:cBhvr>
                                        <p:cTn id="22" dur="500"/>
                                        <p:tgtEl>
                                          <p:spTgt spid="1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8D99E7E-8A2C-48B3-82CE-FBA4726DFE99}"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rPr>
              <a:t>Canonical Collection of LR(0)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buNone/>
            </a:pPr>
            <a:r>
              <a:rPr lang="en-US" sz="1800" b="1" dirty="0"/>
              <a:t>I3=</a:t>
            </a:r>
            <a:r>
              <a:rPr lang="en-US" sz="1800" dirty="0"/>
              <a:t> Go to (I0,a) = Closure (A → </a:t>
            </a:r>
            <a:r>
              <a:rPr lang="en-US" sz="1800" dirty="0" err="1"/>
              <a:t>a•A</a:t>
            </a:r>
            <a:r>
              <a:rPr lang="en-US" sz="1800" dirty="0"/>
              <a:t>)</a:t>
            </a:r>
          </a:p>
          <a:p>
            <a:endParaRPr lang="en-US" sz="1800" dirty="0"/>
          </a:p>
          <a:p>
            <a:pPr marL="0" indent="0">
              <a:buNone/>
            </a:pPr>
            <a:r>
              <a:rPr lang="en-US" sz="1800" dirty="0"/>
              <a:t>Add productions starting with A in I3.</a:t>
            </a:r>
          </a:p>
          <a:p>
            <a:pPr marL="0" indent="0">
              <a:buNone/>
            </a:pPr>
            <a:endParaRPr lang="en-US" sz="1800" dirty="0"/>
          </a:p>
          <a:p>
            <a:r>
              <a:rPr lang="en-US" sz="1800" dirty="0"/>
              <a:t>A → </a:t>
            </a:r>
            <a:r>
              <a:rPr lang="en-US" sz="1800" dirty="0" err="1"/>
              <a:t>a•A</a:t>
            </a:r>
            <a:r>
              <a:rPr lang="en-US" sz="1800" dirty="0"/>
              <a:t/>
            </a:r>
            <a:br>
              <a:rPr lang="en-US" sz="1800" dirty="0"/>
            </a:br>
            <a:r>
              <a:rPr lang="en-US" sz="1800" dirty="0"/>
              <a:t>A → •</a:t>
            </a:r>
            <a:r>
              <a:rPr lang="en-US" sz="1800" dirty="0" err="1"/>
              <a:t>aA</a:t>
            </a:r>
            <a:r>
              <a:rPr lang="en-US" sz="1800" dirty="0"/>
              <a:t/>
            </a:r>
            <a:br>
              <a:rPr lang="en-US" sz="1800" dirty="0"/>
            </a:br>
            <a:r>
              <a:rPr lang="en-US" sz="1800" dirty="0"/>
              <a:t>A → •b</a:t>
            </a:r>
          </a:p>
          <a:p>
            <a:endParaRPr lang="en-US" sz="1800" dirty="0"/>
          </a:p>
          <a:p>
            <a:r>
              <a:rPr lang="en-US" sz="1800" dirty="0"/>
              <a:t>Go to (I3, a) = Closure (A → </a:t>
            </a:r>
            <a:r>
              <a:rPr lang="en-US" sz="1800" dirty="0" err="1"/>
              <a:t>a•A</a:t>
            </a:r>
            <a:r>
              <a:rPr lang="en-US" sz="1800" dirty="0"/>
              <a:t>) = (same as I3)</a:t>
            </a:r>
            <a:br>
              <a:rPr lang="en-US" sz="1800" dirty="0"/>
            </a:br>
            <a:r>
              <a:rPr lang="en-US" sz="1800" dirty="0"/>
              <a:t>Go to (I3, b) = Closure (A → b•) = (same as I4)</a:t>
            </a:r>
          </a:p>
          <a:p>
            <a:endParaRPr lang="en-IN" sz="1800" dirty="0"/>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976780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2">
                                            <p:txEl>
                                              <p:pRg st="2" end="2"/>
                                            </p:txEl>
                                          </p:spTgt>
                                        </p:tgtEl>
                                        <p:attrNameLst>
                                          <p:attrName>style.visibility</p:attrName>
                                        </p:attrNameLst>
                                      </p:cBhvr>
                                      <p:to>
                                        <p:strVal val="visible"/>
                                      </p:to>
                                    </p:set>
                                    <p:animEffect transition="in" filter="wipe(down)">
                                      <p:cBhvr>
                                        <p:cTn id="10" dur="500"/>
                                        <p:tgtEl>
                                          <p:spTgt spid="1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2">
                                            <p:txEl>
                                              <p:pRg st="4" end="4"/>
                                            </p:txEl>
                                          </p:spTgt>
                                        </p:tgtEl>
                                        <p:attrNameLst>
                                          <p:attrName>style.visibility</p:attrName>
                                        </p:attrNameLst>
                                      </p:cBhvr>
                                      <p:to>
                                        <p:strVal val="visible"/>
                                      </p:to>
                                    </p:set>
                                    <p:animEffect transition="in" filter="wipe(down)">
                                      <p:cBhvr>
                                        <p:cTn id="13" dur="500"/>
                                        <p:tgtEl>
                                          <p:spTgt spid="12">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2">
                                            <p:txEl>
                                              <p:pRg st="6" end="6"/>
                                            </p:txEl>
                                          </p:spTgt>
                                        </p:tgtEl>
                                        <p:attrNameLst>
                                          <p:attrName>style.visibility</p:attrName>
                                        </p:attrNameLst>
                                      </p:cBhvr>
                                      <p:to>
                                        <p:strVal val="visible"/>
                                      </p:to>
                                    </p:set>
                                    <p:animEffect transition="in" filter="wipe(down)">
                                      <p:cBhvr>
                                        <p:cTn id="16"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06A86ED-ECAA-4483-9757-7F3DC07CA1C0}"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rPr>
              <a:t>Canonical Collection of LR(0)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I4=</a:t>
            </a:r>
            <a:r>
              <a:rPr lang="en-IN" sz="1800" dirty="0">
                <a:latin typeface="Times New Roman" panose="02020603050405020304" pitchFamily="18" charset="0"/>
                <a:cs typeface="Times New Roman" panose="02020603050405020304" pitchFamily="18" charset="0"/>
              </a:rPr>
              <a:t> Go to (I0, b) = closure (A → b•) = A → b•</a:t>
            </a:r>
          </a:p>
          <a:p>
            <a:pPr marL="0" indent="0">
              <a:buNone/>
            </a:pPr>
            <a:r>
              <a:rPr lang="en-IN" sz="1800" dirty="0">
                <a:latin typeface="Times New Roman" panose="02020603050405020304" pitchFamily="18" charset="0"/>
                <a:cs typeface="Times New Roman" panose="02020603050405020304" pitchFamily="18" charset="0"/>
              </a:rPr>
              <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I5=</a:t>
            </a:r>
            <a:r>
              <a:rPr lang="en-IN" sz="1800" dirty="0">
                <a:latin typeface="Times New Roman" panose="02020603050405020304" pitchFamily="18" charset="0"/>
                <a:cs typeface="Times New Roman" panose="02020603050405020304" pitchFamily="18" charset="0"/>
              </a:rPr>
              <a:t> Go to (I2, A) = Closure (S → AA•) = SA → A•</a:t>
            </a:r>
          </a:p>
          <a:p>
            <a:pPr marL="0" indent="0">
              <a:buNone/>
            </a:pPr>
            <a:r>
              <a:rPr lang="en-IN" sz="1800" dirty="0">
                <a:latin typeface="Times New Roman" panose="02020603050405020304" pitchFamily="18" charset="0"/>
                <a:cs typeface="Times New Roman" panose="02020603050405020304" pitchFamily="18" charset="0"/>
              </a:rPr>
              <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I6=</a:t>
            </a:r>
            <a:r>
              <a:rPr lang="en-IN" sz="1800" dirty="0">
                <a:latin typeface="Times New Roman" panose="02020603050405020304" pitchFamily="18" charset="0"/>
                <a:cs typeface="Times New Roman" panose="02020603050405020304" pitchFamily="18" charset="0"/>
              </a:rPr>
              <a:t> Go to (I3, A) = Closure (A → </a:t>
            </a:r>
            <a:r>
              <a:rPr lang="en-IN" sz="1800" dirty="0" err="1">
                <a:latin typeface="Times New Roman" panose="02020603050405020304" pitchFamily="18" charset="0"/>
                <a:cs typeface="Times New Roman" panose="02020603050405020304" pitchFamily="18" charset="0"/>
              </a:rPr>
              <a:t>aA</a:t>
            </a:r>
            <a:r>
              <a:rPr lang="en-IN" sz="1800" dirty="0">
                <a:latin typeface="Times New Roman" panose="02020603050405020304" pitchFamily="18" charset="0"/>
                <a:cs typeface="Times New Roman" panose="02020603050405020304" pitchFamily="18" charset="0"/>
              </a:rPr>
              <a:t>•) = A → </a:t>
            </a:r>
            <a:r>
              <a:rPr lang="en-IN" sz="1800" dirty="0" err="1">
                <a:latin typeface="Times New Roman" panose="02020603050405020304" pitchFamily="18" charset="0"/>
                <a:cs typeface="Times New Roman" panose="02020603050405020304" pitchFamily="18" charset="0"/>
              </a:rPr>
              <a:t>aA</a:t>
            </a:r>
            <a:r>
              <a:rPr lang="en-IN" sz="1800" dirty="0">
                <a:latin typeface="Times New Roman" panose="02020603050405020304" pitchFamily="18" charset="0"/>
                <a:cs typeface="Times New Roman" panose="02020603050405020304" pitchFamily="18" charset="0"/>
              </a:rPr>
              <a:t>•</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26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2">
                                            <p:txEl>
                                              <p:pRg st="1" end="1"/>
                                            </p:txEl>
                                          </p:spTgt>
                                        </p:tgtEl>
                                        <p:attrNameLst>
                                          <p:attrName>style.visibility</p:attrName>
                                        </p:attrNameLst>
                                      </p:cBhvr>
                                      <p:to>
                                        <p:strVal val="visible"/>
                                      </p:to>
                                    </p:set>
                                    <p:animEffect transition="in" filter="wipe(down)">
                                      <p:cBhvr>
                                        <p:cTn id="10" dur="500"/>
                                        <p:tgtEl>
                                          <p:spTgt spid="12">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Effect transition="in" filter="wipe(down)">
                                      <p:cBhvr>
                                        <p:cTn id="13"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5ACC5CA-1709-43E5-A06A-8196DCB5EDCF}"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latin typeface="Times New Roman" panose="02020603050405020304" pitchFamily="18" charset="0"/>
                <a:cs typeface="Times New Roman" panose="02020603050405020304" pitchFamily="18" charset="0"/>
              </a:rPr>
              <a:t> LR(0) Table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algn="just"/>
            <a:r>
              <a:rPr lang="en-US" sz="1800" dirty="0">
                <a:latin typeface="Times New Roman" panose="02020603050405020304" pitchFamily="18" charset="0"/>
                <a:cs typeface="Times New Roman" panose="02020603050405020304" pitchFamily="18" charset="0"/>
              </a:rPr>
              <a:t>If a state is going to some other state on a terminal then it correspond to a shift move.</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If a state is going to some other state on a variable then it correspond to go to move.</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If a state contain the final item in the particular row then write the reduce node completely</a:t>
            </a:r>
          </a:p>
          <a:p>
            <a:pPr algn="just"/>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61702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wipe(down)">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animEffect transition="in" filter="wipe(down)">
                                      <p:cBhvr>
                                        <p:cTn id="17"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A2ADD0C-CDC2-4510-9D7C-758953698EF5}"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rPr>
              <a:t>Drawing DFD</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grpSp>
        <p:nvGrpSpPr>
          <p:cNvPr id="27" name="Group 26">
            <a:extLst>
              <a:ext uri="{FF2B5EF4-FFF2-40B4-BE49-F238E27FC236}">
                <a16:creationId xmlns:a16="http://schemas.microsoft.com/office/drawing/2014/main" id="{A09869BF-2CB7-46FE-8B57-272EC4C2929C}"/>
              </a:ext>
            </a:extLst>
          </p:cNvPr>
          <p:cNvGrpSpPr/>
          <p:nvPr/>
        </p:nvGrpSpPr>
        <p:grpSpPr>
          <a:xfrm>
            <a:off x="62805" y="1290494"/>
            <a:ext cx="8695157" cy="4393740"/>
            <a:chOff x="1058443" y="817163"/>
            <a:chExt cx="8695157" cy="4393740"/>
          </a:xfrm>
        </p:grpSpPr>
        <p:pic>
          <p:nvPicPr>
            <p:cNvPr id="10" name="Picture 2" descr="Canonical Collection of LR(0) items">
              <a:extLst>
                <a:ext uri="{FF2B5EF4-FFF2-40B4-BE49-F238E27FC236}">
                  <a16:creationId xmlns:a16="http://schemas.microsoft.com/office/drawing/2014/main" id="{55221D08-0991-4BB4-8CC1-7730F82C559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58443" y="1177417"/>
              <a:ext cx="7488884" cy="403348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C8ADD0A0-180F-4FD3-9D8C-5B9D1B632D19}"/>
                </a:ext>
              </a:extLst>
            </p:cNvPr>
            <p:cNvGrpSpPr/>
            <p:nvPr/>
          </p:nvGrpSpPr>
          <p:grpSpPr>
            <a:xfrm>
              <a:off x="2819400" y="817163"/>
              <a:ext cx="6934200" cy="4271245"/>
              <a:chOff x="3412333" y="1027906"/>
              <a:chExt cx="8779667" cy="5649635"/>
            </a:xfrm>
          </p:grpSpPr>
          <p:sp>
            <p:nvSpPr>
              <p:cNvPr id="13" name="TextBox 12">
                <a:extLst>
                  <a:ext uri="{FF2B5EF4-FFF2-40B4-BE49-F238E27FC236}">
                    <a16:creationId xmlns:a16="http://schemas.microsoft.com/office/drawing/2014/main" id="{9BC7654D-8B57-40DC-9689-EA25CAC2D97D}"/>
                  </a:ext>
                </a:extLst>
              </p:cNvPr>
              <p:cNvSpPr txBox="1"/>
              <p:nvPr/>
            </p:nvSpPr>
            <p:spPr>
              <a:xfrm>
                <a:off x="7956750" y="1889165"/>
                <a:ext cx="1285875" cy="369332"/>
              </a:xfrm>
              <a:prstGeom prst="rect">
                <a:avLst/>
              </a:prstGeom>
              <a:noFill/>
            </p:spPr>
            <p:txBody>
              <a:bodyPr wrap="square" rtlCol="0">
                <a:spAutoFit/>
              </a:bodyPr>
              <a:lstStyle/>
              <a:p>
                <a:r>
                  <a:rPr lang="en-IN" b="1" dirty="0" err="1">
                    <a:solidFill>
                      <a:srgbClr val="FF0000"/>
                    </a:solidFill>
                  </a:rPr>
                  <a:t>goto</a:t>
                </a:r>
                <a:endParaRPr lang="en-IN" b="1" dirty="0">
                  <a:solidFill>
                    <a:srgbClr val="FF0000"/>
                  </a:solidFill>
                </a:endParaRPr>
              </a:p>
            </p:txBody>
          </p:sp>
          <p:sp>
            <p:nvSpPr>
              <p:cNvPr id="14" name="Rectangle 13">
                <a:extLst>
                  <a:ext uri="{FF2B5EF4-FFF2-40B4-BE49-F238E27FC236}">
                    <a16:creationId xmlns:a16="http://schemas.microsoft.com/office/drawing/2014/main" id="{E189BF1C-C09E-4A9F-91C4-74B3FC53A432}"/>
                  </a:ext>
                </a:extLst>
              </p:cNvPr>
              <p:cNvSpPr/>
              <p:nvPr/>
            </p:nvSpPr>
            <p:spPr>
              <a:xfrm>
                <a:off x="8466581" y="4307441"/>
                <a:ext cx="616194" cy="369332"/>
              </a:xfrm>
              <a:prstGeom prst="rect">
                <a:avLst/>
              </a:prstGeom>
            </p:spPr>
            <p:txBody>
              <a:bodyPr wrap="none">
                <a:spAutoFit/>
              </a:bodyPr>
              <a:lstStyle/>
              <a:p>
                <a:r>
                  <a:rPr lang="en-IN" b="1" dirty="0" err="1">
                    <a:solidFill>
                      <a:srgbClr val="FF0000"/>
                    </a:solidFill>
                  </a:rPr>
                  <a:t>goto</a:t>
                </a:r>
                <a:endParaRPr lang="en-IN" b="1" dirty="0">
                  <a:solidFill>
                    <a:srgbClr val="FF0000"/>
                  </a:solidFill>
                </a:endParaRPr>
              </a:p>
            </p:txBody>
          </p:sp>
          <p:sp>
            <p:nvSpPr>
              <p:cNvPr id="15" name="Rectangle 14">
                <a:extLst>
                  <a:ext uri="{FF2B5EF4-FFF2-40B4-BE49-F238E27FC236}">
                    <a16:creationId xmlns:a16="http://schemas.microsoft.com/office/drawing/2014/main" id="{BAA032BC-D30F-4C36-BF6D-1DA823CF34D1}"/>
                  </a:ext>
                </a:extLst>
              </p:cNvPr>
              <p:cNvSpPr/>
              <p:nvPr/>
            </p:nvSpPr>
            <p:spPr>
              <a:xfrm>
                <a:off x="3412333" y="2073831"/>
                <a:ext cx="785812" cy="369332"/>
              </a:xfrm>
              <a:prstGeom prst="rect">
                <a:avLst/>
              </a:prstGeom>
            </p:spPr>
            <p:txBody>
              <a:bodyPr wrap="square">
                <a:spAutoFit/>
              </a:bodyPr>
              <a:lstStyle/>
              <a:p>
                <a:r>
                  <a:rPr lang="en-IN" b="1" dirty="0" err="1">
                    <a:solidFill>
                      <a:srgbClr val="FF0000"/>
                    </a:solidFill>
                  </a:rPr>
                  <a:t>goto</a:t>
                </a:r>
                <a:endParaRPr lang="en-IN" b="1" dirty="0">
                  <a:solidFill>
                    <a:srgbClr val="FF0000"/>
                  </a:solidFill>
                </a:endParaRPr>
              </a:p>
            </p:txBody>
          </p:sp>
          <p:sp>
            <p:nvSpPr>
              <p:cNvPr id="16" name="Rectangle 15">
                <a:extLst>
                  <a:ext uri="{FF2B5EF4-FFF2-40B4-BE49-F238E27FC236}">
                    <a16:creationId xmlns:a16="http://schemas.microsoft.com/office/drawing/2014/main" id="{010BB20B-9D25-431B-9BA6-237EE8E8574A}"/>
                  </a:ext>
                </a:extLst>
              </p:cNvPr>
              <p:cNvSpPr/>
              <p:nvPr/>
            </p:nvSpPr>
            <p:spPr>
              <a:xfrm>
                <a:off x="3701928" y="3059668"/>
                <a:ext cx="616194" cy="369332"/>
              </a:xfrm>
              <a:prstGeom prst="rect">
                <a:avLst/>
              </a:prstGeom>
            </p:spPr>
            <p:txBody>
              <a:bodyPr wrap="none">
                <a:spAutoFit/>
              </a:bodyPr>
              <a:lstStyle/>
              <a:p>
                <a:r>
                  <a:rPr lang="en-IN" b="1" dirty="0" err="1">
                    <a:solidFill>
                      <a:srgbClr val="FF0000"/>
                    </a:solidFill>
                  </a:rPr>
                  <a:t>goto</a:t>
                </a:r>
                <a:endParaRPr lang="en-IN" b="1" dirty="0">
                  <a:solidFill>
                    <a:srgbClr val="FF0000"/>
                  </a:solidFill>
                </a:endParaRPr>
              </a:p>
            </p:txBody>
          </p:sp>
          <p:sp>
            <p:nvSpPr>
              <p:cNvPr id="17" name="Rectangle 16">
                <a:extLst>
                  <a:ext uri="{FF2B5EF4-FFF2-40B4-BE49-F238E27FC236}">
                    <a16:creationId xmlns:a16="http://schemas.microsoft.com/office/drawing/2014/main" id="{F5797EA9-66D4-4D59-80B6-60884A85F34B}"/>
                  </a:ext>
                </a:extLst>
              </p:cNvPr>
              <p:cNvSpPr/>
              <p:nvPr/>
            </p:nvSpPr>
            <p:spPr>
              <a:xfrm>
                <a:off x="3805239" y="3812143"/>
                <a:ext cx="627095" cy="369332"/>
              </a:xfrm>
              <a:prstGeom prst="rect">
                <a:avLst/>
              </a:prstGeom>
            </p:spPr>
            <p:txBody>
              <a:bodyPr wrap="none">
                <a:spAutoFit/>
              </a:bodyPr>
              <a:lstStyle/>
              <a:p>
                <a:r>
                  <a:rPr lang="en-IN" b="1" dirty="0">
                    <a:solidFill>
                      <a:srgbClr val="FF0000"/>
                    </a:solidFill>
                  </a:rPr>
                  <a:t>Shift</a:t>
                </a:r>
              </a:p>
            </p:txBody>
          </p:sp>
          <p:sp>
            <p:nvSpPr>
              <p:cNvPr id="18" name="Rectangle 17">
                <a:extLst>
                  <a:ext uri="{FF2B5EF4-FFF2-40B4-BE49-F238E27FC236}">
                    <a16:creationId xmlns:a16="http://schemas.microsoft.com/office/drawing/2014/main" id="{544820CD-A240-4883-B219-694C56795DA1}"/>
                  </a:ext>
                </a:extLst>
              </p:cNvPr>
              <p:cNvSpPr/>
              <p:nvPr/>
            </p:nvSpPr>
            <p:spPr>
              <a:xfrm>
                <a:off x="3732336" y="4594264"/>
                <a:ext cx="627095" cy="369332"/>
              </a:xfrm>
              <a:prstGeom prst="rect">
                <a:avLst/>
              </a:prstGeom>
            </p:spPr>
            <p:txBody>
              <a:bodyPr wrap="none">
                <a:spAutoFit/>
              </a:bodyPr>
              <a:lstStyle/>
              <a:p>
                <a:r>
                  <a:rPr lang="en-IN" b="1" dirty="0">
                    <a:solidFill>
                      <a:srgbClr val="FF0000"/>
                    </a:solidFill>
                  </a:rPr>
                  <a:t>Shift</a:t>
                </a:r>
              </a:p>
            </p:txBody>
          </p:sp>
          <p:sp>
            <p:nvSpPr>
              <p:cNvPr id="19" name="Rectangle 18">
                <a:extLst>
                  <a:ext uri="{FF2B5EF4-FFF2-40B4-BE49-F238E27FC236}">
                    <a16:creationId xmlns:a16="http://schemas.microsoft.com/office/drawing/2014/main" id="{17714A6D-1EFC-46DF-994A-9C481B8FC84E}"/>
                  </a:ext>
                </a:extLst>
              </p:cNvPr>
              <p:cNvSpPr/>
              <p:nvPr/>
            </p:nvSpPr>
            <p:spPr>
              <a:xfrm>
                <a:off x="6940019" y="4964667"/>
                <a:ext cx="627095" cy="369332"/>
              </a:xfrm>
              <a:prstGeom prst="rect">
                <a:avLst/>
              </a:prstGeom>
            </p:spPr>
            <p:txBody>
              <a:bodyPr wrap="none">
                <a:spAutoFit/>
              </a:bodyPr>
              <a:lstStyle/>
              <a:p>
                <a:r>
                  <a:rPr lang="en-IN" b="1" dirty="0">
                    <a:solidFill>
                      <a:srgbClr val="FF0000"/>
                    </a:solidFill>
                  </a:rPr>
                  <a:t>Shift</a:t>
                </a:r>
              </a:p>
            </p:txBody>
          </p:sp>
          <p:sp>
            <p:nvSpPr>
              <p:cNvPr id="20" name="Rectangle 19">
                <a:extLst>
                  <a:ext uri="{FF2B5EF4-FFF2-40B4-BE49-F238E27FC236}">
                    <a16:creationId xmlns:a16="http://schemas.microsoft.com/office/drawing/2014/main" id="{F35580FA-FE1F-43CD-8CE1-DC3289B0B742}"/>
                  </a:ext>
                </a:extLst>
              </p:cNvPr>
              <p:cNvSpPr/>
              <p:nvPr/>
            </p:nvSpPr>
            <p:spPr>
              <a:xfrm>
                <a:off x="6940018" y="3353132"/>
                <a:ext cx="868396" cy="488521"/>
              </a:xfrm>
              <a:prstGeom prst="rect">
                <a:avLst/>
              </a:prstGeom>
            </p:spPr>
            <p:txBody>
              <a:bodyPr wrap="square">
                <a:spAutoFit/>
              </a:bodyPr>
              <a:lstStyle/>
              <a:p>
                <a:r>
                  <a:rPr lang="en-IN" b="1" dirty="0">
                    <a:solidFill>
                      <a:srgbClr val="FF0000"/>
                    </a:solidFill>
                  </a:rPr>
                  <a:t>Shift</a:t>
                </a:r>
              </a:p>
            </p:txBody>
          </p:sp>
          <p:sp>
            <p:nvSpPr>
              <p:cNvPr id="21" name="Rectangle 20">
                <a:extLst>
                  <a:ext uri="{FF2B5EF4-FFF2-40B4-BE49-F238E27FC236}">
                    <a16:creationId xmlns:a16="http://schemas.microsoft.com/office/drawing/2014/main" id="{1FD836E9-3DA6-48E7-BA03-834DF1E88E84}"/>
                  </a:ext>
                </a:extLst>
              </p:cNvPr>
              <p:cNvSpPr/>
              <p:nvPr/>
            </p:nvSpPr>
            <p:spPr>
              <a:xfrm>
                <a:off x="7181319" y="4324532"/>
                <a:ext cx="627095" cy="369332"/>
              </a:xfrm>
              <a:prstGeom prst="rect">
                <a:avLst/>
              </a:prstGeom>
            </p:spPr>
            <p:txBody>
              <a:bodyPr wrap="none">
                <a:spAutoFit/>
              </a:bodyPr>
              <a:lstStyle/>
              <a:p>
                <a:r>
                  <a:rPr lang="en-IN" b="1" dirty="0">
                    <a:solidFill>
                      <a:srgbClr val="FF0000"/>
                    </a:solidFill>
                  </a:rPr>
                  <a:t>Shift</a:t>
                </a:r>
              </a:p>
            </p:txBody>
          </p:sp>
          <p:sp>
            <p:nvSpPr>
              <p:cNvPr id="22" name="Rectangle 21">
                <a:extLst>
                  <a:ext uri="{FF2B5EF4-FFF2-40B4-BE49-F238E27FC236}">
                    <a16:creationId xmlns:a16="http://schemas.microsoft.com/office/drawing/2014/main" id="{5890DB87-ADAB-430E-A8F0-E58CC27268D6}"/>
                  </a:ext>
                </a:extLst>
              </p:cNvPr>
              <p:cNvSpPr/>
              <p:nvPr/>
            </p:nvSpPr>
            <p:spPr>
              <a:xfrm>
                <a:off x="8147583" y="5136202"/>
                <a:ext cx="627095" cy="369332"/>
              </a:xfrm>
              <a:prstGeom prst="rect">
                <a:avLst/>
              </a:prstGeom>
            </p:spPr>
            <p:txBody>
              <a:bodyPr wrap="none">
                <a:spAutoFit/>
              </a:bodyPr>
              <a:lstStyle/>
              <a:p>
                <a:r>
                  <a:rPr lang="en-IN" b="1">
                    <a:solidFill>
                      <a:srgbClr val="FF0000"/>
                    </a:solidFill>
                  </a:rPr>
                  <a:t>Shift</a:t>
                </a:r>
                <a:endParaRPr lang="en-IN" b="1" dirty="0">
                  <a:solidFill>
                    <a:srgbClr val="FF0000"/>
                  </a:solidFill>
                </a:endParaRPr>
              </a:p>
            </p:txBody>
          </p:sp>
          <p:sp>
            <p:nvSpPr>
              <p:cNvPr id="23" name="TextBox 22">
                <a:extLst>
                  <a:ext uri="{FF2B5EF4-FFF2-40B4-BE49-F238E27FC236}">
                    <a16:creationId xmlns:a16="http://schemas.microsoft.com/office/drawing/2014/main" id="{9532ED19-E7C1-4393-B103-A1E4F73C24C9}"/>
                  </a:ext>
                </a:extLst>
              </p:cNvPr>
              <p:cNvSpPr txBox="1"/>
              <p:nvPr/>
            </p:nvSpPr>
            <p:spPr>
              <a:xfrm>
                <a:off x="5929313" y="1400175"/>
                <a:ext cx="1328737" cy="646331"/>
              </a:xfrm>
              <a:prstGeom prst="rect">
                <a:avLst/>
              </a:prstGeom>
              <a:noFill/>
            </p:spPr>
            <p:txBody>
              <a:bodyPr wrap="square" rtlCol="0">
                <a:spAutoFit/>
              </a:bodyPr>
              <a:lstStyle/>
              <a:p>
                <a:r>
                  <a:rPr lang="en-IN" dirty="0">
                    <a:solidFill>
                      <a:srgbClr val="FF0000"/>
                    </a:solidFill>
                  </a:rPr>
                  <a:t>Reduce Completed</a:t>
                </a:r>
              </a:p>
            </p:txBody>
          </p:sp>
          <p:sp>
            <p:nvSpPr>
              <p:cNvPr id="24" name="Rectangle 23">
                <a:extLst>
                  <a:ext uri="{FF2B5EF4-FFF2-40B4-BE49-F238E27FC236}">
                    <a16:creationId xmlns:a16="http://schemas.microsoft.com/office/drawing/2014/main" id="{628A4915-1CCB-4406-AB63-36A89582A371}"/>
                  </a:ext>
                </a:extLst>
              </p:cNvPr>
              <p:cNvSpPr/>
              <p:nvPr/>
            </p:nvSpPr>
            <p:spPr>
              <a:xfrm>
                <a:off x="10230950" y="1027906"/>
                <a:ext cx="1961050" cy="369332"/>
              </a:xfrm>
              <a:prstGeom prst="rect">
                <a:avLst/>
              </a:prstGeom>
            </p:spPr>
            <p:txBody>
              <a:bodyPr wrap="none">
                <a:spAutoFit/>
              </a:bodyPr>
              <a:lstStyle/>
              <a:p>
                <a:r>
                  <a:rPr lang="en-IN" dirty="0">
                    <a:solidFill>
                      <a:srgbClr val="FF0000"/>
                    </a:solidFill>
                  </a:rPr>
                  <a:t>Reduce Completed</a:t>
                </a:r>
              </a:p>
            </p:txBody>
          </p:sp>
          <p:sp>
            <p:nvSpPr>
              <p:cNvPr id="25" name="Rectangle 24">
                <a:extLst>
                  <a:ext uri="{FF2B5EF4-FFF2-40B4-BE49-F238E27FC236}">
                    <a16:creationId xmlns:a16="http://schemas.microsoft.com/office/drawing/2014/main" id="{DB046B19-5FFA-4BA6-87C1-21AF96DAF488}"/>
                  </a:ext>
                </a:extLst>
              </p:cNvPr>
              <p:cNvSpPr/>
              <p:nvPr/>
            </p:nvSpPr>
            <p:spPr>
              <a:xfrm>
                <a:off x="10230950" y="3722465"/>
                <a:ext cx="1961050" cy="369332"/>
              </a:xfrm>
              <a:prstGeom prst="rect">
                <a:avLst/>
              </a:prstGeom>
            </p:spPr>
            <p:txBody>
              <a:bodyPr wrap="none">
                <a:spAutoFit/>
              </a:bodyPr>
              <a:lstStyle/>
              <a:p>
                <a:r>
                  <a:rPr lang="en-IN" dirty="0">
                    <a:solidFill>
                      <a:srgbClr val="FF0000"/>
                    </a:solidFill>
                  </a:rPr>
                  <a:t>Reduce Completed</a:t>
                </a:r>
              </a:p>
            </p:txBody>
          </p:sp>
          <p:sp>
            <p:nvSpPr>
              <p:cNvPr id="26" name="Rectangle 25">
                <a:extLst>
                  <a:ext uri="{FF2B5EF4-FFF2-40B4-BE49-F238E27FC236}">
                    <a16:creationId xmlns:a16="http://schemas.microsoft.com/office/drawing/2014/main" id="{9470B235-5079-4EEB-8063-A88C8BA76F39}"/>
                  </a:ext>
                </a:extLst>
              </p:cNvPr>
              <p:cNvSpPr/>
              <p:nvPr/>
            </p:nvSpPr>
            <p:spPr>
              <a:xfrm>
                <a:off x="4632631" y="6308209"/>
                <a:ext cx="1961050" cy="369332"/>
              </a:xfrm>
              <a:prstGeom prst="rect">
                <a:avLst/>
              </a:prstGeom>
            </p:spPr>
            <p:txBody>
              <a:bodyPr wrap="none">
                <a:spAutoFit/>
              </a:bodyPr>
              <a:lstStyle/>
              <a:p>
                <a:r>
                  <a:rPr lang="en-IN" dirty="0">
                    <a:solidFill>
                      <a:srgbClr val="FF0000"/>
                    </a:solidFill>
                  </a:rPr>
                  <a:t>Reduce Completed</a:t>
                </a:r>
              </a:p>
            </p:txBody>
          </p:sp>
        </p:grpSp>
      </p:grpSp>
      <p:pic>
        <p:nvPicPr>
          <p:cNvPr id="29" name="Picture 2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974471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heel(1)">
                                      <p:cBhvr>
                                        <p:cTn id="7"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6AB45F5-5ED0-40C6-B068-C401B225288A}"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latin typeface="Times New Roman" panose="02020603050405020304" pitchFamily="18" charset="0"/>
                <a:cs typeface="Times New Roman" panose="02020603050405020304" pitchFamily="18" charset="0"/>
              </a:rPr>
              <a:t>LR(0) Table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pic>
        <p:nvPicPr>
          <p:cNvPr id="10" name="Picture 2" descr="Canonical Collection of LR(0) items 1">
            <a:extLst>
              <a:ext uri="{FF2B5EF4-FFF2-40B4-BE49-F238E27FC236}">
                <a16:creationId xmlns:a16="http://schemas.microsoft.com/office/drawing/2014/main" id="{32BAA74F-A2D9-471E-8283-976C156CCC9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9108" y="1905000"/>
            <a:ext cx="8645784" cy="37338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2047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312E4AD-B56E-48E0-918E-DE6BAB36C232}"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latin typeface="Times New Roman" panose="02020603050405020304" pitchFamily="18" charset="0"/>
                <a:cs typeface="Times New Roman" panose="02020603050405020304" pitchFamily="18" charset="0"/>
              </a:rPr>
              <a:t>LR(0) Table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lgn="just">
              <a:buNone/>
            </a:pPr>
            <a:r>
              <a:rPr lang="en-US" sz="1800" dirty="0">
                <a:latin typeface="Times New Roman" panose="02020603050405020304" pitchFamily="18" charset="0"/>
                <a:cs typeface="Times New Roman" panose="02020603050405020304" pitchFamily="18" charset="0"/>
              </a:rPr>
              <a:t>Productions are numbered as follows:</a:t>
            </a:r>
          </a:p>
          <a:p>
            <a:pPr marL="0" indent="0" algn="just">
              <a:buNone/>
            </a:pP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S  →      AA    ... (1)   </a:t>
            </a:r>
          </a:p>
          <a:p>
            <a:pPr marL="0" indent="0" algn="just">
              <a:buNone/>
            </a:pPr>
            <a:r>
              <a:rPr lang="en-US" sz="1800" dirty="0">
                <a:latin typeface="Times New Roman" panose="02020603050405020304" pitchFamily="18" charset="0"/>
                <a:cs typeface="Times New Roman" panose="02020603050405020304" pitchFamily="18" charset="0"/>
              </a:rPr>
              <a:t>                    </a:t>
            </a:r>
          </a:p>
          <a:p>
            <a:pPr algn="just"/>
            <a:r>
              <a:rPr lang="en-US" sz="1800" dirty="0">
                <a:latin typeface="Times New Roman" panose="02020603050405020304" pitchFamily="18" charset="0"/>
                <a:cs typeface="Times New Roman" panose="02020603050405020304" pitchFamily="18" charset="0"/>
              </a:rPr>
              <a:t>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 (2)   </a:t>
            </a:r>
          </a:p>
          <a:p>
            <a:pPr marL="0" indent="0" algn="just">
              <a:buNone/>
            </a:pP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A    →    b     ... (3)  </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04156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anim calcmode="lin" valueType="num">
                                      <p:cBhvr additive="base">
                                        <p:cTn id="11"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anim calcmode="lin" valueType="num">
                                      <p:cBhvr additive="base">
                                        <p:cTn id="15" dur="500" fill="hold"/>
                                        <p:tgtEl>
                                          <p:spTgt spid="1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anim calcmode="lin" valueType="num">
                                      <p:cBhvr additive="base">
                                        <p:cTn id="19"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2">
                                            <p:txEl>
                                              <p:pRg st="6" end="6"/>
                                            </p:txEl>
                                          </p:spTgt>
                                        </p:tgtEl>
                                        <p:attrNameLst>
                                          <p:attrName>style.visibility</p:attrName>
                                        </p:attrNameLst>
                                      </p:cBhvr>
                                      <p:to>
                                        <p:strVal val="visible"/>
                                      </p:to>
                                    </p:set>
                                    <p:anim calcmode="lin" valueType="num">
                                      <p:cBhvr additive="base">
                                        <p:cTn id="23"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20700B-13A3-4AAE-9EE2-BA5C60BBC577}"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latin typeface="Times New Roman" panose="02020603050405020304" pitchFamily="18" charset="0"/>
                <a:cs typeface="Times New Roman" panose="02020603050405020304" pitchFamily="18" charset="0"/>
              </a:rPr>
              <a:t>LR(0) Table-</a:t>
            </a:r>
            <a:r>
              <a:rPr lang="en-US" sz="2400" dirty="0">
                <a:solidFill>
                  <a:schemeClr val="tx1"/>
                </a:solidFill>
                <a:latin typeface="Times New Roman" panose="02020603050405020304" pitchFamily="18" charset="0"/>
                <a:cs typeface="Times New Roman" panose="02020603050405020304" pitchFamily="18" charset="0"/>
              </a:rPr>
              <a:t> Explanation</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787346"/>
            <a:ext cx="8229600" cy="5059363"/>
          </a:xfrm>
        </p:spPr>
        <p:txBody>
          <a:bodyPr>
            <a:noAutofit/>
          </a:bodyPr>
          <a:lstStyle/>
          <a:p>
            <a:pPr algn="just"/>
            <a:r>
              <a:rPr lang="en-US" sz="1800" dirty="0">
                <a:latin typeface="Times New Roman" panose="02020603050405020304" pitchFamily="18" charset="0"/>
                <a:cs typeface="Times New Roman" panose="02020603050405020304" pitchFamily="18" charset="0"/>
              </a:rPr>
              <a:t>I1 contains the final item which drives(S` → S•), so action {I1, $} = Accept.</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I4 contains the final item which drives A → b• and that production corresponds to the production number 3 so write it as r3 in the entire row.</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I5 contains the final item which drives S → AA• and that production corresponds to the production number 1 so write it as r1 in the entire row.</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I6 contains the final item which drives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and that production corresponds to the production number 2 so write it as r2 in the entire row.</a:t>
            </a:r>
          </a:p>
          <a:p>
            <a:pPr algn="just"/>
            <a:endParaRPr lang="en-US"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marL="0" indent="0" algn="just">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228592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anim calcmode="lin" valueType="num">
                                      <p:cBhvr additive="base">
                                        <p:cTn id="11"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anim calcmode="lin" valueType="num">
                                      <p:cBhvr additive="base">
                                        <p:cTn id="15"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anim calcmode="lin" valueType="num">
                                      <p:cBhvr additive="base">
                                        <p:cTn id="19"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29CFCBB-522E-443A-9A74-51B5B990714B}"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rPr>
              <a:t>LR(0) Table-</a:t>
            </a:r>
            <a:r>
              <a:rPr lang="en-US" sz="2400" dirty="0">
                <a:solidFill>
                  <a:schemeClr val="tx1"/>
                </a:solidFill>
              </a:rPr>
              <a:t>Explanation:</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r>
              <a:rPr lang="en-US" sz="1800" dirty="0">
                <a:latin typeface="Times New Roman" panose="02020603050405020304" pitchFamily="18" charset="0"/>
                <a:cs typeface="Times New Roman" panose="02020603050405020304" pitchFamily="18" charset="0"/>
              </a:rPr>
              <a:t>I0 on S is going to I1 so write it as 1.</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I0 on A is going to I2 so write it as 2.</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I2 on A is going to I5 so write it as 5.</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I3 on A is going to I6 so write it as 6.</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I0, I2and I3on a are going to I3 so write it as S3 which means that shift 3.</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I0, I2 and I3 on b are going to I4 so write it as S4 which means that shift 4.</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I4, I5 and I6 all states contains the final item because they contain • in the right most end. So rate the production as production number.</a:t>
            </a:r>
          </a:p>
          <a:p>
            <a:endParaRPr lang="en-US"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97838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anim calcmode="lin" valueType="num">
                                      <p:cBhvr additive="base">
                                        <p:cTn id="11"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anim calcmode="lin" valueType="num">
                                      <p:cBhvr additive="base">
                                        <p:cTn id="15"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anim calcmode="lin" valueType="num">
                                      <p:cBhvr additive="base">
                                        <p:cTn id="19"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2">
                                            <p:txEl>
                                              <p:pRg st="8" end="8"/>
                                            </p:txEl>
                                          </p:spTgt>
                                        </p:tgtEl>
                                        <p:attrNameLst>
                                          <p:attrName>style.visibility</p:attrName>
                                        </p:attrNameLst>
                                      </p:cBhvr>
                                      <p:to>
                                        <p:strVal val="visible"/>
                                      </p:to>
                                    </p:set>
                                    <p:anim calcmode="lin" valueType="num">
                                      <p:cBhvr additive="base">
                                        <p:cTn id="23" dur="500" fill="hold"/>
                                        <p:tgtEl>
                                          <p:spTgt spid="12">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2">
                                            <p:txEl>
                                              <p:pRg st="10" end="10"/>
                                            </p:txEl>
                                          </p:spTgt>
                                        </p:tgtEl>
                                        <p:attrNameLst>
                                          <p:attrName>style.visibility</p:attrName>
                                        </p:attrNameLst>
                                      </p:cBhvr>
                                      <p:to>
                                        <p:strVal val="visible"/>
                                      </p:to>
                                    </p:set>
                                    <p:anim calcmode="lin" valueType="num">
                                      <p:cBhvr additive="base">
                                        <p:cTn id="27" dur="500" fill="hold"/>
                                        <p:tgtEl>
                                          <p:spTgt spid="12">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2">
                                            <p:txEl>
                                              <p:pRg st="12" end="12"/>
                                            </p:txEl>
                                          </p:spTgt>
                                        </p:tgtEl>
                                        <p:attrNameLst>
                                          <p:attrName>style.visibility</p:attrName>
                                        </p:attrNameLst>
                                      </p:cBhvr>
                                      <p:to>
                                        <p:strVal val="visible"/>
                                      </p:to>
                                    </p:set>
                                    <p:anim calcmode="lin" valueType="num">
                                      <p:cBhvr additive="base">
                                        <p:cTn id="31" dur="500" fill="hold"/>
                                        <p:tgtEl>
                                          <p:spTgt spid="12">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69926A4-0001-44D0-A792-F955F033A612}"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SLR Parser(CO2)</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SLR (1) refers to simple LR Parsing. </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It is same as LR(0) parsing. </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only difference is in the parsing table. </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 construct SLR (1) parsing table, we use canonical collection of LR (0) item.</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the SLR (1) parsing, we place the reduce move only in the follow of left hand side</a:t>
            </a:r>
          </a:p>
          <a:p>
            <a:pPr marL="0" indent="0">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2667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xEl>
                                              <p:pRg st="3" end="3"/>
                                            </p:txEl>
                                          </p:spTgt>
                                        </p:tgtEl>
                                        <p:attrNameLst>
                                          <p:attrName>style.visibility</p:attrName>
                                        </p:attrNameLst>
                                      </p:cBhvr>
                                      <p:to>
                                        <p:strVal val="visible"/>
                                      </p:to>
                                    </p:set>
                                    <p:animEffect transition="in" filter="wipe(down)">
                                      <p:cBhvr>
                                        <p:cTn id="12" dur="500"/>
                                        <p:tgtEl>
                                          <p:spTgt spid="1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xEl>
                                              <p:pRg st="6" end="6"/>
                                            </p:txEl>
                                          </p:spTgt>
                                        </p:tgtEl>
                                        <p:attrNameLst>
                                          <p:attrName>style.visibility</p:attrName>
                                        </p:attrNameLst>
                                      </p:cBhvr>
                                      <p:to>
                                        <p:strVal val="visible"/>
                                      </p:to>
                                    </p:set>
                                    <p:animEffect transition="in" filter="wipe(down)">
                                      <p:cBhvr>
                                        <p:cTn id="17" dur="500"/>
                                        <p:tgtEl>
                                          <p:spTgt spid="12">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xEl>
                                              <p:pRg st="9" end="9"/>
                                            </p:txEl>
                                          </p:spTgt>
                                        </p:tgtEl>
                                        <p:attrNameLst>
                                          <p:attrName>style.visibility</p:attrName>
                                        </p:attrNameLst>
                                      </p:cBhvr>
                                      <p:to>
                                        <p:strVal val="visible"/>
                                      </p:to>
                                    </p:set>
                                    <p:animEffect transition="in" filter="wipe(down)">
                                      <p:cBhvr>
                                        <p:cTn id="22" dur="500"/>
                                        <p:tgtEl>
                                          <p:spTgt spid="12">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xEl>
                                              <p:pRg st="12" end="12"/>
                                            </p:txEl>
                                          </p:spTgt>
                                        </p:tgtEl>
                                        <p:attrNameLst>
                                          <p:attrName>style.visibility</p:attrName>
                                        </p:attrNameLst>
                                      </p:cBhvr>
                                      <p:to>
                                        <p:strVal val="visible"/>
                                      </p:to>
                                    </p:set>
                                    <p:animEffect transition="in" filter="wipe(down)">
                                      <p:cBhvr>
                                        <p:cTn id="27" dur="500"/>
                                        <p:tgtEl>
                                          <p:spTgt spid="1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DBC7B16-6646-49C8-8DB2-7099D6467D02}"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Various steps involved in the SLR (1) Parsing</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en-I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D25E4C5E-5898-4860-8D95-0E8DFB0E341C}"/>
              </a:ext>
            </a:extLst>
          </p:cNvPr>
          <p:cNvGraphicFramePr/>
          <p:nvPr>
            <p:extLst>
              <p:ext uri="{D42A27DB-BD31-4B8C-83A1-F6EECF244321}">
                <p14:modId xmlns:p14="http://schemas.microsoft.com/office/powerpoint/2010/main" val="532691279"/>
              </p:ext>
            </p:extLst>
          </p:nvPr>
        </p:nvGraphicFramePr>
        <p:xfrm>
          <a:off x="533400" y="1083922"/>
          <a:ext cx="8077200" cy="4830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44782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9D1A5F-EC77-4670-986F-0C1261D2C7FF}"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SLR (1) Table Construction</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lgn="just">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steps which use to construct SLR (1) Table is given below:</a:t>
            </a:r>
          </a:p>
          <a:p>
            <a:pPr marL="0" indent="0" algn="just">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If a state (</a:t>
            </a:r>
            <a:r>
              <a:rPr lang="en-US" sz="1800" dirty="0" err="1">
                <a:latin typeface="Times New Roman" panose="02020603050405020304" pitchFamily="18" charset="0"/>
                <a:cs typeface="Times New Roman" panose="02020603050405020304" pitchFamily="18" charset="0"/>
              </a:rPr>
              <a:t>I</a:t>
            </a:r>
            <a:r>
              <a:rPr lang="en-US" sz="1800" baseline="-250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is going to some other state (</a:t>
            </a:r>
            <a:r>
              <a:rPr lang="en-US" sz="1800" dirty="0" err="1">
                <a:latin typeface="Times New Roman" panose="02020603050405020304" pitchFamily="18" charset="0"/>
                <a:cs typeface="Times New Roman" panose="02020603050405020304" pitchFamily="18" charset="0"/>
              </a:rPr>
              <a:t>I</a:t>
            </a:r>
            <a:r>
              <a:rPr lang="en-US" sz="1800" baseline="-25000" dirty="0" err="1">
                <a:latin typeface="Times New Roman" panose="02020603050405020304" pitchFamily="18" charset="0"/>
                <a:cs typeface="Times New Roman" panose="02020603050405020304" pitchFamily="18" charset="0"/>
              </a:rPr>
              <a:t>j</a:t>
            </a:r>
            <a:r>
              <a:rPr lang="en-US" sz="1800" dirty="0">
                <a:latin typeface="Times New Roman" panose="02020603050405020304" pitchFamily="18" charset="0"/>
                <a:cs typeface="Times New Roman" panose="02020603050405020304" pitchFamily="18" charset="0"/>
              </a:rPr>
              <a:t>) on a terminal then it corresponds to a shift move in the action part</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If a state (</a:t>
            </a:r>
            <a:r>
              <a:rPr lang="en-US" sz="1800" dirty="0" err="1">
                <a:latin typeface="Times New Roman" panose="02020603050405020304" pitchFamily="18" charset="0"/>
                <a:cs typeface="Times New Roman" panose="02020603050405020304" pitchFamily="18" charset="0"/>
              </a:rPr>
              <a:t>I</a:t>
            </a:r>
            <a:r>
              <a:rPr lang="en-US" sz="1800" baseline="-250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is going to some other state (</a:t>
            </a:r>
            <a:r>
              <a:rPr lang="en-US" sz="1800" dirty="0" err="1">
                <a:latin typeface="Times New Roman" panose="02020603050405020304" pitchFamily="18" charset="0"/>
                <a:cs typeface="Times New Roman" panose="02020603050405020304" pitchFamily="18" charset="0"/>
              </a:rPr>
              <a:t>I</a:t>
            </a:r>
            <a:r>
              <a:rPr lang="en-US" sz="1800" baseline="-25000" dirty="0" err="1">
                <a:latin typeface="Times New Roman" panose="02020603050405020304" pitchFamily="18" charset="0"/>
                <a:cs typeface="Times New Roman" panose="02020603050405020304" pitchFamily="18" charset="0"/>
              </a:rPr>
              <a:t>j</a:t>
            </a:r>
            <a:r>
              <a:rPr lang="en-US" sz="1800" dirty="0">
                <a:latin typeface="Times New Roman" panose="02020603050405020304" pitchFamily="18" charset="0"/>
                <a:cs typeface="Times New Roman" panose="02020603050405020304" pitchFamily="18" charset="0"/>
              </a:rPr>
              <a:t>) on a variable then it correspond to go to move in the Go to part.</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If a state (</a:t>
            </a:r>
            <a:r>
              <a:rPr lang="en-US" sz="1800" dirty="0" err="1">
                <a:latin typeface="Times New Roman" panose="02020603050405020304" pitchFamily="18" charset="0"/>
                <a:cs typeface="Times New Roman" panose="02020603050405020304" pitchFamily="18" charset="0"/>
              </a:rPr>
              <a:t>I</a:t>
            </a:r>
            <a:r>
              <a:rPr lang="en-US" sz="1800" baseline="-250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contains the final item, which has no transitions to the next state then the production is known as reduce production. For all terminals X in FOLLOW (A), write the reduce entry along with their production numbers</a:t>
            </a:r>
            <a:endParaRPr lang="en-IN"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31512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 calcmode="lin" valueType="num">
                                      <p:cBhvr additive="base">
                                        <p:cTn id="13"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anim calcmode="lin" valueType="num">
                                      <p:cBhvr additive="base">
                                        <p:cTn id="19"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xEl>
                                              <p:pRg st="6" end="6"/>
                                            </p:txEl>
                                          </p:spTgt>
                                        </p:tgtEl>
                                        <p:attrNameLst>
                                          <p:attrName>style.visibility</p:attrName>
                                        </p:attrNameLst>
                                      </p:cBhvr>
                                      <p:to>
                                        <p:strVal val="visible"/>
                                      </p:to>
                                    </p:set>
                                    <p:anim calcmode="lin" valueType="num">
                                      <p:cBhvr additive="base">
                                        <p:cTn id="25"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904399E-8048-45D4-8BE0-A8E15B2619A2}"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457200" y="817163"/>
            <a:ext cx="8229600" cy="5447113"/>
          </a:xfrm>
        </p:spPr>
        <p:txBody>
          <a:bodyPr>
            <a:noAutofit/>
          </a:bodyPr>
          <a:lstStyle/>
          <a:p>
            <a:pPr marL="0" indent="0">
              <a:buNone/>
            </a:pPr>
            <a:r>
              <a:rPr lang="de-DE" sz="180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a:t>
            </a:r>
          </a:p>
          <a:p>
            <a:pPr marL="0" indent="0">
              <a:buNone/>
            </a:pPr>
            <a:r>
              <a:rPr lang="de-DE" sz="1800" b="0" i="0" dirty="0">
                <a:solidFill>
                  <a:srgbClr val="000000"/>
                </a:solidFill>
                <a:effectLst/>
                <a:latin typeface="Times New Roman" panose="02020603050405020304" pitchFamily="18" charset="0"/>
                <a:cs typeface="Times New Roman" panose="02020603050405020304" pitchFamily="18" charset="0"/>
              </a:rPr>
              <a:t>		S → E</a:t>
            </a:r>
            <a:r>
              <a:rPr lang="de-DE" sz="1800" dirty="0">
                <a:latin typeface="Times New Roman" panose="02020603050405020304" pitchFamily="18" charset="0"/>
                <a:cs typeface="Times New Roman" panose="02020603050405020304" pitchFamily="18" charset="0"/>
              </a:rPr>
              <a:t/>
            </a:r>
            <a:br>
              <a:rPr lang="de-DE" sz="1800" dirty="0">
                <a:latin typeface="Times New Roman" panose="02020603050405020304" pitchFamily="18" charset="0"/>
                <a:cs typeface="Times New Roman" panose="02020603050405020304" pitchFamily="18" charset="0"/>
              </a:rPr>
            </a:br>
            <a:r>
              <a:rPr lang="de-DE" sz="1800" dirty="0">
                <a:latin typeface="Times New Roman" panose="02020603050405020304" pitchFamily="18" charset="0"/>
                <a:cs typeface="Times New Roman" panose="02020603050405020304" pitchFamily="18" charset="0"/>
              </a:rPr>
              <a:t>		</a:t>
            </a:r>
            <a:r>
              <a:rPr lang="de-DE" sz="1800" b="0" i="0" dirty="0">
                <a:solidFill>
                  <a:srgbClr val="000000"/>
                </a:solidFill>
                <a:effectLst/>
                <a:latin typeface="Times New Roman" panose="02020603050405020304" pitchFamily="18" charset="0"/>
                <a:cs typeface="Times New Roman" panose="02020603050405020304" pitchFamily="18" charset="0"/>
              </a:rPr>
              <a:t>E → E + T | T</a:t>
            </a:r>
            <a:r>
              <a:rPr lang="de-DE" sz="1800" dirty="0">
                <a:latin typeface="Times New Roman" panose="02020603050405020304" pitchFamily="18" charset="0"/>
                <a:cs typeface="Times New Roman" panose="02020603050405020304" pitchFamily="18" charset="0"/>
              </a:rPr>
              <a:t/>
            </a:r>
            <a:br>
              <a:rPr lang="de-DE" sz="1800" dirty="0">
                <a:latin typeface="Times New Roman" panose="02020603050405020304" pitchFamily="18" charset="0"/>
                <a:cs typeface="Times New Roman" panose="02020603050405020304" pitchFamily="18" charset="0"/>
              </a:rPr>
            </a:br>
            <a:r>
              <a:rPr lang="de-DE" sz="1800" dirty="0">
                <a:latin typeface="Times New Roman" panose="02020603050405020304" pitchFamily="18" charset="0"/>
                <a:cs typeface="Times New Roman" panose="02020603050405020304" pitchFamily="18" charset="0"/>
              </a:rPr>
              <a:t>		</a:t>
            </a:r>
            <a:r>
              <a:rPr lang="de-DE" sz="1800" b="0" i="0" dirty="0">
                <a:solidFill>
                  <a:srgbClr val="000000"/>
                </a:solidFill>
                <a:effectLst/>
                <a:latin typeface="Times New Roman" panose="02020603050405020304" pitchFamily="18" charset="0"/>
                <a:cs typeface="Times New Roman" panose="02020603050405020304" pitchFamily="18" charset="0"/>
              </a:rPr>
              <a:t>T → T * F | F</a:t>
            </a:r>
            <a:r>
              <a:rPr lang="de-DE" sz="1800" dirty="0">
                <a:latin typeface="Times New Roman" panose="02020603050405020304" pitchFamily="18" charset="0"/>
                <a:cs typeface="Times New Roman" panose="02020603050405020304" pitchFamily="18" charset="0"/>
              </a:rPr>
              <a:t/>
            </a:r>
            <a:br>
              <a:rPr lang="de-DE" sz="1800" dirty="0">
                <a:latin typeface="Times New Roman" panose="02020603050405020304" pitchFamily="18" charset="0"/>
                <a:cs typeface="Times New Roman" panose="02020603050405020304" pitchFamily="18" charset="0"/>
              </a:rPr>
            </a:br>
            <a:r>
              <a:rPr lang="de-DE" sz="1800" dirty="0">
                <a:latin typeface="Times New Roman" panose="02020603050405020304" pitchFamily="18" charset="0"/>
                <a:cs typeface="Times New Roman" panose="02020603050405020304" pitchFamily="18" charset="0"/>
              </a:rPr>
              <a:t>		</a:t>
            </a:r>
            <a:r>
              <a:rPr lang="de-DE" sz="1800" b="0" i="0" dirty="0">
                <a:solidFill>
                  <a:srgbClr val="000000"/>
                </a:solidFill>
                <a:effectLst/>
                <a:latin typeface="Times New Roman" panose="02020603050405020304" pitchFamily="18" charset="0"/>
                <a:cs typeface="Times New Roman" panose="02020603050405020304" pitchFamily="18" charset="0"/>
              </a:rPr>
              <a:t>F → id</a:t>
            </a:r>
            <a:endParaRPr lang="en-IN" sz="1800" dirty="0">
              <a:latin typeface="Times New Roman" panose="02020603050405020304" pitchFamily="18" charset="0"/>
              <a:cs typeface="Times New Roman" panose="02020603050405020304" pitchFamily="18" charset="0"/>
            </a:endParaRPr>
          </a:p>
          <a:p>
            <a:pPr marL="0" indent="0">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a:buNone/>
            </a:pPr>
            <a:endParaRPr lang="en-US" sz="180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en-US" sz="180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 1:- </a:t>
            </a:r>
            <a:r>
              <a:rPr lang="en-US" sz="1800" b="0" i="0" dirty="0">
                <a:solidFill>
                  <a:srgbClr val="000000"/>
                </a:solidFill>
                <a:effectLst/>
                <a:latin typeface="Times New Roman" panose="02020603050405020304" pitchFamily="18" charset="0"/>
                <a:cs typeface="Times New Roman" panose="02020603050405020304" pitchFamily="18" charset="0"/>
              </a:rPr>
              <a:t>Add Augment Production and insert '•' symbol at the first position </a:t>
            </a:r>
            <a:r>
              <a:rPr lang="en-US" sz="1800" dirty="0">
                <a:solidFill>
                  <a:srgbClr val="000000"/>
                </a:solidFill>
                <a:latin typeface="Times New Roman" panose="02020603050405020304" pitchFamily="18" charset="0"/>
                <a:cs typeface="Times New Roman" panose="02020603050405020304" pitchFamily="18" charset="0"/>
              </a:rPr>
              <a:t>of Augment Production </a:t>
            </a:r>
            <a:r>
              <a:rPr lang="en-US" sz="1800" b="0" i="0" dirty="0">
                <a:solidFill>
                  <a:srgbClr val="000000"/>
                </a:solidFill>
                <a:effectLst/>
                <a:latin typeface="Times New Roman" panose="02020603050405020304" pitchFamily="18" charset="0"/>
                <a:cs typeface="Times New Roman" panose="02020603050405020304" pitchFamily="18" charset="0"/>
              </a:rPr>
              <a:t>					</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br>
              <a:rPr lang="en-US" sz="1800" b="0" i="0" dirty="0">
                <a:solidFill>
                  <a:srgbClr val="000000"/>
                </a:solidFill>
                <a:effectLst/>
                <a:latin typeface="Times New Roman" panose="02020603050405020304" pitchFamily="18" charset="0"/>
                <a:cs typeface="Times New Roman" panose="02020603050405020304" pitchFamily="18" charset="0"/>
              </a:rPr>
            </a:b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buNone/>
            </a:pPr>
            <a:r>
              <a:rPr lang="de-DE" sz="1800" dirty="0">
                <a:solidFill>
                  <a:srgbClr val="000000"/>
                </a:solidFill>
                <a:latin typeface="Times New Roman" panose="02020603050405020304" pitchFamily="18" charset="0"/>
                <a:cs typeface="Times New Roman" panose="02020603050405020304" pitchFamily="18" charset="0"/>
              </a:rPr>
              <a:t>S → E	 	</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dirty="0">
                <a:solidFill>
                  <a:srgbClr val="000000"/>
                </a:solidFill>
                <a:latin typeface="Times New Roman" panose="02020603050405020304" pitchFamily="18" charset="0"/>
                <a:cs typeface="Times New Roman" panose="02020603050405020304" pitchFamily="18" charset="0"/>
              </a:rPr>
              <a:t> S` → •E </a:t>
            </a:r>
            <a:r>
              <a:rPr lang="en-US" sz="1800" b="0" i="0" dirty="0">
                <a:solidFill>
                  <a:srgbClr val="000000"/>
                </a:solidFill>
                <a:effectLst/>
                <a:latin typeface="Times New Roman" panose="02020603050405020304" pitchFamily="18" charset="0"/>
                <a:cs typeface="Times New Roman" panose="02020603050405020304" pitchFamily="18" charset="0"/>
              </a:rPr>
              <a:t>		</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61865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down)">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8FA6BE3-5AAC-4874-ACC0-FBEF6271E1BD}"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457200" y="914400"/>
            <a:ext cx="8229600" cy="5310586"/>
          </a:xfrm>
        </p:spPr>
        <p:txBody>
          <a:bodyPr>
            <a:normAutofit/>
          </a:bodyPr>
          <a:lstStyle/>
          <a:p>
            <a:pPr marL="0" indent="0" algn="l">
              <a:buNone/>
            </a:pPr>
            <a:r>
              <a:rPr lang="en-US" sz="180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 2: Compute Canonical Collection </a:t>
            </a:r>
          </a:p>
          <a:p>
            <a:pPr marL="0" indent="0" algn="l">
              <a:buNone/>
            </a:pPr>
            <a:endParaRPr lang="en-US" sz="1800" b="1"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b="1" i="0" u="sng" dirty="0">
              <a:solidFill>
                <a:srgbClr val="000000"/>
              </a:solidFill>
              <a:effectLst/>
              <a:latin typeface="Times New Roman" panose="02020603050405020304" pitchFamily="18" charset="0"/>
              <a:cs typeface="Times New Roman" panose="02020603050405020304" pitchFamily="18" charset="0"/>
            </a:endParaRPr>
          </a:p>
          <a:p>
            <a:pPr marL="0" indent="0" algn="l">
              <a:buNone/>
            </a:pPr>
            <a:r>
              <a:rPr lang="en-US" sz="1800" b="1" i="0" u="sng" dirty="0">
                <a:solidFill>
                  <a:srgbClr val="000000"/>
                </a:solidFill>
                <a:effectLst/>
                <a:latin typeface="Times New Roman" panose="02020603050405020304" pitchFamily="18" charset="0"/>
                <a:cs typeface="Times New Roman" panose="02020603050405020304" pitchFamily="18" charset="0"/>
              </a:rPr>
              <a:t>I0 State:</a:t>
            </a:r>
          </a:p>
          <a:p>
            <a:pPr marL="0" indent="0" algn="l">
              <a:buNone/>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dirty="0">
              <a:solidFill>
                <a:srgbClr val="000000"/>
              </a:solidFill>
              <a:latin typeface="Times New Roman" panose="02020603050405020304" pitchFamily="18" charset="0"/>
              <a:cs typeface="Times New Roman" panose="02020603050405020304" pitchFamily="18" charset="0"/>
            </a:endParaRPr>
          </a:p>
          <a:p>
            <a:pPr marL="0" indent="0" algn="l">
              <a:buNone/>
            </a:pPr>
            <a:r>
              <a:rPr lang="en-US" sz="1800" b="0" i="0" dirty="0">
                <a:solidFill>
                  <a:srgbClr val="000000"/>
                </a:solidFill>
                <a:effectLst/>
                <a:latin typeface="Times New Roman" panose="02020603050405020304" pitchFamily="18" charset="0"/>
                <a:cs typeface="Times New Roman" panose="02020603050405020304" pitchFamily="18" charset="0"/>
              </a:rPr>
              <a:t>	</a:t>
            </a:r>
          </a:p>
          <a:p>
            <a:pPr marL="0" indent="0" algn="just">
              <a:buNone/>
            </a:pPr>
            <a:r>
              <a:rPr lang="en-US" sz="1800" b="1" i="0" dirty="0">
                <a:solidFill>
                  <a:srgbClr val="000000"/>
                </a:solidFill>
                <a:effectLst/>
                <a:latin typeface="Times New Roman" panose="02020603050405020304" pitchFamily="18" charset="0"/>
                <a:cs typeface="Times New Roman" panose="02020603050405020304" pitchFamily="18" charset="0"/>
              </a:rPr>
              <a:t>I0 =</a:t>
            </a:r>
            <a:r>
              <a:rPr lang="en-US" sz="1800" b="0" i="0" dirty="0">
                <a:solidFill>
                  <a:srgbClr val="000000"/>
                </a:solidFill>
                <a:effectLst/>
                <a:latin typeface="Times New Roman" panose="02020603050405020304" pitchFamily="18" charset="0"/>
                <a:cs typeface="Times New Roman" panose="02020603050405020304" pitchFamily="18" charset="0"/>
              </a:rPr>
              <a:t> Closure (S` → •E)</a:t>
            </a:r>
          </a:p>
          <a:p>
            <a:pPr marL="0" indent="0" algn="l">
              <a:buNone/>
            </a:pPr>
            <a:endParaRPr lang="en-US" sz="1800" b="1" i="0" dirty="0">
              <a:solidFill>
                <a:srgbClr val="000000"/>
              </a:solidFill>
              <a:effectLst/>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9B0658D8-0AB3-4A16-AF4D-EE5C009A4CE2}"/>
              </a:ext>
            </a:extLst>
          </p:cNvPr>
          <p:cNvSpPr/>
          <p:nvPr/>
        </p:nvSpPr>
        <p:spPr>
          <a:xfrm>
            <a:off x="3352800" y="2133599"/>
            <a:ext cx="1447800" cy="6096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l">
              <a:buNone/>
            </a:pPr>
            <a:r>
              <a:rPr lang="en-US" sz="1800" b="0" i="0" dirty="0">
                <a:solidFill>
                  <a:srgbClr val="000000"/>
                </a:solidFill>
                <a:effectLst/>
                <a:latin typeface="Times New Roman" panose="02020603050405020304" pitchFamily="18" charset="0"/>
                <a:cs typeface="Times New Roman" panose="02020603050405020304" pitchFamily="18" charset="0"/>
              </a:rPr>
              <a:t>S` → •E</a:t>
            </a:r>
          </a:p>
        </p:txBody>
      </p:sp>
      <p:sp>
        <p:nvSpPr>
          <p:cNvPr id="5" name="Oval 4">
            <a:extLst>
              <a:ext uri="{FF2B5EF4-FFF2-40B4-BE49-F238E27FC236}">
                <a16:creationId xmlns:a16="http://schemas.microsoft.com/office/drawing/2014/main" id="{8712E5DC-DBDB-4FA4-85A7-F97D1F776B6A}"/>
              </a:ext>
            </a:extLst>
          </p:cNvPr>
          <p:cNvSpPr/>
          <p:nvPr/>
        </p:nvSpPr>
        <p:spPr>
          <a:xfrm>
            <a:off x="609600" y="4135834"/>
            <a:ext cx="2514600" cy="10668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l">
              <a:buNone/>
            </a:pPr>
            <a:r>
              <a:rPr lang="en-US" dirty="0">
                <a:solidFill>
                  <a:srgbClr val="000000"/>
                </a:solidFill>
                <a:latin typeface="Times New Roman" panose="02020603050405020304" pitchFamily="18" charset="0"/>
                <a:cs typeface="Times New Roman" panose="02020603050405020304" pitchFamily="18" charset="0"/>
              </a:rPr>
              <a:t>        </a:t>
            </a:r>
            <a:r>
              <a:rPr lang="en-US" sz="1800" b="0" i="0" dirty="0">
                <a:solidFill>
                  <a:srgbClr val="000000"/>
                </a:solidFill>
                <a:effectLst/>
                <a:latin typeface="Times New Roman" panose="02020603050405020304" pitchFamily="18" charset="0"/>
                <a:cs typeface="Times New Roman" panose="02020603050405020304" pitchFamily="18" charset="0"/>
              </a:rPr>
              <a:t>S` → •E</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E</a:t>
            </a:r>
            <a:r>
              <a:rPr lang="en-US" sz="1800" b="0" i="0" dirty="0">
                <a:solidFill>
                  <a:srgbClr val="000000"/>
                </a:solidFill>
                <a:effectLst/>
                <a:latin typeface="Times New Roman" panose="02020603050405020304" pitchFamily="18" charset="0"/>
                <a:cs typeface="Times New Roman" panose="02020603050405020304" pitchFamily="18" charset="0"/>
              </a:rPr>
              <a:t> → •E + T</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E → •T</a:t>
            </a:r>
          </a:p>
        </p:txBody>
      </p:sp>
      <p:sp>
        <p:nvSpPr>
          <p:cNvPr id="10" name="Oval 9">
            <a:extLst>
              <a:ext uri="{FF2B5EF4-FFF2-40B4-BE49-F238E27FC236}">
                <a16:creationId xmlns:a16="http://schemas.microsoft.com/office/drawing/2014/main" id="{B7569956-C469-483C-B995-9E13B13B9C5E}"/>
              </a:ext>
            </a:extLst>
          </p:cNvPr>
          <p:cNvSpPr/>
          <p:nvPr/>
        </p:nvSpPr>
        <p:spPr>
          <a:xfrm>
            <a:off x="5040085" y="3597176"/>
            <a:ext cx="2514600" cy="214411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solidFill>
                  <a:srgbClr val="000000"/>
                </a:solidFill>
                <a:latin typeface="Times New Roman" panose="02020603050405020304" pitchFamily="18" charset="0"/>
                <a:cs typeface="Times New Roman" panose="02020603050405020304" pitchFamily="18" charset="0"/>
              </a:rPr>
              <a:t>       S` → •E</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E</a:t>
            </a:r>
            <a:r>
              <a:rPr lang="en-US" dirty="0">
                <a:solidFill>
                  <a:srgbClr val="000000"/>
                </a:solidFill>
                <a:latin typeface="Times New Roman" panose="02020603050405020304" pitchFamily="18" charset="0"/>
                <a:cs typeface="Times New Roman" panose="02020603050405020304" pitchFamily="18" charset="0"/>
              </a:rPr>
              <a:t> → •E + T</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E → •T</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T</a:t>
            </a:r>
            <a:r>
              <a:rPr lang="en-US" dirty="0">
                <a:solidFill>
                  <a:srgbClr val="000000"/>
                </a:solidFill>
                <a:latin typeface="Times New Roman" panose="02020603050405020304" pitchFamily="18" charset="0"/>
                <a:cs typeface="Times New Roman" panose="02020603050405020304" pitchFamily="18" charset="0"/>
              </a:rPr>
              <a:t> → •T * F</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T → •F</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F</a:t>
            </a:r>
            <a:r>
              <a:rPr lang="en-US" dirty="0">
                <a:solidFill>
                  <a:srgbClr val="000000"/>
                </a:solidFill>
                <a:latin typeface="Times New Roman" panose="02020603050405020304" pitchFamily="18" charset="0"/>
                <a:cs typeface="Times New Roman" panose="02020603050405020304" pitchFamily="18" charset="0"/>
              </a:rPr>
              <a:t> → •id</a:t>
            </a:r>
          </a:p>
        </p:txBody>
      </p:sp>
      <p:sp>
        <p:nvSpPr>
          <p:cNvPr id="11" name="Arrow: Right 10">
            <a:extLst>
              <a:ext uri="{FF2B5EF4-FFF2-40B4-BE49-F238E27FC236}">
                <a16:creationId xmlns:a16="http://schemas.microsoft.com/office/drawing/2014/main" id="{D4C93978-E7B3-4C0F-BB66-22F877CC8975}"/>
              </a:ext>
            </a:extLst>
          </p:cNvPr>
          <p:cNvSpPr/>
          <p:nvPr/>
        </p:nvSpPr>
        <p:spPr>
          <a:xfrm>
            <a:off x="3581400" y="4572000"/>
            <a:ext cx="9906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939277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Effect transition="in" filter="fad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wipe(down)">
                                      <p:cBhvr>
                                        <p:cTn id="25" dur="500"/>
                                        <p:tgtEl>
                                          <p:spTgt spid="3">
                                            <p:txEl>
                                              <p:pRg st="8" end="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p:cTn id="30" dur="1000" fill="hold"/>
                                        <p:tgtEl>
                                          <p:spTgt spid="5"/>
                                        </p:tgtEl>
                                        <p:attrNameLst>
                                          <p:attrName>ppt_w</p:attrName>
                                        </p:attrNameLst>
                                      </p:cBhvr>
                                      <p:tavLst>
                                        <p:tav tm="0">
                                          <p:val>
                                            <p:fltVal val="0"/>
                                          </p:val>
                                        </p:tav>
                                        <p:tav tm="100000">
                                          <p:val>
                                            <p:strVal val="#ppt_w"/>
                                          </p:val>
                                        </p:tav>
                                      </p:tavLst>
                                    </p:anim>
                                    <p:anim calcmode="lin" valueType="num">
                                      <p:cBhvr>
                                        <p:cTn id="31" dur="1000" fill="hold"/>
                                        <p:tgtEl>
                                          <p:spTgt spid="5"/>
                                        </p:tgtEl>
                                        <p:attrNameLst>
                                          <p:attrName>ppt_h</p:attrName>
                                        </p:attrNameLst>
                                      </p:cBhvr>
                                      <p:tavLst>
                                        <p:tav tm="0">
                                          <p:val>
                                            <p:fltVal val="0"/>
                                          </p:val>
                                        </p:tav>
                                        <p:tav tm="100000">
                                          <p:val>
                                            <p:strVal val="#ppt_h"/>
                                          </p:val>
                                        </p:tav>
                                      </p:tavLst>
                                    </p:anim>
                                    <p:anim calcmode="lin" valueType="num">
                                      <p:cBhvr>
                                        <p:cTn id="32" dur="1000" fill="hold"/>
                                        <p:tgtEl>
                                          <p:spTgt spid="5"/>
                                        </p:tgtEl>
                                        <p:attrNameLst>
                                          <p:attrName>style.rotation</p:attrName>
                                        </p:attrNameLst>
                                      </p:cBhvr>
                                      <p:tavLst>
                                        <p:tav tm="0">
                                          <p:val>
                                            <p:fltVal val="90"/>
                                          </p:val>
                                        </p:tav>
                                        <p:tav tm="100000">
                                          <p:val>
                                            <p:fltVal val="0"/>
                                          </p:val>
                                        </p:tav>
                                      </p:tavLst>
                                    </p:anim>
                                    <p:animEffect transition="in" filter="fade">
                                      <p:cBhvr>
                                        <p:cTn id="33" dur="10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down)">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10" grpId="0" animBg="1"/>
      <p:bldP spid="11"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FB7C3B1-5340-4330-8FFE-8030EF140309}"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457200" y="817163"/>
            <a:ext cx="8229600" cy="5126437"/>
          </a:xfrm>
        </p:spPr>
        <p:txBody>
          <a:bodyPr>
            <a:normAutofit/>
          </a:bodyPr>
          <a:lstStyle/>
          <a:p>
            <a:pPr marL="0" indent="0">
              <a:buNone/>
            </a:pPr>
            <a:r>
              <a:rPr lang="en-IN" sz="1800" b="1" i="0" dirty="0">
                <a:effectLst/>
                <a:latin typeface="Times New Roman" panose="02020603050405020304" pitchFamily="18" charset="0"/>
                <a:cs typeface="Times New Roman" panose="02020603050405020304" pitchFamily="18" charset="0"/>
              </a:rPr>
              <a:t>I1=</a:t>
            </a:r>
            <a:r>
              <a:rPr lang="en-IN" sz="1800" b="0" i="0" dirty="0">
                <a:solidFill>
                  <a:srgbClr val="000000"/>
                </a:solidFill>
                <a:effectLst/>
                <a:latin typeface="Times New Roman" panose="02020603050405020304" pitchFamily="18" charset="0"/>
                <a:cs typeface="Times New Roman" panose="02020603050405020304" pitchFamily="18" charset="0"/>
              </a:rPr>
              <a:t> Go to (I0, E) </a:t>
            </a:r>
          </a:p>
          <a:p>
            <a:pPr marL="0" indent="0">
              <a:buNone/>
            </a:pPr>
            <a:endParaRPr lang="en-IN" sz="1800" dirty="0">
              <a:solidFill>
                <a:srgbClr val="000000"/>
              </a:solidFill>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0" indent="0">
              <a:buNone/>
            </a:pPr>
            <a:r>
              <a:rPr lang="en-IN" sz="1800" b="1" i="0" dirty="0">
                <a:effectLst/>
                <a:latin typeface="Times New Roman" panose="02020603050405020304" pitchFamily="18" charset="0"/>
                <a:cs typeface="Times New Roman" panose="02020603050405020304" pitchFamily="18" charset="0"/>
              </a:rPr>
              <a:t>I2=</a:t>
            </a:r>
            <a:r>
              <a:rPr lang="en-IN" sz="1800" b="0" i="0" dirty="0">
                <a:solidFill>
                  <a:srgbClr val="000000"/>
                </a:solidFill>
                <a:effectLst/>
                <a:latin typeface="Times New Roman" panose="02020603050405020304" pitchFamily="18" charset="0"/>
                <a:cs typeface="Times New Roman" panose="02020603050405020304" pitchFamily="18" charset="0"/>
              </a:rPr>
              <a:t> Go to (I0, T) </a:t>
            </a:r>
          </a:p>
          <a:p>
            <a:pPr marL="0" indent="0">
              <a:buNone/>
            </a:pPr>
            <a:endParaRPr lang="en-IN" sz="1800" dirty="0">
              <a:solidFill>
                <a:srgbClr val="000000"/>
              </a:solidFill>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0" indent="0">
              <a:buNone/>
            </a:pPr>
            <a:endParaRPr lang="en-IN" sz="1800" b="1" i="0" dirty="0">
              <a:effectLst/>
              <a:latin typeface="Times New Roman" panose="02020603050405020304" pitchFamily="18" charset="0"/>
              <a:cs typeface="Times New Roman" panose="02020603050405020304" pitchFamily="18" charset="0"/>
            </a:endParaRPr>
          </a:p>
          <a:p>
            <a:pPr marL="0" indent="0">
              <a:buNone/>
            </a:pPr>
            <a:r>
              <a:rPr lang="en-IN" sz="1800" b="1" i="0" dirty="0">
                <a:effectLst/>
                <a:latin typeface="Times New Roman" panose="02020603050405020304" pitchFamily="18" charset="0"/>
                <a:cs typeface="Times New Roman" panose="02020603050405020304" pitchFamily="18" charset="0"/>
              </a:rPr>
              <a:t>I3=</a:t>
            </a:r>
            <a:r>
              <a:rPr lang="en-IN" sz="1800" b="0" i="0" dirty="0">
                <a:solidFill>
                  <a:srgbClr val="000000"/>
                </a:solidFill>
                <a:effectLst/>
                <a:latin typeface="Times New Roman" panose="02020603050405020304" pitchFamily="18" charset="0"/>
                <a:cs typeface="Times New Roman" panose="02020603050405020304" pitchFamily="18" charset="0"/>
              </a:rPr>
              <a:t> Go to (I0, F)</a:t>
            </a:r>
          </a:p>
          <a:p>
            <a:pPr marL="0" indent="0">
              <a:buNone/>
            </a:pPr>
            <a:endParaRPr lang="en-IN" sz="1800" b="0" i="0" dirty="0">
              <a:solidFill>
                <a:srgbClr val="000000"/>
              </a:solidFill>
              <a:effectLst/>
              <a:latin typeface="Times New Roman" panose="02020603050405020304" pitchFamily="18" charset="0"/>
              <a:cs typeface="Times New Roman" panose="02020603050405020304" pitchFamily="18" charset="0"/>
            </a:endParaRPr>
          </a:p>
          <a:p>
            <a:pPr marL="0" indent="0">
              <a:buNone/>
            </a:pPr>
            <a:r>
              <a:rPr lang="en-IN" sz="1800" b="0" i="0" dirty="0">
                <a:solidFill>
                  <a:srgbClr val="000000"/>
                </a:solidFill>
                <a:effectLst/>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0" indent="0">
              <a:buNone/>
            </a:pPr>
            <a:r>
              <a:rPr lang="en-IN" sz="1800" b="1" i="0" dirty="0">
                <a:effectLst/>
                <a:latin typeface="Times New Roman" panose="02020603050405020304" pitchFamily="18" charset="0"/>
                <a:cs typeface="Times New Roman" panose="02020603050405020304" pitchFamily="18" charset="0"/>
              </a:rPr>
              <a:t>I4=</a:t>
            </a:r>
            <a:r>
              <a:rPr lang="en-IN" sz="1800" b="0" i="0" dirty="0">
                <a:solidFill>
                  <a:srgbClr val="000000"/>
                </a:solidFill>
                <a:effectLst/>
                <a:latin typeface="Times New Roman" panose="02020603050405020304" pitchFamily="18" charset="0"/>
                <a:cs typeface="Times New Roman" panose="02020603050405020304" pitchFamily="18" charset="0"/>
              </a:rPr>
              <a:t> Go to (I0, id)</a:t>
            </a:r>
            <a:r>
              <a:rPr lang="en-IN" sz="1800" dirty="0">
                <a:latin typeface="Times New Roman" panose="02020603050405020304" pitchFamily="18" charset="0"/>
                <a:cs typeface="Times New Roman" panose="02020603050405020304" pitchFamily="18" charset="0"/>
              </a:rPr>
              <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0AEA7D43-CB79-49BB-9E98-756EC0C498BC}"/>
              </a:ext>
            </a:extLst>
          </p:cNvPr>
          <p:cNvSpPr/>
          <p:nvPr/>
        </p:nvSpPr>
        <p:spPr>
          <a:xfrm>
            <a:off x="3505200" y="1143000"/>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800" b="0" i="0" dirty="0">
                <a:solidFill>
                  <a:srgbClr val="000000"/>
                </a:solidFill>
                <a:effectLst/>
                <a:latin typeface="Times New Roman" panose="02020603050405020304" pitchFamily="18" charset="0"/>
                <a:cs typeface="Times New Roman" panose="02020603050405020304" pitchFamily="18" charset="0"/>
              </a:rPr>
              <a:t>S` → E• </a:t>
            </a:r>
          </a:p>
          <a:p>
            <a:pPr algn="ctr"/>
            <a:r>
              <a:rPr lang="en-IN" sz="1800" b="0" i="0" dirty="0">
                <a:solidFill>
                  <a:srgbClr val="000000"/>
                </a:solidFill>
                <a:effectLst/>
                <a:latin typeface="Times New Roman" panose="02020603050405020304" pitchFamily="18" charset="0"/>
                <a:cs typeface="Times New Roman" panose="02020603050405020304" pitchFamily="18" charset="0"/>
              </a:rPr>
              <a:t>E → E• + T</a:t>
            </a:r>
            <a:endParaRPr lang="en-IN" dirty="0"/>
          </a:p>
        </p:txBody>
      </p:sp>
      <p:sp>
        <p:nvSpPr>
          <p:cNvPr id="5" name="Oval 4">
            <a:extLst>
              <a:ext uri="{FF2B5EF4-FFF2-40B4-BE49-F238E27FC236}">
                <a16:creationId xmlns:a16="http://schemas.microsoft.com/office/drawing/2014/main" id="{EB391DE5-0312-4C66-A7FA-B6D56760B302}"/>
              </a:ext>
            </a:extLst>
          </p:cNvPr>
          <p:cNvSpPr/>
          <p:nvPr/>
        </p:nvSpPr>
        <p:spPr>
          <a:xfrm>
            <a:off x="3505200" y="2449624"/>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800" b="0" i="0" dirty="0">
                <a:solidFill>
                  <a:srgbClr val="000000"/>
                </a:solidFill>
                <a:effectLst/>
                <a:latin typeface="Times New Roman" panose="02020603050405020304" pitchFamily="18" charset="0"/>
                <a:cs typeface="Times New Roman" panose="02020603050405020304" pitchFamily="18" charset="0"/>
              </a:rPr>
              <a:t>E → T•</a:t>
            </a:r>
          </a:p>
          <a:p>
            <a:pPr algn="ctr"/>
            <a:r>
              <a:rPr lang="en-IN" sz="1800" b="0" i="0" dirty="0">
                <a:solidFill>
                  <a:srgbClr val="000000"/>
                </a:solidFill>
                <a:effectLst/>
                <a:latin typeface="Times New Roman" panose="02020603050405020304" pitchFamily="18" charset="0"/>
                <a:cs typeface="Times New Roman" panose="02020603050405020304" pitchFamily="18" charset="0"/>
              </a:rPr>
              <a:t>T→T• * F</a:t>
            </a:r>
            <a:endParaRPr lang="en-IN" dirty="0"/>
          </a:p>
        </p:txBody>
      </p:sp>
      <p:sp>
        <p:nvSpPr>
          <p:cNvPr id="12" name="Oval 11">
            <a:extLst>
              <a:ext uri="{FF2B5EF4-FFF2-40B4-BE49-F238E27FC236}">
                <a16:creationId xmlns:a16="http://schemas.microsoft.com/office/drawing/2014/main" id="{E3FA8178-D5B4-4D9B-BA01-785C8276C0AE}"/>
              </a:ext>
            </a:extLst>
          </p:cNvPr>
          <p:cNvSpPr/>
          <p:nvPr/>
        </p:nvSpPr>
        <p:spPr>
          <a:xfrm>
            <a:off x="3505200" y="3683997"/>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800" b="0" i="0" dirty="0">
                <a:solidFill>
                  <a:srgbClr val="000000"/>
                </a:solidFill>
                <a:effectLst/>
                <a:latin typeface="Times New Roman" panose="02020603050405020304" pitchFamily="18" charset="0"/>
                <a:cs typeface="Times New Roman" panose="02020603050405020304" pitchFamily="18" charset="0"/>
              </a:rPr>
              <a:t>T → F•</a:t>
            </a:r>
            <a:endParaRPr lang="en-IN" dirty="0"/>
          </a:p>
        </p:txBody>
      </p:sp>
      <p:sp>
        <p:nvSpPr>
          <p:cNvPr id="14" name="Oval 13">
            <a:extLst>
              <a:ext uri="{FF2B5EF4-FFF2-40B4-BE49-F238E27FC236}">
                <a16:creationId xmlns:a16="http://schemas.microsoft.com/office/drawing/2014/main" id="{57EB64DE-F484-438F-80D7-E583EF63A9DF}"/>
              </a:ext>
            </a:extLst>
          </p:cNvPr>
          <p:cNvSpPr/>
          <p:nvPr/>
        </p:nvSpPr>
        <p:spPr>
          <a:xfrm>
            <a:off x="3505200" y="5121277"/>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800" b="0" i="0" dirty="0">
                <a:solidFill>
                  <a:srgbClr val="000000"/>
                </a:solidFill>
                <a:effectLst/>
                <a:latin typeface="Times New Roman" panose="02020603050405020304" pitchFamily="18" charset="0"/>
                <a:cs typeface="Times New Roman" panose="02020603050405020304" pitchFamily="18" charset="0"/>
              </a:rPr>
              <a:t>F → id•</a:t>
            </a:r>
            <a:endParaRPr lang="en-IN" dirty="0"/>
          </a:p>
        </p:txBody>
      </p:sp>
      <p:pic>
        <p:nvPicPr>
          <p:cNvPr id="15" name="Picture 14"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911216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down)">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 calcmode="lin" valueType="num">
                                      <p:cBhvr additive="base">
                                        <p:cTn id="52"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3">
                                            <p:txEl>
                                              <p:pRg st="10" end="10"/>
                                            </p:txEl>
                                          </p:spTgt>
                                        </p:tgtEl>
                                        <p:attrNameLst>
                                          <p:attrName>style.visibility</p:attrName>
                                        </p:attrNameLst>
                                      </p:cBhvr>
                                      <p:to>
                                        <p:strVal val="visible"/>
                                      </p:to>
                                    </p:set>
                                    <p:anim calcmode="lin" valueType="num">
                                      <p:cBhvr additive="base">
                                        <p:cTn id="58"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ipe(down)">
                                      <p:cBhvr>
                                        <p:cTn id="6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12" grpId="0" animBg="1"/>
      <p:bldP spid="14"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328AC9B-0DEC-4EEB-9922-26BE6753BB53}"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457200" y="817163"/>
            <a:ext cx="8229600" cy="5407823"/>
          </a:xfrm>
        </p:spPr>
        <p:txBody>
          <a:bodyPr>
            <a:normAutofit/>
          </a:bodyPr>
          <a:lstStyle/>
          <a:p>
            <a:pPr marL="0" indent="0">
              <a:buNone/>
            </a:pPr>
            <a:r>
              <a:rPr lang="en-IN" sz="1800" b="1" i="0" dirty="0">
                <a:effectLst/>
                <a:latin typeface="Times New Roman" panose="02020603050405020304" pitchFamily="18" charset="0"/>
                <a:cs typeface="Times New Roman" panose="02020603050405020304" pitchFamily="18" charset="0"/>
              </a:rPr>
              <a:t>I5=</a:t>
            </a:r>
            <a:r>
              <a:rPr lang="en-IN" sz="1800" b="0" i="0" dirty="0">
                <a:solidFill>
                  <a:srgbClr val="000000"/>
                </a:solidFill>
                <a:effectLst/>
                <a:latin typeface="Times New Roman" panose="02020603050405020304" pitchFamily="18" charset="0"/>
                <a:cs typeface="Times New Roman" panose="02020603050405020304" pitchFamily="18" charset="0"/>
              </a:rPr>
              <a:t> Go to (I1, +) </a:t>
            </a:r>
            <a:endParaRPr lang="en-US" sz="1800" b="0" i="0" dirty="0">
              <a:solidFill>
                <a:srgbClr val="000000"/>
              </a:solidFill>
              <a:effectLst/>
              <a:latin typeface="Times New Roman" panose="02020603050405020304" pitchFamily="18" charset="0"/>
              <a:cs typeface="Times New Roman" panose="02020603050405020304" pitchFamily="18" charset="0"/>
            </a:endParaRPr>
          </a:p>
          <a:p>
            <a:pPr algn="l"/>
            <a:endParaRPr lang="en-US" sz="1800" dirty="0">
              <a:solidFill>
                <a:srgbClr val="000000"/>
              </a:solidFill>
              <a:latin typeface="Times New Roman" panose="02020603050405020304" pitchFamily="18" charset="0"/>
              <a:cs typeface="Times New Roman" panose="02020603050405020304" pitchFamily="18" charset="0"/>
            </a:endParaRPr>
          </a:p>
          <a:p>
            <a:pPr algn="l"/>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dirty="0">
              <a:solidFill>
                <a:srgbClr val="000000"/>
              </a:solidFill>
              <a:latin typeface="Times New Roman" panose="02020603050405020304" pitchFamily="18" charset="0"/>
              <a:cs typeface="Times New Roman" panose="02020603050405020304" pitchFamily="18" charset="0"/>
            </a:endParaRPr>
          </a:p>
          <a:p>
            <a:pPr marL="0" indent="0" algn="l">
              <a:buNone/>
            </a:pPr>
            <a:r>
              <a:rPr lang="en-US" sz="1800" b="0" i="0" dirty="0">
                <a:solidFill>
                  <a:srgbClr val="000000"/>
                </a:solidFill>
                <a:effectLst/>
                <a:latin typeface="Times New Roman" panose="02020603050405020304" pitchFamily="18" charset="0"/>
                <a:cs typeface="Times New Roman" panose="02020603050405020304" pitchFamily="18" charset="0"/>
              </a:rPr>
              <a:t>Go to (I5, F) = Closure (T → F•) = (same as I3)</a:t>
            </a:r>
          </a:p>
          <a:p>
            <a:pPr marL="0" indent="0" algn="l">
              <a:buNone/>
            </a:pPr>
            <a:r>
              <a:rPr lang="en-US" sz="1800" b="0" i="0" dirty="0">
                <a:solidFill>
                  <a:srgbClr val="000000"/>
                </a:solidFill>
                <a:effectLst/>
                <a:latin typeface="Times New Roman" panose="02020603050405020304" pitchFamily="18" charset="0"/>
                <a:cs typeface="Times New Roman" panose="02020603050405020304" pitchFamily="18" charset="0"/>
              </a:rPr>
              <a:t/>
            </a:r>
            <a:br>
              <a:rPr lang="en-US" sz="1800" b="0" i="0" dirty="0">
                <a:solidFill>
                  <a:srgbClr val="000000"/>
                </a:solidFill>
                <a:effectLst/>
                <a:latin typeface="Times New Roman" panose="02020603050405020304" pitchFamily="18" charset="0"/>
                <a:cs typeface="Times New Roman" panose="02020603050405020304" pitchFamily="18" charset="0"/>
              </a:rPr>
            </a:b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r>
              <a:rPr lang="en-US" sz="1800" b="0" i="0" dirty="0">
                <a:solidFill>
                  <a:srgbClr val="000000"/>
                </a:solidFill>
                <a:effectLst/>
                <a:latin typeface="Times New Roman" panose="02020603050405020304" pitchFamily="18" charset="0"/>
                <a:cs typeface="Times New Roman" panose="02020603050405020304" pitchFamily="18" charset="0"/>
              </a:rPr>
              <a:t>Go to (I5, id) = Closure (F → id•) = (same as I4)</a:t>
            </a:r>
          </a:p>
          <a:p>
            <a:pPr marL="0" indent="0" algn="l">
              <a:buNone/>
            </a:pPr>
            <a:endParaRPr lang="en-US" sz="1800" b="1"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b="1" i="0" dirty="0">
              <a:solidFill>
                <a:srgbClr val="000000"/>
              </a:solidFill>
              <a:effectLst/>
              <a:latin typeface="Times New Roman" panose="02020603050405020304" pitchFamily="18" charset="0"/>
              <a:cs typeface="Times New Roman" panose="02020603050405020304" pitchFamily="18" charset="0"/>
            </a:endParaRPr>
          </a:p>
          <a:p>
            <a:pPr marL="0" indent="0" algn="l">
              <a:buNone/>
            </a:pPr>
            <a:r>
              <a:rPr lang="en-US" sz="1800" b="1" i="0" dirty="0">
                <a:solidFill>
                  <a:srgbClr val="000000"/>
                </a:solidFill>
                <a:effectLst/>
                <a:latin typeface="Times New Roman" panose="02020603050405020304" pitchFamily="18" charset="0"/>
                <a:cs typeface="Times New Roman" panose="02020603050405020304" pitchFamily="18" charset="0"/>
              </a:rPr>
              <a:t>I6=</a:t>
            </a:r>
            <a:r>
              <a:rPr lang="en-US" sz="1800" b="0" i="0" dirty="0">
                <a:solidFill>
                  <a:srgbClr val="000000"/>
                </a:solidFill>
                <a:effectLst/>
                <a:latin typeface="Times New Roman" panose="02020603050405020304" pitchFamily="18" charset="0"/>
                <a:cs typeface="Times New Roman" panose="02020603050405020304" pitchFamily="18" charset="0"/>
              </a:rPr>
              <a:t> Go to (I2, *) = Closure ()</a:t>
            </a: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C1E46662-BDFD-447B-876B-8FCBFABA2071}"/>
              </a:ext>
            </a:extLst>
          </p:cNvPr>
          <p:cNvSpPr/>
          <p:nvPr/>
        </p:nvSpPr>
        <p:spPr>
          <a:xfrm>
            <a:off x="495300" y="1514874"/>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solidFill>
                  <a:srgbClr val="000000"/>
                </a:solidFill>
                <a:latin typeface="Times New Roman" panose="02020603050405020304" pitchFamily="18" charset="0"/>
                <a:cs typeface="Times New Roman" panose="02020603050405020304" pitchFamily="18" charset="0"/>
              </a:rPr>
              <a:t>E → E +•T</a:t>
            </a:r>
            <a:endParaRPr lang="en-IN" dirty="0"/>
          </a:p>
        </p:txBody>
      </p:sp>
      <p:sp>
        <p:nvSpPr>
          <p:cNvPr id="11" name="Oval 10">
            <a:extLst>
              <a:ext uri="{FF2B5EF4-FFF2-40B4-BE49-F238E27FC236}">
                <a16:creationId xmlns:a16="http://schemas.microsoft.com/office/drawing/2014/main" id="{AA3071C6-A141-4A2C-A13B-35DD1F8EFD34}"/>
              </a:ext>
            </a:extLst>
          </p:cNvPr>
          <p:cNvSpPr/>
          <p:nvPr/>
        </p:nvSpPr>
        <p:spPr>
          <a:xfrm>
            <a:off x="3200400" y="1248173"/>
            <a:ext cx="2209800" cy="12192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solidFill>
                  <a:srgbClr val="000000"/>
                </a:solidFill>
                <a:latin typeface="Times New Roman" panose="02020603050405020304" pitchFamily="18" charset="0"/>
                <a:cs typeface="Times New Roman" panose="02020603050405020304" pitchFamily="18" charset="0"/>
              </a:rPr>
              <a:t>E → E +•T</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T</a:t>
            </a:r>
            <a:r>
              <a:rPr lang="en-US" dirty="0">
                <a:solidFill>
                  <a:srgbClr val="000000"/>
                </a:solidFill>
                <a:latin typeface="Times New Roman" panose="02020603050405020304" pitchFamily="18" charset="0"/>
                <a:cs typeface="Times New Roman" panose="02020603050405020304" pitchFamily="18" charset="0"/>
              </a:rPr>
              <a:t> → •T * F</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T → •F</a:t>
            </a:r>
            <a:endParaRPr lang="en-IN" dirty="0"/>
          </a:p>
        </p:txBody>
      </p:sp>
      <p:sp>
        <p:nvSpPr>
          <p:cNvPr id="12" name="Oval 11">
            <a:extLst>
              <a:ext uri="{FF2B5EF4-FFF2-40B4-BE49-F238E27FC236}">
                <a16:creationId xmlns:a16="http://schemas.microsoft.com/office/drawing/2014/main" id="{3C8E1365-9A0F-4069-AA08-A7CCF93F2948}"/>
              </a:ext>
            </a:extLst>
          </p:cNvPr>
          <p:cNvSpPr/>
          <p:nvPr/>
        </p:nvSpPr>
        <p:spPr>
          <a:xfrm>
            <a:off x="6172200" y="1248173"/>
            <a:ext cx="2209800" cy="12192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solidFill>
                  <a:srgbClr val="000000"/>
                </a:solidFill>
                <a:latin typeface="Times New Roman" panose="02020603050405020304" pitchFamily="18" charset="0"/>
                <a:cs typeface="Times New Roman" panose="02020603050405020304" pitchFamily="18" charset="0"/>
              </a:rPr>
              <a:t>E → E +•T</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T</a:t>
            </a:r>
            <a:r>
              <a:rPr lang="en-US" dirty="0">
                <a:solidFill>
                  <a:srgbClr val="000000"/>
                </a:solidFill>
                <a:latin typeface="Times New Roman" panose="02020603050405020304" pitchFamily="18" charset="0"/>
                <a:cs typeface="Times New Roman" panose="02020603050405020304" pitchFamily="18" charset="0"/>
              </a:rPr>
              <a:t> → •T * F</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T → •F</a:t>
            </a:r>
          </a:p>
          <a:p>
            <a:pPr algn="ctr"/>
            <a:r>
              <a:rPr lang="en-US" dirty="0">
                <a:solidFill>
                  <a:srgbClr val="000000"/>
                </a:solidFill>
                <a:latin typeface="Times New Roman" panose="02020603050405020304" pitchFamily="18" charset="0"/>
                <a:cs typeface="Times New Roman" panose="02020603050405020304" pitchFamily="18" charset="0"/>
              </a:rPr>
              <a:t>F → •id</a:t>
            </a:r>
          </a:p>
        </p:txBody>
      </p:sp>
      <p:sp>
        <p:nvSpPr>
          <p:cNvPr id="2" name="Arrow: Right 1">
            <a:extLst>
              <a:ext uri="{FF2B5EF4-FFF2-40B4-BE49-F238E27FC236}">
                <a16:creationId xmlns:a16="http://schemas.microsoft.com/office/drawing/2014/main" id="{09AE1B9B-BB8E-4574-8EE7-DD7E01894AC1}"/>
              </a:ext>
            </a:extLst>
          </p:cNvPr>
          <p:cNvSpPr/>
          <p:nvPr/>
        </p:nvSpPr>
        <p:spPr>
          <a:xfrm>
            <a:off x="2517321" y="1716684"/>
            <a:ext cx="419100" cy="2821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Right 4">
            <a:extLst>
              <a:ext uri="{FF2B5EF4-FFF2-40B4-BE49-F238E27FC236}">
                <a16:creationId xmlns:a16="http://schemas.microsoft.com/office/drawing/2014/main" id="{1F60C08F-AC13-4BCC-8E7D-DE8C5377FA53}"/>
              </a:ext>
            </a:extLst>
          </p:cNvPr>
          <p:cNvSpPr/>
          <p:nvPr/>
        </p:nvSpPr>
        <p:spPr>
          <a:xfrm>
            <a:off x="5581650" y="1716684"/>
            <a:ext cx="419100" cy="2821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59DA3D14-8D5B-4EC1-96FC-1A057512A032}"/>
              </a:ext>
            </a:extLst>
          </p:cNvPr>
          <p:cNvSpPr/>
          <p:nvPr/>
        </p:nvSpPr>
        <p:spPr>
          <a:xfrm>
            <a:off x="6667500" y="2986493"/>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800" b="0" i="0" dirty="0">
                <a:solidFill>
                  <a:srgbClr val="000000"/>
                </a:solidFill>
                <a:effectLst/>
                <a:latin typeface="Times New Roman" panose="02020603050405020304" pitchFamily="18" charset="0"/>
                <a:cs typeface="Times New Roman" panose="02020603050405020304" pitchFamily="18" charset="0"/>
              </a:rPr>
              <a:t>T → F•</a:t>
            </a:r>
            <a:endParaRPr lang="en-IN" dirty="0"/>
          </a:p>
        </p:txBody>
      </p:sp>
      <p:sp>
        <p:nvSpPr>
          <p:cNvPr id="15" name="Oval 14">
            <a:extLst>
              <a:ext uri="{FF2B5EF4-FFF2-40B4-BE49-F238E27FC236}">
                <a16:creationId xmlns:a16="http://schemas.microsoft.com/office/drawing/2014/main" id="{DE9110E6-48A0-449A-B635-3FA0E5E581B9}"/>
              </a:ext>
            </a:extLst>
          </p:cNvPr>
          <p:cNvSpPr/>
          <p:nvPr/>
        </p:nvSpPr>
        <p:spPr>
          <a:xfrm>
            <a:off x="6667500" y="4015192"/>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800" b="0" i="0" dirty="0">
                <a:solidFill>
                  <a:srgbClr val="000000"/>
                </a:solidFill>
                <a:effectLst/>
                <a:latin typeface="Times New Roman" panose="02020603050405020304" pitchFamily="18" charset="0"/>
                <a:cs typeface="Times New Roman" panose="02020603050405020304" pitchFamily="18" charset="0"/>
              </a:rPr>
              <a:t>F → id•</a:t>
            </a:r>
            <a:endParaRPr lang="en-IN" dirty="0"/>
          </a:p>
        </p:txBody>
      </p:sp>
      <p:sp>
        <p:nvSpPr>
          <p:cNvPr id="16" name="Oval 15">
            <a:extLst>
              <a:ext uri="{FF2B5EF4-FFF2-40B4-BE49-F238E27FC236}">
                <a16:creationId xmlns:a16="http://schemas.microsoft.com/office/drawing/2014/main" id="{6DA57E32-1536-4CDD-8A45-C8FC6F057A70}"/>
              </a:ext>
            </a:extLst>
          </p:cNvPr>
          <p:cNvSpPr/>
          <p:nvPr/>
        </p:nvSpPr>
        <p:spPr>
          <a:xfrm>
            <a:off x="1219200" y="5399663"/>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solidFill>
                  <a:srgbClr val="000000"/>
                </a:solidFill>
                <a:latin typeface="Times New Roman" panose="02020603050405020304" pitchFamily="18" charset="0"/>
                <a:cs typeface="Times New Roman" panose="02020603050405020304" pitchFamily="18" charset="0"/>
              </a:rPr>
              <a:t>T → T * •F</a:t>
            </a:r>
            <a:endParaRPr lang="en-IN" dirty="0"/>
          </a:p>
        </p:txBody>
      </p:sp>
      <p:sp>
        <p:nvSpPr>
          <p:cNvPr id="17" name="Oval 16">
            <a:extLst>
              <a:ext uri="{FF2B5EF4-FFF2-40B4-BE49-F238E27FC236}">
                <a16:creationId xmlns:a16="http://schemas.microsoft.com/office/drawing/2014/main" id="{6C33F5BE-3229-4D31-B76E-F2E4A2D53A8C}"/>
              </a:ext>
            </a:extLst>
          </p:cNvPr>
          <p:cNvSpPr/>
          <p:nvPr/>
        </p:nvSpPr>
        <p:spPr>
          <a:xfrm>
            <a:off x="4819650" y="5260139"/>
            <a:ext cx="2362200" cy="96484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solidFill>
                  <a:srgbClr val="000000"/>
                </a:solidFill>
                <a:latin typeface="Times New Roman" panose="02020603050405020304" pitchFamily="18" charset="0"/>
                <a:cs typeface="Times New Roman" panose="02020603050405020304" pitchFamily="18" charset="0"/>
              </a:rPr>
              <a:t>T → T * •F </a:t>
            </a:r>
            <a:r>
              <a:rPr lang="en-IN" dirty="0" err="1">
                <a:solidFill>
                  <a:srgbClr val="000000"/>
                </a:solidFill>
                <a:latin typeface="Times New Roman" panose="02020603050405020304" pitchFamily="18" charset="0"/>
                <a:cs typeface="Times New Roman" panose="02020603050405020304" pitchFamily="18" charset="0"/>
              </a:rPr>
              <a:t>F</a:t>
            </a:r>
            <a:r>
              <a:rPr lang="en-IN" dirty="0">
                <a:solidFill>
                  <a:srgbClr val="000000"/>
                </a:solidFill>
                <a:latin typeface="Times New Roman" panose="02020603050405020304" pitchFamily="18" charset="0"/>
                <a:cs typeface="Times New Roman" panose="02020603050405020304" pitchFamily="18" charset="0"/>
              </a:rPr>
              <a:t> → •id</a:t>
            </a:r>
          </a:p>
        </p:txBody>
      </p:sp>
      <p:sp>
        <p:nvSpPr>
          <p:cNvPr id="18" name="Arrow: Right 17">
            <a:extLst>
              <a:ext uri="{FF2B5EF4-FFF2-40B4-BE49-F238E27FC236}">
                <a16:creationId xmlns:a16="http://schemas.microsoft.com/office/drawing/2014/main" id="{20B94D27-8AF0-4DCF-ACA5-8DFAE5CD3ECB}"/>
              </a:ext>
            </a:extLst>
          </p:cNvPr>
          <p:cNvSpPr/>
          <p:nvPr/>
        </p:nvSpPr>
        <p:spPr>
          <a:xfrm>
            <a:off x="3569154" y="5562174"/>
            <a:ext cx="419100" cy="2821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76892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Vertic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down)">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down)">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down)">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down)">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wipe(down)">
                                      <p:cBhvr>
                                        <p:cTn id="62" dur="500"/>
                                        <p:tgtEl>
                                          <p:spTgt spid="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down)">
                                      <p:cBhvr>
                                        <p:cTn id="67"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barn(inVertical)">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wipe(down)">
                                      <p:cBhvr>
                                        <p:cTn id="7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2" grpId="0" animBg="1"/>
      <p:bldP spid="5" grpId="0" animBg="1"/>
      <p:bldP spid="14" grpId="0" animBg="1"/>
      <p:bldP spid="15" grpId="0" animBg="1"/>
      <p:bldP spid="16" grpId="0" animBg="1"/>
      <p:bldP spid="17" grpId="0" animBg="1"/>
      <p:bldP spid="18"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6C1E4D-4E75-47ED-A2CD-7127D66E5D6C}"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538843" y="990600"/>
            <a:ext cx="8229600" cy="4525963"/>
          </a:xfrm>
        </p:spPr>
        <p:txBody>
          <a:bodyPr>
            <a:normAutofit/>
          </a:bodyPr>
          <a:lstStyle/>
          <a:p>
            <a:pPr marL="0" indent="0" algn="l">
              <a:buNone/>
            </a:pPr>
            <a:r>
              <a:rPr lang="en-IN" sz="1800" b="1" i="0" dirty="0">
                <a:solidFill>
                  <a:srgbClr val="000000"/>
                </a:solidFill>
                <a:effectLst/>
                <a:latin typeface="Times New Roman" panose="02020603050405020304" pitchFamily="18" charset="0"/>
                <a:cs typeface="Times New Roman" panose="02020603050405020304" pitchFamily="18" charset="0"/>
              </a:rPr>
              <a:t>I6 =</a:t>
            </a:r>
            <a:r>
              <a:rPr lang="en-IN" sz="1800" b="0" i="0" dirty="0">
                <a:solidFill>
                  <a:srgbClr val="000000"/>
                </a:solidFill>
                <a:effectLst/>
                <a:latin typeface="Times New Roman" panose="02020603050405020304" pitchFamily="18" charset="0"/>
                <a:cs typeface="Times New Roman" panose="02020603050405020304" pitchFamily="18" charset="0"/>
              </a:rPr>
              <a:t> Go to (I6, id) = Closure (F → id•) = (same as I4) </a:t>
            </a:r>
          </a:p>
          <a:p>
            <a:pPr marL="0" indent="0" algn="l">
              <a:buNone/>
            </a:pPr>
            <a:endParaRPr lang="en-IN" sz="1800" b="1"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IN" sz="1800" b="1"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IN" sz="1800" b="1"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IN" sz="1800" b="1" dirty="0">
              <a:solidFill>
                <a:srgbClr val="000000"/>
              </a:solidFill>
              <a:latin typeface="Times New Roman" panose="02020603050405020304" pitchFamily="18" charset="0"/>
              <a:cs typeface="Times New Roman" panose="02020603050405020304" pitchFamily="18" charset="0"/>
            </a:endParaRPr>
          </a:p>
          <a:p>
            <a:pPr marL="0" indent="0" algn="l">
              <a:buNone/>
            </a:pPr>
            <a:endParaRPr lang="en-IN" sz="1800" b="1" i="0" dirty="0">
              <a:solidFill>
                <a:srgbClr val="000000"/>
              </a:solidFill>
              <a:effectLst/>
              <a:latin typeface="Times New Roman" panose="02020603050405020304" pitchFamily="18" charset="0"/>
              <a:cs typeface="Times New Roman" panose="02020603050405020304" pitchFamily="18" charset="0"/>
            </a:endParaRPr>
          </a:p>
          <a:p>
            <a:pPr marL="0" indent="0" algn="l">
              <a:buNone/>
            </a:pPr>
            <a:r>
              <a:rPr lang="en-IN" sz="1800" b="1" i="0" dirty="0">
                <a:solidFill>
                  <a:srgbClr val="000000"/>
                </a:solidFill>
                <a:effectLst/>
                <a:latin typeface="Times New Roman" panose="02020603050405020304" pitchFamily="18" charset="0"/>
                <a:cs typeface="Times New Roman" panose="02020603050405020304" pitchFamily="18" charset="0"/>
              </a:rPr>
              <a:t>I7=</a:t>
            </a:r>
            <a:r>
              <a:rPr lang="en-IN" sz="1800" b="0" i="0" dirty="0">
                <a:solidFill>
                  <a:srgbClr val="000000"/>
                </a:solidFill>
                <a:effectLst/>
                <a:latin typeface="Times New Roman" panose="02020603050405020304" pitchFamily="18" charset="0"/>
                <a:cs typeface="Times New Roman" panose="02020603050405020304" pitchFamily="18" charset="0"/>
              </a:rPr>
              <a:t> Go to (I5, T) </a:t>
            </a:r>
            <a:endParaRPr lang="en-IN" sz="1800" dirty="0">
              <a:solidFill>
                <a:srgbClr val="000000"/>
              </a:solidFill>
              <a:latin typeface="Times New Roman" panose="02020603050405020304" pitchFamily="18" charset="0"/>
              <a:cs typeface="Times New Roman" panose="02020603050405020304" pitchFamily="18" charset="0"/>
            </a:endParaRPr>
          </a:p>
          <a:p>
            <a:pPr marL="0" indent="0" algn="l">
              <a:buNone/>
            </a:pPr>
            <a:endParaRPr lang="en-IN"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IN" sz="1800" dirty="0">
              <a:solidFill>
                <a:srgbClr val="000000"/>
              </a:solidFill>
              <a:latin typeface="Times New Roman" panose="02020603050405020304" pitchFamily="18" charset="0"/>
              <a:cs typeface="Times New Roman" panose="02020603050405020304" pitchFamily="18" charset="0"/>
            </a:endParaRPr>
          </a:p>
          <a:p>
            <a:pPr marL="0" indent="0" algn="l">
              <a:buNone/>
            </a:pPr>
            <a:endParaRPr lang="en-IN"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r>
              <a:rPr lang="en-IN" sz="1800" b="0" i="0" dirty="0">
                <a:solidFill>
                  <a:srgbClr val="000000"/>
                </a:solidFill>
                <a:effectLst/>
                <a:latin typeface="Times New Roman" panose="02020603050405020304" pitchFamily="18" charset="0"/>
                <a:cs typeface="Times New Roman" panose="02020603050405020304" pitchFamily="18" charset="0"/>
              </a:rPr>
              <a:t/>
            </a: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1" i="0" dirty="0">
                <a:solidFill>
                  <a:srgbClr val="000000"/>
                </a:solidFill>
                <a:effectLst/>
                <a:latin typeface="Times New Roman" panose="02020603050405020304" pitchFamily="18" charset="0"/>
                <a:cs typeface="Times New Roman" panose="02020603050405020304" pitchFamily="18" charset="0"/>
              </a:rPr>
              <a:t>I8=</a:t>
            </a:r>
            <a:r>
              <a:rPr lang="en-IN" sz="1800" b="0" i="0" dirty="0">
                <a:solidFill>
                  <a:srgbClr val="000000"/>
                </a:solidFill>
                <a:effectLst/>
                <a:latin typeface="Times New Roman" panose="02020603050405020304" pitchFamily="18" charset="0"/>
                <a:cs typeface="Times New Roman" panose="02020603050405020304" pitchFamily="18" charset="0"/>
              </a:rPr>
              <a:t> Go to (I6, F)</a:t>
            </a:r>
            <a:endParaRPr lang="en-IN" sz="1800" dirty="0">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82C3E6AE-E1CD-4779-B4C1-F59FF7F2FF0B}"/>
              </a:ext>
            </a:extLst>
          </p:cNvPr>
          <p:cNvSpPr/>
          <p:nvPr/>
        </p:nvSpPr>
        <p:spPr>
          <a:xfrm>
            <a:off x="3701143" y="1828800"/>
            <a:ext cx="1905000" cy="6857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1800" b="0" i="0" dirty="0">
                <a:solidFill>
                  <a:srgbClr val="000000"/>
                </a:solidFill>
                <a:effectLst/>
                <a:latin typeface="Times New Roman" panose="02020603050405020304" pitchFamily="18" charset="0"/>
                <a:cs typeface="Times New Roman" panose="02020603050405020304" pitchFamily="18" charset="0"/>
              </a:rPr>
              <a:t>F → id•</a:t>
            </a:r>
            <a:endParaRPr lang="en-IN" dirty="0"/>
          </a:p>
        </p:txBody>
      </p:sp>
      <p:sp>
        <p:nvSpPr>
          <p:cNvPr id="11" name="Oval 10">
            <a:extLst>
              <a:ext uri="{FF2B5EF4-FFF2-40B4-BE49-F238E27FC236}">
                <a16:creationId xmlns:a16="http://schemas.microsoft.com/office/drawing/2014/main" id="{E96E79B2-7593-4D88-BD99-F2C048771979}"/>
              </a:ext>
            </a:extLst>
          </p:cNvPr>
          <p:cNvSpPr/>
          <p:nvPr/>
        </p:nvSpPr>
        <p:spPr>
          <a:xfrm>
            <a:off x="1796143" y="3429000"/>
            <a:ext cx="1905000" cy="6857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dirty="0">
                <a:solidFill>
                  <a:srgbClr val="000000"/>
                </a:solidFill>
                <a:latin typeface="Times New Roman" panose="02020603050405020304" pitchFamily="18" charset="0"/>
                <a:cs typeface="Times New Roman" panose="02020603050405020304" pitchFamily="18" charset="0"/>
              </a:rPr>
              <a:t>E → E + T•</a:t>
            </a:r>
            <a:endParaRPr lang="en-IN" dirty="0"/>
          </a:p>
        </p:txBody>
      </p:sp>
      <p:sp>
        <p:nvSpPr>
          <p:cNvPr id="12" name="Oval 11">
            <a:extLst>
              <a:ext uri="{FF2B5EF4-FFF2-40B4-BE49-F238E27FC236}">
                <a16:creationId xmlns:a16="http://schemas.microsoft.com/office/drawing/2014/main" id="{B293D165-B30F-4D90-AE76-1F7C783FA872}"/>
              </a:ext>
            </a:extLst>
          </p:cNvPr>
          <p:cNvSpPr/>
          <p:nvPr/>
        </p:nvSpPr>
        <p:spPr>
          <a:xfrm>
            <a:off x="5317670" y="3314698"/>
            <a:ext cx="2062844" cy="91440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dirty="0">
                <a:solidFill>
                  <a:srgbClr val="000000"/>
                </a:solidFill>
                <a:latin typeface="Times New Roman" panose="02020603050405020304" pitchFamily="18" charset="0"/>
                <a:cs typeface="Times New Roman" panose="02020603050405020304" pitchFamily="18" charset="0"/>
              </a:rPr>
              <a:t>E → E + T•</a:t>
            </a:r>
          </a:p>
          <a:p>
            <a:pPr algn="ctr"/>
            <a:r>
              <a:rPr lang="en-IN" dirty="0">
                <a:solidFill>
                  <a:srgbClr val="000000"/>
                </a:solidFill>
                <a:latin typeface="Times New Roman" panose="02020603050405020304" pitchFamily="18" charset="0"/>
                <a:cs typeface="Times New Roman" panose="02020603050405020304" pitchFamily="18" charset="0"/>
              </a:rPr>
              <a:t>T → T• * F</a:t>
            </a:r>
          </a:p>
        </p:txBody>
      </p:sp>
      <p:sp>
        <p:nvSpPr>
          <p:cNvPr id="2" name="Arrow: Right 1">
            <a:extLst>
              <a:ext uri="{FF2B5EF4-FFF2-40B4-BE49-F238E27FC236}">
                <a16:creationId xmlns:a16="http://schemas.microsoft.com/office/drawing/2014/main" id="{2EC135ED-F7E9-45F0-8E47-2D1ADBD4747A}"/>
              </a:ext>
            </a:extLst>
          </p:cNvPr>
          <p:cNvSpPr/>
          <p:nvPr/>
        </p:nvSpPr>
        <p:spPr>
          <a:xfrm>
            <a:off x="4204606" y="3624942"/>
            <a:ext cx="609600" cy="2939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8CBB0A7-EE75-4D92-BADD-9D80B9588683}"/>
              </a:ext>
            </a:extLst>
          </p:cNvPr>
          <p:cNvSpPr/>
          <p:nvPr/>
        </p:nvSpPr>
        <p:spPr>
          <a:xfrm>
            <a:off x="3701143" y="5156089"/>
            <a:ext cx="1905000" cy="6857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dirty="0">
                <a:solidFill>
                  <a:srgbClr val="000000"/>
                </a:solidFill>
                <a:latin typeface="Times New Roman" panose="02020603050405020304" pitchFamily="18" charset="0"/>
                <a:cs typeface="Times New Roman" panose="02020603050405020304" pitchFamily="18" charset="0"/>
              </a:rPr>
              <a:t>T → T * F•</a:t>
            </a:r>
            <a:endParaRPr lang="en-IN" dirty="0"/>
          </a:p>
        </p:txBody>
      </p:sp>
      <p:pic>
        <p:nvPicPr>
          <p:cNvPr id="15" name="Picture 14"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227154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wipe(down)">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arn(inVertical)">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down)">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 calcmode="lin" valueType="num">
                                      <p:cBhvr additive="base">
                                        <p:cTn id="38"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down)">
                                      <p:cBhvr>
                                        <p:cTn id="4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2" grpId="0" animBg="1"/>
      <p:bldP spid="13"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5262C3E-385E-4750-B9F3-53334E1454E2}"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609600" y="915270"/>
            <a:ext cx="8229600" cy="4525963"/>
          </a:xfrm>
        </p:spPr>
        <p:txBody>
          <a:bodyPr>
            <a:normAutofit/>
          </a:bodyPr>
          <a:lstStyle/>
          <a:p>
            <a:pPr marL="0" indent="0">
              <a:buNone/>
            </a:pPr>
            <a:r>
              <a:rPr lang="en-IN" sz="1800" b="0" i="0" dirty="0">
                <a:solidFill>
                  <a:srgbClr val="610B38"/>
                </a:solidFill>
                <a:effectLst/>
                <a:latin typeface="Times New Roman" panose="02020603050405020304" pitchFamily="18" charset="0"/>
                <a:cs typeface="Times New Roman" panose="02020603050405020304" pitchFamily="18" charset="0"/>
              </a:rPr>
              <a:t>Step-3 Drawing DFD:</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1026" name="Picture 2" descr="SLR (1) Parsing 3">
            <a:extLst>
              <a:ext uri="{FF2B5EF4-FFF2-40B4-BE49-F238E27FC236}">
                <a16:creationId xmlns:a16="http://schemas.microsoft.com/office/drawing/2014/main" id="{F21207A0-CF96-454B-8807-16A4C14D53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371" y="1405881"/>
            <a:ext cx="7924800" cy="464733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7C9DB587-4E69-49D2-BB8F-C1EEE60311F7}"/>
              </a:ext>
            </a:extLst>
          </p:cNvPr>
          <p:cNvSpPr txBox="1"/>
          <p:nvPr/>
        </p:nvSpPr>
        <p:spPr>
          <a:xfrm>
            <a:off x="8077200" y="1828800"/>
            <a:ext cx="30168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IN" dirty="0"/>
              <a:t>1</a:t>
            </a:r>
          </a:p>
        </p:txBody>
      </p:sp>
      <p:sp>
        <p:nvSpPr>
          <p:cNvPr id="15" name="TextBox 14">
            <a:extLst>
              <a:ext uri="{FF2B5EF4-FFF2-40B4-BE49-F238E27FC236}">
                <a16:creationId xmlns:a16="http://schemas.microsoft.com/office/drawing/2014/main" id="{BFAE6FC8-1E1E-4A1C-AD13-959305F3DD36}"/>
              </a:ext>
            </a:extLst>
          </p:cNvPr>
          <p:cNvSpPr txBox="1"/>
          <p:nvPr/>
        </p:nvSpPr>
        <p:spPr>
          <a:xfrm>
            <a:off x="4191000" y="3059668"/>
            <a:ext cx="30168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IN" dirty="0"/>
              <a:t>2</a:t>
            </a:r>
          </a:p>
        </p:txBody>
      </p:sp>
      <p:sp>
        <p:nvSpPr>
          <p:cNvPr id="17" name="TextBox 16">
            <a:extLst>
              <a:ext uri="{FF2B5EF4-FFF2-40B4-BE49-F238E27FC236}">
                <a16:creationId xmlns:a16="http://schemas.microsoft.com/office/drawing/2014/main" id="{34F6A4F8-F1D4-4494-9068-AE3FE8A26D31}"/>
              </a:ext>
            </a:extLst>
          </p:cNvPr>
          <p:cNvSpPr txBox="1"/>
          <p:nvPr/>
        </p:nvSpPr>
        <p:spPr>
          <a:xfrm>
            <a:off x="8225171" y="3113249"/>
            <a:ext cx="30168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IN" dirty="0"/>
              <a:t>3</a:t>
            </a:r>
          </a:p>
        </p:txBody>
      </p:sp>
      <p:sp>
        <p:nvSpPr>
          <p:cNvPr id="21" name="TextBox 20">
            <a:extLst>
              <a:ext uri="{FF2B5EF4-FFF2-40B4-BE49-F238E27FC236}">
                <a16:creationId xmlns:a16="http://schemas.microsoft.com/office/drawing/2014/main" id="{C039B44B-9CB8-4ACA-AFBD-ABEB1CEB409E}"/>
              </a:ext>
            </a:extLst>
          </p:cNvPr>
          <p:cNvSpPr txBox="1"/>
          <p:nvPr/>
        </p:nvSpPr>
        <p:spPr>
          <a:xfrm>
            <a:off x="4191000" y="4250450"/>
            <a:ext cx="30168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IN" dirty="0"/>
              <a:t>4</a:t>
            </a:r>
          </a:p>
        </p:txBody>
      </p:sp>
      <p:sp>
        <p:nvSpPr>
          <p:cNvPr id="23" name="TextBox 22">
            <a:extLst>
              <a:ext uri="{FF2B5EF4-FFF2-40B4-BE49-F238E27FC236}">
                <a16:creationId xmlns:a16="http://schemas.microsoft.com/office/drawing/2014/main" id="{CF11B5F2-2121-4DAE-A150-F2B117B4E061}"/>
              </a:ext>
            </a:extLst>
          </p:cNvPr>
          <p:cNvSpPr txBox="1"/>
          <p:nvPr/>
        </p:nvSpPr>
        <p:spPr>
          <a:xfrm>
            <a:off x="4054385" y="5769018"/>
            <a:ext cx="30168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IN" dirty="0"/>
              <a:t>5</a:t>
            </a:r>
          </a:p>
        </p:txBody>
      </p:sp>
      <p:sp>
        <p:nvSpPr>
          <p:cNvPr id="25" name="TextBox 24">
            <a:extLst>
              <a:ext uri="{FF2B5EF4-FFF2-40B4-BE49-F238E27FC236}">
                <a16:creationId xmlns:a16="http://schemas.microsoft.com/office/drawing/2014/main" id="{02285324-2183-46F2-B85C-57DD8614F725}"/>
              </a:ext>
            </a:extLst>
          </p:cNvPr>
          <p:cNvSpPr txBox="1"/>
          <p:nvPr/>
        </p:nvSpPr>
        <p:spPr>
          <a:xfrm>
            <a:off x="3752699" y="2013466"/>
            <a:ext cx="1750544"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IN" dirty="0"/>
              <a:t>ACCEPTED STATE</a:t>
            </a:r>
          </a:p>
        </p:txBody>
      </p:sp>
      <p:pic>
        <p:nvPicPr>
          <p:cNvPr id="18" name="Picture 1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96799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fltVal val="0"/>
                                          </p:val>
                                        </p:tav>
                                        <p:tav tm="100000">
                                          <p:val>
                                            <p:strVal val="#ppt_w"/>
                                          </p:val>
                                        </p:tav>
                                      </p:tavLst>
                                    </p:anim>
                                    <p:anim calcmode="lin" valueType="num">
                                      <p:cBhvr>
                                        <p:cTn id="8" dur="1000" fill="hold"/>
                                        <p:tgtEl>
                                          <p:spTgt spid="1026"/>
                                        </p:tgtEl>
                                        <p:attrNameLst>
                                          <p:attrName>ppt_h</p:attrName>
                                        </p:attrNameLst>
                                      </p:cBhvr>
                                      <p:tavLst>
                                        <p:tav tm="0">
                                          <p:val>
                                            <p:fltVal val="0"/>
                                          </p:val>
                                        </p:tav>
                                        <p:tav tm="100000">
                                          <p:val>
                                            <p:strVal val="#ppt_h"/>
                                          </p:val>
                                        </p:tav>
                                      </p:tavLst>
                                    </p:anim>
                                    <p:anim calcmode="lin" valueType="num">
                                      <p:cBhvr>
                                        <p:cTn id="9" dur="1000" fill="hold"/>
                                        <p:tgtEl>
                                          <p:spTgt spid="1026"/>
                                        </p:tgtEl>
                                        <p:attrNameLst>
                                          <p:attrName>style.rotation</p:attrName>
                                        </p:attrNameLst>
                                      </p:cBhvr>
                                      <p:tavLst>
                                        <p:tav tm="0">
                                          <p:val>
                                            <p:fltVal val="90"/>
                                          </p:val>
                                        </p:tav>
                                        <p:tav tm="100000">
                                          <p:val>
                                            <p:fltVal val="0"/>
                                          </p:val>
                                        </p:tav>
                                      </p:tavLst>
                                    </p:anim>
                                    <p:animEffect transition="in" filter="fade">
                                      <p:cBhvr>
                                        <p:cTn id="10" dur="1000"/>
                                        <p:tgtEl>
                                          <p:spTgt spid="102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down)">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down)">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down)">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down)">
                                      <p:cBhvr>
                                        <p:cTn id="35" dur="5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down)">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21" grpId="0" animBg="1"/>
      <p:bldP spid="23" grpId="0" animBg="1"/>
      <p:bldP spid="25"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59EECA4-3934-4B3A-8052-36EE12DDFE0D}"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533400" y="817163"/>
            <a:ext cx="8229600" cy="5126437"/>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Productions are numbered as follows:</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E-&gt;E+T. ………………(1)</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E-&gt;T. …………………(2)</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T-&gt;T*F. ………………(3)</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T-&gt;F. ………………….(4)</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F-&gt;id. ………………….(5)</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10447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wipe(down)">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wipe(down)">
                                      <p:cBhvr>
                                        <p:cTn id="3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09825E9-92F2-4822-ADA2-BA58EC75726A}"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533400" y="817163"/>
            <a:ext cx="8229600" cy="5126437"/>
          </a:xfrm>
        </p:spPr>
        <p:txBody>
          <a:bodyPr>
            <a:normAutofit/>
          </a:bodyPr>
          <a:lstStyle/>
          <a:p>
            <a:pPr marL="0" indent="0" algn="l">
              <a:buNone/>
            </a:pPr>
            <a:endParaRPr lang="en-IN" sz="180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l">
              <a:buNone/>
            </a:pPr>
            <a:r>
              <a:rPr lang="en-IN" sz="180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First and Follow Function</a:t>
            </a:r>
            <a:endParaRPr lang="en-IN" sz="1800" b="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l">
              <a:buNone/>
            </a:pPr>
            <a:endParaRPr lang="en-IN" sz="1800" b="0" i="0" dirty="0">
              <a:solidFill>
                <a:srgbClr val="610B4B"/>
              </a:solidFill>
              <a:effectLst/>
              <a:latin typeface="Times New Roman" panose="02020603050405020304" pitchFamily="18" charset="0"/>
              <a:cs typeface="Times New Roman" panose="02020603050405020304" pitchFamily="18" charset="0"/>
            </a:endParaRPr>
          </a:p>
          <a:p>
            <a:pPr marL="0" indent="0" algn="l">
              <a:buNone/>
            </a:pPr>
            <a:r>
              <a:rPr lang="en-IN" sz="1800" b="0" i="0" dirty="0">
                <a:solidFill>
                  <a:srgbClr val="000000"/>
                </a:solidFill>
                <a:effectLst/>
                <a:latin typeface="Times New Roman" panose="02020603050405020304" pitchFamily="18" charset="0"/>
                <a:cs typeface="Times New Roman" panose="02020603050405020304" pitchFamily="18" charset="0"/>
              </a:rPr>
              <a:t>	First (E) = First (E ) ∪ First (T)</a:t>
            </a: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0" i="0" dirty="0">
                <a:solidFill>
                  <a:srgbClr val="000000"/>
                </a:solidFill>
                <a:effectLst/>
                <a:latin typeface="Times New Roman" panose="02020603050405020304" pitchFamily="18" charset="0"/>
                <a:cs typeface="Times New Roman" panose="02020603050405020304" pitchFamily="18" charset="0"/>
              </a:rPr>
              <a:t>	First (T) = First (T ) ∪ First (F)</a:t>
            </a: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0" i="0" dirty="0">
                <a:solidFill>
                  <a:srgbClr val="000000"/>
                </a:solidFill>
                <a:effectLst/>
                <a:latin typeface="Times New Roman" panose="02020603050405020304" pitchFamily="18" charset="0"/>
                <a:cs typeface="Times New Roman" panose="02020603050405020304" pitchFamily="18" charset="0"/>
              </a:rPr>
              <a:t>	First (F) = {id}</a:t>
            </a: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0" i="0" dirty="0">
                <a:solidFill>
                  <a:srgbClr val="000000"/>
                </a:solidFill>
                <a:effectLst/>
                <a:latin typeface="Times New Roman" panose="02020603050405020304" pitchFamily="18" charset="0"/>
                <a:cs typeface="Times New Roman" panose="02020603050405020304" pitchFamily="18" charset="0"/>
              </a:rPr>
              <a:t>	First (T) = {id}</a:t>
            </a: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0" i="0" dirty="0">
                <a:solidFill>
                  <a:srgbClr val="000000"/>
                </a:solidFill>
                <a:effectLst/>
                <a:latin typeface="Times New Roman" panose="02020603050405020304" pitchFamily="18" charset="0"/>
                <a:cs typeface="Times New Roman" panose="02020603050405020304" pitchFamily="18" charset="0"/>
              </a:rPr>
              <a:t>	First (E) = {id}</a:t>
            </a:r>
          </a:p>
          <a:p>
            <a:pPr marL="0" indent="0" algn="l">
              <a:buNone/>
            </a:pPr>
            <a:r>
              <a:rPr lang="en-IN" sz="1800" b="0" i="0" dirty="0">
                <a:solidFill>
                  <a:srgbClr val="000000"/>
                </a:solidFill>
                <a:effectLst/>
                <a:latin typeface="Times New Roman" panose="02020603050405020304" pitchFamily="18" charset="0"/>
                <a:cs typeface="Times New Roman" panose="02020603050405020304" pitchFamily="18" charset="0"/>
              </a:rPr>
              <a:t/>
            </a: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0" i="0" dirty="0">
                <a:solidFill>
                  <a:srgbClr val="000000"/>
                </a:solidFill>
                <a:effectLst/>
                <a:latin typeface="Times New Roman" panose="02020603050405020304" pitchFamily="18" charset="0"/>
                <a:cs typeface="Times New Roman" panose="02020603050405020304" pitchFamily="18" charset="0"/>
              </a:rPr>
              <a:t>	Follow (E) = First (+T) ∪ {$} = {+, $}</a:t>
            </a: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0" i="0" dirty="0">
                <a:solidFill>
                  <a:srgbClr val="000000"/>
                </a:solidFill>
                <a:effectLst/>
                <a:latin typeface="Times New Roman" panose="02020603050405020304" pitchFamily="18" charset="0"/>
                <a:cs typeface="Times New Roman" panose="02020603050405020304" pitchFamily="18" charset="0"/>
              </a:rPr>
              <a:t>	Follow (T) = First (*F) ∪ First (F)U Follow (E)</a:t>
            </a:r>
            <a:r>
              <a:rPr lang="en-IN" sz="1800" dirty="0">
                <a:solidFill>
                  <a:srgbClr val="000000"/>
                </a:solidFill>
                <a:latin typeface="Times New Roman" panose="02020603050405020304" pitchFamily="18" charset="0"/>
                <a:cs typeface="Times New Roman" panose="02020603050405020304" pitchFamily="18" charset="0"/>
              </a:rPr>
              <a:t> </a:t>
            </a:r>
            <a:r>
              <a:rPr lang="en-IN" sz="1800" b="0" i="0" dirty="0">
                <a:solidFill>
                  <a:srgbClr val="000000"/>
                </a:solidFill>
                <a:effectLst/>
                <a:latin typeface="Times New Roman" panose="02020603050405020304" pitchFamily="18" charset="0"/>
                <a:cs typeface="Times New Roman" panose="02020603050405020304" pitchFamily="18" charset="0"/>
              </a:rPr>
              <a:t>= {*, +, $}</a:t>
            </a: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0" i="0" dirty="0">
                <a:solidFill>
                  <a:srgbClr val="000000"/>
                </a:solidFill>
                <a:effectLst/>
                <a:latin typeface="Times New Roman" panose="02020603050405020304" pitchFamily="18" charset="0"/>
                <a:cs typeface="Times New Roman" panose="02020603050405020304" pitchFamily="18" charset="0"/>
              </a:rPr>
              <a:t>	Follow (F) = {*, +, $}</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101510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 calcmode="lin" valueType="num">
                                      <p:cBhvr additive="base">
                                        <p:cTn id="1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 calcmode="lin" valueType="num">
                                      <p:cBhvr additive="base">
                                        <p:cTn id="1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3805CB6-051F-4B9B-8B9E-DC3D1359CE3F}"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457200" y="990600"/>
            <a:ext cx="8229600" cy="5135563"/>
          </a:xfrm>
        </p:spPr>
        <p:txBody>
          <a:bodyPr>
            <a:normAutofit/>
          </a:bodyPr>
          <a:lstStyle/>
          <a:p>
            <a:pPr marL="0" indent="0">
              <a:buNone/>
            </a:pPr>
            <a:r>
              <a:rPr lang="en-IN" sz="1800" b="0" i="0" dirty="0">
                <a:solidFill>
                  <a:srgbClr val="610B4B"/>
                </a:solidFill>
                <a:effectLst/>
                <a:latin typeface="Times New Roman" panose="02020603050405020304" pitchFamily="18" charset="0"/>
                <a:cs typeface="Times New Roman" panose="02020603050405020304" pitchFamily="18" charset="0"/>
              </a:rPr>
              <a:t>Step-4 SLR (1) Table</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2050" name="Picture 2" descr="SLR (1) Parsing 4">
            <a:extLst>
              <a:ext uri="{FF2B5EF4-FFF2-40B4-BE49-F238E27FC236}">
                <a16:creationId xmlns:a16="http://schemas.microsoft.com/office/drawing/2014/main" id="{82088E6A-5F76-4CC0-8374-CC5CD3408E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600200"/>
            <a:ext cx="8051169" cy="416798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551863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wheel(1)">
                                      <p:cBhvr>
                                        <p:cTn id="12"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3FAB9EA-7CB9-493F-91B3-B4813B6D7C51}"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457200" y="828593"/>
            <a:ext cx="8229600" cy="5396393"/>
          </a:xfrm>
        </p:spPr>
        <p:txBody>
          <a:bodyPr>
            <a:normAutofit/>
          </a:bodyPr>
          <a:lstStyle/>
          <a:p>
            <a:pPr algn="l">
              <a:buFont typeface="Arial" panose="020B0604020202020204" pitchFamily="34" charset="0"/>
              <a:buChar char="•"/>
            </a:pPr>
            <a:r>
              <a:rPr lang="en-IN" sz="1800" b="0" dirty="0">
                <a:solidFill>
                  <a:srgbClr val="000000"/>
                </a:solidFill>
                <a:effectLst/>
                <a:latin typeface="Times New Roman" panose="02020603050405020304" pitchFamily="18" charset="0"/>
                <a:cs typeface="Times New Roman" panose="02020603050405020304" pitchFamily="18" charset="0"/>
              </a:rPr>
              <a:t>I1 contains the final item which drives S → E• and follow (S) = {$}, so action {I1, $} = Accept</a:t>
            </a:r>
          </a:p>
          <a:p>
            <a:pPr algn="l">
              <a:buFont typeface="Arial" panose="020B0604020202020204" pitchFamily="34" charset="0"/>
              <a:buChar char="•"/>
            </a:pPr>
            <a:endParaRPr lang="en-IN" sz="1800" b="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1800" b="0" dirty="0">
                <a:solidFill>
                  <a:srgbClr val="000000"/>
                </a:solidFill>
                <a:effectLst/>
                <a:latin typeface="Times New Roman" panose="02020603050405020304" pitchFamily="18" charset="0"/>
                <a:cs typeface="Times New Roman" panose="02020603050405020304" pitchFamily="18" charset="0"/>
              </a:rPr>
              <a:t>I2 contains the final item which drives E → T• and follow (E) = {+, $}, so action {I2, +} = R2, action {I2, $} = R2</a:t>
            </a:r>
          </a:p>
          <a:p>
            <a:pPr algn="l">
              <a:buFont typeface="Arial" panose="020B0604020202020204" pitchFamily="34" charset="0"/>
              <a:buChar char="•"/>
            </a:pPr>
            <a:endParaRPr lang="en-IN" sz="1800" b="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1800" b="0" dirty="0">
                <a:solidFill>
                  <a:srgbClr val="000000"/>
                </a:solidFill>
                <a:effectLst/>
                <a:latin typeface="Times New Roman" panose="02020603050405020304" pitchFamily="18" charset="0"/>
                <a:cs typeface="Times New Roman" panose="02020603050405020304" pitchFamily="18" charset="0"/>
              </a:rPr>
              <a:t>I3 contains the final item which drives T → F• and follow (T) = {+, *, $}, so action {I3, +} = R4, action {I3, *} = R4, action {I3, $} = R4</a:t>
            </a:r>
          </a:p>
          <a:p>
            <a:pPr algn="l">
              <a:buFont typeface="Arial" panose="020B0604020202020204" pitchFamily="34" charset="0"/>
              <a:buChar char="•"/>
            </a:pPr>
            <a:endParaRPr lang="en-IN" sz="1800" b="0" dirty="0">
              <a:solidFill>
                <a:srgbClr val="000000"/>
              </a:solidFill>
              <a:effectLst/>
              <a:latin typeface="Times New Roman" panose="02020603050405020304" pitchFamily="18" charset="0"/>
              <a:cs typeface="Times New Roman" panose="02020603050405020304" pitchFamily="18" charset="0"/>
            </a:endParaRPr>
          </a:p>
          <a:p>
            <a:r>
              <a:rPr lang="en-IN" sz="1800" dirty="0">
                <a:solidFill>
                  <a:srgbClr val="000000"/>
                </a:solidFill>
                <a:latin typeface="Times New Roman" panose="02020603050405020304" pitchFamily="18" charset="0"/>
                <a:cs typeface="Times New Roman" panose="02020603050405020304" pitchFamily="18" charset="0"/>
              </a:rPr>
              <a:t>I4 contains the final item which drives F → id• and follow (F) = {+, *, $}, so action {I4, +} = R5, action {I4, *} = R5, action {I4, $} = R5</a:t>
            </a:r>
          </a:p>
          <a:p>
            <a:endParaRPr lang="en-IN" sz="1800" dirty="0">
              <a:solidFill>
                <a:srgbClr val="000000"/>
              </a:solidFill>
              <a:latin typeface="Times New Roman" panose="02020603050405020304" pitchFamily="18" charset="0"/>
              <a:cs typeface="Times New Roman" panose="02020603050405020304" pitchFamily="18" charset="0"/>
            </a:endParaRPr>
          </a:p>
          <a:p>
            <a:r>
              <a:rPr lang="en-IN" sz="1800" dirty="0">
                <a:solidFill>
                  <a:srgbClr val="000000"/>
                </a:solidFill>
                <a:latin typeface="Times New Roman" panose="02020603050405020304" pitchFamily="18" charset="0"/>
                <a:cs typeface="Times New Roman" panose="02020603050405020304" pitchFamily="18" charset="0"/>
              </a:rPr>
              <a:t>I7 contains the final item which drives E → E + T• and follow (E) = {+, $}, so action {I7, +} = R1, action {I7, $} = R1</a:t>
            </a:r>
          </a:p>
          <a:p>
            <a:endParaRPr lang="en-IN" sz="1800" dirty="0">
              <a:solidFill>
                <a:srgbClr val="000000"/>
              </a:solidFill>
              <a:latin typeface="Times New Roman" panose="02020603050405020304" pitchFamily="18" charset="0"/>
              <a:cs typeface="Times New Roman" panose="02020603050405020304" pitchFamily="18" charset="0"/>
            </a:endParaRPr>
          </a:p>
          <a:p>
            <a:r>
              <a:rPr lang="en-IN" sz="1800" dirty="0">
                <a:solidFill>
                  <a:srgbClr val="000000"/>
                </a:solidFill>
                <a:latin typeface="Times New Roman" panose="02020603050405020304" pitchFamily="18" charset="0"/>
                <a:cs typeface="Times New Roman" panose="02020603050405020304" pitchFamily="18" charset="0"/>
              </a:rPr>
              <a:t>I8 contains the final item which drives T → T * F• and follow (T) = {+, *, $}, so action {I8, +} = R3, action {I8, *} = R3, action {I8, $} = R3.</a:t>
            </a:r>
          </a:p>
          <a:p>
            <a:pPr algn="l">
              <a:buFont typeface="Arial" panose="020B0604020202020204" pitchFamily="34" charset="0"/>
              <a:buChar char="•"/>
            </a:pPr>
            <a:endParaRPr lang="en-IN" sz="1800" b="0" dirty="0">
              <a:solidFill>
                <a:srgbClr val="000000"/>
              </a:solidFill>
              <a:effectLst/>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76083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 calcmode="lin" valueType="num">
                                      <p:cBhvr additive="base">
                                        <p:cTn id="3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EE23003-19C2-40F5-8125-35BDDEB9E4BF}"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a:t>
            </a: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817163"/>
            <a:ext cx="8229600" cy="5059363"/>
          </a:xfrm>
        </p:spPr>
        <p:txBody>
          <a:bodyPr>
            <a:noAutofit/>
          </a:bodyPr>
          <a:lstStyle/>
          <a:p>
            <a:pPr marL="0" indent="0">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Question:</a:t>
            </a:r>
          </a:p>
          <a:p>
            <a:pPr marL="0" indent="0">
              <a:buNone/>
            </a:pPr>
            <a:r>
              <a:rPr lang="en-IN" sz="1800" dirty="0">
                <a:latin typeface="Times New Roman" panose="02020603050405020304" pitchFamily="18" charset="0"/>
                <a:cs typeface="Times New Roman" panose="02020603050405020304" pitchFamily="18" charset="0"/>
              </a:rPr>
              <a:t>		A</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(A)/a</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Step 1:- Augmented Grammar</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A’</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a:t>
            </a:r>
          </a:p>
          <a:p>
            <a:pPr marL="0" indent="0">
              <a:buNone/>
            </a:pPr>
            <a:r>
              <a:rPr lang="en-IN" sz="1800" dirty="0">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			A</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a:t>
            </a:r>
          </a:p>
          <a:p>
            <a:pPr marL="0" indent="0">
              <a:buNone/>
            </a:pPr>
            <a:r>
              <a:rPr lang="en-IN" sz="1800" dirty="0">
                <a:latin typeface="Times New Roman" panose="02020603050405020304" pitchFamily="18" charset="0"/>
                <a:cs typeface="Times New Roman" panose="02020603050405020304" pitchFamily="18" charset="0"/>
              </a:rPr>
              <a:t>			A</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Step 2:- </a:t>
            </a:r>
            <a:r>
              <a:rPr lang="en-US" sz="1800" dirty="0">
                <a:latin typeface="Times New Roman" panose="02020603050405020304" pitchFamily="18" charset="0"/>
                <a:cs typeface="Times New Roman" panose="02020603050405020304" pitchFamily="18" charset="0"/>
              </a:rPr>
              <a:t>Create Canonical Collection of LR(0) items</a:t>
            </a:r>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Find out the canonical collection of each production.</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075850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 calcmode="lin" valueType="num">
                                      <p:cBhvr additive="base">
                                        <p:cTn id="13"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 calcmode="lin" valueType="num">
                                      <p:cBhvr additive="base">
                                        <p:cTn id="19" dur="500" fill="hold"/>
                                        <p:tgtEl>
                                          <p:spTgt spid="1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anim calcmode="lin" valueType="num">
                                      <p:cBhvr additive="base">
                                        <p:cTn id="25" dur="500" fill="hold"/>
                                        <p:tgtEl>
                                          <p:spTgt spid="1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xEl>
                                              <p:pRg st="7" end="7"/>
                                            </p:txEl>
                                          </p:spTgt>
                                        </p:tgtEl>
                                        <p:attrNameLst>
                                          <p:attrName>style.visibility</p:attrName>
                                        </p:attrNameLst>
                                      </p:cBhvr>
                                      <p:to>
                                        <p:strVal val="visible"/>
                                      </p:to>
                                    </p:set>
                                    <p:anim calcmode="lin" valueType="num">
                                      <p:cBhvr additive="base">
                                        <p:cTn id="31" dur="500" fill="hold"/>
                                        <p:tgtEl>
                                          <p:spTgt spid="1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
                                            <p:txEl>
                                              <p:pRg st="8" end="8"/>
                                            </p:txEl>
                                          </p:spTgt>
                                        </p:tgtEl>
                                        <p:attrNameLst>
                                          <p:attrName>style.visibility</p:attrName>
                                        </p:attrNameLst>
                                      </p:cBhvr>
                                      <p:to>
                                        <p:strVal val="visible"/>
                                      </p:to>
                                    </p:set>
                                    <p:anim calcmode="lin" valueType="num">
                                      <p:cBhvr additive="base">
                                        <p:cTn id="37" dur="500" fill="hold"/>
                                        <p:tgtEl>
                                          <p:spTgt spid="12">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
                                            <p:txEl>
                                              <p:pRg st="9" end="9"/>
                                            </p:txEl>
                                          </p:spTgt>
                                        </p:tgtEl>
                                        <p:attrNameLst>
                                          <p:attrName>style.visibility</p:attrName>
                                        </p:attrNameLst>
                                      </p:cBhvr>
                                      <p:to>
                                        <p:strVal val="visible"/>
                                      </p:to>
                                    </p:set>
                                    <p:anim calcmode="lin" valueType="num">
                                      <p:cBhvr additive="base">
                                        <p:cTn id="43" dur="500" fill="hold"/>
                                        <p:tgtEl>
                                          <p:spTgt spid="12">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2">
                                            <p:txEl>
                                              <p:pRg st="11" end="11"/>
                                            </p:txEl>
                                          </p:spTgt>
                                        </p:tgtEl>
                                        <p:attrNameLst>
                                          <p:attrName>style.visibility</p:attrName>
                                        </p:attrNameLst>
                                      </p:cBhvr>
                                      <p:to>
                                        <p:strVal val="visible"/>
                                      </p:to>
                                    </p:set>
                                    <p:anim calcmode="lin" valueType="num">
                                      <p:cBhvr additive="base">
                                        <p:cTn id="49" dur="500" fill="hold"/>
                                        <p:tgtEl>
                                          <p:spTgt spid="12">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2">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2">
                                            <p:txEl>
                                              <p:pRg st="13" end="13"/>
                                            </p:txEl>
                                          </p:spTgt>
                                        </p:tgtEl>
                                        <p:attrNameLst>
                                          <p:attrName>style.visibility</p:attrName>
                                        </p:attrNameLst>
                                      </p:cBhvr>
                                      <p:to>
                                        <p:strVal val="visible"/>
                                      </p:to>
                                    </p:set>
                                    <p:anim calcmode="lin" valueType="num">
                                      <p:cBhvr additive="base">
                                        <p:cTn id="55" dur="500" fill="hold"/>
                                        <p:tgtEl>
                                          <p:spTgt spid="12">
                                            <p:txEl>
                                              <p:pRg st="13" end="1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2">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CCC50DB-3D39-4C9C-97FF-C244CAE4F2FE}"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latin typeface="Times New Roman" panose="02020603050405020304" pitchFamily="18" charset="0"/>
                <a:cs typeface="Times New Roman" panose="02020603050405020304" pitchFamily="18" charset="0"/>
              </a:rPr>
              <a:t>Drawing DFD:</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Step:-3 Drawing DFD:</a:t>
            </a: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10" name="Content Placeholder 3">
            <a:extLst>
              <a:ext uri="{FF2B5EF4-FFF2-40B4-BE49-F238E27FC236}">
                <a16:creationId xmlns:a16="http://schemas.microsoft.com/office/drawing/2014/main" id="{FF9AC1CB-61D5-4147-B517-38DCDB466441}"/>
              </a:ext>
            </a:extLst>
          </p:cNvPr>
          <p:cNvPicPr>
            <a:picLocks noChangeAspect="1"/>
          </p:cNvPicPr>
          <p:nvPr/>
        </p:nvPicPr>
        <p:blipFill>
          <a:blip r:embed="rId3" cstate="print">
            <a:duotone>
              <a:schemeClr val="accent3">
                <a:shade val="45000"/>
                <a:satMod val="135000"/>
              </a:schemeClr>
              <a:prstClr val="white"/>
            </a:duotone>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457200" y="1676399"/>
            <a:ext cx="8322915" cy="444976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87901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49A00BE-E7BB-499B-A41A-0CB1D330940F}"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Example-SLR (1) </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Productions are numbered as follows:</a:t>
            </a:r>
          </a:p>
          <a:p>
            <a:pPr marL="0" indent="0">
              <a:buNone/>
            </a:pPr>
            <a:r>
              <a:rPr lang="en-IN" sz="1800" dirty="0">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 (A).         ....(1)</a:t>
            </a:r>
          </a:p>
          <a:p>
            <a:pPr marL="0" indent="0">
              <a:buNone/>
            </a:pPr>
            <a:r>
              <a:rPr lang="en-IN" sz="1800" dirty="0">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 a.           ….(2)</a:t>
            </a:r>
          </a:p>
          <a:p>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Calculate the follow function:</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Follow of A will be { ), $ }</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So, just place production number on the follow of A.</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65449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 calcmode="lin" valueType="num">
                                      <p:cBhvr additive="base">
                                        <p:cTn id="13"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anim calcmode="lin" valueType="num">
                                      <p:cBhvr additive="base">
                                        <p:cTn id="19"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anim calcmode="lin" valueType="num">
                                      <p:cBhvr additive="base">
                                        <p:cTn id="25"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anim calcmode="lin" valueType="num">
                                      <p:cBhvr additive="base">
                                        <p:cTn id="31"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
                                            <p:txEl>
                                              <p:pRg st="8" end="8"/>
                                            </p:txEl>
                                          </p:spTgt>
                                        </p:tgtEl>
                                        <p:attrNameLst>
                                          <p:attrName>style.visibility</p:attrName>
                                        </p:attrNameLst>
                                      </p:cBhvr>
                                      <p:to>
                                        <p:strVal val="visible"/>
                                      </p:to>
                                    </p:set>
                                    <p:anim calcmode="lin" valueType="num">
                                      <p:cBhvr additive="base">
                                        <p:cTn id="37" dur="500" fill="hold"/>
                                        <p:tgtEl>
                                          <p:spTgt spid="12">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B704D92-80FF-4102-9CA8-F089654121EE}"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SLR (1) Table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pic>
        <p:nvPicPr>
          <p:cNvPr id="10" name="Content Placeholder 4">
            <a:extLst>
              <a:ext uri="{FF2B5EF4-FFF2-40B4-BE49-F238E27FC236}">
                <a16:creationId xmlns:a16="http://schemas.microsoft.com/office/drawing/2014/main" id="{745E119B-2D56-4DC9-B69A-EF897D9D9970}"/>
              </a:ext>
            </a:extLst>
          </p:cNvPr>
          <p:cNvPicPr>
            <a:picLocks noGrp="1" noChangeAspect="1"/>
          </p:cNvPicPr>
          <p:nvPr>
            <p:ph idx="1"/>
          </p:nvPr>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457200" y="1266227"/>
            <a:ext cx="8229600" cy="466050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326722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091F4D1-08DA-4565-BE52-DDD919D5CEBA}" type="datetime1">
              <a:rPr lang="en-US" smtClean="0"/>
              <a:t>4/10/2026</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Parsing Input String</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pic>
        <p:nvPicPr>
          <p:cNvPr id="10" name="Content Placeholder 3">
            <a:extLst>
              <a:ext uri="{FF2B5EF4-FFF2-40B4-BE49-F238E27FC236}">
                <a16:creationId xmlns:a16="http://schemas.microsoft.com/office/drawing/2014/main" id="{C1369393-3C46-4764-A929-4DB0E15D08B4}"/>
              </a:ext>
            </a:extLst>
          </p:cNvPr>
          <p:cNvPicPr>
            <a:picLocks noGrp="1" noChangeAspect="1"/>
          </p:cNvPicPr>
          <p:nvPr>
            <p:ph idx="1"/>
          </p:nvPr>
        </p:nvPicPr>
        <p:blipFill>
          <a:blip r:embed="rId3" cstate="print">
            <a:duotone>
              <a:schemeClr val="accent3">
                <a:shade val="45000"/>
                <a:satMod val="135000"/>
              </a:schemeClr>
              <a:prstClr val="white"/>
            </a:duotone>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727940" y="1066800"/>
            <a:ext cx="7958859" cy="505936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47136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6A7BB36-0C2D-47AF-B90D-0526EF2527DD}"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D74037B8-BC3B-45FD-A440-2D65841A7788}" type="slidenum">
              <a:rPr lang="en-US"/>
              <a:pPr>
                <a:defRPr/>
              </a:pPr>
              <a:t>125</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10" dirty="0"/>
              <a:t>Syntax-Directed</a:t>
            </a:r>
            <a:r>
              <a:rPr lang="en-US" sz="3200" b="1" spc="25" dirty="0"/>
              <a:t> </a:t>
            </a:r>
            <a:r>
              <a:rPr lang="en-US" sz="3200" b="1" spc="-5" dirty="0" smtClean="0"/>
              <a:t>Translation</a:t>
            </a:r>
            <a:endParaRPr lang="en-US" sz="3200" b="1"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smtClean="0"/>
              <a:t>Vivek Kumar Sharma              CD Unit -3</a:t>
            </a:r>
            <a:endParaRPr lang="en-US" dirty="0"/>
          </a:p>
        </p:txBody>
      </p:sp>
      <p:sp>
        <p:nvSpPr>
          <p:cNvPr id="11271" name="Content Placeholder 7"/>
          <p:cNvSpPr>
            <a:spLocks noGrp="1"/>
          </p:cNvSpPr>
          <p:nvPr>
            <p:ph idx="1"/>
          </p:nvPr>
        </p:nvSpPr>
        <p:spPr/>
        <p:txBody>
          <a:bodyPr/>
          <a:lstStyle/>
          <a:p>
            <a:pPr marL="355600" algn="just" eaLnBrk="1" hangingPunct="1">
              <a:lnSpc>
                <a:spcPct val="130000"/>
              </a:lnSpc>
              <a:spcBef>
                <a:spcPts val="100"/>
              </a:spcBef>
              <a:buFont typeface="Arial" pitchFamily="34" charset="0"/>
              <a:buChar char="•"/>
              <a:tabLst>
                <a:tab pos="355600" algn="l"/>
              </a:tabLst>
              <a:defRPr/>
            </a:pPr>
            <a:r>
              <a:rPr lang="en-US" sz="2200" dirty="0">
                <a:latin typeface="+mj-lt"/>
                <a:cs typeface="Tahoma" pitchFamily="34" charset="0"/>
              </a:rPr>
              <a:t>Grammar symbols are associated with </a:t>
            </a:r>
            <a:r>
              <a:rPr lang="en-US" sz="2200" b="1" dirty="0">
                <a:latin typeface="+mj-lt"/>
                <a:cs typeface="Tahoma" pitchFamily="34" charset="0"/>
              </a:rPr>
              <a:t>attributes </a:t>
            </a:r>
            <a:r>
              <a:rPr lang="en-US" sz="2200" dirty="0">
                <a:latin typeface="+mj-lt"/>
                <a:cs typeface="Tahoma" pitchFamily="34" charset="0"/>
              </a:rPr>
              <a:t>to associate information  with the programming language constructs that they represent.</a:t>
            </a:r>
          </a:p>
          <a:p>
            <a:pPr marL="355600" algn="just" eaLnBrk="1" hangingPunct="1">
              <a:lnSpc>
                <a:spcPct val="130000"/>
              </a:lnSpc>
              <a:spcBef>
                <a:spcPts val="600"/>
              </a:spcBef>
              <a:buFont typeface="Arial" pitchFamily="34" charset="0"/>
              <a:buChar char="•"/>
              <a:tabLst>
                <a:tab pos="355600" algn="l"/>
              </a:tabLst>
              <a:defRPr/>
            </a:pPr>
            <a:r>
              <a:rPr lang="en-US" sz="2200" dirty="0">
                <a:latin typeface="+mj-lt"/>
                <a:cs typeface="Tahoma" pitchFamily="34" charset="0"/>
              </a:rPr>
              <a:t>Values of these attributes are evaluated by the </a:t>
            </a:r>
            <a:r>
              <a:rPr lang="en-US" sz="2200" b="1" dirty="0">
                <a:latin typeface="+mj-lt"/>
                <a:cs typeface="Tahoma" pitchFamily="34" charset="0"/>
              </a:rPr>
              <a:t>semantic rules </a:t>
            </a:r>
            <a:r>
              <a:rPr lang="en-US" sz="2200" dirty="0">
                <a:latin typeface="+mj-lt"/>
                <a:cs typeface="Tahoma" pitchFamily="34" charset="0"/>
              </a:rPr>
              <a:t>associated  with the production rules.</a:t>
            </a:r>
          </a:p>
          <a:p>
            <a:pPr marL="355600" eaLnBrk="1" hangingPunct="1">
              <a:spcBef>
                <a:spcPts val="1325"/>
              </a:spcBef>
              <a:buFont typeface="Arial" pitchFamily="34" charset="0"/>
              <a:buChar char="•"/>
              <a:tabLst>
                <a:tab pos="355600" algn="l"/>
              </a:tabLst>
              <a:defRPr/>
            </a:pPr>
            <a:r>
              <a:rPr lang="en-US" sz="2200" dirty="0">
                <a:latin typeface="+mj-lt"/>
                <a:cs typeface="Tahoma" pitchFamily="34" charset="0"/>
              </a:rPr>
              <a:t>Evaluation of these semantic rules:</a:t>
            </a:r>
          </a:p>
          <a:p>
            <a:pPr marL="755650" lvl="1" eaLnBrk="1" hangingPunct="1">
              <a:spcBef>
                <a:spcPts val="1250"/>
              </a:spcBef>
              <a:buFont typeface="Arial" pitchFamily="34" charset="0"/>
              <a:buChar char="•"/>
              <a:tabLst>
                <a:tab pos="355600" algn="l"/>
              </a:tabLst>
              <a:defRPr/>
            </a:pPr>
            <a:r>
              <a:rPr lang="en-US" sz="2200" dirty="0">
                <a:latin typeface="+mj-lt"/>
                <a:cs typeface="Tahoma" pitchFamily="34" charset="0"/>
              </a:rPr>
              <a:t>may generate intermediate codes</a:t>
            </a:r>
          </a:p>
          <a:p>
            <a:pPr marL="755650" lvl="1" eaLnBrk="1" hangingPunct="1">
              <a:spcBef>
                <a:spcPts val="1175"/>
              </a:spcBef>
              <a:buFont typeface="Arial" pitchFamily="34" charset="0"/>
              <a:buChar char="•"/>
              <a:tabLst>
                <a:tab pos="355600" algn="l"/>
              </a:tabLst>
              <a:defRPr/>
            </a:pPr>
            <a:r>
              <a:rPr lang="en-US" sz="2200" dirty="0">
                <a:latin typeface="+mj-lt"/>
                <a:cs typeface="Tahoma" pitchFamily="34" charset="0"/>
              </a:rPr>
              <a:t>may put information into the symbol table</a:t>
            </a:r>
          </a:p>
          <a:p>
            <a:pPr marL="755650" lvl="1" eaLnBrk="1" hangingPunct="1">
              <a:spcBef>
                <a:spcPts val="1175"/>
              </a:spcBef>
              <a:buFont typeface="Arial" pitchFamily="34" charset="0"/>
              <a:buChar char="•"/>
              <a:tabLst>
                <a:tab pos="355600" algn="l"/>
              </a:tabLst>
              <a:defRPr/>
            </a:pPr>
            <a:r>
              <a:rPr lang="en-US" sz="2200" dirty="0">
                <a:latin typeface="+mj-lt"/>
                <a:cs typeface="Tahoma" pitchFamily="34" charset="0"/>
              </a:rPr>
              <a:t>may perform type checking</a:t>
            </a: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97931515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CA48EA87-10AA-47C5-A537-EA70EC8D63E6}"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C893BF4A-29F0-4862-9E62-DFC89F1B343C}" type="slidenum">
              <a:rPr lang="en-US"/>
              <a:pPr>
                <a:defRPr/>
              </a:pPr>
              <a:t>126</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Syntax-Directed Translation</a:t>
            </a:r>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smtClean="0"/>
              <a:t>Vivek Kumar Sharma              CD Unit -3</a:t>
            </a:r>
            <a:endParaRPr lang="en-US" dirty="0"/>
          </a:p>
        </p:txBody>
      </p:sp>
      <p:sp>
        <p:nvSpPr>
          <p:cNvPr id="11271" name="Content Placeholder 7"/>
          <p:cNvSpPr>
            <a:spLocks noGrp="1"/>
          </p:cNvSpPr>
          <p:nvPr>
            <p:ph idx="1"/>
          </p:nvPr>
        </p:nvSpPr>
        <p:spPr/>
        <p:txBody>
          <a:bodyPr>
            <a:normAutofit lnSpcReduction="10000"/>
          </a:bodyPr>
          <a:lstStyle/>
          <a:p>
            <a:pPr marL="355600" eaLnBrk="1" hangingPunct="1">
              <a:spcBef>
                <a:spcPts val="1425"/>
              </a:spcBef>
              <a:buFont typeface="Arial" pitchFamily="34" charset="0"/>
              <a:buChar char="•"/>
              <a:tabLst>
                <a:tab pos="355600" algn="l"/>
              </a:tabLst>
              <a:defRPr/>
            </a:pPr>
            <a:r>
              <a:rPr lang="en-US" sz="2200" dirty="0">
                <a:latin typeface="+mj-lt"/>
                <a:cs typeface="Tahoma" pitchFamily="34" charset="0"/>
              </a:rPr>
              <a:t>When we associate semantic rules with productions, we use two notations:</a:t>
            </a:r>
          </a:p>
          <a:p>
            <a:pPr marL="755650" lvl="1" eaLnBrk="1" hangingPunct="1">
              <a:spcBef>
                <a:spcPts val="1325"/>
              </a:spcBef>
              <a:buFont typeface="Arial" pitchFamily="34" charset="0"/>
              <a:buChar char="•"/>
              <a:tabLst>
                <a:tab pos="355600" algn="l"/>
              </a:tabLst>
              <a:defRPr/>
            </a:pPr>
            <a:r>
              <a:rPr lang="en-US" sz="2200" b="1" dirty="0">
                <a:latin typeface="+mj-lt"/>
                <a:cs typeface="Tahoma" pitchFamily="34" charset="0"/>
              </a:rPr>
              <a:t>Syntax-Directed Definitions</a:t>
            </a:r>
            <a:endParaRPr lang="en-US" sz="2200" dirty="0">
              <a:latin typeface="+mj-lt"/>
              <a:cs typeface="Tahoma" pitchFamily="34" charset="0"/>
            </a:endParaRPr>
          </a:p>
          <a:p>
            <a:pPr marL="755650" lvl="1" eaLnBrk="1" hangingPunct="1">
              <a:spcBef>
                <a:spcPts val="1325"/>
              </a:spcBef>
              <a:buFont typeface="Arial" pitchFamily="34" charset="0"/>
              <a:buChar char="•"/>
              <a:tabLst>
                <a:tab pos="355600" algn="l"/>
              </a:tabLst>
              <a:defRPr/>
            </a:pPr>
            <a:r>
              <a:rPr lang="en-US" sz="2200" b="1" dirty="0">
                <a:latin typeface="+mj-lt"/>
                <a:cs typeface="Tahoma" pitchFamily="34" charset="0"/>
              </a:rPr>
              <a:t>Translation Schemes</a:t>
            </a:r>
            <a:endParaRPr lang="en-US" sz="2200" dirty="0">
              <a:latin typeface="+mj-lt"/>
              <a:cs typeface="Tahoma" pitchFamily="34" charset="0"/>
            </a:endParaRPr>
          </a:p>
          <a:p>
            <a:pPr marL="355600" eaLnBrk="1" hangingPunct="1">
              <a:spcBef>
                <a:spcPts val="1325"/>
              </a:spcBef>
              <a:buFont typeface="Arial" pitchFamily="34" charset="0"/>
              <a:buChar char="•"/>
              <a:tabLst>
                <a:tab pos="355600" algn="l"/>
              </a:tabLst>
              <a:defRPr/>
            </a:pPr>
            <a:r>
              <a:rPr lang="en-US" sz="2200" b="1" dirty="0">
                <a:latin typeface="+mj-lt"/>
                <a:cs typeface="Tahoma" pitchFamily="34" charset="0"/>
              </a:rPr>
              <a:t>Syntax-Directed Definitions:</a:t>
            </a:r>
            <a:endParaRPr lang="en-US" sz="2200" dirty="0">
              <a:latin typeface="+mj-lt"/>
              <a:cs typeface="Tahoma" pitchFamily="34" charset="0"/>
            </a:endParaRPr>
          </a:p>
          <a:p>
            <a:pPr marL="755650" lvl="1" eaLnBrk="1" hangingPunct="1">
              <a:spcBef>
                <a:spcPts val="1250"/>
              </a:spcBef>
              <a:buFont typeface="Arial" pitchFamily="34" charset="0"/>
              <a:buChar char="•"/>
              <a:tabLst>
                <a:tab pos="355600" algn="l"/>
              </a:tabLst>
              <a:defRPr/>
            </a:pPr>
            <a:r>
              <a:rPr lang="en-US" sz="2200" dirty="0">
                <a:latin typeface="+mj-lt"/>
                <a:cs typeface="Tahoma" pitchFamily="34" charset="0"/>
              </a:rPr>
              <a:t>give high-level specifications for translations</a:t>
            </a:r>
          </a:p>
          <a:p>
            <a:pPr marL="755650" lvl="1" eaLnBrk="1" hangingPunct="1">
              <a:spcBef>
                <a:spcPts val="1175"/>
              </a:spcBef>
              <a:buFont typeface="Arial" pitchFamily="34" charset="0"/>
              <a:buChar char="•"/>
              <a:tabLst>
                <a:tab pos="355600" algn="l"/>
              </a:tabLst>
              <a:defRPr/>
            </a:pPr>
            <a:r>
              <a:rPr lang="en-US" sz="2200" dirty="0">
                <a:latin typeface="+mj-lt"/>
                <a:cs typeface="Tahoma" pitchFamily="34" charset="0"/>
              </a:rPr>
              <a:t>hide many implementation details such as order of evaluation of semantic actions.</a:t>
            </a:r>
          </a:p>
          <a:p>
            <a:pPr marL="755650" lvl="1" eaLnBrk="1" hangingPunct="1">
              <a:lnSpc>
                <a:spcPct val="130000"/>
              </a:lnSpc>
              <a:spcBef>
                <a:spcPts val="600"/>
              </a:spcBef>
              <a:buFont typeface="Arial" pitchFamily="34" charset="0"/>
              <a:buChar char="•"/>
              <a:tabLst>
                <a:tab pos="355600" algn="l"/>
              </a:tabLst>
              <a:defRPr/>
            </a:pPr>
            <a:r>
              <a:rPr lang="en-US" sz="2200" dirty="0">
                <a:latin typeface="+mj-lt"/>
                <a:cs typeface="Tahoma" pitchFamily="34" charset="0"/>
              </a:rPr>
              <a:t>We associate a production rule with a set of semantic actions, and we do not say when they  will be evaluated.</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5475016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2C4DCAA-B517-49E4-AEA2-ACDAE60594AC}"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EB1B1825-C1D6-4925-8526-7F5908503EDE}" type="slidenum">
              <a:rPr lang="en-US"/>
              <a:pPr>
                <a:defRPr/>
              </a:pPr>
              <a:t>127</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10" dirty="0"/>
              <a:t>Syntax-Directed Translation</a:t>
            </a:r>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smtClean="0"/>
              <a:t>Vivek Kumar Sharma              CD Unit -3</a:t>
            </a:r>
            <a:endParaRPr lang="en-US" dirty="0"/>
          </a:p>
        </p:txBody>
      </p:sp>
      <p:sp>
        <p:nvSpPr>
          <p:cNvPr id="11271" name="Content Placeholder 7"/>
          <p:cNvSpPr>
            <a:spLocks noGrp="1"/>
          </p:cNvSpPr>
          <p:nvPr>
            <p:ph idx="1"/>
          </p:nvPr>
        </p:nvSpPr>
        <p:spPr/>
        <p:txBody>
          <a:bodyPr/>
          <a:lstStyle/>
          <a:p>
            <a:pPr marL="355600" eaLnBrk="1" hangingPunct="1">
              <a:spcBef>
                <a:spcPts val="1250"/>
              </a:spcBef>
              <a:buFont typeface="Arial" pitchFamily="34" charset="0"/>
              <a:buChar char="•"/>
              <a:tabLst>
                <a:tab pos="355600" algn="l"/>
              </a:tabLst>
              <a:defRPr/>
            </a:pPr>
            <a:r>
              <a:rPr lang="en-US" sz="2200" b="1" dirty="0">
                <a:latin typeface="+mj-lt"/>
                <a:cs typeface="Tahoma" pitchFamily="34" charset="0"/>
              </a:rPr>
              <a:t>Translation Schemes:</a:t>
            </a:r>
            <a:endParaRPr lang="en-US" sz="2200" dirty="0">
              <a:latin typeface="+mj-lt"/>
              <a:cs typeface="Tahoma" pitchFamily="34" charset="0"/>
            </a:endParaRPr>
          </a:p>
          <a:p>
            <a:pPr marL="755650" lvl="1" eaLnBrk="1" hangingPunct="1">
              <a:spcBef>
                <a:spcPts val="1250"/>
              </a:spcBef>
              <a:buFont typeface="Arial" pitchFamily="34" charset="0"/>
              <a:buChar char="•"/>
              <a:tabLst>
                <a:tab pos="355600" algn="l"/>
              </a:tabLst>
              <a:defRPr/>
            </a:pPr>
            <a:r>
              <a:rPr lang="en-US" sz="2200" dirty="0">
                <a:latin typeface="+mj-lt"/>
                <a:cs typeface="Tahoma" pitchFamily="34" charset="0"/>
              </a:rPr>
              <a:t>indicate the order of evaluation of semantic actions associated with a production rule.</a:t>
            </a:r>
          </a:p>
          <a:p>
            <a:pPr marL="755650" lvl="1" eaLnBrk="1" hangingPunct="1">
              <a:spcBef>
                <a:spcPts val="1175"/>
              </a:spcBef>
              <a:buFont typeface="Arial" pitchFamily="34" charset="0"/>
              <a:buChar char="•"/>
              <a:tabLst>
                <a:tab pos="355600" algn="l"/>
              </a:tabLst>
              <a:defRPr/>
            </a:pPr>
            <a:r>
              <a:rPr lang="en-US" sz="2200" dirty="0">
                <a:latin typeface="+mj-lt"/>
                <a:cs typeface="Tahoma" pitchFamily="34" charset="0"/>
              </a:rPr>
              <a:t>In other words, translation schemes give a little bit information about implementation details.</a:t>
            </a: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34973153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839C6E36-4033-4D40-9E99-B416F99F3572}"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050D3C75-96E1-493A-BBF2-31D11B3E97E5}" type="slidenum">
              <a:rPr lang="en-US"/>
              <a:pPr>
                <a:defRPr/>
              </a:pPr>
              <a:t>128</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smtClean="0"/>
              <a:t>Attributes</a:t>
            </a:r>
            <a:endParaRPr lang="en-US" sz="3200" b="1" spc="-1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smtClean="0"/>
              <a:t>Vivek Kumar Sharma              CD Unit -3</a:t>
            </a:r>
            <a:endParaRPr lang="en-US" dirty="0"/>
          </a:p>
        </p:txBody>
      </p:sp>
      <p:sp>
        <p:nvSpPr>
          <p:cNvPr id="11271" name="Content Placeholder 7"/>
          <p:cNvSpPr>
            <a:spLocks noGrp="1"/>
          </p:cNvSpPr>
          <p:nvPr>
            <p:ph idx="1"/>
          </p:nvPr>
        </p:nvSpPr>
        <p:spPr>
          <a:xfrm>
            <a:off x="457200" y="1447800"/>
            <a:ext cx="8229600" cy="4678363"/>
          </a:xfrm>
        </p:spPr>
        <p:txBody>
          <a:bodyPr>
            <a:normAutofit lnSpcReduction="10000"/>
          </a:bodyPr>
          <a:lstStyle/>
          <a:p>
            <a:pPr algn="just" eaLnBrk="1" hangingPunct="1">
              <a:buFont typeface="Arial" pitchFamily="34" charset="0"/>
              <a:buChar char="•"/>
              <a:defRPr/>
            </a:pPr>
            <a:r>
              <a:rPr lang="en-US" sz="2200" dirty="0">
                <a:latin typeface="+mj-lt"/>
                <a:cs typeface="Times New Roman" pitchFamily="18" charset="0"/>
              </a:rPr>
              <a:t>Attribute grammar is a special form of context-free grammar where some additional information (attributes) are appended to one or more of its non-terminals in order to provide context-sensitive information. </a:t>
            </a:r>
          </a:p>
          <a:p>
            <a:pPr algn="just" eaLnBrk="1" hangingPunct="1">
              <a:buFont typeface="Arial" pitchFamily="34" charset="0"/>
              <a:buChar char="•"/>
              <a:defRPr/>
            </a:pPr>
            <a:r>
              <a:rPr lang="en-US" sz="2200" dirty="0">
                <a:latin typeface="+mj-lt"/>
                <a:cs typeface="Times New Roman" pitchFamily="18" charset="0"/>
              </a:rPr>
              <a:t>Each attribute has well-defined domain of values, such as integer, float, character, string, and expressions.</a:t>
            </a:r>
          </a:p>
          <a:p>
            <a:pPr algn="just" eaLnBrk="1" hangingPunct="1">
              <a:buFont typeface="Arial" pitchFamily="34" charset="0"/>
              <a:buChar char="•"/>
              <a:defRPr/>
            </a:pPr>
            <a:r>
              <a:rPr lang="en-US" sz="2200" dirty="0">
                <a:latin typeface="+mj-lt"/>
                <a:cs typeface="Times New Roman" pitchFamily="18" charset="0"/>
              </a:rPr>
              <a:t>E → E + T { </a:t>
            </a:r>
            <a:r>
              <a:rPr lang="en-US" sz="2200" dirty="0" err="1">
                <a:latin typeface="+mj-lt"/>
                <a:cs typeface="Times New Roman" pitchFamily="18" charset="0"/>
              </a:rPr>
              <a:t>E.value</a:t>
            </a:r>
            <a:r>
              <a:rPr lang="en-US" sz="2200" dirty="0">
                <a:latin typeface="+mj-lt"/>
                <a:cs typeface="Times New Roman" pitchFamily="18" charset="0"/>
              </a:rPr>
              <a:t> = </a:t>
            </a:r>
            <a:r>
              <a:rPr lang="en-US" sz="2200" dirty="0" err="1">
                <a:latin typeface="+mj-lt"/>
                <a:cs typeface="Times New Roman" pitchFamily="18" charset="0"/>
              </a:rPr>
              <a:t>E.value</a:t>
            </a:r>
            <a:r>
              <a:rPr lang="en-US" sz="2200" dirty="0">
                <a:latin typeface="+mj-lt"/>
                <a:cs typeface="Times New Roman" pitchFamily="18" charset="0"/>
              </a:rPr>
              <a:t> + </a:t>
            </a:r>
            <a:r>
              <a:rPr lang="en-US" sz="2200" dirty="0" err="1">
                <a:latin typeface="+mj-lt"/>
                <a:cs typeface="Times New Roman" pitchFamily="18" charset="0"/>
              </a:rPr>
              <a:t>T.value</a:t>
            </a:r>
            <a:r>
              <a:rPr lang="en-US" sz="2200" dirty="0">
                <a:latin typeface="+mj-lt"/>
                <a:cs typeface="Times New Roman" pitchFamily="18" charset="0"/>
              </a:rPr>
              <a:t> }</a:t>
            </a:r>
          </a:p>
          <a:p>
            <a:pPr algn="just" eaLnBrk="1" hangingPunct="1">
              <a:buFont typeface="Arial" pitchFamily="34" charset="0"/>
              <a:buChar char="•"/>
              <a:defRPr/>
            </a:pPr>
            <a:r>
              <a:rPr lang="en-US" sz="2200" dirty="0">
                <a:latin typeface="+mj-lt"/>
                <a:cs typeface="Times New Roman" pitchFamily="18" charset="0"/>
              </a:rPr>
              <a:t>Semantic attributes may be assigned to their values from their domain at the time of parsing and evaluated at the time of assignment or conditions. </a:t>
            </a:r>
          </a:p>
          <a:p>
            <a:pPr algn="just" eaLnBrk="1" hangingPunct="1">
              <a:buFont typeface="Arial" pitchFamily="34" charset="0"/>
              <a:buChar char="•"/>
              <a:defRPr/>
            </a:pPr>
            <a:r>
              <a:rPr lang="en-US" sz="2200" dirty="0">
                <a:latin typeface="+mj-lt"/>
                <a:cs typeface="Times New Roman" pitchFamily="18" charset="0"/>
              </a:rPr>
              <a:t>Based on the way the attributes get their values, they can be broadly divided into two categories : synthesized attributes and inherited attributes.</a:t>
            </a: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4844858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408B85E-1C6B-45A0-89B5-9DC44EF699E0}"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98529B2D-DC5E-4439-AB1F-FB9B2611A6A8}" type="slidenum">
              <a:rPr lang="en-US"/>
              <a:pPr>
                <a:defRPr/>
              </a:pPr>
              <a:t>129</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10" dirty="0"/>
              <a:t>Synthesized </a:t>
            </a:r>
            <a:r>
              <a:rPr lang="en-US" sz="3200" b="1" spc="-10" dirty="0" smtClean="0"/>
              <a:t>attributes</a:t>
            </a:r>
            <a:endParaRPr lang="en-US" sz="3200" b="1" spc="-1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smtClean="0"/>
              <a:t>Vivek Kumar Sharma              CD Unit -3</a:t>
            </a:r>
            <a:endParaRPr lang="en-US" dirty="0"/>
          </a:p>
        </p:txBody>
      </p:sp>
      <p:sp>
        <p:nvSpPr>
          <p:cNvPr id="11271" name="Content Placeholder 7"/>
          <p:cNvSpPr>
            <a:spLocks noGrp="1"/>
          </p:cNvSpPr>
          <p:nvPr>
            <p:ph idx="1"/>
          </p:nvPr>
        </p:nvSpPr>
        <p:spPr>
          <a:xfrm>
            <a:off x="457200" y="1447800"/>
            <a:ext cx="8229600" cy="4678363"/>
          </a:xfrm>
        </p:spPr>
        <p:txBody>
          <a:bodyPr/>
          <a:lstStyle/>
          <a:p>
            <a:pPr algn="just" eaLnBrk="1" fontAlgn="auto" hangingPunct="1">
              <a:spcAft>
                <a:spcPts val="0"/>
              </a:spcAft>
              <a:buFont typeface="Arial" pitchFamily="34" charset="0"/>
              <a:buChar char="•"/>
              <a:defRPr/>
            </a:pPr>
            <a:r>
              <a:rPr lang="en-US" sz="2200" dirty="0">
                <a:latin typeface="+mj-lt"/>
              </a:rPr>
              <a:t>These attributes get values from the attribute values of their child nodes.</a:t>
            </a:r>
          </a:p>
          <a:p>
            <a:pPr algn="just" eaLnBrk="1" fontAlgn="auto" hangingPunct="1">
              <a:spcAft>
                <a:spcPts val="0"/>
              </a:spcAft>
              <a:buFont typeface="Arial" pitchFamily="34" charset="0"/>
              <a:buChar char="•"/>
              <a:defRPr/>
            </a:pPr>
            <a:r>
              <a:rPr lang="en-US" sz="2200" dirty="0">
                <a:latin typeface="+mj-lt"/>
                <a:cs typeface="Times New Roman"/>
              </a:rPr>
              <a:t>Each of the </a:t>
            </a:r>
            <a:r>
              <a:rPr lang="en-US" sz="2200" spc="-5" dirty="0">
                <a:latin typeface="+mj-lt"/>
                <a:cs typeface="Times New Roman"/>
              </a:rPr>
              <a:t>non-terminals </a:t>
            </a:r>
            <a:r>
              <a:rPr lang="en-US" sz="2200" dirty="0">
                <a:latin typeface="+mj-lt"/>
                <a:cs typeface="Times New Roman"/>
              </a:rPr>
              <a:t>has a single synthesized attribute, called</a:t>
            </a:r>
            <a:r>
              <a:rPr lang="en-US" sz="2200" spc="-204" dirty="0">
                <a:latin typeface="+mj-lt"/>
                <a:cs typeface="Times New Roman"/>
              </a:rPr>
              <a:t> </a:t>
            </a:r>
            <a:r>
              <a:rPr lang="en-US" sz="2200" dirty="0">
                <a:latin typeface="+mj-lt"/>
                <a:cs typeface="Times New Roman"/>
              </a:rPr>
              <a:t>val.</a:t>
            </a:r>
          </a:p>
          <a:p>
            <a:pPr algn="just" eaLnBrk="1" fontAlgn="auto" hangingPunct="1">
              <a:spcAft>
                <a:spcPts val="0"/>
              </a:spcAft>
              <a:buFont typeface="Arial" pitchFamily="34" charset="0"/>
              <a:buChar char="•"/>
              <a:defRPr/>
            </a:pPr>
            <a:r>
              <a:rPr lang="en-US" sz="2200" spc="-5" dirty="0">
                <a:latin typeface="+mj-lt"/>
                <a:cs typeface="Times New Roman"/>
              </a:rPr>
              <a:t>An SDD </a:t>
            </a:r>
            <a:r>
              <a:rPr lang="en-US" sz="2200" dirty="0">
                <a:latin typeface="+mj-lt"/>
                <a:cs typeface="Times New Roman"/>
              </a:rPr>
              <a:t>that involves only synthesized attributes </a:t>
            </a:r>
            <a:r>
              <a:rPr lang="en-US" sz="2200" spc="-5" dirty="0">
                <a:latin typeface="+mj-lt"/>
                <a:cs typeface="Times New Roman"/>
              </a:rPr>
              <a:t>is </a:t>
            </a:r>
            <a:r>
              <a:rPr lang="en-US" sz="2200" dirty="0">
                <a:latin typeface="+mj-lt"/>
                <a:cs typeface="Times New Roman"/>
              </a:rPr>
              <a:t>called</a:t>
            </a:r>
            <a:r>
              <a:rPr lang="en-US" sz="2200" spc="-145" dirty="0">
                <a:latin typeface="+mj-lt"/>
                <a:cs typeface="Times New Roman"/>
              </a:rPr>
              <a:t> </a:t>
            </a:r>
            <a:r>
              <a:rPr lang="en-US" sz="2200" b="1" dirty="0">
                <a:latin typeface="+mj-lt"/>
                <a:cs typeface="Times New Roman"/>
              </a:rPr>
              <a:t>S-attributed</a:t>
            </a:r>
          </a:p>
          <a:p>
            <a:pPr algn="just" eaLnBrk="1" fontAlgn="auto" hangingPunct="1">
              <a:spcAft>
                <a:spcPts val="0"/>
              </a:spcAft>
              <a:buFont typeface="Arial" pitchFamily="34" charset="0"/>
              <a:buChar char="•"/>
              <a:defRPr/>
            </a:pPr>
            <a:r>
              <a:rPr lang="en-US" sz="2200" dirty="0">
                <a:latin typeface="+mj-lt"/>
                <a:cs typeface="Times New Roman"/>
              </a:rPr>
              <a:t>Each rule </a:t>
            </a:r>
            <a:r>
              <a:rPr lang="en-US" sz="2200" spc="-5" dirty="0">
                <a:latin typeface="+mj-lt"/>
                <a:cs typeface="Times New Roman"/>
              </a:rPr>
              <a:t>computes </a:t>
            </a:r>
            <a:r>
              <a:rPr lang="en-US" sz="2200" dirty="0">
                <a:latin typeface="+mj-lt"/>
                <a:cs typeface="Times New Roman"/>
              </a:rPr>
              <a:t>an attribute for the non-terminal at the head of</a:t>
            </a:r>
            <a:r>
              <a:rPr lang="en-US" sz="2200" spc="-200" dirty="0">
                <a:latin typeface="+mj-lt"/>
                <a:cs typeface="Times New Roman"/>
              </a:rPr>
              <a:t> </a:t>
            </a:r>
            <a:r>
              <a:rPr lang="en-US" sz="2200" dirty="0">
                <a:latin typeface="+mj-lt"/>
                <a:cs typeface="Times New Roman"/>
              </a:rPr>
              <a:t>a production from attributes taken from the body of the</a:t>
            </a:r>
            <a:r>
              <a:rPr lang="en-US" sz="2200" spc="-175" dirty="0">
                <a:latin typeface="+mj-lt"/>
                <a:cs typeface="Times New Roman"/>
              </a:rPr>
              <a:t> </a:t>
            </a:r>
            <a:r>
              <a:rPr lang="en-US" sz="2200" dirty="0">
                <a:latin typeface="+mj-lt"/>
                <a:cs typeface="Times New Roman"/>
              </a:rPr>
              <a:t>production.</a:t>
            </a:r>
          </a:p>
          <a:p>
            <a:pPr algn="just" eaLnBrk="1" hangingPunct="1">
              <a:buFont typeface="Arial" pitchFamily="34" charset="0"/>
              <a:buChar char="•"/>
              <a:defRPr/>
            </a:pPr>
            <a:endParaRPr lang="en-US" sz="2200" dirty="0">
              <a:latin typeface="+mj-lt"/>
              <a:cs typeface="Times New Roman" pitchFamily="18" charset="0"/>
            </a:endParaRP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4901999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51C2293-6AEE-4D9A-B1B5-1D317F0EF703}"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E73049F3-ECA9-41E0-995D-E321A5E16E4B}" type="slidenum">
              <a:rPr lang="en-US"/>
              <a:pPr>
                <a:defRPr/>
              </a:pPr>
              <a:t>130</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Synthesized attributes</a:t>
            </a:r>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smtClean="0"/>
              <a:t>Vivek Kumar Sharma              CD Unit -3</a:t>
            </a:r>
            <a:endParaRPr lang="en-US" dirty="0"/>
          </a:p>
        </p:txBody>
      </p:sp>
      <p:sp>
        <p:nvSpPr>
          <p:cNvPr id="11271" name="Content Placeholder 7"/>
          <p:cNvSpPr>
            <a:spLocks noGrp="1"/>
          </p:cNvSpPr>
          <p:nvPr>
            <p:ph idx="1"/>
          </p:nvPr>
        </p:nvSpPr>
        <p:spPr>
          <a:xfrm>
            <a:off x="457200" y="1219200"/>
            <a:ext cx="8229600" cy="4906963"/>
          </a:xfrm>
        </p:spPr>
        <p:txBody>
          <a:bodyPr/>
          <a:lstStyle/>
          <a:p>
            <a:pPr marL="22225" eaLnBrk="1" hangingPunct="1">
              <a:spcBef>
                <a:spcPts val="88"/>
              </a:spcBef>
              <a:buSzPct val="57000"/>
              <a:buFont typeface="Wingdings" pitchFamily="2" charset="2"/>
              <a:buChar char=""/>
              <a:tabLst>
                <a:tab pos="220663" algn="l"/>
              </a:tabLst>
              <a:defRPr/>
            </a:pPr>
            <a:endParaRPr lang="en-US" sz="2400" dirty="0"/>
          </a:p>
          <a:p>
            <a:pPr marL="22225" eaLnBrk="1" hangingPunct="1">
              <a:spcBef>
                <a:spcPts val="88"/>
              </a:spcBef>
              <a:buSzPct val="57000"/>
              <a:buFont typeface="Wingdings" pitchFamily="2" charset="2"/>
              <a:buChar char=""/>
              <a:tabLst>
                <a:tab pos="220663" algn="l"/>
              </a:tabLst>
              <a:defRPr/>
            </a:pPr>
            <a:endParaRPr lang="en-US" sz="2400" dirty="0"/>
          </a:p>
          <a:p>
            <a:pPr marL="22225" eaLnBrk="1" hangingPunct="1">
              <a:spcBef>
                <a:spcPts val="88"/>
              </a:spcBef>
              <a:buSzPct val="57000"/>
              <a:buFont typeface="Wingdings" pitchFamily="2" charset="2"/>
              <a:buChar char=""/>
              <a:tabLst>
                <a:tab pos="220663" algn="l"/>
              </a:tabLst>
              <a:defRPr/>
            </a:pPr>
            <a:endParaRPr lang="en-US" sz="2400" dirty="0"/>
          </a:p>
          <a:p>
            <a:pPr marL="22225" eaLnBrk="1" hangingPunct="1">
              <a:spcBef>
                <a:spcPts val="88"/>
              </a:spcBef>
              <a:buSzPct val="57000"/>
              <a:buFont typeface="Wingdings" pitchFamily="2" charset="2"/>
              <a:buChar char=""/>
              <a:tabLst>
                <a:tab pos="220663" algn="l"/>
              </a:tabLst>
              <a:defRPr/>
            </a:pPr>
            <a:endParaRPr lang="en-US" sz="2400" dirty="0"/>
          </a:p>
          <a:p>
            <a:pPr marL="22225" eaLnBrk="1" hangingPunct="1">
              <a:spcBef>
                <a:spcPts val="88"/>
              </a:spcBef>
              <a:buSzPct val="57000"/>
              <a:buFont typeface="Wingdings" pitchFamily="2" charset="2"/>
              <a:buChar char=""/>
              <a:tabLst>
                <a:tab pos="220663" algn="l"/>
              </a:tabLst>
              <a:defRPr/>
            </a:pPr>
            <a:endParaRPr lang="en-US" sz="2400" dirty="0"/>
          </a:p>
          <a:p>
            <a:pPr marL="22225" eaLnBrk="1" hangingPunct="1">
              <a:spcBef>
                <a:spcPts val="88"/>
              </a:spcBef>
              <a:buSzPct val="57000"/>
              <a:buFont typeface="Wingdings" pitchFamily="2" charset="2"/>
              <a:buChar char=""/>
              <a:tabLst>
                <a:tab pos="220663" algn="l"/>
              </a:tabLst>
              <a:defRPr/>
            </a:pPr>
            <a:endParaRPr lang="en-US" sz="2400" dirty="0"/>
          </a:p>
          <a:p>
            <a:pPr marL="22225" eaLnBrk="1" hangingPunct="1">
              <a:spcBef>
                <a:spcPts val="88"/>
              </a:spcBef>
              <a:buSzPct val="57000"/>
              <a:buFont typeface="Wingdings" pitchFamily="2" charset="2"/>
              <a:buChar char=""/>
              <a:tabLst>
                <a:tab pos="220663" algn="l"/>
              </a:tabLst>
              <a:defRPr/>
            </a:pPr>
            <a:endParaRPr lang="en-US" sz="2400" dirty="0"/>
          </a:p>
          <a:p>
            <a:pPr marL="22225" eaLnBrk="1" hangingPunct="1">
              <a:spcBef>
                <a:spcPts val="88"/>
              </a:spcBef>
              <a:buSzPct val="57000"/>
              <a:buFont typeface="Wingdings" pitchFamily="2" charset="2"/>
              <a:buChar char=""/>
              <a:tabLst>
                <a:tab pos="220663" algn="l"/>
              </a:tabLst>
              <a:defRPr/>
            </a:pPr>
            <a:endParaRPr lang="en-US" sz="2400" dirty="0"/>
          </a:p>
          <a:p>
            <a:pPr marL="22225" algn="just" eaLnBrk="1" hangingPunct="1">
              <a:spcBef>
                <a:spcPts val="88"/>
              </a:spcBef>
              <a:buSzPct val="57000"/>
              <a:buFont typeface="Arial" pitchFamily="34" charset="0"/>
              <a:buChar char="•"/>
              <a:tabLst>
                <a:tab pos="220663" algn="l"/>
              </a:tabLst>
              <a:defRPr/>
            </a:pPr>
            <a:r>
              <a:rPr lang="en-US" sz="2200" dirty="0">
                <a:latin typeface="+mj-lt"/>
              </a:rPr>
              <a:t>A parse tree, showing the value(s) of its attribute(s)  is called an </a:t>
            </a:r>
            <a:r>
              <a:rPr lang="en-US" sz="2200" b="1" dirty="0">
                <a:latin typeface="+mj-lt"/>
                <a:cs typeface="Times New Roman" pitchFamily="18" charset="0"/>
              </a:rPr>
              <a:t>annotated parse tree.</a:t>
            </a:r>
          </a:p>
          <a:p>
            <a:pPr marL="22225" algn="just" eaLnBrk="1" hangingPunct="1">
              <a:lnSpc>
                <a:spcPts val="3488"/>
              </a:lnSpc>
              <a:spcBef>
                <a:spcPts val="100"/>
              </a:spcBef>
              <a:buSzPct val="57000"/>
              <a:buFont typeface="Arial" pitchFamily="34" charset="0"/>
              <a:buChar char="•"/>
              <a:tabLst>
                <a:tab pos="220663" algn="l"/>
              </a:tabLst>
              <a:defRPr/>
            </a:pPr>
            <a:r>
              <a:rPr lang="en-US" sz="2200" dirty="0">
                <a:latin typeface="+mj-lt"/>
              </a:rPr>
              <a:t>With synthesized attributes, evaluate attributes in  bottom-up order.</a:t>
            </a:r>
          </a:p>
        </p:txBody>
      </p:sp>
      <p:sp>
        <p:nvSpPr>
          <p:cNvPr id="14344" name="object 4"/>
          <p:cNvSpPr>
            <a:spLocks noChangeArrowheads="1"/>
          </p:cNvSpPr>
          <p:nvPr/>
        </p:nvSpPr>
        <p:spPr bwMode="auto">
          <a:xfrm>
            <a:off x="2057400" y="1295400"/>
            <a:ext cx="6019800" cy="2736850"/>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latin typeface="Calibri" pitchFamily="34" charset="0"/>
            </a:endParaRPr>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29489566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B54EB923-B1D2-4FAA-93CE-A893F51F47FB}"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E7B6A191-9BFB-445B-875F-F34445241246}" type="slidenum">
              <a:rPr lang="en-US"/>
              <a:pPr>
                <a:defRPr/>
              </a:pPr>
              <a:t>131</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10" dirty="0"/>
              <a:t>Synthesized attributes</a:t>
            </a:r>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smtClean="0"/>
              <a:t>Vivek Kumar Sharma              CD Unit -3</a:t>
            </a:r>
            <a:endParaRPr lang="en-US" dirty="0"/>
          </a:p>
        </p:txBody>
      </p:sp>
      <p:sp>
        <p:nvSpPr>
          <p:cNvPr id="15367" name="object 3"/>
          <p:cNvSpPr>
            <a:spLocks noChangeArrowheads="1"/>
          </p:cNvSpPr>
          <p:nvPr/>
        </p:nvSpPr>
        <p:spPr bwMode="auto">
          <a:xfrm>
            <a:off x="457200" y="1600200"/>
            <a:ext cx="8229600" cy="4525963"/>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latin typeface="Calibri" pitchFamily="34" charset="0"/>
            </a:endParaRPr>
          </a:p>
        </p:txBody>
      </p:sp>
      <p:sp>
        <p:nvSpPr>
          <p:cNvPr id="10" name="Rectangle 9"/>
          <p:cNvSpPr/>
          <p:nvPr/>
        </p:nvSpPr>
        <p:spPr>
          <a:xfrm>
            <a:off x="1066800" y="1066800"/>
            <a:ext cx="5029200" cy="430213"/>
          </a:xfrm>
          <a:prstGeom prst="rect">
            <a:avLst/>
          </a:prstGeom>
        </p:spPr>
        <p:txBody>
          <a:bodyPr>
            <a:spAutoFit/>
          </a:bodyPr>
          <a:lstStyle/>
          <a:p>
            <a:pPr fontAlgn="auto">
              <a:spcAft>
                <a:spcPts val="0"/>
              </a:spcAft>
              <a:defRPr/>
            </a:pPr>
            <a:r>
              <a:rPr lang="en-US" sz="2200" spc="-210" dirty="0">
                <a:latin typeface="+mn-lt"/>
                <a:cs typeface="Arial"/>
              </a:rPr>
              <a:t>Annotated Parse Tree of  3*5+4n</a:t>
            </a:r>
            <a:endParaRPr lang="en-US" sz="2200" dirty="0">
              <a:latin typeface="+mn-lt"/>
              <a:cs typeface="Arial" pitchFamily="34"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41940552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FCC8C36-608E-4B98-B946-F344A82EEA83}"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74AD40E8-6208-48A7-A4DE-8D578F0C7400}" type="slidenum">
              <a:rPr lang="en-US"/>
              <a:pPr>
                <a:defRPr/>
              </a:pPr>
              <a:t>132</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Inherited </a:t>
            </a:r>
            <a:r>
              <a:rPr lang="en-US" sz="3200" b="1" spc="-10" dirty="0" smtClean="0"/>
              <a:t>attributes</a:t>
            </a:r>
            <a:endParaRPr lang="en-US" sz="3200" b="1" spc="-1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smtClean="0"/>
              <a:t>Vivek Kumar Sharma              CD Unit -3</a:t>
            </a:r>
            <a:endParaRPr lang="en-US" dirty="0"/>
          </a:p>
        </p:txBody>
      </p:sp>
      <p:sp>
        <p:nvSpPr>
          <p:cNvPr id="11271" name="Content Placeholder 7"/>
          <p:cNvSpPr>
            <a:spLocks noGrp="1"/>
          </p:cNvSpPr>
          <p:nvPr>
            <p:ph idx="1"/>
          </p:nvPr>
        </p:nvSpPr>
        <p:spPr>
          <a:xfrm>
            <a:off x="457200" y="1447800"/>
            <a:ext cx="8229600" cy="4678363"/>
          </a:xfrm>
        </p:spPr>
        <p:txBody>
          <a:bodyPr/>
          <a:lstStyle/>
          <a:p>
            <a:pPr eaLnBrk="1" hangingPunct="1">
              <a:buFont typeface="Arial" pitchFamily="34" charset="0"/>
              <a:buChar char="•"/>
              <a:defRPr/>
            </a:pPr>
            <a:endParaRPr lang="en-US" sz="2400" dirty="0"/>
          </a:p>
          <a:p>
            <a:pPr algn="just" eaLnBrk="1" hangingPunct="1">
              <a:buFont typeface="Arial" pitchFamily="34" charset="0"/>
              <a:buChar char="•"/>
              <a:defRPr/>
            </a:pPr>
            <a:endParaRPr lang="en-US" sz="2200" dirty="0">
              <a:latin typeface="+mj-lt"/>
              <a:cs typeface="Times New Roman" pitchFamily="18" charset="0"/>
            </a:endParaRP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sp>
        <p:nvSpPr>
          <p:cNvPr id="16392" name="object 4"/>
          <p:cNvSpPr>
            <a:spLocks noChangeArrowheads="1"/>
          </p:cNvSpPr>
          <p:nvPr/>
        </p:nvSpPr>
        <p:spPr bwMode="auto">
          <a:xfrm>
            <a:off x="990600" y="1447800"/>
            <a:ext cx="7119938" cy="3070225"/>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latin typeface="Calibri" pitchFamily="34" charset="0"/>
            </a:endParaRPr>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49609905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A2BDAAB-7780-443B-97E9-4D7770DAFC8B}"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8CF49333-29AE-4210-B424-F1DDCC8E8737}" type="slidenum">
              <a:rPr lang="en-US"/>
              <a:pPr>
                <a:defRPr/>
              </a:pPr>
              <a:t>133</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10" dirty="0"/>
              <a:t>Inherited attributes</a:t>
            </a:r>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smtClean="0"/>
              <a:t>Vivek Kumar Sharma              CD Unit -3</a:t>
            </a:r>
            <a:endParaRPr lang="en-US" dirty="0"/>
          </a:p>
        </p:txBody>
      </p:sp>
      <p:sp>
        <p:nvSpPr>
          <p:cNvPr id="11271" name="Content Placeholder 7"/>
          <p:cNvSpPr>
            <a:spLocks noGrp="1"/>
          </p:cNvSpPr>
          <p:nvPr>
            <p:ph idx="1"/>
          </p:nvPr>
        </p:nvSpPr>
        <p:spPr>
          <a:xfrm>
            <a:off x="457200" y="1447800"/>
            <a:ext cx="8229600" cy="4678363"/>
          </a:xfrm>
        </p:spPr>
        <p:txBody>
          <a:bodyPr/>
          <a:lstStyle/>
          <a:p>
            <a:pPr eaLnBrk="1" hangingPunct="1">
              <a:buFont typeface="Arial" pitchFamily="34" charset="0"/>
              <a:buChar char="•"/>
              <a:defRPr/>
            </a:pPr>
            <a:endParaRPr lang="en-US" sz="2400" dirty="0"/>
          </a:p>
          <a:p>
            <a:pPr algn="just" eaLnBrk="1" hangingPunct="1">
              <a:buFont typeface="Arial" pitchFamily="34" charset="0"/>
              <a:buChar char="•"/>
              <a:defRPr/>
            </a:pPr>
            <a:endParaRPr lang="en-US" sz="2200" dirty="0">
              <a:latin typeface="+mj-lt"/>
              <a:cs typeface="Times New Roman" pitchFamily="18" charset="0"/>
            </a:endParaRP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sp>
        <p:nvSpPr>
          <p:cNvPr id="17416" name="object 4"/>
          <p:cNvSpPr>
            <a:spLocks noChangeArrowheads="1"/>
          </p:cNvSpPr>
          <p:nvPr/>
        </p:nvSpPr>
        <p:spPr bwMode="auto">
          <a:xfrm>
            <a:off x="990600" y="1752600"/>
            <a:ext cx="6772275" cy="3262313"/>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latin typeface="Calibri" pitchFamily="34" charset="0"/>
            </a:endParaRPr>
          </a:p>
        </p:txBody>
      </p:sp>
      <p:sp>
        <p:nvSpPr>
          <p:cNvPr id="10" name="Rectangle 9"/>
          <p:cNvSpPr/>
          <p:nvPr/>
        </p:nvSpPr>
        <p:spPr>
          <a:xfrm>
            <a:off x="1295400" y="1066800"/>
            <a:ext cx="5257800" cy="430213"/>
          </a:xfrm>
          <a:prstGeom prst="rect">
            <a:avLst/>
          </a:prstGeom>
        </p:spPr>
        <p:txBody>
          <a:bodyPr>
            <a:spAutoFit/>
          </a:bodyPr>
          <a:lstStyle/>
          <a:p>
            <a:pPr fontAlgn="auto">
              <a:spcAft>
                <a:spcPts val="0"/>
              </a:spcAft>
              <a:defRPr/>
            </a:pPr>
            <a:r>
              <a:rPr lang="en-US" sz="2200" dirty="0">
                <a:latin typeface="+mn-lt"/>
                <a:cs typeface="Arial" pitchFamily="34" charset="0"/>
              </a:rPr>
              <a:t>Annotated parse tree of real id, id, id</a:t>
            </a: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4730714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A2BDAAB-7780-443B-97E9-4D7770DAFC8B}"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8CF49333-29AE-4210-B424-F1DDCC8E8737}" type="slidenum">
              <a:rPr lang="en-US"/>
              <a:pPr>
                <a:defRPr/>
              </a:pPr>
              <a:t>134</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10" dirty="0" smtClean="0"/>
              <a:t>Daily Quiz</a:t>
            </a:r>
            <a:endParaRPr lang="en-US" sz="3200" b="1" spc="-1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smtClean="0"/>
              <a:t>Vivek Kumar Sharma              CD Unit -3</a:t>
            </a:r>
            <a:endParaRPr lang="en-US" dirty="0"/>
          </a:p>
        </p:txBody>
      </p:sp>
      <p:sp>
        <p:nvSpPr>
          <p:cNvPr id="11271" name="Content Placeholder 7"/>
          <p:cNvSpPr>
            <a:spLocks noGrp="1"/>
          </p:cNvSpPr>
          <p:nvPr>
            <p:ph idx="1"/>
          </p:nvPr>
        </p:nvSpPr>
        <p:spPr>
          <a:xfrm>
            <a:off x="457200" y="1447800"/>
            <a:ext cx="8229600" cy="4678363"/>
          </a:xfrm>
        </p:spPr>
        <p:txBody>
          <a:bodyPr/>
          <a:lstStyle/>
          <a:p>
            <a:pPr marL="0" indent="0">
              <a:buNone/>
              <a:defRPr/>
            </a:pPr>
            <a:r>
              <a:rPr lang="en-US" sz="2000" dirty="0" smtClean="0"/>
              <a:t>1</a:t>
            </a:r>
            <a:r>
              <a:rPr lang="en-US" sz="1800" dirty="0" smtClean="0"/>
              <a:t>. </a:t>
            </a:r>
            <a:r>
              <a:rPr lang="en-US" sz="2000" dirty="0" smtClean="0"/>
              <a:t>The </a:t>
            </a:r>
            <a:r>
              <a:rPr lang="en-US" sz="2000" dirty="0"/>
              <a:t>combination of grammar and semantic rules are called </a:t>
            </a:r>
            <a:r>
              <a:rPr lang="en-US" sz="2000" dirty="0" smtClean="0"/>
              <a:t>as:</a:t>
            </a:r>
            <a:endParaRPr lang="en-US" sz="2400" dirty="0" smtClean="0"/>
          </a:p>
          <a:p>
            <a:pPr>
              <a:buFont typeface="Wingdings" panose="05000000000000000000" pitchFamily="2" charset="2"/>
              <a:buChar char="ü"/>
              <a:defRPr/>
            </a:pPr>
            <a:r>
              <a:rPr lang="en-US" sz="1800" dirty="0"/>
              <a:t>Syntax directed </a:t>
            </a:r>
            <a:r>
              <a:rPr lang="en-US" sz="1800" dirty="0" smtClean="0"/>
              <a:t>translation</a:t>
            </a:r>
          </a:p>
          <a:p>
            <a:pPr>
              <a:buFont typeface="Wingdings" panose="05000000000000000000" pitchFamily="2" charset="2"/>
              <a:buChar char="ü"/>
              <a:defRPr/>
            </a:pPr>
            <a:r>
              <a:rPr lang="en-US" sz="1800" dirty="0"/>
              <a:t>semantic directed </a:t>
            </a:r>
            <a:r>
              <a:rPr lang="en-US" sz="1800" dirty="0" smtClean="0"/>
              <a:t>translation</a:t>
            </a:r>
          </a:p>
          <a:p>
            <a:pPr>
              <a:buFont typeface="Wingdings" panose="05000000000000000000" pitchFamily="2" charset="2"/>
              <a:buChar char="ü"/>
              <a:defRPr/>
            </a:pPr>
            <a:r>
              <a:rPr lang="en-US" sz="1800" dirty="0"/>
              <a:t>Syntax </a:t>
            </a:r>
            <a:r>
              <a:rPr lang="en-US" sz="1800" dirty="0" smtClean="0"/>
              <a:t>translator</a:t>
            </a:r>
          </a:p>
          <a:p>
            <a:pPr>
              <a:buFont typeface="Wingdings" panose="05000000000000000000" pitchFamily="2" charset="2"/>
              <a:buChar char="ü"/>
              <a:defRPr/>
            </a:pPr>
            <a:r>
              <a:rPr lang="en-US" sz="1800" dirty="0"/>
              <a:t>None of </a:t>
            </a:r>
            <a:r>
              <a:rPr lang="en-US" sz="1800" dirty="0" smtClean="0"/>
              <a:t>these</a:t>
            </a:r>
          </a:p>
          <a:p>
            <a:pPr marL="0" indent="0">
              <a:buNone/>
              <a:defRPr/>
            </a:pPr>
            <a:endParaRPr lang="en-US" sz="1800" dirty="0"/>
          </a:p>
          <a:p>
            <a:pPr marL="0" indent="0">
              <a:buNone/>
              <a:defRPr/>
            </a:pPr>
            <a:r>
              <a:rPr lang="en-US" sz="1800" dirty="0" smtClean="0"/>
              <a:t>2</a:t>
            </a:r>
            <a:r>
              <a:rPr lang="en-US" sz="1800" dirty="0"/>
              <a:t>. In syntax directed translation, along with the grammar we associate some informal notation are called </a:t>
            </a:r>
            <a:r>
              <a:rPr lang="en-US" sz="1800" dirty="0" smtClean="0"/>
              <a:t>as:</a:t>
            </a:r>
          </a:p>
          <a:p>
            <a:pPr>
              <a:buFont typeface="Wingdings" panose="05000000000000000000" pitchFamily="2" charset="2"/>
              <a:buChar char="ü"/>
              <a:defRPr/>
            </a:pPr>
            <a:r>
              <a:rPr lang="en-US" sz="1800" dirty="0"/>
              <a:t>Semantic </a:t>
            </a:r>
            <a:r>
              <a:rPr lang="en-US" sz="1800" dirty="0" smtClean="0"/>
              <a:t>Rules</a:t>
            </a:r>
          </a:p>
          <a:p>
            <a:pPr>
              <a:buFont typeface="Wingdings" panose="05000000000000000000" pitchFamily="2" charset="2"/>
              <a:buChar char="ü"/>
              <a:defRPr/>
            </a:pPr>
            <a:r>
              <a:rPr lang="en-US" sz="1800" dirty="0"/>
              <a:t>Syntax </a:t>
            </a:r>
            <a:r>
              <a:rPr lang="en-US" sz="1800" dirty="0" smtClean="0"/>
              <a:t>Rules</a:t>
            </a:r>
          </a:p>
          <a:p>
            <a:pPr>
              <a:buFont typeface="Wingdings" panose="05000000000000000000" pitchFamily="2" charset="2"/>
              <a:buChar char="ü"/>
              <a:defRPr/>
            </a:pPr>
            <a:r>
              <a:rPr lang="en-US" sz="1800" dirty="0"/>
              <a:t>parsing  </a:t>
            </a:r>
            <a:r>
              <a:rPr lang="en-US" sz="1800" dirty="0" smtClean="0"/>
              <a:t>Rules</a:t>
            </a:r>
          </a:p>
          <a:p>
            <a:pPr>
              <a:buFont typeface="Wingdings" panose="05000000000000000000" pitchFamily="2" charset="2"/>
              <a:buChar char="ü"/>
              <a:defRPr/>
            </a:pPr>
            <a:r>
              <a:rPr lang="en-US" sz="1800" dirty="0"/>
              <a:t>None of these</a:t>
            </a:r>
          </a:p>
          <a:p>
            <a:pPr algn="just" eaLnBrk="1" hangingPunct="1">
              <a:buFont typeface="Arial" pitchFamily="34" charset="0"/>
              <a:buChar char="•"/>
              <a:defRPr/>
            </a:pPr>
            <a:endParaRPr lang="en-US" sz="2200" dirty="0">
              <a:latin typeface="+mj-lt"/>
              <a:cs typeface="Times New Roman" pitchFamily="18" charset="0"/>
            </a:endParaRP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5384458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A2BDAAB-7780-443B-97E9-4D7770DAFC8B}"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8CF49333-29AE-4210-B424-F1DDCC8E8737}" type="slidenum">
              <a:rPr lang="en-US"/>
              <a:pPr>
                <a:defRPr/>
              </a:pPr>
              <a:t>135</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10" dirty="0" smtClean="0"/>
              <a:t>Daily Quiz</a:t>
            </a:r>
            <a:endParaRPr lang="en-US" sz="3200" b="1" spc="-1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smtClean="0"/>
              <a:t>Vivek Kumar Sharma              CD Unit -3</a:t>
            </a:r>
            <a:endParaRPr lang="en-US" dirty="0"/>
          </a:p>
        </p:txBody>
      </p:sp>
      <p:sp>
        <p:nvSpPr>
          <p:cNvPr id="11271" name="Content Placeholder 7"/>
          <p:cNvSpPr>
            <a:spLocks noGrp="1"/>
          </p:cNvSpPr>
          <p:nvPr>
            <p:ph idx="1"/>
          </p:nvPr>
        </p:nvSpPr>
        <p:spPr>
          <a:xfrm>
            <a:off x="457200" y="1447800"/>
            <a:ext cx="8229600" cy="4678363"/>
          </a:xfrm>
        </p:spPr>
        <p:txBody>
          <a:bodyPr/>
          <a:lstStyle/>
          <a:p>
            <a:pPr>
              <a:buFont typeface="Wingdings" panose="05000000000000000000" pitchFamily="2" charset="2"/>
              <a:buChar char="§"/>
              <a:defRPr/>
            </a:pPr>
            <a:r>
              <a:rPr lang="en-US" sz="2200" dirty="0" smtClean="0">
                <a:latin typeface="+mj-lt"/>
                <a:cs typeface="Times New Roman" pitchFamily="18" charset="0"/>
              </a:rPr>
              <a:t>Which </a:t>
            </a:r>
            <a:r>
              <a:rPr lang="en-US" sz="2200" dirty="0">
                <a:latin typeface="+mj-lt"/>
                <a:cs typeface="Times New Roman" pitchFamily="18" charset="0"/>
              </a:rPr>
              <a:t>mapping is described by the implementation of the syntax-directed translator</a:t>
            </a:r>
            <a:r>
              <a:rPr lang="en-US" sz="2200" dirty="0" smtClean="0">
                <a:latin typeface="+mj-lt"/>
                <a:cs typeface="Times New Roman" pitchFamily="18" charset="0"/>
              </a:rPr>
              <a:t>?</a:t>
            </a:r>
          </a:p>
          <a:p>
            <a:pPr>
              <a:buFont typeface="Wingdings" panose="05000000000000000000" pitchFamily="2" charset="2"/>
              <a:buChar char="ü"/>
              <a:defRPr/>
            </a:pPr>
            <a:r>
              <a:rPr lang="en-US" sz="1800" dirty="0">
                <a:latin typeface="+mj-lt"/>
                <a:cs typeface="Times New Roman" pitchFamily="18" charset="0"/>
              </a:rPr>
              <a:t>Parse </a:t>
            </a:r>
            <a:r>
              <a:rPr lang="en-US" sz="1800" dirty="0" smtClean="0">
                <a:latin typeface="+mj-lt"/>
                <a:cs typeface="Times New Roman" pitchFamily="18" charset="0"/>
              </a:rPr>
              <a:t>table</a:t>
            </a:r>
          </a:p>
          <a:p>
            <a:pPr>
              <a:buFont typeface="Wingdings" panose="05000000000000000000" pitchFamily="2" charset="2"/>
              <a:buChar char="ü"/>
              <a:defRPr/>
            </a:pPr>
            <a:r>
              <a:rPr lang="en-US" sz="1800" dirty="0" smtClean="0">
                <a:latin typeface="+mj-lt"/>
                <a:cs typeface="Times New Roman" pitchFamily="18" charset="0"/>
              </a:rPr>
              <a:t>Input</a:t>
            </a:r>
          </a:p>
          <a:p>
            <a:pPr>
              <a:buFont typeface="Wingdings" panose="05000000000000000000" pitchFamily="2" charset="2"/>
              <a:buChar char="ü"/>
              <a:defRPr/>
            </a:pPr>
            <a:r>
              <a:rPr lang="en-US" sz="1800" dirty="0" smtClean="0">
                <a:latin typeface="+mj-lt"/>
                <a:cs typeface="Times New Roman" pitchFamily="18" charset="0"/>
              </a:rPr>
              <a:t>Output</a:t>
            </a:r>
          </a:p>
          <a:p>
            <a:pPr>
              <a:buFont typeface="Wingdings" panose="05000000000000000000" pitchFamily="2" charset="2"/>
              <a:buChar char="ü"/>
              <a:defRPr/>
            </a:pPr>
            <a:r>
              <a:rPr lang="en-US" sz="1800" dirty="0">
                <a:latin typeface="+mj-lt"/>
                <a:cs typeface="Times New Roman" pitchFamily="18" charset="0"/>
              </a:rPr>
              <a:t>Input-Output</a:t>
            </a:r>
          </a:p>
          <a:p>
            <a:pPr marL="355600" algn="just" eaLnBrk="1" hangingPunct="1">
              <a:lnSpc>
                <a:spcPct val="130000"/>
              </a:lnSpc>
              <a:spcBef>
                <a:spcPts val="600"/>
              </a:spcBef>
              <a:buFont typeface="Arial" pitchFamily="34" charset="0"/>
              <a:buChar char="•"/>
              <a:tabLst>
                <a:tab pos="355600" algn="l"/>
              </a:tabLst>
              <a:defRPr/>
            </a:pPr>
            <a:endParaRPr lang="en-US" sz="2200" dirty="0">
              <a:latin typeface="+mj-lt"/>
              <a:cs typeface="Tahoma" pitchFamily="34" charset="0"/>
            </a:endParaRP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93289687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algn="just">
              <a:defRPr/>
            </a:pPr>
            <a:r>
              <a:rPr lang="en-US" sz="2400" spc="-5" dirty="0">
                <a:cs typeface="Times New Roman"/>
              </a:rPr>
              <a:t>An SDD </a:t>
            </a:r>
            <a:r>
              <a:rPr lang="en-US" sz="2400" dirty="0">
                <a:cs typeface="Times New Roman"/>
              </a:rPr>
              <a:t>that involves only synthesized attributes </a:t>
            </a:r>
            <a:r>
              <a:rPr lang="en-US" sz="2400" spc="-5" dirty="0">
                <a:cs typeface="Times New Roman"/>
              </a:rPr>
              <a:t>is </a:t>
            </a:r>
            <a:r>
              <a:rPr lang="en-US" sz="2400" dirty="0">
                <a:cs typeface="Times New Roman"/>
              </a:rPr>
              <a:t>called</a:t>
            </a:r>
            <a:r>
              <a:rPr lang="en-US" sz="2400" spc="-145" dirty="0">
                <a:cs typeface="Times New Roman"/>
              </a:rPr>
              <a:t> </a:t>
            </a:r>
            <a:r>
              <a:rPr lang="en-US" sz="2400" b="1" dirty="0">
                <a:cs typeface="Times New Roman"/>
              </a:rPr>
              <a:t>S-attributed</a:t>
            </a:r>
          </a:p>
          <a:p>
            <a:pPr algn="just">
              <a:defRPr/>
            </a:pPr>
            <a:r>
              <a:rPr lang="en-US" sz="2400" spc="-5" dirty="0">
                <a:cs typeface="Times New Roman"/>
              </a:rPr>
              <a:t>An SDD </a:t>
            </a:r>
            <a:r>
              <a:rPr lang="en-US" sz="2400" dirty="0">
                <a:cs typeface="Times New Roman"/>
              </a:rPr>
              <a:t>that involves only inherit attributes </a:t>
            </a:r>
            <a:r>
              <a:rPr lang="en-US" sz="2400" spc="-5" dirty="0">
                <a:cs typeface="Times New Roman"/>
              </a:rPr>
              <a:t>is </a:t>
            </a:r>
            <a:r>
              <a:rPr lang="en-US" sz="2400" dirty="0">
                <a:cs typeface="Times New Roman"/>
              </a:rPr>
              <a:t>called</a:t>
            </a:r>
            <a:r>
              <a:rPr lang="en-US" sz="2400" spc="-145" dirty="0">
                <a:cs typeface="Times New Roman"/>
              </a:rPr>
              <a:t> L</a:t>
            </a:r>
            <a:r>
              <a:rPr lang="en-US" sz="2400" b="1" dirty="0">
                <a:cs typeface="Times New Roman"/>
              </a:rPr>
              <a:t>-attributed</a:t>
            </a:r>
          </a:p>
          <a:p>
            <a:pPr algn="just">
              <a:defRPr/>
            </a:pPr>
            <a:r>
              <a:rPr lang="en-US" sz="2400" dirty="0"/>
              <a:t>A parse tree, showing the value(s) of its attribute(s)  is called an </a:t>
            </a:r>
            <a:r>
              <a:rPr lang="en-US" sz="2400" b="1" dirty="0">
                <a:cs typeface="Times New Roman" pitchFamily="18" charset="0"/>
              </a:rPr>
              <a:t>annotated parse tree</a:t>
            </a:r>
            <a:endParaRPr lang="en-US" sz="2400" b="1" dirty="0">
              <a:cs typeface="Times New Roman"/>
            </a:endParaRPr>
          </a:p>
          <a:p>
            <a:pPr algn="just"/>
            <a:endParaRPr lang="en-US" sz="2400" b="1" dirty="0">
              <a:cs typeface="Tahoma" pitchFamily="34" charset="0"/>
            </a:endParaRPr>
          </a:p>
          <a:p>
            <a:pPr algn="just"/>
            <a:endParaRPr lang="en-US" sz="2400" dirty="0"/>
          </a:p>
          <a:p>
            <a:pPr eaLnBrk="1" hangingPunct="1">
              <a:buFont typeface="Arial" charset="0"/>
              <a:buNone/>
            </a:pPr>
            <a:endParaRPr lang="en-US" sz="2400" dirty="0"/>
          </a:p>
        </p:txBody>
      </p:sp>
      <p:sp>
        <p:nvSpPr>
          <p:cNvPr id="4" name="Date Placeholder 3"/>
          <p:cNvSpPr>
            <a:spLocks noGrp="1"/>
          </p:cNvSpPr>
          <p:nvPr>
            <p:ph type="dt" sz="quarter" idx="10"/>
          </p:nvPr>
        </p:nvSpPr>
        <p:spPr/>
        <p:txBody>
          <a:bodyPr/>
          <a:lstStyle/>
          <a:p>
            <a:pPr>
              <a:defRPr/>
            </a:pPr>
            <a:fld id="{4655FD8E-6C46-48ED-B009-67FD5C585354}"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136</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Recap</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smtClean="0"/>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8752866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marL="457200" indent="-457200">
              <a:buFont typeface="+mj-lt"/>
              <a:buAutoNum type="arabicPeriod"/>
            </a:pPr>
            <a:r>
              <a:rPr lang="en-US" sz="2400" dirty="0">
                <a:ea typeface="Calibri"/>
                <a:cs typeface="Times New Roman"/>
              </a:rPr>
              <a:t>Introduce students to the concepts of syntax directed translation </a:t>
            </a:r>
          </a:p>
          <a:p>
            <a:pPr marL="457200" indent="-457200">
              <a:buFont typeface="+mj-lt"/>
              <a:buAutoNum type="arabicPeriod"/>
            </a:pPr>
            <a:r>
              <a:rPr lang="en-US" sz="2400" dirty="0"/>
              <a:t>Example of evaluating the SDT with the help of attributes </a:t>
            </a:r>
          </a:p>
        </p:txBody>
      </p:sp>
      <p:sp>
        <p:nvSpPr>
          <p:cNvPr id="4" name="Date Placeholder 3"/>
          <p:cNvSpPr>
            <a:spLocks noGrp="1"/>
          </p:cNvSpPr>
          <p:nvPr>
            <p:ph type="dt" sz="quarter" idx="10"/>
          </p:nvPr>
        </p:nvSpPr>
        <p:spPr/>
        <p:txBody>
          <a:bodyPr/>
          <a:lstStyle/>
          <a:p>
            <a:pPr>
              <a:defRPr/>
            </a:pPr>
            <a:fld id="{00A592D5-ECE3-46EE-B549-CEF64931FE7A}"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137</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Topic </a:t>
            </a:r>
            <a:r>
              <a:rPr lang="en-US" sz="3200" b="1" dirty="0" smtClean="0"/>
              <a:t>Objective</a:t>
            </a:r>
            <a:endParaRPr lang="en-US" sz="3200" b="1" dirty="0"/>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smtClean="0"/>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25728386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457200" y="1066800"/>
            <a:ext cx="8229600" cy="5059363"/>
          </a:xfrm>
        </p:spPr>
        <p:txBody>
          <a:bodyPr/>
          <a:lstStyle/>
          <a:p>
            <a:pPr>
              <a:buFont typeface="Arial" charset="0"/>
              <a:buNone/>
            </a:pPr>
            <a:r>
              <a:rPr lang="en-US" sz="2200" b="1"/>
              <a:t>    Production			Semantic Actions</a:t>
            </a:r>
          </a:p>
          <a:p>
            <a:r>
              <a:rPr lang="en-US" sz="2200"/>
              <a:t>S</a:t>
            </a:r>
            <a:r>
              <a:rPr lang="en-US" sz="2200">
                <a:sym typeface="Symbol" pitchFamily="18" charset="2"/>
              </a:rPr>
              <a:t> E$		{print val[Top]}</a:t>
            </a:r>
            <a:endParaRPr lang="en-US" sz="2200"/>
          </a:p>
          <a:p>
            <a:r>
              <a:rPr lang="en-US" sz="2200"/>
              <a:t>E</a:t>
            </a:r>
            <a:r>
              <a:rPr lang="en-US" sz="2200">
                <a:sym typeface="Symbol" pitchFamily="18" charset="2"/>
              </a:rPr>
              <a:t>E+E		{val[Top]}= val[Top-1]+ val[Top]}</a:t>
            </a:r>
          </a:p>
          <a:p>
            <a:r>
              <a:rPr lang="en-US" sz="2200"/>
              <a:t>E</a:t>
            </a:r>
            <a:r>
              <a:rPr lang="en-US" sz="2200">
                <a:sym typeface="Symbol" pitchFamily="18" charset="2"/>
              </a:rPr>
              <a:t>E*E 		{val[Top]}= val[Top-1]* val[Top]}</a:t>
            </a:r>
          </a:p>
          <a:p>
            <a:r>
              <a:rPr lang="en-US" sz="2200"/>
              <a:t>E</a:t>
            </a:r>
            <a:r>
              <a:rPr lang="en-US" sz="2200">
                <a:sym typeface="Symbol" pitchFamily="18" charset="2"/>
              </a:rPr>
              <a:t>I			{ }</a:t>
            </a:r>
          </a:p>
          <a:p>
            <a:r>
              <a:rPr lang="en-US" sz="2200">
                <a:sym typeface="Symbol" pitchFamily="18" charset="2"/>
              </a:rPr>
              <a:t>II.digit		{val[Top]}= val[Top-1]*10+lex.val}</a:t>
            </a:r>
            <a:endParaRPr lang="en-US" sz="2200"/>
          </a:p>
          <a:p>
            <a:r>
              <a:rPr lang="en-US" sz="2200">
                <a:sym typeface="Symbol" pitchFamily="18" charset="2"/>
              </a:rPr>
              <a:t>Idigit		 {val[Top]}= val[Top]=lex.val}</a:t>
            </a:r>
            <a:endParaRPr lang="en-US" sz="2200"/>
          </a:p>
        </p:txBody>
      </p:sp>
      <p:sp>
        <p:nvSpPr>
          <p:cNvPr id="4"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Implementation of desk </a:t>
            </a:r>
            <a:r>
              <a:rPr lang="en-US" sz="3200" b="1" spc="-10" dirty="0" smtClean="0"/>
              <a:t>calculator</a:t>
            </a:r>
            <a:endParaRPr lang="en-US" sz="3200" b="1" spc="-10" dirty="0"/>
          </a:p>
        </p:txBody>
      </p:sp>
      <p:sp>
        <p:nvSpPr>
          <p:cNvPr id="5" name="Date Placeholder 4"/>
          <p:cNvSpPr>
            <a:spLocks noGrp="1"/>
          </p:cNvSpPr>
          <p:nvPr>
            <p:ph type="dt" sz="half" idx="10"/>
          </p:nvPr>
        </p:nvSpPr>
        <p:spPr/>
        <p:txBody>
          <a:bodyPr/>
          <a:lstStyle/>
          <a:p>
            <a:fld id="{735A10C4-7CAD-45F4-914F-EB545A6BB9A1}"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138</a:t>
            </a:fld>
            <a:endParaRPr lang="en-US"/>
          </a:p>
        </p:txBody>
      </p:sp>
      <p:sp>
        <p:nvSpPr>
          <p:cNvPr id="7" name="Footer Placeholder 6"/>
          <p:cNvSpPr>
            <a:spLocks noGrp="1"/>
          </p:cNvSpPr>
          <p:nvPr>
            <p:ph type="ftr" sz="quarter" idx="11"/>
          </p:nvPr>
        </p:nvSpPr>
        <p:spPr>
          <a:xfrm>
            <a:off x="3124200" y="6356350"/>
            <a:ext cx="3733800" cy="365125"/>
          </a:xfrm>
        </p:spPr>
        <p:txBody>
          <a:bodyPr/>
          <a:lstStyle/>
          <a:p>
            <a:r>
              <a:rPr lang="it-IT" smtClean="0"/>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7086776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457200" y="1066800"/>
            <a:ext cx="8229600" cy="5059363"/>
          </a:xfrm>
        </p:spPr>
        <p:txBody>
          <a:bodyPr>
            <a:normAutofit fontScale="85000" lnSpcReduction="20000"/>
          </a:bodyPr>
          <a:lstStyle/>
          <a:p>
            <a:pPr algn="just"/>
            <a:r>
              <a:rPr lang="en-US" sz="2200" b="1" dirty="0"/>
              <a:t> </a:t>
            </a:r>
            <a:r>
              <a:rPr lang="en-US" dirty="0" smtClean="0">
                <a:solidFill>
                  <a:srgbClr val="FF0000"/>
                </a:solidFill>
              </a:rPr>
              <a:t>Design </a:t>
            </a:r>
            <a:r>
              <a:rPr lang="en-US" dirty="0">
                <a:solidFill>
                  <a:srgbClr val="FF0000"/>
                </a:solidFill>
              </a:rPr>
              <a:t>and implement a desk calculator that can perform basic arithmetic operations (+, -, *, /) and handle parentheses for precedence.</a:t>
            </a:r>
          </a:p>
          <a:p>
            <a:r>
              <a:rPr lang="en-US" b="1" dirty="0"/>
              <a:t>Solution Approach:</a:t>
            </a:r>
          </a:p>
          <a:p>
            <a:r>
              <a:rPr lang="en-US" b="1" dirty="0"/>
              <a:t>Understanding Requirements</a:t>
            </a:r>
            <a:r>
              <a:rPr lang="en-US" dirty="0"/>
              <a:t>:</a:t>
            </a:r>
          </a:p>
          <a:p>
            <a:pPr lvl="1"/>
            <a:r>
              <a:rPr lang="en-US" dirty="0"/>
              <a:t>The calculator should handle basic arithmetic operations: addition (+), subtraction (-), multiplication (*), and division (/).</a:t>
            </a:r>
          </a:p>
          <a:p>
            <a:pPr lvl="1"/>
            <a:r>
              <a:rPr lang="en-US" dirty="0"/>
              <a:t>It should respect operator precedence, where multiplication and division take precedence over addition and subtraction.</a:t>
            </a:r>
          </a:p>
          <a:p>
            <a:pPr lvl="1"/>
            <a:r>
              <a:rPr lang="en-US" dirty="0"/>
              <a:t>Parentheses should be used to enforce precedence.</a:t>
            </a:r>
          </a:p>
          <a:p>
            <a:r>
              <a:rPr lang="en-US" b="1" dirty="0"/>
              <a:t>Example Calculation</a:t>
            </a:r>
            <a:r>
              <a:rPr lang="en-US" dirty="0"/>
              <a:t>: Consider the expression: 2+3∗(4−1)2 + 3 * (4 - 1)2+3∗(4−1).</a:t>
            </a:r>
          </a:p>
          <a:p>
            <a:r>
              <a:rPr lang="en-US" b="1" dirty="0"/>
              <a:t>Step-by-Step Evaluation</a:t>
            </a:r>
            <a:r>
              <a:rPr lang="en-US" dirty="0"/>
              <a:t>:</a:t>
            </a:r>
          </a:p>
          <a:p>
            <a:pPr lvl="1"/>
            <a:r>
              <a:rPr lang="en-US" dirty="0"/>
              <a:t>Evaluate inside the parentheses first: 4−1=34 - 1 = 34−1=3.</a:t>
            </a:r>
          </a:p>
          <a:p>
            <a:pPr lvl="1"/>
            <a:r>
              <a:rPr lang="en-US" dirty="0"/>
              <a:t>Substitute back into the expression: 2+3∗32 + 3 * 32+3∗3.</a:t>
            </a:r>
          </a:p>
          <a:p>
            <a:pPr lvl="1"/>
            <a:r>
              <a:rPr lang="en-US" dirty="0"/>
              <a:t>Perform multiplication first: 3∗3=93 * 3 = 93∗3=9.</a:t>
            </a:r>
          </a:p>
          <a:p>
            <a:pPr lvl="1"/>
            <a:r>
              <a:rPr lang="en-US" dirty="0"/>
              <a:t>Add the result to 2: 2+9=112 + 9 = 112+9=11.</a:t>
            </a:r>
          </a:p>
          <a:p>
            <a:r>
              <a:rPr lang="en-US" b="1" dirty="0"/>
              <a:t>Execution Strategy</a:t>
            </a:r>
            <a:r>
              <a:rPr lang="en-US" dirty="0"/>
              <a:t>:</a:t>
            </a:r>
          </a:p>
          <a:p>
            <a:pPr lvl="1"/>
            <a:r>
              <a:rPr lang="en-US" dirty="0"/>
              <a:t>Start from left to right, respecting parentheses and operator precedence.</a:t>
            </a:r>
          </a:p>
          <a:p>
            <a:pPr lvl="1"/>
            <a:r>
              <a:rPr lang="en-US" dirty="0"/>
              <a:t>Use a separate line or space for each step of calculation to maintain clarity.</a:t>
            </a:r>
          </a:p>
          <a:p>
            <a:r>
              <a:rPr lang="en-US" b="1" dirty="0"/>
              <a:t>Handling Errors</a:t>
            </a:r>
            <a:r>
              <a:rPr lang="en-US" dirty="0"/>
              <a:t>:</a:t>
            </a:r>
          </a:p>
          <a:p>
            <a:pPr lvl="1"/>
            <a:r>
              <a:rPr lang="en-US" dirty="0"/>
              <a:t>Ensure division by zero is not attempted.</a:t>
            </a:r>
          </a:p>
          <a:p>
            <a:pPr lvl="1"/>
            <a:r>
              <a:rPr lang="en-US" dirty="0"/>
              <a:t>Recognize and correct input errors like missing operators or parentheses.</a:t>
            </a:r>
          </a:p>
        </p:txBody>
      </p:sp>
      <p:sp>
        <p:nvSpPr>
          <p:cNvPr id="4"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Implementation of desk </a:t>
            </a:r>
            <a:r>
              <a:rPr lang="en-US" sz="3200" b="1" spc="-10" dirty="0" smtClean="0"/>
              <a:t>calculator</a:t>
            </a:r>
            <a:endParaRPr lang="en-US" sz="3200" b="1" spc="-10" dirty="0"/>
          </a:p>
        </p:txBody>
      </p:sp>
      <p:sp>
        <p:nvSpPr>
          <p:cNvPr id="5" name="Date Placeholder 4"/>
          <p:cNvSpPr>
            <a:spLocks noGrp="1"/>
          </p:cNvSpPr>
          <p:nvPr>
            <p:ph type="dt" sz="half" idx="10"/>
          </p:nvPr>
        </p:nvSpPr>
        <p:spPr/>
        <p:txBody>
          <a:bodyPr/>
          <a:lstStyle/>
          <a:p>
            <a:fld id="{735A10C4-7CAD-45F4-914F-EB545A6BB9A1}"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139</a:t>
            </a:fld>
            <a:endParaRPr lang="en-US"/>
          </a:p>
        </p:txBody>
      </p:sp>
      <p:sp>
        <p:nvSpPr>
          <p:cNvPr id="7" name="Footer Placeholder 6"/>
          <p:cNvSpPr>
            <a:spLocks noGrp="1"/>
          </p:cNvSpPr>
          <p:nvPr>
            <p:ph type="ftr" sz="quarter" idx="11"/>
          </p:nvPr>
        </p:nvSpPr>
        <p:spPr>
          <a:xfrm>
            <a:off x="3124200" y="6356350"/>
            <a:ext cx="3733800" cy="365125"/>
          </a:xfrm>
        </p:spPr>
        <p:txBody>
          <a:bodyPr/>
          <a:lstStyle/>
          <a:p>
            <a:r>
              <a:rPr lang="it-IT" smtClean="0"/>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2524373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457200" y="1066800"/>
            <a:ext cx="8229600" cy="5059363"/>
          </a:xfrm>
        </p:spPr>
        <p:txBody>
          <a:bodyPr>
            <a:normAutofit/>
          </a:bodyPr>
          <a:lstStyle/>
          <a:p>
            <a:r>
              <a:rPr lang="en-US" sz="2000" b="1" dirty="0"/>
              <a:t>Example Calculation:</a:t>
            </a:r>
          </a:p>
          <a:p>
            <a:r>
              <a:rPr lang="en-US" sz="2000" dirty="0"/>
              <a:t>Given the expression 2+3∗(4</a:t>
            </a:r>
            <a:r>
              <a:rPr lang="en-US" sz="2000" dirty="0" smtClean="0"/>
              <a:t>−1), </a:t>
            </a:r>
            <a:r>
              <a:rPr lang="en-US" sz="2000" dirty="0"/>
              <a:t>follow these steps:</a:t>
            </a:r>
          </a:p>
          <a:p>
            <a:r>
              <a:rPr lang="en-US" sz="2000" dirty="0"/>
              <a:t>Compute 4−</a:t>
            </a:r>
            <a:r>
              <a:rPr lang="en-US" sz="2000" dirty="0" smtClean="0"/>
              <a:t>1</a:t>
            </a:r>
          </a:p>
          <a:p>
            <a:r>
              <a:rPr lang="en-US" sz="2000" dirty="0" smtClean="0"/>
              <a:t>               4</a:t>
            </a:r>
            <a:r>
              <a:rPr lang="en-US" sz="2000" dirty="0"/>
              <a:t>−</a:t>
            </a:r>
            <a:r>
              <a:rPr lang="en-US" sz="2000" dirty="0" smtClean="0"/>
              <a:t>1=3</a:t>
            </a:r>
          </a:p>
          <a:p>
            <a:r>
              <a:rPr lang="en-US" sz="2000" dirty="0" smtClean="0"/>
              <a:t>Substitute </a:t>
            </a:r>
            <a:r>
              <a:rPr lang="en-US" sz="2000" dirty="0"/>
              <a:t>into the original expression:</a:t>
            </a:r>
          </a:p>
          <a:p>
            <a:r>
              <a:rPr lang="en-US" sz="2000" dirty="0" smtClean="0"/>
              <a:t>               2+3</a:t>
            </a:r>
            <a:r>
              <a:rPr lang="en-US" sz="2000" dirty="0"/>
              <a:t>∗</a:t>
            </a:r>
            <a:r>
              <a:rPr lang="en-US" sz="2000" dirty="0" smtClean="0"/>
              <a:t>3</a:t>
            </a:r>
          </a:p>
          <a:p>
            <a:r>
              <a:rPr lang="en-US" sz="2000" dirty="0" smtClean="0"/>
              <a:t>Perform </a:t>
            </a:r>
            <a:r>
              <a:rPr lang="en-US" sz="2000" dirty="0"/>
              <a:t>multiplication:</a:t>
            </a:r>
          </a:p>
          <a:p>
            <a:r>
              <a:rPr lang="en-US" sz="2000" dirty="0" smtClean="0"/>
              <a:t>                 3</a:t>
            </a:r>
            <a:r>
              <a:rPr lang="en-US" sz="2000" dirty="0"/>
              <a:t>∗</a:t>
            </a:r>
            <a:r>
              <a:rPr lang="en-US" sz="2000" dirty="0" smtClean="0"/>
              <a:t>3=9</a:t>
            </a:r>
          </a:p>
          <a:p>
            <a:r>
              <a:rPr lang="en-US" sz="2000" dirty="0" smtClean="0"/>
              <a:t>Add </a:t>
            </a:r>
            <a:r>
              <a:rPr lang="en-US" sz="2000" dirty="0"/>
              <a:t>to the initial number:</a:t>
            </a:r>
          </a:p>
          <a:p>
            <a:r>
              <a:rPr lang="en-US" sz="2000" dirty="0" smtClean="0"/>
              <a:t>                2+9=11</a:t>
            </a:r>
            <a:endParaRPr lang="en-US" sz="2000" dirty="0"/>
          </a:p>
        </p:txBody>
      </p:sp>
      <p:sp>
        <p:nvSpPr>
          <p:cNvPr id="4"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Implementation of desk </a:t>
            </a:r>
            <a:r>
              <a:rPr lang="en-US" sz="3200" b="1" spc="-10" dirty="0" smtClean="0"/>
              <a:t>calculator</a:t>
            </a:r>
            <a:endParaRPr lang="en-US" sz="3200" b="1" spc="-10" dirty="0"/>
          </a:p>
        </p:txBody>
      </p:sp>
      <p:sp>
        <p:nvSpPr>
          <p:cNvPr id="5" name="Date Placeholder 4"/>
          <p:cNvSpPr>
            <a:spLocks noGrp="1"/>
          </p:cNvSpPr>
          <p:nvPr>
            <p:ph type="dt" sz="half" idx="10"/>
          </p:nvPr>
        </p:nvSpPr>
        <p:spPr/>
        <p:txBody>
          <a:bodyPr/>
          <a:lstStyle/>
          <a:p>
            <a:fld id="{735A10C4-7CAD-45F4-914F-EB545A6BB9A1}"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140</a:t>
            </a:fld>
            <a:endParaRPr lang="en-US"/>
          </a:p>
        </p:txBody>
      </p:sp>
      <p:sp>
        <p:nvSpPr>
          <p:cNvPr id="7" name="Footer Placeholder 6"/>
          <p:cNvSpPr>
            <a:spLocks noGrp="1"/>
          </p:cNvSpPr>
          <p:nvPr>
            <p:ph type="ftr" sz="quarter" idx="11"/>
          </p:nvPr>
        </p:nvSpPr>
        <p:spPr>
          <a:xfrm>
            <a:off x="3124200" y="6356350"/>
            <a:ext cx="3733800" cy="365125"/>
          </a:xfrm>
        </p:spPr>
        <p:txBody>
          <a:bodyPr/>
          <a:lstStyle/>
          <a:p>
            <a:r>
              <a:rPr lang="it-IT" smtClean="0"/>
              <a:t>Vivek Kumar Sharma              CD Unit -3</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54091826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algn="just">
              <a:defRPr/>
            </a:pPr>
            <a:r>
              <a:rPr lang="en-US" sz="2400" spc="-5" dirty="0">
                <a:cs typeface="Times New Roman"/>
              </a:rPr>
              <a:t>Implementation of desk Calculator</a:t>
            </a:r>
            <a:endParaRPr lang="en-US" sz="2400" b="1" dirty="0">
              <a:cs typeface="Times New Roman"/>
            </a:endParaRPr>
          </a:p>
          <a:p>
            <a:pPr algn="just"/>
            <a:endParaRPr lang="en-US" sz="2400" b="1" dirty="0">
              <a:cs typeface="Tahoma" pitchFamily="34" charset="0"/>
            </a:endParaRPr>
          </a:p>
          <a:p>
            <a:pPr algn="just"/>
            <a:endParaRPr lang="en-US" sz="2400" dirty="0"/>
          </a:p>
          <a:p>
            <a:pPr eaLnBrk="1" hangingPunct="1">
              <a:buFont typeface="Arial" charset="0"/>
              <a:buNone/>
            </a:pPr>
            <a:endParaRPr lang="en-US" sz="2400" dirty="0"/>
          </a:p>
        </p:txBody>
      </p:sp>
      <p:sp>
        <p:nvSpPr>
          <p:cNvPr id="4" name="Date Placeholder 3"/>
          <p:cNvSpPr>
            <a:spLocks noGrp="1"/>
          </p:cNvSpPr>
          <p:nvPr>
            <p:ph type="dt" sz="quarter" idx="10"/>
          </p:nvPr>
        </p:nvSpPr>
        <p:spPr/>
        <p:txBody>
          <a:bodyPr/>
          <a:lstStyle/>
          <a:p>
            <a:pPr>
              <a:defRPr/>
            </a:pPr>
            <a:fld id="{EBB1EC10-A1EB-404E-A274-80DB22ECF749}"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141</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Recap</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smtClean="0"/>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8693646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marL="457200" indent="-457200">
              <a:buFont typeface="+mj-lt"/>
              <a:buAutoNum type="arabicPeriod"/>
            </a:pPr>
            <a:r>
              <a:rPr lang="en-US" sz="2400" dirty="0">
                <a:ea typeface="Calibri"/>
                <a:cs typeface="Times New Roman"/>
              </a:rPr>
              <a:t>Introduce students to the concepts of intermediate code generation </a:t>
            </a:r>
          </a:p>
          <a:p>
            <a:pPr marL="457200" indent="-457200">
              <a:buFont typeface="+mj-lt"/>
              <a:buAutoNum type="arabicPeriod"/>
            </a:pPr>
            <a:r>
              <a:rPr lang="en-US" sz="2400" dirty="0">
                <a:cs typeface="Times New Roman"/>
              </a:rPr>
              <a:t>Very useful in the concept of how high level program is stored in address form</a:t>
            </a:r>
            <a:endParaRPr lang="en-US" sz="2400" dirty="0"/>
          </a:p>
        </p:txBody>
      </p:sp>
      <p:sp>
        <p:nvSpPr>
          <p:cNvPr id="4" name="Date Placeholder 3"/>
          <p:cNvSpPr>
            <a:spLocks noGrp="1"/>
          </p:cNvSpPr>
          <p:nvPr>
            <p:ph type="dt" sz="quarter" idx="10"/>
          </p:nvPr>
        </p:nvSpPr>
        <p:spPr/>
        <p:txBody>
          <a:bodyPr/>
          <a:lstStyle/>
          <a:p>
            <a:pPr>
              <a:defRPr/>
            </a:pPr>
            <a:fld id="{83ABA551-6941-4B96-B12C-8DB5F9FB7C6C}"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142</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Topic </a:t>
            </a:r>
            <a:r>
              <a:rPr lang="en-US" sz="3200" b="1" dirty="0" smtClean="0"/>
              <a:t>Objective</a:t>
            </a:r>
            <a:endParaRPr lang="en-US" sz="3200" b="1" dirty="0"/>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smtClean="0"/>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06913810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Content Placeholder 2"/>
          <p:cNvSpPr>
            <a:spLocks noGrp="1"/>
          </p:cNvSpPr>
          <p:nvPr>
            <p:ph idx="1"/>
          </p:nvPr>
        </p:nvSpPr>
        <p:spPr/>
        <p:txBody>
          <a:bodyPr/>
          <a:lstStyle/>
          <a:p>
            <a:pPr marL="355600" algn="just" eaLnBrk="1" hangingPunct="1">
              <a:lnSpc>
                <a:spcPts val="2588"/>
              </a:lnSpc>
              <a:spcBef>
                <a:spcPts val="425"/>
              </a:spcBef>
              <a:buSzPct val="60000"/>
              <a:buFont typeface="Arial" pitchFamily="34" charset="0"/>
              <a:buChar char="•"/>
              <a:tabLst>
                <a:tab pos="354013" algn="l"/>
                <a:tab pos="355600" algn="l"/>
              </a:tabLst>
            </a:pPr>
            <a:r>
              <a:rPr lang="en-US" sz="2200" dirty="0">
                <a:cs typeface="Times New Roman" pitchFamily="18" charset="0"/>
              </a:rPr>
              <a:t>Front end of a compiler is efficient and can be automated</a:t>
            </a:r>
          </a:p>
          <a:p>
            <a:pPr marL="355600" algn="just" eaLnBrk="1" hangingPunct="1">
              <a:lnSpc>
                <a:spcPts val="2588"/>
              </a:lnSpc>
              <a:spcBef>
                <a:spcPts val="500"/>
              </a:spcBef>
              <a:buSzPct val="60000"/>
              <a:buFont typeface="Arial" pitchFamily="34" charset="0"/>
              <a:buChar char="•"/>
              <a:tabLst>
                <a:tab pos="354013" algn="l"/>
                <a:tab pos="355600" algn="l"/>
              </a:tabLst>
            </a:pPr>
            <a:r>
              <a:rPr lang="en-US" sz="2200" dirty="0">
                <a:cs typeface="Times New Roman" pitchFamily="18" charset="0"/>
              </a:rPr>
              <a:t>Back end is generally hard to automate and finding the  optimum solution requires exponential time</a:t>
            </a:r>
          </a:p>
          <a:p>
            <a:pPr marL="355600" algn="just" eaLnBrk="1" hangingPunct="1">
              <a:lnSpc>
                <a:spcPts val="2588"/>
              </a:lnSpc>
              <a:spcBef>
                <a:spcPts val="513"/>
              </a:spcBef>
              <a:buSzPct val="60000"/>
              <a:buFont typeface="Arial" pitchFamily="34" charset="0"/>
              <a:buChar char="•"/>
              <a:tabLst>
                <a:tab pos="354013" algn="l"/>
                <a:tab pos="355600" algn="l"/>
              </a:tabLst>
            </a:pPr>
            <a:r>
              <a:rPr lang="en-US" sz="2200" dirty="0">
                <a:cs typeface="Times New Roman" pitchFamily="18" charset="0"/>
              </a:rPr>
              <a:t>Intermediate code generation can affect the  performance of the back end</a:t>
            </a:r>
          </a:p>
          <a:p>
            <a:pPr marL="355600" algn="just" eaLnBrk="1" hangingPunct="1">
              <a:spcBef>
                <a:spcPts val="100"/>
              </a:spcBef>
              <a:buSzPct val="60000"/>
              <a:buFont typeface="Arial" pitchFamily="34" charset="0"/>
              <a:buChar char="•"/>
              <a:tabLst>
                <a:tab pos="354013" algn="l"/>
                <a:tab pos="355600" algn="l"/>
              </a:tabLst>
            </a:pPr>
            <a:r>
              <a:rPr lang="en-US" sz="2200" dirty="0">
                <a:cs typeface="Times New Roman" pitchFamily="18" charset="0"/>
              </a:rPr>
              <a:t>Goal: Generate a Machine Independent  Intermediate Form that is Suitable for Optimization  and Portability</a:t>
            </a:r>
          </a:p>
          <a:p>
            <a:pPr marL="355600" algn="just" eaLnBrk="1" hangingPunct="1">
              <a:spcBef>
                <a:spcPts val="700"/>
              </a:spcBef>
              <a:buSzPct val="60000"/>
              <a:buFont typeface="Arial" pitchFamily="34" charset="0"/>
              <a:buChar char="•"/>
              <a:tabLst>
                <a:tab pos="354013" algn="l"/>
                <a:tab pos="355600" algn="l"/>
              </a:tabLst>
            </a:pPr>
            <a:r>
              <a:rPr lang="en-US" sz="2200" dirty="0">
                <a:cs typeface="Times New Roman" pitchFamily="18" charset="0"/>
              </a:rPr>
              <a:t>Facilitates retargeting: enables attaching a back  end for the new machine to an existing front end</a:t>
            </a:r>
          </a:p>
          <a:p>
            <a:pPr marL="355600" algn="just" eaLnBrk="1" hangingPunct="1">
              <a:spcBef>
                <a:spcPts val="713"/>
              </a:spcBef>
              <a:buSzPct val="60000"/>
              <a:buFont typeface="Arial" pitchFamily="34" charset="0"/>
              <a:buChar char="•"/>
              <a:tabLst>
                <a:tab pos="354013" algn="l"/>
                <a:tab pos="355600" algn="l"/>
              </a:tabLst>
            </a:pPr>
            <a:r>
              <a:rPr lang="en-US" sz="2200" dirty="0">
                <a:cs typeface="Times New Roman" pitchFamily="18" charset="0"/>
              </a:rPr>
              <a:t>Enables machine-independent code optimization</a:t>
            </a:r>
          </a:p>
          <a:p>
            <a:pPr marL="355600" algn="just" eaLnBrk="1" hangingPunct="1">
              <a:lnSpc>
                <a:spcPts val="2588"/>
              </a:lnSpc>
              <a:spcBef>
                <a:spcPts val="513"/>
              </a:spcBef>
              <a:buClr>
                <a:srgbClr val="DD8046"/>
              </a:buClr>
              <a:buSzPct val="60000"/>
              <a:buFont typeface="Wingdings" pitchFamily="2" charset="2"/>
              <a:buChar char=""/>
              <a:tabLst>
                <a:tab pos="354013" algn="l"/>
                <a:tab pos="355600" algn="l"/>
              </a:tabLst>
            </a:pPr>
            <a:endParaRPr lang="en-US" sz="2000" dirty="0">
              <a:latin typeface="Times New Roman" pitchFamily="18" charset="0"/>
              <a:cs typeface="Times New Roman" pitchFamily="18" charset="0"/>
            </a:endParaRPr>
          </a:p>
          <a:p>
            <a:pPr marL="355600" algn="just" eaLnBrk="1" hangingPunct="1">
              <a:tabLst>
                <a:tab pos="354013" algn="l"/>
                <a:tab pos="355600" algn="l"/>
              </a:tabLst>
            </a:pPr>
            <a:endParaRPr lang="en-US" sz="2000" dirty="0">
              <a:latin typeface="Times New Roman" pitchFamily="18" charset="0"/>
              <a:cs typeface="Times New Roman" pitchFamily="18" charset="0"/>
            </a:endParaRPr>
          </a:p>
        </p:txBody>
      </p:sp>
      <p:sp>
        <p:nvSpPr>
          <p:cNvPr id="4"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Intermediate Code </a:t>
            </a:r>
            <a:r>
              <a:rPr lang="en-US" sz="3200" b="1" spc="-10" dirty="0" smtClean="0"/>
              <a:t>representation</a:t>
            </a:r>
            <a:endParaRPr lang="en-US" sz="3200" b="1" spc="-10" dirty="0"/>
          </a:p>
        </p:txBody>
      </p:sp>
      <p:sp>
        <p:nvSpPr>
          <p:cNvPr id="6" name="Date Placeholder 5"/>
          <p:cNvSpPr>
            <a:spLocks noGrp="1"/>
          </p:cNvSpPr>
          <p:nvPr>
            <p:ph type="dt" sz="half" idx="10"/>
          </p:nvPr>
        </p:nvSpPr>
        <p:spPr/>
        <p:txBody>
          <a:bodyPr/>
          <a:lstStyle/>
          <a:p>
            <a:fld id="{74857F24-E362-4585-9B4F-271B487E8220}" type="datetime1">
              <a:rPr lang="en-US" smtClean="0"/>
              <a:t>4/10/2026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143</a:t>
            </a:fld>
            <a:endParaRPr lang="en-US"/>
          </a:p>
        </p:txBody>
      </p:sp>
      <p:sp>
        <p:nvSpPr>
          <p:cNvPr id="8" name="Footer Placeholder 7"/>
          <p:cNvSpPr>
            <a:spLocks noGrp="1"/>
          </p:cNvSpPr>
          <p:nvPr>
            <p:ph type="ftr" sz="quarter" idx="11"/>
          </p:nvPr>
        </p:nvSpPr>
        <p:spPr>
          <a:xfrm>
            <a:off x="3124200" y="6356350"/>
            <a:ext cx="3429000" cy="365125"/>
          </a:xfrm>
        </p:spPr>
        <p:txBody>
          <a:bodyPr/>
          <a:lstStyle/>
          <a:p>
            <a:r>
              <a:rPr lang="it-IT" smtClean="0"/>
              <a:t>Vivek Kumar Sharma              CD Unit -3</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3277741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p:txBody>
          <a:bodyPr/>
          <a:lstStyle/>
          <a:p>
            <a:pPr marL="355600" eaLnBrk="1" hangingPunct="1">
              <a:spcBef>
                <a:spcPts val="938"/>
              </a:spcBef>
              <a:buSzPct val="95000"/>
              <a:buFont typeface="Tahoma" pitchFamily="34" charset="0"/>
              <a:buChar char="•"/>
              <a:tabLst>
                <a:tab pos="354013" algn="l"/>
                <a:tab pos="355600" algn="l"/>
              </a:tabLst>
            </a:pPr>
            <a:r>
              <a:rPr lang="en-US" sz="2200" dirty="0">
                <a:cs typeface="Times New Roman" pitchFamily="18" charset="0"/>
              </a:rPr>
              <a:t>Graphical representations </a:t>
            </a:r>
            <a:endParaRPr lang="en-US" sz="2200" dirty="0" smtClean="0">
              <a:cs typeface="Times New Roman" pitchFamily="18" charset="0"/>
            </a:endParaRPr>
          </a:p>
          <a:p>
            <a:pPr marL="355600" eaLnBrk="1" hangingPunct="1">
              <a:spcBef>
                <a:spcPts val="938"/>
              </a:spcBef>
              <a:buSzPct val="95000"/>
              <a:buFont typeface="Tahoma" pitchFamily="34" charset="0"/>
              <a:buChar char="•"/>
              <a:tabLst>
                <a:tab pos="354013" algn="l"/>
                <a:tab pos="355600" algn="l"/>
              </a:tabLst>
            </a:pPr>
            <a:r>
              <a:rPr lang="en-US" sz="2200" dirty="0" smtClean="0">
                <a:cs typeface="Times New Roman" pitchFamily="18" charset="0"/>
              </a:rPr>
              <a:t>e.g</a:t>
            </a:r>
            <a:r>
              <a:rPr lang="en-US" sz="2200" dirty="0">
                <a:cs typeface="Times New Roman" pitchFamily="18" charset="0"/>
              </a:rPr>
              <a:t>. Abstract Syntax Tree</a:t>
            </a:r>
          </a:p>
          <a:p>
            <a:pPr marL="355600" eaLnBrk="1" hangingPunct="1">
              <a:lnSpc>
                <a:spcPts val="2163"/>
              </a:lnSpc>
              <a:spcBef>
                <a:spcPts val="1213"/>
              </a:spcBef>
              <a:buSzPct val="95000"/>
              <a:buFont typeface="Tahoma" pitchFamily="34" charset="0"/>
              <a:buChar char="•"/>
              <a:tabLst>
                <a:tab pos="354013" algn="l"/>
                <a:tab pos="355600" algn="l"/>
              </a:tabLst>
            </a:pPr>
            <a:r>
              <a:rPr lang="en-US" sz="2200" dirty="0">
                <a:cs typeface="Times New Roman" pitchFamily="18" charset="0"/>
              </a:rPr>
              <a:t>Postfix notation: operations on values stored on operand stack </a:t>
            </a:r>
            <a:endParaRPr lang="en-US" sz="2200" dirty="0" smtClean="0">
              <a:cs typeface="Times New Roman" pitchFamily="18" charset="0"/>
            </a:endParaRPr>
          </a:p>
          <a:p>
            <a:pPr marL="355600" eaLnBrk="1" hangingPunct="1">
              <a:lnSpc>
                <a:spcPts val="2163"/>
              </a:lnSpc>
              <a:spcBef>
                <a:spcPts val="1213"/>
              </a:spcBef>
              <a:buSzPct val="95000"/>
              <a:buFont typeface="Tahoma" pitchFamily="34" charset="0"/>
              <a:buChar char="•"/>
              <a:tabLst>
                <a:tab pos="354013" algn="l"/>
                <a:tab pos="355600" algn="l"/>
              </a:tabLst>
            </a:pPr>
            <a:r>
              <a:rPr lang="en-US" sz="2200" dirty="0" smtClean="0">
                <a:cs typeface="Times New Roman" pitchFamily="18" charset="0"/>
              </a:rPr>
              <a:t>Three-address </a:t>
            </a:r>
            <a:r>
              <a:rPr lang="en-US" sz="2200" dirty="0">
                <a:cs typeface="Times New Roman" pitchFamily="18" charset="0"/>
              </a:rPr>
              <a:t>code: (e.g. triples and quads) </a:t>
            </a:r>
          </a:p>
          <a:p>
            <a:pPr marL="355600" eaLnBrk="1" hangingPunct="1">
              <a:lnSpc>
                <a:spcPts val="2163"/>
              </a:lnSpc>
              <a:spcBef>
                <a:spcPts val="1200"/>
              </a:spcBef>
              <a:buSzPct val="95000"/>
              <a:buFont typeface="Arial" charset="0"/>
              <a:buNone/>
              <a:tabLst>
                <a:tab pos="354013" algn="l"/>
                <a:tab pos="355600" algn="l"/>
              </a:tabLst>
            </a:pPr>
            <a:r>
              <a:rPr lang="en-US" sz="2200" dirty="0">
                <a:cs typeface="Times New Roman" pitchFamily="18" charset="0"/>
              </a:rPr>
              <a:t>	 x := y op z</a:t>
            </a:r>
          </a:p>
          <a:p>
            <a:pPr marL="355600" eaLnBrk="1" hangingPunct="1">
              <a:lnSpc>
                <a:spcPts val="2338"/>
              </a:lnSpc>
              <a:spcBef>
                <a:spcPts val="825"/>
              </a:spcBef>
              <a:buSzPct val="95000"/>
              <a:buFont typeface="Tahoma" pitchFamily="34" charset="0"/>
              <a:buChar char="•"/>
              <a:tabLst>
                <a:tab pos="354013" algn="l"/>
                <a:tab pos="355600" algn="l"/>
              </a:tabLst>
            </a:pPr>
            <a:r>
              <a:rPr lang="en-US" sz="2200" dirty="0">
                <a:cs typeface="Times New Roman" pitchFamily="18" charset="0"/>
              </a:rPr>
              <a:t>Two-address code:</a:t>
            </a:r>
          </a:p>
          <a:p>
            <a:pPr marL="355600" eaLnBrk="1" hangingPunct="1">
              <a:lnSpc>
                <a:spcPts val="2163"/>
              </a:lnSpc>
              <a:buFont typeface="Arial" charset="0"/>
              <a:buNone/>
              <a:tabLst>
                <a:tab pos="354013" algn="l"/>
                <a:tab pos="355600" algn="l"/>
              </a:tabLst>
            </a:pPr>
            <a:r>
              <a:rPr lang="en-US" sz="2200" dirty="0">
                <a:cs typeface="Times New Roman" pitchFamily="18" charset="0"/>
              </a:rPr>
              <a:t>	 x := op y</a:t>
            </a:r>
          </a:p>
          <a:p>
            <a:pPr marL="355600" eaLnBrk="1" hangingPunct="1">
              <a:tabLst>
                <a:tab pos="354013" algn="l"/>
                <a:tab pos="355600" algn="l"/>
              </a:tabLst>
            </a:pPr>
            <a:endParaRPr lang="en-US" sz="2000" dirty="0">
              <a:latin typeface="Times New Roman" pitchFamily="18" charset="0"/>
              <a:cs typeface="Times New Roman" pitchFamily="18" charset="0"/>
            </a:endParaRPr>
          </a:p>
        </p:txBody>
      </p:sp>
      <p:sp>
        <p:nvSpPr>
          <p:cNvPr id="6" name="Date Placeholder 5"/>
          <p:cNvSpPr>
            <a:spLocks noGrp="1"/>
          </p:cNvSpPr>
          <p:nvPr>
            <p:ph type="dt" sz="half" idx="10"/>
          </p:nvPr>
        </p:nvSpPr>
        <p:spPr/>
        <p:txBody>
          <a:bodyPr/>
          <a:lstStyle/>
          <a:p>
            <a:fld id="{58F0C823-1EE2-4D5E-8E78-FEE83765FA3E}" type="datetime1">
              <a:rPr lang="en-US" smtClean="0"/>
              <a:t>4/10/2026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144</a:t>
            </a:fld>
            <a:endParaRPr lang="en-US"/>
          </a:p>
        </p:txBody>
      </p:sp>
      <p:sp>
        <p:nvSpPr>
          <p:cNvPr id="8" name="Footer Placeholder 7"/>
          <p:cNvSpPr>
            <a:spLocks noGrp="1"/>
          </p:cNvSpPr>
          <p:nvPr>
            <p:ph type="ftr" sz="quarter" idx="11"/>
          </p:nvPr>
        </p:nvSpPr>
        <p:spPr>
          <a:xfrm>
            <a:off x="3124200" y="6356350"/>
            <a:ext cx="3429000" cy="365125"/>
          </a:xfrm>
        </p:spPr>
        <p:txBody>
          <a:bodyPr/>
          <a:lstStyle/>
          <a:p>
            <a:r>
              <a:rPr lang="it-IT" smtClean="0"/>
              <a:t>Vivek Kumar Sharma              CD Unit -3</a:t>
            </a:r>
            <a:endParaRPr lang="en-US" dirty="0"/>
          </a:p>
        </p:txBody>
      </p:sp>
      <p:sp>
        <p:nvSpPr>
          <p:cNvPr id="10"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10" dirty="0"/>
              <a:t>Intermediate Code representation</a:t>
            </a: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39681809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a:xfrm>
            <a:off x="457200" y="990600"/>
            <a:ext cx="8229600" cy="5135563"/>
          </a:xfrm>
        </p:spPr>
        <p:txBody>
          <a:bodyPr>
            <a:normAutofit fontScale="92500" lnSpcReduction="10000"/>
          </a:bodyPr>
          <a:lstStyle/>
          <a:p>
            <a:pPr marL="355600" algn="just">
              <a:spcBef>
                <a:spcPts val="938"/>
              </a:spcBef>
              <a:buSzPct val="95000"/>
              <a:buFont typeface="Tahoma" pitchFamily="34" charset="0"/>
              <a:buChar char="•"/>
              <a:tabLst>
                <a:tab pos="354013" algn="l"/>
                <a:tab pos="355600" algn="l"/>
              </a:tabLst>
            </a:pPr>
            <a:r>
              <a:rPr lang="en-US" sz="1800" dirty="0"/>
              <a:t>A parse tree, also known as a concrete syntax tree, represents the syntactic structure of a string according to the rules of a formal grammar. It's constructed during the parsing process of a compiler or interpreter. Parse trees are hierarchical structures where nodes represent terminals (tokens) and non-terminals (grammar rules). Here's an example to illustrate</a:t>
            </a:r>
            <a:r>
              <a:rPr lang="en-US" sz="1800" dirty="0" smtClean="0"/>
              <a:t>:</a:t>
            </a:r>
          </a:p>
          <a:p>
            <a:r>
              <a:rPr lang="en-US" sz="1600" b="1" dirty="0"/>
              <a:t>Example of a Parse Tree</a:t>
            </a:r>
          </a:p>
          <a:p>
            <a:r>
              <a:rPr lang="en-US" sz="1600" dirty="0"/>
              <a:t>Consider the grammar and input expression:</a:t>
            </a:r>
          </a:p>
          <a:p>
            <a:r>
              <a:rPr lang="en-US" sz="1600" dirty="0"/>
              <a:t>Grammar:</a:t>
            </a:r>
          </a:p>
          <a:p>
            <a:r>
              <a:rPr lang="en-US" sz="1600" dirty="0"/>
              <a:t>E -&gt; E + E</a:t>
            </a:r>
          </a:p>
          <a:p>
            <a:r>
              <a:rPr lang="en-US" sz="1600" dirty="0"/>
              <a:t>E -&gt; E * E</a:t>
            </a:r>
          </a:p>
          <a:p>
            <a:r>
              <a:rPr lang="en-US" sz="1600" dirty="0"/>
              <a:t>E -&gt; (E)</a:t>
            </a:r>
          </a:p>
          <a:p>
            <a:r>
              <a:rPr lang="en-US" sz="1600" dirty="0"/>
              <a:t>E -&gt; </a:t>
            </a:r>
            <a:r>
              <a:rPr lang="en-US" sz="1600" dirty="0" err="1"/>
              <a:t>num</a:t>
            </a:r>
            <a:endParaRPr lang="en-US" sz="1600" dirty="0"/>
          </a:p>
          <a:p>
            <a:r>
              <a:rPr lang="en-US" sz="1600" dirty="0"/>
              <a:t>Input </a:t>
            </a:r>
            <a:r>
              <a:rPr lang="en-US" sz="1600" dirty="0" smtClean="0"/>
              <a:t>Expression: </a:t>
            </a:r>
            <a:r>
              <a:rPr lang="en-US" sz="1600" dirty="0"/>
              <a:t>2+3∗(4−</a:t>
            </a:r>
            <a:r>
              <a:rPr lang="en-US" sz="1600" dirty="0" smtClean="0"/>
              <a:t>1)</a:t>
            </a:r>
          </a:p>
          <a:p>
            <a:r>
              <a:rPr lang="en-US" sz="1600" dirty="0" smtClean="0">
                <a:solidFill>
                  <a:srgbClr val="FF0000"/>
                </a:solidFill>
                <a:latin typeface="Times New Roman" pitchFamily="18" charset="0"/>
                <a:cs typeface="Times New Roman" pitchFamily="18" charset="0"/>
              </a:rPr>
              <a:t>     </a:t>
            </a:r>
            <a:r>
              <a:rPr lang="en-US" sz="1600" dirty="0">
                <a:solidFill>
                  <a:srgbClr val="FF0000"/>
                </a:solidFill>
                <a:latin typeface="Times New Roman" pitchFamily="18" charset="0"/>
                <a:cs typeface="Times New Roman" pitchFamily="18" charset="0"/>
              </a:rPr>
              <a:t>+</a:t>
            </a:r>
          </a:p>
          <a:p>
            <a:r>
              <a:rPr lang="en-US" sz="1600" dirty="0">
                <a:solidFill>
                  <a:srgbClr val="FF0000"/>
                </a:solidFill>
                <a:latin typeface="Times New Roman" pitchFamily="18" charset="0"/>
                <a:cs typeface="Times New Roman" pitchFamily="18" charset="0"/>
              </a:rPr>
              <a:t>     / \</a:t>
            </a:r>
          </a:p>
          <a:p>
            <a:r>
              <a:rPr lang="en-US" sz="1600" dirty="0">
                <a:solidFill>
                  <a:srgbClr val="FF0000"/>
                </a:solidFill>
                <a:latin typeface="Times New Roman" pitchFamily="18" charset="0"/>
                <a:cs typeface="Times New Roman" pitchFamily="18" charset="0"/>
              </a:rPr>
              <a:t>    2   *</a:t>
            </a:r>
          </a:p>
          <a:p>
            <a:r>
              <a:rPr lang="en-US" sz="1600" dirty="0">
                <a:solidFill>
                  <a:srgbClr val="FF0000"/>
                </a:solidFill>
                <a:latin typeface="Times New Roman" pitchFamily="18" charset="0"/>
                <a:cs typeface="Times New Roman" pitchFamily="18" charset="0"/>
              </a:rPr>
              <a:t>       / \</a:t>
            </a:r>
          </a:p>
          <a:p>
            <a:r>
              <a:rPr lang="en-US" sz="1600" dirty="0">
                <a:solidFill>
                  <a:srgbClr val="FF0000"/>
                </a:solidFill>
                <a:latin typeface="Times New Roman" pitchFamily="18" charset="0"/>
                <a:cs typeface="Times New Roman" pitchFamily="18" charset="0"/>
              </a:rPr>
              <a:t>      3   -</a:t>
            </a:r>
          </a:p>
          <a:p>
            <a:r>
              <a:rPr lang="en-US" sz="1600" dirty="0">
                <a:solidFill>
                  <a:srgbClr val="FF0000"/>
                </a:solidFill>
                <a:latin typeface="Times New Roman" pitchFamily="18" charset="0"/>
                <a:cs typeface="Times New Roman" pitchFamily="18" charset="0"/>
              </a:rPr>
              <a:t>         / \</a:t>
            </a:r>
          </a:p>
          <a:p>
            <a:r>
              <a:rPr lang="en-US" sz="1600" dirty="0">
                <a:solidFill>
                  <a:srgbClr val="FF0000"/>
                </a:solidFill>
                <a:latin typeface="Times New Roman" pitchFamily="18" charset="0"/>
                <a:cs typeface="Times New Roman" pitchFamily="18" charset="0"/>
              </a:rPr>
              <a:t>        4   1</a:t>
            </a:r>
          </a:p>
        </p:txBody>
      </p:sp>
      <p:sp>
        <p:nvSpPr>
          <p:cNvPr id="6" name="Date Placeholder 5"/>
          <p:cNvSpPr>
            <a:spLocks noGrp="1"/>
          </p:cNvSpPr>
          <p:nvPr>
            <p:ph type="dt" sz="half" idx="10"/>
          </p:nvPr>
        </p:nvSpPr>
        <p:spPr/>
        <p:txBody>
          <a:bodyPr/>
          <a:lstStyle/>
          <a:p>
            <a:fld id="{58F0C823-1EE2-4D5E-8E78-FEE83765FA3E}" type="datetime1">
              <a:rPr lang="en-US" smtClean="0"/>
              <a:t>4/10/2026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145</a:t>
            </a:fld>
            <a:endParaRPr lang="en-US"/>
          </a:p>
        </p:txBody>
      </p:sp>
      <p:sp>
        <p:nvSpPr>
          <p:cNvPr id="8" name="Footer Placeholder 7"/>
          <p:cNvSpPr>
            <a:spLocks noGrp="1"/>
          </p:cNvSpPr>
          <p:nvPr>
            <p:ph type="ftr" sz="quarter" idx="11"/>
          </p:nvPr>
        </p:nvSpPr>
        <p:spPr>
          <a:xfrm>
            <a:off x="3124200" y="6356350"/>
            <a:ext cx="3429000" cy="365125"/>
          </a:xfrm>
        </p:spPr>
        <p:txBody>
          <a:bodyPr/>
          <a:lstStyle/>
          <a:p>
            <a:r>
              <a:rPr lang="it-IT" smtClean="0"/>
              <a:t>Vivek Kumar Sharma              CD Unit -3</a:t>
            </a:r>
            <a:endParaRPr lang="en-US" dirty="0"/>
          </a:p>
        </p:txBody>
      </p:sp>
      <p:sp>
        <p:nvSpPr>
          <p:cNvPr id="10"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dirty="0"/>
              <a:t>Parse Tree</a:t>
            </a:r>
            <a:endParaRPr lang="en-US" sz="3200" b="1" spc="-10"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01462918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a:xfrm>
            <a:off x="457200" y="990600"/>
            <a:ext cx="8229600" cy="5135563"/>
          </a:xfrm>
        </p:spPr>
        <p:txBody>
          <a:bodyPr>
            <a:normAutofit fontScale="92500" lnSpcReduction="10000"/>
          </a:bodyPr>
          <a:lstStyle/>
          <a:p>
            <a:pPr marL="355600" algn="just">
              <a:spcBef>
                <a:spcPts val="938"/>
              </a:spcBef>
              <a:buSzPct val="95000"/>
              <a:buFont typeface="Tahoma" pitchFamily="34" charset="0"/>
              <a:buChar char="•"/>
              <a:tabLst>
                <a:tab pos="354013" algn="l"/>
                <a:tab pos="355600" algn="l"/>
              </a:tabLst>
            </a:pPr>
            <a:r>
              <a:rPr lang="en-US" sz="1800" dirty="0"/>
              <a:t>A syntax tree, or abstract syntax tree (AST), represents the syntactic structure of a program or expression after the parsing phase. Unlike parse trees, syntax trees abstract away from specific syntactic details and focus on the program's logical structure. They are used for semantic analysis, optimization, and code generation phases in compilers and interpreters. Here's how it differs from a parse tree</a:t>
            </a:r>
            <a:r>
              <a:rPr lang="en-US" sz="1800" dirty="0" smtClean="0"/>
              <a:t>:</a:t>
            </a:r>
          </a:p>
          <a:p>
            <a:pPr marL="355600" algn="just">
              <a:spcBef>
                <a:spcPts val="938"/>
              </a:spcBef>
              <a:buSzPct val="95000"/>
              <a:buFont typeface="Tahoma" pitchFamily="34" charset="0"/>
              <a:buChar char="•"/>
              <a:tabLst>
                <a:tab pos="354013" algn="l"/>
                <a:tab pos="355600" algn="l"/>
              </a:tabLst>
            </a:pPr>
            <a:r>
              <a:rPr lang="en-US" sz="1600" b="1" dirty="0" smtClean="0"/>
              <a:t>Example </a:t>
            </a:r>
            <a:r>
              <a:rPr lang="en-US" sz="1600" b="1" dirty="0"/>
              <a:t>of a Parse Tree</a:t>
            </a:r>
          </a:p>
          <a:p>
            <a:r>
              <a:rPr lang="en-US" sz="1600" dirty="0"/>
              <a:t>Consider the grammar and input expression:</a:t>
            </a:r>
          </a:p>
          <a:p>
            <a:r>
              <a:rPr lang="en-US" sz="1600" dirty="0"/>
              <a:t>Grammar:</a:t>
            </a:r>
          </a:p>
          <a:p>
            <a:r>
              <a:rPr lang="en-US" sz="1600" dirty="0"/>
              <a:t>E -&gt; E + E</a:t>
            </a:r>
          </a:p>
          <a:p>
            <a:r>
              <a:rPr lang="en-US" sz="1600" dirty="0"/>
              <a:t>E -&gt; E * E</a:t>
            </a:r>
          </a:p>
          <a:p>
            <a:r>
              <a:rPr lang="en-US" sz="1600" dirty="0"/>
              <a:t>E -&gt; (E)</a:t>
            </a:r>
          </a:p>
          <a:p>
            <a:r>
              <a:rPr lang="en-US" sz="1600" dirty="0"/>
              <a:t>E -&gt; </a:t>
            </a:r>
            <a:r>
              <a:rPr lang="en-US" sz="1600" dirty="0" err="1"/>
              <a:t>num</a:t>
            </a:r>
            <a:endParaRPr lang="en-US" sz="1600" dirty="0"/>
          </a:p>
          <a:p>
            <a:r>
              <a:rPr lang="en-US" sz="1600" dirty="0"/>
              <a:t>Input </a:t>
            </a:r>
            <a:r>
              <a:rPr lang="en-US" sz="1600" dirty="0" smtClean="0"/>
              <a:t>Expression: </a:t>
            </a:r>
            <a:r>
              <a:rPr lang="en-US" sz="1600" dirty="0"/>
              <a:t>2+3∗(4−</a:t>
            </a:r>
            <a:r>
              <a:rPr lang="en-US" sz="1600" dirty="0" smtClean="0"/>
              <a:t>1)</a:t>
            </a:r>
          </a:p>
          <a:p>
            <a:r>
              <a:rPr lang="en-US" sz="1600" dirty="0" smtClean="0">
                <a:solidFill>
                  <a:srgbClr val="FF0000"/>
                </a:solidFill>
                <a:latin typeface="Times New Roman" pitchFamily="18" charset="0"/>
                <a:cs typeface="Times New Roman" pitchFamily="18" charset="0"/>
              </a:rPr>
              <a:t>     </a:t>
            </a:r>
            <a:r>
              <a:rPr lang="en-US" sz="1600" dirty="0">
                <a:solidFill>
                  <a:srgbClr val="FF0000"/>
                </a:solidFill>
                <a:latin typeface="Times New Roman" pitchFamily="18" charset="0"/>
                <a:cs typeface="Times New Roman" pitchFamily="18" charset="0"/>
              </a:rPr>
              <a:t>+</a:t>
            </a:r>
          </a:p>
          <a:p>
            <a:r>
              <a:rPr lang="en-US" sz="1600" dirty="0">
                <a:solidFill>
                  <a:srgbClr val="FF0000"/>
                </a:solidFill>
                <a:latin typeface="Times New Roman" pitchFamily="18" charset="0"/>
                <a:cs typeface="Times New Roman" pitchFamily="18" charset="0"/>
              </a:rPr>
              <a:t>     / \</a:t>
            </a:r>
          </a:p>
          <a:p>
            <a:r>
              <a:rPr lang="en-US" sz="1600" dirty="0">
                <a:solidFill>
                  <a:srgbClr val="FF0000"/>
                </a:solidFill>
                <a:latin typeface="Times New Roman" pitchFamily="18" charset="0"/>
                <a:cs typeface="Times New Roman" pitchFamily="18" charset="0"/>
              </a:rPr>
              <a:t>    2   *</a:t>
            </a:r>
          </a:p>
          <a:p>
            <a:r>
              <a:rPr lang="en-US" sz="1600" dirty="0">
                <a:solidFill>
                  <a:srgbClr val="FF0000"/>
                </a:solidFill>
                <a:latin typeface="Times New Roman" pitchFamily="18" charset="0"/>
                <a:cs typeface="Times New Roman" pitchFamily="18" charset="0"/>
              </a:rPr>
              <a:t>       / \</a:t>
            </a:r>
          </a:p>
          <a:p>
            <a:r>
              <a:rPr lang="en-US" sz="1600" dirty="0">
                <a:solidFill>
                  <a:srgbClr val="FF0000"/>
                </a:solidFill>
                <a:latin typeface="Times New Roman" pitchFamily="18" charset="0"/>
                <a:cs typeface="Times New Roman" pitchFamily="18" charset="0"/>
              </a:rPr>
              <a:t>      3   -</a:t>
            </a:r>
          </a:p>
          <a:p>
            <a:r>
              <a:rPr lang="en-US" sz="1600" dirty="0">
                <a:solidFill>
                  <a:srgbClr val="FF0000"/>
                </a:solidFill>
                <a:latin typeface="Times New Roman" pitchFamily="18" charset="0"/>
                <a:cs typeface="Times New Roman" pitchFamily="18" charset="0"/>
              </a:rPr>
              <a:t>         / \</a:t>
            </a:r>
          </a:p>
          <a:p>
            <a:r>
              <a:rPr lang="en-US" sz="1600" dirty="0">
                <a:solidFill>
                  <a:srgbClr val="FF0000"/>
                </a:solidFill>
                <a:latin typeface="Times New Roman" pitchFamily="18" charset="0"/>
                <a:cs typeface="Times New Roman" pitchFamily="18" charset="0"/>
              </a:rPr>
              <a:t>        4   1</a:t>
            </a:r>
          </a:p>
        </p:txBody>
      </p:sp>
      <p:sp>
        <p:nvSpPr>
          <p:cNvPr id="6" name="Date Placeholder 5"/>
          <p:cNvSpPr>
            <a:spLocks noGrp="1"/>
          </p:cNvSpPr>
          <p:nvPr>
            <p:ph type="dt" sz="half" idx="10"/>
          </p:nvPr>
        </p:nvSpPr>
        <p:spPr/>
        <p:txBody>
          <a:bodyPr/>
          <a:lstStyle/>
          <a:p>
            <a:fld id="{58F0C823-1EE2-4D5E-8E78-FEE83765FA3E}" type="datetime1">
              <a:rPr lang="en-US" smtClean="0"/>
              <a:t>4/10/2026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146</a:t>
            </a:fld>
            <a:endParaRPr lang="en-US"/>
          </a:p>
        </p:txBody>
      </p:sp>
      <p:sp>
        <p:nvSpPr>
          <p:cNvPr id="8" name="Footer Placeholder 7"/>
          <p:cNvSpPr>
            <a:spLocks noGrp="1"/>
          </p:cNvSpPr>
          <p:nvPr>
            <p:ph type="ftr" sz="quarter" idx="11"/>
          </p:nvPr>
        </p:nvSpPr>
        <p:spPr>
          <a:xfrm>
            <a:off x="3124200" y="6356350"/>
            <a:ext cx="3429000" cy="365125"/>
          </a:xfrm>
        </p:spPr>
        <p:txBody>
          <a:bodyPr/>
          <a:lstStyle/>
          <a:p>
            <a:r>
              <a:rPr lang="it-IT" smtClean="0"/>
              <a:t>Vivek Kumar Sharma              CD Unit -3</a:t>
            </a:r>
            <a:endParaRPr lang="en-US" dirty="0"/>
          </a:p>
        </p:txBody>
      </p:sp>
      <p:sp>
        <p:nvSpPr>
          <p:cNvPr id="10"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dirty="0"/>
              <a:t>Syntax Tree (Abstract Syntax Tree, AST)</a:t>
            </a:r>
            <a:endParaRPr lang="en-US" sz="3200" b="1" spc="-10"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38223655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95C269BE-6341-46D1-A438-89EF6ACEFF6A}"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1E4630F0-8E51-4A6D-9B0A-D7C8EDA4CA60}" type="slidenum">
              <a:rPr lang="en-US"/>
              <a:pPr>
                <a:defRPr/>
              </a:pPr>
              <a:t>147</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t>Three address code</a:t>
            </a:r>
            <a:r>
              <a:rPr lang="en-US" sz="2800" b="1" spc="-5" dirty="0"/>
              <a:t>(CO3)</a:t>
            </a:r>
            <a:endParaRPr lang="en-US" sz="280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smtClean="0"/>
              <a:t>Vivek Kumar Sharma              CD Unit -3</a:t>
            </a:r>
            <a:endParaRPr lang="en-US" dirty="0"/>
          </a:p>
        </p:txBody>
      </p:sp>
      <p:sp>
        <p:nvSpPr>
          <p:cNvPr id="11271" name="Content Placeholder 7"/>
          <p:cNvSpPr>
            <a:spLocks noGrp="1"/>
          </p:cNvSpPr>
          <p:nvPr>
            <p:ph idx="1"/>
          </p:nvPr>
        </p:nvSpPr>
        <p:spPr>
          <a:xfrm>
            <a:off x="457200" y="1066800"/>
            <a:ext cx="8229600" cy="5059363"/>
          </a:xfrm>
        </p:spPr>
        <p:txBody>
          <a:bodyPr/>
          <a:lstStyle/>
          <a:p>
            <a:pPr eaLnBrk="1" hangingPunct="1">
              <a:buFont typeface="Arial" pitchFamily="34" charset="0"/>
              <a:buChar char="•"/>
              <a:defRPr/>
            </a:pPr>
            <a:endParaRPr lang="en-US" sz="2400" dirty="0"/>
          </a:p>
          <a:p>
            <a:pPr>
              <a:buFont typeface="Arial" pitchFamily="34" charset="0"/>
              <a:buChar char="•"/>
              <a:defRPr/>
            </a:pPr>
            <a:r>
              <a:rPr lang="en-US" sz="2200" dirty="0">
                <a:latin typeface="+mj-lt"/>
              </a:rPr>
              <a:t>In a three address code there is at most one operator at the right side of an instruction</a:t>
            </a:r>
          </a:p>
          <a:p>
            <a:pPr>
              <a:buFont typeface="Arial" pitchFamily="34" charset="0"/>
              <a:buChar char="•"/>
              <a:defRPr/>
            </a:pPr>
            <a:r>
              <a:rPr lang="en-US" sz="2200" dirty="0">
                <a:latin typeface="+mj-lt"/>
              </a:rPr>
              <a:t>Example:</a:t>
            </a:r>
          </a:p>
          <a:p>
            <a:pPr>
              <a:buFont typeface="Arial" pitchFamily="34" charset="0"/>
              <a:buChar char="•"/>
              <a:defRPr/>
            </a:pPr>
            <a:endParaRPr lang="en-US" dirty="0"/>
          </a:p>
        </p:txBody>
      </p:sp>
      <p:grpSp>
        <p:nvGrpSpPr>
          <p:cNvPr id="2" name="Group 7"/>
          <p:cNvGrpSpPr>
            <a:grpSpLocks/>
          </p:cNvGrpSpPr>
          <p:nvPr/>
        </p:nvGrpSpPr>
        <p:grpSpPr bwMode="auto">
          <a:xfrm>
            <a:off x="1071563" y="3657600"/>
            <a:ext cx="2738437" cy="2395538"/>
            <a:chOff x="1071563" y="3657600"/>
            <a:chExt cx="2738437" cy="2395538"/>
          </a:xfrm>
        </p:grpSpPr>
        <p:sp>
          <p:nvSpPr>
            <p:cNvPr id="21514" name="TextBox 3"/>
            <p:cNvSpPr txBox="1">
              <a:spLocks noChangeArrowheads="1"/>
            </p:cNvSpPr>
            <p:nvPr/>
          </p:nvSpPr>
          <p:spPr bwMode="auto">
            <a:xfrm>
              <a:off x="2057400" y="3657600"/>
              <a:ext cx="300037" cy="338138"/>
            </a:xfrm>
            <a:prstGeom prst="rect">
              <a:avLst/>
            </a:prstGeom>
            <a:noFill/>
            <a:ln w="9525">
              <a:noFill/>
              <a:miter lim="800000"/>
              <a:headEnd/>
              <a:tailEnd/>
            </a:ln>
          </p:spPr>
          <p:txBody>
            <a:bodyPr wrap="none">
              <a:spAutoFit/>
            </a:bodyPr>
            <a:lstStyle/>
            <a:p>
              <a:r>
                <a:rPr lang="en-US" sz="1600"/>
                <a:t>+</a:t>
              </a:r>
            </a:p>
          </p:txBody>
        </p:sp>
        <p:sp>
          <p:nvSpPr>
            <p:cNvPr id="21515" name="TextBox 4"/>
            <p:cNvSpPr txBox="1">
              <a:spLocks noChangeArrowheads="1"/>
            </p:cNvSpPr>
            <p:nvPr/>
          </p:nvSpPr>
          <p:spPr bwMode="auto">
            <a:xfrm>
              <a:off x="1512888" y="4233863"/>
              <a:ext cx="300037" cy="338137"/>
            </a:xfrm>
            <a:prstGeom prst="rect">
              <a:avLst/>
            </a:prstGeom>
            <a:noFill/>
            <a:ln w="9525">
              <a:noFill/>
              <a:miter lim="800000"/>
              <a:headEnd/>
              <a:tailEnd/>
            </a:ln>
          </p:spPr>
          <p:txBody>
            <a:bodyPr wrap="none">
              <a:spAutoFit/>
            </a:bodyPr>
            <a:lstStyle/>
            <a:p>
              <a:r>
                <a:rPr lang="en-US" sz="1600"/>
                <a:t>+</a:t>
              </a:r>
            </a:p>
          </p:txBody>
        </p:sp>
        <p:sp>
          <p:nvSpPr>
            <p:cNvPr id="21516" name="TextBox 5"/>
            <p:cNvSpPr txBox="1">
              <a:spLocks noChangeArrowheads="1"/>
            </p:cNvSpPr>
            <p:nvPr/>
          </p:nvSpPr>
          <p:spPr bwMode="auto">
            <a:xfrm>
              <a:off x="3041650" y="4233863"/>
              <a:ext cx="287338" cy="338137"/>
            </a:xfrm>
            <a:prstGeom prst="rect">
              <a:avLst/>
            </a:prstGeom>
            <a:noFill/>
            <a:ln w="9525">
              <a:noFill/>
              <a:miter lim="800000"/>
              <a:headEnd/>
              <a:tailEnd/>
            </a:ln>
          </p:spPr>
          <p:txBody>
            <a:bodyPr wrap="none">
              <a:spAutoFit/>
            </a:bodyPr>
            <a:lstStyle/>
            <a:p>
              <a:r>
                <a:rPr lang="en-US" sz="1600"/>
                <a:t>*</a:t>
              </a:r>
            </a:p>
          </p:txBody>
        </p:sp>
        <p:sp>
          <p:nvSpPr>
            <p:cNvPr id="21517" name="TextBox 6"/>
            <p:cNvSpPr txBox="1">
              <a:spLocks noChangeArrowheads="1"/>
            </p:cNvSpPr>
            <p:nvPr/>
          </p:nvSpPr>
          <p:spPr bwMode="auto">
            <a:xfrm>
              <a:off x="1970088" y="4767263"/>
              <a:ext cx="287337" cy="338137"/>
            </a:xfrm>
            <a:prstGeom prst="rect">
              <a:avLst/>
            </a:prstGeom>
            <a:noFill/>
            <a:ln w="9525">
              <a:noFill/>
              <a:miter lim="800000"/>
              <a:headEnd/>
              <a:tailEnd/>
            </a:ln>
          </p:spPr>
          <p:txBody>
            <a:bodyPr wrap="none">
              <a:spAutoFit/>
            </a:bodyPr>
            <a:lstStyle/>
            <a:p>
              <a:r>
                <a:rPr lang="en-US" sz="1600"/>
                <a:t>*</a:t>
              </a:r>
            </a:p>
          </p:txBody>
        </p:sp>
        <p:sp>
          <p:nvSpPr>
            <p:cNvPr id="21518" name="TextBox 8"/>
            <p:cNvSpPr txBox="1">
              <a:spLocks noChangeArrowheads="1"/>
            </p:cNvSpPr>
            <p:nvPr/>
          </p:nvSpPr>
          <p:spPr bwMode="auto">
            <a:xfrm>
              <a:off x="2051050" y="5715000"/>
              <a:ext cx="287338" cy="338138"/>
            </a:xfrm>
            <a:prstGeom prst="rect">
              <a:avLst/>
            </a:prstGeom>
            <a:noFill/>
            <a:ln w="9525">
              <a:noFill/>
              <a:miter lim="800000"/>
              <a:headEnd/>
              <a:tailEnd/>
            </a:ln>
          </p:spPr>
          <p:txBody>
            <a:bodyPr wrap="none">
              <a:spAutoFit/>
            </a:bodyPr>
            <a:lstStyle/>
            <a:p>
              <a:r>
                <a:rPr lang="en-US" sz="1600"/>
                <a:t>b</a:t>
              </a:r>
            </a:p>
          </p:txBody>
        </p:sp>
        <p:sp>
          <p:nvSpPr>
            <p:cNvPr id="21519" name="TextBox 9"/>
            <p:cNvSpPr txBox="1">
              <a:spLocks noChangeArrowheads="1"/>
            </p:cNvSpPr>
            <p:nvPr/>
          </p:nvSpPr>
          <p:spPr bwMode="auto">
            <a:xfrm>
              <a:off x="2965450" y="5681663"/>
              <a:ext cx="276225" cy="338137"/>
            </a:xfrm>
            <a:prstGeom prst="rect">
              <a:avLst/>
            </a:prstGeom>
            <a:noFill/>
            <a:ln w="9525">
              <a:noFill/>
              <a:miter lim="800000"/>
              <a:headEnd/>
              <a:tailEnd/>
            </a:ln>
          </p:spPr>
          <p:txBody>
            <a:bodyPr wrap="none">
              <a:spAutoFit/>
            </a:bodyPr>
            <a:lstStyle/>
            <a:p>
              <a:r>
                <a:rPr lang="en-US" sz="1600"/>
                <a:t>c</a:t>
              </a:r>
            </a:p>
          </p:txBody>
        </p:sp>
        <p:cxnSp>
          <p:nvCxnSpPr>
            <p:cNvPr id="16" name="Straight Connector 15"/>
            <p:cNvCxnSpPr/>
            <p:nvPr/>
          </p:nvCxnSpPr>
          <p:spPr>
            <a:xfrm rot="5400000">
              <a:off x="1741488" y="3962400"/>
              <a:ext cx="3048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1665288" y="5029200"/>
              <a:ext cx="304800" cy="304800"/>
            </a:xfrm>
            <a:prstGeom prst="line">
              <a:avLst/>
            </a:prstGeom>
          </p:spPr>
          <p:style>
            <a:lnRef idx="1">
              <a:schemeClr val="accent1"/>
            </a:lnRef>
            <a:fillRef idx="0">
              <a:schemeClr val="accent1"/>
            </a:fillRef>
            <a:effectRef idx="0">
              <a:schemeClr val="accent1"/>
            </a:effectRef>
            <a:fontRef idx="minor">
              <a:schemeClr val="tx1"/>
            </a:fontRef>
          </p:style>
        </p:cxnSp>
        <p:sp>
          <p:nvSpPr>
            <p:cNvPr id="21522" name="TextBox 12"/>
            <p:cNvSpPr txBox="1">
              <a:spLocks noChangeArrowheads="1"/>
            </p:cNvSpPr>
            <p:nvPr/>
          </p:nvSpPr>
          <p:spPr bwMode="auto">
            <a:xfrm>
              <a:off x="1454150" y="5257800"/>
              <a:ext cx="276225" cy="338138"/>
            </a:xfrm>
            <a:prstGeom prst="rect">
              <a:avLst/>
            </a:prstGeom>
            <a:noFill/>
            <a:ln w="9525">
              <a:noFill/>
              <a:miter lim="800000"/>
              <a:headEnd/>
              <a:tailEnd/>
            </a:ln>
          </p:spPr>
          <p:txBody>
            <a:bodyPr wrap="none">
              <a:spAutoFit/>
            </a:bodyPr>
            <a:lstStyle/>
            <a:p>
              <a:r>
                <a:rPr lang="en-US" sz="1600"/>
                <a:t>a</a:t>
              </a:r>
            </a:p>
          </p:txBody>
        </p:sp>
        <p:cxnSp>
          <p:nvCxnSpPr>
            <p:cNvPr id="19" name="Straight Connector 18"/>
            <p:cNvCxnSpPr/>
            <p:nvPr/>
          </p:nvCxnSpPr>
          <p:spPr>
            <a:xfrm rot="16200000" flipH="1">
              <a:off x="2198688" y="5029200"/>
              <a:ext cx="3048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H="1">
              <a:off x="1741488" y="4495800"/>
              <a:ext cx="3048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351088" y="3886200"/>
              <a:ext cx="6858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21516" idx="2"/>
            </p:cNvCxnSpPr>
            <p:nvPr/>
          </p:nvCxnSpPr>
          <p:spPr>
            <a:xfrm rot="5400000">
              <a:off x="2539207" y="4688681"/>
              <a:ext cx="762000" cy="5286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2198688" y="5486400"/>
              <a:ext cx="3048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2655888" y="5486400"/>
              <a:ext cx="3048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6200000" flipH="1">
              <a:off x="3341688" y="4572000"/>
              <a:ext cx="304800" cy="304800"/>
            </a:xfrm>
            <a:prstGeom prst="line">
              <a:avLst/>
            </a:prstGeom>
          </p:spPr>
          <p:style>
            <a:lnRef idx="1">
              <a:schemeClr val="accent1"/>
            </a:lnRef>
            <a:fillRef idx="0">
              <a:schemeClr val="accent1"/>
            </a:fillRef>
            <a:effectRef idx="0">
              <a:schemeClr val="accent1"/>
            </a:effectRef>
            <a:fontRef idx="minor">
              <a:schemeClr val="tx1"/>
            </a:fontRef>
          </p:style>
        </p:cxnSp>
        <p:sp>
          <p:nvSpPr>
            <p:cNvPr id="21530" name="TextBox 20"/>
            <p:cNvSpPr txBox="1">
              <a:spLocks noChangeArrowheads="1"/>
            </p:cNvSpPr>
            <p:nvPr/>
          </p:nvSpPr>
          <p:spPr bwMode="auto">
            <a:xfrm>
              <a:off x="3522663" y="4876800"/>
              <a:ext cx="287337" cy="338138"/>
            </a:xfrm>
            <a:prstGeom prst="rect">
              <a:avLst/>
            </a:prstGeom>
            <a:noFill/>
            <a:ln w="9525">
              <a:noFill/>
              <a:miter lim="800000"/>
              <a:headEnd/>
              <a:tailEnd/>
            </a:ln>
          </p:spPr>
          <p:txBody>
            <a:bodyPr wrap="none">
              <a:spAutoFit/>
            </a:bodyPr>
            <a:lstStyle/>
            <a:p>
              <a:r>
                <a:rPr lang="en-US" sz="1600"/>
                <a:t>d</a:t>
              </a:r>
            </a:p>
          </p:txBody>
        </p:sp>
        <p:sp>
          <p:nvSpPr>
            <p:cNvPr id="27" name="Freeform 26"/>
            <p:cNvSpPr/>
            <p:nvPr/>
          </p:nvSpPr>
          <p:spPr>
            <a:xfrm>
              <a:off x="1071563" y="4419600"/>
              <a:ext cx="514350" cy="1012825"/>
            </a:xfrm>
            <a:custGeom>
              <a:avLst/>
              <a:gdLst>
                <a:gd name="connsiteX0" fmla="*/ 452362 w 515257"/>
                <a:gd name="connsiteY0" fmla="*/ 0 h 1013581"/>
                <a:gd name="connsiteX1" fmla="*/ 2419 w 515257"/>
                <a:gd name="connsiteY1" fmla="*/ 478971 h 1013581"/>
                <a:gd name="connsiteX2" fmla="*/ 466876 w 515257"/>
                <a:gd name="connsiteY2" fmla="*/ 957943 h 1013581"/>
                <a:gd name="connsiteX3" fmla="*/ 292705 w 515257"/>
                <a:gd name="connsiteY3" fmla="*/ 812800 h 1013581"/>
                <a:gd name="connsiteX4" fmla="*/ 292705 w 515257"/>
                <a:gd name="connsiteY4" fmla="*/ 812800 h 1013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257" h="1013581">
                  <a:moveTo>
                    <a:pt x="452362" y="0"/>
                  </a:moveTo>
                  <a:cubicBezTo>
                    <a:pt x="226181" y="159657"/>
                    <a:pt x="0" y="319314"/>
                    <a:pt x="2419" y="478971"/>
                  </a:cubicBezTo>
                  <a:cubicBezTo>
                    <a:pt x="4838" y="638628"/>
                    <a:pt x="418495" y="902305"/>
                    <a:pt x="466876" y="957943"/>
                  </a:cubicBezTo>
                  <a:cubicBezTo>
                    <a:pt x="515257" y="1013581"/>
                    <a:pt x="292705" y="812800"/>
                    <a:pt x="292705" y="812800"/>
                  </a:cubicBezTo>
                  <a:lnTo>
                    <a:pt x="292705" y="812800"/>
                  </a:ln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cs typeface="Arial" pitchFamily="34" charset="0"/>
              </a:endParaRPr>
            </a:p>
          </p:txBody>
        </p:sp>
      </p:grpSp>
      <p:sp>
        <p:nvSpPr>
          <p:cNvPr id="28" name="TextBox 22"/>
          <p:cNvSpPr txBox="1">
            <a:spLocks noChangeArrowheads="1"/>
          </p:cNvSpPr>
          <p:nvPr/>
        </p:nvSpPr>
        <p:spPr bwMode="auto">
          <a:xfrm>
            <a:off x="5334000" y="3962400"/>
            <a:ext cx="1435100" cy="2062163"/>
          </a:xfrm>
          <a:prstGeom prst="rect">
            <a:avLst/>
          </a:prstGeom>
          <a:noFill/>
          <a:ln w="9525">
            <a:noFill/>
            <a:miter lim="800000"/>
            <a:headEnd/>
            <a:tailEnd/>
          </a:ln>
        </p:spPr>
        <p:txBody>
          <a:bodyPr wrap="none">
            <a:spAutoFit/>
          </a:bodyPr>
          <a:lstStyle/>
          <a:p>
            <a:pPr>
              <a:defRPr/>
            </a:pPr>
            <a:r>
              <a:rPr lang="en-US" sz="2200" dirty="0">
                <a:latin typeface="+mj-lt"/>
                <a:cs typeface="Arial" pitchFamily="34" charset="0"/>
              </a:rPr>
              <a:t>t1 = b – c</a:t>
            </a:r>
          </a:p>
          <a:p>
            <a:pPr>
              <a:defRPr/>
            </a:pPr>
            <a:r>
              <a:rPr lang="en-US" sz="2200" dirty="0">
                <a:latin typeface="+mj-lt"/>
                <a:cs typeface="Arial" pitchFamily="34" charset="0"/>
              </a:rPr>
              <a:t>t2 = a * t1</a:t>
            </a:r>
          </a:p>
          <a:p>
            <a:pPr>
              <a:defRPr/>
            </a:pPr>
            <a:r>
              <a:rPr lang="en-US" sz="2200" dirty="0">
                <a:latin typeface="+mj-lt"/>
                <a:cs typeface="Arial" pitchFamily="34" charset="0"/>
              </a:rPr>
              <a:t>t3 = a + t2</a:t>
            </a:r>
          </a:p>
          <a:p>
            <a:pPr>
              <a:defRPr/>
            </a:pPr>
            <a:r>
              <a:rPr lang="en-US" sz="2200" dirty="0">
                <a:latin typeface="+mj-lt"/>
                <a:cs typeface="Arial" pitchFamily="34" charset="0"/>
              </a:rPr>
              <a:t>t4 = t1 * d</a:t>
            </a:r>
          </a:p>
          <a:p>
            <a:pPr>
              <a:defRPr/>
            </a:pPr>
            <a:r>
              <a:rPr lang="en-US" sz="2200" dirty="0">
                <a:latin typeface="+mj-lt"/>
                <a:cs typeface="Arial" pitchFamily="34" charset="0"/>
              </a:rPr>
              <a:t>t5 = t3 + t4</a:t>
            </a:r>
          </a:p>
          <a:p>
            <a:pPr>
              <a:defRPr/>
            </a:pPr>
            <a:endParaRPr lang="en-US" dirty="0">
              <a:latin typeface="Arial" pitchFamily="34" charset="0"/>
              <a:cs typeface="Arial" pitchFamily="34" charset="0"/>
            </a:endParaRPr>
          </a:p>
        </p:txBody>
      </p:sp>
      <p:pic>
        <p:nvPicPr>
          <p:cNvPr id="29" name="Picture 2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00644828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6702613A-240D-4586-805F-998BB2FF02FB}"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EF713A43-3F03-4372-A2CC-FE3AFC81D0E5}" type="slidenum">
              <a:rPr lang="en-US"/>
              <a:pPr>
                <a:defRPr/>
              </a:pPr>
              <a:t>148</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t>Data structures for three address codes</a:t>
            </a:r>
            <a:r>
              <a:rPr lang="en-US" sz="2800" b="1" spc="-5" dirty="0"/>
              <a:t>(CO3)</a:t>
            </a:r>
            <a:endParaRPr lang="en-US" sz="280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smtClean="0"/>
              <a:t>Vivek Kumar Sharma              CD Unit -3</a:t>
            </a:r>
            <a:endParaRPr lang="en-US" dirty="0"/>
          </a:p>
        </p:txBody>
      </p:sp>
      <p:sp>
        <p:nvSpPr>
          <p:cNvPr id="11271" name="Content Placeholder 7"/>
          <p:cNvSpPr>
            <a:spLocks noGrp="1"/>
          </p:cNvSpPr>
          <p:nvPr>
            <p:ph idx="1"/>
          </p:nvPr>
        </p:nvSpPr>
        <p:spPr>
          <a:xfrm>
            <a:off x="457200" y="1295400"/>
            <a:ext cx="8229600" cy="4830763"/>
          </a:xfrm>
        </p:spPr>
        <p:txBody>
          <a:bodyPr/>
          <a:lstStyle/>
          <a:p>
            <a:pPr eaLnBrk="1" hangingPunct="1">
              <a:buFont typeface="Arial" pitchFamily="34" charset="0"/>
              <a:buChar char="•"/>
              <a:defRPr/>
            </a:pPr>
            <a:r>
              <a:rPr lang="en-US" sz="2200" dirty="0"/>
              <a:t>Quadruples</a:t>
            </a:r>
          </a:p>
          <a:p>
            <a:pPr lvl="1" eaLnBrk="1" hangingPunct="1">
              <a:buFont typeface="Arial" pitchFamily="34" charset="0"/>
              <a:buChar char="–"/>
              <a:defRPr/>
            </a:pPr>
            <a:r>
              <a:rPr lang="en-US" sz="2200" dirty="0"/>
              <a:t>Has four fields: op, arg1, arg2 and result</a:t>
            </a:r>
          </a:p>
          <a:p>
            <a:pPr eaLnBrk="1" hangingPunct="1">
              <a:buFont typeface="Arial" pitchFamily="34" charset="0"/>
              <a:buChar char="•"/>
              <a:defRPr/>
            </a:pPr>
            <a:r>
              <a:rPr lang="en-US" sz="2200" dirty="0"/>
              <a:t>Triples</a:t>
            </a:r>
          </a:p>
          <a:p>
            <a:pPr lvl="1" eaLnBrk="1" hangingPunct="1">
              <a:buFont typeface="Arial" pitchFamily="34" charset="0"/>
              <a:buChar char="–"/>
              <a:defRPr/>
            </a:pPr>
            <a:r>
              <a:rPr lang="en-US" sz="2200" dirty="0"/>
              <a:t>Temporaries are not used and instead references to instructions are made</a:t>
            </a:r>
          </a:p>
          <a:p>
            <a:pPr eaLnBrk="1" hangingPunct="1">
              <a:buFont typeface="Arial" pitchFamily="34" charset="0"/>
              <a:buChar char="•"/>
              <a:defRPr/>
            </a:pPr>
            <a:r>
              <a:rPr lang="en-US" sz="2200" dirty="0"/>
              <a:t>Indirect triples</a:t>
            </a:r>
          </a:p>
          <a:p>
            <a:pPr lvl="1" eaLnBrk="1" hangingPunct="1">
              <a:buFont typeface="Arial" pitchFamily="34" charset="0"/>
              <a:buChar char="–"/>
              <a:defRPr/>
            </a:pPr>
            <a:r>
              <a:rPr lang="en-US" sz="2200" dirty="0"/>
              <a:t>In addition to triples we use a list of pointers to triples</a:t>
            </a:r>
          </a:p>
          <a:p>
            <a:pPr>
              <a:buFont typeface="Arial" pitchFamily="34" charset="0"/>
              <a:buChar char="•"/>
              <a:defRPr/>
            </a:pPr>
            <a:endParaRPr lang="en-US" sz="2200" dirty="0">
              <a:latin typeface="+mj-lt"/>
            </a:endParaRPr>
          </a:p>
          <a:p>
            <a:pPr>
              <a:buFont typeface="Arial" pitchFamily="34" charset="0"/>
              <a:buChar char="•"/>
              <a:defRPr/>
            </a:pP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9312211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A6FBD6E6-FAF9-4B29-80C1-BE40BEDFFB91}" type="datetime1">
              <a:rPr lang="en-US" smtClean="0"/>
              <a:t>4/10/2026</a:t>
            </a:fld>
            <a:endParaRPr lang="en-US"/>
          </a:p>
        </p:txBody>
      </p:sp>
      <p:sp>
        <p:nvSpPr>
          <p:cNvPr id="6" name="Slide Number Placeholder 5"/>
          <p:cNvSpPr>
            <a:spLocks noGrp="1"/>
          </p:cNvSpPr>
          <p:nvPr>
            <p:ph type="sldNum" sz="quarter" idx="12"/>
          </p:nvPr>
        </p:nvSpPr>
        <p:spPr/>
        <p:txBody>
          <a:bodyPr/>
          <a:lstStyle/>
          <a:p>
            <a:pPr>
              <a:defRPr/>
            </a:pPr>
            <a:fld id="{B264A087-F2EF-46B5-97C1-AB8E68EF21B7}" type="slidenum">
              <a:rPr lang="en-US"/>
              <a:pPr>
                <a:defRPr/>
              </a:pPr>
              <a:t>149</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Three address codes Example</a:t>
            </a:r>
            <a:r>
              <a:rPr lang="en-US" sz="2800" b="1" spc="-5" dirty="0"/>
              <a:t>(CO3)</a:t>
            </a:r>
            <a:endParaRPr lang="en-US" sz="2800" dirty="0"/>
          </a:p>
        </p:txBody>
      </p:sp>
      <p:sp>
        <p:nvSpPr>
          <p:cNvPr id="9" name="Footer Placeholder 12"/>
          <p:cNvSpPr>
            <a:spLocks noGrp="1"/>
          </p:cNvSpPr>
          <p:nvPr>
            <p:ph type="ftr" sz="quarter" idx="11"/>
          </p:nvPr>
        </p:nvSpPr>
        <p:spPr>
          <a:xfrm>
            <a:off x="2286000" y="6248400"/>
            <a:ext cx="5029200" cy="365125"/>
          </a:xfrm>
        </p:spPr>
        <p:txBody>
          <a:bodyPr/>
          <a:lstStyle/>
          <a:p>
            <a:pPr>
              <a:defRPr/>
            </a:pPr>
            <a:r>
              <a:rPr lang="it-IT" smtClean="0"/>
              <a:t>Vivek Kumar Sharma              CD Unit -3</a:t>
            </a:r>
            <a:endParaRPr lang="en-US" dirty="0"/>
          </a:p>
        </p:txBody>
      </p:sp>
      <p:sp>
        <p:nvSpPr>
          <p:cNvPr id="11271" name="Content Placeholder 7"/>
          <p:cNvSpPr>
            <a:spLocks noGrp="1"/>
          </p:cNvSpPr>
          <p:nvPr>
            <p:ph idx="1"/>
          </p:nvPr>
        </p:nvSpPr>
        <p:spPr>
          <a:xfrm>
            <a:off x="457200" y="1341438"/>
            <a:ext cx="8229600" cy="4830762"/>
          </a:xfrm>
        </p:spPr>
        <p:txBody>
          <a:bodyPr/>
          <a:lstStyle/>
          <a:p>
            <a:pPr>
              <a:buFont typeface="Arial" pitchFamily="34" charset="0"/>
              <a:buChar char="•"/>
              <a:defRPr/>
            </a:pPr>
            <a:r>
              <a:rPr lang="en-US" sz="2000" dirty="0"/>
              <a:t>Example</a:t>
            </a:r>
          </a:p>
          <a:p>
            <a:pPr>
              <a:buFont typeface="Arial" pitchFamily="34" charset="0"/>
              <a:buChar char="•"/>
              <a:defRPr/>
            </a:pPr>
            <a:r>
              <a:rPr lang="en-US" sz="2000" dirty="0"/>
              <a:t>b * minus c + b * minus c</a:t>
            </a:r>
          </a:p>
          <a:p>
            <a:pPr>
              <a:buFont typeface="Arial" pitchFamily="34" charset="0"/>
              <a:buChar char="•"/>
              <a:defRPr/>
            </a:pPr>
            <a:endParaRPr lang="en-US" sz="2200" dirty="0">
              <a:latin typeface="+mj-lt"/>
            </a:endParaRPr>
          </a:p>
          <a:p>
            <a:pPr>
              <a:buFont typeface="Arial" pitchFamily="34" charset="0"/>
              <a:buChar char="•"/>
              <a:defRPr/>
            </a:pPr>
            <a:endParaRPr lang="en-US" dirty="0"/>
          </a:p>
        </p:txBody>
      </p:sp>
      <p:sp>
        <p:nvSpPr>
          <p:cNvPr id="24584" name="TextBox 4"/>
          <p:cNvSpPr txBox="1">
            <a:spLocks noChangeArrowheads="1"/>
          </p:cNvSpPr>
          <p:nvPr/>
        </p:nvSpPr>
        <p:spPr bwMode="auto">
          <a:xfrm>
            <a:off x="6019800" y="914400"/>
            <a:ext cx="2559050" cy="461963"/>
          </a:xfrm>
          <a:prstGeom prst="rect">
            <a:avLst/>
          </a:prstGeom>
          <a:noFill/>
          <a:ln w="9525">
            <a:noFill/>
            <a:miter lim="800000"/>
            <a:headEnd/>
            <a:tailEnd/>
          </a:ln>
        </p:spPr>
        <p:txBody>
          <a:bodyPr wrap="none">
            <a:spAutoFit/>
          </a:bodyPr>
          <a:lstStyle/>
          <a:p>
            <a:r>
              <a:rPr lang="en-US"/>
              <a:t>Three address code</a:t>
            </a:r>
          </a:p>
        </p:txBody>
      </p:sp>
      <p:sp>
        <p:nvSpPr>
          <p:cNvPr id="24585" name="TextBox 3"/>
          <p:cNvSpPr txBox="1">
            <a:spLocks noChangeArrowheads="1"/>
          </p:cNvSpPr>
          <p:nvPr/>
        </p:nvSpPr>
        <p:spPr bwMode="auto">
          <a:xfrm>
            <a:off x="6400800" y="1371600"/>
            <a:ext cx="1333500" cy="1754188"/>
          </a:xfrm>
          <a:prstGeom prst="rect">
            <a:avLst/>
          </a:prstGeom>
          <a:noFill/>
          <a:ln w="9525">
            <a:noFill/>
            <a:miter lim="800000"/>
            <a:headEnd/>
            <a:tailEnd/>
          </a:ln>
        </p:spPr>
        <p:txBody>
          <a:bodyPr wrap="none">
            <a:spAutoFit/>
          </a:bodyPr>
          <a:lstStyle/>
          <a:p>
            <a:r>
              <a:rPr lang="en-US" dirty="0"/>
              <a:t>t1 = minus c</a:t>
            </a:r>
          </a:p>
          <a:p>
            <a:r>
              <a:rPr lang="en-US" dirty="0"/>
              <a:t>t2 = b * t1</a:t>
            </a:r>
          </a:p>
          <a:p>
            <a:r>
              <a:rPr lang="en-US" dirty="0"/>
              <a:t>t3 = minus c</a:t>
            </a:r>
          </a:p>
          <a:p>
            <a:r>
              <a:rPr lang="en-US" dirty="0"/>
              <a:t>t4 = b * t3</a:t>
            </a:r>
          </a:p>
          <a:p>
            <a:r>
              <a:rPr lang="en-US" dirty="0"/>
              <a:t>t5 = t2 + t4</a:t>
            </a:r>
          </a:p>
          <a:p>
            <a:r>
              <a:rPr lang="en-US" dirty="0"/>
              <a:t>a = t5</a:t>
            </a:r>
          </a:p>
        </p:txBody>
      </p:sp>
      <p:sp>
        <p:nvSpPr>
          <p:cNvPr id="24586" name="TextBox 53"/>
          <p:cNvSpPr txBox="1">
            <a:spLocks noChangeArrowheads="1"/>
          </p:cNvSpPr>
          <p:nvPr/>
        </p:nvSpPr>
        <p:spPr bwMode="auto">
          <a:xfrm>
            <a:off x="1066800" y="3124200"/>
            <a:ext cx="1603375" cy="461963"/>
          </a:xfrm>
          <a:prstGeom prst="rect">
            <a:avLst/>
          </a:prstGeom>
          <a:noFill/>
          <a:ln w="9525">
            <a:noFill/>
            <a:miter lim="800000"/>
            <a:headEnd/>
            <a:tailEnd/>
          </a:ln>
        </p:spPr>
        <p:txBody>
          <a:bodyPr wrap="none">
            <a:spAutoFit/>
          </a:bodyPr>
          <a:lstStyle/>
          <a:p>
            <a:r>
              <a:rPr lang="en-US"/>
              <a:t>Quadruples</a:t>
            </a:r>
          </a:p>
        </p:txBody>
      </p:sp>
      <p:graphicFrame>
        <p:nvGraphicFramePr>
          <p:cNvPr id="11" name="Table 10"/>
          <p:cNvGraphicFramePr>
            <a:graphicFrameLocks noGrp="1"/>
          </p:cNvGraphicFramePr>
          <p:nvPr/>
        </p:nvGraphicFramePr>
        <p:xfrm>
          <a:off x="762000" y="3505200"/>
          <a:ext cx="2209800" cy="2651760"/>
        </p:xfrm>
        <a:graphic>
          <a:graphicData uri="http://schemas.openxmlformats.org/drawingml/2006/table">
            <a:tbl>
              <a:tblPr firstRow="1" bandRow="1">
                <a:tableStyleId>{5C22544A-7EE6-4342-B048-85BDC9FD1C3A}</a:tableStyleId>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2450">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433552">
                <a:tc>
                  <a:txBody>
                    <a:bodyPr/>
                    <a:lstStyle/>
                    <a:p>
                      <a:r>
                        <a:rPr lang="en-US" sz="1200" dirty="0">
                          <a:solidFill>
                            <a:schemeClr val="tx1"/>
                          </a:solidFill>
                        </a:rPr>
                        <a:t>op</a:t>
                      </a:r>
                    </a:p>
                  </a:txBody>
                  <a:tcPr>
                    <a:solidFill>
                      <a:srgbClr val="92D050"/>
                    </a:solidFill>
                  </a:tcPr>
                </a:tc>
                <a:tc>
                  <a:txBody>
                    <a:bodyPr/>
                    <a:lstStyle/>
                    <a:p>
                      <a:r>
                        <a:rPr lang="en-US" sz="1200" dirty="0">
                          <a:solidFill>
                            <a:schemeClr val="tx1"/>
                          </a:solidFill>
                        </a:rPr>
                        <a:t>arg1</a:t>
                      </a: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arg1</a:t>
                      </a:r>
                    </a:p>
                    <a:p>
                      <a:endParaRPr lang="en-US" sz="1200" dirty="0">
                        <a:solidFill>
                          <a:schemeClr val="tx1"/>
                        </a:solidFill>
                      </a:endParaRPr>
                    </a:p>
                  </a:txBody>
                  <a:tcPr>
                    <a:solidFill>
                      <a:srgbClr val="92D050"/>
                    </a:solidFill>
                  </a:tcPr>
                </a:tc>
                <a:tc>
                  <a:txBody>
                    <a:bodyPr/>
                    <a:lstStyle/>
                    <a:p>
                      <a:r>
                        <a:rPr lang="en-US" sz="1200" dirty="0">
                          <a:solidFill>
                            <a:schemeClr val="tx1"/>
                          </a:solidFill>
                        </a:rPr>
                        <a:t>result</a:t>
                      </a:r>
                    </a:p>
                  </a:txBody>
                  <a:tcPr>
                    <a:solidFill>
                      <a:srgbClr val="92D050"/>
                    </a:solidFill>
                  </a:tcPr>
                </a:tc>
                <a:extLst>
                  <a:ext uri="{0D108BD9-81ED-4DB2-BD59-A6C34878D82A}">
                    <a16:rowId xmlns:a16="http://schemas.microsoft.com/office/drawing/2014/main" val="10000"/>
                  </a:ext>
                </a:extLst>
              </a:tr>
              <a:tr h="346841">
                <a:tc>
                  <a:txBody>
                    <a:bodyPr/>
                    <a:lstStyle/>
                    <a:p>
                      <a:r>
                        <a:rPr lang="en-US" sz="1100" dirty="0">
                          <a:solidFill>
                            <a:schemeClr val="tx1"/>
                          </a:solidFill>
                        </a:rPr>
                        <a:t>minus</a:t>
                      </a:r>
                    </a:p>
                  </a:txBody>
                  <a:tcPr>
                    <a:solidFill>
                      <a:srgbClr val="92D050"/>
                    </a:solidFill>
                  </a:tcPr>
                </a:tc>
                <a:tc>
                  <a:txBody>
                    <a:bodyPr/>
                    <a:lstStyle/>
                    <a:p>
                      <a:r>
                        <a:rPr lang="en-US" dirty="0">
                          <a:solidFill>
                            <a:schemeClr val="tx1"/>
                          </a:solidFill>
                        </a:rPr>
                        <a:t>c</a:t>
                      </a:r>
                    </a:p>
                  </a:txBody>
                  <a:tcPr>
                    <a:solidFill>
                      <a:srgbClr val="92D050"/>
                    </a:solidFill>
                  </a:tcPr>
                </a:tc>
                <a:tc>
                  <a:txBody>
                    <a:bodyPr/>
                    <a:lstStyle/>
                    <a:p>
                      <a:endParaRPr lang="en-US" dirty="0">
                        <a:solidFill>
                          <a:schemeClr val="tx1"/>
                        </a:solidFill>
                      </a:endParaRPr>
                    </a:p>
                  </a:txBody>
                  <a:tcPr>
                    <a:solidFill>
                      <a:srgbClr val="92D050"/>
                    </a:solidFill>
                  </a:tcPr>
                </a:tc>
                <a:tc>
                  <a:txBody>
                    <a:bodyPr/>
                    <a:lstStyle/>
                    <a:p>
                      <a:r>
                        <a:rPr lang="en-US" dirty="0">
                          <a:solidFill>
                            <a:schemeClr val="tx1"/>
                          </a:solidFill>
                        </a:rPr>
                        <a:t>t1</a:t>
                      </a:r>
                    </a:p>
                  </a:txBody>
                  <a:tcPr>
                    <a:solidFill>
                      <a:srgbClr val="92D050"/>
                    </a:solidFill>
                  </a:tcPr>
                </a:tc>
                <a:extLst>
                  <a:ext uri="{0D108BD9-81ED-4DB2-BD59-A6C34878D82A}">
                    <a16:rowId xmlns:a16="http://schemas.microsoft.com/office/drawing/2014/main" val="10001"/>
                  </a:ext>
                </a:extLst>
              </a:tr>
              <a:tr h="346841">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b</a:t>
                      </a:r>
                    </a:p>
                  </a:txBody>
                  <a:tcPr>
                    <a:solidFill>
                      <a:srgbClr val="92D050"/>
                    </a:solidFill>
                  </a:tcPr>
                </a:tc>
                <a:tc>
                  <a:txBody>
                    <a:bodyPr/>
                    <a:lstStyle/>
                    <a:p>
                      <a:r>
                        <a:rPr lang="en-US" dirty="0">
                          <a:solidFill>
                            <a:schemeClr val="tx1"/>
                          </a:solidFill>
                        </a:rPr>
                        <a:t>t1</a:t>
                      </a:r>
                    </a:p>
                  </a:txBody>
                  <a:tcPr>
                    <a:solidFill>
                      <a:srgbClr val="92D050"/>
                    </a:solidFill>
                  </a:tcPr>
                </a:tc>
                <a:tc>
                  <a:txBody>
                    <a:bodyPr/>
                    <a:lstStyle/>
                    <a:p>
                      <a:r>
                        <a:rPr lang="en-US" dirty="0">
                          <a:solidFill>
                            <a:schemeClr val="tx1"/>
                          </a:solidFill>
                        </a:rPr>
                        <a:t>t2</a:t>
                      </a:r>
                    </a:p>
                  </a:txBody>
                  <a:tcPr>
                    <a:solidFill>
                      <a:srgbClr val="92D050"/>
                    </a:solidFill>
                  </a:tcPr>
                </a:tc>
                <a:extLst>
                  <a:ext uri="{0D108BD9-81ED-4DB2-BD59-A6C34878D82A}">
                    <a16:rowId xmlns:a16="http://schemas.microsoft.com/office/drawing/2014/main" val="10002"/>
                  </a:ext>
                </a:extLst>
              </a:tr>
              <a:tr h="346841">
                <a:tc>
                  <a:txBody>
                    <a:bodyPr/>
                    <a:lstStyle/>
                    <a:p>
                      <a:r>
                        <a:rPr lang="en-US" sz="1100" dirty="0">
                          <a:solidFill>
                            <a:schemeClr val="tx1"/>
                          </a:solidFill>
                        </a:rPr>
                        <a:t>minus</a:t>
                      </a:r>
                    </a:p>
                  </a:txBody>
                  <a:tcPr>
                    <a:solidFill>
                      <a:srgbClr val="92D050"/>
                    </a:solidFill>
                  </a:tcPr>
                </a:tc>
                <a:tc>
                  <a:txBody>
                    <a:bodyPr/>
                    <a:lstStyle/>
                    <a:p>
                      <a:r>
                        <a:rPr lang="en-US" dirty="0">
                          <a:solidFill>
                            <a:schemeClr val="tx1"/>
                          </a:solidFill>
                        </a:rPr>
                        <a:t>c</a:t>
                      </a:r>
                    </a:p>
                  </a:txBody>
                  <a:tcPr>
                    <a:solidFill>
                      <a:srgbClr val="92D050"/>
                    </a:solidFill>
                  </a:tcPr>
                </a:tc>
                <a:tc>
                  <a:txBody>
                    <a:bodyPr/>
                    <a:lstStyle/>
                    <a:p>
                      <a:endParaRPr lang="en-US" dirty="0">
                        <a:solidFill>
                          <a:schemeClr val="tx1"/>
                        </a:solidFill>
                      </a:endParaRPr>
                    </a:p>
                  </a:txBody>
                  <a:tcPr>
                    <a:solidFill>
                      <a:srgbClr val="92D050"/>
                    </a:solidFill>
                  </a:tcPr>
                </a:tc>
                <a:tc>
                  <a:txBody>
                    <a:bodyPr/>
                    <a:lstStyle/>
                    <a:p>
                      <a:r>
                        <a:rPr lang="en-US" dirty="0">
                          <a:solidFill>
                            <a:schemeClr val="tx1"/>
                          </a:solidFill>
                        </a:rPr>
                        <a:t>t3</a:t>
                      </a:r>
                    </a:p>
                  </a:txBody>
                  <a:tcPr>
                    <a:solidFill>
                      <a:srgbClr val="92D050"/>
                    </a:solidFill>
                  </a:tcPr>
                </a:tc>
                <a:extLst>
                  <a:ext uri="{0D108BD9-81ED-4DB2-BD59-A6C34878D82A}">
                    <a16:rowId xmlns:a16="http://schemas.microsoft.com/office/drawing/2014/main" val="10003"/>
                  </a:ext>
                </a:extLst>
              </a:tr>
              <a:tr h="346841">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b</a:t>
                      </a:r>
                    </a:p>
                  </a:txBody>
                  <a:tcPr>
                    <a:solidFill>
                      <a:srgbClr val="92D050"/>
                    </a:solidFill>
                  </a:tcPr>
                </a:tc>
                <a:tc>
                  <a:txBody>
                    <a:bodyPr/>
                    <a:lstStyle/>
                    <a:p>
                      <a:r>
                        <a:rPr lang="en-US" dirty="0">
                          <a:solidFill>
                            <a:schemeClr val="tx1"/>
                          </a:solidFill>
                        </a:rPr>
                        <a:t>t3</a:t>
                      </a:r>
                    </a:p>
                  </a:txBody>
                  <a:tcPr>
                    <a:solidFill>
                      <a:srgbClr val="92D050"/>
                    </a:solidFill>
                  </a:tcPr>
                </a:tc>
                <a:tc>
                  <a:txBody>
                    <a:bodyPr/>
                    <a:lstStyle/>
                    <a:p>
                      <a:r>
                        <a:rPr lang="en-US" dirty="0">
                          <a:solidFill>
                            <a:schemeClr val="tx1"/>
                          </a:solidFill>
                        </a:rPr>
                        <a:t>t4</a:t>
                      </a:r>
                    </a:p>
                  </a:txBody>
                  <a:tcPr>
                    <a:solidFill>
                      <a:srgbClr val="92D050"/>
                    </a:solidFill>
                  </a:tcPr>
                </a:tc>
                <a:extLst>
                  <a:ext uri="{0D108BD9-81ED-4DB2-BD59-A6C34878D82A}">
                    <a16:rowId xmlns:a16="http://schemas.microsoft.com/office/drawing/2014/main" val="10004"/>
                  </a:ext>
                </a:extLst>
              </a:tr>
              <a:tr h="346841">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t2</a:t>
                      </a:r>
                    </a:p>
                  </a:txBody>
                  <a:tcPr>
                    <a:solidFill>
                      <a:srgbClr val="92D050"/>
                    </a:solidFill>
                  </a:tcPr>
                </a:tc>
                <a:tc>
                  <a:txBody>
                    <a:bodyPr/>
                    <a:lstStyle/>
                    <a:p>
                      <a:r>
                        <a:rPr lang="en-US" dirty="0">
                          <a:solidFill>
                            <a:schemeClr val="tx1"/>
                          </a:solidFill>
                        </a:rPr>
                        <a:t>t4</a:t>
                      </a:r>
                    </a:p>
                  </a:txBody>
                  <a:tcPr>
                    <a:solidFill>
                      <a:srgbClr val="92D050"/>
                    </a:solidFill>
                  </a:tcPr>
                </a:tc>
                <a:tc>
                  <a:txBody>
                    <a:bodyPr/>
                    <a:lstStyle/>
                    <a:p>
                      <a:r>
                        <a:rPr lang="en-US" dirty="0">
                          <a:solidFill>
                            <a:schemeClr val="tx1"/>
                          </a:solidFill>
                        </a:rPr>
                        <a:t>t5</a:t>
                      </a:r>
                    </a:p>
                  </a:txBody>
                  <a:tcPr>
                    <a:solidFill>
                      <a:srgbClr val="92D050"/>
                    </a:solidFill>
                  </a:tcPr>
                </a:tc>
                <a:extLst>
                  <a:ext uri="{0D108BD9-81ED-4DB2-BD59-A6C34878D82A}">
                    <a16:rowId xmlns:a16="http://schemas.microsoft.com/office/drawing/2014/main" val="10005"/>
                  </a:ext>
                </a:extLst>
              </a:tr>
              <a:tr h="346841">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t5</a:t>
                      </a:r>
                    </a:p>
                  </a:txBody>
                  <a:tcPr>
                    <a:solidFill>
                      <a:srgbClr val="92D050"/>
                    </a:solidFill>
                  </a:tcPr>
                </a:tc>
                <a:tc>
                  <a:txBody>
                    <a:bodyPr/>
                    <a:lstStyle/>
                    <a:p>
                      <a:endParaRPr lang="en-US" dirty="0">
                        <a:solidFill>
                          <a:schemeClr val="tx1"/>
                        </a:solidFill>
                      </a:endParaRPr>
                    </a:p>
                  </a:txBody>
                  <a:tcPr>
                    <a:solidFill>
                      <a:srgbClr val="92D050"/>
                    </a:solidFill>
                  </a:tcPr>
                </a:tc>
                <a:tc>
                  <a:txBody>
                    <a:bodyPr/>
                    <a:lstStyle/>
                    <a:p>
                      <a:r>
                        <a:rPr lang="en-US" dirty="0">
                          <a:solidFill>
                            <a:schemeClr val="tx1"/>
                          </a:solidFill>
                        </a:rPr>
                        <a:t>a</a:t>
                      </a:r>
                    </a:p>
                  </a:txBody>
                  <a:tcPr>
                    <a:solidFill>
                      <a:srgbClr val="92D050"/>
                    </a:solidFill>
                  </a:tcPr>
                </a:tc>
                <a:extLst>
                  <a:ext uri="{0D108BD9-81ED-4DB2-BD59-A6C34878D82A}">
                    <a16:rowId xmlns:a16="http://schemas.microsoft.com/office/drawing/2014/main" val="10006"/>
                  </a:ext>
                </a:extLst>
              </a:tr>
            </a:tbl>
          </a:graphicData>
        </a:graphic>
      </p:graphicFrame>
      <p:graphicFrame>
        <p:nvGraphicFramePr>
          <p:cNvPr id="12" name="Table 11"/>
          <p:cNvGraphicFramePr>
            <a:graphicFrameLocks noGrp="1"/>
          </p:cNvGraphicFramePr>
          <p:nvPr/>
        </p:nvGraphicFramePr>
        <p:xfrm>
          <a:off x="3124200" y="3505200"/>
          <a:ext cx="2209800" cy="2628112"/>
        </p:xfrm>
        <a:graphic>
          <a:graphicData uri="http://schemas.openxmlformats.org/drawingml/2006/table">
            <a:tbl>
              <a:tblPr firstRow="1" bandRow="1">
                <a:tableStyleId>{5C22544A-7EE6-4342-B048-85BDC9FD1C3A}</a:tableStyleId>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2450">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433552">
                <a:tc>
                  <a:txBody>
                    <a:bodyPr/>
                    <a:lstStyle/>
                    <a:p>
                      <a:endParaRPr lang="en-US" sz="1200" dirty="0">
                        <a:solidFill>
                          <a:schemeClr val="tx1"/>
                        </a:solidFill>
                      </a:endParaRPr>
                    </a:p>
                  </a:txBody>
                  <a:tcPr>
                    <a:solidFill>
                      <a:srgbClr val="92D050"/>
                    </a:solidFill>
                  </a:tcPr>
                </a:tc>
                <a:tc>
                  <a:txBody>
                    <a:bodyPr/>
                    <a:lstStyle/>
                    <a:p>
                      <a:r>
                        <a:rPr lang="en-US" sz="1200" dirty="0">
                          <a:solidFill>
                            <a:schemeClr val="tx1"/>
                          </a:solidFill>
                        </a:rPr>
                        <a:t>op</a:t>
                      </a:r>
                    </a:p>
                  </a:txBody>
                  <a:tcPr>
                    <a:solidFill>
                      <a:srgbClr val="92D050"/>
                    </a:solidFill>
                  </a:tcPr>
                </a:tc>
                <a:tc>
                  <a:txBody>
                    <a:bodyPr/>
                    <a:lstStyle/>
                    <a:p>
                      <a:r>
                        <a:rPr lang="en-US" sz="1200" dirty="0">
                          <a:solidFill>
                            <a:schemeClr val="tx1"/>
                          </a:solidFill>
                        </a:rPr>
                        <a:t>arg1</a:t>
                      </a: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arg1</a:t>
                      </a:r>
                    </a:p>
                  </a:txBody>
                  <a:tcPr>
                    <a:solidFill>
                      <a:srgbClr val="92D050"/>
                    </a:solidFill>
                  </a:tcPr>
                </a:tc>
                <a:extLst>
                  <a:ext uri="{0D108BD9-81ED-4DB2-BD59-A6C34878D82A}">
                    <a16:rowId xmlns:a16="http://schemas.microsoft.com/office/drawing/2014/main" val="10000"/>
                  </a:ext>
                </a:extLst>
              </a:tr>
              <a:tr h="346841">
                <a:tc>
                  <a:txBody>
                    <a:bodyPr/>
                    <a:lstStyle/>
                    <a:p>
                      <a:r>
                        <a:rPr lang="en-US" sz="1800" dirty="0">
                          <a:solidFill>
                            <a:schemeClr val="tx1"/>
                          </a:solidFill>
                        </a:rPr>
                        <a:t>0</a:t>
                      </a:r>
                      <a:endParaRPr lang="en-US" sz="1200" dirty="0">
                        <a:solidFill>
                          <a:schemeClr val="tx1"/>
                        </a:solidFill>
                      </a:endParaRPr>
                    </a:p>
                  </a:txBody>
                  <a:tcPr>
                    <a:solidFill>
                      <a:srgbClr val="92D050"/>
                    </a:solidFill>
                  </a:tcPr>
                </a:tc>
                <a:tc>
                  <a:txBody>
                    <a:bodyPr/>
                    <a:lstStyle/>
                    <a:p>
                      <a:r>
                        <a:rPr lang="en-US" sz="1100" dirty="0">
                          <a:solidFill>
                            <a:schemeClr val="tx1"/>
                          </a:solidFill>
                        </a:rPr>
                        <a:t>minus</a:t>
                      </a:r>
                    </a:p>
                  </a:txBody>
                  <a:tcPr>
                    <a:solidFill>
                      <a:srgbClr val="92D050"/>
                    </a:solidFill>
                  </a:tcPr>
                </a:tc>
                <a:tc>
                  <a:txBody>
                    <a:bodyPr/>
                    <a:lstStyle/>
                    <a:p>
                      <a:r>
                        <a:rPr lang="en-US" dirty="0">
                          <a:solidFill>
                            <a:schemeClr val="tx1"/>
                          </a:solidFill>
                        </a:rPr>
                        <a:t>c</a:t>
                      </a:r>
                    </a:p>
                  </a:txBody>
                  <a:tcPr>
                    <a:solidFill>
                      <a:srgbClr val="92D050"/>
                    </a:solidFill>
                  </a:tcPr>
                </a:tc>
                <a:tc>
                  <a:txBody>
                    <a:bodyPr/>
                    <a:lstStyle/>
                    <a:p>
                      <a:endParaRPr lang="en-US" dirty="0">
                        <a:solidFill>
                          <a:schemeClr val="tx1"/>
                        </a:solidFill>
                      </a:endParaRPr>
                    </a:p>
                  </a:txBody>
                  <a:tcPr>
                    <a:solidFill>
                      <a:srgbClr val="92D050"/>
                    </a:solidFill>
                  </a:tcPr>
                </a:tc>
                <a:extLst>
                  <a:ext uri="{0D108BD9-81ED-4DB2-BD59-A6C34878D82A}">
                    <a16:rowId xmlns:a16="http://schemas.microsoft.com/office/drawing/2014/main" val="10001"/>
                  </a:ext>
                </a:extLst>
              </a:tr>
              <a:tr h="346841">
                <a:tc>
                  <a:txBody>
                    <a:bodyPr/>
                    <a:lstStyle/>
                    <a:p>
                      <a:r>
                        <a:rPr lang="en-US" dirty="0">
                          <a:solidFill>
                            <a:schemeClr val="tx1"/>
                          </a:solidFill>
                        </a:rPr>
                        <a:t>1</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b</a:t>
                      </a:r>
                    </a:p>
                  </a:txBody>
                  <a:tcPr>
                    <a:solidFill>
                      <a:srgbClr val="92D050"/>
                    </a:solidFill>
                  </a:tcPr>
                </a:tc>
                <a:tc>
                  <a:txBody>
                    <a:bodyPr/>
                    <a:lstStyle/>
                    <a:p>
                      <a:r>
                        <a:rPr lang="en-US" dirty="0">
                          <a:solidFill>
                            <a:schemeClr val="tx1"/>
                          </a:solidFill>
                        </a:rPr>
                        <a:t>0</a:t>
                      </a:r>
                    </a:p>
                  </a:txBody>
                  <a:tcPr>
                    <a:solidFill>
                      <a:srgbClr val="92D050"/>
                    </a:solidFill>
                  </a:tcPr>
                </a:tc>
                <a:extLst>
                  <a:ext uri="{0D108BD9-81ED-4DB2-BD59-A6C34878D82A}">
                    <a16:rowId xmlns:a16="http://schemas.microsoft.com/office/drawing/2014/main" val="10002"/>
                  </a:ext>
                </a:extLst>
              </a:tr>
              <a:tr h="346841">
                <a:tc>
                  <a:txBody>
                    <a:bodyPr/>
                    <a:lstStyle/>
                    <a:p>
                      <a:r>
                        <a:rPr lang="en-US" sz="1800" dirty="0">
                          <a:solidFill>
                            <a:schemeClr val="tx1"/>
                          </a:solidFill>
                        </a:rPr>
                        <a:t>2</a:t>
                      </a:r>
                    </a:p>
                  </a:txBody>
                  <a:tcPr>
                    <a:solidFill>
                      <a:srgbClr val="92D050"/>
                    </a:solidFill>
                  </a:tcPr>
                </a:tc>
                <a:tc>
                  <a:txBody>
                    <a:bodyPr/>
                    <a:lstStyle/>
                    <a:p>
                      <a:r>
                        <a:rPr lang="en-US" sz="1100" dirty="0">
                          <a:solidFill>
                            <a:schemeClr val="tx1"/>
                          </a:solidFill>
                        </a:rPr>
                        <a:t>minus</a:t>
                      </a:r>
                    </a:p>
                  </a:txBody>
                  <a:tcPr>
                    <a:solidFill>
                      <a:srgbClr val="92D050"/>
                    </a:solidFill>
                  </a:tcPr>
                </a:tc>
                <a:tc>
                  <a:txBody>
                    <a:bodyPr/>
                    <a:lstStyle/>
                    <a:p>
                      <a:r>
                        <a:rPr lang="en-US" dirty="0">
                          <a:solidFill>
                            <a:schemeClr val="tx1"/>
                          </a:solidFill>
                        </a:rPr>
                        <a:t>c</a:t>
                      </a:r>
                    </a:p>
                  </a:txBody>
                  <a:tcPr>
                    <a:solidFill>
                      <a:srgbClr val="92D050"/>
                    </a:solidFill>
                  </a:tcPr>
                </a:tc>
                <a:tc>
                  <a:txBody>
                    <a:bodyPr/>
                    <a:lstStyle/>
                    <a:p>
                      <a:endParaRPr lang="en-US" dirty="0">
                        <a:solidFill>
                          <a:schemeClr val="tx1"/>
                        </a:solidFill>
                      </a:endParaRPr>
                    </a:p>
                  </a:txBody>
                  <a:tcPr>
                    <a:solidFill>
                      <a:srgbClr val="92D050"/>
                    </a:solidFill>
                  </a:tcPr>
                </a:tc>
                <a:extLst>
                  <a:ext uri="{0D108BD9-81ED-4DB2-BD59-A6C34878D82A}">
                    <a16:rowId xmlns:a16="http://schemas.microsoft.com/office/drawing/2014/main" val="10003"/>
                  </a:ext>
                </a:extLst>
              </a:tr>
              <a:tr h="346841">
                <a:tc>
                  <a:txBody>
                    <a:bodyPr/>
                    <a:lstStyle/>
                    <a:p>
                      <a:r>
                        <a:rPr lang="en-US" dirty="0">
                          <a:solidFill>
                            <a:schemeClr val="tx1"/>
                          </a:solidFill>
                        </a:rPr>
                        <a:t>3</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b</a:t>
                      </a:r>
                    </a:p>
                  </a:txBody>
                  <a:tcPr>
                    <a:solidFill>
                      <a:srgbClr val="92D050"/>
                    </a:solidFill>
                  </a:tcPr>
                </a:tc>
                <a:tc>
                  <a:txBody>
                    <a:bodyPr/>
                    <a:lstStyle/>
                    <a:p>
                      <a:r>
                        <a:rPr lang="en-US" dirty="0">
                          <a:solidFill>
                            <a:schemeClr val="tx1"/>
                          </a:solidFill>
                        </a:rPr>
                        <a:t>2</a:t>
                      </a:r>
                    </a:p>
                  </a:txBody>
                  <a:tcPr>
                    <a:solidFill>
                      <a:srgbClr val="92D050"/>
                    </a:solidFill>
                  </a:tcPr>
                </a:tc>
                <a:extLst>
                  <a:ext uri="{0D108BD9-81ED-4DB2-BD59-A6C34878D82A}">
                    <a16:rowId xmlns:a16="http://schemas.microsoft.com/office/drawing/2014/main" val="10004"/>
                  </a:ext>
                </a:extLst>
              </a:tr>
              <a:tr h="346841">
                <a:tc>
                  <a:txBody>
                    <a:bodyPr/>
                    <a:lstStyle/>
                    <a:p>
                      <a:r>
                        <a:rPr lang="en-US" dirty="0">
                          <a:solidFill>
                            <a:schemeClr val="tx1"/>
                          </a:solidFill>
                        </a:rPr>
                        <a:t>4</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1</a:t>
                      </a:r>
                    </a:p>
                  </a:txBody>
                  <a:tcPr>
                    <a:solidFill>
                      <a:srgbClr val="92D050"/>
                    </a:solidFill>
                  </a:tcPr>
                </a:tc>
                <a:tc>
                  <a:txBody>
                    <a:bodyPr/>
                    <a:lstStyle/>
                    <a:p>
                      <a:r>
                        <a:rPr lang="en-US" dirty="0">
                          <a:solidFill>
                            <a:schemeClr val="tx1"/>
                          </a:solidFill>
                        </a:rPr>
                        <a:t>3</a:t>
                      </a:r>
                    </a:p>
                  </a:txBody>
                  <a:tcPr>
                    <a:solidFill>
                      <a:srgbClr val="92D050"/>
                    </a:solidFill>
                  </a:tcPr>
                </a:tc>
                <a:extLst>
                  <a:ext uri="{0D108BD9-81ED-4DB2-BD59-A6C34878D82A}">
                    <a16:rowId xmlns:a16="http://schemas.microsoft.com/office/drawing/2014/main" val="10005"/>
                  </a:ext>
                </a:extLst>
              </a:tr>
              <a:tr h="346841">
                <a:tc>
                  <a:txBody>
                    <a:bodyPr/>
                    <a:lstStyle/>
                    <a:p>
                      <a:r>
                        <a:rPr lang="en-US" dirty="0">
                          <a:solidFill>
                            <a:schemeClr val="tx1"/>
                          </a:solidFill>
                        </a:rPr>
                        <a:t>5</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a</a:t>
                      </a:r>
                    </a:p>
                  </a:txBody>
                  <a:tcPr>
                    <a:solidFill>
                      <a:srgbClr val="92D050"/>
                    </a:solidFill>
                  </a:tcPr>
                </a:tc>
                <a:tc>
                  <a:txBody>
                    <a:bodyPr/>
                    <a:lstStyle/>
                    <a:p>
                      <a:r>
                        <a:rPr lang="en-US" dirty="0">
                          <a:solidFill>
                            <a:schemeClr val="tx1"/>
                          </a:solidFill>
                        </a:rPr>
                        <a:t>4</a:t>
                      </a:r>
                    </a:p>
                  </a:txBody>
                  <a:tcPr>
                    <a:solidFill>
                      <a:srgbClr val="92D050"/>
                    </a:solidFill>
                  </a:tcPr>
                </a:tc>
                <a:extLst>
                  <a:ext uri="{0D108BD9-81ED-4DB2-BD59-A6C34878D82A}">
                    <a16:rowId xmlns:a16="http://schemas.microsoft.com/office/drawing/2014/main" val="10006"/>
                  </a:ext>
                </a:extLst>
              </a:tr>
            </a:tbl>
          </a:graphicData>
        </a:graphic>
      </p:graphicFrame>
      <p:sp>
        <p:nvSpPr>
          <p:cNvPr id="24671" name="TextBox 53"/>
          <p:cNvSpPr txBox="1">
            <a:spLocks noChangeArrowheads="1"/>
          </p:cNvSpPr>
          <p:nvPr/>
        </p:nvSpPr>
        <p:spPr bwMode="auto">
          <a:xfrm>
            <a:off x="3733800" y="3124200"/>
            <a:ext cx="868363" cy="369888"/>
          </a:xfrm>
          <a:prstGeom prst="rect">
            <a:avLst/>
          </a:prstGeom>
          <a:noFill/>
          <a:ln w="9525">
            <a:noFill/>
            <a:miter lim="800000"/>
            <a:headEnd/>
            <a:tailEnd/>
          </a:ln>
        </p:spPr>
        <p:txBody>
          <a:bodyPr wrap="none">
            <a:spAutoFit/>
          </a:bodyPr>
          <a:lstStyle/>
          <a:p>
            <a:r>
              <a:rPr lang="en-US"/>
              <a:t>Triples</a:t>
            </a:r>
          </a:p>
        </p:txBody>
      </p:sp>
      <p:sp>
        <p:nvSpPr>
          <p:cNvPr id="24672" name="TextBox 53"/>
          <p:cNvSpPr txBox="1">
            <a:spLocks noChangeArrowheads="1"/>
          </p:cNvSpPr>
          <p:nvPr/>
        </p:nvSpPr>
        <p:spPr bwMode="auto">
          <a:xfrm>
            <a:off x="5715000" y="3200400"/>
            <a:ext cx="2239963" cy="369888"/>
          </a:xfrm>
          <a:prstGeom prst="rect">
            <a:avLst/>
          </a:prstGeom>
          <a:noFill/>
          <a:ln w="9525">
            <a:noFill/>
            <a:miter lim="800000"/>
            <a:headEnd/>
            <a:tailEnd/>
          </a:ln>
        </p:spPr>
        <p:txBody>
          <a:bodyPr>
            <a:spAutoFit/>
          </a:bodyPr>
          <a:lstStyle/>
          <a:p>
            <a:pPr algn="ctr"/>
            <a:r>
              <a:rPr lang="en-US"/>
              <a:t> Indirect  Triples</a:t>
            </a:r>
          </a:p>
        </p:txBody>
      </p:sp>
      <p:graphicFrame>
        <p:nvGraphicFramePr>
          <p:cNvPr id="15" name="Table 14"/>
          <p:cNvGraphicFramePr>
            <a:graphicFrameLocks noGrp="1"/>
          </p:cNvGraphicFramePr>
          <p:nvPr/>
        </p:nvGraphicFramePr>
        <p:xfrm>
          <a:off x="6400800" y="3505200"/>
          <a:ext cx="2209800" cy="2628112"/>
        </p:xfrm>
        <a:graphic>
          <a:graphicData uri="http://schemas.openxmlformats.org/drawingml/2006/table">
            <a:tbl>
              <a:tblPr firstRow="1" bandRow="1">
                <a:tableStyleId>{5C22544A-7EE6-4342-B048-85BDC9FD1C3A}</a:tableStyleId>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2450">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433552">
                <a:tc>
                  <a:txBody>
                    <a:bodyPr/>
                    <a:lstStyle/>
                    <a:p>
                      <a:endParaRPr lang="en-US" sz="1200" dirty="0">
                        <a:solidFill>
                          <a:schemeClr val="tx1"/>
                        </a:solidFill>
                      </a:endParaRPr>
                    </a:p>
                  </a:txBody>
                  <a:tcPr>
                    <a:solidFill>
                      <a:srgbClr val="92D050"/>
                    </a:solidFill>
                  </a:tcPr>
                </a:tc>
                <a:tc>
                  <a:txBody>
                    <a:bodyPr/>
                    <a:lstStyle/>
                    <a:p>
                      <a:r>
                        <a:rPr lang="en-US" sz="1200" dirty="0">
                          <a:solidFill>
                            <a:schemeClr val="tx1"/>
                          </a:solidFill>
                        </a:rPr>
                        <a:t>op</a:t>
                      </a:r>
                    </a:p>
                  </a:txBody>
                  <a:tcPr>
                    <a:solidFill>
                      <a:srgbClr val="92D050"/>
                    </a:solidFill>
                  </a:tcPr>
                </a:tc>
                <a:tc>
                  <a:txBody>
                    <a:bodyPr/>
                    <a:lstStyle/>
                    <a:p>
                      <a:r>
                        <a:rPr lang="en-US" sz="1200" dirty="0">
                          <a:solidFill>
                            <a:schemeClr val="tx1"/>
                          </a:solidFill>
                        </a:rPr>
                        <a:t>arg1</a:t>
                      </a:r>
                    </a:p>
                  </a:txBody>
                  <a:tcP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arg1</a:t>
                      </a:r>
                    </a:p>
                  </a:txBody>
                  <a:tcPr>
                    <a:solidFill>
                      <a:srgbClr val="92D050"/>
                    </a:solidFill>
                  </a:tcPr>
                </a:tc>
                <a:extLst>
                  <a:ext uri="{0D108BD9-81ED-4DB2-BD59-A6C34878D82A}">
                    <a16:rowId xmlns:a16="http://schemas.microsoft.com/office/drawing/2014/main" val="10000"/>
                  </a:ext>
                </a:extLst>
              </a:tr>
              <a:tr h="346841">
                <a:tc>
                  <a:txBody>
                    <a:bodyPr/>
                    <a:lstStyle/>
                    <a:p>
                      <a:r>
                        <a:rPr lang="en-US" sz="1800" dirty="0">
                          <a:solidFill>
                            <a:schemeClr val="tx1"/>
                          </a:solidFill>
                        </a:rPr>
                        <a:t>0</a:t>
                      </a:r>
                      <a:endParaRPr lang="en-US" sz="1200" dirty="0">
                        <a:solidFill>
                          <a:schemeClr val="tx1"/>
                        </a:solidFill>
                      </a:endParaRPr>
                    </a:p>
                  </a:txBody>
                  <a:tcPr>
                    <a:solidFill>
                      <a:srgbClr val="92D050"/>
                    </a:solidFill>
                  </a:tcPr>
                </a:tc>
                <a:tc>
                  <a:txBody>
                    <a:bodyPr/>
                    <a:lstStyle/>
                    <a:p>
                      <a:r>
                        <a:rPr lang="en-US" sz="1100" dirty="0">
                          <a:solidFill>
                            <a:schemeClr val="tx1"/>
                          </a:solidFill>
                        </a:rPr>
                        <a:t>minus</a:t>
                      </a:r>
                    </a:p>
                  </a:txBody>
                  <a:tcPr>
                    <a:solidFill>
                      <a:srgbClr val="92D050"/>
                    </a:solidFill>
                  </a:tcPr>
                </a:tc>
                <a:tc>
                  <a:txBody>
                    <a:bodyPr/>
                    <a:lstStyle/>
                    <a:p>
                      <a:r>
                        <a:rPr lang="en-US" dirty="0">
                          <a:solidFill>
                            <a:schemeClr val="tx1"/>
                          </a:solidFill>
                        </a:rPr>
                        <a:t>c</a:t>
                      </a:r>
                    </a:p>
                  </a:txBody>
                  <a:tcPr>
                    <a:solidFill>
                      <a:srgbClr val="92D050"/>
                    </a:solidFill>
                  </a:tcPr>
                </a:tc>
                <a:tc>
                  <a:txBody>
                    <a:bodyPr/>
                    <a:lstStyle/>
                    <a:p>
                      <a:endParaRPr lang="en-US" dirty="0">
                        <a:solidFill>
                          <a:schemeClr val="tx1"/>
                        </a:solidFill>
                      </a:endParaRPr>
                    </a:p>
                  </a:txBody>
                  <a:tcPr>
                    <a:solidFill>
                      <a:srgbClr val="92D050"/>
                    </a:solidFill>
                  </a:tcPr>
                </a:tc>
                <a:extLst>
                  <a:ext uri="{0D108BD9-81ED-4DB2-BD59-A6C34878D82A}">
                    <a16:rowId xmlns:a16="http://schemas.microsoft.com/office/drawing/2014/main" val="10001"/>
                  </a:ext>
                </a:extLst>
              </a:tr>
              <a:tr h="346841">
                <a:tc>
                  <a:txBody>
                    <a:bodyPr/>
                    <a:lstStyle/>
                    <a:p>
                      <a:r>
                        <a:rPr lang="en-US" dirty="0">
                          <a:solidFill>
                            <a:schemeClr val="tx1"/>
                          </a:solidFill>
                        </a:rPr>
                        <a:t>1</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b</a:t>
                      </a:r>
                    </a:p>
                  </a:txBody>
                  <a:tcPr>
                    <a:solidFill>
                      <a:srgbClr val="92D050"/>
                    </a:solidFill>
                  </a:tcPr>
                </a:tc>
                <a:tc>
                  <a:txBody>
                    <a:bodyPr/>
                    <a:lstStyle/>
                    <a:p>
                      <a:r>
                        <a:rPr lang="en-US" dirty="0">
                          <a:solidFill>
                            <a:schemeClr val="tx1"/>
                          </a:solidFill>
                        </a:rPr>
                        <a:t>0</a:t>
                      </a:r>
                    </a:p>
                  </a:txBody>
                  <a:tcPr>
                    <a:solidFill>
                      <a:srgbClr val="92D050"/>
                    </a:solidFill>
                  </a:tcPr>
                </a:tc>
                <a:extLst>
                  <a:ext uri="{0D108BD9-81ED-4DB2-BD59-A6C34878D82A}">
                    <a16:rowId xmlns:a16="http://schemas.microsoft.com/office/drawing/2014/main" val="10002"/>
                  </a:ext>
                </a:extLst>
              </a:tr>
              <a:tr h="346841">
                <a:tc>
                  <a:txBody>
                    <a:bodyPr/>
                    <a:lstStyle/>
                    <a:p>
                      <a:r>
                        <a:rPr lang="en-US" sz="1800" dirty="0">
                          <a:solidFill>
                            <a:schemeClr val="tx1"/>
                          </a:solidFill>
                        </a:rPr>
                        <a:t>2</a:t>
                      </a:r>
                    </a:p>
                  </a:txBody>
                  <a:tcPr>
                    <a:solidFill>
                      <a:srgbClr val="92D050"/>
                    </a:solidFill>
                  </a:tcPr>
                </a:tc>
                <a:tc>
                  <a:txBody>
                    <a:bodyPr/>
                    <a:lstStyle/>
                    <a:p>
                      <a:r>
                        <a:rPr lang="en-US" sz="1100" dirty="0">
                          <a:solidFill>
                            <a:schemeClr val="tx1"/>
                          </a:solidFill>
                        </a:rPr>
                        <a:t>minus</a:t>
                      </a:r>
                    </a:p>
                  </a:txBody>
                  <a:tcPr>
                    <a:solidFill>
                      <a:srgbClr val="92D050"/>
                    </a:solidFill>
                  </a:tcPr>
                </a:tc>
                <a:tc>
                  <a:txBody>
                    <a:bodyPr/>
                    <a:lstStyle/>
                    <a:p>
                      <a:r>
                        <a:rPr lang="en-US" dirty="0">
                          <a:solidFill>
                            <a:schemeClr val="tx1"/>
                          </a:solidFill>
                        </a:rPr>
                        <a:t>c</a:t>
                      </a:r>
                    </a:p>
                  </a:txBody>
                  <a:tcPr>
                    <a:solidFill>
                      <a:srgbClr val="92D050"/>
                    </a:solidFill>
                  </a:tcPr>
                </a:tc>
                <a:tc>
                  <a:txBody>
                    <a:bodyPr/>
                    <a:lstStyle/>
                    <a:p>
                      <a:endParaRPr lang="en-US" dirty="0">
                        <a:solidFill>
                          <a:schemeClr val="tx1"/>
                        </a:solidFill>
                      </a:endParaRPr>
                    </a:p>
                  </a:txBody>
                  <a:tcPr>
                    <a:solidFill>
                      <a:srgbClr val="92D050"/>
                    </a:solidFill>
                  </a:tcPr>
                </a:tc>
                <a:extLst>
                  <a:ext uri="{0D108BD9-81ED-4DB2-BD59-A6C34878D82A}">
                    <a16:rowId xmlns:a16="http://schemas.microsoft.com/office/drawing/2014/main" val="10003"/>
                  </a:ext>
                </a:extLst>
              </a:tr>
              <a:tr h="346841">
                <a:tc>
                  <a:txBody>
                    <a:bodyPr/>
                    <a:lstStyle/>
                    <a:p>
                      <a:r>
                        <a:rPr lang="en-US" dirty="0">
                          <a:solidFill>
                            <a:schemeClr val="tx1"/>
                          </a:solidFill>
                        </a:rPr>
                        <a:t>3</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b</a:t>
                      </a:r>
                    </a:p>
                  </a:txBody>
                  <a:tcPr>
                    <a:solidFill>
                      <a:srgbClr val="92D050"/>
                    </a:solidFill>
                  </a:tcPr>
                </a:tc>
                <a:tc>
                  <a:txBody>
                    <a:bodyPr/>
                    <a:lstStyle/>
                    <a:p>
                      <a:r>
                        <a:rPr lang="en-US" dirty="0">
                          <a:solidFill>
                            <a:schemeClr val="tx1"/>
                          </a:solidFill>
                        </a:rPr>
                        <a:t>2</a:t>
                      </a:r>
                    </a:p>
                  </a:txBody>
                  <a:tcPr>
                    <a:solidFill>
                      <a:srgbClr val="92D050"/>
                    </a:solidFill>
                  </a:tcPr>
                </a:tc>
                <a:extLst>
                  <a:ext uri="{0D108BD9-81ED-4DB2-BD59-A6C34878D82A}">
                    <a16:rowId xmlns:a16="http://schemas.microsoft.com/office/drawing/2014/main" val="10004"/>
                  </a:ext>
                </a:extLst>
              </a:tr>
              <a:tr h="346841">
                <a:tc>
                  <a:txBody>
                    <a:bodyPr/>
                    <a:lstStyle/>
                    <a:p>
                      <a:r>
                        <a:rPr lang="en-US" dirty="0">
                          <a:solidFill>
                            <a:schemeClr val="tx1"/>
                          </a:solidFill>
                        </a:rPr>
                        <a:t>4</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1</a:t>
                      </a:r>
                    </a:p>
                  </a:txBody>
                  <a:tcPr>
                    <a:solidFill>
                      <a:srgbClr val="92D050"/>
                    </a:solidFill>
                  </a:tcPr>
                </a:tc>
                <a:tc>
                  <a:txBody>
                    <a:bodyPr/>
                    <a:lstStyle/>
                    <a:p>
                      <a:r>
                        <a:rPr lang="en-US" dirty="0">
                          <a:solidFill>
                            <a:schemeClr val="tx1"/>
                          </a:solidFill>
                        </a:rPr>
                        <a:t>3</a:t>
                      </a:r>
                    </a:p>
                  </a:txBody>
                  <a:tcPr>
                    <a:solidFill>
                      <a:srgbClr val="92D050"/>
                    </a:solidFill>
                  </a:tcPr>
                </a:tc>
                <a:extLst>
                  <a:ext uri="{0D108BD9-81ED-4DB2-BD59-A6C34878D82A}">
                    <a16:rowId xmlns:a16="http://schemas.microsoft.com/office/drawing/2014/main" val="10005"/>
                  </a:ext>
                </a:extLst>
              </a:tr>
              <a:tr h="346841">
                <a:tc>
                  <a:txBody>
                    <a:bodyPr/>
                    <a:lstStyle/>
                    <a:p>
                      <a:r>
                        <a:rPr lang="en-US" dirty="0">
                          <a:solidFill>
                            <a:schemeClr val="tx1"/>
                          </a:solidFill>
                        </a:rPr>
                        <a:t>5</a:t>
                      </a:r>
                    </a:p>
                  </a:txBody>
                  <a:tcPr>
                    <a:solidFill>
                      <a:srgbClr val="92D050"/>
                    </a:solidFill>
                  </a:tcPr>
                </a:tc>
                <a:tc>
                  <a:txBody>
                    <a:bodyPr/>
                    <a:lstStyle/>
                    <a:p>
                      <a:r>
                        <a:rPr lang="en-US" dirty="0">
                          <a:solidFill>
                            <a:schemeClr val="tx1"/>
                          </a:solidFill>
                        </a:rPr>
                        <a:t>=</a:t>
                      </a:r>
                    </a:p>
                  </a:txBody>
                  <a:tcPr>
                    <a:solidFill>
                      <a:srgbClr val="92D050"/>
                    </a:solidFill>
                  </a:tcPr>
                </a:tc>
                <a:tc>
                  <a:txBody>
                    <a:bodyPr/>
                    <a:lstStyle/>
                    <a:p>
                      <a:r>
                        <a:rPr lang="en-US" dirty="0">
                          <a:solidFill>
                            <a:schemeClr val="tx1"/>
                          </a:solidFill>
                        </a:rPr>
                        <a:t>a</a:t>
                      </a:r>
                    </a:p>
                  </a:txBody>
                  <a:tcPr>
                    <a:solidFill>
                      <a:srgbClr val="92D050"/>
                    </a:solidFill>
                  </a:tcPr>
                </a:tc>
                <a:tc>
                  <a:txBody>
                    <a:bodyPr/>
                    <a:lstStyle/>
                    <a:p>
                      <a:r>
                        <a:rPr lang="en-US" dirty="0">
                          <a:solidFill>
                            <a:schemeClr val="tx1"/>
                          </a:solidFill>
                        </a:rPr>
                        <a:t>4</a:t>
                      </a:r>
                    </a:p>
                  </a:txBody>
                  <a:tcPr>
                    <a:solidFill>
                      <a:srgbClr val="92D050"/>
                    </a:solidFill>
                  </a:tcPr>
                </a:tc>
                <a:extLst>
                  <a:ext uri="{0D108BD9-81ED-4DB2-BD59-A6C34878D82A}">
                    <a16:rowId xmlns:a16="http://schemas.microsoft.com/office/drawing/2014/main" val="10006"/>
                  </a:ext>
                </a:extLst>
              </a:tr>
            </a:tbl>
          </a:graphicData>
        </a:graphic>
      </p:graphicFrame>
      <p:graphicFrame>
        <p:nvGraphicFramePr>
          <p:cNvPr id="16" name="Table 15"/>
          <p:cNvGraphicFramePr>
            <a:graphicFrameLocks noGrp="1"/>
          </p:cNvGraphicFramePr>
          <p:nvPr/>
        </p:nvGraphicFramePr>
        <p:xfrm>
          <a:off x="5410200" y="3505200"/>
          <a:ext cx="914400" cy="2628112"/>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433552">
                <a:tc>
                  <a:txBody>
                    <a:bodyPr/>
                    <a:lstStyle/>
                    <a:p>
                      <a:endParaRPr lang="en-US" sz="1200" dirty="0">
                        <a:solidFill>
                          <a:schemeClr val="tx1"/>
                        </a:solidFill>
                      </a:endParaRPr>
                    </a:p>
                  </a:txBody>
                  <a:tcPr>
                    <a:solidFill>
                      <a:srgbClr val="92D050"/>
                    </a:solidFill>
                  </a:tcPr>
                </a:tc>
                <a:tc>
                  <a:txBody>
                    <a:bodyPr/>
                    <a:lstStyle/>
                    <a:p>
                      <a:r>
                        <a:rPr lang="en-US" sz="1200" dirty="0">
                          <a:solidFill>
                            <a:schemeClr val="tx1"/>
                          </a:solidFill>
                        </a:rPr>
                        <a:t>op</a:t>
                      </a:r>
                    </a:p>
                  </a:txBody>
                  <a:tcPr>
                    <a:solidFill>
                      <a:srgbClr val="92D050"/>
                    </a:solidFill>
                  </a:tcPr>
                </a:tc>
                <a:extLst>
                  <a:ext uri="{0D108BD9-81ED-4DB2-BD59-A6C34878D82A}">
                    <a16:rowId xmlns:a16="http://schemas.microsoft.com/office/drawing/2014/main" val="10000"/>
                  </a:ext>
                </a:extLst>
              </a:tr>
              <a:tr h="346841">
                <a:tc>
                  <a:txBody>
                    <a:bodyPr/>
                    <a:lstStyle/>
                    <a:p>
                      <a:r>
                        <a:rPr lang="en-US" sz="1800" dirty="0">
                          <a:solidFill>
                            <a:schemeClr val="tx1"/>
                          </a:solidFill>
                        </a:rPr>
                        <a:t>0</a:t>
                      </a:r>
                      <a:endParaRPr lang="en-US" sz="1200" dirty="0">
                        <a:solidFill>
                          <a:schemeClr val="tx1"/>
                        </a:solidFill>
                      </a:endParaRPr>
                    </a:p>
                  </a:txBody>
                  <a:tcPr>
                    <a:solidFill>
                      <a:srgbClr val="92D050"/>
                    </a:solidFill>
                  </a:tcPr>
                </a:tc>
                <a:tc>
                  <a:txBody>
                    <a:bodyPr/>
                    <a:lstStyle/>
                    <a:p>
                      <a:r>
                        <a:rPr lang="en-US" sz="1800" dirty="0">
                          <a:solidFill>
                            <a:schemeClr val="tx1"/>
                          </a:solidFill>
                        </a:rPr>
                        <a:t>0</a:t>
                      </a:r>
                      <a:endParaRPr lang="en-US" sz="1200" dirty="0">
                        <a:solidFill>
                          <a:schemeClr val="tx1"/>
                        </a:solidFill>
                      </a:endParaRPr>
                    </a:p>
                  </a:txBody>
                  <a:tcPr>
                    <a:solidFill>
                      <a:srgbClr val="92D050"/>
                    </a:solidFill>
                  </a:tcPr>
                </a:tc>
                <a:extLst>
                  <a:ext uri="{0D108BD9-81ED-4DB2-BD59-A6C34878D82A}">
                    <a16:rowId xmlns:a16="http://schemas.microsoft.com/office/drawing/2014/main" val="10001"/>
                  </a:ext>
                </a:extLst>
              </a:tr>
              <a:tr h="346841">
                <a:tc>
                  <a:txBody>
                    <a:bodyPr/>
                    <a:lstStyle/>
                    <a:p>
                      <a:r>
                        <a:rPr lang="en-US" dirty="0">
                          <a:solidFill>
                            <a:schemeClr val="tx1"/>
                          </a:solidFill>
                        </a:rPr>
                        <a:t>1</a:t>
                      </a:r>
                    </a:p>
                  </a:txBody>
                  <a:tcPr>
                    <a:solidFill>
                      <a:srgbClr val="92D050"/>
                    </a:solidFill>
                  </a:tcPr>
                </a:tc>
                <a:tc>
                  <a:txBody>
                    <a:bodyPr/>
                    <a:lstStyle/>
                    <a:p>
                      <a:r>
                        <a:rPr lang="en-US" dirty="0">
                          <a:solidFill>
                            <a:schemeClr val="tx1"/>
                          </a:solidFill>
                        </a:rPr>
                        <a:t>1</a:t>
                      </a:r>
                    </a:p>
                  </a:txBody>
                  <a:tcPr>
                    <a:solidFill>
                      <a:srgbClr val="92D050"/>
                    </a:solidFill>
                  </a:tcPr>
                </a:tc>
                <a:extLst>
                  <a:ext uri="{0D108BD9-81ED-4DB2-BD59-A6C34878D82A}">
                    <a16:rowId xmlns:a16="http://schemas.microsoft.com/office/drawing/2014/main" val="10002"/>
                  </a:ext>
                </a:extLst>
              </a:tr>
              <a:tr h="346841">
                <a:tc>
                  <a:txBody>
                    <a:bodyPr/>
                    <a:lstStyle/>
                    <a:p>
                      <a:r>
                        <a:rPr lang="en-US" sz="1800" dirty="0">
                          <a:solidFill>
                            <a:schemeClr val="tx1"/>
                          </a:solidFill>
                        </a:rPr>
                        <a:t>2</a:t>
                      </a:r>
                    </a:p>
                  </a:txBody>
                  <a:tcPr>
                    <a:solidFill>
                      <a:srgbClr val="92D050"/>
                    </a:solidFill>
                  </a:tcPr>
                </a:tc>
                <a:tc>
                  <a:txBody>
                    <a:bodyPr/>
                    <a:lstStyle/>
                    <a:p>
                      <a:r>
                        <a:rPr lang="en-US" sz="1800" dirty="0">
                          <a:solidFill>
                            <a:schemeClr val="tx1"/>
                          </a:solidFill>
                        </a:rPr>
                        <a:t>2</a:t>
                      </a:r>
                    </a:p>
                  </a:txBody>
                  <a:tcPr>
                    <a:solidFill>
                      <a:srgbClr val="92D050"/>
                    </a:solidFill>
                  </a:tcPr>
                </a:tc>
                <a:extLst>
                  <a:ext uri="{0D108BD9-81ED-4DB2-BD59-A6C34878D82A}">
                    <a16:rowId xmlns:a16="http://schemas.microsoft.com/office/drawing/2014/main" val="10003"/>
                  </a:ext>
                </a:extLst>
              </a:tr>
              <a:tr h="346841">
                <a:tc>
                  <a:txBody>
                    <a:bodyPr/>
                    <a:lstStyle/>
                    <a:p>
                      <a:r>
                        <a:rPr lang="en-US" dirty="0">
                          <a:solidFill>
                            <a:schemeClr val="tx1"/>
                          </a:solidFill>
                        </a:rPr>
                        <a:t>3</a:t>
                      </a:r>
                    </a:p>
                  </a:txBody>
                  <a:tcPr>
                    <a:solidFill>
                      <a:srgbClr val="92D050"/>
                    </a:solidFill>
                  </a:tcPr>
                </a:tc>
                <a:tc>
                  <a:txBody>
                    <a:bodyPr/>
                    <a:lstStyle/>
                    <a:p>
                      <a:r>
                        <a:rPr lang="en-US" dirty="0">
                          <a:solidFill>
                            <a:schemeClr val="tx1"/>
                          </a:solidFill>
                        </a:rPr>
                        <a:t>3</a:t>
                      </a:r>
                    </a:p>
                  </a:txBody>
                  <a:tcPr>
                    <a:solidFill>
                      <a:srgbClr val="92D050"/>
                    </a:solidFill>
                  </a:tcPr>
                </a:tc>
                <a:extLst>
                  <a:ext uri="{0D108BD9-81ED-4DB2-BD59-A6C34878D82A}">
                    <a16:rowId xmlns:a16="http://schemas.microsoft.com/office/drawing/2014/main" val="10004"/>
                  </a:ext>
                </a:extLst>
              </a:tr>
              <a:tr h="346841">
                <a:tc>
                  <a:txBody>
                    <a:bodyPr/>
                    <a:lstStyle/>
                    <a:p>
                      <a:r>
                        <a:rPr lang="en-US" dirty="0">
                          <a:solidFill>
                            <a:schemeClr val="tx1"/>
                          </a:solidFill>
                        </a:rPr>
                        <a:t>4</a:t>
                      </a:r>
                    </a:p>
                  </a:txBody>
                  <a:tcPr>
                    <a:solidFill>
                      <a:srgbClr val="92D050"/>
                    </a:solidFill>
                  </a:tcPr>
                </a:tc>
                <a:tc>
                  <a:txBody>
                    <a:bodyPr/>
                    <a:lstStyle/>
                    <a:p>
                      <a:r>
                        <a:rPr lang="en-US" dirty="0">
                          <a:solidFill>
                            <a:schemeClr val="tx1"/>
                          </a:solidFill>
                        </a:rPr>
                        <a:t>4</a:t>
                      </a:r>
                    </a:p>
                  </a:txBody>
                  <a:tcPr>
                    <a:solidFill>
                      <a:srgbClr val="92D050"/>
                    </a:solidFill>
                  </a:tcPr>
                </a:tc>
                <a:extLst>
                  <a:ext uri="{0D108BD9-81ED-4DB2-BD59-A6C34878D82A}">
                    <a16:rowId xmlns:a16="http://schemas.microsoft.com/office/drawing/2014/main" val="10005"/>
                  </a:ext>
                </a:extLst>
              </a:tr>
              <a:tr h="346841">
                <a:tc>
                  <a:txBody>
                    <a:bodyPr/>
                    <a:lstStyle/>
                    <a:p>
                      <a:r>
                        <a:rPr lang="en-US" dirty="0">
                          <a:solidFill>
                            <a:schemeClr val="tx1"/>
                          </a:solidFill>
                        </a:rPr>
                        <a:t>5</a:t>
                      </a:r>
                    </a:p>
                  </a:txBody>
                  <a:tcPr>
                    <a:solidFill>
                      <a:srgbClr val="92D050"/>
                    </a:solidFill>
                  </a:tcPr>
                </a:tc>
                <a:tc>
                  <a:txBody>
                    <a:bodyPr/>
                    <a:lstStyle/>
                    <a:p>
                      <a:r>
                        <a:rPr lang="en-US" dirty="0">
                          <a:solidFill>
                            <a:schemeClr val="tx1"/>
                          </a:solidFill>
                        </a:rPr>
                        <a:t>5</a:t>
                      </a:r>
                    </a:p>
                  </a:txBody>
                  <a:tcPr>
                    <a:solidFill>
                      <a:srgbClr val="92D050"/>
                    </a:solidFill>
                  </a:tcPr>
                </a:tc>
                <a:extLst>
                  <a:ext uri="{0D108BD9-81ED-4DB2-BD59-A6C34878D82A}">
                    <a16:rowId xmlns:a16="http://schemas.microsoft.com/office/drawing/2014/main" val="10006"/>
                  </a:ext>
                </a:extLst>
              </a:tr>
            </a:tbl>
          </a:graphicData>
        </a:graphic>
      </p:graphicFrame>
      <p:pic>
        <p:nvPicPr>
          <p:cNvPr id="17" name="Picture 16"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73346379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574675" y="1981199"/>
          <a:ext cx="7756525" cy="3469724"/>
        </p:xfrm>
        <a:graphic>
          <a:graphicData uri="http://schemas.openxmlformats.org/drawingml/2006/table">
            <a:tbl>
              <a:tblPr/>
              <a:tblGrid>
                <a:gridCol w="1220788">
                  <a:extLst>
                    <a:ext uri="{9D8B030D-6E8A-4147-A177-3AD203B41FA5}">
                      <a16:colId xmlns:a16="http://schemas.microsoft.com/office/drawing/2014/main" val="20000"/>
                    </a:ext>
                  </a:extLst>
                </a:gridCol>
                <a:gridCol w="2011362">
                  <a:extLst>
                    <a:ext uri="{9D8B030D-6E8A-4147-A177-3AD203B41FA5}">
                      <a16:colId xmlns:a16="http://schemas.microsoft.com/office/drawing/2014/main" val="20001"/>
                    </a:ext>
                  </a:extLst>
                </a:gridCol>
                <a:gridCol w="1587500">
                  <a:extLst>
                    <a:ext uri="{9D8B030D-6E8A-4147-A177-3AD203B41FA5}">
                      <a16:colId xmlns:a16="http://schemas.microsoft.com/office/drawing/2014/main" val="20002"/>
                    </a:ext>
                  </a:extLst>
                </a:gridCol>
                <a:gridCol w="1606550">
                  <a:extLst>
                    <a:ext uri="{9D8B030D-6E8A-4147-A177-3AD203B41FA5}">
                      <a16:colId xmlns:a16="http://schemas.microsoft.com/office/drawing/2014/main" val="20003"/>
                    </a:ext>
                  </a:extLst>
                </a:gridCol>
                <a:gridCol w="1330325">
                  <a:extLst>
                    <a:ext uri="{9D8B030D-6E8A-4147-A177-3AD203B41FA5}">
                      <a16:colId xmlns:a16="http://schemas.microsoft.com/office/drawing/2014/main" val="20004"/>
                    </a:ext>
                  </a:extLst>
                </a:gridCol>
              </a:tblGrid>
              <a:tr h="609601">
                <a:tc>
                  <a:txBody>
                    <a:bodyPr/>
                    <a:lstStyle/>
                    <a:p>
                      <a:pPr marL="31750" marR="0" lvl="0" indent="0" algn="ctr" defTabSz="914400" rtl="0" eaLnBrk="1" fontAlgn="base" latinLnBrk="0" hangingPunct="1">
                        <a:lnSpc>
                          <a:spcPct val="100000"/>
                        </a:lnSpc>
                        <a:spcBef>
                          <a:spcPct val="0"/>
                        </a:spcBef>
                        <a:spcAft>
                          <a:spcPct val="0"/>
                        </a:spcAft>
                        <a:buClrTx/>
                        <a:buSzTx/>
                        <a:buFontTx/>
                        <a:buNone/>
                        <a:tabLst/>
                      </a:pPr>
                      <a:endParaRPr kumimoji="0" lang="en-US" sz="2200" b="1" i="0" u="none" strike="noStrike" cap="none" normalizeH="0" baseline="0" dirty="0">
                        <a:ln>
                          <a:noFill/>
                        </a:ln>
                        <a:solidFill>
                          <a:schemeClr val="tx1"/>
                        </a:solidFill>
                        <a:effectLst/>
                        <a:latin typeface="+mn-lt"/>
                        <a:cs typeface="Times New Roman" pitchFamily="18" charset="0"/>
                      </a:endParaRPr>
                    </a:p>
                    <a:p>
                      <a:pPr marL="3175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Courier New" pitchFamily="49" charset="0"/>
                        </a:rPr>
                        <a:t>            </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625"/>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Arial" pitchFamily="34" charset="0"/>
                        </a:rPr>
                        <a:t>op</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625"/>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Arial" pitchFamily="34" charset="0"/>
                        </a:rPr>
                        <a:t>arg1</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Arial" pitchFamily="34" charset="0"/>
                        </a:rPr>
                        <a:t>arg2</a:t>
                      </a:r>
                    </a:p>
                  </a:txBody>
                  <a:tcPr marL="0" marR="0" marT="190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Arial" pitchFamily="34" charset="0"/>
                        </a:rPr>
                        <a:t>result</a:t>
                      </a:r>
                    </a:p>
                  </a:txBody>
                  <a:tcPr marL="0" marR="0" marT="190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455776">
                <a:tc>
                  <a:txBody>
                    <a:bodyPr/>
                    <a:lstStyle/>
                    <a:p>
                      <a:pPr marL="31750" marR="0" lvl="0" indent="0" algn="ctr" defTabSz="914400" rtl="0" eaLnBrk="1" fontAlgn="base" latinLnBrk="0" hangingPunct="1">
                        <a:lnSpc>
                          <a:spcPct val="100000"/>
                        </a:lnSpc>
                        <a:spcBef>
                          <a:spcPct val="0"/>
                        </a:spcBef>
                        <a:spcAft>
                          <a:spcPct val="0"/>
                        </a:spcAft>
                        <a:buClrTx/>
                        <a:buSzTx/>
                        <a:buFontTx/>
                        <a:buNone/>
                        <a:tabLst/>
                        <a:defRPr/>
                      </a:pPr>
                      <a:r>
                        <a:rPr kumimoji="0" lang="en-US" sz="2200" b="0" i="0" u="none" strike="noStrike" kern="1200" cap="none" normalizeH="0" baseline="0" dirty="0">
                          <a:ln>
                            <a:noFill/>
                          </a:ln>
                          <a:solidFill>
                            <a:schemeClr val="tx1"/>
                          </a:solidFill>
                          <a:effectLst/>
                          <a:latin typeface="+mn-lt"/>
                          <a:ea typeface="+mn-ea"/>
                          <a:cs typeface="Courier New" pitchFamily="49" charset="0"/>
                        </a:rPr>
                        <a:t>(0)</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513"/>
                        </a:spcBef>
                        <a:spcAft>
                          <a:spcPct val="0"/>
                        </a:spcAft>
                        <a:buClrTx/>
                        <a:buSzTx/>
                        <a:buFontTx/>
                        <a:buNone/>
                        <a:tabLst/>
                        <a:defRPr/>
                      </a:pPr>
                      <a:r>
                        <a:rPr kumimoji="0" lang="en-US" sz="2200" b="0" i="0" u="none" strike="noStrike" kern="1200" cap="none" normalizeH="0" baseline="0" dirty="0" err="1">
                          <a:ln>
                            <a:noFill/>
                          </a:ln>
                          <a:solidFill>
                            <a:schemeClr val="tx1"/>
                          </a:solidFill>
                          <a:effectLst/>
                          <a:latin typeface="+mn-lt"/>
                          <a:ea typeface="+mn-ea"/>
                          <a:cs typeface="Courier New" pitchFamily="49" charset="0"/>
                        </a:rPr>
                        <a:t>uminus</a:t>
                      </a:r>
                      <a:endParaRPr kumimoji="0" lang="en-US" sz="2200" b="0" i="0" u="none" strike="noStrike" cap="none" normalizeH="0" baseline="0" dirty="0">
                        <a:ln>
                          <a:noFill/>
                        </a:ln>
                        <a:solidFill>
                          <a:schemeClr val="tx1"/>
                        </a:solidFill>
                        <a:effectLst/>
                        <a:latin typeface="+mn-lt"/>
                        <a:cs typeface="Courier New" pitchFamily="49" charset="0"/>
                      </a:endParaRP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513"/>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c</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mn-lt"/>
                        <a:cs typeface="Arial" pitchFamily="34" charset="0"/>
                      </a:endParaRPr>
                    </a:p>
                  </a:txBody>
                  <a:tcPr marL="0" marR="0" marT="190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1513"/>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t1</a:t>
                      </a:r>
                    </a:p>
                  </a:txBody>
                  <a:tcPr marL="0" marR="0" marT="190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486012">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(1)</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765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b</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8"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t1</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75"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t2</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486012">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(2)</a:t>
                      </a:r>
                    </a:p>
                  </a:txBody>
                  <a:tcPr marL="0" marR="0" marT="61594"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9238"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err="1">
                          <a:ln>
                            <a:noFill/>
                          </a:ln>
                          <a:solidFill>
                            <a:schemeClr val="tx1"/>
                          </a:solidFill>
                          <a:effectLst/>
                          <a:latin typeface="+mn-lt"/>
                          <a:cs typeface="Courier New" pitchFamily="49" charset="0"/>
                        </a:rPr>
                        <a:t>uminus</a:t>
                      </a:r>
                      <a:endParaRPr kumimoji="0" lang="en-US" sz="2200" b="0" i="0" u="none" strike="noStrike" cap="none" normalizeH="0" baseline="0" dirty="0">
                        <a:ln>
                          <a:noFill/>
                        </a:ln>
                        <a:solidFill>
                          <a:schemeClr val="tx1"/>
                        </a:solidFill>
                        <a:effectLst/>
                        <a:latin typeface="+mn-lt"/>
                        <a:cs typeface="Courier New" pitchFamily="49" charset="0"/>
                      </a:endParaRPr>
                    </a:p>
                  </a:txBody>
                  <a:tcPr marL="0" marR="0" marT="61594"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c</a:t>
                      </a:r>
                    </a:p>
                  </a:txBody>
                  <a:tcPr marL="0" marR="0" marT="61594"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mn-lt"/>
                        <a:cs typeface="Times New Roman" pitchFamily="18" charset="0"/>
                      </a:endParaRP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75"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t3</a:t>
                      </a:r>
                    </a:p>
                  </a:txBody>
                  <a:tcPr marL="0" marR="0" marT="61594"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r h="486012">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(3)</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765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b</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8"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t3</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75"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t4</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4"/>
                  </a:ext>
                </a:extLst>
              </a:tr>
              <a:tr h="487207">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(4)</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765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t2</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8"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t4</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75"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t5</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5"/>
                  </a:ext>
                </a:extLst>
              </a:tr>
              <a:tr h="395257">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(5)</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9238"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t5</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mn-lt"/>
                        <a:cs typeface="Times New Roman" pitchFamily="18" charset="0"/>
                      </a:endParaRP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75"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a</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6"/>
                  </a:ext>
                </a:extLst>
              </a:tr>
            </a:tbl>
          </a:graphicData>
        </a:graphic>
      </p:graphicFrame>
      <p:sp>
        <p:nvSpPr>
          <p:cNvPr id="4" name="Rectangle 3"/>
          <p:cNvSpPr/>
          <p:nvPr/>
        </p:nvSpPr>
        <p:spPr>
          <a:xfrm>
            <a:off x="1524000" y="1295400"/>
            <a:ext cx="4267200" cy="733534"/>
          </a:xfrm>
          <a:prstGeom prst="rect">
            <a:avLst/>
          </a:prstGeom>
        </p:spPr>
        <p:txBody>
          <a:bodyPr wrap="square">
            <a:spAutoFit/>
          </a:bodyPr>
          <a:lstStyle/>
          <a:p>
            <a:pPr marL="31750">
              <a:lnSpc>
                <a:spcPts val="2475"/>
              </a:lnSpc>
            </a:pPr>
            <a:r>
              <a:rPr lang="en-US" sz="2200" dirty="0">
                <a:latin typeface="+mn-lt"/>
                <a:cs typeface="Courier New" pitchFamily="49" charset="0"/>
              </a:rPr>
              <a:t>a := b * -c + b * -c</a:t>
            </a:r>
          </a:p>
          <a:p>
            <a:pPr marL="31750" lvl="0">
              <a:lnSpc>
                <a:spcPts val="2475"/>
              </a:lnSpc>
            </a:pPr>
            <a:endParaRPr lang="en-US" dirty="0">
              <a:cs typeface="Courier New" pitchFamily="49" charset="0"/>
            </a:endParaRPr>
          </a:p>
        </p:txBody>
      </p:sp>
      <p:sp>
        <p:nvSpPr>
          <p:cNvPr id="5"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5" dirty="0"/>
              <a:t>Quadruples</a:t>
            </a:r>
            <a:r>
              <a:rPr lang="en-US" sz="3200" b="1" spc="-85" dirty="0"/>
              <a:t> </a:t>
            </a:r>
            <a:r>
              <a:rPr lang="en-US" sz="3200" b="1" spc="-5" dirty="0"/>
              <a:t>Example(CO3)</a:t>
            </a:r>
            <a:endParaRPr lang="en-US" sz="3200" b="1" dirty="0"/>
          </a:p>
        </p:txBody>
      </p:sp>
      <p:sp>
        <p:nvSpPr>
          <p:cNvPr id="7" name="Date Placeholder 6"/>
          <p:cNvSpPr>
            <a:spLocks noGrp="1"/>
          </p:cNvSpPr>
          <p:nvPr>
            <p:ph type="dt" sz="half" idx="10"/>
          </p:nvPr>
        </p:nvSpPr>
        <p:spPr/>
        <p:txBody>
          <a:bodyPr/>
          <a:lstStyle/>
          <a:p>
            <a:fld id="{CE809614-D873-4ECB-AD97-368D1CA4E6F1}" type="datetime1">
              <a:rPr lang="en-US" smtClean="0"/>
              <a:t>4/10/2026</a:t>
            </a:fld>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150</a:t>
            </a:fld>
            <a:endParaRPr lang="en-US"/>
          </a:p>
        </p:txBody>
      </p:sp>
      <p:sp>
        <p:nvSpPr>
          <p:cNvPr id="9" name="Footer Placeholder 8"/>
          <p:cNvSpPr>
            <a:spLocks noGrp="1"/>
          </p:cNvSpPr>
          <p:nvPr>
            <p:ph type="ftr" sz="quarter" idx="11"/>
          </p:nvPr>
        </p:nvSpPr>
        <p:spPr>
          <a:xfrm>
            <a:off x="3124200" y="6356350"/>
            <a:ext cx="3352800" cy="365125"/>
          </a:xfrm>
        </p:spPr>
        <p:txBody>
          <a:bodyPr/>
          <a:lstStyle/>
          <a:p>
            <a:r>
              <a:rPr lang="it-IT" smtClean="0"/>
              <a:t>Vivek Kumar Sharma              CD Unit -3</a:t>
            </a:r>
            <a:endParaRPr lang="en-US" dirty="0"/>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49718007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454525" y="5791200"/>
            <a:ext cx="3427413" cy="392112"/>
          </a:xfrm>
          <a:prstGeom prst="rect">
            <a:avLst/>
          </a:prstGeom>
        </p:spPr>
        <p:txBody>
          <a:bodyPr lIns="0" tIns="12700" rIns="0" bIns="0">
            <a:spAutoFit/>
          </a:bodyPr>
          <a:lstStyle/>
          <a:p>
            <a:pPr marL="12700" fontAlgn="auto">
              <a:spcBef>
                <a:spcPts val="100"/>
              </a:spcBef>
              <a:spcAft>
                <a:spcPts val="0"/>
              </a:spcAft>
              <a:defRPr/>
            </a:pPr>
            <a:r>
              <a:rPr sz="2400" spc="-5" dirty="0">
                <a:latin typeface="Arial"/>
                <a:cs typeface="Arial"/>
              </a:rPr>
              <a:t>Result is implicit in</a:t>
            </a:r>
            <a:r>
              <a:rPr sz="2400" spc="-30" dirty="0">
                <a:latin typeface="Arial"/>
                <a:cs typeface="Arial"/>
              </a:rPr>
              <a:t> </a:t>
            </a:r>
            <a:r>
              <a:rPr sz="2400" spc="-5" dirty="0">
                <a:latin typeface="Arial"/>
                <a:cs typeface="Arial"/>
              </a:rPr>
              <a:t>triples</a:t>
            </a:r>
            <a:endParaRPr sz="2400">
              <a:latin typeface="Arial"/>
              <a:cs typeface="Arial"/>
            </a:endParaRPr>
          </a:p>
        </p:txBody>
      </p:sp>
      <p:graphicFrame>
        <p:nvGraphicFramePr>
          <p:cNvPr id="5" name="object 3"/>
          <p:cNvGraphicFramePr>
            <a:graphicFrameLocks noGrp="1"/>
          </p:cNvGraphicFramePr>
          <p:nvPr/>
        </p:nvGraphicFramePr>
        <p:xfrm>
          <a:off x="812800" y="1905000"/>
          <a:ext cx="6426200" cy="3469724"/>
        </p:xfrm>
        <a:graphic>
          <a:graphicData uri="http://schemas.openxmlformats.org/drawingml/2006/table">
            <a:tbl>
              <a:tblPr/>
              <a:tblGrid>
                <a:gridCol w="1220788">
                  <a:extLst>
                    <a:ext uri="{9D8B030D-6E8A-4147-A177-3AD203B41FA5}">
                      <a16:colId xmlns:a16="http://schemas.microsoft.com/office/drawing/2014/main" val="20000"/>
                    </a:ext>
                  </a:extLst>
                </a:gridCol>
                <a:gridCol w="2011362">
                  <a:extLst>
                    <a:ext uri="{9D8B030D-6E8A-4147-A177-3AD203B41FA5}">
                      <a16:colId xmlns:a16="http://schemas.microsoft.com/office/drawing/2014/main" val="20001"/>
                    </a:ext>
                  </a:extLst>
                </a:gridCol>
                <a:gridCol w="1587500">
                  <a:extLst>
                    <a:ext uri="{9D8B030D-6E8A-4147-A177-3AD203B41FA5}">
                      <a16:colId xmlns:a16="http://schemas.microsoft.com/office/drawing/2014/main" val="20002"/>
                    </a:ext>
                  </a:extLst>
                </a:gridCol>
                <a:gridCol w="1606550">
                  <a:extLst>
                    <a:ext uri="{9D8B030D-6E8A-4147-A177-3AD203B41FA5}">
                      <a16:colId xmlns:a16="http://schemas.microsoft.com/office/drawing/2014/main" val="20003"/>
                    </a:ext>
                  </a:extLst>
                </a:gridCol>
              </a:tblGrid>
              <a:tr h="609601">
                <a:tc>
                  <a:txBody>
                    <a:bodyPr/>
                    <a:lstStyle/>
                    <a:p>
                      <a:pPr marL="31750" marR="0" lvl="0" indent="0" algn="ctr" defTabSz="914400" rtl="0" eaLnBrk="1" fontAlgn="base" latinLnBrk="0" hangingPunct="1">
                        <a:lnSpc>
                          <a:spcPct val="100000"/>
                        </a:lnSpc>
                        <a:spcBef>
                          <a:spcPct val="0"/>
                        </a:spcBef>
                        <a:spcAft>
                          <a:spcPct val="0"/>
                        </a:spcAft>
                        <a:buClrTx/>
                        <a:buSzTx/>
                        <a:buFontTx/>
                        <a:buNone/>
                        <a:tabLst/>
                      </a:pPr>
                      <a:endParaRPr kumimoji="0" lang="en-US" sz="2200" b="1" i="0" u="none" strike="noStrike" cap="none" normalizeH="0" baseline="0" dirty="0">
                        <a:ln>
                          <a:noFill/>
                        </a:ln>
                        <a:solidFill>
                          <a:schemeClr val="tx1"/>
                        </a:solidFill>
                        <a:effectLst/>
                        <a:latin typeface="+mn-lt"/>
                        <a:cs typeface="Times New Roman" pitchFamily="18" charset="0"/>
                      </a:endParaRPr>
                    </a:p>
                    <a:p>
                      <a:pPr marL="3175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Courier New" pitchFamily="49" charset="0"/>
                        </a:rPr>
                        <a:t>            </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625"/>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Arial" pitchFamily="34" charset="0"/>
                        </a:rPr>
                        <a:t>op</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625"/>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Arial" pitchFamily="34" charset="0"/>
                        </a:rPr>
                        <a:t>arg1</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chemeClr val="tx1"/>
                          </a:solidFill>
                          <a:effectLst/>
                          <a:latin typeface="+mn-lt"/>
                          <a:cs typeface="Arial" pitchFamily="34" charset="0"/>
                        </a:rPr>
                        <a:t>arg2</a:t>
                      </a:r>
                    </a:p>
                  </a:txBody>
                  <a:tcPr marL="0" marR="0" marT="190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455776">
                <a:tc>
                  <a:txBody>
                    <a:bodyPr/>
                    <a:lstStyle/>
                    <a:p>
                      <a:pPr marL="31750" marR="0" lvl="0" indent="0" algn="ctr" defTabSz="914400" rtl="0" eaLnBrk="1" fontAlgn="base" latinLnBrk="0" hangingPunct="1">
                        <a:lnSpc>
                          <a:spcPct val="100000"/>
                        </a:lnSpc>
                        <a:spcBef>
                          <a:spcPct val="0"/>
                        </a:spcBef>
                        <a:spcAft>
                          <a:spcPct val="0"/>
                        </a:spcAft>
                        <a:buClrTx/>
                        <a:buSzTx/>
                        <a:buFontTx/>
                        <a:buNone/>
                        <a:tabLst/>
                        <a:defRPr/>
                      </a:pPr>
                      <a:r>
                        <a:rPr kumimoji="0" lang="en-US" sz="2200" b="0" i="0" u="none" strike="noStrike" kern="1200" cap="none" normalizeH="0" baseline="0" dirty="0">
                          <a:ln>
                            <a:noFill/>
                          </a:ln>
                          <a:solidFill>
                            <a:schemeClr val="tx1"/>
                          </a:solidFill>
                          <a:effectLst/>
                          <a:latin typeface="+mn-lt"/>
                          <a:ea typeface="+mn-ea"/>
                          <a:cs typeface="Courier New" pitchFamily="49" charset="0"/>
                        </a:rPr>
                        <a:t>(0)</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513"/>
                        </a:spcBef>
                        <a:spcAft>
                          <a:spcPct val="0"/>
                        </a:spcAft>
                        <a:buClrTx/>
                        <a:buSzTx/>
                        <a:buFontTx/>
                        <a:buNone/>
                        <a:tabLst/>
                        <a:defRPr/>
                      </a:pPr>
                      <a:r>
                        <a:rPr kumimoji="0" lang="en-US" sz="2200" b="0" i="0" u="none" strike="noStrike" kern="1200" cap="none" normalizeH="0" baseline="0" dirty="0" err="1">
                          <a:ln>
                            <a:noFill/>
                          </a:ln>
                          <a:solidFill>
                            <a:schemeClr val="tx1"/>
                          </a:solidFill>
                          <a:effectLst/>
                          <a:latin typeface="+mn-lt"/>
                          <a:ea typeface="+mn-ea"/>
                          <a:cs typeface="Courier New" pitchFamily="49" charset="0"/>
                        </a:rPr>
                        <a:t>uminus</a:t>
                      </a:r>
                      <a:endParaRPr kumimoji="0" lang="en-US" sz="2200" b="0" i="0" u="none" strike="noStrike" cap="none" normalizeH="0" baseline="0" dirty="0">
                        <a:ln>
                          <a:noFill/>
                        </a:ln>
                        <a:solidFill>
                          <a:schemeClr val="tx1"/>
                        </a:solidFill>
                        <a:effectLst/>
                        <a:latin typeface="+mn-lt"/>
                        <a:cs typeface="Courier New" pitchFamily="49" charset="0"/>
                      </a:endParaRP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90488" marR="0" lvl="0" indent="0" algn="ctr" defTabSz="914400" rtl="0" eaLnBrk="1" fontAlgn="base" latinLnBrk="0" hangingPunct="1">
                        <a:lnSpc>
                          <a:spcPct val="100000"/>
                        </a:lnSpc>
                        <a:spcBef>
                          <a:spcPts val="1513"/>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c</a:t>
                      </a: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mn-lt"/>
                        <a:cs typeface="Arial" pitchFamily="34" charset="0"/>
                      </a:endParaRPr>
                    </a:p>
                  </a:txBody>
                  <a:tcPr marL="0" marR="0" marT="190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486012">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(1)</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765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b</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8"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(0)</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486012">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(2)</a:t>
                      </a:r>
                    </a:p>
                  </a:txBody>
                  <a:tcPr marL="0" marR="0" marT="61594"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9238"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err="1">
                          <a:ln>
                            <a:noFill/>
                          </a:ln>
                          <a:solidFill>
                            <a:schemeClr val="tx1"/>
                          </a:solidFill>
                          <a:effectLst/>
                          <a:latin typeface="+mn-lt"/>
                          <a:cs typeface="Courier New" pitchFamily="49" charset="0"/>
                        </a:rPr>
                        <a:t>uminus</a:t>
                      </a:r>
                      <a:endParaRPr kumimoji="0" lang="en-US" sz="2200" b="0" i="0" u="none" strike="noStrike" cap="none" normalizeH="0" baseline="0" dirty="0">
                        <a:ln>
                          <a:noFill/>
                        </a:ln>
                        <a:solidFill>
                          <a:schemeClr val="tx1"/>
                        </a:solidFill>
                        <a:effectLst/>
                        <a:latin typeface="+mn-lt"/>
                        <a:cs typeface="Courier New" pitchFamily="49" charset="0"/>
                      </a:endParaRPr>
                    </a:p>
                  </a:txBody>
                  <a:tcPr marL="0" marR="0" marT="61594"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c</a:t>
                      </a:r>
                    </a:p>
                  </a:txBody>
                  <a:tcPr marL="0" marR="0" marT="61594"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mn-lt"/>
                        <a:cs typeface="Times New Roman" pitchFamily="18" charset="0"/>
                      </a:endParaRP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r h="486012">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(3)</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765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b</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8"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(2)</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4"/>
                  </a:ext>
                </a:extLst>
              </a:tr>
              <a:tr h="487207">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(4)</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765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(1)</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9688" marR="0" lvl="0" indent="0" algn="ctr" defTabSz="914400" rtl="0" eaLnBrk="1" fontAlgn="base" latinLnBrk="0" hangingPunct="1">
                        <a:lnSpc>
                          <a:spcPct val="100000"/>
                        </a:lnSpc>
                        <a:spcBef>
                          <a:spcPts val="488"/>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(3)</a:t>
                      </a:r>
                    </a:p>
                  </a:txBody>
                  <a:tcPr marL="0" marR="0" marT="6223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5"/>
                  </a:ext>
                </a:extLst>
              </a:tr>
              <a:tr h="395257">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(5)</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49238"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a:ln>
                            <a:noFill/>
                          </a:ln>
                          <a:solidFill>
                            <a:schemeClr val="tx1"/>
                          </a:solidFill>
                          <a:effectLst/>
                          <a:latin typeface="+mn-lt"/>
                          <a:cs typeface="Courier New" pitchFamily="49" charset="0"/>
                        </a:rPr>
                        <a:t>:=</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ts val="500"/>
                        </a:spcBef>
                        <a:spcAft>
                          <a:spcPct val="0"/>
                        </a:spcAft>
                        <a:buClrTx/>
                        <a:buSzTx/>
                        <a:buFontTx/>
                        <a:buNone/>
                        <a:tabLst/>
                      </a:pPr>
                      <a:r>
                        <a:rPr kumimoji="0" lang="en-US" sz="2200" b="0" i="0" u="none" strike="noStrike" cap="none" normalizeH="0" baseline="0" dirty="0">
                          <a:ln>
                            <a:noFill/>
                          </a:ln>
                          <a:solidFill>
                            <a:schemeClr val="tx1"/>
                          </a:solidFill>
                          <a:effectLst/>
                          <a:latin typeface="+mn-lt"/>
                          <a:cs typeface="Courier New" pitchFamily="49" charset="0"/>
                        </a:rPr>
                        <a:t>a</a:t>
                      </a:r>
                    </a:p>
                  </a:txBody>
                  <a:tcPr marL="0" marR="0" marT="62865"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200" b="0" i="0" u="none" strike="noStrike" cap="none" normalizeH="0" baseline="0" dirty="0">
                          <a:ln>
                            <a:noFill/>
                          </a:ln>
                          <a:solidFill>
                            <a:schemeClr val="tx1"/>
                          </a:solidFill>
                          <a:effectLst/>
                          <a:latin typeface="+mn-lt"/>
                          <a:cs typeface="Courier New" pitchFamily="49" charset="0"/>
                        </a:rPr>
                        <a:t>(4)</a:t>
                      </a:r>
                      <a:endParaRPr kumimoji="0" lang="en-US" sz="2200" b="0" i="0" u="none" strike="noStrike" cap="none" normalizeH="0" baseline="0" dirty="0">
                        <a:ln>
                          <a:noFill/>
                        </a:ln>
                        <a:solidFill>
                          <a:schemeClr val="tx1"/>
                        </a:solidFill>
                        <a:effectLst/>
                        <a:latin typeface="+mn-lt"/>
                        <a:cs typeface="Times New Roman" pitchFamily="18" charset="0"/>
                      </a:endParaRPr>
                    </a:p>
                  </a:txBody>
                  <a:tcPr marL="0" marR="0" marT="0" marB="0" anchor="ctr"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6"/>
                  </a:ext>
                </a:extLst>
              </a:tr>
            </a:tbl>
          </a:graphicData>
        </a:graphic>
      </p:graphicFrame>
      <p:sp>
        <p:nvSpPr>
          <p:cNvPr id="6" name="Rectangle 5"/>
          <p:cNvSpPr/>
          <p:nvPr/>
        </p:nvSpPr>
        <p:spPr>
          <a:xfrm>
            <a:off x="1524000" y="1295400"/>
            <a:ext cx="4267200" cy="733534"/>
          </a:xfrm>
          <a:prstGeom prst="rect">
            <a:avLst/>
          </a:prstGeom>
        </p:spPr>
        <p:txBody>
          <a:bodyPr wrap="square">
            <a:spAutoFit/>
          </a:bodyPr>
          <a:lstStyle/>
          <a:p>
            <a:pPr marL="31750">
              <a:lnSpc>
                <a:spcPts val="2475"/>
              </a:lnSpc>
            </a:pPr>
            <a:r>
              <a:rPr lang="en-US" sz="2200" dirty="0">
                <a:latin typeface="+mn-lt"/>
                <a:cs typeface="Courier New" pitchFamily="49" charset="0"/>
              </a:rPr>
              <a:t>a := b * -c + b * -c</a:t>
            </a:r>
          </a:p>
          <a:p>
            <a:pPr marL="31750" lvl="0">
              <a:lnSpc>
                <a:spcPts val="2475"/>
              </a:lnSpc>
            </a:pPr>
            <a:endParaRPr lang="en-US" dirty="0">
              <a:cs typeface="Courier New" pitchFamily="49" charset="0"/>
            </a:endParaRPr>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3200" b="1" spc="-5" dirty="0"/>
              <a:t>Triples Example(CO3)</a:t>
            </a:r>
          </a:p>
        </p:txBody>
      </p:sp>
      <p:sp>
        <p:nvSpPr>
          <p:cNvPr id="9" name="Date Placeholder 8"/>
          <p:cNvSpPr>
            <a:spLocks noGrp="1"/>
          </p:cNvSpPr>
          <p:nvPr>
            <p:ph type="dt" sz="half" idx="10"/>
          </p:nvPr>
        </p:nvSpPr>
        <p:spPr/>
        <p:txBody>
          <a:bodyPr/>
          <a:lstStyle/>
          <a:p>
            <a:fld id="{EA7B181C-C1A3-4D2B-A9AF-562C5DFC7392}" type="datetime1">
              <a:rPr lang="en-US" smtClean="0"/>
              <a:t>4/10/2026</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151</a:t>
            </a:fld>
            <a:endParaRPr lang="en-US"/>
          </a:p>
        </p:txBody>
      </p:sp>
      <p:sp>
        <p:nvSpPr>
          <p:cNvPr id="11" name="Footer Placeholder 10"/>
          <p:cNvSpPr>
            <a:spLocks noGrp="1"/>
          </p:cNvSpPr>
          <p:nvPr>
            <p:ph type="ftr" sz="quarter" idx="11"/>
          </p:nvPr>
        </p:nvSpPr>
        <p:spPr>
          <a:xfrm>
            <a:off x="3124200" y="6356350"/>
            <a:ext cx="3581400" cy="365125"/>
          </a:xfrm>
        </p:spPr>
        <p:txBody>
          <a:bodyPr/>
          <a:lstStyle/>
          <a:p>
            <a:r>
              <a:rPr lang="it-IT" smtClean="0"/>
              <a:t>Vivek Kumar Sharma              CD Unit -3</a:t>
            </a:r>
            <a:endParaRPr lang="en-US" dirty="0"/>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22775478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5"/>
          <p:cNvGraphicFramePr>
            <a:graphicFrameLocks noGrp="1"/>
          </p:cNvGraphicFramePr>
          <p:nvPr/>
        </p:nvGraphicFramePr>
        <p:xfrm>
          <a:off x="1273175" y="2057400"/>
          <a:ext cx="6165850" cy="3670301"/>
        </p:xfrm>
        <a:graphic>
          <a:graphicData uri="http://schemas.openxmlformats.org/drawingml/2006/table">
            <a:tbl>
              <a:tblPr/>
              <a:tblGrid>
                <a:gridCol w="728663">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73175">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tblGrid>
              <a:tr h="4111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430213" marR="0" lvl="0" indent="0" algn="l" defTabSz="914400" rtl="0" eaLnBrk="1" fontAlgn="base" latinLnBrk="0" hangingPunct="1">
                        <a:lnSpc>
                          <a:spcPts val="1963"/>
                        </a:lnSpc>
                        <a:spcBef>
                          <a:spcPct val="0"/>
                        </a:spcBef>
                        <a:spcAft>
                          <a:spcPct val="0"/>
                        </a:spcAft>
                        <a:buClrTx/>
                        <a:buSzTx/>
                        <a:buFontTx/>
                        <a:buNone/>
                        <a:tabLst/>
                      </a:pPr>
                      <a:r>
                        <a:rPr kumimoji="0" lang="en-US" sz="1800" b="0" i="1" u="none" strike="noStrike" cap="none" normalizeH="0" baseline="0">
                          <a:ln>
                            <a:noFill/>
                          </a:ln>
                          <a:solidFill>
                            <a:schemeClr val="tx1"/>
                          </a:solidFill>
                          <a:effectLst/>
                          <a:latin typeface="Times New Roman" pitchFamily="18" charset="0"/>
                          <a:cs typeface="Times New Roman" pitchFamily="18" charset="0"/>
                        </a:rPr>
                        <a:t>op</a:t>
                      </a:r>
                      <a:endParaRPr kumimoji="0" lang="en-US" sz="18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73063" marR="0" lvl="0" indent="0" algn="l" defTabSz="914400" rtl="0" eaLnBrk="1" fontAlgn="base" latinLnBrk="0" hangingPunct="1">
                        <a:lnSpc>
                          <a:spcPts val="1963"/>
                        </a:lnSpc>
                        <a:spcBef>
                          <a:spcPct val="0"/>
                        </a:spcBef>
                        <a:spcAft>
                          <a:spcPct val="0"/>
                        </a:spcAft>
                        <a:buClrTx/>
                        <a:buSzTx/>
                        <a:buFontTx/>
                        <a:buNone/>
                        <a:tabLst/>
                      </a:pPr>
                      <a:r>
                        <a:rPr kumimoji="0" lang="en-US" sz="1800" b="0" i="1" u="none" strike="noStrike" cap="none" normalizeH="0" baseline="0">
                          <a:ln>
                            <a:noFill/>
                          </a:ln>
                          <a:solidFill>
                            <a:schemeClr val="tx1"/>
                          </a:solidFill>
                          <a:effectLst/>
                          <a:latin typeface="Times New Roman" pitchFamily="18" charset="0"/>
                          <a:cs typeface="Times New Roman" pitchFamily="18" charset="0"/>
                        </a:rPr>
                        <a:t>op</a:t>
                      </a:r>
                      <a:endParaRPr kumimoji="0" lang="en-US" sz="18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27013" marR="0" lvl="0" indent="0" algn="l" defTabSz="914400" rtl="0" eaLnBrk="1" fontAlgn="base" latinLnBrk="0" hangingPunct="1">
                        <a:lnSpc>
                          <a:spcPts val="1963"/>
                        </a:lnSpc>
                        <a:spcBef>
                          <a:spcPct val="0"/>
                        </a:spcBef>
                        <a:spcAft>
                          <a:spcPct val="0"/>
                        </a:spcAft>
                        <a:buClrTx/>
                        <a:buSzTx/>
                        <a:buFontTx/>
                        <a:buNone/>
                        <a:tabLst/>
                      </a:pPr>
                      <a:r>
                        <a:rPr kumimoji="0" lang="en-US" sz="1800" b="0" i="1" u="none" strike="noStrike" cap="none" normalizeH="0" baseline="0">
                          <a:ln>
                            <a:noFill/>
                          </a:ln>
                          <a:solidFill>
                            <a:schemeClr val="tx1"/>
                          </a:solidFill>
                          <a:effectLst/>
                          <a:latin typeface="Times New Roman" pitchFamily="18" charset="0"/>
                          <a:cs typeface="Times New Roman" pitchFamily="18" charset="0"/>
                        </a:rPr>
                        <a:t>arg1</a:t>
                      </a:r>
                      <a:endParaRPr kumimoji="0" lang="en-US" sz="18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r" defTabSz="914400" rtl="0" eaLnBrk="1" fontAlgn="base" latinLnBrk="0" hangingPunct="1">
                        <a:lnSpc>
                          <a:spcPts val="1963"/>
                        </a:lnSpc>
                        <a:spcBef>
                          <a:spcPct val="0"/>
                        </a:spcBef>
                        <a:spcAft>
                          <a:spcPct val="0"/>
                        </a:spcAft>
                        <a:buClrTx/>
                        <a:buSzTx/>
                        <a:buFontTx/>
                        <a:buNone/>
                        <a:tabLst/>
                      </a:pPr>
                      <a:r>
                        <a:rPr kumimoji="0" lang="en-US" sz="1800" b="0" i="1" u="none" strike="noStrike" cap="none" normalizeH="0" baseline="0" dirty="0">
                          <a:ln>
                            <a:noFill/>
                          </a:ln>
                          <a:solidFill>
                            <a:schemeClr val="tx1"/>
                          </a:solidFill>
                          <a:effectLst/>
                          <a:latin typeface="Times New Roman" pitchFamily="18" charset="0"/>
                          <a:cs typeface="Times New Roman" pitchFamily="18" charset="0"/>
                        </a:rPr>
                        <a:t>arg2</a:t>
                      </a:r>
                      <a:endParaRPr kumimoji="0" lang="en-US" sz="18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568325">
                <a:tc>
                  <a:txBody>
                    <a:bodyPr/>
                    <a:lstStyle/>
                    <a:p>
                      <a:pPr marL="31750"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(0)</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4302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(14)</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14288" marR="0" lvl="0" indent="0" algn="ctr"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(14)</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7306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err="1">
                          <a:ln>
                            <a:noFill/>
                          </a:ln>
                          <a:solidFill>
                            <a:schemeClr val="tx1"/>
                          </a:solidFill>
                          <a:effectLst/>
                          <a:latin typeface="Times New Roman" pitchFamily="18" charset="0"/>
                          <a:cs typeface="Times New Roman" pitchFamily="18" charset="0"/>
                        </a:rPr>
                        <a:t>uminus</a:t>
                      </a:r>
                      <a:endParaRPr kumimoji="0" lang="en-US" sz="18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270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c</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568325">
                <a:tc>
                  <a:txBody>
                    <a:bodyPr/>
                    <a:lstStyle/>
                    <a:p>
                      <a:pPr marL="31750" marR="0" lvl="0" indent="0" algn="l" defTabSz="914400" rtl="0" eaLnBrk="1" fontAlgn="base" latinLnBrk="0" hangingPunct="1">
                        <a:lnSpc>
                          <a:spcPct val="100000"/>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430213" marR="0" lvl="0" indent="0" algn="l" defTabSz="914400" rtl="0" eaLnBrk="1" fontAlgn="base" latinLnBrk="0" hangingPunct="1">
                        <a:lnSpc>
                          <a:spcPct val="100000"/>
                        </a:lnSpc>
                        <a:spcBef>
                          <a:spcPts val="1038"/>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(15)</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14288" marR="0" lvl="0" indent="0" algn="ctr" defTabSz="914400" rtl="0" eaLnBrk="1" fontAlgn="base" latinLnBrk="0" hangingPunct="1">
                        <a:lnSpc>
                          <a:spcPct val="100000"/>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(15)</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73063" marR="0" lvl="0" indent="0" algn="l" defTabSz="914400" rtl="0" eaLnBrk="1" fontAlgn="base" latinLnBrk="0" hangingPunct="1">
                        <a:lnSpc>
                          <a:spcPct val="100000"/>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27013" marR="0" lvl="0" indent="0" algn="l" defTabSz="914400" rtl="0" eaLnBrk="1" fontAlgn="base" latinLnBrk="0" hangingPunct="1">
                        <a:lnSpc>
                          <a:spcPct val="100000"/>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b</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r" defTabSz="914400" rtl="0" eaLnBrk="1" fontAlgn="base" latinLnBrk="0" hangingPunct="1">
                        <a:lnSpc>
                          <a:spcPct val="100000"/>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(14)</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571500">
                <a:tc>
                  <a:txBody>
                    <a:bodyPr/>
                    <a:lstStyle/>
                    <a:p>
                      <a:pPr marL="31750"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(2)</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4302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(16)</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14288" marR="0" lvl="0" indent="0" algn="ctr"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(16)</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7306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err="1">
                          <a:ln>
                            <a:noFill/>
                          </a:ln>
                          <a:solidFill>
                            <a:schemeClr val="tx1"/>
                          </a:solidFill>
                          <a:effectLst/>
                          <a:latin typeface="Times New Roman" pitchFamily="18" charset="0"/>
                          <a:cs typeface="Times New Roman" pitchFamily="18" charset="0"/>
                        </a:rPr>
                        <a:t>uminus</a:t>
                      </a:r>
                      <a:endParaRPr kumimoji="0" lang="en-US" sz="1800" b="0" i="0" u="none" strike="noStrike" cap="none" normalizeH="0" baseline="0" dirty="0">
                        <a:ln>
                          <a:noFill/>
                        </a:ln>
                        <a:solidFill>
                          <a:schemeClr val="tx1"/>
                        </a:solidFill>
                        <a:effectLst/>
                        <a:latin typeface="Times New Roman" pitchFamily="18" charset="0"/>
                        <a:cs typeface="Times New Roman" pitchFamily="18" charset="0"/>
                      </a:endParaRP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270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c</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r h="571500">
                <a:tc>
                  <a:txBody>
                    <a:bodyPr/>
                    <a:lstStyle/>
                    <a:p>
                      <a:pPr marL="31750"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(3)</a:t>
                      </a:r>
                    </a:p>
                  </a:txBody>
                  <a:tcPr marL="0" marR="0" marT="133985"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4302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(17)</a:t>
                      </a:r>
                    </a:p>
                  </a:txBody>
                  <a:tcPr marL="0" marR="0" marT="133985"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14288" marR="0" lvl="0" indent="0" algn="ctr"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(17)</a:t>
                      </a:r>
                    </a:p>
                  </a:txBody>
                  <a:tcPr marL="0" marR="0" marT="133985"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7306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a:t>
                      </a:r>
                    </a:p>
                  </a:txBody>
                  <a:tcPr marL="0" marR="0" marT="133985"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270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b</a:t>
                      </a:r>
                    </a:p>
                  </a:txBody>
                  <a:tcPr marL="0" marR="0" marT="133985"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r"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(16)</a:t>
                      </a:r>
                    </a:p>
                  </a:txBody>
                  <a:tcPr marL="0" marR="0" marT="133985"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4"/>
                  </a:ext>
                </a:extLst>
              </a:tr>
              <a:tr h="568325">
                <a:tc>
                  <a:txBody>
                    <a:bodyPr/>
                    <a:lstStyle/>
                    <a:p>
                      <a:pPr marL="31750"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(4)</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4302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(18)</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14288" marR="0" lvl="0" indent="0" algn="ctr"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(18)</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7306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27013" marR="0" lvl="0" indent="0" algn="l"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(15)</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r" defTabSz="914400" rtl="0" eaLnBrk="1" fontAlgn="base" latinLnBrk="0" hangingPunct="1">
                        <a:lnSpc>
                          <a:spcPct val="100000"/>
                        </a:lnSpc>
                        <a:spcBef>
                          <a:spcPts val="105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(17)</a:t>
                      </a:r>
                    </a:p>
                  </a:txBody>
                  <a:tcPr marL="0" marR="0" marT="13335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5"/>
                  </a:ext>
                </a:extLst>
              </a:tr>
              <a:tr h="411163">
                <a:tc>
                  <a:txBody>
                    <a:bodyPr/>
                    <a:lstStyle/>
                    <a:p>
                      <a:pPr marL="31750" marR="0" lvl="0" indent="0" algn="l" defTabSz="914400" rtl="0" eaLnBrk="1" fontAlgn="base" latinLnBrk="0" hangingPunct="1">
                        <a:lnSpc>
                          <a:spcPts val="2088"/>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(5)</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430213" marR="0" lvl="0" indent="0" algn="l" defTabSz="914400" rtl="0" eaLnBrk="1" fontAlgn="base" latinLnBrk="0" hangingPunct="1">
                        <a:lnSpc>
                          <a:spcPts val="2088"/>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(19)</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14288" marR="0" lvl="0" indent="0" algn="ctr" defTabSz="914400" rtl="0" eaLnBrk="1" fontAlgn="base" latinLnBrk="0" hangingPunct="1">
                        <a:lnSpc>
                          <a:spcPts val="2088"/>
                        </a:lnSpc>
                        <a:spcBef>
                          <a:spcPts val="1038"/>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(19)</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73063" marR="0" lvl="0" indent="0" algn="l" defTabSz="914400" rtl="0" eaLnBrk="1" fontAlgn="base" latinLnBrk="0" hangingPunct="1">
                        <a:lnSpc>
                          <a:spcPts val="2088"/>
                        </a:lnSpc>
                        <a:spcBef>
                          <a:spcPts val="1038"/>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cs typeface="Times New Roman" pitchFamily="18" charset="0"/>
                        </a:rPr>
                        <a:t>assign</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227013" marR="0" lvl="0" indent="0" algn="l" defTabSz="914400" rtl="0" eaLnBrk="1" fontAlgn="base" latinLnBrk="0" hangingPunct="1">
                        <a:lnSpc>
                          <a:spcPts val="2088"/>
                        </a:lnSpc>
                        <a:spcBef>
                          <a:spcPts val="1038"/>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a</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0" marR="0" lvl="0" indent="0" algn="r" defTabSz="914400" rtl="0" eaLnBrk="1" fontAlgn="base" latinLnBrk="0" hangingPunct="1">
                        <a:lnSpc>
                          <a:spcPts val="2088"/>
                        </a:lnSpc>
                        <a:spcBef>
                          <a:spcPts val="1038"/>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cs typeface="Times New Roman" pitchFamily="18" charset="0"/>
                        </a:rPr>
                        <a:t>(18)</a:t>
                      </a:r>
                    </a:p>
                  </a:txBody>
                  <a:tcPr marL="0" marR="0" marT="132080" marB="0" horzOverflow="overflow">
                    <a:lnL>
                      <a:noFill/>
                    </a:lnL>
                    <a:lnR>
                      <a:noFill/>
                    </a:lnR>
                    <a:lnT>
                      <a:noFill/>
                    </a:lnT>
                    <a:lnB>
                      <a:noFill/>
                    </a:lnB>
                    <a:lnTlToBr>
                      <a:noFill/>
                    </a:lnTlToBr>
                    <a:lnBlToTr>
                      <a:noFill/>
                    </a:lnBlToT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6"/>
                  </a:ext>
                </a:extLst>
              </a:tr>
            </a:tbl>
          </a:graphicData>
        </a:graphic>
      </p:graphicFrame>
      <p:sp>
        <p:nvSpPr>
          <p:cNvPr id="6" name="object 6"/>
          <p:cNvSpPr txBox="1"/>
          <p:nvPr/>
        </p:nvSpPr>
        <p:spPr>
          <a:xfrm>
            <a:off x="1219200" y="1371600"/>
            <a:ext cx="3683000" cy="390525"/>
          </a:xfrm>
          <a:prstGeom prst="rect">
            <a:avLst/>
          </a:prstGeom>
        </p:spPr>
        <p:txBody>
          <a:bodyPr lIns="0" tIns="12700" rIns="0" bIns="0">
            <a:spAutoFit/>
          </a:bodyPr>
          <a:lstStyle/>
          <a:p>
            <a:pPr marL="12700" fontAlgn="auto">
              <a:spcBef>
                <a:spcPts val="100"/>
              </a:spcBef>
              <a:spcAft>
                <a:spcPts val="0"/>
              </a:spcAft>
              <a:defRPr/>
            </a:pPr>
            <a:r>
              <a:rPr sz="2400" dirty="0">
                <a:latin typeface="Courier New"/>
                <a:cs typeface="Courier New"/>
              </a:rPr>
              <a:t>a </a:t>
            </a:r>
            <a:r>
              <a:rPr sz="2400" spc="-5" dirty="0">
                <a:latin typeface="Courier New"/>
                <a:cs typeface="Courier New"/>
              </a:rPr>
              <a:t>:= </a:t>
            </a:r>
            <a:r>
              <a:rPr sz="2400" dirty="0">
                <a:latin typeface="Courier New"/>
                <a:cs typeface="Courier New"/>
              </a:rPr>
              <a:t>b * </a:t>
            </a:r>
            <a:r>
              <a:rPr sz="2400" spc="-5" dirty="0">
                <a:latin typeface="Courier New"/>
                <a:cs typeface="Courier New"/>
              </a:rPr>
              <a:t>-c </a:t>
            </a:r>
            <a:r>
              <a:rPr sz="2400" dirty="0">
                <a:latin typeface="Courier New"/>
                <a:cs typeface="Courier New"/>
              </a:rPr>
              <a:t>+ b *</a:t>
            </a:r>
            <a:r>
              <a:rPr sz="2400" spc="-120" dirty="0">
                <a:latin typeface="Courier New"/>
                <a:cs typeface="Courier New"/>
              </a:rPr>
              <a:t> </a:t>
            </a:r>
            <a:r>
              <a:rPr sz="2400" spc="-5" dirty="0">
                <a:latin typeface="Courier New"/>
                <a:cs typeface="Courier New"/>
              </a:rPr>
              <a:t>-c</a:t>
            </a:r>
            <a:endParaRPr sz="2400">
              <a:latin typeface="Courier New"/>
              <a:cs typeface="Courier New"/>
            </a:endParaRPr>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5" dirty="0"/>
              <a:t>Indirect triples(CO3)</a:t>
            </a:r>
          </a:p>
        </p:txBody>
      </p:sp>
      <p:sp>
        <p:nvSpPr>
          <p:cNvPr id="9" name="Date Placeholder 8"/>
          <p:cNvSpPr>
            <a:spLocks noGrp="1"/>
          </p:cNvSpPr>
          <p:nvPr>
            <p:ph type="dt" sz="half" idx="10"/>
          </p:nvPr>
        </p:nvSpPr>
        <p:spPr/>
        <p:txBody>
          <a:bodyPr/>
          <a:lstStyle/>
          <a:p>
            <a:fld id="{8DECEC9C-D7E7-42F2-9A97-679768B0F002}" type="datetime1">
              <a:rPr lang="en-US" smtClean="0"/>
              <a:t>4/10/2026</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152</a:t>
            </a:fld>
            <a:endParaRPr lang="en-US"/>
          </a:p>
        </p:txBody>
      </p:sp>
      <p:sp>
        <p:nvSpPr>
          <p:cNvPr id="11" name="Footer Placeholder 10"/>
          <p:cNvSpPr>
            <a:spLocks noGrp="1"/>
          </p:cNvSpPr>
          <p:nvPr>
            <p:ph type="ftr" sz="quarter" idx="11"/>
          </p:nvPr>
        </p:nvSpPr>
        <p:spPr>
          <a:xfrm>
            <a:off x="3124200" y="6356350"/>
            <a:ext cx="3276600" cy="365125"/>
          </a:xfrm>
        </p:spPr>
        <p:txBody>
          <a:bodyPr/>
          <a:lstStyle/>
          <a:p>
            <a:r>
              <a:rPr lang="it-IT" smtClean="0"/>
              <a:t>Vivek Kumar Sharma              CD Unit -3</a:t>
            </a:r>
            <a:endParaRPr lang="en-US" dirty="0"/>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14307108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spc="-5" dirty="0" smtClean="0"/>
              <a:t>Daily Quiz</a:t>
            </a:r>
            <a:endParaRPr lang="en-US" sz="3200" b="1" spc="-5" dirty="0"/>
          </a:p>
        </p:txBody>
      </p:sp>
      <p:sp>
        <p:nvSpPr>
          <p:cNvPr id="9" name="Date Placeholder 8"/>
          <p:cNvSpPr>
            <a:spLocks noGrp="1"/>
          </p:cNvSpPr>
          <p:nvPr>
            <p:ph type="dt" sz="half" idx="10"/>
          </p:nvPr>
        </p:nvSpPr>
        <p:spPr/>
        <p:txBody>
          <a:bodyPr/>
          <a:lstStyle/>
          <a:p>
            <a:fld id="{8DECEC9C-D7E7-42F2-9A97-679768B0F002}" type="datetime1">
              <a:rPr lang="en-US" smtClean="0"/>
              <a:t>4/10/2026</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153</a:t>
            </a:fld>
            <a:endParaRPr lang="en-US"/>
          </a:p>
        </p:txBody>
      </p:sp>
      <p:sp>
        <p:nvSpPr>
          <p:cNvPr id="11" name="Footer Placeholder 10"/>
          <p:cNvSpPr>
            <a:spLocks noGrp="1"/>
          </p:cNvSpPr>
          <p:nvPr>
            <p:ph type="ftr" sz="quarter" idx="11"/>
          </p:nvPr>
        </p:nvSpPr>
        <p:spPr>
          <a:xfrm>
            <a:off x="3124200" y="6356350"/>
            <a:ext cx="3276600" cy="365125"/>
          </a:xfrm>
        </p:spPr>
        <p:txBody>
          <a:bodyPr/>
          <a:lstStyle/>
          <a:p>
            <a:r>
              <a:rPr lang="it-IT" smtClean="0"/>
              <a:t>Vivek Kumar Sharma              CD Unit -3</a:t>
            </a:r>
            <a:endParaRPr lang="en-US" dirty="0"/>
          </a:p>
        </p:txBody>
      </p:sp>
      <p:sp>
        <p:nvSpPr>
          <p:cNvPr id="3" name="TextBox 2"/>
          <p:cNvSpPr txBox="1"/>
          <p:nvPr/>
        </p:nvSpPr>
        <p:spPr>
          <a:xfrm>
            <a:off x="685800" y="1143000"/>
            <a:ext cx="7924800" cy="4801314"/>
          </a:xfrm>
          <a:prstGeom prst="rect">
            <a:avLst/>
          </a:prstGeom>
          <a:noFill/>
        </p:spPr>
        <p:txBody>
          <a:bodyPr wrap="square" rtlCol="0">
            <a:spAutoFit/>
          </a:bodyPr>
          <a:lstStyle/>
          <a:p>
            <a:pPr marL="285750" indent="-285750">
              <a:buFont typeface="Wingdings" panose="05000000000000000000" pitchFamily="2" charset="2"/>
              <a:buChar char="§"/>
            </a:pPr>
            <a:r>
              <a:rPr lang="en-US" dirty="0"/>
              <a:t>Three address code  statement </a:t>
            </a:r>
            <a:r>
              <a:rPr lang="en-US" dirty="0" smtClean="0"/>
              <a:t>are………………..</a:t>
            </a:r>
          </a:p>
          <a:p>
            <a:pPr marL="285750" indent="-285750">
              <a:buFont typeface="Wingdings" panose="05000000000000000000" pitchFamily="2" charset="2"/>
              <a:buChar char="ü"/>
            </a:pPr>
            <a:r>
              <a:rPr lang="en-US" dirty="0"/>
              <a:t>Assignment </a:t>
            </a:r>
            <a:r>
              <a:rPr lang="en-US" dirty="0" smtClean="0"/>
              <a:t>Statement</a:t>
            </a:r>
          </a:p>
          <a:p>
            <a:pPr marL="285750" indent="-285750">
              <a:buFont typeface="Wingdings" panose="05000000000000000000" pitchFamily="2" charset="2"/>
              <a:buChar char="ü"/>
            </a:pPr>
            <a:r>
              <a:rPr lang="en-US" dirty="0"/>
              <a:t>Copy </a:t>
            </a:r>
            <a:r>
              <a:rPr lang="en-US" dirty="0" smtClean="0"/>
              <a:t>Statement</a:t>
            </a:r>
          </a:p>
          <a:p>
            <a:pPr marL="285750" indent="-285750">
              <a:buFont typeface="Wingdings" panose="05000000000000000000" pitchFamily="2" charset="2"/>
              <a:buChar char="ü"/>
            </a:pPr>
            <a:r>
              <a:rPr lang="en-US" dirty="0"/>
              <a:t>procedure </a:t>
            </a:r>
            <a:r>
              <a:rPr lang="en-US" dirty="0" smtClean="0"/>
              <a:t>call</a:t>
            </a:r>
          </a:p>
          <a:p>
            <a:pPr marL="285750" indent="-285750">
              <a:buFont typeface="Wingdings" panose="05000000000000000000" pitchFamily="2" charset="2"/>
              <a:buChar char="ü"/>
            </a:pPr>
            <a:r>
              <a:rPr lang="en-US" dirty="0"/>
              <a:t>All of the above </a:t>
            </a:r>
            <a:endParaRPr lang="en-US" dirty="0" smtClean="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
            </a:pPr>
            <a:r>
              <a:rPr lang="en-US" dirty="0"/>
              <a:t>Postfix notation of a + b * c is __ </a:t>
            </a:r>
            <a:r>
              <a:rPr lang="en-US" dirty="0" smtClean="0"/>
              <a:t>.</a:t>
            </a:r>
          </a:p>
          <a:p>
            <a:pPr marL="285750" indent="-285750">
              <a:buFont typeface="Wingdings" panose="05000000000000000000" pitchFamily="2" charset="2"/>
              <a:buChar char="ü"/>
            </a:pPr>
            <a:r>
              <a:rPr lang="en-US" dirty="0" err="1"/>
              <a:t>abc</a:t>
            </a:r>
            <a:r>
              <a:rPr lang="en-US" dirty="0" smtClean="0"/>
              <a:t>*+</a:t>
            </a:r>
          </a:p>
          <a:p>
            <a:pPr marL="285750" indent="-285750">
              <a:buFont typeface="Wingdings" panose="05000000000000000000" pitchFamily="2" charset="2"/>
              <a:buChar char="ü"/>
            </a:pPr>
            <a:r>
              <a:rPr lang="en-US" dirty="0" err="1"/>
              <a:t>abc</a:t>
            </a:r>
            <a:r>
              <a:rPr lang="en-US" dirty="0" smtClean="0"/>
              <a:t>+*</a:t>
            </a:r>
          </a:p>
          <a:p>
            <a:pPr marL="285750" indent="-285750">
              <a:buFont typeface="Wingdings" panose="05000000000000000000" pitchFamily="2" charset="2"/>
              <a:buChar char="ü"/>
            </a:pPr>
            <a:r>
              <a:rPr lang="en-US" dirty="0" err="1"/>
              <a:t>ba+c</a:t>
            </a:r>
            <a:r>
              <a:rPr lang="en-US" dirty="0" smtClean="0"/>
              <a:t>*</a:t>
            </a:r>
          </a:p>
          <a:p>
            <a:pPr marL="285750" indent="-285750">
              <a:buFont typeface="Wingdings" panose="05000000000000000000" pitchFamily="2" charset="2"/>
              <a:buChar char="ü"/>
            </a:pPr>
            <a:r>
              <a:rPr lang="en-US" dirty="0"/>
              <a:t>None of the </a:t>
            </a:r>
            <a:r>
              <a:rPr lang="en-US" dirty="0" smtClean="0"/>
              <a:t>above</a:t>
            </a:r>
          </a:p>
          <a:p>
            <a:endParaRPr lang="en-US" dirty="0"/>
          </a:p>
          <a:p>
            <a:pPr marL="285750" indent="-285750">
              <a:buFont typeface="Wingdings" panose="05000000000000000000" pitchFamily="2" charset="2"/>
              <a:buChar char="§"/>
            </a:pPr>
            <a:r>
              <a:rPr lang="en-US" dirty="0"/>
              <a:t>A parse tree showing the value of attributes at each node is called-</a:t>
            </a:r>
            <a:r>
              <a:rPr lang="en-US" dirty="0" smtClean="0"/>
              <a:t>---------</a:t>
            </a:r>
          </a:p>
          <a:p>
            <a:pPr marL="285750" indent="-285750">
              <a:buFont typeface="Wingdings" panose="05000000000000000000" pitchFamily="2" charset="2"/>
              <a:buChar char="ü"/>
            </a:pPr>
            <a:r>
              <a:rPr lang="en-US" dirty="0"/>
              <a:t>Syntax tree     </a:t>
            </a:r>
            <a:endParaRPr lang="en-US" dirty="0" smtClean="0"/>
          </a:p>
          <a:p>
            <a:pPr marL="285750" indent="-285750">
              <a:buFont typeface="Wingdings" panose="05000000000000000000" pitchFamily="2" charset="2"/>
              <a:buChar char="ü"/>
            </a:pPr>
            <a:r>
              <a:rPr lang="en-US" dirty="0"/>
              <a:t>Annotated parse </a:t>
            </a:r>
            <a:r>
              <a:rPr lang="en-US" dirty="0" smtClean="0"/>
              <a:t>tree</a:t>
            </a:r>
          </a:p>
          <a:p>
            <a:pPr marL="285750" indent="-285750">
              <a:buFont typeface="Wingdings" panose="05000000000000000000" pitchFamily="2" charset="2"/>
              <a:buChar char="ü"/>
            </a:pPr>
            <a:r>
              <a:rPr lang="en-US" dirty="0"/>
              <a:t>parse </a:t>
            </a:r>
            <a:r>
              <a:rPr lang="en-US" dirty="0" smtClean="0"/>
              <a:t>tree</a:t>
            </a:r>
          </a:p>
          <a:p>
            <a:pPr marL="285750" indent="-285750">
              <a:buFont typeface="Wingdings" panose="05000000000000000000" pitchFamily="2" charset="2"/>
              <a:buChar char="ü"/>
            </a:pPr>
            <a:r>
              <a:rPr lang="en-US" dirty="0"/>
              <a:t>All of the above.</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8241811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t>Role of </a:t>
            </a:r>
            <a:r>
              <a:rPr lang="en-US" sz="3200" dirty="0" smtClean="0"/>
              <a:t>CFG in Voice Assistant</a:t>
            </a:r>
            <a:endParaRPr lang="en-US" sz="3200" b="1" spc="-5" dirty="0"/>
          </a:p>
        </p:txBody>
      </p:sp>
      <p:sp>
        <p:nvSpPr>
          <p:cNvPr id="9" name="Date Placeholder 8"/>
          <p:cNvSpPr>
            <a:spLocks noGrp="1"/>
          </p:cNvSpPr>
          <p:nvPr>
            <p:ph type="dt" sz="half" idx="10"/>
          </p:nvPr>
        </p:nvSpPr>
        <p:spPr/>
        <p:txBody>
          <a:bodyPr/>
          <a:lstStyle/>
          <a:p>
            <a:fld id="{8DECEC9C-D7E7-42F2-9A97-679768B0F002}" type="datetime1">
              <a:rPr lang="en-US" smtClean="0"/>
              <a:t>4/10/2026</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154</a:t>
            </a:fld>
            <a:endParaRPr lang="en-US"/>
          </a:p>
        </p:txBody>
      </p:sp>
      <p:sp>
        <p:nvSpPr>
          <p:cNvPr id="11" name="Footer Placeholder 10"/>
          <p:cNvSpPr>
            <a:spLocks noGrp="1"/>
          </p:cNvSpPr>
          <p:nvPr>
            <p:ph type="ftr" sz="quarter" idx="11"/>
          </p:nvPr>
        </p:nvSpPr>
        <p:spPr>
          <a:xfrm>
            <a:off x="3124200" y="6356350"/>
            <a:ext cx="3276600" cy="365125"/>
          </a:xfrm>
        </p:spPr>
        <p:txBody>
          <a:bodyPr/>
          <a:lstStyle/>
          <a:p>
            <a:r>
              <a:rPr lang="it-IT" smtClean="0"/>
              <a:t>Vivek Kumar Sharma              CD Unit -3</a:t>
            </a:r>
            <a:endParaRPr lang="en-US" dirty="0"/>
          </a:p>
        </p:txBody>
      </p:sp>
      <p:sp>
        <p:nvSpPr>
          <p:cNvPr id="3" name="TextBox 2"/>
          <p:cNvSpPr txBox="1"/>
          <p:nvPr/>
        </p:nvSpPr>
        <p:spPr>
          <a:xfrm>
            <a:off x="228600" y="1143000"/>
            <a:ext cx="8610600" cy="5909310"/>
          </a:xfrm>
          <a:prstGeom prst="rect">
            <a:avLst/>
          </a:prstGeom>
          <a:noFill/>
        </p:spPr>
        <p:txBody>
          <a:bodyPr wrap="square" rtlCol="0">
            <a:spAutoFit/>
          </a:bodyPr>
          <a:lstStyle/>
          <a:p>
            <a:r>
              <a:rPr lang="en-US" b="1" dirty="0"/>
              <a:t>CFG</a:t>
            </a:r>
            <a:r>
              <a:rPr lang="en-US" dirty="0"/>
              <a:t> is used to formally define the structure of valid sentences in a language</a:t>
            </a:r>
            <a:r>
              <a:rPr lang="en-US" dirty="0" smtClean="0"/>
              <a:t>.</a:t>
            </a:r>
          </a:p>
          <a:p>
            <a:endParaRPr lang="en-US" b="1" dirty="0" smtClean="0"/>
          </a:p>
          <a:p>
            <a:r>
              <a:rPr lang="en-US" b="1" dirty="0" smtClean="0"/>
              <a:t>: In </a:t>
            </a:r>
            <a:r>
              <a:rPr lang="en-US" b="1" dirty="0"/>
              <a:t>a Voice Assistant:</a:t>
            </a:r>
          </a:p>
          <a:p>
            <a:pPr marL="285750" indent="-285750">
              <a:buFont typeface="Wingdings" panose="05000000000000000000" pitchFamily="2" charset="2"/>
              <a:buChar char="§"/>
            </a:pPr>
            <a:r>
              <a:rPr lang="en-US" dirty="0"/>
              <a:t>CFG provides </a:t>
            </a:r>
            <a:r>
              <a:rPr lang="en-US" b="1" dirty="0"/>
              <a:t>rules</a:t>
            </a:r>
            <a:r>
              <a:rPr lang="en-US" dirty="0"/>
              <a:t> that describe how words can be combined. </a:t>
            </a:r>
          </a:p>
          <a:p>
            <a:pPr marL="285750" indent="-285750">
              <a:buFont typeface="Wingdings" panose="05000000000000000000" pitchFamily="2" charset="2"/>
              <a:buChar char="§"/>
            </a:pPr>
            <a:r>
              <a:rPr lang="en-US" dirty="0"/>
              <a:t>It helps the system understand </a:t>
            </a:r>
            <a:r>
              <a:rPr lang="en-US" b="1" dirty="0"/>
              <a:t>syntax (sentence structure)</a:t>
            </a:r>
            <a:r>
              <a:rPr lang="en-US" dirty="0"/>
              <a:t>. </a:t>
            </a:r>
          </a:p>
          <a:p>
            <a:pPr marL="285750" indent="-285750">
              <a:buFont typeface="Wingdings" panose="05000000000000000000" pitchFamily="2" charset="2"/>
              <a:buChar char="§"/>
            </a:pPr>
            <a:r>
              <a:rPr lang="en-US" dirty="0"/>
              <a:t>Ensures that user input follows recognizable patterns</a:t>
            </a:r>
            <a:r>
              <a:rPr lang="en-US" dirty="0" smtClean="0"/>
              <a:t>.</a:t>
            </a:r>
          </a:p>
          <a:p>
            <a:endParaRPr lang="en-US" dirty="0"/>
          </a:p>
          <a:p>
            <a:r>
              <a:rPr lang="en-US" b="1" dirty="0"/>
              <a:t>Example:</a:t>
            </a:r>
          </a:p>
          <a:p>
            <a:r>
              <a:rPr lang="en-US" dirty="0"/>
              <a:t>A simple CFG rule</a:t>
            </a:r>
            <a:r>
              <a:rPr lang="en-US" dirty="0" smtClean="0"/>
              <a:t>:</a:t>
            </a:r>
          </a:p>
          <a:p>
            <a:endParaRPr lang="en-US" dirty="0" smtClean="0"/>
          </a:p>
          <a:p>
            <a:r>
              <a:rPr lang="en-US" dirty="0"/>
              <a:t>S → VP</a:t>
            </a:r>
          </a:p>
          <a:p>
            <a:r>
              <a:rPr lang="en-US" dirty="0"/>
              <a:t>VP → Verb Object</a:t>
            </a:r>
          </a:p>
          <a:p>
            <a:r>
              <a:rPr lang="en-US" dirty="0"/>
              <a:t>Verb → "play" | "open"</a:t>
            </a:r>
          </a:p>
          <a:p>
            <a:r>
              <a:rPr lang="en-US" dirty="0"/>
              <a:t>Object → "music" | "</a:t>
            </a:r>
            <a:r>
              <a:rPr lang="en-US" dirty="0" smtClean="0"/>
              <a:t>YouTube“</a:t>
            </a:r>
          </a:p>
          <a:p>
            <a:endParaRPr lang="en-US" dirty="0"/>
          </a:p>
          <a:p>
            <a:r>
              <a:rPr lang="en-US" dirty="0"/>
              <a:t>If a user says:</a:t>
            </a:r>
            <a:br>
              <a:rPr lang="en-US" dirty="0"/>
            </a:br>
            <a:r>
              <a:rPr lang="en-US" b="1" dirty="0"/>
              <a:t>"play music"</a:t>
            </a:r>
            <a:r>
              <a:rPr lang="en-US" dirty="0"/>
              <a:t> → It matches the CFG rules → valid command</a:t>
            </a:r>
            <a:r>
              <a:rPr lang="en-US" dirty="0" smtClean="0"/>
              <a:t>.</a:t>
            </a:r>
          </a:p>
          <a:p>
            <a:r>
              <a:rPr lang="en-US" dirty="0"/>
              <a:t>If user says:</a:t>
            </a:r>
            <a:br>
              <a:rPr lang="en-US" dirty="0"/>
            </a:br>
            <a:r>
              <a:rPr lang="en-US" b="1" dirty="0"/>
              <a:t>"music play quickly"</a:t>
            </a:r>
            <a:r>
              <a:rPr lang="en-US" dirty="0"/>
              <a:t> → May not match → needs correction or advanced parsing.</a:t>
            </a:r>
          </a:p>
          <a:p>
            <a:endParaRPr lang="en-US" dirty="0"/>
          </a:p>
          <a:p>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22515818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t>Role of Parsing</a:t>
            </a:r>
            <a:r>
              <a:rPr lang="en-US" sz="3200" dirty="0" smtClean="0"/>
              <a:t> in Voice Assistant</a:t>
            </a:r>
            <a:endParaRPr lang="en-US" sz="3200" b="1" spc="-5" dirty="0"/>
          </a:p>
        </p:txBody>
      </p:sp>
      <p:sp>
        <p:nvSpPr>
          <p:cNvPr id="9" name="Date Placeholder 8"/>
          <p:cNvSpPr>
            <a:spLocks noGrp="1"/>
          </p:cNvSpPr>
          <p:nvPr>
            <p:ph type="dt" sz="half" idx="10"/>
          </p:nvPr>
        </p:nvSpPr>
        <p:spPr/>
        <p:txBody>
          <a:bodyPr/>
          <a:lstStyle/>
          <a:p>
            <a:fld id="{8DECEC9C-D7E7-42F2-9A97-679768B0F002}" type="datetime1">
              <a:rPr lang="en-US" smtClean="0"/>
              <a:t>4/10/2026</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155</a:t>
            </a:fld>
            <a:endParaRPr lang="en-US"/>
          </a:p>
        </p:txBody>
      </p:sp>
      <p:sp>
        <p:nvSpPr>
          <p:cNvPr id="11" name="Footer Placeholder 10"/>
          <p:cNvSpPr>
            <a:spLocks noGrp="1"/>
          </p:cNvSpPr>
          <p:nvPr>
            <p:ph type="ftr" sz="quarter" idx="11"/>
          </p:nvPr>
        </p:nvSpPr>
        <p:spPr>
          <a:xfrm>
            <a:off x="3124200" y="6356350"/>
            <a:ext cx="3276600" cy="365125"/>
          </a:xfrm>
        </p:spPr>
        <p:txBody>
          <a:bodyPr/>
          <a:lstStyle/>
          <a:p>
            <a:r>
              <a:rPr lang="it-IT" smtClean="0"/>
              <a:t>Vivek Kumar Sharma              CD Unit -3</a:t>
            </a:r>
            <a:endParaRPr lang="en-US" dirty="0"/>
          </a:p>
        </p:txBody>
      </p:sp>
      <p:sp>
        <p:nvSpPr>
          <p:cNvPr id="3" name="TextBox 2"/>
          <p:cNvSpPr txBox="1"/>
          <p:nvPr/>
        </p:nvSpPr>
        <p:spPr>
          <a:xfrm>
            <a:off x="228600" y="1143000"/>
            <a:ext cx="8610600" cy="5078313"/>
          </a:xfrm>
          <a:prstGeom prst="rect">
            <a:avLst/>
          </a:prstGeom>
          <a:noFill/>
        </p:spPr>
        <p:txBody>
          <a:bodyPr wrap="square" rtlCol="0">
            <a:spAutoFit/>
          </a:bodyPr>
          <a:lstStyle/>
          <a:p>
            <a:r>
              <a:rPr lang="en-US" b="1" dirty="0"/>
              <a:t>Role of Parsing</a:t>
            </a:r>
          </a:p>
          <a:p>
            <a:r>
              <a:rPr lang="en-US" b="1" dirty="0"/>
              <a:t>Parsing</a:t>
            </a:r>
            <a:r>
              <a:rPr lang="en-US" dirty="0"/>
              <a:t> is the process of analyzing the sentence using CFG rules</a:t>
            </a:r>
            <a:r>
              <a:rPr lang="en-US" dirty="0" smtClean="0"/>
              <a:t>.</a:t>
            </a:r>
          </a:p>
          <a:p>
            <a:endParaRPr lang="en-US" dirty="0"/>
          </a:p>
          <a:p>
            <a:r>
              <a:rPr lang="en-US" b="1" dirty="0"/>
              <a:t>In a Voice Assistant:</a:t>
            </a:r>
          </a:p>
          <a:p>
            <a:r>
              <a:rPr lang="en-US" dirty="0"/>
              <a:t>Converts spoken input → structured representation (parse tree) </a:t>
            </a:r>
          </a:p>
          <a:p>
            <a:r>
              <a:rPr lang="en-US" dirty="0"/>
              <a:t>Identifies: </a:t>
            </a:r>
          </a:p>
          <a:p>
            <a:pPr lvl="1"/>
            <a:r>
              <a:rPr lang="en-US" b="1" dirty="0"/>
              <a:t>Intent</a:t>
            </a:r>
            <a:r>
              <a:rPr lang="en-US" dirty="0"/>
              <a:t> (what user wants) </a:t>
            </a:r>
          </a:p>
          <a:p>
            <a:pPr lvl="1"/>
            <a:r>
              <a:rPr lang="en-US" b="1" dirty="0"/>
              <a:t>Entities</a:t>
            </a:r>
            <a:r>
              <a:rPr lang="en-US" dirty="0"/>
              <a:t> (objects involved</a:t>
            </a:r>
            <a:r>
              <a:rPr lang="en-US" dirty="0" smtClean="0"/>
              <a:t>)</a:t>
            </a:r>
          </a:p>
          <a:p>
            <a:pPr lvl="1"/>
            <a:endParaRPr lang="en-US" dirty="0"/>
          </a:p>
          <a:p>
            <a:r>
              <a:rPr lang="en-US" b="1" dirty="0"/>
              <a:t>Example:</a:t>
            </a:r>
          </a:p>
          <a:p>
            <a:r>
              <a:rPr lang="en-US" dirty="0"/>
              <a:t>User input: </a:t>
            </a:r>
            <a:r>
              <a:rPr lang="en-US" b="1" dirty="0"/>
              <a:t>"Play music"</a:t>
            </a:r>
            <a:endParaRPr lang="en-US" dirty="0"/>
          </a:p>
          <a:p>
            <a:r>
              <a:rPr lang="en-US" dirty="0"/>
              <a:t>Parsing result:</a:t>
            </a:r>
          </a:p>
          <a:p>
            <a:r>
              <a:rPr lang="en-US" dirty="0"/>
              <a:t>Verb → </a:t>
            </a:r>
            <a:r>
              <a:rPr lang="en-US" i="1" dirty="0"/>
              <a:t>play</a:t>
            </a:r>
            <a:r>
              <a:rPr lang="en-US" dirty="0"/>
              <a:t> </a:t>
            </a:r>
          </a:p>
          <a:p>
            <a:r>
              <a:rPr lang="en-US" dirty="0"/>
              <a:t>Object → </a:t>
            </a:r>
            <a:r>
              <a:rPr lang="en-US" i="1" dirty="0"/>
              <a:t>music</a:t>
            </a:r>
            <a:r>
              <a:rPr lang="en-US" dirty="0"/>
              <a:t> </a:t>
            </a:r>
          </a:p>
          <a:p>
            <a:r>
              <a:rPr lang="en-US" dirty="0"/>
              <a:t>👉 System interprets:</a:t>
            </a:r>
          </a:p>
          <a:p>
            <a:r>
              <a:rPr lang="en-US" b="1" dirty="0"/>
              <a:t>Intent</a:t>
            </a:r>
            <a:r>
              <a:rPr lang="en-US" dirty="0"/>
              <a:t> = Play </a:t>
            </a:r>
          </a:p>
          <a:p>
            <a:r>
              <a:rPr lang="en-US" b="1" dirty="0"/>
              <a:t>Entity</a:t>
            </a:r>
            <a:r>
              <a:rPr lang="en-US" dirty="0"/>
              <a:t> = Music</a:t>
            </a:r>
          </a:p>
          <a:p>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4031756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t>Role of CFG (Context-Free Grammar)</a:t>
            </a:r>
            <a:endParaRPr lang="en-US" sz="3200" b="1" spc="-5" dirty="0"/>
          </a:p>
        </p:txBody>
      </p:sp>
      <p:sp>
        <p:nvSpPr>
          <p:cNvPr id="9" name="Date Placeholder 8"/>
          <p:cNvSpPr>
            <a:spLocks noGrp="1"/>
          </p:cNvSpPr>
          <p:nvPr>
            <p:ph type="dt" sz="half" idx="10"/>
          </p:nvPr>
        </p:nvSpPr>
        <p:spPr/>
        <p:txBody>
          <a:bodyPr/>
          <a:lstStyle/>
          <a:p>
            <a:fld id="{8DECEC9C-D7E7-42F2-9A97-679768B0F002}" type="datetime1">
              <a:rPr lang="en-US" smtClean="0"/>
              <a:t>4/10/2026</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156</a:t>
            </a:fld>
            <a:endParaRPr lang="en-US"/>
          </a:p>
        </p:txBody>
      </p:sp>
      <p:sp>
        <p:nvSpPr>
          <p:cNvPr id="11" name="Footer Placeholder 10"/>
          <p:cNvSpPr>
            <a:spLocks noGrp="1"/>
          </p:cNvSpPr>
          <p:nvPr>
            <p:ph type="ftr" sz="quarter" idx="11"/>
          </p:nvPr>
        </p:nvSpPr>
        <p:spPr>
          <a:xfrm>
            <a:off x="3124200" y="6356350"/>
            <a:ext cx="3276600" cy="365125"/>
          </a:xfrm>
        </p:spPr>
        <p:txBody>
          <a:bodyPr/>
          <a:lstStyle/>
          <a:p>
            <a:r>
              <a:rPr lang="it-IT" smtClean="0"/>
              <a:t>Vivek Kumar Sharma              CD Unit -3</a:t>
            </a:r>
            <a:endParaRPr lang="en-US" dirty="0"/>
          </a:p>
        </p:txBody>
      </p:sp>
      <p:sp>
        <p:nvSpPr>
          <p:cNvPr id="3" name="TextBox 2"/>
          <p:cNvSpPr txBox="1"/>
          <p:nvPr/>
        </p:nvSpPr>
        <p:spPr>
          <a:xfrm>
            <a:off x="228600" y="1143000"/>
            <a:ext cx="8610600" cy="369332"/>
          </a:xfrm>
          <a:prstGeom prst="rect">
            <a:avLst/>
          </a:prstGeom>
          <a:noFill/>
        </p:spPr>
        <p:txBody>
          <a:bodyPr wrap="square" rtlCol="0">
            <a:spAutoFit/>
          </a:bodyPr>
          <a:lstStyle/>
          <a:p>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
        <p:nvSpPr>
          <p:cNvPr id="12" name="Rectangle 4"/>
          <p:cNvSpPr>
            <a:spLocks noChangeArrowheads="1"/>
          </p:cNvSpPr>
          <p:nvPr/>
        </p:nvSpPr>
        <p:spPr bwMode="auto">
          <a:xfrm>
            <a:off x="457200" y="1000543"/>
            <a:ext cx="863890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Defines sentence structure</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CFG specifies how words can be arranged to form valid commands.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Limits possible inputs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Helps the system focus only on expected patterns (e.g., “play music”, “open app”).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Provides grammatical rules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Uses production rules (like S → Verb + Object) to represent language.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Improves understanding accuracy</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Reduces incorrect interpretations by filtering invalid sentences.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Useful for command-based systems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Works well where user input follows fixed formats.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4177903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t>Role of Parsing</a:t>
            </a:r>
            <a:endParaRPr lang="en-US" sz="3200" b="1" spc="-5" dirty="0"/>
          </a:p>
        </p:txBody>
      </p:sp>
      <p:sp>
        <p:nvSpPr>
          <p:cNvPr id="9" name="Date Placeholder 8"/>
          <p:cNvSpPr>
            <a:spLocks noGrp="1"/>
          </p:cNvSpPr>
          <p:nvPr>
            <p:ph type="dt" sz="half" idx="10"/>
          </p:nvPr>
        </p:nvSpPr>
        <p:spPr/>
        <p:txBody>
          <a:bodyPr/>
          <a:lstStyle/>
          <a:p>
            <a:fld id="{8DECEC9C-D7E7-42F2-9A97-679768B0F002}" type="datetime1">
              <a:rPr lang="en-US" smtClean="0"/>
              <a:t>4/10/2026</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157</a:t>
            </a:fld>
            <a:endParaRPr lang="en-US"/>
          </a:p>
        </p:txBody>
      </p:sp>
      <p:sp>
        <p:nvSpPr>
          <p:cNvPr id="11" name="Footer Placeholder 10"/>
          <p:cNvSpPr>
            <a:spLocks noGrp="1"/>
          </p:cNvSpPr>
          <p:nvPr>
            <p:ph type="ftr" sz="quarter" idx="11"/>
          </p:nvPr>
        </p:nvSpPr>
        <p:spPr>
          <a:xfrm>
            <a:off x="3124200" y="6356350"/>
            <a:ext cx="3276600" cy="365125"/>
          </a:xfrm>
        </p:spPr>
        <p:txBody>
          <a:bodyPr/>
          <a:lstStyle/>
          <a:p>
            <a:r>
              <a:rPr lang="it-IT" smtClean="0"/>
              <a:t>Vivek Kumar Sharma              CD Unit -3</a:t>
            </a:r>
            <a:endParaRPr lang="en-US" dirty="0"/>
          </a:p>
        </p:txBody>
      </p:sp>
      <p:sp>
        <p:nvSpPr>
          <p:cNvPr id="3" name="TextBox 2"/>
          <p:cNvSpPr txBox="1"/>
          <p:nvPr/>
        </p:nvSpPr>
        <p:spPr>
          <a:xfrm>
            <a:off x="228600" y="1143000"/>
            <a:ext cx="8610600" cy="369332"/>
          </a:xfrm>
          <a:prstGeom prst="rect">
            <a:avLst/>
          </a:prstGeom>
          <a:noFill/>
        </p:spPr>
        <p:txBody>
          <a:bodyPr wrap="square" rtlCol="0">
            <a:spAutoFit/>
          </a:bodyPr>
          <a:lstStyle/>
          <a:p>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
        <p:nvSpPr>
          <p:cNvPr id="2" name="Rectangle 1"/>
          <p:cNvSpPr>
            <a:spLocks noChangeArrowheads="1"/>
          </p:cNvSpPr>
          <p:nvPr/>
        </p:nvSpPr>
        <p:spPr bwMode="auto">
          <a:xfrm>
            <a:off x="647700" y="1311965"/>
            <a:ext cx="79248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Analyzes user input</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Checks whether the spoken sentence follows CFG rules.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Builds structure (Parse Tree)</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Breaks the sentence into components like verb, object,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Extracts meaning (Intent &amp; Entities)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Identifies what action is needed and on what object.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Detects errors or ambiguity</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Helps identify if the sentence is incomplete or unclear.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Converts text into machine-understandable form</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Prepares structured data for further processing.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062393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t>Combined Role (CFG + Parsing)</a:t>
            </a:r>
            <a:endParaRPr lang="en-US" sz="3200" b="1" spc="-5" dirty="0"/>
          </a:p>
        </p:txBody>
      </p:sp>
      <p:sp>
        <p:nvSpPr>
          <p:cNvPr id="9" name="Date Placeholder 8"/>
          <p:cNvSpPr>
            <a:spLocks noGrp="1"/>
          </p:cNvSpPr>
          <p:nvPr>
            <p:ph type="dt" sz="half" idx="10"/>
          </p:nvPr>
        </p:nvSpPr>
        <p:spPr/>
        <p:txBody>
          <a:bodyPr/>
          <a:lstStyle/>
          <a:p>
            <a:fld id="{8DECEC9C-D7E7-42F2-9A97-679768B0F002}" type="datetime1">
              <a:rPr lang="en-US" smtClean="0"/>
              <a:t>4/10/2026</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158</a:t>
            </a:fld>
            <a:endParaRPr lang="en-US"/>
          </a:p>
        </p:txBody>
      </p:sp>
      <p:sp>
        <p:nvSpPr>
          <p:cNvPr id="11" name="Footer Placeholder 10"/>
          <p:cNvSpPr>
            <a:spLocks noGrp="1"/>
          </p:cNvSpPr>
          <p:nvPr>
            <p:ph type="ftr" sz="quarter" idx="11"/>
          </p:nvPr>
        </p:nvSpPr>
        <p:spPr>
          <a:xfrm>
            <a:off x="3124200" y="6356350"/>
            <a:ext cx="3276600" cy="365125"/>
          </a:xfrm>
        </p:spPr>
        <p:txBody>
          <a:bodyPr/>
          <a:lstStyle/>
          <a:p>
            <a:r>
              <a:rPr lang="it-IT" smtClean="0"/>
              <a:t>Vivek Kumar Sharma              CD Unit -3</a:t>
            </a:r>
            <a:endParaRPr lang="en-US" dirty="0"/>
          </a:p>
        </p:txBody>
      </p:sp>
      <p:sp>
        <p:nvSpPr>
          <p:cNvPr id="3" name="TextBox 2"/>
          <p:cNvSpPr txBox="1"/>
          <p:nvPr/>
        </p:nvSpPr>
        <p:spPr>
          <a:xfrm>
            <a:off x="228600" y="1143000"/>
            <a:ext cx="8610600" cy="369332"/>
          </a:xfrm>
          <a:prstGeom prst="rect">
            <a:avLst/>
          </a:prstGeom>
          <a:noFill/>
        </p:spPr>
        <p:txBody>
          <a:bodyPr wrap="square" rtlCol="0">
            <a:spAutoFit/>
          </a:bodyPr>
          <a:lstStyle/>
          <a:p>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
        <p:nvSpPr>
          <p:cNvPr id="4" name="Rectangle 1"/>
          <p:cNvSpPr>
            <a:spLocks noChangeArrowheads="1"/>
          </p:cNvSpPr>
          <p:nvPr/>
        </p:nvSpPr>
        <p:spPr bwMode="auto">
          <a:xfrm>
            <a:off x="533400" y="1360439"/>
            <a:ext cx="703602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CFG provides </a:t>
            </a:r>
            <a:r>
              <a:rPr kumimoji="0" lang="en-US" altLang="en-US" sz="1800" b="1" i="0" u="none" strike="noStrike" cap="none" normalizeH="0" baseline="0" dirty="0" smtClean="0">
                <a:ln>
                  <a:noFill/>
                </a:ln>
                <a:solidFill>
                  <a:schemeClr val="tx1"/>
                </a:solidFill>
                <a:effectLst/>
                <a:latin typeface="Arial" panose="020B0604020202020204" pitchFamily="34" charset="0"/>
              </a:rPr>
              <a:t>rules</a:t>
            </a:r>
            <a:r>
              <a:rPr kumimoji="0" lang="en-US" altLang="en-US" sz="1800" b="0" i="0" u="none" strike="noStrike" cap="none" normalizeH="0" baseline="0" dirty="0" smtClean="0">
                <a:ln>
                  <a:noFill/>
                </a:ln>
                <a:solidFill>
                  <a:schemeClr val="tx1"/>
                </a:solidFill>
                <a:effectLst/>
                <a:latin typeface="Arial" panose="020B0604020202020204" pitchFamily="34" charset="0"/>
              </a:rPr>
              <a:t>, parsing applies </a:t>
            </a:r>
            <a:r>
              <a:rPr kumimoji="0" lang="en-US" altLang="en-US" sz="1800" b="1" i="0" u="none" strike="noStrike" cap="none" normalizeH="0" baseline="0" dirty="0" smtClean="0">
                <a:ln>
                  <a:noFill/>
                </a:ln>
                <a:solidFill>
                  <a:schemeClr val="tx1"/>
                </a:solidFill>
                <a:effectLst/>
                <a:latin typeface="Arial" panose="020B0604020202020204" pitchFamily="34" charset="0"/>
              </a:rPr>
              <a:t>those rules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Together, they help the system </a:t>
            </a:r>
            <a:r>
              <a:rPr kumimoji="0" lang="en-US" altLang="en-US" sz="1800" b="1" i="0" u="none" strike="noStrike" cap="none" normalizeH="0" baseline="0" dirty="0" smtClean="0">
                <a:ln>
                  <a:noFill/>
                </a:ln>
                <a:solidFill>
                  <a:schemeClr val="tx1"/>
                </a:solidFill>
                <a:effectLst/>
                <a:latin typeface="Arial" panose="020B0604020202020204" pitchFamily="34" charset="0"/>
              </a:rPr>
              <a:t>understand commands correctly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Enable </a:t>
            </a:r>
            <a:r>
              <a:rPr kumimoji="0" lang="en-US" altLang="en-US" sz="1800" b="1" i="0" u="none" strike="noStrike" cap="none" normalizeH="0" baseline="0" dirty="0" smtClean="0">
                <a:ln>
                  <a:noFill/>
                </a:ln>
                <a:solidFill>
                  <a:schemeClr val="tx1"/>
                </a:solidFill>
                <a:effectLst/>
                <a:latin typeface="Arial" panose="020B0604020202020204" pitchFamily="34" charset="0"/>
              </a:rPr>
              <a:t>accurate execution of user requests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Form the </a:t>
            </a:r>
            <a:r>
              <a:rPr kumimoji="0" lang="en-US" altLang="en-US" sz="1800" b="1" i="0" u="none" strike="noStrike" cap="none" normalizeH="0" baseline="0" dirty="0" smtClean="0">
                <a:ln>
                  <a:noFill/>
                </a:ln>
                <a:solidFill>
                  <a:schemeClr val="tx1"/>
                </a:solidFill>
                <a:effectLst/>
                <a:latin typeface="Arial" panose="020B0604020202020204" pitchFamily="34" charset="0"/>
              </a:rPr>
              <a:t>basic language processing layer</a:t>
            </a:r>
            <a:r>
              <a:rPr kumimoji="0" lang="en-US" altLang="en-US" sz="1800" b="0" i="0" u="none" strike="noStrike" cap="none" normalizeH="0" baseline="0" dirty="0" smtClean="0">
                <a:ln>
                  <a:noFill/>
                </a:ln>
                <a:solidFill>
                  <a:schemeClr val="tx1"/>
                </a:solidFill>
                <a:effectLst/>
                <a:latin typeface="Arial" panose="020B0604020202020204" pitchFamily="34" charset="0"/>
              </a:rPr>
              <a:t> in voice assistants </a:t>
            </a:r>
          </a:p>
        </p:txBody>
      </p:sp>
    </p:spTree>
    <p:extLst>
      <p:ext uri="{BB962C8B-B14F-4D97-AF65-F5344CB8AC3E}">
        <p14:creationId xmlns:p14="http://schemas.microsoft.com/office/powerpoint/2010/main" val="168407798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t>Role of CFG and Parsing in Voice Assistant</a:t>
            </a:r>
            <a:endParaRPr lang="en-US" sz="3200" b="1" spc="-5" dirty="0"/>
          </a:p>
        </p:txBody>
      </p:sp>
      <p:sp>
        <p:nvSpPr>
          <p:cNvPr id="9" name="Date Placeholder 8"/>
          <p:cNvSpPr>
            <a:spLocks noGrp="1"/>
          </p:cNvSpPr>
          <p:nvPr>
            <p:ph type="dt" sz="half" idx="10"/>
          </p:nvPr>
        </p:nvSpPr>
        <p:spPr/>
        <p:txBody>
          <a:bodyPr/>
          <a:lstStyle/>
          <a:p>
            <a:fld id="{8DECEC9C-D7E7-42F2-9A97-679768B0F002}" type="datetime1">
              <a:rPr lang="en-US" smtClean="0"/>
              <a:t>4/10/2026</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159</a:t>
            </a:fld>
            <a:endParaRPr lang="en-US"/>
          </a:p>
        </p:txBody>
      </p:sp>
      <p:sp>
        <p:nvSpPr>
          <p:cNvPr id="11" name="Footer Placeholder 10"/>
          <p:cNvSpPr>
            <a:spLocks noGrp="1"/>
          </p:cNvSpPr>
          <p:nvPr>
            <p:ph type="ftr" sz="quarter" idx="11"/>
          </p:nvPr>
        </p:nvSpPr>
        <p:spPr>
          <a:xfrm>
            <a:off x="3124200" y="6356350"/>
            <a:ext cx="3276600" cy="365125"/>
          </a:xfrm>
        </p:spPr>
        <p:txBody>
          <a:bodyPr/>
          <a:lstStyle/>
          <a:p>
            <a:r>
              <a:rPr lang="it-IT" smtClean="0"/>
              <a:t>Vivek Kumar Sharma              CD Unit -3</a:t>
            </a:r>
            <a:endParaRPr lang="en-US" dirty="0"/>
          </a:p>
        </p:txBody>
      </p:sp>
      <p:sp>
        <p:nvSpPr>
          <p:cNvPr id="3" name="TextBox 2"/>
          <p:cNvSpPr txBox="1"/>
          <p:nvPr/>
        </p:nvSpPr>
        <p:spPr>
          <a:xfrm>
            <a:off x="228600" y="1143000"/>
            <a:ext cx="8610600" cy="369332"/>
          </a:xfrm>
          <a:prstGeom prst="rect">
            <a:avLst/>
          </a:prstGeom>
          <a:noFill/>
        </p:spPr>
        <p:txBody>
          <a:bodyPr wrap="square" rtlCol="0">
            <a:spAutoFit/>
          </a:bodyPr>
          <a:lstStyle/>
          <a:p>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
        <p:nvSpPr>
          <p:cNvPr id="4" name="Rectangle 1"/>
          <p:cNvSpPr>
            <a:spLocks noChangeArrowheads="1"/>
          </p:cNvSpPr>
          <p:nvPr/>
        </p:nvSpPr>
        <p:spPr bwMode="auto">
          <a:xfrm>
            <a:off x="533401" y="2052936"/>
            <a:ext cx="7772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A voice assistant converts spoken language into meaningful actions. </a:t>
            </a:r>
            <a:r>
              <a:rPr lang="en-US" b="1" dirty="0"/>
              <a:t>Context-Free Grammar (CFG)</a:t>
            </a:r>
            <a:r>
              <a:rPr lang="en-US" dirty="0"/>
              <a:t> and </a:t>
            </a:r>
            <a:r>
              <a:rPr lang="en-US" b="1" dirty="0"/>
              <a:t>Parsing</a:t>
            </a:r>
            <a:r>
              <a:rPr lang="en-US" dirty="0"/>
              <a:t> play an important role in understanding the structure and meaning of user commands.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5955450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49612"/>
            <a:ext cx="8229600" cy="4525963"/>
          </a:xfrm>
        </p:spPr>
        <p:txBody>
          <a:bodyPr>
            <a:normAutofit/>
          </a:bodyPr>
          <a:lstStyle/>
          <a:p>
            <a:pPr marL="0" indent="0">
              <a:lnSpc>
                <a:spcPct val="200000"/>
              </a:lnSpc>
              <a:buNone/>
            </a:pPr>
            <a:r>
              <a:rPr lang="en-US" sz="2200" dirty="0" err="1">
                <a:latin typeface="Times New Roman" panose="02020603050405020304" pitchFamily="18" charset="0"/>
                <a:cs typeface="Times New Roman" panose="02020603050405020304" pitchFamily="18" charset="0"/>
              </a:rPr>
              <a:t>Youtube</a:t>
            </a:r>
            <a:r>
              <a:rPr lang="en-US" sz="2200" dirty="0">
                <a:latin typeface="Times New Roman" panose="02020603050405020304" pitchFamily="18" charset="0"/>
                <a:cs typeface="Times New Roman" panose="02020603050405020304" pitchFamily="18" charset="0"/>
              </a:rPr>
              <a:t>/other  Video Links</a:t>
            </a:r>
          </a:p>
          <a:p>
            <a:pPr>
              <a:lnSpc>
                <a:spcPct val="200000"/>
              </a:lnSpc>
            </a:pPr>
            <a:r>
              <a:rPr lang="en-US" sz="2200" dirty="0">
                <a:latin typeface="Times New Roman" panose="02020603050405020304" pitchFamily="18" charset="0"/>
                <a:cs typeface="Times New Roman" panose="02020603050405020304" pitchFamily="18" charset="0"/>
                <a:hlinkClick r:id="rId2"/>
              </a:rPr>
              <a:t>https://www.youtube.com/watch?v=GOlsYofJjyQ</a:t>
            </a:r>
            <a:endParaRPr lang="en-US" sz="2200" dirty="0">
              <a:latin typeface="Times New Roman" panose="02020603050405020304" pitchFamily="18" charset="0"/>
              <a:cs typeface="Times New Roman" panose="02020603050405020304" pitchFamily="18" charset="0"/>
            </a:endParaRPr>
          </a:p>
          <a:p>
            <a:pPr>
              <a:lnSpc>
                <a:spcPct val="200000"/>
              </a:lnSpc>
            </a:pPr>
            <a:r>
              <a:rPr lang="en-US" sz="2200" dirty="0">
                <a:latin typeface="Times New Roman" panose="02020603050405020304" pitchFamily="18" charset="0"/>
                <a:cs typeface="Times New Roman" panose="02020603050405020304" pitchFamily="18" charset="0"/>
                <a:hlinkClick r:id="rId3"/>
              </a:rPr>
              <a:t>https://www.youtube.com/watch?v=sMxqUQc_jHQ&amp;t=360s</a:t>
            </a:r>
            <a:endParaRPr lang="en-US" sz="2200" dirty="0">
              <a:latin typeface="Times New Roman" panose="02020603050405020304" pitchFamily="18" charset="0"/>
              <a:cs typeface="Times New Roman" panose="02020603050405020304" pitchFamily="18" charset="0"/>
            </a:endParaRPr>
          </a:p>
          <a:p>
            <a:pPr>
              <a:lnSpc>
                <a:spcPct val="200000"/>
              </a:lnSpc>
            </a:pPr>
            <a:r>
              <a:rPr lang="en-US" sz="2200" dirty="0">
                <a:latin typeface="Times New Roman" panose="02020603050405020304" pitchFamily="18" charset="0"/>
                <a:cs typeface="Times New Roman" panose="02020603050405020304" pitchFamily="18" charset="0"/>
                <a:hlinkClick r:id="rId4"/>
              </a:rPr>
              <a:t>https://nptel.ac.in/courses/106/105/106105190/</a:t>
            </a:r>
            <a:endParaRPr lang="en-US" sz="2200" dirty="0">
              <a:latin typeface="Times New Roman" panose="02020603050405020304" pitchFamily="18" charset="0"/>
              <a:cs typeface="Times New Roman" panose="02020603050405020304" pitchFamily="18" charset="0"/>
            </a:endParaRPr>
          </a:p>
          <a:p>
            <a:pPr>
              <a:lnSpc>
                <a:spcPct val="200000"/>
              </a:lnSpc>
            </a:pPr>
            <a:r>
              <a:rPr lang="en-US" sz="2200" dirty="0">
                <a:latin typeface="Times New Roman" panose="02020603050405020304" pitchFamily="18" charset="0"/>
                <a:cs typeface="Times New Roman" panose="02020603050405020304" pitchFamily="18" charset="0"/>
                <a:hlinkClick r:id="rId4"/>
              </a:rPr>
              <a:t>https://nptel.ac.in/courses/106/105/106105190/</a:t>
            </a:r>
            <a:endParaRPr lang="en-US" sz="2200" dirty="0">
              <a:latin typeface="Times New Roman" panose="02020603050405020304" pitchFamily="18" charset="0"/>
              <a:cs typeface="Times New Roman" panose="02020603050405020304" pitchFamily="18" charset="0"/>
            </a:endParaRPr>
          </a:p>
          <a:p>
            <a:pPr>
              <a:lnSpc>
                <a:spcPct val="200000"/>
              </a:lnSpc>
            </a:pPr>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7684E6E-A3E8-4D95-B2B0-02AABC73B50E}" type="datetime1">
              <a:rPr lang="en-US" smtClean="0"/>
              <a:t>4/10/2026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160</a:t>
            </a:fld>
            <a:endParaRPr lang="en-US"/>
          </a:p>
        </p:txBody>
      </p:sp>
      <p:sp>
        <p:nvSpPr>
          <p:cNvPr id="7" name="Title 1"/>
          <p:cNvSpPr txBox="1">
            <a:spLocks/>
          </p:cNvSpPr>
          <p:nvPr/>
        </p:nvSpPr>
        <p:spPr>
          <a:xfrm>
            <a:off x="1371600" y="0"/>
            <a:ext cx="7772400" cy="11430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Faculty Video</a:t>
            </a:r>
            <a:r>
              <a:rPr kumimoji="0" lang="en-US" sz="2400" b="0" i="0" u="none" strike="noStrike" kern="1200" cap="none" spc="0" normalizeH="0" noProof="0" dirty="0">
                <a:ln>
                  <a:noFill/>
                </a:ln>
                <a:solidFill>
                  <a:schemeClr val="dk1"/>
                </a:solidFill>
                <a:effectLst/>
                <a:uLnTx/>
                <a:uFillTx/>
                <a:latin typeface="+mn-lt"/>
                <a:ea typeface="+mn-ea"/>
                <a:cs typeface="+mn-cs"/>
              </a:rPr>
              <a:t> Links, </a:t>
            </a:r>
            <a:r>
              <a:rPr kumimoji="0" lang="en-US" sz="2400" b="0" i="0" u="none" strike="noStrike" kern="1200" cap="none" spc="0" normalizeH="0" noProof="0" dirty="0" err="1">
                <a:ln>
                  <a:noFill/>
                </a:ln>
                <a:solidFill>
                  <a:schemeClr val="dk1"/>
                </a:solidFill>
                <a:effectLst/>
                <a:uLnTx/>
                <a:uFillTx/>
                <a:latin typeface="+mn-lt"/>
                <a:ea typeface="+mn-ea"/>
                <a:cs typeface="+mn-cs"/>
              </a:rPr>
              <a:t>Youtube</a:t>
            </a:r>
            <a:r>
              <a:rPr kumimoji="0" lang="en-US" sz="2400" b="0" i="0" u="none" strike="noStrike" kern="1200" cap="none" spc="0" normalizeH="0" noProof="0" dirty="0">
                <a:ln>
                  <a:noFill/>
                </a:ln>
                <a:solidFill>
                  <a:schemeClr val="dk1"/>
                </a:solidFill>
                <a:effectLst/>
                <a:uLnTx/>
                <a:uFillTx/>
                <a:latin typeface="+mn-lt"/>
                <a:ea typeface="+mn-ea"/>
                <a:cs typeface="+mn-cs"/>
              </a:rPr>
              <a:t> &amp; NPTEL Video Links and Online Courses Details  </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Calculate the first and follow function of production rules:</a:t>
            </a:r>
          </a:p>
          <a:p>
            <a:pPr marL="0" indent="0" algn="just" fontAlgn="base">
              <a:buNone/>
            </a:pPr>
            <a:r>
              <a:rPr lang="en-US" sz="1800" dirty="0">
                <a:latin typeface="Times New Roman" panose="02020603050405020304" pitchFamily="18" charset="0"/>
                <a:cs typeface="Times New Roman" panose="02020603050405020304" pitchFamily="18" charset="0"/>
              </a:rPr>
              <a:t>		</a:t>
            </a:r>
            <a:r>
              <a:rPr lang="pt-BR" sz="1800" dirty="0">
                <a:latin typeface="Times New Roman" panose="02020603050405020304" pitchFamily="18" charset="0"/>
                <a:cs typeface="Times New Roman" panose="02020603050405020304" pitchFamily="18" charset="0"/>
              </a:rPr>
              <a:t>S → ACB / CbB / Ba</a:t>
            </a:r>
          </a:p>
          <a:p>
            <a:pPr marL="0" indent="0" algn="just" fontAlgn="base">
              <a:buNone/>
            </a:pPr>
            <a:r>
              <a:rPr lang="pt-BR" sz="1800" dirty="0">
                <a:latin typeface="Times New Roman" panose="02020603050405020304" pitchFamily="18" charset="0"/>
                <a:cs typeface="Times New Roman" panose="02020603050405020304" pitchFamily="18" charset="0"/>
              </a:rPr>
              <a:t>		A → da / BC</a:t>
            </a:r>
          </a:p>
          <a:p>
            <a:pPr marL="0" indent="0" algn="just" fontAlgn="base">
              <a:buNone/>
            </a:pPr>
            <a:r>
              <a:rPr lang="pt-BR" sz="1800" dirty="0">
                <a:latin typeface="Times New Roman" panose="02020603050405020304" pitchFamily="18" charset="0"/>
                <a:cs typeface="Times New Roman" panose="02020603050405020304" pitchFamily="18" charset="0"/>
              </a:rPr>
              <a:t>		B → g / ∈</a:t>
            </a:r>
          </a:p>
          <a:p>
            <a:pPr marL="0" indent="0" algn="just" fontAlgn="base">
              <a:buNone/>
            </a:pPr>
            <a:r>
              <a:rPr lang="pt-BR" sz="1800" dirty="0">
                <a:latin typeface="Times New Roman" panose="02020603050405020304" pitchFamily="18" charset="0"/>
                <a:cs typeface="Times New Roman" panose="02020603050405020304" pitchFamily="18" charset="0"/>
              </a:rPr>
              <a:t>		C → h / ∈</a:t>
            </a:r>
          </a:p>
          <a:p>
            <a:pPr algn="just"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Consider the following grammar and eliminate left recursion-</a:t>
            </a:r>
          </a:p>
          <a:p>
            <a:pPr marL="0" indent="0" algn="just" fontAlgn="base">
              <a:buNone/>
            </a:pPr>
            <a:r>
              <a:rPr lang="en-IN" sz="1800" dirty="0">
                <a:latin typeface="Times New Roman" panose="02020603050405020304" pitchFamily="18" charset="0"/>
                <a:cs typeface="Times New Roman" panose="02020603050405020304" pitchFamily="18" charset="0"/>
              </a:rPr>
              <a:t>		E → E + E / E x E / a</a:t>
            </a:r>
          </a:p>
          <a:p>
            <a:pPr algn="just" fontAlgn="base">
              <a:buFont typeface="Wingdings" panose="05000000000000000000" pitchFamily="2" charset="2"/>
              <a:buChar char="Ø"/>
            </a:pPr>
            <a:r>
              <a:rPr lang="en-US" sz="1800" b="0" i="0" dirty="0">
                <a:solidFill>
                  <a:srgbClr val="303030"/>
                </a:solidFill>
                <a:effectLst/>
                <a:latin typeface="Times New Roman" panose="02020603050405020304" pitchFamily="18" charset="0"/>
                <a:cs typeface="Times New Roman" panose="02020603050405020304" pitchFamily="18" charset="0"/>
              </a:rPr>
              <a:t>Do left factoring in the following grammar-</a:t>
            </a:r>
          </a:p>
          <a:p>
            <a:pPr marL="0" indent="0" algn="just" fontAlgn="base">
              <a:buNone/>
            </a:pPr>
            <a:r>
              <a:rPr lang="en-US" sz="1800" dirty="0">
                <a:solidFill>
                  <a:srgbClr val="303030"/>
                </a:solidFill>
                <a:latin typeface="Times New Roman" panose="02020603050405020304" pitchFamily="18" charset="0"/>
                <a:cs typeface="Times New Roman" panose="02020603050405020304" pitchFamily="18" charset="0"/>
              </a:rPr>
              <a:t>		</a:t>
            </a:r>
          </a:p>
          <a:p>
            <a:pPr marL="0" indent="0" algn="just" fontAlgn="base">
              <a:buNone/>
            </a:pPr>
            <a:r>
              <a:rPr lang="en-US" sz="1800" b="0" i="0" dirty="0">
                <a:solidFill>
                  <a:srgbClr val="303030"/>
                </a:solidFill>
                <a:effectLst/>
                <a:latin typeface="Times New Roman" panose="02020603050405020304" pitchFamily="18" charset="0"/>
                <a:cs typeface="Times New Roman" panose="02020603050405020304" pitchFamily="18" charset="0"/>
              </a:rPr>
              <a:t>		S → </a:t>
            </a:r>
            <a:r>
              <a:rPr lang="en-US" sz="1800" b="0" i="0" dirty="0" err="1">
                <a:solidFill>
                  <a:srgbClr val="303030"/>
                </a:solidFill>
                <a:effectLst/>
                <a:latin typeface="Times New Roman" panose="02020603050405020304" pitchFamily="18" charset="0"/>
                <a:cs typeface="Times New Roman" panose="02020603050405020304" pitchFamily="18" charset="0"/>
              </a:rPr>
              <a:t>bSSaaS</a:t>
            </a:r>
            <a:r>
              <a:rPr lang="en-US" sz="1800" b="0" i="0" dirty="0">
                <a:solidFill>
                  <a:srgbClr val="303030"/>
                </a:solidFill>
                <a:effectLst/>
                <a:latin typeface="Times New Roman" panose="02020603050405020304" pitchFamily="18" charset="0"/>
                <a:cs typeface="Times New Roman" panose="02020603050405020304" pitchFamily="18" charset="0"/>
              </a:rPr>
              <a:t> / </a:t>
            </a:r>
            <a:r>
              <a:rPr lang="en-US" sz="1800" b="0" i="0" dirty="0" err="1">
                <a:solidFill>
                  <a:srgbClr val="303030"/>
                </a:solidFill>
                <a:effectLst/>
                <a:latin typeface="Times New Roman" panose="02020603050405020304" pitchFamily="18" charset="0"/>
                <a:cs typeface="Times New Roman" panose="02020603050405020304" pitchFamily="18" charset="0"/>
              </a:rPr>
              <a:t>bSSaSb</a:t>
            </a:r>
            <a:r>
              <a:rPr lang="en-US" sz="1800" b="0" i="0" dirty="0">
                <a:solidFill>
                  <a:srgbClr val="303030"/>
                </a:solidFill>
                <a:effectLst/>
                <a:latin typeface="Times New Roman" panose="02020603050405020304" pitchFamily="18" charset="0"/>
                <a:cs typeface="Times New Roman" panose="02020603050405020304" pitchFamily="18" charset="0"/>
              </a:rPr>
              <a:t> / </a:t>
            </a:r>
            <a:r>
              <a:rPr lang="en-US" sz="1800" b="0" i="0" dirty="0" err="1">
                <a:solidFill>
                  <a:srgbClr val="303030"/>
                </a:solidFill>
                <a:effectLst/>
                <a:latin typeface="Times New Roman" panose="02020603050405020304" pitchFamily="18" charset="0"/>
                <a:cs typeface="Times New Roman" panose="02020603050405020304" pitchFamily="18" charset="0"/>
              </a:rPr>
              <a:t>bSb</a:t>
            </a:r>
            <a:r>
              <a:rPr lang="en-US" sz="1800" b="0" i="0" dirty="0">
                <a:solidFill>
                  <a:srgbClr val="303030"/>
                </a:solidFill>
                <a:effectLst/>
                <a:latin typeface="Times New Roman" panose="02020603050405020304" pitchFamily="18" charset="0"/>
                <a:cs typeface="Times New Roman" panose="02020603050405020304" pitchFamily="18" charset="0"/>
              </a:rPr>
              <a:t> / a</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Consider this following grammar:</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800" dirty="0">
                <a:solidFill>
                  <a:srgbClr val="333333"/>
                </a:solidFill>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S→iEtS</a:t>
            </a: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 </a:t>
            </a:r>
            <a:r>
              <a:rPr kumimoji="0" lang="en-US" altLang="en-US" sz="18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iEtSeS</a:t>
            </a: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E→b</a:t>
            </a:r>
            <a:endPar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800"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800" dirty="0">
                <a:solidFill>
                  <a:srgbClr val="333333"/>
                </a:solidFill>
                <a:latin typeface="Times New Roman" panose="02020603050405020304" pitchFamily="18" charset="0"/>
                <a:cs typeface="Times New Roman" panose="02020603050405020304" pitchFamily="18" charset="0"/>
              </a:rPr>
              <a:t>Check whether it is LL(1) grammar or not.</a:t>
            </a:r>
          </a:p>
          <a:p>
            <a:pPr algn="just">
              <a:lnSpc>
                <a:spcPct val="200000"/>
              </a:lnSpc>
              <a:buFont typeface="Wingdings" panose="05000000000000000000" pitchFamily="2" charset="2"/>
              <a:buChar char="Ø"/>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algn="just">
              <a:lnSpc>
                <a:spcPct val="200000"/>
              </a:lnSpc>
            </a:pPr>
            <a:endParaRPr lang="en-US" sz="1800" dirty="0">
              <a:latin typeface="Times New Roman" panose="02020603050405020304" pitchFamily="18" charset="0"/>
              <a:cs typeface="Times New Roman" panose="02020603050405020304" pitchFamily="18" charset="0"/>
            </a:endParaRPr>
          </a:p>
          <a:p>
            <a:pPr marL="0" indent="0" algn="just">
              <a:lnSpc>
                <a:spcPct val="200000"/>
              </a:lnSpc>
              <a:buNone/>
            </a:pPr>
            <a:endParaRPr lang="en-IN" sz="1800" dirty="0">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Ø"/>
            </a:pPr>
            <a:endPar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9C84803-C7FB-47DA-80FF-6D69E40B3987}" type="datetime1">
              <a:rPr lang="en-US" smtClean="0"/>
              <a:t>4/10/2026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40670763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C83D755E-2626-481F-81DE-62EBABD72695}" type="datetime1">
              <a:rPr lang="en-US" smtClean="0"/>
              <a:t>4/10/2026</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162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8229600" cy="5188349"/>
          </a:xfrm>
        </p:spPr>
        <p:txBody>
          <a:bodyPr>
            <a:noAutofit/>
          </a:bodyPr>
          <a:lstStyle/>
          <a:p>
            <a:pPr fontAlgn="base">
              <a:buFont typeface="Wingdings" panose="05000000000000000000" pitchFamily="2" charset="2"/>
              <a:buChar char="Ø"/>
            </a:pPr>
            <a:r>
              <a:rPr lang="en-US" sz="1800" dirty="0">
                <a:solidFill>
                  <a:srgbClr val="303030"/>
                </a:solidFill>
                <a:latin typeface="Times New Roman" panose="02020603050405020304" pitchFamily="18" charset="0"/>
                <a:cs typeface="Times New Roman" panose="02020603050405020304" pitchFamily="18" charset="0"/>
              </a:rPr>
              <a:t>Consider the following grammar-</a:t>
            </a:r>
          </a:p>
          <a:p>
            <a:pPr marL="0" indent="0" fontAlgn="base">
              <a:buNone/>
            </a:pPr>
            <a:r>
              <a:rPr lang="en-US" sz="1800" dirty="0">
                <a:solidFill>
                  <a:srgbClr val="303030"/>
                </a:solidFill>
                <a:latin typeface="Times New Roman" panose="02020603050405020304" pitchFamily="18" charset="0"/>
                <a:cs typeface="Times New Roman" panose="02020603050405020304" pitchFamily="18" charset="0"/>
              </a:rPr>
              <a:t>		S → ( L ) | a</a:t>
            </a:r>
          </a:p>
          <a:p>
            <a:pPr marL="0" indent="0" fontAlgn="base">
              <a:buNone/>
            </a:pPr>
            <a:r>
              <a:rPr lang="en-US" sz="1800" dirty="0">
                <a:solidFill>
                  <a:srgbClr val="303030"/>
                </a:solidFill>
                <a:latin typeface="Times New Roman" panose="02020603050405020304" pitchFamily="18" charset="0"/>
                <a:cs typeface="Times New Roman" panose="02020603050405020304" pitchFamily="18" charset="0"/>
              </a:rPr>
              <a:t>		L → L , S | S</a:t>
            </a:r>
          </a:p>
          <a:p>
            <a:pPr marL="0" indent="0" fontAlgn="base">
              <a:buNone/>
            </a:pPr>
            <a:r>
              <a:rPr lang="en-US" sz="1800" dirty="0">
                <a:solidFill>
                  <a:srgbClr val="303030"/>
                </a:solidFill>
                <a:latin typeface="Times New Roman" panose="02020603050405020304" pitchFamily="18" charset="0"/>
                <a:cs typeface="Times New Roman" panose="02020603050405020304" pitchFamily="18" charset="0"/>
              </a:rPr>
              <a:t>Parse the input string ( a , ( a , a ) ) using a shift-reduce parser.</a:t>
            </a:r>
          </a:p>
          <a:p>
            <a:pPr marL="0" indent="0" fontAlgn="base">
              <a:buNone/>
            </a:pPr>
            <a:endParaRPr lang="en-US" sz="1800" dirty="0">
              <a:solidFill>
                <a:srgbClr val="303030"/>
              </a:solidFill>
              <a:latin typeface="Times New Roman" panose="02020603050405020304" pitchFamily="18" charset="0"/>
              <a:cs typeface="Times New Roman" panose="02020603050405020304" pitchFamily="18" charset="0"/>
            </a:endParaRPr>
          </a:p>
          <a:p>
            <a:pPr marL="0" indent="0">
              <a:buNone/>
            </a:pPr>
            <a:endParaRPr lang="en-US" alt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Consider the grammar </a:t>
            </a:r>
          </a:p>
          <a:p>
            <a:pPr marL="0" indent="0">
              <a:buNone/>
            </a:pPr>
            <a:r>
              <a:rPr lang="en-US" altLang="en-US" sz="1800" dirty="0">
                <a:latin typeface="Times New Roman" panose="02020603050405020304" pitchFamily="18" charset="0"/>
                <a:cs typeface="Times New Roman" panose="02020603050405020304" pitchFamily="18" charset="0"/>
              </a:rPr>
              <a:t>		E -&gt; T+E | T </a:t>
            </a:r>
          </a:p>
          <a:p>
            <a:pPr marL="0" indent="0">
              <a:buNone/>
            </a:pPr>
            <a:r>
              <a:rPr lang="en-US" altLang="en-US" sz="1800" dirty="0">
                <a:latin typeface="Times New Roman" panose="02020603050405020304" pitchFamily="18" charset="0"/>
                <a:cs typeface="Times New Roman" panose="02020603050405020304" pitchFamily="18" charset="0"/>
              </a:rPr>
              <a:t>		T -&gt;id </a:t>
            </a:r>
          </a:p>
          <a:p>
            <a:pPr marL="0" indent="0">
              <a:buNone/>
            </a:pPr>
            <a:r>
              <a:rPr lang="en-US" altLang="en-US" sz="1800" dirty="0">
                <a:latin typeface="Times New Roman" panose="02020603050405020304" pitchFamily="18" charset="0"/>
                <a:cs typeface="Times New Roman" panose="02020603050405020304" pitchFamily="18" charset="0"/>
              </a:rPr>
              <a:t>Perform SLR(1) and LR (0) parsing on above grammar.</a:t>
            </a: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41320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 calcmode="lin" valueType="num">
                                      <p:cBhvr additive="base">
                                        <p:cTn id="31"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 calcmode="lin" valueType="num">
                                      <p:cBhvr additive="base">
                                        <p:cTn id="37"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8" end="8"/>
                                            </p:txEl>
                                          </p:spTgt>
                                        </p:tgtEl>
                                        <p:attrNameLst>
                                          <p:attrName>style.visibility</p:attrName>
                                        </p:attrNameLst>
                                      </p:cBhvr>
                                      <p:to>
                                        <p:strVal val="visible"/>
                                      </p:to>
                                    </p:set>
                                    <p:anim calcmode="lin" valueType="num">
                                      <p:cBhvr additive="base">
                                        <p:cTn id="4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9" end="9"/>
                                            </p:txEl>
                                          </p:spTgt>
                                        </p:tgtEl>
                                        <p:attrNameLst>
                                          <p:attrName>style.visibility</p:attrName>
                                        </p:attrNameLst>
                                      </p:cBhvr>
                                      <p:to>
                                        <p:strVal val="visible"/>
                                      </p:to>
                                    </p:set>
                                    <p:anim calcmode="lin" valueType="num">
                                      <p:cBhvr additive="base">
                                        <p:cTn id="49"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731B958F-4978-4D98-AAA7-1D3DEF75A9F2}" type="datetime1">
              <a:rPr lang="en-US" smtClean="0"/>
              <a:t>4/10/2026</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163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8229600" cy="5188349"/>
          </a:xfrm>
        </p:spPr>
        <p:txBody>
          <a:bodyPr>
            <a:noAutofit/>
          </a:bodyPr>
          <a:lstStyle/>
          <a:p>
            <a:pPr>
              <a:buFont typeface="Wingdings" panose="05000000000000000000" pitchFamily="2" charset="2"/>
              <a:buChar char="Ø"/>
            </a:pPr>
            <a:r>
              <a:rPr lang="en-US" dirty="0"/>
              <a:t>Consider the grammar and find the grammar is - </a:t>
            </a:r>
            <a:endParaRPr lang="en-IN" dirty="0"/>
          </a:p>
          <a:p>
            <a:pPr marL="0" indent="0">
              <a:buNone/>
            </a:pPr>
            <a:r>
              <a:rPr lang="en-US" dirty="0"/>
              <a:t>E → A | B</a:t>
            </a:r>
            <a:endParaRPr lang="en-IN" dirty="0"/>
          </a:p>
          <a:p>
            <a:pPr marL="0" indent="0">
              <a:buNone/>
            </a:pPr>
            <a:r>
              <a:rPr lang="en-US" dirty="0"/>
              <a:t>A → a | c</a:t>
            </a:r>
            <a:endParaRPr lang="en-IN" dirty="0"/>
          </a:p>
          <a:p>
            <a:pPr marL="0" indent="0">
              <a:buNone/>
            </a:pPr>
            <a:r>
              <a:rPr lang="en-US" dirty="0"/>
              <a:t>B → b | c</a:t>
            </a:r>
            <a:endParaRPr lang="en-IN" dirty="0"/>
          </a:p>
          <a:p>
            <a:pPr marL="0" indent="0">
              <a:buNone/>
            </a:pPr>
            <a:r>
              <a:rPr lang="en-US" dirty="0"/>
              <a:t> </a:t>
            </a:r>
            <a:endParaRPr lang="en-IN" dirty="0"/>
          </a:p>
          <a:p>
            <a:pPr lvl="0">
              <a:buFont typeface="+mj-lt"/>
              <a:buAutoNum type="alphaLcParenR"/>
            </a:pPr>
            <a:r>
              <a:rPr lang="en-US" dirty="0"/>
              <a:t>LR(0)</a:t>
            </a:r>
            <a:endParaRPr lang="en-IN" dirty="0"/>
          </a:p>
          <a:p>
            <a:pPr lvl="0">
              <a:buFont typeface="+mj-lt"/>
              <a:buAutoNum type="alphaLcParenR"/>
            </a:pPr>
            <a:r>
              <a:rPr lang="en-US" dirty="0"/>
              <a:t>LR(0) &amp; LR(1)</a:t>
            </a:r>
            <a:endParaRPr lang="en-IN" dirty="0"/>
          </a:p>
          <a:p>
            <a:pPr lvl="0">
              <a:buFont typeface="+mj-lt"/>
              <a:buAutoNum type="alphaLcParenR"/>
            </a:pPr>
            <a:r>
              <a:rPr lang="en-US" dirty="0"/>
              <a:t>LR(1), SLR(1)</a:t>
            </a:r>
            <a:endParaRPr lang="en-IN" dirty="0"/>
          </a:p>
          <a:p>
            <a:pPr lvl="0">
              <a:buFont typeface="+mj-lt"/>
              <a:buAutoNum type="alphaLcParenR"/>
            </a:pPr>
            <a:r>
              <a:rPr lang="en-US" dirty="0"/>
              <a:t>none</a:t>
            </a:r>
            <a:endParaRPr lang="en-IN" dirty="0"/>
          </a:p>
          <a:p>
            <a:pPr>
              <a:buFont typeface="Wingdings" panose="05000000000000000000" pitchFamily="2" charset="2"/>
              <a:buChar char="Ø"/>
            </a:pPr>
            <a:r>
              <a:rPr lang="en-US" dirty="0"/>
              <a:t>Consider the grammar E → E + n | E × n | n. For a sentence "n + n × n," the handles in the right sentential form of reduction are</a:t>
            </a:r>
            <a:endParaRPr lang="en-IN" dirty="0"/>
          </a:p>
          <a:p>
            <a:pPr lvl="0">
              <a:buFont typeface="+mj-lt"/>
              <a:buAutoNum type="alphaLcParenR"/>
            </a:pPr>
            <a:r>
              <a:rPr lang="en-US" dirty="0"/>
              <a:t>n, E + n and E + n × n </a:t>
            </a:r>
            <a:endParaRPr lang="en-IN" dirty="0"/>
          </a:p>
          <a:p>
            <a:pPr lvl="0">
              <a:buFont typeface="+mj-lt"/>
              <a:buAutoNum type="alphaLcParenR"/>
            </a:pPr>
            <a:r>
              <a:rPr lang="en-US" dirty="0"/>
              <a:t>n, E + n and E + E × n</a:t>
            </a:r>
            <a:endParaRPr lang="en-IN" dirty="0"/>
          </a:p>
          <a:p>
            <a:pPr lvl="0">
              <a:buFont typeface="+mj-lt"/>
              <a:buAutoNum type="alphaLcParenR"/>
            </a:pPr>
            <a:r>
              <a:rPr lang="en-US" dirty="0"/>
              <a:t>n, n + n and n + n × n </a:t>
            </a:r>
            <a:endParaRPr lang="en-IN" dirty="0"/>
          </a:p>
          <a:p>
            <a:pPr lvl="0">
              <a:buFont typeface="+mj-lt"/>
              <a:buAutoNum type="alphaLcParenR"/>
            </a:pPr>
            <a:r>
              <a:rPr lang="en-US" b="1" dirty="0"/>
              <a:t>n, E + n and E × n</a:t>
            </a:r>
            <a:endParaRPr lang="en-IN" dirty="0"/>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162524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anim calcmode="lin" valueType="num">
                                      <p:cBhvr additive="base">
                                        <p:cTn id="6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
                                            <p:txEl>
                                              <p:pRg st="10" end="10"/>
                                            </p:txEl>
                                          </p:spTgt>
                                        </p:tgtEl>
                                        <p:attrNameLst>
                                          <p:attrName>style.visibility</p:attrName>
                                        </p:attrNameLst>
                                      </p:cBhvr>
                                      <p:to>
                                        <p:strVal val="visible"/>
                                      </p:to>
                                    </p:set>
                                    <p:anim calcmode="lin" valueType="num">
                                      <p:cBhvr additive="base">
                                        <p:cTn id="67"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5">
                                            <p:txEl>
                                              <p:pRg st="11" end="11"/>
                                            </p:txEl>
                                          </p:spTgt>
                                        </p:tgtEl>
                                        <p:attrNameLst>
                                          <p:attrName>style.visibility</p:attrName>
                                        </p:attrNameLst>
                                      </p:cBhvr>
                                      <p:to>
                                        <p:strVal val="visible"/>
                                      </p:to>
                                    </p:set>
                                    <p:anim calcmode="lin" valueType="num">
                                      <p:cBhvr additive="base">
                                        <p:cTn id="7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5">
                                            <p:txEl>
                                              <p:pRg st="12" end="12"/>
                                            </p:txEl>
                                          </p:spTgt>
                                        </p:tgtEl>
                                        <p:attrNameLst>
                                          <p:attrName>style.visibility</p:attrName>
                                        </p:attrNameLst>
                                      </p:cBhvr>
                                      <p:to>
                                        <p:strVal val="visible"/>
                                      </p:to>
                                    </p:set>
                                    <p:anim calcmode="lin" valueType="num">
                                      <p:cBhvr additive="base">
                                        <p:cTn id="79"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5">
                                            <p:txEl>
                                              <p:pRg st="13" end="13"/>
                                            </p:txEl>
                                          </p:spTgt>
                                        </p:tgtEl>
                                        <p:attrNameLst>
                                          <p:attrName>style.visibility</p:attrName>
                                        </p:attrNameLst>
                                      </p:cBhvr>
                                      <p:to>
                                        <p:strVal val="visible"/>
                                      </p:to>
                                    </p:set>
                                    <p:anim calcmode="lin" valueType="num">
                                      <p:cBhvr additive="base">
                                        <p:cTn id="85"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B6F4B819-8AE6-464E-9B38-7FEAFCC5C854}" type="datetime1">
              <a:rPr lang="en-US" smtClean="0"/>
              <a:t>4/10/2026</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164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8229600" cy="5188349"/>
          </a:xfrm>
        </p:spPr>
        <p:txBody>
          <a:bodyPr>
            <a:noAutofit/>
          </a:bodyPr>
          <a:lstStyle/>
          <a:p>
            <a:pPr>
              <a:lnSpc>
                <a:spcPct val="150000"/>
              </a:lnSpc>
              <a:buFont typeface="Wingdings" panose="05000000000000000000" pitchFamily="2" charset="2"/>
              <a:buChar char="Ø"/>
            </a:pPr>
            <a:r>
              <a:rPr lang="en-US" dirty="0"/>
              <a:t>Give the Follow set for the non-terminal E in the grammar.</a:t>
            </a:r>
            <a:endParaRPr lang="en-IN" dirty="0"/>
          </a:p>
          <a:p>
            <a:pPr marL="0" indent="0">
              <a:lnSpc>
                <a:spcPct val="150000"/>
              </a:lnSpc>
              <a:buNone/>
            </a:pPr>
            <a:r>
              <a:rPr lang="en-US" dirty="0"/>
              <a:t>E’ → E</a:t>
            </a:r>
            <a:endParaRPr lang="en-IN" dirty="0"/>
          </a:p>
          <a:p>
            <a:pPr marL="0" indent="0">
              <a:lnSpc>
                <a:spcPct val="150000"/>
              </a:lnSpc>
              <a:buNone/>
            </a:pPr>
            <a:r>
              <a:rPr lang="en-US" dirty="0"/>
              <a:t>E → num</a:t>
            </a:r>
            <a:endParaRPr lang="en-IN" dirty="0"/>
          </a:p>
          <a:p>
            <a:pPr marL="0" indent="0">
              <a:lnSpc>
                <a:spcPct val="150000"/>
              </a:lnSpc>
              <a:buNone/>
            </a:pPr>
            <a:r>
              <a:rPr lang="en-US" dirty="0"/>
              <a:t>E → (+A)</a:t>
            </a:r>
            <a:endParaRPr lang="en-IN" dirty="0"/>
          </a:p>
          <a:p>
            <a:pPr marL="0" indent="0">
              <a:lnSpc>
                <a:spcPct val="150000"/>
              </a:lnSpc>
              <a:buNone/>
            </a:pPr>
            <a:r>
              <a:rPr lang="en-US" dirty="0"/>
              <a:t>A → AA</a:t>
            </a:r>
            <a:endParaRPr lang="en-IN" dirty="0"/>
          </a:p>
          <a:p>
            <a:pPr marL="0" indent="0">
              <a:lnSpc>
                <a:spcPct val="150000"/>
              </a:lnSpc>
              <a:buNone/>
            </a:pPr>
            <a:r>
              <a:rPr lang="en-US" dirty="0"/>
              <a:t>A → E</a:t>
            </a:r>
            <a:endParaRPr lang="en-IN" dirty="0"/>
          </a:p>
          <a:p>
            <a:pPr lvl="0">
              <a:lnSpc>
                <a:spcPct val="150000"/>
              </a:lnSpc>
              <a:buFont typeface="+mj-lt"/>
              <a:buAutoNum type="alphaLcParenR"/>
            </a:pPr>
            <a:r>
              <a:rPr lang="en-US" dirty="0"/>
              <a:t>{num, (,)}</a:t>
            </a:r>
            <a:endParaRPr lang="en-IN" dirty="0"/>
          </a:p>
          <a:p>
            <a:pPr lvl="0">
              <a:lnSpc>
                <a:spcPct val="150000"/>
              </a:lnSpc>
              <a:buFont typeface="+mj-lt"/>
              <a:buAutoNum type="alphaLcParenR"/>
            </a:pPr>
            <a:r>
              <a:rPr lang="en-US" dirty="0"/>
              <a:t>{(,) , num, $}</a:t>
            </a:r>
            <a:endParaRPr lang="en-IN" dirty="0"/>
          </a:p>
          <a:p>
            <a:pPr lvl="0">
              <a:lnSpc>
                <a:spcPct val="150000"/>
              </a:lnSpc>
              <a:buFont typeface="+mj-lt"/>
              <a:buAutoNum type="alphaLcParenR"/>
            </a:pPr>
            <a:r>
              <a:rPr lang="en-US" dirty="0"/>
              <a:t>{(, num, $}</a:t>
            </a:r>
            <a:endParaRPr lang="en-IN" dirty="0"/>
          </a:p>
          <a:p>
            <a:pPr lvl="0">
              <a:lnSpc>
                <a:spcPct val="150000"/>
              </a:lnSpc>
              <a:buFont typeface="+mj-lt"/>
              <a:buAutoNum type="alphaLcParenR"/>
            </a:pPr>
            <a:r>
              <a:rPr lang="en-US" dirty="0"/>
              <a:t>{), num, $}</a:t>
            </a:r>
            <a:endParaRPr lang="en-IN" dirty="0"/>
          </a:p>
          <a:p>
            <a:pPr marL="0" indent="0">
              <a:lnSpc>
                <a:spcPct val="150000"/>
              </a:lnSpc>
              <a:buNone/>
            </a:pPr>
            <a:endParaRPr lang="en-IN" sz="1800"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31944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anim calcmode="lin" valueType="num">
                                      <p:cBhvr additive="base">
                                        <p:cTn id="6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FE75D4FE-8E39-480C-87DD-A5F67A7E0283}" type="datetime1">
              <a:rPr lang="en-US" smtClean="0"/>
              <a:t>4/10/2026</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165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7301261" cy="5188349"/>
          </a:xfrm>
        </p:spPr>
        <p:txBody>
          <a:bodyPr>
            <a:noAutofit/>
          </a:bodyPr>
          <a:lstStyle/>
          <a:p>
            <a:pPr marR="152400">
              <a:spcBef>
                <a:spcPts val="0"/>
              </a:spcBef>
              <a:spcAft>
                <a:spcPts val="1000"/>
              </a:spcAft>
              <a:buFont typeface="Wingdings" panose="05000000000000000000" pitchFamily="2" charset="2"/>
              <a:buChar char="Ø"/>
            </a:pPr>
            <a:r>
              <a:rPr lang="en-US" dirty="0">
                <a:latin typeface="+mj-lt"/>
              </a:rPr>
              <a:t>Eliminate left recursion from the following grammar:</a:t>
            </a:r>
            <a:endParaRPr lang="en-IN" dirty="0">
              <a:latin typeface="+mj-lt"/>
            </a:endParaRPr>
          </a:p>
          <a:p>
            <a:pPr marL="0" marR="152400" indent="0">
              <a:spcBef>
                <a:spcPts val="0"/>
              </a:spcBef>
              <a:spcAft>
                <a:spcPts val="1000"/>
              </a:spcAft>
              <a:buNone/>
            </a:pPr>
            <a:r>
              <a:rPr lang="en-US" dirty="0">
                <a:latin typeface="+mj-lt"/>
              </a:rPr>
              <a:t>	A → Bd | </a:t>
            </a:r>
            <a:r>
              <a:rPr lang="en-US" dirty="0" err="1">
                <a:latin typeface="+mj-lt"/>
              </a:rPr>
              <a:t>Aff</a:t>
            </a:r>
            <a:r>
              <a:rPr lang="en-US" dirty="0">
                <a:latin typeface="+mj-lt"/>
              </a:rPr>
              <a:t> | CB</a:t>
            </a:r>
            <a:endParaRPr lang="en-IN" dirty="0">
              <a:latin typeface="+mj-lt"/>
            </a:endParaRPr>
          </a:p>
          <a:p>
            <a:pPr marL="0" marR="152400" indent="0">
              <a:spcBef>
                <a:spcPts val="0"/>
              </a:spcBef>
              <a:spcAft>
                <a:spcPts val="1000"/>
              </a:spcAft>
              <a:buNone/>
            </a:pPr>
            <a:r>
              <a:rPr lang="en-US" dirty="0">
                <a:latin typeface="+mj-lt"/>
              </a:rPr>
              <a:t>	B → Bd | Bf | df</a:t>
            </a:r>
            <a:endParaRPr lang="en-IN" dirty="0">
              <a:latin typeface="+mj-lt"/>
            </a:endParaRPr>
          </a:p>
          <a:p>
            <a:pPr marL="0" marR="152400" indent="0">
              <a:spcBef>
                <a:spcPts val="0"/>
              </a:spcBef>
              <a:spcAft>
                <a:spcPts val="1000"/>
              </a:spcAft>
              <a:buNone/>
            </a:pPr>
            <a:r>
              <a:rPr lang="en-US" dirty="0">
                <a:latin typeface="+mj-lt"/>
              </a:rPr>
              <a:t>	C → h | g</a:t>
            </a:r>
            <a:endParaRPr lang="en-IN" dirty="0">
              <a:latin typeface="+mj-lt"/>
            </a:endParaRPr>
          </a:p>
          <a:p>
            <a:pPr marL="0" marR="304800" lvl="0" indent="0">
              <a:spcBef>
                <a:spcPts val="0"/>
              </a:spcBef>
              <a:spcAft>
                <a:spcPts val="1000"/>
              </a:spcAft>
              <a:buNone/>
            </a:pPr>
            <a:r>
              <a:rPr lang="en-US" dirty="0">
                <a:latin typeface="+mj-lt"/>
              </a:rPr>
              <a:t>a.      A → Bd AI | CB AI</a:t>
            </a:r>
            <a:endParaRPr lang="en-IN" dirty="0">
              <a:latin typeface="+mj-lt"/>
            </a:endParaRPr>
          </a:p>
          <a:p>
            <a:pPr marL="0" marR="152400" indent="0">
              <a:spcBef>
                <a:spcPts val="0"/>
              </a:spcBef>
              <a:spcAft>
                <a:spcPts val="1000"/>
              </a:spcAft>
              <a:buNone/>
            </a:pPr>
            <a:r>
              <a:rPr lang="en-US" dirty="0">
                <a:latin typeface="+mj-lt"/>
              </a:rPr>
              <a:t>               A1 → ff AI | ε</a:t>
            </a:r>
            <a:endParaRPr lang="en-IN" dirty="0">
              <a:latin typeface="+mj-lt"/>
            </a:endParaRPr>
          </a:p>
          <a:p>
            <a:pPr marL="0" marR="152400" indent="0">
              <a:spcBef>
                <a:spcPts val="0"/>
              </a:spcBef>
              <a:spcAft>
                <a:spcPts val="1000"/>
              </a:spcAft>
              <a:buNone/>
            </a:pPr>
            <a:r>
              <a:rPr lang="en-US" dirty="0">
                <a:latin typeface="+mj-lt"/>
              </a:rPr>
              <a:t>               B → df BI</a:t>
            </a:r>
            <a:endParaRPr lang="en-IN" dirty="0">
              <a:latin typeface="+mj-lt"/>
            </a:endParaRPr>
          </a:p>
          <a:p>
            <a:pPr marL="0" marR="152400" indent="0">
              <a:spcBef>
                <a:spcPts val="0"/>
              </a:spcBef>
              <a:spcAft>
                <a:spcPts val="1000"/>
              </a:spcAft>
              <a:buNone/>
            </a:pPr>
            <a:r>
              <a:rPr lang="en-US" dirty="0">
                <a:latin typeface="+mj-lt"/>
              </a:rPr>
              <a:t>               B1 → d BI | </a:t>
            </a:r>
            <a:r>
              <a:rPr lang="en-US" dirty="0" err="1">
                <a:latin typeface="+mj-lt"/>
              </a:rPr>
              <a:t>fBI</a:t>
            </a:r>
            <a:r>
              <a:rPr lang="en-US" dirty="0">
                <a:latin typeface="+mj-lt"/>
              </a:rPr>
              <a:t> | ε</a:t>
            </a:r>
            <a:endParaRPr lang="en-IN" dirty="0">
              <a:latin typeface="+mj-lt"/>
            </a:endParaRPr>
          </a:p>
          <a:p>
            <a:pPr marL="0" marR="152400" indent="0">
              <a:spcBef>
                <a:spcPts val="0"/>
              </a:spcBef>
              <a:spcAft>
                <a:spcPts val="1000"/>
              </a:spcAft>
              <a:buNone/>
            </a:pPr>
            <a:r>
              <a:rPr lang="en-US" dirty="0">
                <a:latin typeface="+mj-lt"/>
              </a:rPr>
              <a:t>               C → h | g</a:t>
            </a:r>
            <a:endParaRPr lang="en-IN" dirty="0">
              <a:latin typeface="+mj-lt"/>
            </a:endParaRPr>
          </a:p>
          <a:p>
            <a:pPr marL="0" marR="304800" lvl="0" indent="0">
              <a:spcBef>
                <a:spcPts val="0"/>
              </a:spcBef>
              <a:spcAft>
                <a:spcPts val="1000"/>
              </a:spcAft>
              <a:buNone/>
            </a:pPr>
            <a:r>
              <a:rPr lang="en-US" dirty="0">
                <a:latin typeface="+mj-lt"/>
              </a:rPr>
              <a:t>b.    A → Bd AI | CB AI</a:t>
            </a:r>
            <a:endParaRPr lang="en-IN" dirty="0">
              <a:latin typeface="+mj-lt"/>
            </a:endParaRPr>
          </a:p>
          <a:p>
            <a:pPr marL="0" marR="152400" indent="0">
              <a:spcBef>
                <a:spcPts val="0"/>
              </a:spcBef>
              <a:spcAft>
                <a:spcPts val="1000"/>
              </a:spcAft>
              <a:buNone/>
            </a:pPr>
            <a:r>
              <a:rPr lang="en-US" dirty="0">
                <a:latin typeface="+mj-lt"/>
              </a:rPr>
              <a:t>               A → ff AI | ε</a:t>
            </a:r>
            <a:endParaRPr lang="en-IN" dirty="0">
              <a:latin typeface="+mj-lt"/>
            </a:endParaRPr>
          </a:p>
          <a:p>
            <a:pPr marL="0" marR="152400" indent="0">
              <a:spcBef>
                <a:spcPts val="0"/>
              </a:spcBef>
              <a:spcAft>
                <a:spcPts val="1000"/>
              </a:spcAft>
              <a:buNone/>
            </a:pPr>
            <a:r>
              <a:rPr lang="en-US" dirty="0">
                <a:latin typeface="+mj-lt"/>
              </a:rPr>
              <a:t>               B → df BI</a:t>
            </a:r>
            <a:endParaRPr lang="en-IN" dirty="0">
              <a:latin typeface="+mj-lt"/>
            </a:endParaRPr>
          </a:p>
          <a:p>
            <a:pPr marL="0" marR="152400" indent="0">
              <a:spcBef>
                <a:spcPts val="0"/>
              </a:spcBef>
              <a:spcAft>
                <a:spcPts val="1000"/>
              </a:spcAft>
              <a:buNone/>
            </a:pPr>
            <a:r>
              <a:rPr lang="en-US" dirty="0">
                <a:latin typeface="+mj-lt"/>
              </a:rPr>
              <a:t>               BI → d BI | </a:t>
            </a:r>
            <a:r>
              <a:rPr lang="en-US" dirty="0" err="1">
                <a:latin typeface="+mj-lt"/>
              </a:rPr>
              <a:t>fBI</a:t>
            </a:r>
            <a:r>
              <a:rPr lang="en-US" dirty="0">
                <a:latin typeface="+mj-lt"/>
              </a:rPr>
              <a:t> | ε</a:t>
            </a:r>
            <a:endParaRPr lang="en-IN" dirty="0">
              <a:latin typeface="+mj-lt"/>
            </a:endParaRPr>
          </a:p>
          <a:p>
            <a:pPr marL="0" marR="152400" indent="0">
              <a:spcBef>
                <a:spcPts val="0"/>
              </a:spcBef>
              <a:spcAft>
                <a:spcPts val="1000"/>
              </a:spcAft>
              <a:buNone/>
            </a:pPr>
            <a:r>
              <a:rPr lang="en-US" dirty="0">
                <a:latin typeface="+mj-lt"/>
              </a:rPr>
              <a:t>               C → h | g</a:t>
            </a:r>
            <a:endParaRPr lang="en-IN" dirty="0">
              <a:latin typeface="+mj-lt"/>
            </a:endParaRPr>
          </a:p>
          <a:p>
            <a:pPr marL="0" marR="152400" indent="0">
              <a:spcBef>
                <a:spcPts val="0"/>
              </a:spcBef>
              <a:spcAft>
                <a:spcPts val="1000"/>
              </a:spcAft>
              <a:buNone/>
            </a:pPr>
            <a:r>
              <a:rPr lang="en-US" dirty="0">
                <a:latin typeface="+mj-lt"/>
              </a:rPr>
              <a:t> </a:t>
            </a:r>
            <a:endParaRPr lang="en-IN" dirty="0">
              <a:latin typeface="+mj-lt"/>
              <a:ea typeface="Calibri" panose="020F0502020204030204" pitchFamily="34" charset="0"/>
            </a:endParaRPr>
          </a:p>
          <a:p>
            <a:pPr marL="0" indent="0">
              <a:spcBef>
                <a:spcPts val="0"/>
              </a:spcBef>
              <a:buNone/>
            </a:pPr>
            <a:endParaRPr lang="en-IN" dirty="0">
              <a:latin typeface="+mj-lt"/>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sp>
        <p:nvSpPr>
          <p:cNvPr id="10" name="Content Placeholder 4">
            <a:extLst>
              <a:ext uri="{FF2B5EF4-FFF2-40B4-BE49-F238E27FC236}">
                <a16:creationId xmlns:a16="http://schemas.microsoft.com/office/drawing/2014/main" id="{F5DDF238-72F7-4271-976F-B0BA61B79294}"/>
              </a:ext>
            </a:extLst>
          </p:cNvPr>
          <p:cNvSpPr txBox="1">
            <a:spLocks/>
          </p:cNvSpPr>
          <p:nvPr/>
        </p:nvSpPr>
        <p:spPr>
          <a:xfrm>
            <a:off x="4959319" y="2362200"/>
            <a:ext cx="3719861" cy="326231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152400" indent="0">
              <a:spcBef>
                <a:spcPts val="0"/>
              </a:spcBef>
              <a:spcAft>
                <a:spcPts val="1000"/>
              </a:spcAft>
              <a:buFont typeface="Arial" pitchFamily="34" charset="0"/>
              <a:buNone/>
            </a:pPr>
            <a:r>
              <a:rPr lang="en-US" dirty="0">
                <a:latin typeface="+mj-lt"/>
              </a:rPr>
              <a:t>c. A → Bd AI | CB AI</a:t>
            </a:r>
            <a:endParaRPr lang="en-IN" dirty="0">
              <a:latin typeface="+mj-lt"/>
            </a:endParaRPr>
          </a:p>
          <a:p>
            <a:pPr marL="0" marR="152400" indent="0">
              <a:spcBef>
                <a:spcPts val="0"/>
              </a:spcBef>
              <a:spcAft>
                <a:spcPts val="1000"/>
              </a:spcAft>
              <a:buFont typeface="Arial" pitchFamily="34" charset="0"/>
              <a:buNone/>
            </a:pPr>
            <a:r>
              <a:rPr lang="en-US" dirty="0">
                <a:latin typeface="+mj-lt"/>
              </a:rPr>
              <a:t>            AI → ff AI</a:t>
            </a:r>
            <a:endParaRPr lang="en-IN" dirty="0">
              <a:latin typeface="+mj-lt"/>
            </a:endParaRPr>
          </a:p>
          <a:p>
            <a:pPr marL="0" marR="152400" indent="0">
              <a:spcBef>
                <a:spcPts val="0"/>
              </a:spcBef>
              <a:spcAft>
                <a:spcPts val="1000"/>
              </a:spcAft>
              <a:buFont typeface="Arial" pitchFamily="34" charset="0"/>
              <a:buNone/>
            </a:pPr>
            <a:r>
              <a:rPr lang="en-US" dirty="0">
                <a:latin typeface="+mj-lt"/>
              </a:rPr>
              <a:t>            B → df BI</a:t>
            </a:r>
            <a:endParaRPr lang="en-IN" dirty="0">
              <a:latin typeface="+mj-lt"/>
            </a:endParaRPr>
          </a:p>
          <a:p>
            <a:pPr marL="0" marR="152400" indent="0">
              <a:spcBef>
                <a:spcPts val="0"/>
              </a:spcBef>
              <a:spcAft>
                <a:spcPts val="1000"/>
              </a:spcAft>
              <a:buFont typeface="Arial" pitchFamily="34" charset="0"/>
              <a:buNone/>
            </a:pPr>
            <a:r>
              <a:rPr lang="en-US" dirty="0">
                <a:latin typeface="+mj-lt"/>
              </a:rPr>
              <a:t>             BI → d BI | </a:t>
            </a:r>
            <a:r>
              <a:rPr lang="en-US" dirty="0" err="1">
                <a:latin typeface="+mj-lt"/>
              </a:rPr>
              <a:t>fBI</a:t>
            </a:r>
            <a:endParaRPr lang="en-IN" dirty="0">
              <a:latin typeface="+mj-lt"/>
            </a:endParaRPr>
          </a:p>
          <a:p>
            <a:pPr marL="0" marR="152400" indent="0">
              <a:spcBef>
                <a:spcPts val="0"/>
              </a:spcBef>
              <a:spcAft>
                <a:spcPts val="1000"/>
              </a:spcAft>
              <a:buFont typeface="Arial" pitchFamily="34" charset="0"/>
              <a:buNone/>
            </a:pPr>
            <a:r>
              <a:rPr lang="en-US" dirty="0">
                <a:latin typeface="+mj-lt"/>
              </a:rPr>
              <a:t>             C → h | g</a:t>
            </a:r>
            <a:endParaRPr lang="en-IN" dirty="0">
              <a:latin typeface="+mj-lt"/>
            </a:endParaRPr>
          </a:p>
          <a:p>
            <a:pPr marL="0" marR="304800" indent="0">
              <a:spcBef>
                <a:spcPts val="0"/>
              </a:spcBef>
              <a:spcAft>
                <a:spcPts val="1000"/>
              </a:spcAft>
              <a:buFont typeface="Arial" pitchFamily="34" charset="0"/>
              <a:buNone/>
            </a:pPr>
            <a:r>
              <a:rPr lang="en-US" dirty="0">
                <a:latin typeface="+mj-lt"/>
              </a:rPr>
              <a:t> d. A → Bd AI | CB</a:t>
            </a:r>
            <a:endParaRPr lang="en-IN" dirty="0">
              <a:latin typeface="+mj-lt"/>
            </a:endParaRPr>
          </a:p>
          <a:p>
            <a:pPr marL="0" marR="152400" indent="0">
              <a:spcBef>
                <a:spcPts val="0"/>
              </a:spcBef>
              <a:spcAft>
                <a:spcPts val="1000"/>
              </a:spcAft>
              <a:buFont typeface="Arial" pitchFamily="34" charset="0"/>
              <a:buNone/>
            </a:pPr>
            <a:r>
              <a:rPr lang="en-US" dirty="0">
                <a:latin typeface="+mj-lt"/>
              </a:rPr>
              <a:t>            AI → ff AI | ε</a:t>
            </a:r>
            <a:endParaRPr lang="en-IN" dirty="0">
              <a:latin typeface="+mj-lt"/>
            </a:endParaRPr>
          </a:p>
          <a:p>
            <a:pPr marL="0" marR="152400" indent="0">
              <a:spcBef>
                <a:spcPts val="0"/>
              </a:spcBef>
              <a:spcAft>
                <a:spcPts val="1000"/>
              </a:spcAft>
              <a:buFont typeface="Arial" pitchFamily="34" charset="0"/>
              <a:buNone/>
            </a:pPr>
            <a:r>
              <a:rPr lang="en-US" dirty="0">
                <a:latin typeface="+mj-lt"/>
              </a:rPr>
              <a:t>             B → df BI</a:t>
            </a:r>
            <a:endParaRPr lang="en-IN" dirty="0">
              <a:latin typeface="+mj-lt"/>
            </a:endParaRPr>
          </a:p>
          <a:p>
            <a:pPr marL="0" marR="152400" indent="0">
              <a:spcBef>
                <a:spcPts val="0"/>
              </a:spcBef>
              <a:spcAft>
                <a:spcPts val="1000"/>
              </a:spcAft>
              <a:buFont typeface="Arial" pitchFamily="34" charset="0"/>
              <a:buNone/>
            </a:pPr>
            <a:r>
              <a:rPr lang="en-US" dirty="0">
                <a:latin typeface="+mj-lt"/>
              </a:rPr>
              <a:t>             BI → d BI | </a:t>
            </a:r>
            <a:r>
              <a:rPr lang="en-US" dirty="0" err="1">
                <a:latin typeface="+mj-lt"/>
              </a:rPr>
              <a:t>fB</a:t>
            </a:r>
            <a:r>
              <a:rPr lang="en-US" dirty="0">
                <a:latin typeface="+mj-lt"/>
              </a:rPr>
              <a:t> I | ε</a:t>
            </a:r>
            <a:endParaRPr lang="en-IN" dirty="0">
              <a:latin typeface="+mj-lt"/>
            </a:endParaRPr>
          </a:p>
          <a:p>
            <a:pPr marL="0" marR="152400" indent="0">
              <a:spcBef>
                <a:spcPts val="0"/>
              </a:spcBef>
              <a:spcAft>
                <a:spcPts val="1000"/>
              </a:spcAft>
              <a:buFont typeface="Arial" pitchFamily="34" charset="0"/>
              <a:buNone/>
            </a:pPr>
            <a:r>
              <a:rPr lang="en-US" dirty="0">
                <a:latin typeface="+mj-lt"/>
              </a:rPr>
              <a:t>             C → h | g</a:t>
            </a:r>
            <a:endParaRPr lang="en-IN" dirty="0">
              <a:latin typeface="+mj-lt"/>
            </a:endParaRPr>
          </a:p>
          <a:p>
            <a:pPr marL="0" marR="152400" indent="0">
              <a:spcBef>
                <a:spcPts val="0"/>
              </a:spcBef>
              <a:spcAft>
                <a:spcPts val="1000"/>
              </a:spcAft>
              <a:buFont typeface="Arial" pitchFamily="34" charset="0"/>
              <a:buNone/>
            </a:pPr>
            <a:r>
              <a:rPr lang="en-US" dirty="0">
                <a:latin typeface="+mj-lt"/>
              </a:rPr>
              <a:t> </a:t>
            </a:r>
            <a:endParaRPr lang="en-IN" dirty="0">
              <a:latin typeface="+mj-lt"/>
              <a:ea typeface="Calibri" panose="020F0502020204030204" pitchFamily="34" charset="0"/>
            </a:endParaRPr>
          </a:p>
          <a:p>
            <a:pPr marL="0" indent="0">
              <a:spcBef>
                <a:spcPts val="0"/>
              </a:spcBef>
              <a:buFont typeface="Arial" pitchFamily="34" charset="0"/>
              <a:buNone/>
            </a:pPr>
            <a:endParaRPr lang="en-IN" dirty="0">
              <a:latin typeface="+mj-lt"/>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22317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anim calcmode="lin" valueType="num">
                                      <p:cBhvr additive="base">
                                        <p:cTn id="6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
                                            <p:txEl>
                                              <p:pRg st="10" end="10"/>
                                            </p:txEl>
                                          </p:spTgt>
                                        </p:tgtEl>
                                        <p:attrNameLst>
                                          <p:attrName>style.visibility</p:attrName>
                                        </p:attrNameLst>
                                      </p:cBhvr>
                                      <p:to>
                                        <p:strVal val="visible"/>
                                      </p:to>
                                    </p:set>
                                    <p:anim calcmode="lin" valueType="num">
                                      <p:cBhvr additive="base">
                                        <p:cTn id="67"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5">
                                            <p:txEl>
                                              <p:pRg st="11" end="11"/>
                                            </p:txEl>
                                          </p:spTgt>
                                        </p:tgtEl>
                                        <p:attrNameLst>
                                          <p:attrName>style.visibility</p:attrName>
                                        </p:attrNameLst>
                                      </p:cBhvr>
                                      <p:to>
                                        <p:strVal val="visible"/>
                                      </p:to>
                                    </p:set>
                                    <p:anim calcmode="lin" valueType="num">
                                      <p:cBhvr additive="base">
                                        <p:cTn id="7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5">
                                            <p:txEl>
                                              <p:pRg st="12" end="12"/>
                                            </p:txEl>
                                          </p:spTgt>
                                        </p:tgtEl>
                                        <p:attrNameLst>
                                          <p:attrName>style.visibility</p:attrName>
                                        </p:attrNameLst>
                                      </p:cBhvr>
                                      <p:to>
                                        <p:strVal val="visible"/>
                                      </p:to>
                                    </p:set>
                                    <p:anim calcmode="lin" valueType="num">
                                      <p:cBhvr additive="base">
                                        <p:cTn id="79"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5">
                                            <p:txEl>
                                              <p:pRg st="13" end="13"/>
                                            </p:txEl>
                                          </p:spTgt>
                                        </p:tgtEl>
                                        <p:attrNameLst>
                                          <p:attrName>style.visibility</p:attrName>
                                        </p:attrNameLst>
                                      </p:cBhvr>
                                      <p:to>
                                        <p:strVal val="visible"/>
                                      </p:to>
                                    </p:set>
                                    <p:anim calcmode="lin" valueType="num">
                                      <p:cBhvr additive="base">
                                        <p:cTn id="85"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5">
                                            <p:txEl>
                                              <p:pRg st="14" end="14"/>
                                            </p:txEl>
                                          </p:spTgt>
                                        </p:tgtEl>
                                        <p:attrNameLst>
                                          <p:attrName>style.visibility</p:attrName>
                                        </p:attrNameLst>
                                      </p:cBhvr>
                                      <p:to>
                                        <p:strVal val="visible"/>
                                      </p:to>
                                    </p:set>
                                    <p:anim calcmode="lin" valueType="num">
                                      <p:cBhvr additive="base">
                                        <p:cTn id="91"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10">
                                            <p:txEl>
                                              <p:pRg st="0" end="0"/>
                                            </p:txEl>
                                          </p:spTgt>
                                        </p:tgtEl>
                                        <p:attrNameLst>
                                          <p:attrName>style.visibility</p:attrName>
                                        </p:attrNameLst>
                                      </p:cBhvr>
                                      <p:to>
                                        <p:strVal val="visible"/>
                                      </p:to>
                                    </p:set>
                                    <p:anim calcmode="lin" valueType="num">
                                      <p:cBhvr additive="base">
                                        <p:cTn id="9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0">
                                            <p:txEl>
                                              <p:pRg st="1" end="1"/>
                                            </p:txEl>
                                          </p:spTgt>
                                        </p:tgtEl>
                                        <p:attrNameLst>
                                          <p:attrName>style.visibility</p:attrName>
                                        </p:attrNameLst>
                                      </p:cBhvr>
                                      <p:to>
                                        <p:strVal val="visible"/>
                                      </p:to>
                                    </p:set>
                                    <p:anim calcmode="lin" valueType="num">
                                      <p:cBhvr additive="base">
                                        <p:cTn id="10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10">
                                            <p:txEl>
                                              <p:pRg st="2" end="2"/>
                                            </p:txEl>
                                          </p:spTgt>
                                        </p:tgtEl>
                                        <p:attrNameLst>
                                          <p:attrName>style.visibility</p:attrName>
                                        </p:attrNameLst>
                                      </p:cBhvr>
                                      <p:to>
                                        <p:strVal val="visible"/>
                                      </p:to>
                                    </p:set>
                                    <p:anim calcmode="lin" valueType="num">
                                      <p:cBhvr additive="base">
                                        <p:cTn id="10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10">
                                            <p:txEl>
                                              <p:pRg st="3" end="3"/>
                                            </p:txEl>
                                          </p:spTgt>
                                        </p:tgtEl>
                                        <p:attrNameLst>
                                          <p:attrName>style.visibility</p:attrName>
                                        </p:attrNameLst>
                                      </p:cBhvr>
                                      <p:to>
                                        <p:strVal val="visible"/>
                                      </p:to>
                                    </p:set>
                                    <p:anim calcmode="lin" valueType="num">
                                      <p:cBhvr additive="base">
                                        <p:cTn id="11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10">
                                            <p:txEl>
                                              <p:pRg st="4" end="4"/>
                                            </p:txEl>
                                          </p:spTgt>
                                        </p:tgtEl>
                                        <p:attrNameLst>
                                          <p:attrName>style.visibility</p:attrName>
                                        </p:attrNameLst>
                                      </p:cBhvr>
                                      <p:to>
                                        <p:strVal val="visible"/>
                                      </p:to>
                                    </p:set>
                                    <p:anim calcmode="lin" valueType="num">
                                      <p:cBhvr additive="base">
                                        <p:cTn id="121"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10">
                                            <p:txEl>
                                              <p:pRg st="5" end="5"/>
                                            </p:txEl>
                                          </p:spTgt>
                                        </p:tgtEl>
                                        <p:attrNameLst>
                                          <p:attrName>style.visibility</p:attrName>
                                        </p:attrNameLst>
                                      </p:cBhvr>
                                      <p:to>
                                        <p:strVal val="visible"/>
                                      </p:to>
                                    </p:set>
                                    <p:anim calcmode="lin" valueType="num">
                                      <p:cBhvr additive="base">
                                        <p:cTn id="127"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10">
                                            <p:txEl>
                                              <p:pRg st="6" end="6"/>
                                            </p:txEl>
                                          </p:spTgt>
                                        </p:tgtEl>
                                        <p:attrNameLst>
                                          <p:attrName>style.visibility</p:attrName>
                                        </p:attrNameLst>
                                      </p:cBhvr>
                                      <p:to>
                                        <p:strVal val="visible"/>
                                      </p:to>
                                    </p:set>
                                    <p:anim calcmode="lin" valueType="num">
                                      <p:cBhvr additive="base">
                                        <p:cTn id="133"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10">
                                            <p:txEl>
                                              <p:pRg st="7" end="7"/>
                                            </p:txEl>
                                          </p:spTgt>
                                        </p:tgtEl>
                                        <p:attrNameLst>
                                          <p:attrName>style.visibility</p:attrName>
                                        </p:attrNameLst>
                                      </p:cBhvr>
                                      <p:to>
                                        <p:strVal val="visible"/>
                                      </p:to>
                                    </p:set>
                                    <p:anim calcmode="lin" valueType="num">
                                      <p:cBhvr additive="base">
                                        <p:cTn id="139"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140" dur="500" fill="hold"/>
                                        <p:tgtEl>
                                          <p:spTgt spid="1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10">
                                            <p:txEl>
                                              <p:pRg st="8" end="8"/>
                                            </p:txEl>
                                          </p:spTgt>
                                        </p:tgtEl>
                                        <p:attrNameLst>
                                          <p:attrName>style.visibility</p:attrName>
                                        </p:attrNameLst>
                                      </p:cBhvr>
                                      <p:to>
                                        <p:strVal val="visible"/>
                                      </p:to>
                                    </p:set>
                                    <p:anim calcmode="lin" valueType="num">
                                      <p:cBhvr additive="base">
                                        <p:cTn id="145"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146" dur="500" fill="hold"/>
                                        <p:tgtEl>
                                          <p:spTgt spid="10">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nodeType="clickEffect">
                                  <p:stCondLst>
                                    <p:cond delay="0"/>
                                  </p:stCondLst>
                                  <p:childTnLst>
                                    <p:set>
                                      <p:cBhvr>
                                        <p:cTn id="150" dur="1" fill="hold">
                                          <p:stCondLst>
                                            <p:cond delay="0"/>
                                          </p:stCondLst>
                                        </p:cTn>
                                        <p:tgtEl>
                                          <p:spTgt spid="10">
                                            <p:txEl>
                                              <p:pRg st="9" end="9"/>
                                            </p:txEl>
                                          </p:spTgt>
                                        </p:tgtEl>
                                        <p:attrNameLst>
                                          <p:attrName>style.visibility</p:attrName>
                                        </p:attrNameLst>
                                      </p:cBhvr>
                                      <p:to>
                                        <p:strVal val="visible"/>
                                      </p:to>
                                    </p:set>
                                    <p:anim calcmode="lin" valueType="num">
                                      <p:cBhvr additive="base">
                                        <p:cTn id="151"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additive="base">
                                        <p:cTn id="152" dur="500" fill="hold"/>
                                        <p:tgtEl>
                                          <p:spTgt spid="10">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nodeType="clickEffect">
                                  <p:stCondLst>
                                    <p:cond delay="0"/>
                                  </p:stCondLst>
                                  <p:childTnLst>
                                    <p:set>
                                      <p:cBhvr>
                                        <p:cTn id="156" dur="1" fill="hold">
                                          <p:stCondLst>
                                            <p:cond delay="0"/>
                                          </p:stCondLst>
                                        </p:cTn>
                                        <p:tgtEl>
                                          <p:spTgt spid="10">
                                            <p:txEl>
                                              <p:pRg st="10" end="10"/>
                                            </p:txEl>
                                          </p:spTgt>
                                        </p:tgtEl>
                                        <p:attrNameLst>
                                          <p:attrName>style.visibility</p:attrName>
                                        </p:attrNameLst>
                                      </p:cBhvr>
                                      <p:to>
                                        <p:strVal val="visible"/>
                                      </p:to>
                                    </p:set>
                                    <p:anim calcmode="lin" valueType="num">
                                      <p:cBhvr additive="base">
                                        <p:cTn id="157"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additive="base">
                                        <p:cTn id="158" dur="500" fill="hold"/>
                                        <p:tgtEl>
                                          <p:spTgt spid="10">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D5E97FCF-B5A7-435B-B5D4-8CDCE33860A1}" type="datetime1">
              <a:rPr lang="en-US" smtClean="0"/>
              <a:t>4/10/2026</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166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8229600" cy="5188349"/>
          </a:xfrm>
        </p:spPr>
        <p:txBody>
          <a:bodyPr>
            <a:noAutofit/>
          </a:bodyPr>
          <a:lstStyle/>
          <a:p>
            <a:pPr>
              <a:buFont typeface="Wingdings" panose="05000000000000000000" pitchFamily="2" charset="2"/>
              <a:buChar char="Ø"/>
            </a:pPr>
            <a:r>
              <a:rPr lang="en-US" dirty="0"/>
              <a:t>Consider the grammar shown below</a:t>
            </a:r>
            <a:endParaRPr lang="en-IN" dirty="0"/>
          </a:p>
          <a:p>
            <a:pPr marL="0" indent="0">
              <a:buNone/>
            </a:pPr>
            <a:r>
              <a:rPr lang="en-US" dirty="0"/>
              <a:t>S → </a:t>
            </a:r>
            <a:r>
              <a:rPr lang="en-US" dirty="0" err="1"/>
              <a:t>iEtSS</a:t>
            </a:r>
            <a:r>
              <a:rPr lang="en-US" dirty="0"/>
              <a:t>’ | a</a:t>
            </a:r>
            <a:endParaRPr lang="en-IN" dirty="0"/>
          </a:p>
          <a:p>
            <a:pPr marL="0" indent="0">
              <a:buNone/>
            </a:pPr>
            <a:r>
              <a:rPr lang="en-US" dirty="0"/>
              <a:t>S’ → </a:t>
            </a:r>
            <a:r>
              <a:rPr lang="en-US" dirty="0" err="1"/>
              <a:t>eS</a:t>
            </a:r>
            <a:r>
              <a:rPr lang="en-US" dirty="0"/>
              <a:t> | ε</a:t>
            </a:r>
            <a:endParaRPr lang="en-IN" dirty="0"/>
          </a:p>
          <a:p>
            <a:pPr marL="0" indent="0">
              <a:buNone/>
            </a:pPr>
            <a:r>
              <a:rPr lang="en-US" dirty="0"/>
              <a:t>E → b</a:t>
            </a:r>
            <a:endParaRPr lang="en-IN" dirty="0"/>
          </a:p>
          <a:p>
            <a:pPr marL="0" indent="0">
              <a:buNone/>
            </a:pPr>
            <a:r>
              <a:rPr lang="en-US" dirty="0"/>
              <a:t>In LL(1) table M of this grammar, the entries M[</a:t>
            </a:r>
            <a:r>
              <a:rPr lang="en-US" dirty="0" err="1"/>
              <a:t>S’,e</a:t>
            </a:r>
            <a:r>
              <a:rPr lang="en-US" dirty="0"/>
              <a:t>] and M[S’, $] are</a:t>
            </a:r>
            <a:endParaRPr lang="en-IN" dirty="0"/>
          </a:p>
          <a:p>
            <a:pPr lvl="0">
              <a:buFont typeface="+mj-lt"/>
              <a:buAutoNum type="alphaLcParenR"/>
            </a:pPr>
            <a:r>
              <a:rPr lang="en-US" dirty="0"/>
              <a:t>S’ → </a:t>
            </a:r>
            <a:r>
              <a:rPr lang="en-US" dirty="0" err="1"/>
              <a:t>eS</a:t>
            </a:r>
            <a:r>
              <a:rPr lang="en-US" dirty="0"/>
              <a:t> , S’ → ε</a:t>
            </a:r>
            <a:endParaRPr lang="en-IN" dirty="0"/>
          </a:p>
          <a:p>
            <a:pPr lvl="0">
              <a:buFont typeface="+mj-lt"/>
              <a:buAutoNum type="alphaLcParenR"/>
            </a:pPr>
            <a:r>
              <a:rPr lang="en-US" dirty="0"/>
              <a:t>S’ → </a:t>
            </a:r>
            <a:r>
              <a:rPr lang="en-US" dirty="0" err="1"/>
              <a:t>eS</a:t>
            </a:r>
            <a:r>
              <a:rPr lang="en-US" dirty="0"/>
              <a:t> ,  {}</a:t>
            </a:r>
            <a:endParaRPr lang="en-IN" dirty="0"/>
          </a:p>
          <a:p>
            <a:pPr lvl="0">
              <a:buFont typeface="+mj-lt"/>
              <a:buAutoNum type="alphaLcParenR"/>
            </a:pPr>
            <a:r>
              <a:rPr lang="en-US" dirty="0"/>
              <a:t>S’ → ε , S’ → ε</a:t>
            </a:r>
            <a:endParaRPr lang="en-IN" dirty="0"/>
          </a:p>
          <a:p>
            <a:pPr lvl="0">
              <a:buFont typeface="+mj-lt"/>
              <a:buAutoNum type="alphaLcParenR"/>
            </a:pPr>
            <a:r>
              <a:rPr lang="en-US" dirty="0"/>
              <a:t>{S’ → </a:t>
            </a:r>
            <a:r>
              <a:rPr lang="en-US" dirty="0" err="1"/>
              <a:t>eS</a:t>
            </a:r>
            <a:r>
              <a:rPr lang="en-US" dirty="0"/>
              <a:t> &amp; S’ → ε} , S’ → ε</a:t>
            </a:r>
            <a:endParaRPr lang="en-IN" dirty="0"/>
          </a:p>
          <a:p>
            <a:pPr>
              <a:buFont typeface="Wingdings" panose="05000000000000000000" pitchFamily="2" charset="2"/>
              <a:buChar char="Ø"/>
            </a:pPr>
            <a:r>
              <a:rPr lang="en-US" dirty="0"/>
              <a:t>Give the Follow of B in the following grammar:</a:t>
            </a:r>
            <a:endParaRPr lang="en-IN" sz="1600" dirty="0"/>
          </a:p>
          <a:p>
            <a:pPr marL="0" indent="0">
              <a:buNone/>
            </a:pPr>
            <a:r>
              <a:rPr lang="en-US" dirty="0"/>
              <a:t>A → B C D</a:t>
            </a:r>
            <a:endParaRPr lang="en-IN" sz="1600" dirty="0"/>
          </a:p>
          <a:p>
            <a:pPr marL="0" indent="0">
              <a:buNone/>
            </a:pPr>
            <a:r>
              <a:rPr lang="en-US" dirty="0"/>
              <a:t>B → w | B x</a:t>
            </a:r>
            <a:endParaRPr lang="en-IN" sz="1600" dirty="0"/>
          </a:p>
          <a:p>
            <a:pPr marL="0" indent="0">
              <a:buNone/>
            </a:pPr>
            <a:r>
              <a:rPr lang="en-US" dirty="0"/>
              <a:t>C → y C z | m</a:t>
            </a:r>
            <a:endParaRPr lang="en-IN" sz="1600" dirty="0"/>
          </a:p>
          <a:p>
            <a:pPr marL="0" indent="0">
              <a:buNone/>
            </a:pPr>
            <a:r>
              <a:rPr lang="en-US" dirty="0"/>
              <a:t>D → D B | a</a:t>
            </a:r>
            <a:endParaRPr lang="en-IN" sz="1600" dirty="0"/>
          </a:p>
          <a:p>
            <a:pPr marL="800100" lvl="1" indent="-342900">
              <a:buFont typeface="+mj-lt"/>
              <a:buAutoNum type="alphaLcParenR"/>
            </a:pPr>
            <a:r>
              <a:rPr lang="en-US" dirty="0"/>
              <a:t>{x, y, m, $}</a:t>
            </a:r>
            <a:endParaRPr lang="en-IN" sz="1600" dirty="0"/>
          </a:p>
          <a:p>
            <a:pPr marL="800100" lvl="1" indent="-342900">
              <a:buFont typeface="+mj-lt"/>
              <a:buAutoNum type="alphaLcParenR"/>
            </a:pPr>
            <a:r>
              <a:rPr lang="en-US" dirty="0"/>
              <a:t>{x, y, w, $}</a:t>
            </a:r>
            <a:endParaRPr lang="en-IN" sz="1600" dirty="0"/>
          </a:p>
          <a:p>
            <a:pPr marL="800100" lvl="1" indent="-342900">
              <a:buFont typeface="+mj-lt"/>
              <a:buAutoNum type="alphaLcParenR"/>
            </a:pPr>
            <a:r>
              <a:rPr lang="en-US" dirty="0"/>
              <a:t>{x, w, m, $}</a:t>
            </a:r>
            <a:endParaRPr lang="en-IN" sz="1600" dirty="0"/>
          </a:p>
          <a:p>
            <a:pPr marL="800100" lvl="1" indent="-342900">
              <a:buFont typeface="+mj-lt"/>
              <a:buAutoNum type="alphaLcParenR"/>
            </a:pPr>
            <a:r>
              <a:rPr lang="en-US" dirty="0"/>
              <a:t>{x, y, m, w, $}</a:t>
            </a:r>
            <a:endParaRPr lang="en-IN" sz="1600" dirty="0"/>
          </a:p>
          <a:p>
            <a:pPr marL="0" indent="0">
              <a:lnSpc>
                <a:spcPct val="150000"/>
              </a:lnSpc>
              <a:buNone/>
            </a:pPr>
            <a:endParaRPr lang="en-IN" sz="1800"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81779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anim calcmode="lin" valueType="num">
                                      <p:cBhvr additive="base">
                                        <p:cTn id="6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
                                            <p:txEl>
                                              <p:pRg st="10" end="10"/>
                                            </p:txEl>
                                          </p:spTgt>
                                        </p:tgtEl>
                                        <p:attrNameLst>
                                          <p:attrName>style.visibility</p:attrName>
                                        </p:attrNameLst>
                                      </p:cBhvr>
                                      <p:to>
                                        <p:strVal val="visible"/>
                                      </p:to>
                                    </p:set>
                                    <p:anim calcmode="lin" valueType="num">
                                      <p:cBhvr additive="base">
                                        <p:cTn id="67"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5">
                                            <p:txEl>
                                              <p:pRg st="11" end="11"/>
                                            </p:txEl>
                                          </p:spTgt>
                                        </p:tgtEl>
                                        <p:attrNameLst>
                                          <p:attrName>style.visibility</p:attrName>
                                        </p:attrNameLst>
                                      </p:cBhvr>
                                      <p:to>
                                        <p:strVal val="visible"/>
                                      </p:to>
                                    </p:set>
                                    <p:anim calcmode="lin" valueType="num">
                                      <p:cBhvr additive="base">
                                        <p:cTn id="7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5">
                                            <p:txEl>
                                              <p:pRg st="12" end="12"/>
                                            </p:txEl>
                                          </p:spTgt>
                                        </p:tgtEl>
                                        <p:attrNameLst>
                                          <p:attrName>style.visibility</p:attrName>
                                        </p:attrNameLst>
                                      </p:cBhvr>
                                      <p:to>
                                        <p:strVal val="visible"/>
                                      </p:to>
                                    </p:set>
                                    <p:anim calcmode="lin" valueType="num">
                                      <p:cBhvr additive="base">
                                        <p:cTn id="79"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5">
                                            <p:txEl>
                                              <p:pRg st="13" end="13"/>
                                            </p:txEl>
                                          </p:spTgt>
                                        </p:tgtEl>
                                        <p:attrNameLst>
                                          <p:attrName>style.visibility</p:attrName>
                                        </p:attrNameLst>
                                      </p:cBhvr>
                                      <p:to>
                                        <p:strVal val="visible"/>
                                      </p:to>
                                    </p:set>
                                    <p:anim calcmode="lin" valueType="num">
                                      <p:cBhvr additive="base">
                                        <p:cTn id="85"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5">
                                            <p:txEl>
                                              <p:pRg st="14" end="14"/>
                                            </p:txEl>
                                          </p:spTgt>
                                        </p:tgtEl>
                                        <p:attrNameLst>
                                          <p:attrName>style.visibility</p:attrName>
                                        </p:attrNameLst>
                                      </p:cBhvr>
                                      <p:to>
                                        <p:strVal val="visible"/>
                                      </p:to>
                                    </p:set>
                                    <p:anim calcmode="lin" valueType="num">
                                      <p:cBhvr additive="base">
                                        <p:cTn id="91"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5">
                                            <p:txEl>
                                              <p:pRg st="15" end="15"/>
                                            </p:txEl>
                                          </p:spTgt>
                                        </p:tgtEl>
                                        <p:attrNameLst>
                                          <p:attrName>style.visibility</p:attrName>
                                        </p:attrNameLst>
                                      </p:cBhvr>
                                      <p:to>
                                        <p:strVal val="visible"/>
                                      </p:to>
                                    </p:set>
                                    <p:anim calcmode="lin" valueType="num">
                                      <p:cBhvr additive="base">
                                        <p:cTn id="97" dur="500" fill="hold"/>
                                        <p:tgtEl>
                                          <p:spTgt spid="5">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5">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5">
                                            <p:txEl>
                                              <p:pRg st="16" end="16"/>
                                            </p:txEl>
                                          </p:spTgt>
                                        </p:tgtEl>
                                        <p:attrNameLst>
                                          <p:attrName>style.visibility</p:attrName>
                                        </p:attrNameLst>
                                      </p:cBhvr>
                                      <p:to>
                                        <p:strVal val="visible"/>
                                      </p:to>
                                    </p:set>
                                    <p:anim calcmode="lin" valueType="num">
                                      <p:cBhvr additive="base">
                                        <p:cTn id="103" dur="500" fill="hold"/>
                                        <p:tgtEl>
                                          <p:spTgt spid="5">
                                            <p:txEl>
                                              <p:pRg st="16" end="1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5">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5">
                                            <p:txEl>
                                              <p:pRg st="17" end="17"/>
                                            </p:txEl>
                                          </p:spTgt>
                                        </p:tgtEl>
                                        <p:attrNameLst>
                                          <p:attrName>style.visibility</p:attrName>
                                        </p:attrNameLst>
                                      </p:cBhvr>
                                      <p:to>
                                        <p:strVal val="visible"/>
                                      </p:to>
                                    </p:set>
                                    <p:anim calcmode="lin" valueType="num">
                                      <p:cBhvr additive="base">
                                        <p:cTn id="109" dur="500" fill="hold"/>
                                        <p:tgtEl>
                                          <p:spTgt spid="5">
                                            <p:txEl>
                                              <p:pRg st="17" end="1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5">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E2657F7F-DA37-4D43-8B5C-F49745DAEDAE}" type="datetime1">
              <a:rPr lang="en-US" smtClean="0"/>
              <a:t>4/10/2026</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167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8229600" cy="5188349"/>
          </a:xfrm>
        </p:spPr>
        <p:txBody>
          <a:bodyPr>
            <a:noAutofit/>
          </a:bodyPr>
          <a:lstStyle/>
          <a:p>
            <a:pPr>
              <a:buFont typeface="Wingdings" panose="05000000000000000000" pitchFamily="2" charset="2"/>
              <a:buChar char="Ø"/>
            </a:pPr>
            <a:r>
              <a:rPr lang="en-US" dirty="0"/>
              <a:t>Using LR(0) items we can construct. </a:t>
            </a:r>
            <a:endParaRPr lang="en-IN" dirty="0"/>
          </a:p>
          <a:p>
            <a:pPr lvl="0">
              <a:buFont typeface="+mj-lt"/>
              <a:buAutoNum type="alphaLcParenR"/>
            </a:pPr>
            <a:r>
              <a:rPr lang="en-US" dirty="0"/>
              <a:t>SLR parsing table </a:t>
            </a:r>
            <a:endParaRPr lang="en-IN" dirty="0"/>
          </a:p>
          <a:p>
            <a:pPr lvl="0">
              <a:buFont typeface="+mj-lt"/>
              <a:buAutoNum type="alphaLcParenR"/>
            </a:pPr>
            <a:r>
              <a:rPr lang="en-US" dirty="0"/>
              <a:t>LALR parsing table </a:t>
            </a:r>
            <a:endParaRPr lang="en-IN" dirty="0"/>
          </a:p>
          <a:p>
            <a:pPr lvl="0">
              <a:buFont typeface="+mj-lt"/>
              <a:buAutoNum type="alphaLcParenR"/>
            </a:pPr>
            <a:r>
              <a:rPr lang="en-US" dirty="0"/>
              <a:t>CALR parsing table</a:t>
            </a:r>
            <a:endParaRPr lang="en-IN" dirty="0"/>
          </a:p>
          <a:p>
            <a:pPr>
              <a:buFont typeface="+mj-lt"/>
              <a:buAutoNum type="alphaLcParenR"/>
            </a:pPr>
            <a:r>
              <a:rPr lang="en-US" dirty="0"/>
              <a:t>None</a:t>
            </a:r>
          </a:p>
          <a:p>
            <a:pPr>
              <a:buFont typeface="Wingdings" panose="05000000000000000000" pitchFamily="2" charset="2"/>
              <a:buChar char="Ø"/>
            </a:pPr>
            <a:r>
              <a:rPr lang="en-US" dirty="0"/>
              <a:t>Which of the following is true?</a:t>
            </a:r>
            <a:endParaRPr lang="en-IN" dirty="0"/>
          </a:p>
          <a:p>
            <a:pPr lvl="0">
              <a:buFont typeface="+mj-lt"/>
              <a:buAutoNum type="alphaLcParenR"/>
            </a:pPr>
            <a:r>
              <a:rPr lang="en-US" dirty="0"/>
              <a:t>every SLR(1) is LR(0) </a:t>
            </a:r>
            <a:endParaRPr lang="en-IN" dirty="0"/>
          </a:p>
          <a:p>
            <a:pPr lvl="0">
              <a:buFont typeface="+mj-lt"/>
              <a:buAutoNum type="alphaLcParenR"/>
            </a:pPr>
            <a:r>
              <a:rPr lang="en-US" dirty="0"/>
              <a:t>every LL(1) is LR(1)</a:t>
            </a:r>
            <a:endParaRPr lang="en-IN" dirty="0"/>
          </a:p>
          <a:p>
            <a:pPr lvl="0">
              <a:buFont typeface="+mj-lt"/>
              <a:buAutoNum type="alphaLcParenR"/>
            </a:pPr>
            <a:r>
              <a:rPr lang="en-US" dirty="0"/>
              <a:t>every LL(1) is SLR(1) </a:t>
            </a:r>
            <a:endParaRPr lang="en-IN" dirty="0"/>
          </a:p>
          <a:p>
            <a:pPr lvl="0">
              <a:buFont typeface="+mj-lt"/>
              <a:buAutoNum type="alphaLcParenR"/>
            </a:pPr>
            <a:r>
              <a:rPr lang="en-US" dirty="0"/>
              <a:t>every LL(1) is LR(0)</a:t>
            </a:r>
            <a:endParaRPr lang="en-IN" dirty="0"/>
          </a:p>
          <a:p>
            <a:pPr>
              <a:buFont typeface="Wingdings" panose="05000000000000000000" pitchFamily="2" charset="2"/>
              <a:buChar char="Ø"/>
            </a:pPr>
            <a:r>
              <a:rPr lang="en-US" dirty="0"/>
              <a:t>If a grammar is SLR(1) then [ ]</a:t>
            </a:r>
            <a:endParaRPr lang="en-IN" dirty="0"/>
          </a:p>
          <a:p>
            <a:pPr lvl="0">
              <a:buFont typeface="+mj-lt"/>
              <a:buAutoNum type="alphaLcParenR"/>
            </a:pPr>
            <a:r>
              <a:rPr lang="en-US" dirty="0"/>
              <a:t>it may have S/R conflict</a:t>
            </a:r>
            <a:endParaRPr lang="en-IN" dirty="0"/>
          </a:p>
          <a:p>
            <a:pPr lvl="0">
              <a:buFont typeface="+mj-lt"/>
              <a:buAutoNum type="alphaLcParenR"/>
            </a:pPr>
            <a:r>
              <a:rPr lang="en-US" dirty="0"/>
              <a:t>It will not have any conflict</a:t>
            </a:r>
            <a:endParaRPr lang="en-IN" dirty="0"/>
          </a:p>
          <a:p>
            <a:pPr lvl="0">
              <a:buFont typeface="+mj-lt"/>
              <a:buAutoNum type="alphaLcParenR"/>
            </a:pPr>
            <a:r>
              <a:rPr lang="en-US" dirty="0"/>
              <a:t>It may have R/R conflict</a:t>
            </a:r>
            <a:endParaRPr lang="en-IN" dirty="0"/>
          </a:p>
          <a:p>
            <a:pPr>
              <a:buFont typeface="+mj-lt"/>
              <a:buAutoNum type="alphaLcParenR"/>
            </a:pPr>
            <a:r>
              <a:rPr lang="en-US" dirty="0"/>
              <a:t>it will not have S/R but may have R/R conflict</a:t>
            </a:r>
            <a:endParaRPr lang="en-IN" sz="1800"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023307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anim calcmode="lin" valueType="num">
                                      <p:cBhvr additive="base">
                                        <p:cTn id="6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
                                            <p:txEl>
                                              <p:pRg st="14" end="14"/>
                                            </p:txEl>
                                          </p:spTgt>
                                        </p:tgtEl>
                                        <p:attrNameLst>
                                          <p:attrName>style.visibility</p:attrName>
                                        </p:attrNameLst>
                                      </p:cBhvr>
                                      <p:to>
                                        <p:strVal val="visible"/>
                                      </p:to>
                                    </p:set>
                                    <p:anim calcmode="lin" valueType="num">
                                      <p:cBhvr additive="base">
                                        <p:cTn id="67"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5">
                                            <p:txEl>
                                              <p:pRg st="10" end="10"/>
                                            </p:txEl>
                                          </p:spTgt>
                                        </p:tgtEl>
                                        <p:attrNameLst>
                                          <p:attrName>style.visibility</p:attrName>
                                        </p:attrNameLst>
                                      </p:cBhvr>
                                      <p:to>
                                        <p:strVal val="visible"/>
                                      </p:to>
                                    </p:set>
                                    <p:anim calcmode="lin" valueType="num">
                                      <p:cBhvr additive="base">
                                        <p:cTn id="73"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5">
                                            <p:txEl>
                                              <p:pRg st="11" end="11"/>
                                            </p:txEl>
                                          </p:spTgt>
                                        </p:tgtEl>
                                        <p:attrNameLst>
                                          <p:attrName>style.visibility</p:attrName>
                                        </p:attrNameLst>
                                      </p:cBhvr>
                                      <p:to>
                                        <p:strVal val="visible"/>
                                      </p:to>
                                    </p:set>
                                    <p:anim calcmode="lin" valueType="num">
                                      <p:cBhvr additive="base">
                                        <p:cTn id="79"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5">
                                            <p:txEl>
                                              <p:pRg st="12" end="12"/>
                                            </p:txEl>
                                          </p:spTgt>
                                        </p:tgtEl>
                                        <p:attrNameLst>
                                          <p:attrName>style.visibility</p:attrName>
                                        </p:attrNameLst>
                                      </p:cBhvr>
                                      <p:to>
                                        <p:strVal val="visible"/>
                                      </p:to>
                                    </p:set>
                                    <p:anim calcmode="lin" valueType="num">
                                      <p:cBhvr additive="base">
                                        <p:cTn id="85"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5">
                                            <p:txEl>
                                              <p:pRg st="13" end="13"/>
                                            </p:txEl>
                                          </p:spTgt>
                                        </p:tgtEl>
                                        <p:attrNameLst>
                                          <p:attrName>style.visibility</p:attrName>
                                        </p:attrNameLst>
                                      </p:cBhvr>
                                      <p:to>
                                        <p:strVal val="visible"/>
                                      </p:to>
                                    </p:set>
                                    <p:anim calcmode="lin" valueType="num">
                                      <p:cBhvr additive="base">
                                        <p:cTn id="91"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972D2BA7-2100-4142-9AD6-CF81292AE57F}" type="datetime1">
              <a:rPr lang="en-US" smtClean="0"/>
              <a:t>4/10/2026</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168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8229600" cy="5188349"/>
          </a:xfrm>
        </p:spPr>
        <p:txBody>
          <a:bodyPr>
            <a:noAutofit/>
          </a:bodyPr>
          <a:lstStyle/>
          <a:p>
            <a:pPr>
              <a:buFont typeface="Wingdings" panose="05000000000000000000" pitchFamily="2" charset="2"/>
              <a:buChar char="Ø"/>
            </a:pPr>
            <a:r>
              <a:rPr lang="en-US" dirty="0"/>
              <a:t>Consider the grammar S → ( S ) | a. If SLR(1) has n1 states, LR(1) has n2 states, LALR(1) has n3 states, which of the following is true?</a:t>
            </a:r>
            <a:endParaRPr lang="en-IN" dirty="0"/>
          </a:p>
          <a:p>
            <a:pPr lvl="0">
              <a:buFont typeface="+mj-lt"/>
              <a:buAutoNum type="alphaLcParenR"/>
            </a:pPr>
            <a:r>
              <a:rPr lang="en-US" dirty="0"/>
              <a:t>n1&lt;n2&lt;n3</a:t>
            </a:r>
            <a:endParaRPr lang="en-IN" dirty="0"/>
          </a:p>
          <a:p>
            <a:pPr lvl="0">
              <a:buFont typeface="+mj-lt"/>
              <a:buAutoNum type="alphaLcParenR"/>
            </a:pPr>
            <a:r>
              <a:rPr lang="en-US" dirty="0"/>
              <a:t>n1=n3&lt;n2</a:t>
            </a:r>
            <a:endParaRPr lang="en-IN" dirty="0"/>
          </a:p>
          <a:p>
            <a:pPr lvl="0">
              <a:buFont typeface="+mj-lt"/>
              <a:buAutoNum type="alphaLcParenR"/>
            </a:pPr>
            <a:r>
              <a:rPr lang="en-US" dirty="0"/>
              <a:t>n1=n2=n3</a:t>
            </a:r>
            <a:endParaRPr lang="en-IN" dirty="0"/>
          </a:p>
          <a:p>
            <a:pPr lvl="0">
              <a:buFont typeface="+mj-lt"/>
              <a:buAutoNum type="alphaLcParenR"/>
            </a:pPr>
            <a:r>
              <a:rPr lang="en-US" dirty="0"/>
              <a:t>n1&gt;n3&gt;n2</a:t>
            </a:r>
            <a:endParaRPr lang="en-IN" dirty="0"/>
          </a:p>
          <a:p>
            <a:pPr>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50952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lvl="0">
              <a:lnSpc>
                <a:spcPct val="115000"/>
              </a:lnSpc>
              <a:spcAft>
                <a:spcPts val="100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Consider the following grammar                 </a:t>
            </a:r>
          </a:p>
          <a:p>
            <a:pPr marL="0" lvl="0" indent="0">
              <a:lnSpc>
                <a:spcPct val="115000"/>
              </a:lnSpc>
              <a:spcAft>
                <a:spcPts val="10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 </a:t>
            </a:r>
            <a:r>
              <a:rPr lang="en-US" sz="1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AS | b</a:t>
            </a:r>
          </a:p>
          <a:p>
            <a:pPr marL="0" lvl="0" indent="0">
              <a:lnSpc>
                <a:spcPct val="115000"/>
              </a:lnSpc>
              <a:spcAft>
                <a:spcPts val="10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 </a:t>
            </a:r>
            <a:r>
              <a:rPr lang="en-US" sz="1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SA | 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114300" indent="0">
              <a:lnSpc>
                <a:spcPct val="115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Show that the grammar is ambiguous.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15000"/>
              </a:lnSpc>
              <a:buAutoNum type="arabicPeriod" startAt="2"/>
              <a:tabLst>
                <a:tab pos="3497263"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Find LR(0) Canonical collections.								</a:t>
            </a: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15000"/>
              </a:lnSpc>
              <a:buAutoNum type="arabicPeriod" startAt="2"/>
              <a:tabLst>
                <a:tab pos="3497263"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Construct the SLR parsing table.								</a:t>
            </a: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116CAE4-E3E6-44C1-A6CA-5B2DFA166078}"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Weekly</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Assignments-1</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8412385F-67FD-431A-8B74-A7D15E4FA584}"/>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799"/>
            <a:ext cx="8763000" cy="5213350"/>
          </a:xfrm>
        </p:spPr>
        <p:txBody>
          <a:bodyPr>
            <a:noAutofit/>
          </a:bodyPr>
          <a:lstStyle/>
          <a:p>
            <a:pPr>
              <a:lnSpc>
                <a:spcPct val="120000"/>
              </a:lnSpc>
              <a:spcAft>
                <a:spcPts val="1000"/>
              </a:spcAft>
              <a:buFont typeface="+mj-lt"/>
              <a:buAutoNum type="arabicPeriod"/>
            </a:pPr>
            <a:r>
              <a:rPr lang="en-US" sz="1800" dirty="0">
                <a:latin typeface="Times New Roman" panose="02020603050405020304" pitchFamily="18" charset="0"/>
                <a:ea typeface="Calibri" panose="020F0502020204030204" pitchFamily="34" charset="0"/>
                <a:cs typeface="Times New Roman" panose="02020603050405020304" pitchFamily="18" charset="0"/>
              </a:rPr>
              <a:t>From a given grammar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remove left RECURSION E → E+T│T</a:t>
            </a:r>
            <a:r>
              <a:rPr lang="en-US" sz="1800" dirty="0">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 → T*F │F,  F → (E) │id</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20000"/>
              </a:lnSpc>
              <a:spcAft>
                <a:spcPts val="1000"/>
              </a:spcAft>
              <a:buNone/>
            </a:pPr>
            <a:r>
              <a:rPr lang="en-US" dirty="0">
                <a:ea typeface="Calibri" panose="020F0502020204030204" pitchFamily="34" charset="0"/>
              </a:rPr>
              <a:t>2</a:t>
            </a:r>
            <a:r>
              <a:rPr lang="en-US" sz="18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Pasre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strings “ab”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acdb”and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adb</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using stack.</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120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aABb</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 → c│ Ԑ</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20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 → d│ Ԑ                     </a:t>
            </a:r>
          </a:p>
          <a:p>
            <a:pPr marL="114300" indent="0">
              <a:lnSpc>
                <a:spcPct val="120000"/>
              </a:lnSpc>
              <a:buNone/>
            </a:pPr>
            <a:r>
              <a:rPr lang="en-US" dirty="0">
                <a:ea typeface="Calibri" panose="020F0502020204030204" pitchFamily="34" charset="0"/>
              </a:rPr>
              <a:t>3</a:t>
            </a:r>
            <a:r>
              <a:rPr lang="en-US" sz="18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Parse the string “ (id*id) ”  and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id+id+id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using stack.</a:t>
            </a:r>
          </a:p>
          <a:p>
            <a:pPr marL="114300" indent="0">
              <a:lnSpc>
                <a:spcPct val="120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 → E+T│T							</a:t>
            </a: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20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 → T*F │F</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20000"/>
              </a:lnSpc>
              <a:spcAft>
                <a:spcPts val="10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F → (E) │id</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11623A1-450D-4C8F-B62A-A51E6F95A406}"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Weekly</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Assignments-2</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8779F055-7921-4044-98C2-C9CA82957A17}"/>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60797862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Handle pruning forms the basis of ____________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Bottom-up parsing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Top-down parsing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Both (a) and (b)</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None of these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FD5B86F-9481-43D4-B6E2-8369AB68E920}"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3AB3F8F0-4E8B-4DDB-BBF5-553DD5A07303}"/>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sp>
        <p:nvSpPr>
          <p:cNvPr id="10" name="TextBox 9">
            <a:extLst>
              <a:ext uri="{FF2B5EF4-FFF2-40B4-BE49-F238E27FC236}">
                <a16:creationId xmlns:a16="http://schemas.microsoft.com/office/drawing/2014/main" id="{DBB8D01B-9D92-4400-90C5-6FD003354675}"/>
              </a:ext>
            </a:extLst>
          </p:cNvPr>
          <p:cNvSpPr txBox="1"/>
          <p:nvPr/>
        </p:nvSpPr>
        <p:spPr>
          <a:xfrm>
            <a:off x="854393" y="3667626"/>
            <a:ext cx="4600574" cy="3053849"/>
          </a:xfrm>
          <a:prstGeom prst="rect">
            <a:avLst/>
          </a:prstGeom>
          <a:noFill/>
        </p:spPr>
        <p:txBody>
          <a:bodyPr wrap="square">
            <a:spAutoFit/>
          </a:bodyPr>
          <a:lstStyle/>
          <a:p>
            <a:pPr marL="285750" marR="152400" indent="-28575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Non-recursive predictive parser contains ___________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R="152400">
              <a:lnSpc>
                <a:spcPct val="150000"/>
              </a:lnSpc>
              <a:spcAft>
                <a:spcPts val="1000"/>
              </a:spcAft>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An input buffer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R="152400">
              <a:lnSpc>
                <a:spcPct val="150000"/>
              </a:lnSpc>
              <a:spcAft>
                <a:spcPts val="1000"/>
              </a:spcAft>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A parsing table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R="152400">
              <a:lnSpc>
                <a:spcPct val="150000"/>
              </a:lnSpc>
              <a:spcAft>
                <a:spcPts val="1000"/>
              </a:spcAft>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An output stream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R="152400">
              <a:lnSpc>
                <a:spcPct val="150000"/>
              </a:lnSpc>
              <a:spcAft>
                <a:spcPts val="1000"/>
              </a:spcAft>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All of these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21081743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spcAft>
                <a:spcPts val="1000"/>
              </a:spcAft>
              <a:buFont typeface="Wingdings" panose="05000000000000000000" pitchFamily="2" charset="2"/>
              <a:buChar char="Ø"/>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If A  →   αβ is a production and a is terminal symbol or right end marker $, then LR(1) items will be defined by the production ________.</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[A  →   α.β, a]</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[A  →   .αβ, a]</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[A  →   α.βa]</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[A  →   a.β, α]</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R="152400">
              <a:spcAft>
                <a:spcPts val="1000"/>
              </a:spcAft>
              <a:buFont typeface="Wingdings" panose="05000000000000000000" pitchFamily="2" charset="2"/>
              <a:buChar char="Ø"/>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Consider the grammar shown below</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S → FR , R → *S | ε , F → id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In LL (1) table M of this grammar, the entries M[S, id] and M[R, $] are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28600" marR="304800" lvl="2">
              <a:spcAft>
                <a:spcPts val="1000"/>
              </a:spcAft>
              <a:buFont typeface="+mj-lt"/>
              <a:buAutoNum type="alphaLcParenR"/>
              <a:tabLst>
                <a:tab pos="1028700" algn="l"/>
              </a:tabLst>
            </a:pPr>
            <a:r>
              <a:rPr lang="en-US"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 → FR, R → ε</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28600" marR="304800" lvl="2">
              <a:spcAft>
                <a:spcPts val="1000"/>
              </a:spcAft>
              <a:buFont typeface="+mj-lt"/>
              <a:buAutoNum type="alphaLcParenR"/>
              <a:tabLst>
                <a:tab pos="1028700" algn="l"/>
              </a:tabLst>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 → FR &amp;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28600" marR="304800" lvl="2">
              <a:spcAft>
                <a:spcPts val="1000"/>
              </a:spcAft>
              <a:buFont typeface="+mj-lt"/>
              <a:buAutoNum type="alphaLcParenR"/>
              <a:tabLst>
                <a:tab pos="1028700" algn="l"/>
              </a:tabLst>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 → FR &amp; R → *S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28600" marR="304800" lvl="2">
              <a:spcAft>
                <a:spcPts val="1000"/>
              </a:spcAft>
              <a:buFont typeface="+mj-lt"/>
              <a:buAutoNum type="alphaLcParenR"/>
              <a:tabLst>
                <a:tab pos="1028700" algn="l"/>
              </a:tabLst>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F → id, R → ε</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A686B96-CC03-455F-A01F-E93ABC4E3DCD}"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3AB3F8F0-4E8B-4DDB-BBF5-553DD5A07303}"/>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43857160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Top-down parsing is a technique to find _________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Leftmost derivation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Rightmost derivation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Leftmost derivation in reverse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Rightmost derivation in reverse</a:t>
            </a:r>
          </a:p>
          <a:p>
            <a:pPr marL="0" marR="152400" indent="0">
              <a:spcAft>
                <a:spcPts val="1000"/>
              </a:spcAft>
              <a:buNone/>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R="152400">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Predictive parsing is possible only for __________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LR(k) grammar</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LALR(1) grammar</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LL(k) grammar</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CLR(1) grammar</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DC40C11-8C59-4CF7-A7DC-4386AA10D684}"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3AB3F8F0-4E8B-4DDB-BBF5-553DD5A07303}"/>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814493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Which two functions are required to construct a parsing table in predictive parsing technique?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CLOSURE() and GOTO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FIRST() and FOLLOW()</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ACTI0N() and GOTO()</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None of these</a:t>
            </a:r>
          </a:p>
          <a:p>
            <a:pPr marL="0" indent="0">
              <a:buNone/>
            </a:pPr>
            <a:endParaRPr lang="en-US" sz="1800" dirty="0">
              <a:solidFill>
                <a:srgbClr val="333333"/>
              </a:solidFill>
              <a:latin typeface="Times New Roman" panose="02020603050405020304" pitchFamily="18" charset="0"/>
              <a:cs typeface="Times New Roman" panose="02020603050405020304" pitchFamily="18" charset="0"/>
            </a:endParaRPr>
          </a:p>
          <a:p>
            <a:pPr marR="152400">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Which of these parsing techniques is a kind of bottom-up parsing?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Shift-reduce parsing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Reduce-reduce parsing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Predictive parsing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Recursive-decent parsing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4481C6E-7F31-4EF7-99C8-4FF2492CB2DF}"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AD037737-CB3D-4EFD-AB7F-0D738707C0EB}"/>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08372678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Which of the following methods is used by the bottom-up parser to generate a parse tree?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Leftmost derivation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Rightmost derivation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Leftmost derivation in reverse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Rightmost derivation in reverse</a:t>
            </a:r>
          </a:p>
          <a:p>
            <a:pPr marL="0" marR="152400" indent="0">
              <a:spcAft>
                <a:spcPts val="1000"/>
              </a:spcAft>
              <a:buNone/>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R="152400">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Handle pruning forms the basis of ____________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Bottom-up parsing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Top-down parsing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Both (a) and (b)</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None of these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B0B0E21-63C4-48A9-A0EA-9115CB3219FA}" type="datetime1">
              <a:rPr lang="en-US" smtClean="0"/>
              <a:t>4/10/2026</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04314D7A-8D90-4DDC-B295-4096F526FD61}"/>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6287656"/>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6A529-C682-4EBB-A157-F17004BC41B4}"/>
              </a:ext>
            </a:extLst>
          </p:cNvPr>
          <p:cNvSpPr>
            <a:spLocks noGrp="1"/>
          </p:cNvSpPr>
          <p:nvPr>
            <p:ph type="title"/>
          </p:nvPr>
        </p:nvSpPr>
        <p:spPr/>
        <p:txBody>
          <a:bodyPr>
            <a:normAutofit/>
          </a:bodyPr>
          <a:lstStyle/>
          <a:p>
            <a:r>
              <a:rPr lang="en-IN" altLang="en-US" dirty="0">
                <a:latin typeface="Times New Roman" panose="02020603050405020304" pitchFamily="18" charset="0"/>
                <a:cs typeface="Times New Roman" panose="02020603050405020304" pitchFamily="18" charset="0"/>
              </a:rPr>
              <a:t/>
            </a:r>
            <a:br>
              <a:rPr lang="en-IN" alt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0365C2F-E201-4D53-94CF-68832BB763FE}"/>
              </a:ext>
            </a:extLst>
          </p:cNvPr>
          <p:cNvSpPr>
            <a:spLocks noGrp="1"/>
          </p:cNvSpPr>
          <p:nvPr>
            <p:ph idx="1"/>
          </p:nvPr>
        </p:nvSpPr>
        <p:spPr/>
        <p:txBody>
          <a:bodyPr>
            <a:normAutofit fontScale="85000" lnSpcReduction="20000"/>
          </a:bodyPr>
          <a:lstStyle/>
          <a:p>
            <a:pPr lvl="0" algn="just">
              <a:lnSpc>
                <a:spcPct val="115000"/>
              </a:lnSpc>
              <a:spcBef>
                <a:spcPts val="0"/>
              </a:spcBef>
              <a:buFont typeface="+mj-lt"/>
              <a:buAutoNum type="arabicPeriod"/>
            </a:pPr>
            <a:r>
              <a:rPr lang="en-US" sz="2400" dirty="0"/>
              <a:t>Explain the parsing techniques with a hierarchical diagram. </a:t>
            </a:r>
          </a:p>
          <a:p>
            <a:pPr marL="0" lvl="0" indent="0" algn="just">
              <a:lnSpc>
                <a:spcPct val="115000"/>
              </a:lnSpc>
              <a:spcBef>
                <a:spcPts val="0"/>
              </a:spcBef>
              <a:buNone/>
            </a:pPr>
            <a:r>
              <a:rPr lang="en-US" sz="2400" dirty="0"/>
              <a:t>2. What are the problems associated with Top Down Parsing? </a:t>
            </a:r>
          </a:p>
          <a:p>
            <a:pPr marL="0" lvl="0" indent="0" algn="just">
              <a:lnSpc>
                <a:spcPct val="115000"/>
              </a:lnSpc>
              <a:spcBef>
                <a:spcPts val="0"/>
              </a:spcBef>
              <a:buNone/>
            </a:pPr>
            <a:r>
              <a:rPr lang="en-US" sz="2400" dirty="0"/>
              <a:t>3. Write the production rules to eliminate the left recursion and left factoring problems. </a:t>
            </a:r>
          </a:p>
          <a:p>
            <a:pPr marL="0" lvl="0" indent="0" algn="just">
              <a:lnSpc>
                <a:spcPct val="115000"/>
              </a:lnSpc>
              <a:spcBef>
                <a:spcPts val="0"/>
              </a:spcBef>
              <a:buNone/>
            </a:pPr>
            <a:r>
              <a:rPr lang="en-US" sz="2400" dirty="0"/>
              <a:t>4. Consider the following Grammar: </a:t>
            </a:r>
          </a:p>
          <a:p>
            <a:pPr marL="0" lvl="0" indent="0" algn="just">
              <a:lnSpc>
                <a:spcPct val="115000"/>
              </a:lnSpc>
              <a:spcBef>
                <a:spcPts val="0"/>
              </a:spcBef>
              <a:buNone/>
            </a:pPr>
            <a:r>
              <a:rPr lang="en-US" sz="2400" dirty="0"/>
              <a:t>A-&gt; </a:t>
            </a:r>
            <a:r>
              <a:rPr lang="en-US" sz="2400" dirty="0" err="1"/>
              <a:t>ABd|Aa|a</a:t>
            </a:r>
            <a:r>
              <a:rPr lang="en-US" sz="2400" dirty="0"/>
              <a:t> B-&gt; </a:t>
            </a:r>
            <a:r>
              <a:rPr lang="en-US" sz="2400" dirty="0" err="1"/>
              <a:t>Be|b</a:t>
            </a:r>
            <a:r>
              <a:rPr lang="en-US" sz="2400" dirty="0"/>
              <a:t> </a:t>
            </a:r>
          </a:p>
          <a:p>
            <a:pPr marL="0" lvl="0" indent="0" algn="just">
              <a:lnSpc>
                <a:spcPct val="115000"/>
              </a:lnSpc>
              <a:spcBef>
                <a:spcPts val="0"/>
              </a:spcBef>
              <a:buNone/>
            </a:pPr>
            <a:r>
              <a:rPr lang="en-US" sz="2400" dirty="0"/>
              <a:t>Remove left recursion. </a:t>
            </a:r>
          </a:p>
          <a:p>
            <a:pPr marL="0" lvl="0" indent="0" algn="just">
              <a:lnSpc>
                <a:spcPct val="115000"/>
              </a:lnSpc>
              <a:spcBef>
                <a:spcPts val="0"/>
              </a:spcBef>
              <a:buNone/>
            </a:pPr>
            <a:r>
              <a:rPr lang="en-US" sz="2400" dirty="0"/>
              <a:t>5. Do left factoring in the following grammar: A-&gt; </a:t>
            </a:r>
            <a:r>
              <a:rPr lang="en-US" sz="2400" dirty="0" err="1"/>
              <a:t>aAB|aA|a</a:t>
            </a:r>
            <a:r>
              <a:rPr lang="en-US" sz="2400" dirty="0"/>
              <a:t> B-&gt; </a:t>
            </a:r>
            <a:r>
              <a:rPr lang="en-US" sz="2400" dirty="0" err="1"/>
              <a:t>bB|b</a:t>
            </a:r>
            <a:r>
              <a:rPr lang="en-US" sz="2400" dirty="0"/>
              <a:t> </a:t>
            </a:r>
          </a:p>
          <a:p>
            <a:pPr marL="0" lvl="0" indent="0" algn="just">
              <a:lnSpc>
                <a:spcPct val="115000"/>
              </a:lnSpc>
              <a:spcBef>
                <a:spcPts val="0"/>
              </a:spcBef>
              <a:buNone/>
            </a:pPr>
            <a:r>
              <a:rPr lang="en-US" sz="2400" dirty="0"/>
              <a:t>6. Write a short note on: </a:t>
            </a:r>
          </a:p>
          <a:p>
            <a:pPr marL="457200" lvl="0" indent="-457200" algn="just">
              <a:lnSpc>
                <a:spcPct val="115000"/>
              </a:lnSpc>
              <a:spcBef>
                <a:spcPts val="0"/>
              </a:spcBef>
              <a:buAutoNum type="alphaLcPeriod"/>
            </a:pPr>
            <a:r>
              <a:rPr lang="en-US" sz="2400" dirty="0"/>
              <a:t>Ambiguity (with example) </a:t>
            </a:r>
          </a:p>
          <a:p>
            <a:pPr marL="457200" lvl="0" indent="-457200" algn="just">
              <a:lnSpc>
                <a:spcPct val="115000"/>
              </a:lnSpc>
              <a:spcBef>
                <a:spcPts val="0"/>
              </a:spcBef>
              <a:buAutoNum type="alphaLcPeriod"/>
            </a:pPr>
            <a:r>
              <a:rPr lang="en-US" sz="2400" dirty="0"/>
              <a:t>b. Recursive Descent Parser </a:t>
            </a:r>
          </a:p>
          <a:p>
            <a:pPr marL="457200" lvl="0" indent="-457200" algn="just">
              <a:lnSpc>
                <a:spcPct val="115000"/>
              </a:lnSpc>
              <a:spcBef>
                <a:spcPts val="0"/>
              </a:spcBef>
              <a:buAutoNum type="alphaLcPeriod"/>
            </a:pPr>
            <a:r>
              <a:rPr lang="en-US" sz="2400" dirty="0"/>
              <a:t>c. Predictive LL(1) parser (working) </a:t>
            </a:r>
          </a:p>
          <a:p>
            <a:pPr marL="457200" lvl="0" indent="-457200" algn="just">
              <a:lnSpc>
                <a:spcPct val="115000"/>
              </a:lnSpc>
              <a:spcBef>
                <a:spcPts val="0"/>
              </a:spcBef>
              <a:buAutoNum type="alphaLcPeriod"/>
            </a:pPr>
            <a:r>
              <a:rPr lang="en-US" sz="2400" dirty="0"/>
              <a:t>d. Handle pruning </a:t>
            </a:r>
          </a:p>
          <a:p>
            <a:pPr marL="457200" lvl="0" indent="-457200" algn="just">
              <a:lnSpc>
                <a:spcPct val="115000"/>
              </a:lnSpc>
              <a:spcBef>
                <a:spcPts val="0"/>
              </a:spcBef>
              <a:buAutoNum type="alphaLcPeriod"/>
            </a:pPr>
            <a:r>
              <a:rPr lang="en-US" sz="2400" dirty="0"/>
              <a:t>e. Operator Precedence Parser </a:t>
            </a:r>
          </a:p>
          <a:p>
            <a:pPr marL="0" lvl="0" indent="0" algn="just">
              <a:lnSpc>
                <a:spcPct val="115000"/>
              </a:lnSpc>
              <a:spcBef>
                <a:spcPts val="0"/>
              </a:spcBef>
              <a:buNone/>
            </a:pPr>
            <a:r>
              <a:rPr lang="en-US" sz="2400" dirty="0"/>
              <a:t>7. Write Rules to construct FIRST Function and FOLLOW Function. </a:t>
            </a:r>
            <a:endParaRPr lang="en-US" dirty="0">
              <a:ea typeface="Calibri"/>
              <a:cs typeface="Times New Roman"/>
            </a:endParaRPr>
          </a:p>
          <a:p>
            <a:pPr lvl="0" algn="just">
              <a:lnSpc>
                <a:spcPct val="115000"/>
              </a:lnSpc>
              <a:spcBef>
                <a:spcPts val="0"/>
              </a:spcBef>
              <a:buFont typeface="+mj-lt"/>
              <a:buAutoNum type="arabicPeriod"/>
            </a:pPr>
            <a:endParaRPr lang="en-US" dirty="0"/>
          </a:p>
        </p:txBody>
      </p:sp>
      <p:sp>
        <p:nvSpPr>
          <p:cNvPr id="4" name="Date Placeholder 3">
            <a:extLst>
              <a:ext uri="{FF2B5EF4-FFF2-40B4-BE49-F238E27FC236}">
                <a16:creationId xmlns:a16="http://schemas.microsoft.com/office/drawing/2014/main" id="{A074693D-A972-44AB-848F-F2A21E59CB46}"/>
              </a:ext>
            </a:extLst>
          </p:cNvPr>
          <p:cNvSpPr>
            <a:spLocks noGrp="1"/>
          </p:cNvSpPr>
          <p:nvPr>
            <p:ph type="dt" sz="half" idx="10"/>
          </p:nvPr>
        </p:nvSpPr>
        <p:spPr/>
        <p:txBody>
          <a:bodyPr/>
          <a:lstStyle/>
          <a:p>
            <a:fld id="{969683CF-A90E-43CE-A497-E3D583879B95}" type="datetime1">
              <a:rPr lang="en-US" smtClean="0"/>
              <a:t>4/10/2026</a:t>
            </a:fld>
            <a:endParaRPr lang="en-US"/>
          </a:p>
        </p:txBody>
      </p:sp>
      <p:sp>
        <p:nvSpPr>
          <p:cNvPr id="5" name="Footer Placeholder 4">
            <a:extLst>
              <a:ext uri="{FF2B5EF4-FFF2-40B4-BE49-F238E27FC236}">
                <a16:creationId xmlns:a16="http://schemas.microsoft.com/office/drawing/2014/main" id="{A5D744A8-460C-4C5A-B6B2-4702B8DAB632}"/>
              </a:ext>
            </a:extLst>
          </p:cNvPr>
          <p:cNvSpPr>
            <a:spLocks noGrp="1"/>
          </p:cNvSpPr>
          <p:nvPr>
            <p:ph type="ftr" sz="quarter" idx="11"/>
          </p:nvPr>
        </p:nvSpPr>
        <p:spPr/>
        <p:txBody>
          <a:bodyPr/>
          <a:lstStyle/>
          <a:p>
            <a:r>
              <a:rPr lang="it-IT" smtClean="0"/>
              <a:t>Vivek Kumar Sharma                      CD                Unit 2</a:t>
            </a:r>
            <a:endParaRPr lang="en-US" dirty="0"/>
          </a:p>
        </p:txBody>
      </p:sp>
      <p:sp>
        <p:nvSpPr>
          <p:cNvPr id="6" name="Slide Number Placeholder 5">
            <a:extLst>
              <a:ext uri="{FF2B5EF4-FFF2-40B4-BE49-F238E27FC236}">
                <a16:creationId xmlns:a16="http://schemas.microsoft.com/office/drawing/2014/main" id="{1B70C124-C4E6-427F-8EB5-C3D000A9D895}"/>
              </a:ext>
            </a:extLst>
          </p:cNvPr>
          <p:cNvSpPr>
            <a:spLocks noGrp="1"/>
          </p:cNvSpPr>
          <p:nvPr>
            <p:ph type="sldNum" sz="quarter" idx="12"/>
          </p:nvPr>
        </p:nvSpPr>
        <p:spPr/>
        <p:txBody>
          <a:bodyPr/>
          <a:lstStyle/>
          <a:p>
            <a:fld id="{B6F15528-21DE-4FAA-801E-634DDDAF4B2B}" type="slidenum">
              <a:rPr lang="en-US" smtClean="0"/>
              <a:pPr/>
              <a:t>176</a:t>
            </a:fld>
            <a:endParaRPr lang="en-US"/>
          </a:p>
        </p:txBody>
      </p:sp>
      <p:sp>
        <p:nvSpPr>
          <p:cNvPr id="7" name="Title 1">
            <a:extLst>
              <a:ext uri="{FF2B5EF4-FFF2-40B4-BE49-F238E27FC236}">
                <a16:creationId xmlns:a16="http://schemas.microsoft.com/office/drawing/2014/main" id="{C3EB5181-1BF7-4393-BA22-CE6B3C2366F0}"/>
              </a:ext>
            </a:extLst>
          </p:cNvPr>
          <p:cNvSpPr txBox="1">
            <a:spLocks/>
          </p:cNvSpPr>
          <p:nvPr/>
        </p:nvSpPr>
        <p:spPr>
          <a:xfrm>
            <a:off x="1828800" y="136525"/>
            <a:ext cx="7086600" cy="93027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2400" dirty="0"/>
              <a:t>Glossary Questions</a:t>
            </a: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10279456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r>
              <a:rPr lang="en-US" sz="2200" dirty="0"/>
              <a:t>Listing pointers to triples, rather than listing triples themselves is implementation of</a:t>
            </a:r>
          </a:p>
          <a:p>
            <a:pPr lvl="1">
              <a:buNone/>
            </a:pPr>
            <a:r>
              <a:rPr lang="en-US" sz="2200" dirty="0"/>
              <a:t>a. Quadruple</a:t>
            </a:r>
          </a:p>
          <a:p>
            <a:pPr lvl="1">
              <a:buNone/>
            </a:pPr>
            <a:r>
              <a:rPr lang="en-US" sz="2200" dirty="0"/>
              <a:t>b. Triple</a:t>
            </a:r>
          </a:p>
          <a:p>
            <a:pPr lvl="1">
              <a:buNone/>
            </a:pPr>
            <a:r>
              <a:rPr lang="en-US" sz="2200" dirty="0"/>
              <a:t>c. Indirect Triple</a:t>
            </a:r>
          </a:p>
          <a:p>
            <a:pPr lvl="1">
              <a:buNone/>
            </a:pPr>
            <a:r>
              <a:rPr lang="en-US" sz="2200" dirty="0"/>
              <a:t>d. Three address code</a:t>
            </a:r>
          </a:p>
          <a:p>
            <a:r>
              <a:rPr lang="en-US" sz="2200" dirty="0"/>
              <a:t>Quadruple is a record structure with four fields.</a:t>
            </a:r>
          </a:p>
          <a:p>
            <a:pPr lvl="1">
              <a:buNone/>
            </a:pPr>
            <a:r>
              <a:rPr lang="en-US" sz="2200" dirty="0"/>
              <a:t>a. Op, arg1, arg2 and result</a:t>
            </a:r>
          </a:p>
          <a:p>
            <a:pPr lvl="1">
              <a:buNone/>
            </a:pPr>
            <a:r>
              <a:rPr lang="en-US" sz="2200" dirty="0"/>
              <a:t>b. op1, op2, agr2 and result</a:t>
            </a:r>
          </a:p>
          <a:p>
            <a:pPr lvl="1">
              <a:buNone/>
            </a:pPr>
            <a:r>
              <a:rPr lang="en-US" sz="2200" dirty="0"/>
              <a:t>c. agr1, arg2 , result and op</a:t>
            </a:r>
          </a:p>
          <a:p>
            <a:pPr lvl="1">
              <a:buNone/>
            </a:pPr>
            <a:r>
              <a:rPr lang="en-US" sz="2200" dirty="0"/>
              <a:t>d. All of d above</a:t>
            </a:r>
          </a:p>
          <a:p>
            <a:endParaRPr lang="en-US" dirty="0"/>
          </a:p>
        </p:txBody>
      </p:sp>
      <p:sp>
        <p:nvSpPr>
          <p:cNvPr id="4" name="Date Placeholder 3"/>
          <p:cNvSpPr>
            <a:spLocks noGrp="1"/>
          </p:cNvSpPr>
          <p:nvPr>
            <p:ph type="dt" sz="half" idx="10"/>
          </p:nvPr>
        </p:nvSpPr>
        <p:spPr/>
        <p:txBody>
          <a:bodyPr/>
          <a:lstStyle/>
          <a:p>
            <a:fld id="{3B3ED93E-1CED-4D50-93DF-73BC80035188}" type="datetime1">
              <a:rPr lang="en-US" smtClean="0"/>
              <a:t>4/10/2026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smtClean="0"/>
              <a:t>Vivek Kumar Sharma              CD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177</a:t>
            </a:fld>
            <a:endParaRPr lang="en-US"/>
          </a:p>
        </p:txBody>
      </p:sp>
      <p:sp>
        <p:nvSpPr>
          <p:cNvPr id="7" name="Title 1"/>
          <p:cNvSpPr txBox="1">
            <a:spLocks/>
          </p:cNvSpPr>
          <p:nvPr/>
        </p:nvSpPr>
        <p:spPr>
          <a:xfrm>
            <a:off x="1371600" y="0"/>
            <a:ext cx="74676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t>Daily Quiz</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7099661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99476C5-F6B8-4F69-B0E7-061BEDE5F3AC}"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178</a:t>
            </a:fld>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9232" y="975946"/>
            <a:ext cx="7658100" cy="4756639"/>
          </a:xfrm>
          <a:prstGeom prst="rect">
            <a:avLst/>
          </a:prstGeom>
        </p:spPr>
      </p:pic>
    </p:spTree>
    <p:extLst>
      <p:ext uri="{BB962C8B-B14F-4D97-AF65-F5344CB8AC3E}">
        <p14:creationId xmlns:p14="http://schemas.microsoft.com/office/powerpoint/2010/main" val="33855243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99476C5-F6B8-4F69-B0E7-061BEDE5F3AC}"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179</a:t>
            </a:fld>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492" y="1028700"/>
            <a:ext cx="7376746" cy="5134708"/>
          </a:xfrm>
          <a:prstGeom prst="rect">
            <a:avLst/>
          </a:prstGeom>
        </p:spPr>
      </p:pic>
    </p:spTree>
    <p:extLst>
      <p:ext uri="{BB962C8B-B14F-4D97-AF65-F5344CB8AC3E}">
        <p14:creationId xmlns:p14="http://schemas.microsoft.com/office/powerpoint/2010/main" val="50202213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99476C5-F6B8-4F69-B0E7-061BEDE5F3AC}"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180</a:t>
            </a:fld>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086" y="1116622"/>
            <a:ext cx="7869114" cy="5081955"/>
          </a:xfrm>
          <a:prstGeom prst="rect">
            <a:avLst/>
          </a:prstGeom>
        </p:spPr>
      </p:pic>
    </p:spTree>
    <p:extLst>
      <p:ext uri="{BB962C8B-B14F-4D97-AF65-F5344CB8AC3E}">
        <p14:creationId xmlns:p14="http://schemas.microsoft.com/office/powerpoint/2010/main" val="3723279594"/>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99476C5-F6B8-4F69-B0E7-061BEDE5F3AC}"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181</a:t>
            </a:fld>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2131" y="914400"/>
            <a:ext cx="7130561" cy="5162549"/>
          </a:xfrm>
          <a:prstGeom prst="rect">
            <a:avLst/>
          </a:prstGeom>
        </p:spPr>
      </p:pic>
    </p:spTree>
    <p:extLst>
      <p:ext uri="{BB962C8B-B14F-4D97-AF65-F5344CB8AC3E}">
        <p14:creationId xmlns:p14="http://schemas.microsoft.com/office/powerpoint/2010/main" val="38934509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99476C5-F6B8-4F69-B0E7-061BEDE5F3AC}"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182</a:t>
            </a:fld>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415" y="1230923"/>
            <a:ext cx="7148147" cy="5046786"/>
          </a:xfrm>
          <a:prstGeom prst="rect">
            <a:avLst/>
          </a:prstGeom>
        </p:spPr>
      </p:pic>
    </p:spTree>
    <p:extLst>
      <p:ext uri="{BB962C8B-B14F-4D97-AF65-F5344CB8AC3E}">
        <p14:creationId xmlns:p14="http://schemas.microsoft.com/office/powerpoint/2010/main" val="152202128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99476C5-F6B8-4F69-B0E7-061BEDE5F3AC}"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183</a:t>
            </a:fld>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3531" y="914400"/>
            <a:ext cx="7429500" cy="5162549"/>
          </a:xfrm>
          <a:prstGeom prst="rect">
            <a:avLst/>
          </a:prstGeom>
        </p:spPr>
      </p:pic>
    </p:spTree>
    <p:extLst>
      <p:ext uri="{BB962C8B-B14F-4D97-AF65-F5344CB8AC3E}">
        <p14:creationId xmlns:p14="http://schemas.microsoft.com/office/powerpoint/2010/main" val="333869346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99476C5-F6B8-4F69-B0E7-061BEDE5F3AC}"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184</a:t>
            </a:fld>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700" y="993530"/>
            <a:ext cx="7429500" cy="5257801"/>
          </a:xfrm>
          <a:prstGeom prst="rect">
            <a:avLst/>
          </a:prstGeom>
        </p:spPr>
      </p:pic>
    </p:spTree>
    <p:extLst>
      <p:ext uri="{BB962C8B-B14F-4D97-AF65-F5344CB8AC3E}">
        <p14:creationId xmlns:p14="http://schemas.microsoft.com/office/powerpoint/2010/main" val="378219276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99476C5-F6B8-4F69-B0E7-061BEDE5F3AC}"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185</a:t>
            </a:fld>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362" y="975946"/>
            <a:ext cx="7411915" cy="5101003"/>
          </a:xfrm>
          <a:prstGeom prst="rect">
            <a:avLst/>
          </a:prstGeom>
        </p:spPr>
      </p:pic>
    </p:spTree>
    <p:extLst>
      <p:ext uri="{BB962C8B-B14F-4D97-AF65-F5344CB8AC3E}">
        <p14:creationId xmlns:p14="http://schemas.microsoft.com/office/powerpoint/2010/main" val="284433466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99476C5-F6B8-4F69-B0E7-061BEDE5F3AC}"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186</a:t>
            </a:fld>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193" y="914400"/>
            <a:ext cx="7614138" cy="5301762"/>
          </a:xfrm>
          <a:prstGeom prst="rect">
            <a:avLst/>
          </a:prstGeom>
        </p:spPr>
      </p:pic>
    </p:spTree>
    <p:extLst>
      <p:ext uri="{BB962C8B-B14F-4D97-AF65-F5344CB8AC3E}">
        <p14:creationId xmlns:p14="http://schemas.microsoft.com/office/powerpoint/2010/main" val="336814812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99476C5-F6B8-4F69-B0E7-061BEDE5F3AC}"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187</a:t>
            </a:fld>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700" y="975946"/>
            <a:ext cx="7499838" cy="5205046"/>
          </a:xfrm>
          <a:prstGeom prst="rect">
            <a:avLst/>
          </a:prstGeom>
        </p:spPr>
      </p:pic>
    </p:spTree>
    <p:extLst>
      <p:ext uri="{BB962C8B-B14F-4D97-AF65-F5344CB8AC3E}">
        <p14:creationId xmlns:p14="http://schemas.microsoft.com/office/powerpoint/2010/main" val="426563715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99476C5-F6B8-4F69-B0E7-061BEDE5F3AC}" type="datetime1">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4/10/2026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188</a:t>
            </a:fld>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smtClean="0">
                <a:ln>
                  <a:noFill/>
                </a:ln>
                <a:solidFill>
                  <a:prstClr val="black">
                    <a:tint val="75000"/>
                  </a:prstClr>
                </a:solidFill>
                <a:effectLst/>
                <a:uLnTx/>
                <a:uFillTx/>
                <a:latin typeface="Times New Roman"/>
                <a:ea typeface="+mn-ea"/>
                <a:cs typeface="+mn-cs"/>
              </a:rPr>
              <a:t>Vivek Kumar Sharma                                 Unit 5</a:t>
            </a:r>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362" y="817685"/>
            <a:ext cx="7464669" cy="5460024"/>
          </a:xfrm>
          <a:prstGeom prst="rect">
            <a:avLst/>
          </a:prstGeom>
        </p:spPr>
      </p:pic>
    </p:spTree>
    <p:extLst>
      <p:ext uri="{BB962C8B-B14F-4D97-AF65-F5344CB8AC3E}">
        <p14:creationId xmlns:p14="http://schemas.microsoft.com/office/powerpoint/2010/main" val="283063159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99A9DB9-D154-4537-B1AD-37B159C932A7}"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189</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5" name="Picture 4">
            <a:extLst>
              <a:ext uri="{FF2B5EF4-FFF2-40B4-BE49-F238E27FC236}">
                <a16:creationId xmlns:a16="http://schemas.microsoft.com/office/drawing/2014/main" id="{3E642687-F7AC-4086-AC76-7D62704E9254}"/>
              </a:ext>
            </a:extLst>
          </p:cNvPr>
          <p:cNvPicPr>
            <a:picLocks noChangeAspect="1"/>
          </p:cNvPicPr>
          <p:nvPr/>
        </p:nvPicPr>
        <p:blipFill>
          <a:blip r:embed="rId2"/>
          <a:stretch>
            <a:fillRect/>
          </a:stretch>
        </p:blipFill>
        <p:spPr>
          <a:xfrm>
            <a:off x="2119819" y="817163"/>
            <a:ext cx="4904362" cy="5539188"/>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75802484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3EC9ADCD-96CE-4DE9-A3C2-20EADB2E5999}"/>
              </a:ext>
            </a:extLst>
          </p:cNvPr>
          <p:cNvPicPr>
            <a:picLocks noGrp="1" noChangeAspect="1"/>
          </p:cNvPicPr>
          <p:nvPr>
            <p:ph idx="1"/>
          </p:nvPr>
        </p:nvPicPr>
        <p:blipFill>
          <a:blip r:embed="rId2"/>
          <a:stretch>
            <a:fillRect/>
          </a:stretch>
        </p:blipFill>
        <p:spPr>
          <a:xfrm>
            <a:off x="2057400" y="763261"/>
            <a:ext cx="4724400" cy="5602569"/>
          </a:xfrm>
        </p:spPr>
      </p:pic>
      <p:sp>
        <p:nvSpPr>
          <p:cNvPr id="4" name="Date Placeholder 3"/>
          <p:cNvSpPr>
            <a:spLocks noGrp="1"/>
          </p:cNvSpPr>
          <p:nvPr>
            <p:ph type="dt" sz="half" idx="10"/>
          </p:nvPr>
        </p:nvSpPr>
        <p:spPr/>
        <p:txBody>
          <a:bodyPr/>
          <a:lstStyle/>
          <a:p>
            <a:fld id="{E977AAC5-86A6-4FD0-9B05-26C89CF49BD7}"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190</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21517223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0F756B0-2369-4A89-A277-92AA07F1C6FF}" type="datetime1">
              <a:rPr lang="en-US" smtClean="0"/>
              <a:t>4/10/2026</a:t>
            </a:fld>
            <a:endParaRPr lang="en-US"/>
          </a:p>
        </p:txBody>
      </p:sp>
      <p:sp>
        <p:nvSpPr>
          <p:cNvPr id="5" name="Footer Placeholder 4"/>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191</a:t>
            </a:fld>
            <a:endParaRPr lang="en-US"/>
          </a:p>
        </p:txBody>
      </p:sp>
      <p:sp>
        <p:nvSpPr>
          <p:cNvPr id="7" name="Title 1"/>
          <p:cNvSpPr txBox="1">
            <a:spLocks noGrp="1"/>
          </p:cNvSpPr>
          <p:nvPr>
            <p:ph type="title"/>
          </p:nvPr>
        </p:nvSpPr>
        <p:spPr>
          <a:xfrm>
            <a:off x="1447800" y="152399"/>
            <a:ext cx="7391400" cy="576901"/>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838200"/>
            <a:ext cx="7696200" cy="5410200"/>
          </a:xfrm>
          <a:prstGeom prst="rect">
            <a:avLst/>
          </a:prstGeom>
        </p:spPr>
      </p:pic>
      <p:sp>
        <p:nvSpPr>
          <p:cNvPr id="2" name="Content Placeholder 1"/>
          <p:cNvSpPr>
            <a:spLocks noGrp="1"/>
          </p:cNvSpPr>
          <p:nvPr>
            <p:ph idx="1"/>
          </p:nvPr>
        </p:nvSpPr>
        <p:spPr/>
        <p:txBody>
          <a:bodyPr/>
          <a:lstStyle/>
          <a:p>
            <a:endParaRPr lang="en-US"/>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57509074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AAA78D5-1F09-4A51-9594-4E85C515B9D9}" type="datetime1">
              <a:rPr lang="en-US" smtClean="0"/>
              <a:t>4/10/2026</a:t>
            </a:fld>
            <a:endParaRPr lang="en-US"/>
          </a:p>
        </p:txBody>
      </p:sp>
      <p:sp>
        <p:nvSpPr>
          <p:cNvPr id="5" name="Footer Placeholder 4"/>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192</a:t>
            </a:fld>
            <a:endParaRPr lang="en-US"/>
          </a:p>
        </p:txBody>
      </p:sp>
      <p:sp>
        <p:nvSpPr>
          <p:cNvPr id="7" name="Title 1"/>
          <p:cNvSpPr txBox="1">
            <a:spLocks noGrp="1"/>
          </p:cNvSpPr>
          <p:nvPr>
            <p:ph type="title"/>
          </p:nvPr>
        </p:nvSpPr>
        <p:spPr>
          <a:xfrm>
            <a:off x="1295400" y="26894"/>
            <a:ext cx="7821706" cy="63976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762000"/>
            <a:ext cx="7391400" cy="5334000"/>
          </a:xfrm>
          <a:prstGeom prst="rect">
            <a:avLst/>
          </a:prstGeom>
        </p:spPr>
      </p:pic>
      <p:sp>
        <p:nvSpPr>
          <p:cNvPr id="2" name="Content Placeholder 1"/>
          <p:cNvSpPr>
            <a:spLocks noGrp="1"/>
          </p:cNvSpPr>
          <p:nvPr>
            <p:ph idx="1"/>
          </p:nvPr>
        </p:nvSpPr>
        <p:spPr/>
        <p:txBody>
          <a:bodyPr/>
          <a:lstStyle/>
          <a:p>
            <a:endParaRPr lang="en-US"/>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68464169"/>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lnSpc>
                <a:spcPct val="2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Consider the following grammar </a:t>
            </a:r>
            <a:r>
              <a:rPr lang="en-US" sz="1800" dirty="0" err="1">
                <a:latin typeface="Times New Roman" panose="02020603050405020304" pitchFamily="18" charset="0"/>
                <a:cs typeface="Times New Roman" panose="02020603050405020304" pitchFamily="18" charset="0"/>
              </a:rPr>
              <a:t>S-AS|b</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A-SA|a</a:t>
            </a:r>
            <a:r>
              <a:rPr lang="en-US" sz="1800" dirty="0">
                <a:latin typeface="Times New Roman" panose="02020603050405020304" pitchFamily="18" charset="0"/>
                <a:cs typeface="Times New Roman" panose="02020603050405020304" pitchFamily="18" charset="0"/>
              </a:rPr>
              <a:t>. Construct the SLR parse table for the grammar. Show the actions of the parser for the input string “</a:t>
            </a:r>
            <a:r>
              <a:rPr lang="en-US" sz="1800" dirty="0" err="1">
                <a:latin typeface="Times New Roman" panose="02020603050405020304" pitchFamily="18" charset="0"/>
                <a:cs typeface="Times New Roman" panose="02020603050405020304" pitchFamily="18" charset="0"/>
              </a:rPr>
              <a:t>abab</a:t>
            </a:r>
            <a:r>
              <a:rPr lang="en-US" sz="1800" dirty="0">
                <a:latin typeface="Times New Roman" panose="02020603050405020304" pitchFamily="18" charset="0"/>
                <a:cs typeface="Times New Roman" panose="02020603050405020304" pitchFamily="18" charset="0"/>
              </a:rPr>
              <a:t>”.</a:t>
            </a:r>
          </a:p>
          <a:p>
            <a:pPr algn="just">
              <a:lnSpc>
                <a:spcPct val="2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What is a syntax tree? Draw the syntax tree for the following statement: c b c b a − ∗ + − ∗ =</a:t>
            </a:r>
          </a:p>
          <a:p>
            <a:pPr algn="l">
              <a:buFont typeface="Wingdings" panose="05000000000000000000" pitchFamily="2" charset="2"/>
              <a:buChar char="Ø"/>
            </a:pPr>
            <a:r>
              <a:rPr lang="en-US" sz="1800" b="0" i="0" dirty="0">
                <a:effectLst/>
                <a:latin typeface="Times New Roman" panose="02020603050405020304" pitchFamily="18" charset="0"/>
                <a:cs typeface="Times New Roman" panose="02020603050405020304" pitchFamily="18" charset="0"/>
              </a:rPr>
              <a:t>Perform Shift Reduce Parsing for the given input strings using the grammar</a:t>
            </a:r>
          </a:p>
          <a:p>
            <a:pPr marL="0" indent="0" algn="l">
              <a:buNone/>
            </a:pPr>
            <a:r>
              <a:rPr lang="en-US" sz="1800" b="0" i="0" dirty="0">
                <a:effectLst/>
                <a:latin typeface="Times New Roman" panose="02020603050405020304" pitchFamily="18" charset="0"/>
                <a:cs typeface="Times New Roman" panose="02020603050405020304" pitchFamily="18" charset="0"/>
              </a:rPr>
              <a:t>			S-&gt;(L)|a </a:t>
            </a:r>
          </a:p>
          <a:p>
            <a:pPr marL="0" indent="0" algn="l">
              <a:buNone/>
            </a:pPr>
            <a:r>
              <a:rPr lang="en-US" sz="1800" b="0" i="0" dirty="0">
                <a:effectLst/>
                <a:latin typeface="Times New Roman" panose="02020603050405020304" pitchFamily="18" charset="0"/>
                <a:cs typeface="Times New Roman" panose="02020603050405020304" pitchFamily="18" charset="0"/>
              </a:rPr>
              <a:t>			L-&gt;L,S|S </a:t>
            </a:r>
          </a:p>
          <a:p>
            <a:pPr marL="0" indent="0" algn="l">
              <a:buNone/>
            </a:pPr>
            <a:r>
              <a:rPr lang="en-US" sz="1800" b="0" i="0" dirty="0" err="1">
                <a:effectLst/>
                <a:latin typeface="Times New Roman" panose="02020603050405020304" pitchFamily="18" charset="0"/>
                <a:cs typeface="Times New Roman" panose="02020603050405020304" pitchFamily="18" charset="0"/>
              </a:rPr>
              <a:t>i</a:t>
            </a:r>
            <a:r>
              <a:rPr lang="en-US" sz="1800" b="0" i="0" dirty="0">
                <a:effectLst/>
                <a:latin typeface="Times New Roman" panose="02020603050405020304" pitchFamily="18" charset="0"/>
                <a:cs typeface="Times New Roman" panose="02020603050405020304" pitchFamily="18" charset="0"/>
              </a:rPr>
              <a:t>) (a,(</a:t>
            </a:r>
            <a:r>
              <a:rPr lang="en-US" sz="1800" b="0" i="0" dirty="0" err="1">
                <a:effectLst/>
                <a:latin typeface="Times New Roman" panose="02020603050405020304" pitchFamily="18" charset="0"/>
                <a:cs typeface="Times New Roman" panose="02020603050405020304" pitchFamily="18" charset="0"/>
              </a:rPr>
              <a:t>a,a</a:t>
            </a:r>
            <a:r>
              <a:rPr lang="en-US" sz="1800" b="0" i="0" dirty="0">
                <a:effectLst/>
                <a:latin typeface="Times New Roman" panose="02020603050405020304" pitchFamily="18" charset="0"/>
                <a:cs typeface="Times New Roman" panose="02020603050405020304" pitchFamily="18" charset="0"/>
              </a:rPr>
              <a:t>))</a:t>
            </a:r>
          </a:p>
          <a:p>
            <a:pPr marL="0" indent="0" algn="l">
              <a:buNone/>
            </a:pPr>
            <a:r>
              <a:rPr lang="en-US" sz="1800" b="0" i="0" dirty="0">
                <a:effectLst/>
                <a:latin typeface="Times New Roman" panose="02020603050405020304" pitchFamily="18" charset="0"/>
                <a:cs typeface="Times New Roman" panose="02020603050405020304" pitchFamily="18" charset="0"/>
              </a:rPr>
              <a:t>ii)(</a:t>
            </a:r>
            <a:r>
              <a:rPr lang="en-US" sz="1800" b="0" i="0" dirty="0" err="1">
                <a:effectLst/>
                <a:latin typeface="Times New Roman" panose="02020603050405020304" pitchFamily="18" charset="0"/>
                <a:cs typeface="Times New Roman" panose="02020603050405020304" pitchFamily="18" charset="0"/>
              </a:rPr>
              <a:t>a,a</a:t>
            </a:r>
            <a:r>
              <a:rPr lang="en-US" sz="1800" b="0" i="0" dirty="0">
                <a:effectLst/>
                <a:latin typeface="Times New Roman" panose="02020603050405020304" pitchFamily="18" charset="0"/>
                <a:cs typeface="Times New Roman" panose="02020603050405020304" pitchFamily="18" charset="0"/>
              </a:rPr>
              <a:t>)</a:t>
            </a:r>
          </a:p>
          <a:p>
            <a:pPr algn="just">
              <a:lnSpc>
                <a:spcPct val="20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AC9A66F-37DF-4EB1-940D-06DD4E35D382}"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193</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Expected Question for University Exam</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8008919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p:cNvSpPr>
            <a:spLocks noGrp="1"/>
          </p:cNvSpPr>
          <p:nvPr>
            <p:ph idx="1"/>
          </p:nvPr>
        </p:nvSpPr>
        <p:spPr>
          <a:xfrm>
            <a:off x="457200" y="1143000"/>
            <a:ext cx="8229600" cy="4983163"/>
          </a:xfrm>
        </p:spPr>
        <p:txBody>
          <a:bodyPr>
            <a:normAutofit fontScale="92500" lnSpcReduction="10000"/>
          </a:bodyPr>
          <a:lstStyle/>
          <a:p>
            <a:pPr algn="just"/>
            <a:r>
              <a:rPr lang="en-US" i="1" dirty="0"/>
              <a:t>Syntax Analyzer </a:t>
            </a:r>
            <a:endParaRPr lang="en-US" dirty="0"/>
          </a:p>
          <a:p>
            <a:pPr algn="just"/>
            <a:r>
              <a:rPr lang="en-US" dirty="0"/>
              <a:t> creates the syntactic structure of the given source program.</a:t>
            </a:r>
          </a:p>
          <a:p>
            <a:pPr algn="just"/>
            <a:r>
              <a:rPr lang="en-US" dirty="0"/>
              <a:t>This syntactic structure is mostly a </a:t>
            </a:r>
            <a:r>
              <a:rPr lang="en-US" i="1" dirty="0"/>
              <a:t>parse tree</a:t>
            </a:r>
            <a:endParaRPr lang="en-US" dirty="0"/>
          </a:p>
          <a:p>
            <a:pPr algn="just"/>
            <a:r>
              <a:rPr lang="en-US" dirty="0"/>
              <a:t>.Syntax Analyzer is also known as </a:t>
            </a:r>
            <a:r>
              <a:rPr lang="en-US" i="1" dirty="0"/>
              <a:t>parser </a:t>
            </a:r>
            <a:endParaRPr lang="en-US" dirty="0"/>
          </a:p>
          <a:p>
            <a:pPr algn="just"/>
            <a:r>
              <a:rPr lang="en-US" dirty="0"/>
              <a:t>LR parsers can be constructed to recognize virtually all programming-language constructs for which context-free grammars can be written.</a:t>
            </a:r>
          </a:p>
          <a:p>
            <a:pPr algn="just"/>
            <a:r>
              <a:rPr lang="en-US" dirty="0"/>
              <a:t>Bottom-up parsers for a large class of context-free grammars can be easily developed using operator </a:t>
            </a:r>
            <a:r>
              <a:rPr lang="en-US" dirty="0" err="1"/>
              <a:t>grammars.Operator</a:t>
            </a:r>
            <a:r>
              <a:rPr lang="en-US" dirty="0"/>
              <a:t> grammars have the property that no production right side is empty or has two adjacent </a:t>
            </a:r>
            <a:r>
              <a:rPr lang="en-US" dirty="0" err="1"/>
              <a:t>nonterminals</a:t>
            </a:r>
            <a:r>
              <a:rPr lang="en-US" dirty="0"/>
              <a:t>. </a:t>
            </a:r>
          </a:p>
          <a:p>
            <a:pPr algn="just"/>
            <a:r>
              <a:rPr lang="en-US" dirty="0"/>
              <a:t>A shift-reduce parser uses a parse stack which (conceptually) contains grammar symbols. During the operation of the parser, symbols from the input are shifted onto the stack. If a prefix of the symbols on top of the stack matches the RHS of a grammar rule which is the correct rule to use within the current context, then the parser reduces the RHS of the rule to its </a:t>
            </a:r>
            <a:r>
              <a:rPr lang="en-US" dirty="0" err="1"/>
              <a:t>LHS,replacing</a:t>
            </a:r>
            <a:r>
              <a:rPr lang="en-US" dirty="0"/>
              <a:t> the RHS symbols on top of the stack with the nonterminal occurring on the LHS of the rule. </a:t>
            </a:r>
          </a:p>
          <a:p>
            <a:pPr algn="just"/>
            <a:r>
              <a:rPr lang="en-US" dirty="0"/>
              <a:t>This shift-reduce process continues until the parser terminates, reporting either success or failure. It terminates with success when the input is legal and is accepted by </a:t>
            </a:r>
            <a:r>
              <a:rPr lang="en-US" dirty="0" err="1"/>
              <a:t>theparser</a:t>
            </a:r>
            <a:r>
              <a:rPr lang="en-US" dirty="0"/>
              <a:t>.</a:t>
            </a:r>
            <a:br>
              <a:rPr lang="en-US" dirty="0"/>
            </a:br>
            <a:endParaRPr lang="en-US" dirty="0"/>
          </a:p>
        </p:txBody>
      </p:sp>
      <p:sp>
        <p:nvSpPr>
          <p:cNvPr id="4" name="Date Placeholder 3"/>
          <p:cNvSpPr>
            <a:spLocks noGrp="1"/>
          </p:cNvSpPr>
          <p:nvPr>
            <p:ph type="dt" sz="half" idx="10"/>
          </p:nvPr>
        </p:nvSpPr>
        <p:spPr/>
        <p:txBody>
          <a:bodyPr/>
          <a:lstStyle/>
          <a:p>
            <a:fld id="{0265D21A-6F66-4C17-8587-D88DADBDBDDA}" type="datetime1">
              <a:rPr lang="en-US" smtClean="0"/>
              <a:t>4/10/2026</a:t>
            </a:fld>
            <a:endParaRPr lang="en-US"/>
          </a:p>
        </p:txBody>
      </p:sp>
      <p:sp>
        <p:nvSpPr>
          <p:cNvPr id="5" name="Footer Placeholder 4"/>
          <p:cNvSpPr>
            <a:spLocks noGrp="1"/>
          </p:cNvSpPr>
          <p:nvPr>
            <p:ph type="ftr" sz="quarter" idx="11"/>
          </p:nvPr>
        </p:nvSpPr>
        <p:spPr/>
        <p:txBody>
          <a:bodyPr/>
          <a:lstStyle/>
          <a:p>
            <a:r>
              <a:rPr lang="it-IT" smtClean="0"/>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194</a:t>
            </a:fld>
            <a:endParaRPr lang="en-US"/>
          </a:p>
        </p:txBody>
      </p:sp>
      <p:sp>
        <p:nvSpPr>
          <p:cNvPr id="7" name="Title 1"/>
          <p:cNvSpPr txBox="1">
            <a:spLocks/>
          </p:cNvSpPr>
          <p:nvPr/>
        </p:nvSpPr>
        <p:spPr>
          <a:xfrm>
            <a:off x="1447800" y="1"/>
            <a:ext cx="76962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t>Recap of Unit</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4BC76A-1385-44E2-9B05-862906FCB104}"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195</a:t>
            </a:fld>
            <a:endParaRPr lang="en-US"/>
          </a:p>
        </p:txBody>
      </p:sp>
      <p:sp>
        <p:nvSpPr>
          <p:cNvPr id="7"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References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609599" y="1136888"/>
            <a:ext cx="7924801" cy="4945456"/>
          </a:xfrm>
          <a:prstGeom prst="rect">
            <a:avLst/>
          </a:prstGeom>
          <a:noFill/>
        </p:spPr>
        <p:txBody>
          <a:bodyPr wrap="square" lIns="91440" tIns="45720" rIns="91440" bIns="45720">
            <a:spAutoFit/>
          </a:bodyPr>
          <a:lstStyle/>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K. </a:t>
            </a:r>
            <a:r>
              <a:rPr lang="en-IN" sz="1800" dirty="0" err="1">
                <a:latin typeface="Times New Roman" panose="02020603050405020304" pitchFamily="18" charset="0"/>
                <a:cs typeface="Times New Roman" panose="02020603050405020304" pitchFamily="18" charset="0"/>
              </a:rPr>
              <a:t>Muneeswaran,Compiler</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Design,First</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Edition,Oxford</a:t>
            </a:r>
            <a:r>
              <a:rPr lang="en-IN" sz="1800" dirty="0">
                <a:latin typeface="Times New Roman" panose="02020603050405020304" pitchFamily="18" charset="0"/>
                <a:cs typeface="Times New Roman" panose="02020603050405020304" pitchFamily="18" charset="0"/>
              </a:rPr>
              <a:t> University Press.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J.P. Bennet, “Introduction to Compiler Techniques”, Second Edition, Tata McGraw-Hill,2003.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Henk </a:t>
            </a:r>
            <a:r>
              <a:rPr lang="en-IN" sz="1800" dirty="0" err="1">
                <a:latin typeface="Times New Roman" panose="02020603050405020304" pitchFamily="18" charset="0"/>
                <a:cs typeface="Times New Roman" panose="02020603050405020304" pitchFamily="18" charset="0"/>
              </a:rPr>
              <a:t>Alblas</a:t>
            </a:r>
            <a:r>
              <a:rPr lang="en-IN" sz="1800" dirty="0">
                <a:latin typeface="Times New Roman" panose="02020603050405020304" pitchFamily="18" charset="0"/>
                <a:cs typeface="Times New Roman" panose="02020603050405020304" pitchFamily="18" charset="0"/>
              </a:rPr>
              <a:t> and Albert </a:t>
            </a:r>
            <a:r>
              <a:rPr lang="en-IN" sz="1800" dirty="0" err="1">
                <a:latin typeface="Times New Roman" panose="02020603050405020304" pitchFamily="18" charset="0"/>
                <a:cs typeface="Times New Roman" panose="02020603050405020304" pitchFamily="18" charset="0"/>
              </a:rPr>
              <a:t>Nymeyer</a:t>
            </a:r>
            <a:r>
              <a:rPr lang="en-IN" sz="1800" dirty="0">
                <a:latin typeface="Times New Roman" panose="02020603050405020304" pitchFamily="18" charset="0"/>
                <a:cs typeface="Times New Roman" panose="02020603050405020304" pitchFamily="18" charset="0"/>
              </a:rPr>
              <a:t>, “Practice and Principles of Compiler Building with C”, PHI, 2001. </a:t>
            </a:r>
          </a:p>
          <a:p>
            <a:pPr algn="just">
              <a:lnSpc>
                <a:spcPct val="150000"/>
              </a:lnSpc>
              <a:buAutoNum type="arabicPeriod"/>
            </a:pPr>
            <a:r>
              <a:rPr lang="en-IN" sz="1800" dirty="0" err="1">
                <a:latin typeface="Times New Roman" panose="02020603050405020304" pitchFamily="18" charset="0"/>
                <a:cs typeface="Times New Roman" panose="02020603050405020304" pitchFamily="18" charset="0"/>
              </a:rPr>
              <a:t>Aho</a:t>
            </a:r>
            <a:r>
              <a:rPr lang="en-IN" sz="1800" dirty="0">
                <a:latin typeface="Times New Roman" panose="02020603050405020304" pitchFamily="18" charset="0"/>
                <a:cs typeface="Times New Roman" panose="02020603050405020304" pitchFamily="18" charset="0"/>
              </a:rPr>
              <a:t>, Sethi &amp; Ullman, "Compilers: Principles, Techniques and Tools”, Pearson Education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V </a:t>
            </a:r>
            <a:r>
              <a:rPr lang="en-IN" sz="1800" dirty="0" err="1">
                <a:latin typeface="Times New Roman" panose="02020603050405020304" pitchFamily="18" charset="0"/>
                <a:cs typeface="Times New Roman" panose="02020603050405020304" pitchFamily="18" charset="0"/>
              </a:rPr>
              <a:t>Raghvan</a:t>
            </a:r>
            <a:r>
              <a:rPr lang="en-IN" sz="1800" dirty="0">
                <a:latin typeface="Times New Roman" panose="02020603050405020304" pitchFamily="18" charset="0"/>
                <a:cs typeface="Times New Roman" panose="02020603050405020304" pitchFamily="18" charset="0"/>
              </a:rPr>
              <a:t>, “ Principles of Compiler Design”, TMH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Kenneth Louden,” Compiler Construction”, Cengage Learning.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Charles Fischer and Ricard LeBlanc,” Crafting a Compiler with C”, Pearson Education</a:t>
            </a:r>
            <a:endParaRPr lang="en-US" sz="1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8CB61619-6F1B-4BA3-AAA3-67CDE9202A86}"/>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55522020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C055B67-BC59-458E-8D5A-CCCCA550E129}" type="datetime1">
              <a:rPr lang="en-US" smtClean="0"/>
              <a:t>4/10/2026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196</a:t>
            </a:fld>
            <a:endParaRPr lang="en-US"/>
          </a:p>
        </p:txBody>
      </p:sp>
      <p:sp>
        <p:nvSpPr>
          <p:cNvPr id="7" name="Title 1"/>
          <p:cNvSpPr txBox="1">
            <a:spLocks/>
          </p:cNvSpPr>
          <p:nvPr/>
        </p:nvSpPr>
        <p:spPr>
          <a:xfrm>
            <a:off x="1905000" y="104043"/>
            <a:ext cx="6896100" cy="701967"/>
          </a:xfrm>
          <a:prstGeom prst="rect">
            <a:avLst/>
          </a:prstGeom>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spcBef>
                <a:spcPct val="0"/>
              </a:spcBef>
              <a:defRPr/>
            </a:pPr>
            <a:endParaRPr lang="en-US" dirty="0"/>
          </a:p>
        </p:txBody>
      </p:sp>
      <p:sp>
        <p:nvSpPr>
          <p:cNvPr id="9" name="Content Placeholder 8"/>
          <p:cNvSpPr>
            <a:spLocks noGrp="1"/>
          </p:cNvSpPr>
          <p:nvPr>
            <p:ph idx="1"/>
          </p:nvPr>
        </p:nvSpPr>
        <p:spPr>
          <a:xfrm>
            <a:off x="2133600" y="2384672"/>
            <a:ext cx="5029200" cy="830997"/>
          </a:xfrm>
          <a:prstGeom prst="rect">
            <a:avLst/>
          </a:prstGeom>
          <a:noFill/>
        </p:spPr>
        <p:txBody>
          <a:bodyPr vert="horz" wrap="square" lIns="68580" tIns="34290" rIns="68580" bIns="34290" rtlCol="0">
            <a:spAutoFit/>
          </a:bodyPr>
          <a:lstStyle/>
          <a:p>
            <a:pPr algn="ctr">
              <a:buNone/>
            </a:pPr>
            <a:r>
              <a:rPr lang="en-US" sz="495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Footer Placeholder 4">
            <a:extLst>
              <a:ext uri="{FF2B5EF4-FFF2-40B4-BE49-F238E27FC236}">
                <a16:creationId xmlns:a16="http://schemas.microsoft.com/office/drawing/2014/main" id="{1B25A8C0-91BE-4B97-8DCD-65878300B0D3}"/>
              </a:ext>
            </a:extLst>
          </p:cNvPr>
          <p:cNvSpPr>
            <a:spLocks noGrp="1"/>
          </p:cNvSpPr>
          <p:nvPr>
            <p:ph type="ftr" sz="quarter" idx="11"/>
          </p:nvPr>
        </p:nvSpPr>
        <p:spPr>
          <a:xfrm>
            <a:off x="2514600" y="6356350"/>
            <a:ext cx="5029200" cy="365125"/>
          </a:xfrm>
        </p:spPr>
        <p:txBody>
          <a:bodyPr/>
          <a:lstStyle/>
          <a:p>
            <a:r>
              <a:rPr lang="it-IT" smtClean="0"/>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056103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3">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4">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7052</TotalTime>
  <Words>9957</Words>
  <Application>Microsoft Office PowerPoint</Application>
  <PresentationFormat>On-screen Show (4:3)</PresentationFormat>
  <Paragraphs>3029</Paragraphs>
  <Slides>196</Slides>
  <Notes>108</Notes>
  <HiddenSlides>0</HiddenSlides>
  <MMClips>0</MMClips>
  <ScaleCrop>false</ScaleCrop>
  <HeadingPairs>
    <vt:vector size="6" baseType="variant">
      <vt:variant>
        <vt:lpstr>Fonts Used</vt:lpstr>
      </vt:variant>
      <vt:variant>
        <vt:i4>13</vt:i4>
      </vt:variant>
      <vt:variant>
        <vt:lpstr>Theme</vt:lpstr>
      </vt:variant>
      <vt:variant>
        <vt:i4>5</vt:i4>
      </vt:variant>
      <vt:variant>
        <vt:lpstr>Slide Titles</vt:lpstr>
      </vt:variant>
      <vt:variant>
        <vt:i4>196</vt:i4>
      </vt:variant>
    </vt:vector>
  </HeadingPairs>
  <TitlesOfParts>
    <vt:vector size="214" baseType="lpstr">
      <vt:lpstr>Aptos</vt:lpstr>
      <vt:lpstr>Arial</vt:lpstr>
      <vt:lpstr>Calibri</vt:lpstr>
      <vt:lpstr>Calibri (Body)</vt:lpstr>
      <vt:lpstr>Calibri Light</vt:lpstr>
      <vt:lpstr>Courier New</vt:lpstr>
      <vt:lpstr>Symbol</vt:lpstr>
      <vt:lpstr>Tahoma</vt:lpstr>
      <vt:lpstr>Times New Roman</vt:lpstr>
      <vt:lpstr>trebuchet ms</vt:lpstr>
      <vt:lpstr>Verdana</vt:lpstr>
      <vt:lpstr>Verdana</vt:lpstr>
      <vt:lpstr>Wingdings</vt:lpstr>
      <vt:lpstr>Office Theme</vt:lpstr>
      <vt:lpstr>2_Custom Design</vt:lpstr>
      <vt:lpstr>1_Custom Design</vt:lpstr>
      <vt:lpstr>Custom Design</vt:lpstr>
      <vt:lpstr>2_Office Theme</vt:lpstr>
      <vt:lpstr>Noida Institute of Engineering and Technology, Greater Noida</vt:lpstr>
      <vt:lpstr>Brief Introduction of Faculty</vt:lpstr>
      <vt:lpstr>PowerPoint Presentation</vt:lpstr>
      <vt:lpstr>PowerPoint Presentation</vt:lpstr>
      <vt:lpstr>PowerPoint Presentation</vt:lpstr>
      <vt:lpstr>Course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 Semester Question Paper Template </vt:lpstr>
      <vt:lpstr>PowerPoint Presentation</vt:lpstr>
      <vt:lpstr>PowerPoint Presentation</vt:lpstr>
      <vt:lpstr>PowerPoint Presentation</vt:lpstr>
      <vt:lpstr>Program Educational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Old Question Paper</vt:lpstr>
      <vt:lpstr>Old Question Paper</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Evaluation Work</cp:lastModifiedBy>
  <cp:revision>405</cp:revision>
  <cp:lastPrinted>2021-04-20T05:48:40Z</cp:lastPrinted>
  <dcterms:created xsi:type="dcterms:W3CDTF">2006-08-16T00:00:00Z</dcterms:created>
  <dcterms:modified xsi:type="dcterms:W3CDTF">2026-04-10T10:36:22Z</dcterms:modified>
</cp:coreProperties>
</file>