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5" r:id="rId1"/>
    <p:sldMasterId id="2147483733" r:id="rId2"/>
    <p:sldMasterId id="2147483747" r:id="rId3"/>
  </p:sldMasterIdLst>
  <p:notesMasterIdLst>
    <p:notesMasterId r:id="rId107"/>
  </p:notesMasterIdLst>
  <p:handoutMasterIdLst>
    <p:handoutMasterId r:id="rId108"/>
  </p:handoutMasterIdLst>
  <p:sldIdLst>
    <p:sldId id="520" r:id="rId4"/>
    <p:sldId id="521" r:id="rId5"/>
    <p:sldId id="494" r:id="rId6"/>
    <p:sldId id="493" r:id="rId7"/>
    <p:sldId id="495" r:id="rId8"/>
    <p:sldId id="496" r:id="rId9"/>
    <p:sldId id="352" r:id="rId10"/>
    <p:sldId id="285" r:id="rId11"/>
    <p:sldId id="287" r:id="rId12"/>
    <p:sldId id="286" r:id="rId13"/>
    <p:sldId id="353" r:id="rId14"/>
    <p:sldId id="284" r:id="rId15"/>
    <p:sldId id="361" r:id="rId16"/>
    <p:sldId id="497" r:id="rId17"/>
    <p:sldId id="1073" r:id="rId18"/>
    <p:sldId id="498" r:id="rId19"/>
    <p:sldId id="499" r:id="rId20"/>
    <p:sldId id="522" r:id="rId21"/>
    <p:sldId id="523" r:id="rId22"/>
    <p:sldId id="360" r:id="rId23"/>
    <p:sldId id="501" r:id="rId24"/>
    <p:sldId id="1071" r:id="rId25"/>
    <p:sldId id="268" r:id="rId26"/>
    <p:sldId id="1074" r:id="rId27"/>
    <p:sldId id="1075" r:id="rId28"/>
    <p:sldId id="1076" r:id="rId29"/>
    <p:sldId id="1077" r:id="rId30"/>
    <p:sldId id="1078" r:id="rId31"/>
    <p:sldId id="1079" r:id="rId32"/>
    <p:sldId id="1080" r:id="rId33"/>
    <p:sldId id="1081" r:id="rId34"/>
    <p:sldId id="1082" r:id="rId35"/>
    <p:sldId id="1083" r:id="rId36"/>
    <p:sldId id="1084" r:id="rId37"/>
    <p:sldId id="1085" r:id="rId38"/>
    <p:sldId id="1086" r:id="rId39"/>
    <p:sldId id="1087" r:id="rId40"/>
    <p:sldId id="1088" r:id="rId41"/>
    <p:sldId id="1089" r:id="rId42"/>
    <p:sldId id="1090" r:id="rId43"/>
    <p:sldId id="1091" r:id="rId44"/>
    <p:sldId id="1092" r:id="rId45"/>
    <p:sldId id="1093" r:id="rId46"/>
    <p:sldId id="1094" r:id="rId47"/>
    <p:sldId id="1095" r:id="rId48"/>
    <p:sldId id="1096" r:id="rId49"/>
    <p:sldId id="1097" r:id="rId50"/>
    <p:sldId id="1098" r:id="rId51"/>
    <p:sldId id="1099" r:id="rId52"/>
    <p:sldId id="1100" r:id="rId53"/>
    <p:sldId id="1101" r:id="rId54"/>
    <p:sldId id="1102" r:id="rId55"/>
    <p:sldId id="1103" r:id="rId56"/>
    <p:sldId id="1104" r:id="rId57"/>
    <p:sldId id="1105" r:id="rId58"/>
    <p:sldId id="1106" r:id="rId59"/>
    <p:sldId id="1107" r:id="rId60"/>
    <p:sldId id="1108" r:id="rId61"/>
    <p:sldId id="1109" r:id="rId62"/>
    <p:sldId id="1110" r:id="rId63"/>
    <p:sldId id="1111" r:id="rId64"/>
    <p:sldId id="1112" r:id="rId65"/>
    <p:sldId id="1113" r:id="rId66"/>
    <p:sldId id="1114" r:id="rId67"/>
    <p:sldId id="1144" r:id="rId68"/>
    <p:sldId id="1145" r:id="rId69"/>
    <p:sldId id="1146" r:id="rId70"/>
    <p:sldId id="1147" r:id="rId71"/>
    <p:sldId id="1148" r:id="rId72"/>
    <p:sldId id="1149" r:id="rId73"/>
    <p:sldId id="1150" r:id="rId74"/>
    <p:sldId id="1151" r:id="rId75"/>
    <p:sldId id="1152" r:id="rId76"/>
    <p:sldId id="1153" r:id="rId77"/>
    <p:sldId id="1154" r:id="rId78"/>
    <p:sldId id="1155" r:id="rId79"/>
    <p:sldId id="1126" r:id="rId80"/>
    <p:sldId id="1127" r:id="rId81"/>
    <p:sldId id="1128" r:id="rId82"/>
    <p:sldId id="1129" r:id="rId83"/>
    <p:sldId id="1130" r:id="rId84"/>
    <p:sldId id="1131" r:id="rId85"/>
    <p:sldId id="1132" r:id="rId86"/>
    <p:sldId id="1133" r:id="rId87"/>
    <p:sldId id="1134" r:id="rId88"/>
    <p:sldId id="1135" r:id="rId89"/>
    <p:sldId id="1158" r:id="rId90"/>
    <p:sldId id="1136" r:id="rId91"/>
    <p:sldId id="1137" r:id="rId92"/>
    <p:sldId id="1138" r:id="rId93"/>
    <p:sldId id="1156" r:id="rId94"/>
    <p:sldId id="1157" r:id="rId95"/>
    <p:sldId id="1159" r:id="rId96"/>
    <p:sldId id="1160" r:id="rId97"/>
    <p:sldId id="1139" r:id="rId98"/>
    <p:sldId id="1140" r:id="rId99"/>
    <p:sldId id="1161" r:id="rId100"/>
    <p:sldId id="1141" r:id="rId101"/>
    <p:sldId id="1142" r:id="rId102"/>
    <p:sldId id="1143" r:id="rId103"/>
    <p:sldId id="1162" r:id="rId104"/>
    <p:sldId id="1163" r:id="rId105"/>
    <p:sldId id="351" r:id="rId10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CC95FE29-AC53-483C-A1B3-A6CF09015989}">
          <p14:sldIdLst>
            <p14:sldId id="520"/>
            <p14:sldId id="521"/>
            <p14:sldId id="494"/>
            <p14:sldId id="493"/>
            <p14:sldId id="495"/>
            <p14:sldId id="496"/>
            <p14:sldId id="352"/>
            <p14:sldId id="285"/>
            <p14:sldId id="287"/>
            <p14:sldId id="286"/>
            <p14:sldId id="353"/>
            <p14:sldId id="284"/>
            <p14:sldId id="361"/>
            <p14:sldId id="497"/>
            <p14:sldId id="1073"/>
            <p14:sldId id="498"/>
            <p14:sldId id="499"/>
            <p14:sldId id="522"/>
            <p14:sldId id="523"/>
            <p14:sldId id="360"/>
            <p14:sldId id="501"/>
            <p14:sldId id="1071"/>
            <p14:sldId id="268"/>
            <p14:sldId id="1074"/>
            <p14:sldId id="1075"/>
            <p14:sldId id="1076"/>
            <p14:sldId id="1077"/>
            <p14:sldId id="1078"/>
            <p14:sldId id="1079"/>
            <p14:sldId id="1080"/>
            <p14:sldId id="1081"/>
            <p14:sldId id="1082"/>
            <p14:sldId id="1083"/>
            <p14:sldId id="1084"/>
            <p14:sldId id="1085"/>
            <p14:sldId id="1086"/>
            <p14:sldId id="1087"/>
            <p14:sldId id="1088"/>
            <p14:sldId id="1089"/>
            <p14:sldId id="1090"/>
            <p14:sldId id="1091"/>
            <p14:sldId id="1092"/>
            <p14:sldId id="1093"/>
            <p14:sldId id="1094"/>
            <p14:sldId id="1095"/>
            <p14:sldId id="1096"/>
            <p14:sldId id="1097"/>
            <p14:sldId id="1098"/>
            <p14:sldId id="1099"/>
            <p14:sldId id="1100"/>
            <p14:sldId id="1101"/>
            <p14:sldId id="1102"/>
            <p14:sldId id="1103"/>
            <p14:sldId id="1104"/>
            <p14:sldId id="1105"/>
            <p14:sldId id="1106"/>
            <p14:sldId id="1107"/>
            <p14:sldId id="1108"/>
            <p14:sldId id="1109"/>
            <p14:sldId id="1110"/>
            <p14:sldId id="1111"/>
            <p14:sldId id="1112"/>
            <p14:sldId id="1113"/>
            <p14:sldId id="1114"/>
            <p14:sldId id="1144"/>
            <p14:sldId id="1145"/>
            <p14:sldId id="1146"/>
            <p14:sldId id="1147"/>
            <p14:sldId id="1148"/>
            <p14:sldId id="1149"/>
            <p14:sldId id="1150"/>
            <p14:sldId id="1151"/>
            <p14:sldId id="1152"/>
            <p14:sldId id="1153"/>
            <p14:sldId id="1154"/>
            <p14:sldId id="1155"/>
            <p14:sldId id="1126"/>
            <p14:sldId id="1127"/>
            <p14:sldId id="1128"/>
            <p14:sldId id="1129"/>
            <p14:sldId id="1130"/>
            <p14:sldId id="1131"/>
            <p14:sldId id="1132"/>
            <p14:sldId id="1133"/>
            <p14:sldId id="1134"/>
            <p14:sldId id="1135"/>
            <p14:sldId id="1158"/>
            <p14:sldId id="1136"/>
            <p14:sldId id="1137"/>
            <p14:sldId id="1138"/>
            <p14:sldId id="1156"/>
            <p14:sldId id="1157"/>
            <p14:sldId id="1159"/>
            <p14:sldId id="1160"/>
            <p14:sldId id="1139"/>
            <p14:sldId id="1140"/>
            <p14:sldId id="1161"/>
            <p14:sldId id="1141"/>
            <p14:sldId id="1142"/>
            <p14:sldId id="1143"/>
            <p14:sldId id="1162"/>
            <p14:sldId id="1163"/>
            <p14:sldId id="351"/>
          </p14:sldIdLst>
        </p14:section>
      </p14:sectionLst>
    </p:ext>
    <p:ext uri="{EFAFB233-063F-42B5-8137-9DF3F51BA10A}">
      <p15:sldGuideLst xmlns:p15="http://schemas.microsoft.com/office/powerpoint/2012/main">
        <p15:guide id="1" orient="horz" pos="2160" userDrawn="1">
          <p15:clr>
            <a:srgbClr val="A4A3A4"/>
          </p15:clr>
        </p15:guide>
        <p15:guide id="2" pos="290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8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ADA"/>
    <a:srgbClr val="FFB3B3"/>
    <a:srgbClr val="D0B3B3"/>
    <a:srgbClr val="FF7171"/>
    <a:srgbClr val="7BE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423" autoAdjust="0"/>
  </p:normalViewPr>
  <p:slideViewPr>
    <p:cSldViewPr>
      <p:cViewPr varScale="1">
        <p:scale>
          <a:sx n="108" d="100"/>
          <a:sy n="108" d="100"/>
        </p:scale>
        <p:origin x="1932" y="102"/>
      </p:cViewPr>
      <p:guideLst>
        <p:guide orient="horz" pos="2160"/>
        <p:guide pos="290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5" d="100"/>
          <a:sy n="55" d="100"/>
        </p:scale>
        <p:origin x="-2886" y="-102"/>
      </p:cViewPr>
      <p:guideLst>
        <p:guide orient="horz" pos="2880"/>
        <p:guide pos="218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tableStyles" Target="tableStyles.xml"/><Relationship Id="rId16" Type="http://schemas.openxmlformats.org/officeDocument/2006/relationships/slide" Target="slides/slide13.xml"/><Relationship Id="rId107" Type="http://schemas.openxmlformats.org/officeDocument/2006/relationships/notesMaster" Target="notesMasters/notesMaster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handoutMaster" Target="handoutMasters/handoutMaster1.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presProps" Target="pres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3/16/2026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24T08:42:46.52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13,'16'0,"-2"0,-14-13</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24T08:47:22.47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0,'0'15,"0"1,0-1,0-1,0 2</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24T08:42:54.45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24T08:47:20.46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45 0,'-15'0,"0"0,0 0</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55.81395" units="1/cm"/>
          <inkml:channelProperty channel="Y" name="resolution" value="55.95855" units="1/cm"/>
        </inkml:channelProperties>
      </inkml:inkSource>
      <inkml:timestamp xml:id="ts0" timeString="2021-05-24T08:51:39.91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3/16/2026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1964866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a:p>
        </p:txBody>
      </p:sp>
    </p:spTree>
    <p:extLst>
      <p:ext uri="{BB962C8B-B14F-4D97-AF65-F5344CB8AC3E}">
        <p14:creationId xmlns:p14="http://schemas.microsoft.com/office/powerpoint/2010/main" val="26376386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30</a:t>
            </a:fld>
            <a:endParaRPr lang="en-US"/>
          </a:p>
        </p:txBody>
      </p:sp>
    </p:spTree>
    <p:extLst>
      <p:ext uri="{BB962C8B-B14F-4D97-AF65-F5344CB8AC3E}">
        <p14:creationId xmlns:p14="http://schemas.microsoft.com/office/powerpoint/2010/main" val="612974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34</a:t>
            </a:fld>
            <a:endParaRPr lang="en-US"/>
          </a:p>
        </p:txBody>
      </p:sp>
    </p:spTree>
    <p:extLst>
      <p:ext uri="{BB962C8B-B14F-4D97-AF65-F5344CB8AC3E}">
        <p14:creationId xmlns:p14="http://schemas.microsoft.com/office/powerpoint/2010/main" val="14055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35</a:t>
            </a:fld>
            <a:endParaRPr lang="en-US"/>
          </a:p>
        </p:txBody>
      </p:sp>
    </p:spTree>
    <p:extLst>
      <p:ext uri="{BB962C8B-B14F-4D97-AF65-F5344CB8AC3E}">
        <p14:creationId xmlns:p14="http://schemas.microsoft.com/office/powerpoint/2010/main" val="1482071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2733629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5979733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2093291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84B391-0F7C-4F48-9697-A4C8A05DB13C}" type="slidenum">
              <a:rPr lang="en-US"/>
              <a:pPr/>
              <a:t>39</a:t>
            </a:fld>
            <a:endParaRPr lang="en-US"/>
          </a:p>
        </p:txBody>
      </p:sp>
      <p:sp>
        <p:nvSpPr>
          <p:cNvPr id="24578" name="Rectangle 2"/>
          <p:cNvSpPr>
            <a:spLocks noGrp="1" noRot="1" noChangeAspect="1" noChangeArrowheads="1" noTextEdit="1"/>
          </p:cNvSpPr>
          <p:nvPr>
            <p:ph type="sldImg"/>
          </p:nvPr>
        </p:nvSpPr>
        <p:spPr>
          <a:xfrm>
            <a:off x="1143000" y="685800"/>
            <a:ext cx="4572000" cy="3429000"/>
          </a:xfrm>
          <a:ln/>
        </p:spPr>
      </p:sp>
      <p:sp>
        <p:nvSpPr>
          <p:cNvPr id="245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89842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AA2632-C92E-4761-AF43-EDC5120C63F2}" type="slidenum">
              <a:rPr lang="en-US"/>
              <a:pPr/>
              <a:t>40</a:t>
            </a:fld>
            <a:endParaRPr lang="en-US"/>
          </a:p>
        </p:txBody>
      </p:sp>
      <p:sp>
        <p:nvSpPr>
          <p:cNvPr id="26626" name="Rectangle 2"/>
          <p:cNvSpPr>
            <a:spLocks noGrp="1" noRot="1" noChangeAspect="1" noChangeArrowheads="1" noTextEdit="1"/>
          </p:cNvSpPr>
          <p:nvPr>
            <p:ph type="sldImg"/>
          </p:nvPr>
        </p:nvSpPr>
        <p:spPr>
          <a:xfrm>
            <a:off x="1143000" y="685800"/>
            <a:ext cx="4572000" cy="3429000"/>
          </a:xfrm>
          <a:ln/>
        </p:spPr>
      </p:sp>
      <p:sp>
        <p:nvSpPr>
          <p:cNvPr id="26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32280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D5322B-EA60-4552-B8C3-109B58E1945A}" type="slidenum">
              <a:rPr lang="en-US"/>
              <a:pPr/>
              <a:t>41</a:t>
            </a:fld>
            <a:endParaRPr lang="en-US"/>
          </a:p>
        </p:txBody>
      </p:sp>
      <p:sp>
        <p:nvSpPr>
          <p:cNvPr id="28674" name="Rectangle 2"/>
          <p:cNvSpPr>
            <a:spLocks noGrp="1" noRot="1" noChangeAspect="1" noChangeArrowheads="1" noTextEdit="1"/>
          </p:cNvSpPr>
          <p:nvPr>
            <p:ph type="sldImg"/>
          </p:nvPr>
        </p:nvSpPr>
        <p:spPr>
          <a:xfrm>
            <a:off x="1143000" y="685800"/>
            <a:ext cx="4572000" cy="3429000"/>
          </a:xfrm>
          <a:ln/>
        </p:spPr>
      </p:sp>
      <p:sp>
        <p:nvSpPr>
          <p:cNvPr id="28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304150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C11A41-0B02-42E1-A033-403C89C83234}" type="slidenum">
              <a:rPr lang="en-US"/>
              <a:pPr/>
              <a:t>42</a:t>
            </a:fld>
            <a:endParaRPr lang="en-US"/>
          </a:p>
        </p:txBody>
      </p:sp>
      <p:sp>
        <p:nvSpPr>
          <p:cNvPr id="30722" name="Rectangle 2"/>
          <p:cNvSpPr>
            <a:spLocks noGrp="1" noRot="1" noChangeAspect="1" noChangeArrowheads="1" noTextEdit="1"/>
          </p:cNvSpPr>
          <p:nvPr>
            <p:ph type="sldImg"/>
          </p:nvPr>
        </p:nvSpPr>
        <p:spPr>
          <a:xfrm>
            <a:off x="1143000" y="685800"/>
            <a:ext cx="4572000" cy="3429000"/>
          </a:xfrm>
          <a:ln/>
        </p:spPr>
      </p:sp>
      <p:sp>
        <p:nvSpPr>
          <p:cNvPr id="307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16247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C25342D-64CD-44A2-A824-F211D91567C7}" type="slidenum">
              <a:rPr lang="en-US"/>
              <a:pPr/>
              <a:t>43</a:t>
            </a:fld>
            <a:endParaRPr lang="en-US"/>
          </a:p>
        </p:txBody>
      </p:sp>
      <p:sp>
        <p:nvSpPr>
          <p:cNvPr id="32770" name="Rectangle 2"/>
          <p:cNvSpPr>
            <a:spLocks noGrp="1" noRot="1" noChangeAspect="1" noChangeArrowheads="1" noTextEdit="1"/>
          </p:cNvSpPr>
          <p:nvPr>
            <p:ph type="sldImg"/>
          </p:nvPr>
        </p:nvSpPr>
        <p:spPr>
          <a:xfrm>
            <a:off x="1143000" y="685800"/>
            <a:ext cx="4572000" cy="3429000"/>
          </a:xfrm>
          <a:ln/>
        </p:spPr>
      </p:sp>
      <p:sp>
        <p:nvSpPr>
          <p:cNvPr id="32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83986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D1DB42-41B9-43B9-A2E8-E198371E4EBB}" type="slidenum">
              <a:rPr lang="en-US"/>
              <a:pPr/>
              <a:t>44</a:t>
            </a:fld>
            <a:endParaRPr lang="en-US"/>
          </a:p>
        </p:txBody>
      </p:sp>
      <p:sp>
        <p:nvSpPr>
          <p:cNvPr id="34818" name="Rectangle 2"/>
          <p:cNvSpPr>
            <a:spLocks noGrp="1" noRot="1" noChangeAspect="1" noChangeArrowheads="1" noTextEdit="1"/>
          </p:cNvSpPr>
          <p:nvPr>
            <p:ph type="sldImg"/>
          </p:nvPr>
        </p:nvSpPr>
        <p:spPr>
          <a:xfrm>
            <a:off x="1143000" y="685800"/>
            <a:ext cx="4572000" cy="3429000"/>
          </a:xfrm>
          <a:ln/>
        </p:spPr>
      </p:sp>
      <p:sp>
        <p:nvSpPr>
          <p:cNvPr id="348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76918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A26DBA-433D-4153-B3BB-56B5B5121887}" type="slidenum">
              <a:rPr lang="en-US"/>
              <a:pPr/>
              <a:t>45</a:t>
            </a:fld>
            <a:endParaRPr lang="en-US"/>
          </a:p>
        </p:txBody>
      </p:sp>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463590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A26DBA-433D-4153-B3BB-56B5B5121887}" type="slidenum">
              <a:rPr lang="en-US"/>
              <a:pPr/>
              <a:t>46</a:t>
            </a:fld>
            <a:endParaRPr lang="en-US"/>
          </a:p>
        </p:txBody>
      </p:sp>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533934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A26DBA-433D-4153-B3BB-56B5B5121887}" type="slidenum">
              <a:rPr lang="en-US"/>
              <a:pPr/>
              <a:t>47</a:t>
            </a:fld>
            <a:endParaRPr lang="en-US"/>
          </a:p>
        </p:txBody>
      </p:sp>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7504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A26DBA-433D-4153-B3BB-56B5B5121887}" type="slidenum">
              <a:rPr lang="en-US"/>
              <a:pPr/>
              <a:t>48</a:t>
            </a:fld>
            <a:endParaRPr lang="en-US"/>
          </a:p>
        </p:txBody>
      </p:sp>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84617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A26DBA-433D-4153-B3BB-56B5B5121887}" type="slidenum">
              <a:rPr lang="en-US"/>
              <a:pPr/>
              <a:t>49</a:t>
            </a:fld>
            <a:endParaRPr lang="en-US"/>
          </a:p>
        </p:txBody>
      </p:sp>
      <p:sp>
        <p:nvSpPr>
          <p:cNvPr id="50178" name="Rectangle 2"/>
          <p:cNvSpPr>
            <a:spLocks noGrp="1" noRot="1" noChangeAspect="1" noChangeArrowheads="1" noTextEdit="1"/>
          </p:cNvSpPr>
          <p:nvPr>
            <p:ph type="sldImg"/>
          </p:nvPr>
        </p:nvSpPr>
        <p:spPr>
          <a:xfrm>
            <a:off x="1143000" y="685800"/>
            <a:ext cx="4572000" cy="3429000"/>
          </a:xfrm>
          <a:ln/>
        </p:spPr>
      </p:sp>
      <p:sp>
        <p:nvSpPr>
          <p:cNvPr id="50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835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11" name="Date Placeholder 10">
            <a:extLst>
              <a:ext uri="{FF2B5EF4-FFF2-40B4-BE49-F238E27FC236}">
                <a16:creationId xmlns:a16="http://schemas.microsoft.com/office/drawing/2014/main" id="{2DEAA88F-C39B-BD9E-5B3D-79CCE070D677}"/>
              </a:ext>
            </a:extLst>
          </p:cNvPr>
          <p:cNvSpPr>
            <a:spLocks noGrp="1"/>
          </p:cNvSpPr>
          <p:nvPr>
            <p:ph type="dt" sz="half" idx="10"/>
          </p:nvPr>
        </p:nvSpPr>
        <p:spPr/>
        <p:txBody>
          <a:bodyPr/>
          <a:lstStyle/>
          <a:p>
            <a:fld id="{E8DF20E9-945F-4848-90B7-0549F4FDE6B5}" type="datetime1">
              <a:rPr lang="en-US" smtClean="0"/>
              <a:t>3/16/2026</a:t>
            </a:fld>
            <a:endParaRPr lang="en-US"/>
          </a:p>
        </p:txBody>
      </p:sp>
      <p:sp>
        <p:nvSpPr>
          <p:cNvPr id="12" name="Footer Placeholder 11">
            <a:extLst>
              <a:ext uri="{FF2B5EF4-FFF2-40B4-BE49-F238E27FC236}">
                <a16:creationId xmlns:a16="http://schemas.microsoft.com/office/drawing/2014/main" id="{62D2E190-CBC2-7E84-6EA2-4FB009CE5325}"/>
              </a:ext>
            </a:extLst>
          </p:cNvPr>
          <p:cNvSpPr>
            <a:spLocks noGrp="1"/>
          </p:cNvSpPr>
          <p:nvPr>
            <p:ph type="ftr" sz="quarter" idx="11"/>
          </p:nvPr>
        </p:nvSpPr>
        <p:spPr/>
        <p:txBody>
          <a:bodyPr/>
          <a:lstStyle/>
          <a:p>
            <a:r>
              <a:rPr lang="en-US" smtClean="0"/>
              <a:t>Vivek Kumar Sharma          BCSE0404X (TOC)                  Unit I</a:t>
            </a:r>
            <a:endParaRPr lang="en-US" dirty="0"/>
          </a:p>
        </p:txBody>
      </p:sp>
      <p:sp>
        <p:nvSpPr>
          <p:cNvPr id="13" name="Slide Number Placeholder 12">
            <a:extLst>
              <a:ext uri="{FF2B5EF4-FFF2-40B4-BE49-F238E27FC236}">
                <a16:creationId xmlns:a16="http://schemas.microsoft.com/office/drawing/2014/main" id="{7BD0154D-9C15-23EF-0409-16684BB085DC}"/>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35629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AD9BF5-4378-4F37-8A13-06A464C8F3F4}"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86010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5D9DF6-273A-4BB4-AB07-3BB225FF2D76}"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7572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620DC9-AE69-4011-B097-8D03878E54B0}"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77287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D86A18A-065F-43FF-821F-0772BE4FC1A3}" type="datetime1">
              <a:rPr lang="en-US" smtClean="0"/>
              <a:t>3/16/2026</a:t>
            </a:fld>
            <a:endParaRPr lang="en-US"/>
          </a:p>
        </p:txBody>
      </p:sp>
      <p:sp>
        <p:nvSpPr>
          <p:cNvPr id="8" name="Footer Placeholder 7"/>
          <p:cNvSpPr>
            <a:spLocks noGrp="1"/>
          </p:cNvSpPr>
          <p:nvPr>
            <p:ph type="ftr" sz="quarter" idx="11"/>
          </p:nvPr>
        </p:nvSpPr>
        <p:spPr/>
        <p:txBody>
          <a:bodyPr/>
          <a:lstStyle/>
          <a:p>
            <a:r>
              <a:rPr lang="en-US" smtClean="0"/>
              <a:t>Vivek Kumar Sharma          BCSE0404X (TOC)                  Unit 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black and red logo&#10;&#10;Description automatically generated">
            <a:extLst>
              <a:ext uri="{FF2B5EF4-FFF2-40B4-BE49-F238E27FC236}">
                <a16:creationId xmlns:a16="http://schemas.microsoft.com/office/drawing/2014/main" id="{37A6C823-F3B0-942C-9DBE-BEB0B769A6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371521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9F7400B-496A-46E1-A2B4-2C9D9828E8BA}" type="datetime1">
              <a:rPr lang="en-US" smtClean="0"/>
              <a:t>3/16/2026</a:t>
            </a:fld>
            <a:endParaRPr lang="en-US"/>
          </a:p>
        </p:txBody>
      </p:sp>
      <p:sp>
        <p:nvSpPr>
          <p:cNvPr id="4" name="Footer Placeholder 3"/>
          <p:cNvSpPr>
            <a:spLocks noGrp="1"/>
          </p:cNvSpPr>
          <p:nvPr>
            <p:ph type="ftr" sz="quarter" idx="11"/>
          </p:nvPr>
        </p:nvSpPr>
        <p:spPr/>
        <p:txBody>
          <a:bodyPr/>
          <a:lstStyle/>
          <a:p>
            <a:r>
              <a:rPr lang="en-US" smtClean="0"/>
              <a:t>Vivek Kumar Sharma          BCSE0404X (TOC)                  Unit 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627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D46336-94E6-4762-83FA-3483E7A5E7BC}" type="datetime1">
              <a:rPr lang="en-US" smtClean="0"/>
              <a:t>3/16/2026</a:t>
            </a:fld>
            <a:endParaRPr lang="en-US"/>
          </a:p>
        </p:txBody>
      </p:sp>
      <p:sp>
        <p:nvSpPr>
          <p:cNvPr id="3" name="Footer Placeholder 2"/>
          <p:cNvSpPr>
            <a:spLocks noGrp="1"/>
          </p:cNvSpPr>
          <p:nvPr>
            <p:ph type="ftr" sz="quarter" idx="11"/>
          </p:nvPr>
        </p:nvSpPr>
        <p:spPr/>
        <p:txBody>
          <a:bodyPr/>
          <a:lstStyle/>
          <a:p>
            <a:r>
              <a:rPr lang="en-US" smtClean="0"/>
              <a:t>Vivek Kumar Sharma          BCSE0404X (TOC)                  Unit 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00108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32BF19F-947A-4C97-B579-C9F000C7A224}"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22474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7BD1AAA-5342-4F43-9374-7E9A2BA3903E}"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261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3EB0B8-7418-4420-8233-64C98A7AE693}"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3626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FF504D0-2DC7-454A-830A-ABADA5C58C59}"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19959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D1EED270-7D27-4A6F-8783-6D2B27902F7E}"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2" name="Picture 1" descr="A black and red logo&#10;&#10;Description automatically generated">
            <a:extLst>
              <a:ext uri="{FF2B5EF4-FFF2-40B4-BE49-F238E27FC236}">
                <a16:creationId xmlns:a16="http://schemas.microsoft.com/office/drawing/2014/main" id="{D24960A3-464D-BED1-C263-F3B66BE21B8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3487061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95288" y="260352"/>
            <a:ext cx="8353425" cy="658813"/>
          </a:xfrm>
        </p:spPr>
        <p:txBody>
          <a:bodyPr/>
          <a:lstStyle/>
          <a:p>
            <a:r>
              <a:rPr lang="en-US"/>
              <a:t>Click to edit Master title style</a:t>
            </a:r>
          </a:p>
        </p:txBody>
      </p:sp>
      <p:sp>
        <p:nvSpPr>
          <p:cNvPr id="3" name="Table Placeholder 2"/>
          <p:cNvSpPr>
            <a:spLocks noGrp="1"/>
          </p:cNvSpPr>
          <p:nvPr>
            <p:ph type="tbl" idx="1"/>
          </p:nvPr>
        </p:nvSpPr>
        <p:spPr>
          <a:xfrm>
            <a:off x="395288" y="1268415"/>
            <a:ext cx="8353425" cy="5113337"/>
          </a:xfrm>
        </p:spPr>
        <p:txBody>
          <a:bodyPr/>
          <a:lstStyle/>
          <a:p>
            <a:endParaRPr lang="en-US"/>
          </a:p>
        </p:txBody>
      </p:sp>
      <p:pic>
        <p:nvPicPr>
          <p:cNvPr id="4" name="Picture 3" descr="A black and red logo&#10;&#10;Description automatically generated">
            <a:extLst>
              <a:ext uri="{FF2B5EF4-FFF2-40B4-BE49-F238E27FC236}">
                <a16:creationId xmlns:a16="http://schemas.microsoft.com/office/drawing/2014/main" id="{E78580D8-657C-F487-A6CD-8C7BF9D073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25201108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13AB-FC3B-257D-E070-9CF69C24F0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4FCAAA-A216-E6AC-6AE9-09AFE0B4B055}"/>
              </a:ext>
            </a:extLst>
          </p:cNvPr>
          <p:cNvSpPr>
            <a:spLocks noGrp="1"/>
          </p:cNvSpPr>
          <p:nvPr>
            <p:ph type="dt" sz="half" idx="10"/>
          </p:nvPr>
        </p:nvSpPr>
        <p:spPr/>
        <p:txBody>
          <a:bodyPr/>
          <a:lstStyle/>
          <a:p>
            <a:fld id="{FD74FE23-A7CA-4595-A934-76B4E0F3EFEF}" type="datetime1">
              <a:rPr lang="en-US" smtClean="0"/>
              <a:t>3/16/2026</a:t>
            </a:fld>
            <a:endParaRPr lang="en-US"/>
          </a:p>
        </p:txBody>
      </p:sp>
      <p:sp>
        <p:nvSpPr>
          <p:cNvPr id="4" name="Footer Placeholder 3">
            <a:extLst>
              <a:ext uri="{FF2B5EF4-FFF2-40B4-BE49-F238E27FC236}">
                <a16:creationId xmlns:a16="http://schemas.microsoft.com/office/drawing/2014/main" id="{5BF362AC-7117-300B-5C3D-40C87D321303}"/>
              </a:ext>
            </a:extLst>
          </p:cNvPr>
          <p:cNvSpPr>
            <a:spLocks noGrp="1"/>
          </p:cNvSpPr>
          <p:nvPr>
            <p:ph type="ftr" sz="quarter" idx="11"/>
          </p:nvPr>
        </p:nvSpPr>
        <p:spPr/>
        <p:txBody>
          <a:bodyPr/>
          <a:lstStyle/>
          <a:p>
            <a:r>
              <a:rPr lang="en-US" smtClean="0"/>
              <a:t>Vivek Kumar Sharma          BCSE0404X (TOC)                  Unit I</a:t>
            </a:r>
            <a:endParaRPr lang="en-US" dirty="0"/>
          </a:p>
        </p:txBody>
      </p:sp>
      <p:sp>
        <p:nvSpPr>
          <p:cNvPr id="5" name="Slide Number Placeholder 4">
            <a:extLst>
              <a:ext uri="{FF2B5EF4-FFF2-40B4-BE49-F238E27FC236}">
                <a16:creationId xmlns:a16="http://schemas.microsoft.com/office/drawing/2014/main" id="{32DC4262-FB69-3536-BF68-8BAD3005AA3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8749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3A59DE1-9D3B-4931-A5C9-0DB09BBB3C5E}"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3" name="Picture 2" descr="A black and red logo&#10;&#10;Description automatically generated">
            <a:extLst>
              <a:ext uri="{FF2B5EF4-FFF2-40B4-BE49-F238E27FC236}">
                <a16:creationId xmlns:a16="http://schemas.microsoft.com/office/drawing/2014/main" id="{225AAC0A-DCBE-A164-FCCD-F60CDD9A0D6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210548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C13AB-FC3B-257D-E070-9CF69C24F0E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D4FCAAA-A216-E6AC-6AE9-09AFE0B4B055}"/>
              </a:ext>
            </a:extLst>
          </p:cNvPr>
          <p:cNvSpPr>
            <a:spLocks noGrp="1"/>
          </p:cNvSpPr>
          <p:nvPr>
            <p:ph type="dt" sz="half" idx="10"/>
          </p:nvPr>
        </p:nvSpPr>
        <p:spPr/>
        <p:txBody>
          <a:bodyPr/>
          <a:lstStyle/>
          <a:p>
            <a:fld id="{E060D77B-F193-4BF5-8DF9-4C8522F8230D}" type="datetime1">
              <a:rPr lang="en-US" smtClean="0"/>
              <a:t>3/16/2026</a:t>
            </a:fld>
            <a:endParaRPr lang="en-US"/>
          </a:p>
        </p:txBody>
      </p:sp>
      <p:sp>
        <p:nvSpPr>
          <p:cNvPr id="4" name="Footer Placeholder 3">
            <a:extLst>
              <a:ext uri="{FF2B5EF4-FFF2-40B4-BE49-F238E27FC236}">
                <a16:creationId xmlns:a16="http://schemas.microsoft.com/office/drawing/2014/main" id="{5BF362AC-7117-300B-5C3D-40C87D321303}"/>
              </a:ext>
            </a:extLst>
          </p:cNvPr>
          <p:cNvSpPr>
            <a:spLocks noGrp="1"/>
          </p:cNvSpPr>
          <p:nvPr>
            <p:ph type="ftr" sz="quarter" idx="11"/>
          </p:nvPr>
        </p:nvSpPr>
        <p:spPr/>
        <p:txBody>
          <a:bodyPr/>
          <a:lstStyle/>
          <a:p>
            <a:r>
              <a:rPr lang="en-US" smtClean="0"/>
              <a:t>Vivek Kumar Sharma          BCSE0404X (TOC)                  Unit I</a:t>
            </a:r>
            <a:endParaRPr lang="en-US" dirty="0"/>
          </a:p>
        </p:txBody>
      </p:sp>
      <p:sp>
        <p:nvSpPr>
          <p:cNvPr id="5" name="Slide Number Placeholder 4">
            <a:extLst>
              <a:ext uri="{FF2B5EF4-FFF2-40B4-BE49-F238E27FC236}">
                <a16:creationId xmlns:a16="http://schemas.microsoft.com/office/drawing/2014/main" id="{32DC4262-FB69-3536-BF68-8BAD3005AA3E}"/>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3402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7C1554A0-AB17-4292-99B8-17AFE780CB34}"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2" name="Picture 1" descr="A black and red logo&#10;&#10;Description automatically generated">
            <a:extLst>
              <a:ext uri="{FF2B5EF4-FFF2-40B4-BE49-F238E27FC236}">
                <a16:creationId xmlns:a16="http://schemas.microsoft.com/office/drawing/2014/main" id="{5CAAABCB-DA54-1055-1650-BACBA6B2FAF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18499718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6200" y="-76200"/>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54523E0-B7BB-4C73-A198-A971CB30F4F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152400" y="76200"/>
            <a:ext cx="1295400" cy="1066800"/>
          </a:xfrm>
        </p:spPr>
        <p:txBody>
          <a:bodyPr/>
          <a:lstStyle/>
          <a:p>
            <a:endParaRPr lang="en-IN"/>
          </a:p>
        </p:txBody>
      </p:sp>
      <p:pic>
        <p:nvPicPr>
          <p:cNvPr id="9" name="Picture 8" descr="A black and red logo&#10;&#10;Description automatically generated">
            <a:extLst>
              <a:ext uri="{FF2B5EF4-FFF2-40B4-BE49-F238E27FC236}">
                <a16:creationId xmlns:a16="http://schemas.microsoft.com/office/drawing/2014/main" id="{B4601713-430A-65BA-6A56-8FE2C07EBC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452716" cy="1184366"/>
          </a:xfrm>
          <a:prstGeom prst="rect">
            <a:avLst/>
          </a:prstGeom>
        </p:spPr>
      </p:pic>
    </p:spTree>
    <p:extLst>
      <p:ext uri="{BB962C8B-B14F-4D97-AF65-F5344CB8AC3E}">
        <p14:creationId xmlns:p14="http://schemas.microsoft.com/office/powerpoint/2010/main" val="29689174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4DA1FA7-164A-44E8-9AD2-7DDB2FA891A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8303"/>
            <a:ext cx="1459377" cy="1095104"/>
          </a:xfrm>
          <a:prstGeom prst="rect">
            <a:avLst/>
          </a:prstGeom>
        </p:spPr>
      </p:pic>
    </p:spTree>
    <p:extLst>
      <p:ext uri="{BB962C8B-B14F-4D97-AF65-F5344CB8AC3E}">
        <p14:creationId xmlns:p14="http://schemas.microsoft.com/office/powerpoint/2010/main" val="224669877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44CD0-78A0-4E3A-B2A7-B6FC9CF4799A}"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35173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D1ACC9-170E-4A16-ACF3-28076C4CEDEE}"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8824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A743C8-21A4-4D27-B1EF-7B1D38252EB9}" type="datetime1">
              <a:rPr lang="en-US" smtClean="0"/>
              <a:t>3/16/2026</a:t>
            </a:fld>
            <a:endParaRPr lang="en-US"/>
          </a:p>
        </p:txBody>
      </p:sp>
      <p:sp>
        <p:nvSpPr>
          <p:cNvPr id="8" name="Footer Placeholder 7"/>
          <p:cNvSpPr>
            <a:spLocks noGrp="1"/>
          </p:cNvSpPr>
          <p:nvPr>
            <p:ph type="ftr" sz="quarter" idx="11"/>
          </p:nvPr>
        </p:nvSpPr>
        <p:spPr/>
        <p:txBody>
          <a:bodyPr/>
          <a:lstStyle/>
          <a:p>
            <a:r>
              <a:rPr lang="en-US" smtClean="0"/>
              <a:t>Vivek Kumar Sharma          BCSE0404X (TOC)                  Unit 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black and red logo&#10;&#10;Description automatically generated">
            <a:extLst>
              <a:ext uri="{FF2B5EF4-FFF2-40B4-BE49-F238E27FC236}">
                <a16:creationId xmlns:a16="http://schemas.microsoft.com/office/drawing/2014/main" id="{82D5F2A8-8E1B-D6BC-C273-927604F7E9E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6127962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6727C5-57BF-4291-9A83-A4C5E65B52DC}" type="datetime1">
              <a:rPr lang="en-US" smtClean="0"/>
              <a:t>3/16/2026</a:t>
            </a:fld>
            <a:endParaRPr lang="en-US"/>
          </a:p>
        </p:txBody>
      </p:sp>
      <p:sp>
        <p:nvSpPr>
          <p:cNvPr id="4" name="Footer Placeholder 3"/>
          <p:cNvSpPr>
            <a:spLocks noGrp="1"/>
          </p:cNvSpPr>
          <p:nvPr>
            <p:ph type="ftr" sz="quarter" idx="11"/>
          </p:nvPr>
        </p:nvSpPr>
        <p:spPr/>
        <p:txBody>
          <a:bodyPr/>
          <a:lstStyle/>
          <a:p>
            <a:r>
              <a:rPr lang="en-US" smtClean="0"/>
              <a:t>Vivek Kumar Sharma          BCSE0404X (TOC)                  Unit 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05362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DE7091-5EAD-49DE-B663-B5DF539249B3}" type="datetime1">
              <a:rPr lang="en-US" smtClean="0"/>
              <a:t>3/16/2026</a:t>
            </a:fld>
            <a:endParaRPr lang="en-US"/>
          </a:p>
        </p:txBody>
      </p:sp>
      <p:sp>
        <p:nvSpPr>
          <p:cNvPr id="3" name="Footer Placeholder 2"/>
          <p:cNvSpPr>
            <a:spLocks noGrp="1"/>
          </p:cNvSpPr>
          <p:nvPr>
            <p:ph type="ftr" sz="quarter" idx="11"/>
          </p:nvPr>
        </p:nvSpPr>
        <p:spPr/>
        <p:txBody>
          <a:bodyPr/>
          <a:lstStyle/>
          <a:p>
            <a:r>
              <a:rPr lang="en-US" smtClean="0"/>
              <a:t>Vivek Kumar Sharma          BCSE0404X (TOC)                  Unit 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205295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A94FE2C-42C4-4A92-8337-E072BACCF883}"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14438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5718287-3716-475B-95E4-D81F522CAEBF}"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822480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367224-4896-4CB3-8F53-006D0E406A51}"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31528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A3DBE2-1818-471F-8BA1-3B222A606043}"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831445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BCF4880-9BD5-460C-A293-9EFAE9C09993}"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BCSE0404X (TOC)                  Unit I</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797712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824684"/>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5488902"/>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7731217"/>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09252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6621680"/>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1801344"/>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398139"/>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4976523"/>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76655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2692283"/>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5491339"/>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7541" y="249551"/>
            <a:ext cx="8229600" cy="1143000"/>
          </a:xfrm>
        </p:spPr>
        <p:txBody>
          <a:bodyPr/>
          <a:lstStyle/>
          <a:p>
            <a:r>
              <a:rPr lang="en-US" dirty="0" smtClean="0"/>
              <a:t>Click to edit Master title style</a:t>
            </a:r>
            <a:endParaRPr lang="en-US" dirty="0"/>
          </a:p>
        </p:txBody>
      </p:sp>
      <p:sp>
        <p:nvSpPr>
          <p:cNvPr id="3" name="Content Placeholder 2"/>
          <p:cNvSpPr>
            <a:spLocks noGrp="1"/>
          </p:cNvSpPr>
          <p:nvPr>
            <p:ph idx="1"/>
          </p:nvPr>
        </p:nvSpPr>
        <p:spPr>
          <a:solidFill>
            <a:schemeClr val="bg1"/>
          </a:solidFill>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EA0D8C2B-549B-4A20-90C7-7BDD9384EC68}"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Picture Placeholder 7"/>
          <p:cNvSpPr>
            <a:spLocks noGrp="1"/>
          </p:cNvSpPr>
          <p:nvPr>
            <p:ph type="pic" sz="quarter" idx="13"/>
          </p:nvPr>
        </p:nvSpPr>
        <p:spPr>
          <a:xfrm>
            <a:off x="457200" y="249238"/>
            <a:ext cx="1371600" cy="969962"/>
          </a:xfrm>
        </p:spPr>
        <p:txBody>
          <a:bodyPr/>
          <a:lstStyle/>
          <a:p>
            <a:endParaRPr lang="en-US"/>
          </a:p>
        </p:txBody>
      </p:sp>
      <p:pic>
        <p:nvPicPr>
          <p:cNvPr id="9" name="Picture 15" descr="A black and red logo&#10;&#10;Description automatically generated"/>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39085" y="5835"/>
            <a:ext cx="1384915" cy="846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5298370"/>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A668BA6-006B-4609-9AE7-8BE55B86164B}" type="datetime1">
              <a:rPr lang="en-US" smtClean="0"/>
              <a:t>3/16/2026</a:t>
            </a:fld>
            <a:endParaRPr lang="en-IN"/>
          </a:p>
        </p:txBody>
      </p:sp>
      <p:sp>
        <p:nvSpPr>
          <p:cNvPr id="5" name="Footer Placeholder 4"/>
          <p:cNvSpPr>
            <a:spLocks noGrp="1"/>
          </p:cNvSpPr>
          <p:nvPr>
            <p:ph type="ftr" sz="quarter" idx="11"/>
          </p:nvPr>
        </p:nvSpPr>
        <p:spPr/>
        <p:txBody>
          <a:bodyPr/>
          <a:lstStyle/>
          <a:p>
            <a:r>
              <a:rPr lang="en-US" smtClean="0"/>
              <a:t>Vivek Kumar Sharma          BCSE0404X (TOC)                  Unit I</a:t>
            </a:r>
            <a:endParaRPr lang="en-IN"/>
          </a:p>
        </p:txBody>
      </p:sp>
      <p:sp>
        <p:nvSpPr>
          <p:cNvPr id="6" name="Slide Number Placeholder 5"/>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37800776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62CF690-17C6-4532-8CFB-586A9AB28C5D}" type="datetime1">
              <a:rPr lang="en-US" smtClean="0"/>
              <a:t>3/16/2026</a:t>
            </a:fld>
            <a:endParaRPr lang="en-IN"/>
          </a:p>
        </p:txBody>
      </p:sp>
      <p:sp>
        <p:nvSpPr>
          <p:cNvPr id="5" name="Footer Placeholder 4"/>
          <p:cNvSpPr>
            <a:spLocks noGrp="1"/>
          </p:cNvSpPr>
          <p:nvPr>
            <p:ph type="ftr" sz="quarter" idx="11"/>
          </p:nvPr>
        </p:nvSpPr>
        <p:spPr/>
        <p:txBody>
          <a:bodyPr/>
          <a:lstStyle/>
          <a:p>
            <a:r>
              <a:rPr lang="en-US" smtClean="0"/>
              <a:t>Vivek Kumar Sharma          BCSE0404X (TOC)                  Unit I</a:t>
            </a:r>
            <a:endParaRPr lang="en-IN"/>
          </a:p>
        </p:txBody>
      </p:sp>
      <p:sp>
        <p:nvSpPr>
          <p:cNvPr id="6" name="Slide Number Placeholder 5"/>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13770514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00ACBED-66F4-491E-80D1-A3B2E843C5FA}" type="datetime1">
              <a:rPr lang="en-US" smtClean="0"/>
              <a:t>3/16/2026</a:t>
            </a:fld>
            <a:endParaRPr lang="en-IN"/>
          </a:p>
        </p:txBody>
      </p:sp>
      <p:sp>
        <p:nvSpPr>
          <p:cNvPr id="5" name="Footer Placeholder 4"/>
          <p:cNvSpPr>
            <a:spLocks noGrp="1"/>
          </p:cNvSpPr>
          <p:nvPr>
            <p:ph type="ftr" sz="quarter" idx="11"/>
          </p:nvPr>
        </p:nvSpPr>
        <p:spPr/>
        <p:txBody>
          <a:bodyPr/>
          <a:lstStyle/>
          <a:p>
            <a:r>
              <a:rPr lang="en-US" smtClean="0"/>
              <a:t>Vivek Kumar Sharma          BCSE0404X (TOC)                  Unit I</a:t>
            </a:r>
            <a:endParaRPr lang="en-IN"/>
          </a:p>
        </p:txBody>
      </p:sp>
      <p:sp>
        <p:nvSpPr>
          <p:cNvPr id="6" name="Slide Number Placeholder 5"/>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17404763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47FD9BB-F024-47B8-A15F-3C3B63D42AC2}" type="datetime1">
              <a:rPr lang="en-US" smtClean="0"/>
              <a:t>3/16/2026</a:t>
            </a:fld>
            <a:endParaRPr lang="en-IN"/>
          </a:p>
        </p:txBody>
      </p:sp>
      <p:sp>
        <p:nvSpPr>
          <p:cNvPr id="6" name="Footer Placeholder 5"/>
          <p:cNvSpPr>
            <a:spLocks noGrp="1"/>
          </p:cNvSpPr>
          <p:nvPr>
            <p:ph type="ftr" sz="quarter" idx="11"/>
          </p:nvPr>
        </p:nvSpPr>
        <p:spPr/>
        <p:txBody>
          <a:bodyPr/>
          <a:lstStyle/>
          <a:p>
            <a:r>
              <a:rPr lang="en-US" smtClean="0"/>
              <a:t>Vivek Kumar Sharma          BCSE0404X (TOC)                  Unit I</a:t>
            </a:r>
            <a:endParaRPr lang="en-IN"/>
          </a:p>
        </p:txBody>
      </p:sp>
      <p:sp>
        <p:nvSpPr>
          <p:cNvPr id="7" name="Slide Number Placeholder 6"/>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940684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5980DB5-31EE-4698-8041-0A0868B54B3F}" type="datetime1">
              <a:rPr lang="en-US" smtClean="0"/>
              <a:t>3/16/2026</a:t>
            </a:fld>
            <a:endParaRPr lang="en-IN"/>
          </a:p>
        </p:txBody>
      </p:sp>
      <p:sp>
        <p:nvSpPr>
          <p:cNvPr id="8" name="Footer Placeholder 7"/>
          <p:cNvSpPr>
            <a:spLocks noGrp="1"/>
          </p:cNvSpPr>
          <p:nvPr>
            <p:ph type="ftr" sz="quarter" idx="11"/>
          </p:nvPr>
        </p:nvSpPr>
        <p:spPr/>
        <p:txBody>
          <a:bodyPr/>
          <a:lstStyle/>
          <a:p>
            <a:r>
              <a:rPr lang="en-US" smtClean="0"/>
              <a:t>Vivek Kumar Sharma          BCSE0404X (TOC)                  Unit I</a:t>
            </a:r>
            <a:endParaRPr lang="en-IN"/>
          </a:p>
        </p:txBody>
      </p:sp>
      <p:sp>
        <p:nvSpPr>
          <p:cNvPr id="9" name="Slide Number Placeholder 8"/>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33613995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D130ABCF-B963-4118-B039-CEF0572FE59E}" type="datetime1">
              <a:rPr lang="en-US" smtClean="0"/>
              <a:t>3/16/2026</a:t>
            </a:fld>
            <a:endParaRPr lang="en-IN"/>
          </a:p>
        </p:txBody>
      </p:sp>
      <p:sp>
        <p:nvSpPr>
          <p:cNvPr id="4" name="Footer Placeholder 3"/>
          <p:cNvSpPr>
            <a:spLocks noGrp="1"/>
          </p:cNvSpPr>
          <p:nvPr>
            <p:ph type="ftr" sz="quarter" idx="11"/>
          </p:nvPr>
        </p:nvSpPr>
        <p:spPr/>
        <p:txBody>
          <a:bodyPr/>
          <a:lstStyle/>
          <a:p>
            <a:r>
              <a:rPr lang="en-US" smtClean="0"/>
              <a:t>Vivek Kumar Sharma          BCSE0404X (TOC)                  Unit I</a:t>
            </a:r>
            <a:endParaRPr lang="en-IN"/>
          </a:p>
        </p:txBody>
      </p:sp>
      <p:sp>
        <p:nvSpPr>
          <p:cNvPr id="5" name="Slide Number Placeholder 4"/>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134184112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C96976-2875-416F-B673-CEBAD358D14A}" type="datetime1">
              <a:rPr lang="en-US" smtClean="0"/>
              <a:t>3/16/2026</a:t>
            </a:fld>
            <a:endParaRPr lang="en-IN"/>
          </a:p>
        </p:txBody>
      </p:sp>
      <p:sp>
        <p:nvSpPr>
          <p:cNvPr id="3" name="Footer Placeholder 2"/>
          <p:cNvSpPr>
            <a:spLocks noGrp="1"/>
          </p:cNvSpPr>
          <p:nvPr>
            <p:ph type="ftr" sz="quarter" idx="11"/>
          </p:nvPr>
        </p:nvSpPr>
        <p:spPr/>
        <p:txBody>
          <a:bodyPr/>
          <a:lstStyle/>
          <a:p>
            <a:r>
              <a:rPr lang="en-US" smtClean="0"/>
              <a:t>Vivek Kumar Sharma          BCSE0404X (TOC)                  Unit I</a:t>
            </a:r>
            <a:endParaRPr lang="en-IN"/>
          </a:p>
        </p:txBody>
      </p:sp>
      <p:sp>
        <p:nvSpPr>
          <p:cNvPr id="4" name="Slide Number Placeholder 3"/>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39083502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68CB85-847F-414A-A856-0732C6400B74}" type="datetime1">
              <a:rPr lang="en-US" smtClean="0"/>
              <a:t>3/16/2026</a:t>
            </a:fld>
            <a:endParaRPr lang="en-IN"/>
          </a:p>
        </p:txBody>
      </p:sp>
      <p:sp>
        <p:nvSpPr>
          <p:cNvPr id="6" name="Footer Placeholder 5"/>
          <p:cNvSpPr>
            <a:spLocks noGrp="1"/>
          </p:cNvSpPr>
          <p:nvPr>
            <p:ph type="ftr" sz="quarter" idx="11"/>
          </p:nvPr>
        </p:nvSpPr>
        <p:spPr/>
        <p:txBody>
          <a:bodyPr/>
          <a:lstStyle/>
          <a:p>
            <a:r>
              <a:rPr lang="en-US" smtClean="0"/>
              <a:t>Vivek Kumar Sharma          BCSE0404X (TOC)                  Unit I</a:t>
            </a:r>
            <a:endParaRPr lang="en-IN"/>
          </a:p>
        </p:txBody>
      </p:sp>
      <p:sp>
        <p:nvSpPr>
          <p:cNvPr id="7" name="Slide Number Placeholder 6"/>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41169808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094FC12-721D-48DC-92CE-A9C8F08513F3}" type="datetime1">
              <a:rPr lang="en-US" smtClean="0"/>
              <a:t>3/16/2026</a:t>
            </a:fld>
            <a:endParaRPr lang="en-IN"/>
          </a:p>
        </p:txBody>
      </p:sp>
      <p:sp>
        <p:nvSpPr>
          <p:cNvPr id="6" name="Footer Placeholder 5"/>
          <p:cNvSpPr>
            <a:spLocks noGrp="1"/>
          </p:cNvSpPr>
          <p:nvPr>
            <p:ph type="ftr" sz="quarter" idx="11"/>
          </p:nvPr>
        </p:nvSpPr>
        <p:spPr/>
        <p:txBody>
          <a:bodyPr/>
          <a:lstStyle/>
          <a:p>
            <a:r>
              <a:rPr lang="en-US" smtClean="0"/>
              <a:t>Vivek Kumar Sharma          BCSE0404X (TOC)                  Unit I</a:t>
            </a:r>
            <a:endParaRPr lang="en-IN"/>
          </a:p>
        </p:txBody>
      </p:sp>
      <p:sp>
        <p:nvSpPr>
          <p:cNvPr id="7" name="Slide Number Placeholder 6"/>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21207707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09CA0C-5238-4535-B892-D77D5505BFCE}" type="datetime1">
              <a:rPr lang="en-US" smtClean="0"/>
              <a:t>3/16/2026</a:t>
            </a:fld>
            <a:endParaRPr lang="en-IN"/>
          </a:p>
        </p:txBody>
      </p:sp>
      <p:sp>
        <p:nvSpPr>
          <p:cNvPr id="5" name="Footer Placeholder 4"/>
          <p:cNvSpPr>
            <a:spLocks noGrp="1"/>
          </p:cNvSpPr>
          <p:nvPr>
            <p:ph type="ftr" sz="quarter" idx="11"/>
          </p:nvPr>
        </p:nvSpPr>
        <p:spPr/>
        <p:txBody>
          <a:bodyPr/>
          <a:lstStyle/>
          <a:p>
            <a:r>
              <a:rPr lang="en-US" smtClean="0"/>
              <a:t>Vivek Kumar Sharma          BCSE0404X (TOC)                  Unit I</a:t>
            </a:r>
            <a:endParaRPr lang="en-IN"/>
          </a:p>
        </p:txBody>
      </p:sp>
      <p:sp>
        <p:nvSpPr>
          <p:cNvPr id="6" name="Slide Number Placeholder 5"/>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23153063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C53B169-4FFC-4905-9F51-F129FF584BFE}" type="datetime1">
              <a:rPr lang="en-US" smtClean="0"/>
              <a:t>3/16/2026</a:t>
            </a:fld>
            <a:endParaRPr lang="en-IN"/>
          </a:p>
        </p:txBody>
      </p:sp>
      <p:sp>
        <p:nvSpPr>
          <p:cNvPr id="5" name="Footer Placeholder 4"/>
          <p:cNvSpPr>
            <a:spLocks noGrp="1"/>
          </p:cNvSpPr>
          <p:nvPr>
            <p:ph type="ftr" sz="quarter" idx="11"/>
          </p:nvPr>
        </p:nvSpPr>
        <p:spPr/>
        <p:txBody>
          <a:bodyPr/>
          <a:lstStyle/>
          <a:p>
            <a:r>
              <a:rPr lang="en-US" smtClean="0"/>
              <a:t>Vivek Kumar Sharma          BCSE0404X (TOC)                  Unit I</a:t>
            </a:r>
            <a:endParaRPr lang="en-IN"/>
          </a:p>
        </p:txBody>
      </p:sp>
      <p:sp>
        <p:nvSpPr>
          <p:cNvPr id="6" name="Slide Number Placeholder 5"/>
          <p:cNvSpPr>
            <a:spLocks noGrp="1"/>
          </p:cNvSpPr>
          <p:nvPr>
            <p:ph type="sldNum" sz="quarter" idx="12"/>
          </p:nvPr>
        </p:nvSpPr>
        <p:spPr/>
        <p:txBody>
          <a:bodyPr/>
          <a:lstStyle/>
          <a:p>
            <a:fld id="{303A9D48-10C2-49F8-B63C-BFDDC53EE3B5}" type="slidenum">
              <a:rPr lang="en-IN" smtClean="0"/>
              <a:t>‹#›</a:t>
            </a:fld>
            <a:endParaRPr lang="en-IN"/>
          </a:p>
        </p:txBody>
      </p:sp>
    </p:spTree>
    <p:extLst>
      <p:ext uri="{BB962C8B-B14F-4D97-AF65-F5344CB8AC3E}">
        <p14:creationId xmlns:p14="http://schemas.microsoft.com/office/powerpoint/2010/main" val="2685505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image" Target="../media/image2.jpeg"/><Relationship Id="rId3" Type="http://schemas.openxmlformats.org/officeDocument/2006/relationships/slideLayout" Target="../slideLayouts/slideLayout20.xml"/><Relationship Id="rId21" Type="http://schemas.openxmlformats.org/officeDocument/2006/relationships/slideLayout" Target="../slideLayouts/slideLayout38.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theme" Target="../theme/theme2.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A4E597B-FE74-4F94-AE17-54BAFF7EC0CD}" type="datetime1">
              <a:rPr lang="en-US" smtClean="0"/>
              <a:t>3/16/2026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smtClean="0"/>
              <a:t>Vivek Kumar Sharma          BCSE0404X (TOC)                  Unit I</a:t>
            </a:r>
            <a:endParaRPr lang="en-US" dirty="0"/>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615721079"/>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02" r:id="rId15"/>
    <p:sldLayoutId id="2147483704" r:id="rId16"/>
    <p:sldLayoutId id="2147483732" r:id="rId17"/>
  </p:sldLayoutIdLst>
  <p:hf hdr="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C5DEA9A-2D64-4498-BA43-C133070EA2D8}" type="datetime1">
              <a:rPr lang="en-US" smtClean="0"/>
              <a:t>3/16/2026</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smtClean="0"/>
              <a:t>Vivek Kumar Sharma          BCSE0404X (TOC)                  Unit I</a:t>
            </a:r>
            <a:endParaRPr lang="en-US" dirty="0"/>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AE174E8A-0100-CB5B-0936-76DCD1669B77}"/>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0" y="25978"/>
            <a:ext cx="1371600" cy="964622"/>
          </a:xfrm>
          <a:prstGeom prst="rect">
            <a:avLst/>
          </a:prstGeom>
        </p:spPr>
      </p:pic>
    </p:spTree>
    <p:extLst>
      <p:ext uri="{BB962C8B-B14F-4D97-AF65-F5344CB8AC3E}">
        <p14:creationId xmlns:p14="http://schemas.microsoft.com/office/powerpoint/2010/main" val="69363694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 id="2147483767" r:id="rId21"/>
    <p:sldLayoutId id="2147483768" r:id="rId22"/>
    <p:sldLayoutId id="2147483769" r:id="rId23"/>
    <p:sldLayoutId id="2147483770" r:id="rId24"/>
  </p:sldLayoutIdLst>
  <p:hf hdr="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4E5C02-AFFD-4301-A951-E58AB597816A}" type="datetime1">
              <a:rPr lang="en-US" smtClean="0"/>
              <a:t>3/16/2026</a:t>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Vivek Kumar Sharma          BCSE0404X (TOC)                  Unit I</a:t>
            </a:r>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3A9D48-10C2-49F8-B63C-BFDDC53EE3B5}" type="slidenum">
              <a:rPr lang="en-IN" smtClean="0"/>
              <a:t>‹#›</a:t>
            </a:fld>
            <a:endParaRPr lang="en-IN"/>
          </a:p>
        </p:txBody>
      </p:sp>
    </p:spTree>
    <p:extLst>
      <p:ext uri="{BB962C8B-B14F-4D97-AF65-F5344CB8AC3E}">
        <p14:creationId xmlns:p14="http://schemas.microsoft.com/office/powerpoint/2010/main" val="97910993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a5naq0SqybM&amp;list=PL-JvKqQx2AtdhlS7j6jFoEnxmUEEsH9KH&amp;index=2" TargetMode="External"/><Relationship Id="rId2" Type="http://schemas.openxmlformats.org/officeDocument/2006/relationships/hyperlink" Target="https://www.youtube.com/watch?v=6Ida6Rva8tA&amp;list=PL-JvKqQx2AtdhlS7j6jFoEnxmUEEsH9KH" TargetMode="External"/><Relationship Id="rId1" Type="http://schemas.openxmlformats.org/officeDocument/2006/relationships/slideLayout" Target="../slideLayouts/slideLayout19.xml"/><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3.emf"/><Relationship Id="rId7" Type="http://schemas.openxmlformats.org/officeDocument/2006/relationships/image" Target="../media/image15.emf"/><Relationship Id="rId2" Type="http://schemas.openxmlformats.org/officeDocument/2006/relationships/customXml" Target="../ink/ink1.xml"/><Relationship Id="rId1" Type="http://schemas.openxmlformats.org/officeDocument/2006/relationships/slideLayout" Target="../slideLayouts/slideLayout19.xml"/><Relationship Id="rId6" Type="http://schemas.openxmlformats.org/officeDocument/2006/relationships/customXml" Target="../ink/ink3.xml"/><Relationship Id="rId5" Type="http://schemas.openxmlformats.org/officeDocument/2006/relationships/image" Target="../media/image14.emf"/><Relationship Id="rId4" Type="http://schemas.openxmlformats.org/officeDocument/2006/relationships/customXml" Target="../ink/ink2.xml"/><Relationship Id="rId9" Type="http://schemas.openxmlformats.org/officeDocument/2006/relationships/image" Target="../media/image1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3.xml"/><Relationship Id="rId4" Type="http://schemas.openxmlformats.org/officeDocument/2006/relationships/image" Target="../media/image15.png"/></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3.xml"/><Relationship Id="rId5" Type="http://schemas.openxmlformats.org/officeDocument/2006/relationships/image" Target="../media/image18.png"/><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3.xml"/><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3.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3.xml"/><Relationship Id="rId5" Type="http://schemas.openxmlformats.org/officeDocument/2006/relationships/image" Target="../media/image25.png"/><Relationship Id="rId4"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5.xml"/><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6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7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9.xml"/></Relationships>
</file>

<file path=ppt/slides/_rels/slide7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0.xml"/></Relationships>
</file>

<file path=ppt/slides/_rels/slide7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1.xml"/></Relationships>
</file>

<file path=ppt/slides/_rels/slide77.xml.rels><?xml version="1.0" encoding="UTF-8" standalone="yes"?>
<Relationships xmlns="http://schemas.openxmlformats.org/package/2006/relationships"><Relationship Id="rId3" Type="http://schemas.openxmlformats.org/officeDocument/2006/relationships/hyperlink" Target="https://youtu.be/XxuH_K-wzpg" TargetMode="External"/><Relationship Id="rId2" Type="http://schemas.openxmlformats.org/officeDocument/2006/relationships/hyperlink" Target="https://youtu.be/vQeROGcwQs4" TargetMode="External"/><Relationship Id="rId1" Type="http://schemas.openxmlformats.org/officeDocument/2006/relationships/slideLayout" Target="../slideLayouts/slideLayout19.xml"/><Relationship Id="rId4" Type="http://schemas.openxmlformats.org/officeDocument/2006/relationships/hyperlink" Target="https://youtu.be/C7LqbEunJ1Y"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47800" y="2"/>
            <a:ext cx="7696200" cy="1071547"/>
          </a:xfrm>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a:t>Noida Institute of Engineering and Technology, Greater Noida</a:t>
            </a:r>
          </a:p>
        </p:txBody>
      </p:sp>
      <p:sp>
        <p:nvSpPr>
          <p:cNvPr id="3" name="Subtitle 2"/>
          <p:cNvSpPr>
            <a:spLocks noGrp="1"/>
          </p:cNvSpPr>
          <p:nvPr>
            <p:ph type="subTitle" idx="1"/>
          </p:nvPr>
        </p:nvSpPr>
        <p:spPr>
          <a:xfrm>
            <a:off x="152400" y="1426381"/>
            <a:ext cx="8839200" cy="1071545"/>
          </a:xfrm>
        </p:spPr>
        <p:style>
          <a:lnRef idx="2">
            <a:schemeClr val="accent5"/>
          </a:lnRef>
          <a:fillRef idx="1">
            <a:schemeClr val="lt1"/>
          </a:fillRef>
          <a:effectRef idx="0">
            <a:schemeClr val="accent5"/>
          </a:effectRef>
          <a:fontRef idx="minor">
            <a:schemeClr val="dk1"/>
          </a:fontRef>
        </p:style>
        <p:txBody>
          <a:bodyPr numCol="1">
            <a:normAutofit/>
          </a:bodyPr>
          <a:lstStyle/>
          <a:p>
            <a:pPr lvl="0"/>
            <a:r>
              <a:rPr lang="en-US" sz="2800" dirty="0">
                <a:solidFill>
                  <a:schemeClr val="tx1"/>
                </a:solidFill>
              </a:rPr>
              <a:t>Theory of </a:t>
            </a:r>
            <a:r>
              <a:rPr lang="en-US" sz="2800" dirty="0" smtClean="0">
                <a:solidFill>
                  <a:schemeClr val="tx1"/>
                </a:solidFill>
              </a:rPr>
              <a:t>Computation</a:t>
            </a:r>
          </a:p>
          <a:p>
            <a:pPr lvl="0"/>
            <a:r>
              <a:rPr lang="en-US" sz="2600" dirty="0" smtClean="0">
                <a:solidFill>
                  <a:schemeClr val="tx1"/>
                </a:solidFill>
              </a:rPr>
              <a:t>BCSE0404X</a:t>
            </a:r>
            <a:endParaRPr lang="en-US" sz="2600" dirty="0">
              <a:solidFill>
                <a:schemeClr val="tx1"/>
              </a:solidFill>
            </a:endParaRPr>
          </a:p>
          <a:p>
            <a:endParaRPr lang="en-US" sz="3600" b="1" dirty="0">
              <a:solidFill>
                <a:schemeClr val="tx1"/>
              </a:solidFill>
            </a:endParaRPr>
          </a:p>
          <a:p>
            <a:endParaRPr lang="en-US" sz="3400" dirty="0">
              <a:solidFill>
                <a:schemeClr val="tx1"/>
              </a:solidFill>
            </a:endParaRPr>
          </a:p>
        </p:txBody>
      </p:sp>
      <p:sp>
        <p:nvSpPr>
          <p:cNvPr id="9" name="Date Placeholder 8"/>
          <p:cNvSpPr>
            <a:spLocks noGrp="1"/>
          </p:cNvSpPr>
          <p:nvPr>
            <p:ph type="dt" sz="half" idx="10"/>
          </p:nvPr>
        </p:nvSpPr>
        <p:spPr>
          <a:xfrm>
            <a:off x="381000" y="6492877"/>
            <a:ext cx="2133600" cy="365125"/>
          </a:xfrm>
        </p:spPr>
        <p:txBody>
          <a:bodyPr/>
          <a:lstStyle/>
          <a:p>
            <a:fld id="{067A5447-9DC9-4B90-AFEB-ED3616F14591}" type="datetime1">
              <a:rPr lang="en-US" smtClean="0"/>
              <a:t>3/16/2026</a:t>
            </a:fld>
            <a:endParaRPr lang="en-US" dirty="0"/>
          </a:p>
        </p:txBody>
      </p:sp>
      <p:sp>
        <p:nvSpPr>
          <p:cNvPr id="13" name="Footer Placeholder 12"/>
          <p:cNvSpPr>
            <a:spLocks noGrp="1"/>
          </p:cNvSpPr>
          <p:nvPr>
            <p:ph type="ftr" sz="quarter" idx="11"/>
          </p:nvPr>
        </p:nvSpPr>
        <p:spPr>
          <a:xfrm>
            <a:off x="2286000" y="6248403"/>
            <a:ext cx="5029200" cy="365125"/>
          </a:xfrm>
        </p:spPr>
        <p:txBody>
          <a:bodyPr/>
          <a:lstStyle/>
          <a:p>
            <a:r>
              <a:rPr lang="en-US" smtClean="0"/>
              <a:t>Vivek Kumar Sharma          BCSE0404X (TOC)                  Unit I</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6" name="Subtitle 2"/>
          <p:cNvSpPr txBox="1">
            <a:spLocks/>
          </p:cNvSpPr>
          <p:nvPr/>
        </p:nvSpPr>
        <p:spPr>
          <a:xfrm>
            <a:off x="4953000" y="4269728"/>
            <a:ext cx="3886200" cy="1445272"/>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10000"/>
          </a:bodyPr>
          <a:lstStyle/>
          <a:p>
            <a:pPr algn="ctr">
              <a:spcBef>
                <a:spcPct val="20000"/>
              </a:spcBef>
              <a:defRPr/>
            </a:pPr>
            <a:r>
              <a:rPr lang="en-US" sz="2400" dirty="0" err="1" smtClean="0">
                <a:solidFill>
                  <a:schemeClr val="tx1"/>
                </a:solidFill>
              </a:rPr>
              <a:t>Vivek</a:t>
            </a:r>
            <a:r>
              <a:rPr lang="en-US" sz="2400" dirty="0" smtClean="0">
                <a:solidFill>
                  <a:schemeClr val="tx1"/>
                </a:solidFill>
              </a:rPr>
              <a:t> Kumar Sharma</a:t>
            </a:r>
            <a:endParaRPr lang="en-US" sz="2400" dirty="0">
              <a:solidFill>
                <a:schemeClr val="tx1"/>
              </a:solidFill>
            </a:endParaRPr>
          </a:p>
          <a:p>
            <a:pPr algn="ctr">
              <a:spcBef>
                <a:spcPct val="20000"/>
              </a:spcBef>
              <a:defRPr/>
            </a:pPr>
            <a:r>
              <a:rPr lang="en-US" sz="2400" dirty="0">
                <a:solidFill>
                  <a:schemeClr val="tx1"/>
                </a:solidFill>
              </a:rPr>
              <a:t>Assistant Professor </a:t>
            </a:r>
          </a:p>
          <a:p>
            <a:pPr algn="ctr">
              <a:spcBef>
                <a:spcPct val="20000"/>
              </a:spcBef>
              <a:defRPr/>
            </a:pPr>
            <a:r>
              <a:rPr lang="en-US" sz="2400" dirty="0">
                <a:solidFill>
                  <a:schemeClr val="tx1"/>
                </a:solidFill>
              </a:rPr>
              <a:t>Computer Science and Engineering</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467816" y="6154879"/>
            <a:ext cx="446584" cy="381540"/>
          </a:xfrm>
          <a:prstGeom prst="rect">
            <a:avLst/>
          </a:prstGeom>
          <a:noFill/>
        </p:spPr>
      </p:pic>
      <p:sp>
        <p:nvSpPr>
          <p:cNvPr id="14" name="Subtitle 2"/>
          <p:cNvSpPr txBox="1">
            <a:spLocks/>
          </p:cNvSpPr>
          <p:nvPr/>
        </p:nvSpPr>
        <p:spPr>
          <a:xfrm>
            <a:off x="152400" y="3962400"/>
            <a:ext cx="4191000" cy="457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smtClean="0">
                <a:solidFill>
                  <a:schemeClr val="tx1"/>
                </a:solidFill>
              </a:rPr>
              <a:t>Regular Expression and Tokenization</a:t>
            </a:r>
            <a:endParaRPr lang="en-US" sz="2000" dirty="0">
              <a:solidFill>
                <a:schemeClr val="tx1"/>
              </a:solidFill>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85000" lnSpcReduction="20000"/>
          </a:bodyPr>
          <a:lstStyle/>
          <a:p>
            <a:pPr algn="ctr">
              <a:spcBef>
                <a:spcPct val="20000"/>
              </a:spcBef>
              <a:defRPr/>
            </a:pPr>
            <a:r>
              <a:rPr lang="en-US" sz="2000" dirty="0">
                <a:solidFill>
                  <a:schemeClr val="tx1"/>
                </a:solidFill>
              </a:rPr>
              <a:t>B. Tech </a:t>
            </a:r>
          </a:p>
          <a:p>
            <a:pPr algn="ctr">
              <a:spcBef>
                <a:spcPct val="20000"/>
              </a:spcBef>
              <a:defRPr/>
            </a:pPr>
            <a:r>
              <a:rPr lang="en-US" sz="2000" dirty="0">
                <a:solidFill>
                  <a:schemeClr val="tx1"/>
                </a:solidFill>
              </a:rPr>
              <a:t>(Computer Science &amp; Engineering)</a:t>
            </a:r>
          </a:p>
          <a:p>
            <a:pPr algn="ctr">
              <a:spcBef>
                <a:spcPct val="20000"/>
              </a:spcBef>
              <a:defRPr/>
            </a:pPr>
            <a:r>
              <a:rPr lang="en-US" sz="2000" dirty="0">
                <a:solidFill>
                  <a:schemeClr val="tx1"/>
                </a:solidFill>
              </a:rPr>
              <a:t>4</a:t>
            </a:r>
            <a:r>
              <a:rPr lang="en-US" sz="2000" baseline="30000" dirty="0">
                <a:solidFill>
                  <a:schemeClr val="tx1"/>
                </a:solidFill>
              </a:rPr>
              <a:t>th</a:t>
            </a:r>
            <a:r>
              <a:rPr lang="en-US" sz="2000" dirty="0">
                <a:solidFill>
                  <a:schemeClr val="tx1"/>
                </a:solidFill>
              </a:rPr>
              <a:t> Semester</a:t>
            </a:r>
          </a:p>
          <a:p>
            <a:pPr algn="ctr">
              <a:spcBef>
                <a:spcPct val="20000"/>
              </a:spcBef>
              <a:defRPr/>
            </a:pPr>
            <a:endParaRPr lang="en-US" sz="2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F327E3-C0C4-449A-B80D-D3CD0F1B6DE7}"/>
              </a:ext>
            </a:extLst>
          </p:cNvPr>
          <p:cNvSpPr>
            <a:spLocks noGrp="1"/>
          </p:cNvSpPr>
          <p:nvPr>
            <p:ph type="dt" sz="half" idx="10"/>
          </p:nvPr>
        </p:nvSpPr>
        <p:spPr/>
        <p:txBody>
          <a:bodyPr/>
          <a:lstStyle/>
          <a:p>
            <a:fld id="{94308CF4-96F4-42E3-A8BD-C75871F9D0BA}" type="datetime1">
              <a:rPr lang="en-US" smtClean="0"/>
              <a:t>3/16/2026</a:t>
            </a:fld>
            <a:endParaRPr lang="en-US"/>
          </a:p>
        </p:txBody>
      </p:sp>
      <p:sp>
        <p:nvSpPr>
          <p:cNvPr id="3" name="Footer Placeholder 2">
            <a:extLst>
              <a:ext uri="{FF2B5EF4-FFF2-40B4-BE49-F238E27FC236}">
                <a16:creationId xmlns:a16="http://schemas.microsoft.com/office/drawing/2014/main" id="{AEF14402-864B-4774-BC74-D8D16D6F6199}"/>
              </a:ext>
            </a:extLst>
          </p:cNvPr>
          <p:cNvSpPr>
            <a:spLocks noGrp="1"/>
          </p:cNvSpPr>
          <p:nvPr>
            <p:ph type="ftr" sz="quarter" idx="11"/>
          </p:nvPr>
        </p:nvSpPr>
        <p:spPr/>
        <p:txBody>
          <a:bodyPr/>
          <a:lstStyle/>
          <a:p>
            <a:r>
              <a:rPr lang="en-US" smtClean="0"/>
              <a:t>Vivek Kumar Sharma          BCSE0404X (TOC)                  Unit I</a:t>
            </a:r>
            <a:endParaRPr lang="en-US"/>
          </a:p>
        </p:txBody>
      </p:sp>
      <p:sp>
        <p:nvSpPr>
          <p:cNvPr id="4" name="Slide Number Placeholder 3">
            <a:extLst>
              <a:ext uri="{FF2B5EF4-FFF2-40B4-BE49-F238E27FC236}">
                <a16:creationId xmlns:a16="http://schemas.microsoft.com/office/drawing/2014/main" id="{3C5287FE-7109-43FD-AF47-48794828CD04}"/>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11" name="Content Placeholder 10"/>
          <p:cNvSpPr>
            <a:spLocks noGrp="1"/>
          </p:cNvSpPr>
          <p:nvPr>
            <p:ph sz="half" idx="4294967295"/>
          </p:nvPr>
        </p:nvSpPr>
        <p:spPr>
          <a:xfrm>
            <a:off x="228600" y="1644650"/>
            <a:ext cx="8001000" cy="4481513"/>
          </a:xfrm>
        </p:spPr>
        <p:txBody>
          <a:bodyPr>
            <a:normAutofit/>
          </a:bodyPr>
          <a:lstStyle/>
          <a:p>
            <a:pPr marL="0" indent="0" algn="just">
              <a:lnSpc>
                <a:spcPct val="200000"/>
              </a:lnSpc>
              <a:buNone/>
            </a:pPr>
            <a:r>
              <a:rPr lang="en-US" sz="1900" dirty="0" err="1" smtClean="0">
                <a:latin typeface="Times New Roman" panose="02020603050405020304" pitchFamily="18" charset="0"/>
                <a:cs typeface="Times New Roman" panose="02020603050405020304" pitchFamily="18" charset="0"/>
              </a:rPr>
              <a:t>Vivek</a:t>
            </a:r>
            <a:r>
              <a:rPr lang="en-US" sz="1900" dirty="0" smtClean="0">
                <a:latin typeface="Times New Roman" panose="02020603050405020304" pitchFamily="18" charset="0"/>
                <a:cs typeface="Times New Roman" panose="02020603050405020304" pitchFamily="18" charset="0"/>
              </a:rPr>
              <a:t> Kumar Sharma is </a:t>
            </a:r>
            <a:r>
              <a:rPr lang="en-US" sz="1900" dirty="0">
                <a:latin typeface="Times New Roman" panose="02020603050405020304" pitchFamily="18" charset="0"/>
                <a:cs typeface="Times New Roman" panose="02020603050405020304" pitchFamily="18" charset="0"/>
              </a:rPr>
              <a:t>an Assistant Professor at Computer Science and Engineering Department, Noida Institute of Engineering and Technology, Gr Noida. </a:t>
            </a:r>
            <a:r>
              <a:rPr lang="en-US" sz="1900" dirty="0" smtClean="0">
                <a:latin typeface="Times New Roman" panose="02020603050405020304" pitchFamily="18" charset="0"/>
                <a:cs typeface="Times New Roman" panose="02020603050405020304" pitchFamily="18" charset="0"/>
              </a:rPr>
              <a:t>He </a:t>
            </a:r>
            <a:r>
              <a:rPr lang="en-US" sz="1900" dirty="0">
                <a:latin typeface="Times New Roman" panose="02020603050405020304" pitchFamily="18" charset="0"/>
                <a:cs typeface="Times New Roman" panose="02020603050405020304" pitchFamily="18" charset="0"/>
              </a:rPr>
              <a:t>has done </a:t>
            </a:r>
            <a:r>
              <a:rPr lang="en-US" sz="1900" dirty="0" smtClean="0">
                <a:latin typeface="Times New Roman" panose="02020603050405020304" pitchFamily="18" charset="0"/>
                <a:cs typeface="Times New Roman" panose="02020603050405020304" pitchFamily="18" charset="0"/>
              </a:rPr>
              <a:t>M. Tech. in 2013 and </a:t>
            </a:r>
            <a:r>
              <a:rPr lang="en-US" sz="1900" dirty="0" err="1" smtClean="0">
                <a:latin typeface="Times New Roman" panose="02020603050405020304" pitchFamily="18" charset="0"/>
                <a:cs typeface="Times New Roman" panose="02020603050405020304" pitchFamily="18" charset="0"/>
              </a:rPr>
              <a:t>B.Tech</a:t>
            </a:r>
            <a:r>
              <a:rPr lang="en-US" sz="1900" dirty="0" smtClean="0">
                <a:latin typeface="Times New Roman" panose="02020603050405020304" pitchFamily="18" charset="0"/>
                <a:cs typeface="Times New Roman" panose="02020603050405020304" pitchFamily="18" charset="0"/>
              </a:rPr>
              <a:t> in 2010. He is currently pursuing Ph.D. in Image Security.</a:t>
            </a:r>
            <a:endParaRPr lang="en-US" sz="1900" dirty="0">
              <a:latin typeface="Times New Roman" panose="02020603050405020304" pitchFamily="18" charset="0"/>
              <a:cs typeface="Times New Roman" panose="02020603050405020304" pitchFamily="18" charset="0"/>
            </a:endParaRPr>
          </a:p>
        </p:txBody>
      </p:sp>
      <p:sp>
        <p:nvSpPr>
          <p:cNvPr id="13" name="Title 1"/>
          <p:cNvSpPr txBox="1">
            <a:spLocks/>
          </p:cNvSpPr>
          <p:nvPr/>
        </p:nvSpPr>
        <p:spPr>
          <a:xfrm>
            <a:off x="1371600" y="4"/>
            <a:ext cx="7772400" cy="1104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400"/>
            </a:lvl1pPr>
          </a:lstStyle>
          <a:p>
            <a:r>
              <a:rPr lang="en-US" dirty="0"/>
              <a:t>Faculty 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noGrp="1"/>
          </p:cNvSpPr>
          <p:nvPr>
            <p:ph type="title"/>
          </p:nvPr>
        </p:nvSpPr>
        <p:spPr>
          <a:xfrm>
            <a:off x="1371600" y="1"/>
            <a:ext cx="7772400" cy="990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t>Evaluation Scheme</a:t>
            </a:r>
          </a:p>
        </p:txBody>
      </p:sp>
      <p:sp>
        <p:nvSpPr>
          <p:cNvPr id="4" name="Date Placeholder 3"/>
          <p:cNvSpPr>
            <a:spLocks noGrp="1"/>
          </p:cNvSpPr>
          <p:nvPr>
            <p:ph type="dt" sz="half" idx="10"/>
          </p:nvPr>
        </p:nvSpPr>
        <p:spPr/>
        <p:txBody>
          <a:bodyPr/>
          <a:lstStyle/>
          <a:p>
            <a:fld id="{DB3DBD0C-6B4C-4AB1-8F05-EC56A6CF12E6}" type="datetime1">
              <a:rPr lang="en-US" smtClean="0"/>
              <a:t>3/16/2026</a:t>
            </a:fld>
            <a:endParaRPr lang="en-US"/>
          </a:p>
        </p:txBody>
      </p:sp>
      <p:sp>
        <p:nvSpPr>
          <p:cNvPr id="5" name="Footer Placeholder 4"/>
          <p:cNvSpPr>
            <a:spLocks noGrp="1"/>
          </p:cNvSpPr>
          <p:nvPr>
            <p:ph type="ftr" sz="quarter" idx="11"/>
          </p:nvPr>
        </p:nvSpPr>
        <p:spPr>
          <a:xfrm>
            <a:off x="2438400" y="6356353"/>
            <a:ext cx="41910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pic>
        <p:nvPicPr>
          <p:cNvPr id="3" name="Content Placeholder 2"/>
          <p:cNvPicPr>
            <a:picLocks noGrp="1" noChangeAspect="1"/>
          </p:cNvPicPr>
          <p:nvPr>
            <p:ph idx="1"/>
          </p:nvPr>
        </p:nvPicPr>
        <p:blipFill>
          <a:blip r:embed="rId2"/>
          <a:stretch>
            <a:fillRect/>
          </a:stretch>
        </p:blipFill>
        <p:spPr>
          <a:xfrm>
            <a:off x="457200" y="1143000"/>
            <a:ext cx="8229599" cy="4983163"/>
          </a:xfrm>
          <a:prstGeom prst="rect">
            <a:avLst/>
          </a:prstGeom>
        </p:spPr>
      </p:pic>
    </p:spTree>
    <p:extLst>
      <p:ext uri="{BB962C8B-B14F-4D97-AF65-F5344CB8AC3E}">
        <p14:creationId xmlns:p14="http://schemas.microsoft.com/office/powerpoint/2010/main" val="3933431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noGrp="1"/>
          </p:cNvSpPr>
          <p:nvPr>
            <p:ph type="title"/>
          </p:nvPr>
        </p:nvSpPr>
        <p:spPr>
          <a:xfrm>
            <a:off x="1339273" y="1"/>
            <a:ext cx="7804727" cy="9905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a:t>Syllabus</a:t>
            </a:r>
            <a:endParaRPr lang="en-US" sz="2400" dirty="0"/>
          </a:p>
        </p:txBody>
      </p:sp>
      <p:sp>
        <p:nvSpPr>
          <p:cNvPr id="4" name="Date Placeholder 3"/>
          <p:cNvSpPr>
            <a:spLocks noGrp="1"/>
          </p:cNvSpPr>
          <p:nvPr>
            <p:ph type="dt" sz="half" idx="10"/>
          </p:nvPr>
        </p:nvSpPr>
        <p:spPr/>
        <p:txBody>
          <a:bodyPr/>
          <a:lstStyle/>
          <a:p>
            <a:fld id="{84ACEA23-45FC-4ABF-B962-078F06108116}" type="datetime1">
              <a:rPr lang="en-US" smtClean="0"/>
              <a:t>3/16/2026</a:t>
            </a:fld>
            <a:endParaRPr lang="en-US"/>
          </a:p>
        </p:txBody>
      </p:sp>
      <p:sp>
        <p:nvSpPr>
          <p:cNvPr id="5" name="Footer Placeholder 4"/>
          <p:cNvSpPr>
            <a:spLocks noGrp="1"/>
          </p:cNvSpPr>
          <p:nvPr>
            <p:ph type="ftr" sz="quarter" idx="11"/>
          </p:nvPr>
        </p:nvSpPr>
        <p:spPr>
          <a:xfrm>
            <a:off x="2133600" y="6356353"/>
            <a:ext cx="44196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pic>
        <p:nvPicPr>
          <p:cNvPr id="2" name="Picture 1" descr="A black and red logo&#10;&#10;Description automatically generated">
            <a:extLst>
              <a:ext uri="{FF2B5EF4-FFF2-40B4-BE49-F238E27FC236}">
                <a16:creationId xmlns:a16="http://schemas.microsoft.com/office/drawing/2014/main" id="{4150228A-C7EE-F3B5-A738-750AF5961C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6" y="-1"/>
            <a:ext cx="1344189" cy="1066801"/>
          </a:xfrm>
          <a:prstGeom prst="rect">
            <a:avLst/>
          </a:prstGeom>
        </p:spPr>
      </p:pic>
      <p:pic>
        <p:nvPicPr>
          <p:cNvPr id="8" name="Picture 7"/>
          <p:cNvPicPr>
            <a:picLocks noChangeAspect="1"/>
          </p:cNvPicPr>
          <p:nvPr/>
        </p:nvPicPr>
        <p:blipFill>
          <a:blip r:embed="rId3"/>
          <a:stretch>
            <a:fillRect/>
          </a:stretch>
        </p:blipFill>
        <p:spPr>
          <a:xfrm>
            <a:off x="304801" y="990600"/>
            <a:ext cx="8679340" cy="5289551"/>
          </a:xfrm>
          <a:prstGeom prst="rect">
            <a:avLst/>
          </a:prstGeom>
        </p:spPr>
      </p:pic>
    </p:spTree>
    <p:extLst>
      <p:ext uri="{BB962C8B-B14F-4D97-AF65-F5344CB8AC3E}">
        <p14:creationId xmlns:p14="http://schemas.microsoft.com/office/powerpoint/2010/main" val="374149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90B5219-CE1D-42B2-A66D-BB65F77D14F1}"/>
              </a:ext>
            </a:extLst>
          </p:cNvPr>
          <p:cNvSpPr txBox="1">
            <a:spLocks noGrp="1"/>
          </p:cNvSpPr>
          <p:nvPr>
            <p:ph type="title"/>
          </p:nvPr>
        </p:nvSpPr>
        <p:spPr>
          <a:xfrm>
            <a:off x="1295400" y="-1"/>
            <a:ext cx="7848600" cy="99060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t>Branch wise Applications</a:t>
            </a:r>
          </a:p>
        </p:txBody>
      </p:sp>
      <p:sp>
        <p:nvSpPr>
          <p:cNvPr id="3" name="Content Placeholder 2"/>
          <p:cNvSpPr>
            <a:spLocks noGrp="1"/>
          </p:cNvSpPr>
          <p:nvPr>
            <p:ph idx="1"/>
          </p:nvPr>
        </p:nvSpPr>
        <p:spPr>
          <a:xfrm>
            <a:off x="457200" y="1104798"/>
            <a:ext cx="8229600" cy="5021367"/>
          </a:xfrm>
        </p:spPr>
        <p:txBody>
          <a:bodyPr>
            <a:normAutofit/>
          </a:bodyPr>
          <a:lstStyle/>
          <a:p>
            <a:pPr marL="0" indent="0">
              <a:buNone/>
            </a:pPr>
            <a:r>
              <a:rPr lang="en-US" sz="1800" b="1" dirty="0" smtClean="0"/>
              <a:t>Computer Science</a:t>
            </a:r>
          </a:p>
          <a:p>
            <a:pPr algn="just"/>
            <a:r>
              <a:rPr lang="en-US" sz="1800" dirty="0" smtClean="0">
                <a:latin typeface="Times New Roman" panose="02020603050405020304" pitchFamily="18" charset="0"/>
                <a:cs typeface="Times New Roman" panose="02020603050405020304" pitchFamily="18" charset="0"/>
              </a:rPr>
              <a:t>Automaton is nothing but a machine which accepts the strings of a language L over an input alphabet Σ. There are four different types of Automata that are mostly used in various areas</a:t>
            </a:r>
          </a:p>
          <a:p>
            <a:r>
              <a:rPr lang="en-US" sz="1800" dirty="0" smtClean="0">
                <a:latin typeface="Times New Roman" panose="02020603050405020304" pitchFamily="18" charset="0"/>
                <a:cs typeface="Times New Roman" panose="02020603050405020304" pitchFamily="18" charset="0"/>
              </a:rPr>
              <a:t>Lexical </a:t>
            </a:r>
            <a:r>
              <a:rPr lang="en-US" sz="1800" dirty="0">
                <a:latin typeface="Times New Roman" panose="02020603050405020304" pitchFamily="18" charset="0"/>
                <a:cs typeface="Times New Roman" panose="02020603050405020304" pitchFamily="18" charset="0"/>
              </a:rPr>
              <a:t>analysis and regular expression matching in compilers and search engines</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Syntax </a:t>
            </a:r>
            <a:r>
              <a:rPr lang="en-US" sz="1800" dirty="0">
                <a:latin typeface="Times New Roman" panose="02020603050405020304" pitchFamily="18" charset="0"/>
                <a:cs typeface="Times New Roman" panose="02020603050405020304" pitchFamily="18" charset="0"/>
              </a:rPr>
              <a:t>parsing in programming language compilers and NLP</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Finite </a:t>
            </a:r>
            <a:r>
              <a:rPr lang="en-US" sz="1800" dirty="0">
                <a:latin typeface="Times New Roman" panose="02020603050405020304" pitchFamily="18" charset="0"/>
                <a:cs typeface="Times New Roman" panose="02020603050405020304" pitchFamily="18" charset="0"/>
              </a:rPr>
              <a:t>State Machines in hardware design, network protocols, and robotics</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Speech </a:t>
            </a:r>
            <a:r>
              <a:rPr lang="en-US" sz="1800" dirty="0">
                <a:latin typeface="Times New Roman" panose="02020603050405020304" pitchFamily="18" charset="0"/>
                <a:cs typeface="Times New Roman" panose="02020603050405020304" pitchFamily="18" charset="0"/>
              </a:rPr>
              <a:t>recognition using Hidden Markov Models (HMMs</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Text </a:t>
            </a:r>
            <a:r>
              <a:rPr lang="en-US" sz="1800" dirty="0">
                <a:latin typeface="Times New Roman" panose="02020603050405020304" pitchFamily="18" charset="0"/>
                <a:cs typeface="Times New Roman" panose="02020603050405020304" pitchFamily="18" charset="0"/>
              </a:rPr>
              <a:t>processing in editors and search tools</a:t>
            </a:r>
            <a:r>
              <a:rPr lang="en-US" sz="1800" dirty="0" smtClean="0">
                <a:latin typeface="Times New Roman" panose="02020603050405020304" pitchFamily="18" charset="0"/>
                <a:cs typeface="Times New Roman" panose="02020603050405020304" pitchFamily="18" charset="0"/>
              </a:rPr>
              <a:t>.</a:t>
            </a:r>
          </a:p>
          <a:p>
            <a:pPr marL="0" indent="0">
              <a:buNone/>
            </a:pP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Bioinformatics </a:t>
            </a:r>
            <a:r>
              <a:rPr lang="en-US" sz="1800" dirty="0">
                <a:latin typeface="Times New Roman" panose="02020603050405020304" pitchFamily="18" charset="0"/>
                <a:cs typeface="Times New Roman" panose="02020603050405020304" pitchFamily="18" charset="0"/>
              </a:rPr>
              <a:t>and genetic sequence analysis</a:t>
            </a:r>
            <a:r>
              <a:rPr lang="en-US" sz="1800" dirty="0"/>
              <a:t>.</a:t>
            </a:r>
            <a:endParaRPr lang="en-US" sz="1800" dirty="0" smtClean="0"/>
          </a:p>
          <a:p>
            <a:endParaRPr lang="en-US" sz="1800" dirty="0" smtClean="0"/>
          </a:p>
          <a:p>
            <a:endParaRPr lang="en-US" sz="1800" dirty="0" smtClean="0"/>
          </a:p>
          <a:p>
            <a:pPr marL="0" indent="0">
              <a:buNone/>
            </a:pPr>
            <a:endParaRPr lang="en-US" b="1" dirty="0"/>
          </a:p>
        </p:txBody>
      </p:sp>
      <p:sp>
        <p:nvSpPr>
          <p:cNvPr id="4" name="Date Placeholder 3"/>
          <p:cNvSpPr>
            <a:spLocks noGrp="1"/>
          </p:cNvSpPr>
          <p:nvPr>
            <p:ph type="dt" sz="half" idx="10"/>
          </p:nvPr>
        </p:nvSpPr>
        <p:spPr/>
        <p:txBody>
          <a:bodyPr/>
          <a:lstStyle/>
          <a:p>
            <a:fld id="{D2B8CB6A-28FE-4EE2-A009-9F4BC115F329}" type="datetime1">
              <a:rPr lang="en-US" smtClean="0"/>
              <a:t>3/16/2026</a:t>
            </a:fld>
            <a:endParaRPr lang="en-US"/>
          </a:p>
        </p:txBody>
      </p:sp>
      <p:sp>
        <p:nvSpPr>
          <p:cNvPr id="5" name="Footer Placeholder 4"/>
          <p:cNvSpPr>
            <a:spLocks noGrp="1"/>
          </p:cNvSpPr>
          <p:nvPr>
            <p:ph type="ftr" sz="quarter" idx="11"/>
          </p:nvPr>
        </p:nvSpPr>
        <p:spPr>
          <a:xfrm>
            <a:off x="2057400" y="6356353"/>
            <a:ext cx="48006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2" name="Picture 1" descr="A black and red logo&#10;&#10;Description automatically generated">
            <a:extLst>
              <a:ext uri="{FF2B5EF4-FFF2-40B4-BE49-F238E27FC236}">
                <a16:creationId xmlns:a16="http://schemas.microsoft.com/office/drawing/2014/main" id="{3B08EBAA-E523-A57C-90A2-8EAEE84969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2025386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noGrp="1"/>
          </p:cNvSpPr>
          <p:nvPr>
            <p:ph type="title"/>
          </p:nvPr>
        </p:nvSpPr>
        <p:spPr>
          <a:xfrm>
            <a:off x="1447800" y="0"/>
            <a:ext cx="7696199" cy="990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t>Course Objectives</a:t>
            </a:r>
          </a:p>
        </p:txBody>
      </p:sp>
      <p:sp>
        <p:nvSpPr>
          <p:cNvPr id="3" name="Content Placeholder 2"/>
          <p:cNvSpPr>
            <a:spLocks noGrp="1"/>
          </p:cNvSpPr>
          <p:nvPr>
            <p:ph idx="1"/>
          </p:nvPr>
        </p:nvSpPr>
        <p:spPr>
          <a:xfrm>
            <a:off x="670642" y="1104799"/>
            <a:ext cx="8229600" cy="4774560"/>
          </a:xfrm>
        </p:spPr>
        <p:txBody>
          <a:bodyPr>
            <a:normAutofit/>
          </a:bodyPr>
          <a:lstStyle/>
          <a:p>
            <a:pPr algn="just">
              <a:buNone/>
            </a:pPr>
            <a:r>
              <a:rPr lang="en-US" sz="1800" b="1" dirty="0" smtClean="0">
                <a:latin typeface="Times New Roman" panose="02020603050405020304" pitchFamily="18" charset="0"/>
                <a:cs typeface="Times New Roman" panose="02020603050405020304" pitchFamily="18" charset="0"/>
              </a:rPr>
              <a:t>The course objective of this course:</a:t>
            </a:r>
          </a:p>
          <a:p>
            <a:pPr algn="just">
              <a:buNone/>
            </a:pPr>
            <a:endParaRPr lang="en-US" dirty="0" smtClean="0"/>
          </a:p>
          <a:p>
            <a:pPr indent="-25400" algn="just">
              <a:buNone/>
            </a:pPr>
            <a:r>
              <a:rPr lang="en-US" sz="1800" dirty="0"/>
              <a:t>The primary objective of this course is to provide a foundational understanding of Automata Theory and its role in the language processing systems, also explores their application in fields like Natural Language Processing (NLP), speech recognition</a:t>
            </a: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E6FCBDE-F8EB-4C31-9007-E4F7BCB4B3A3}" type="datetime1">
              <a:rPr lang="en-US" smtClean="0"/>
              <a:t>3/16/2026</a:t>
            </a:fld>
            <a:endParaRPr lang="en-US"/>
          </a:p>
        </p:txBody>
      </p:sp>
      <p:sp>
        <p:nvSpPr>
          <p:cNvPr id="5" name="Footer Placeholder 4"/>
          <p:cNvSpPr>
            <a:spLocks noGrp="1"/>
          </p:cNvSpPr>
          <p:nvPr>
            <p:ph type="ftr" sz="quarter" idx="11"/>
          </p:nvPr>
        </p:nvSpPr>
        <p:spPr>
          <a:xfrm>
            <a:off x="2133600" y="6356353"/>
            <a:ext cx="46482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8" name="Picture 7" descr="A black and red logo&#10;&#10;Description automatically generated">
            <a:extLst>
              <a:ext uri="{FF2B5EF4-FFF2-40B4-BE49-F238E27FC236}">
                <a16:creationId xmlns:a16="http://schemas.microsoft.com/office/drawing/2014/main" id="{B4601713-430A-65BA-6A56-8FE2C07EBC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6" y="0"/>
            <a:ext cx="1452716" cy="1104798"/>
          </a:xfrm>
          <a:prstGeom prst="rect">
            <a:avLst/>
          </a:prstGeom>
        </p:spPr>
      </p:pic>
    </p:spTree>
    <p:extLst>
      <p:ext uri="{BB962C8B-B14F-4D97-AF65-F5344CB8AC3E}">
        <p14:creationId xmlns:p14="http://schemas.microsoft.com/office/powerpoint/2010/main" val="1867273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p:cNvGraphicFramePr>
            <a:graphicFrameLocks noGrp="1"/>
          </p:cNvGraphicFramePr>
          <p:nvPr>
            <p:ph idx="1"/>
            <p:extLst>
              <p:ext uri="{D42A27DB-BD31-4B8C-83A1-F6EECF244321}">
                <p14:modId xmlns:p14="http://schemas.microsoft.com/office/powerpoint/2010/main" val="356421696"/>
              </p:ext>
            </p:extLst>
          </p:nvPr>
        </p:nvGraphicFramePr>
        <p:xfrm>
          <a:off x="685800" y="1295400"/>
          <a:ext cx="7924802" cy="5181600"/>
        </p:xfrm>
        <a:graphic>
          <a:graphicData uri="http://schemas.openxmlformats.org/drawingml/2006/table">
            <a:tbl>
              <a:tblPr firstRow="1" bandRow="1">
                <a:tableStyleId>{5C22544A-7EE6-4342-B048-85BDC9FD1C3A}</a:tableStyleId>
              </a:tblPr>
              <a:tblGrid>
                <a:gridCol w="880535">
                  <a:extLst>
                    <a:ext uri="{9D8B030D-6E8A-4147-A177-3AD203B41FA5}">
                      <a16:colId xmlns:a16="http://schemas.microsoft.com/office/drawing/2014/main" val="20000"/>
                    </a:ext>
                  </a:extLst>
                </a:gridCol>
                <a:gridCol w="6099860">
                  <a:extLst>
                    <a:ext uri="{9D8B030D-6E8A-4147-A177-3AD203B41FA5}">
                      <a16:colId xmlns:a16="http://schemas.microsoft.com/office/drawing/2014/main" val="20001"/>
                    </a:ext>
                  </a:extLst>
                </a:gridCol>
                <a:gridCol w="944407">
                  <a:extLst>
                    <a:ext uri="{9D8B030D-6E8A-4147-A177-3AD203B41FA5}">
                      <a16:colId xmlns:a16="http://schemas.microsoft.com/office/drawing/2014/main" val="20002"/>
                    </a:ext>
                  </a:extLst>
                </a:gridCol>
              </a:tblGrid>
              <a:tr h="502920">
                <a:tc>
                  <a:txBody>
                    <a:bodyPr/>
                    <a:lstStyle/>
                    <a:p>
                      <a:pPr algn="l"/>
                      <a:r>
                        <a:rPr lang="en-US" sz="1600" dirty="0">
                          <a:solidFill>
                            <a:schemeClr val="tx1"/>
                          </a:solidFill>
                          <a:latin typeface="Times New Roman" panose="02020603050405020304" pitchFamily="18" charset="0"/>
                          <a:cs typeface="Times New Roman" panose="02020603050405020304" pitchFamily="18" charset="0"/>
                        </a:rPr>
                        <a:t>CO</a:t>
                      </a:r>
                    </a:p>
                  </a:txBody>
                  <a:tcPr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l"/>
                      <a:r>
                        <a:rPr lang="en-US" sz="1600" dirty="0">
                          <a:solidFill>
                            <a:schemeClr val="tx1"/>
                          </a:solidFill>
                          <a:latin typeface="Times New Roman" panose="02020603050405020304" pitchFamily="18" charset="0"/>
                          <a:cs typeface="Times New Roman" panose="02020603050405020304" pitchFamily="18" charset="0"/>
                        </a:rPr>
                        <a:t>At the end of course , the student will be able to</a:t>
                      </a:r>
                    </a:p>
                  </a:txBody>
                  <a:tcPr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l"/>
                      <a:r>
                        <a:rPr lang="en-US" sz="1600" dirty="0">
                          <a:solidFill>
                            <a:schemeClr val="tx1"/>
                          </a:solidFill>
                          <a:latin typeface="Times New Roman" panose="02020603050405020304" pitchFamily="18" charset="0"/>
                          <a:cs typeface="Times New Roman" panose="02020603050405020304" pitchFamily="18" charset="0"/>
                        </a:rPr>
                        <a:t>Bloom’s (KL) </a:t>
                      </a:r>
                    </a:p>
                  </a:txBody>
                  <a:tcPr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extLst>
                  <a:ext uri="{0D108BD9-81ED-4DB2-BD59-A6C34878D82A}">
                    <a16:rowId xmlns:a16="http://schemas.microsoft.com/office/drawing/2014/main" val="10000"/>
                  </a:ext>
                </a:extLst>
              </a:tr>
              <a:tr h="944880">
                <a:tc>
                  <a:txBody>
                    <a:bodyPr/>
                    <a:lstStyle/>
                    <a:p>
                      <a:r>
                        <a:rPr lang="en-US" sz="1600" dirty="0">
                          <a:latin typeface="Times New Roman" panose="02020603050405020304" pitchFamily="18" charset="0"/>
                          <a:cs typeface="Times New Roman" panose="02020603050405020304" pitchFamily="18" charset="0"/>
                        </a:rPr>
                        <a:t>CO1</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just"/>
                      <a:r>
                        <a:rPr lang="en-US" sz="1600" dirty="0" smtClean="0"/>
                        <a:t>Identify the fundamental concepts of automata theory, formal languages and compiler components</a:t>
                      </a:r>
                      <a:endParaRPr lang="en-US" sz="1600" dirty="0">
                        <a:latin typeface="Times New Roman" pitchFamily="18" charset="0"/>
                        <a:cs typeface="Times New Roman"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ctr"/>
                      <a:r>
                        <a:rPr lang="en-US" sz="1600" dirty="0" smtClean="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extLst>
                  <a:ext uri="{0D108BD9-81ED-4DB2-BD59-A6C34878D82A}">
                    <a16:rowId xmlns:a16="http://schemas.microsoft.com/office/drawing/2014/main" val="10001"/>
                  </a:ext>
                </a:extLst>
              </a:tr>
              <a:tr h="944880">
                <a:tc>
                  <a:txBody>
                    <a:bodyPr/>
                    <a:lstStyle/>
                    <a:p>
                      <a:r>
                        <a:rPr lang="en-US" sz="1600" dirty="0">
                          <a:latin typeface="Times New Roman" panose="02020603050405020304" pitchFamily="18" charset="0"/>
                          <a:cs typeface="Times New Roman" panose="02020603050405020304" pitchFamily="18" charset="0"/>
                        </a:rPr>
                        <a:t>CO2</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just"/>
                      <a:r>
                        <a:rPr lang="en-US" sz="1600" dirty="0" smtClean="0"/>
                        <a:t>Understand the role of finite automata, regular expressions, and grammar rules in language processing.</a:t>
                      </a:r>
                      <a:endParaRPr lang="en-US" sz="1600" dirty="0">
                        <a:latin typeface="Times New Roman" pitchFamily="18" charset="0"/>
                        <a:cs typeface="Times New Roman"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2</a:t>
                      </a:r>
                    </a:p>
                    <a:p>
                      <a:endParaRPr lang="en-US" sz="1600" dirty="0">
                        <a:latin typeface="Times New Roman" panose="02020603050405020304" pitchFamily="18" charset="0"/>
                        <a:cs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extLst>
                  <a:ext uri="{0D108BD9-81ED-4DB2-BD59-A6C34878D82A}">
                    <a16:rowId xmlns:a16="http://schemas.microsoft.com/office/drawing/2014/main" val="10002"/>
                  </a:ext>
                </a:extLst>
              </a:tr>
              <a:tr h="660400">
                <a:tc>
                  <a:txBody>
                    <a:bodyPr/>
                    <a:lstStyle/>
                    <a:p>
                      <a:r>
                        <a:rPr lang="en-US" sz="1600" dirty="0">
                          <a:latin typeface="Times New Roman" panose="02020603050405020304" pitchFamily="18" charset="0"/>
                          <a:cs typeface="Times New Roman" panose="02020603050405020304" pitchFamily="18" charset="0"/>
                        </a:rPr>
                        <a:t>CO3</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just"/>
                      <a:r>
                        <a:rPr lang="en-US" sz="1600" dirty="0" smtClean="0"/>
                        <a:t>Demonstrate context-free grammars, pushdown automata, and syntax-directed translation to construct intermediate code for language processors</a:t>
                      </a:r>
                      <a:endParaRPr lang="en-US" sz="1600" dirty="0">
                        <a:latin typeface="Times New Roman" pitchFamily="18" charset="0"/>
                        <a:cs typeface="Times New Roman"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3</a:t>
                      </a:r>
                    </a:p>
                    <a:p>
                      <a:endParaRPr lang="en-US" sz="1600" dirty="0">
                        <a:latin typeface="Times New Roman" panose="02020603050405020304" pitchFamily="18" charset="0"/>
                        <a:cs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extLst>
                  <a:ext uri="{0D108BD9-81ED-4DB2-BD59-A6C34878D82A}">
                    <a16:rowId xmlns:a16="http://schemas.microsoft.com/office/drawing/2014/main" val="10003"/>
                  </a:ext>
                </a:extLst>
              </a:tr>
              <a:tr h="944880">
                <a:tc>
                  <a:txBody>
                    <a:bodyPr/>
                    <a:lstStyle/>
                    <a:p>
                      <a:r>
                        <a:rPr lang="en-US" sz="1600" dirty="0">
                          <a:latin typeface="Times New Roman" panose="02020603050405020304" pitchFamily="18" charset="0"/>
                          <a:cs typeface="Times New Roman" panose="02020603050405020304" pitchFamily="18" charset="0"/>
                        </a:rPr>
                        <a:t>CO4</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just"/>
                      <a:r>
                        <a:rPr lang="en-US" sz="1600" dirty="0" smtClean="0"/>
                        <a:t>Analyze various parsing strategies, code translation methods, and intermediate representations in compiler phases. </a:t>
                      </a:r>
                      <a:endParaRPr lang="en-US" sz="1600" dirty="0">
                        <a:latin typeface="Times New Roman" pitchFamily="18" charset="0"/>
                        <a:cs typeface="Times New Roman"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4</a:t>
                      </a:r>
                    </a:p>
                    <a:p>
                      <a:endParaRPr lang="en-US" sz="1600" dirty="0">
                        <a:latin typeface="Times New Roman" panose="02020603050405020304" pitchFamily="18" charset="0"/>
                        <a:cs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extLst>
                  <a:ext uri="{0D108BD9-81ED-4DB2-BD59-A6C34878D82A}">
                    <a16:rowId xmlns:a16="http://schemas.microsoft.com/office/drawing/2014/main" val="10004"/>
                  </a:ext>
                </a:extLst>
              </a:tr>
              <a:tr h="944880">
                <a:tc>
                  <a:txBody>
                    <a:bodyPr/>
                    <a:lstStyle/>
                    <a:p>
                      <a:r>
                        <a:rPr lang="en-US" sz="1600" dirty="0">
                          <a:latin typeface="Times New Roman" panose="02020603050405020304" pitchFamily="18" charset="0"/>
                          <a:cs typeface="Times New Roman" panose="02020603050405020304" pitchFamily="18" charset="0"/>
                        </a:rPr>
                        <a:t>CO5</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algn="just"/>
                      <a:r>
                        <a:rPr lang="en-US" sz="1600" dirty="0" smtClean="0"/>
                        <a:t>Analyze the functioning of Turing machine models and optimization techniques in code generation for performance improvement</a:t>
                      </a:r>
                      <a:endParaRPr lang="en-US" sz="1600" dirty="0">
                        <a:latin typeface="Times New Roman" pitchFamily="18" charset="0"/>
                        <a:cs typeface="Times New Roman"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sz="1600" dirty="0" smtClean="0">
                          <a:latin typeface="Times New Roman" panose="02020603050405020304" pitchFamily="18" charset="0"/>
                          <a:cs typeface="Times New Roman" panose="02020603050405020304" pitchFamily="18" charset="0"/>
                        </a:rPr>
                        <a:t>K</a:t>
                      </a:r>
                      <a:r>
                        <a:rPr lang="en-US" sz="1600" baseline="-25000" dirty="0">
                          <a:latin typeface="Times New Roman" panose="02020603050405020304" pitchFamily="18" charset="0"/>
                          <a:cs typeface="Times New Roman" panose="02020603050405020304" pitchFamily="18" charset="0"/>
                        </a:rPr>
                        <a:t>4</a:t>
                      </a:r>
                    </a:p>
                    <a:p>
                      <a:endParaRPr lang="en-US" sz="1600" dirty="0">
                        <a:latin typeface="Times New Roman" panose="02020603050405020304" pitchFamily="18" charset="0"/>
                        <a:cs typeface="Times New Roman" panose="02020603050405020304" pitchFamily="18" charset="0"/>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lumMod val="40000"/>
                        <a:lumOff val="60000"/>
                        <a:alpha val="25000"/>
                      </a:schemeClr>
                    </a:solidFill>
                  </a:tcPr>
                </a:tc>
                <a:extLst>
                  <a:ext uri="{0D108BD9-81ED-4DB2-BD59-A6C34878D82A}">
                    <a16:rowId xmlns:a16="http://schemas.microsoft.com/office/drawing/2014/main" val="10005"/>
                  </a:ext>
                </a:extLst>
              </a:tr>
            </a:tbl>
          </a:graphicData>
        </a:graphic>
      </p:graphicFrame>
      <p:sp>
        <p:nvSpPr>
          <p:cNvPr id="6" name="Date Placeholder 5"/>
          <p:cNvSpPr>
            <a:spLocks noGrp="1"/>
          </p:cNvSpPr>
          <p:nvPr>
            <p:ph type="dt" sz="half" idx="10"/>
          </p:nvPr>
        </p:nvSpPr>
        <p:spPr/>
        <p:txBody>
          <a:bodyPr/>
          <a:lstStyle/>
          <a:p>
            <a:fld id="{3A6BEEC9-ADB9-4A56-9304-29527CDAB2F1}"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dirty="0"/>
          </a:p>
        </p:txBody>
      </p:sp>
      <p:sp>
        <p:nvSpPr>
          <p:cNvPr id="11" name="Title 1"/>
          <p:cNvSpPr txBox="1"/>
          <p:nvPr/>
        </p:nvSpPr>
        <p:spPr>
          <a:xfrm>
            <a:off x="1371600" y="4"/>
            <a:ext cx="7772400" cy="99059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400"/>
            </a:lvl1pPr>
          </a:lstStyle>
          <a:p>
            <a:r>
              <a:rPr lang="en-US"/>
              <a:t>Course Outcomes</a:t>
            </a:r>
            <a:endParaRPr lang="en-US" dirty="0"/>
          </a:p>
        </p:txBody>
      </p:sp>
      <p:pic>
        <p:nvPicPr>
          <p:cNvPr id="2" name="Picture 1" descr="A black and red logo&#10;&#10;Description automatically generated">
            <a:extLst>
              <a:ext uri="{FF2B5EF4-FFF2-40B4-BE49-F238E27FC236}">
                <a16:creationId xmlns:a16="http://schemas.microsoft.com/office/drawing/2014/main" id="{C1D71948-CB26-150E-6283-FAA9BE065E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1309988011"/>
              </p:ext>
            </p:extLst>
          </p:nvPr>
        </p:nvGraphicFramePr>
        <p:xfrm>
          <a:off x="457200" y="1600202"/>
          <a:ext cx="8305800" cy="4765513"/>
        </p:xfrm>
        <a:graphic>
          <a:graphicData uri="http://schemas.openxmlformats.org/drawingml/2006/table">
            <a:tbl>
              <a:tblPr bandRow="1">
                <a:tableStyleId>{5C22544A-7EE6-4342-B048-85BDC9FD1C3A}</a:tableStyleId>
              </a:tblPr>
              <a:tblGrid>
                <a:gridCol w="8305800">
                  <a:extLst>
                    <a:ext uri="{9D8B030D-6E8A-4147-A177-3AD203B41FA5}">
                      <a16:colId xmlns:a16="http://schemas.microsoft.com/office/drawing/2014/main" val="20000"/>
                    </a:ext>
                  </a:extLst>
                </a:gridCol>
              </a:tblGrid>
              <a:tr h="985284">
                <a:tc>
                  <a:txBody>
                    <a:bodyPr/>
                    <a:lstStyle/>
                    <a:p>
                      <a:r>
                        <a:rPr lang="en-US" sz="1600" b="1" dirty="0">
                          <a:latin typeface="Times New Roman" panose="02020603050405020304" pitchFamily="18" charset="0"/>
                          <a:cs typeface="Times New Roman" panose="02020603050405020304" pitchFamily="18" charset="0"/>
                        </a:rPr>
                        <a:t>1. Engineering knowledge: </a:t>
                      </a:r>
                      <a:r>
                        <a:rPr lang="en-US" sz="1600" dirty="0">
                          <a:latin typeface="Times New Roman" panose="02020603050405020304" pitchFamily="18" charset="0"/>
                          <a:cs typeface="Times New Roman" panose="02020603050405020304" pitchFamily="18" charset="0"/>
                        </a:rPr>
                        <a:t>Apply the knowledge of mathematics, science, engineering fundamentals, and an engineering specialization to the solution of complex engineering problems. </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5">
                        <a:alpha val="25000"/>
                      </a:schemeClr>
                    </a:solidFill>
                  </a:tcPr>
                </a:tc>
                <a:extLst>
                  <a:ext uri="{0D108BD9-81ED-4DB2-BD59-A6C34878D82A}">
                    <a16:rowId xmlns:a16="http://schemas.microsoft.com/office/drawing/2014/main" val="10000"/>
                  </a:ext>
                </a:extLst>
              </a:tr>
              <a:tr h="1249680">
                <a:tc>
                  <a:txBody>
                    <a:bodyPr/>
                    <a:lstStyle/>
                    <a:p>
                      <a:r>
                        <a:rPr lang="en-US" sz="1600" b="1" dirty="0">
                          <a:latin typeface="Times New Roman" panose="02020603050405020304" pitchFamily="18" charset="0"/>
                          <a:cs typeface="Times New Roman" panose="02020603050405020304" pitchFamily="18" charset="0"/>
                        </a:rPr>
                        <a:t>2. Problem analysis:</a:t>
                      </a:r>
                      <a:r>
                        <a:rPr lang="en-US" sz="1600" dirty="0">
                          <a:latin typeface="Times New Roman" panose="02020603050405020304" pitchFamily="18" charset="0"/>
                          <a:cs typeface="Times New Roman" panose="02020603050405020304" pitchFamily="18" charset="0"/>
                        </a:rPr>
                        <a:t> Identify, formulate, review research literature, and analyze complex engineering problems reaching substantiated conclusions using first principles of mathematics, natural sciences, and engineering sciences.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5">
                        <a:alpha val="25000"/>
                      </a:schemeClr>
                    </a:solidFill>
                  </a:tcPr>
                </a:tc>
                <a:extLst>
                  <a:ext uri="{0D108BD9-81ED-4DB2-BD59-A6C34878D82A}">
                    <a16:rowId xmlns:a16="http://schemas.microsoft.com/office/drawing/2014/main" val="10001"/>
                  </a:ext>
                </a:extLst>
              </a:tr>
              <a:tr h="1280869">
                <a:tc>
                  <a:txBody>
                    <a:bodyPr/>
                    <a:lstStyle/>
                    <a:p>
                      <a:r>
                        <a:rPr lang="en-US" sz="1600" b="1" dirty="0">
                          <a:latin typeface="Times New Roman" panose="02020603050405020304" pitchFamily="18" charset="0"/>
                          <a:cs typeface="Times New Roman" panose="02020603050405020304" pitchFamily="18" charset="0"/>
                        </a:rPr>
                        <a:t>3. Design/development of solutions:</a:t>
                      </a:r>
                      <a:r>
                        <a:rPr lang="en-US" sz="1600" dirty="0">
                          <a:latin typeface="Times New Roman" panose="02020603050405020304" pitchFamily="18" charset="0"/>
                          <a:cs typeface="Times New Roman" panose="02020603050405020304" pitchFamily="18" charset="0"/>
                        </a:rPr>
                        <a:t> Design solutions for complex engineering problems and design system components or processes that meet the specified needs with appropriate consideration for the public health and safety, and the cultural, societal, and environmental considerations.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5">
                        <a:alpha val="25000"/>
                      </a:schemeClr>
                    </a:solidFill>
                  </a:tcPr>
                </a:tc>
                <a:extLst>
                  <a:ext uri="{0D108BD9-81ED-4DB2-BD59-A6C34878D82A}">
                    <a16:rowId xmlns:a16="http://schemas.microsoft.com/office/drawing/2014/main" val="10002"/>
                  </a:ext>
                </a:extLst>
              </a:tr>
              <a:tr h="1249680">
                <a:tc>
                  <a:txBody>
                    <a:bodyPr/>
                    <a:lstStyle/>
                    <a:p>
                      <a:r>
                        <a:rPr lang="en-US" sz="1600" b="1" dirty="0">
                          <a:latin typeface="Times New Roman" panose="02020603050405020304" pitchFamily="18" charset="0"/>
                          <a:cs typeface="Times New Roman" panose="02020603050405020304" pitchFamily="18" charset="0"/>
                        </a:rPr>
                        <a:t>4. Conduct investigations of complex problems: </a:t>
                      </a:r>
                      <a:r>
                        <a:rPr lang="en-US" sz="1600" dirty="0">
                          <a:latin typeface="Times New Roman" panose="02020603050405020304" pitchFamily="18" charset="0"/>
                          <a:cs typeface="Times New Roman" panose="02020603050405020304" pitchFamily="18" charset="0"/>
                        </a:rPr>
                        <a:t>Use research-based knowledge and research methods including design of experiments, analysis and interpretation of data, and synthesis of the information to provide valid conclusions.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5">
                        <a:alpha val="25000"/>
                      </a:schemeClr>
                    </a:solidFill>
                  </a:tcPr>
                </a:tc>
                <a:extLst>
                  <a:ext uri="{0D108BD9-81ED-4DB2-BD59-A6C34878D82A}">
                    <a16:rowId xmlns:a16="http://schemas.microsoft.com/office/drawing/2014/main" val="10003"/>
                  </a:ext>
                </a:extLst>
              </a:tr>
            </a:tbl>
          </a:graphicData>
        </a:graphic>
      </p:graphicFrame>
      <p:sp>
        <p:nvSpPr>
          <p:cNvPr id="6" name="Date Placeholder 5"/>
          <p:cNvSpPr>
            <a:spLocks noGrp="1"/>
          </p:cNvSpPr>
          <p:nvPr>
            <p:ph type="dt" sz="half" idx="10"/>
          </p:nvPr>
        </p:nvSpPr>
        <p:spPr/>
        <p:txBody>
          <a:bodyPr/>
          <a:lstStyle/>
          <a:p>
            <a:fld id="{88EBDE48-2896-4528-9930-91CE1ADEB60D}"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dirty="0"/>
          </a:p>
        </p:txBody>
      </p:sp>
      <p:sp>
        <p:nvSpPr>
          <p:cNvPr id="12" name="TextBox 11"/>
          <p:cNvSpPr txBox="1"/>
          <p:nvPr/>
        </p:nvSpPr>
        <p:spPr>
          <a:xfrm>
            <a:off x="381001" y="1066800"/>
            <a:ext cx="3986989"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Engineering Graduates will be able to:</a:t>
            </a:r>
          </a:p>
        </p:txBody>
      </p:sp>
      <p:sp>
        <p:nvSpPr>
          <p:cNvPr id="11" name="Title 1"/>
          <p:cNvSpPr txBox="1"/>
          <p:nvPr/>
        </p:nvSpPr>
        <p:spPr>
          <a:xfrm>
            <a:off x="1371600" y="5"/>
            <a:ext cx="7772400" cy="93350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latin typeface="Times New Roman" panose="02020603050405020304" pitchFamily="18" charset="0"/>
                <a:cs typeface="Times New Roman" panose="02020603050405020304" pitchFamily="18" charset="0"/>
              </a:rPr>
              <a:t>Program Outcomes (POs)</a:t>
            </a:r>
          </a:p>
        </p:txBody>
      </p:sp>
      <p:pic>
        <p:nvPicPr>
          <p:cNvPr id="2" name="Picture 1" descr="A black and red logo&#10;&#10;Description automatically generated">
            <a:extLst>
              <a:ext uri="{FF2B5EF4-FFF2-40B4-BE49-F238E27FC236}">
                <a16:creationId xmlns:a16="http://schemas.microsoft.com/office/drawing/2014/main" id="{B5EBDFC6-5635-744E-65DF-F1DB90BF7F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371600" cy="10667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1861461806"/>
              </p:ext>
            </p:extLst>
          </p:nvPr>
        </p:nvGraphicFramePr>
        <p:xfrm>
          <a:off x="533400" y="1752600"/>
          <a:ext cx="8001000" cy="4632960"/>
        </p:xfrm>
        <a:graphic>
          <a:graphicData uri="http://schemas.openxmlformats.org/drawingml/2006/table">
            <a:tbl>
              <a:tblPr bandRow="1">
                <a:tableStyleId>{5C22544A-7EE6-4342-B048-85BDC9FD1C3A}</a:tableStyleId>
              </a:tblPr>
              <a:tblGrid>
                <a:gridCol w="8001000">
                  <a:extLst>
                    <a:ext uri="{9D8B030D-6E8A-4147-A177-3AD203B41FA5}">
                      <a16:colId xmlns:a16="http://schemas.microsoft.com/office/drawing/2014/main" val="20000"/>
                    </a:ext>
                  </a:extLst>
                </a:gridCol>
              </a:tblGrid>
              <a:tr h="1310640">
                <a:tc>
                  <a:txBody>
                    <a:bodyPr/>
                    <a:lstStyle/>
                    <a:p>
                      <a:r>
                        <a:rPr lang="en-US" sz="1600" b="1" dirty="0">
                          <a:latin typeface="Times New Roman" panose="02020603050405020304" pitchFamily="18" charset="0"/>
                          <a:cs typeface="Times New Roman" panose="02020603050405020304" pitchFamily="18" charset="0"/>
                        </a:rPr>
                        <a:t>5. Modern tool usage: </a:t>
                      </a:r>
                      <a:r>
                        <a:rPr lang="en-US" sz="1600" dirty="0">
                          <a:latin typeface="Times New Roman" panose="02020603050405020304" pitchFamily="18" charset="0"/>
                          <a:cs typeface="Times New Roman" panose="02020603050405020304" pitchFamily="18" charset="0"/>
                        </a:rPr>
                        <a:t>Create, select, and apply appropriate techniques, resources, and modern engineering and IT tools including prediction and modeling to complex engineering activities with an understanding of the limitations.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0"/>
                  </a:ext>
                </a:extLst>
              </a:tr>
              <a:tr h="1310640">
                <a:tc>
                  <a:txBody>
                    <a:bodyPr/>
                    <a:lstStyle/>
                    <a:p>
                      <a:r>
                        <a:rPr lang="en-US" sz="1600" b="1" dirty="0">
                          <a:latin typeface="Times New Roman" panose="02020603050405020304" pitchFamily="18" charset="0"/>
                          <a:cs typeface="Times New Roman" panose="02020603050405020304" pitchFamily="18" charset="0"/>
                        </a:rPr>
                        <a:t>6. The engineer and society:</a:t>
                      </a:r>
                      <a:r>
                        <a:rPr lang="en-US" sz="1600" dirty="0">
                          <a:latin typeface="Times New Roman" panose="02020603050405020304" pitchFamily="18" charset="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1"/>
                  </a:ext>
                </a:extLst>
              </a:tr>
              <a:tr h="1310640">
                <a:tc>
                  <a:txBody>
                    <a:bodyPr/>
                    <a:lstStyle/>
                    <a:p>
                      <a:r>
                        <a:rPr lang="en-US" sz="1600" b="1" dirty="0">
                          <a:latin typeface="Times New Roman" panose="02020603050405020304" pitchFamily="18" charset="0"/>
                          <a:cs typeface="Times New Roman" panose="02020603050405020304" pitchFamily="18" charset="0"/>
                        </a:rPr>
                        <a:t>7. Environment and sustainability: </a:t>
                      </a:r>
                      <a:r>
                        <a:rPr lang="en-US" sz="1600" dirty="0">
                          <a:latin typeface="Times New Roman" panose="02020603050405020304" pitchFamily="18" charset="0"/>
                          <a:cs typeface="Times New Roman" panose="02020603050405020304" pitchFamily="18" charset="0"/>
                        </a:rPr>
                        <a:t>Understand the impact of the professional engineering solutions in societal and environmental contexts, and demonstrate the knowledge of, and need for sustainable development.</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2"/>
                  </a:ext>
                </a:extLst>
              </a:tr>
              <a:tr h="701040">
                <a:tc>
                  <a:txBody>
                    <a:bodyPr/>
                    <a:lstStyle/>
                    <a:p>
                      <a:r>
                        <a:rPr lang="en-US" sz="1600" b="1" dirty="0">
                          <a:latin typeface="Times New Roman" panose="02020603050405020304" pitchFamily="18" charset="0"/>
                          <a:cs typeface="Times New Roman" panose="02020603050405020304" pitchFamily="18" charset="0"/>
                        </a:rPr>
                        <a:t>8. Ethics:</a:t>
                      </a:r>
                      <a:r>
                        <a:rPr lang="en-US" sz="1600" dirty="0">
                          <a:latin typeface="Times New Roman" panose="02020603050405020304" pitchFamily="18" charset="0"/>
                          <a:cs typeface="Times New Roman" panose="02020603050405020304" pitchFamily="18" charset="0"/>
                        </a:rPr>
                        <a:t> Apply ethical principles and commit to professional ethics and responsibilities and norms of the engineering practice.</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3"/>
                  </a:ext>
                </a:extLst>
              </a:tr>
            </a:tbl>
          </a:graphicData>
        </a:graphic>
      </p:graphicFrame>
      <p:sp>
        <p:nvSpPr>
          <p:cNvPr id="6" name="Date Placeholder 5"/>
          <p:cNvSpPr>
            <a:spLocks noGrp="1"/>
          </p:cNvSpPr>
          <p:nvPr>
            <p:ph type="dt" sz="half" idx="10"/>
          </p:nvPr>
        </p:nvSpPr>
        <p:spPr/>
        <p:txBody>
          <a:bodyPr/>
          <a:lstStyle/>
          <a:p>
            <a:fld id="{5EB6D838-C6C3-4700-A16E-A78B474C5B64}"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dirty="0"/>
          </a:p>
        </p:txBody>
      </p:sp>
      <p:sp>
        <p:nvSpPr>
          <p:cNvPr id="11" name="TextBox 10"/>
          <p:cNvSpPr txBox="1"/>
          <p:nvPr/>
        </p:nvSpPr>
        <p:spPr>
          <a:xfrm>
            <a:off x="381003" y="1143000"/>
            <a:ext cx="1018549" cy="400110"/>
          </a:xfrm>
          <a:prstGeom prst="rect">
            <a:avLst/>
          </a:prstGeom>
          <a:noFill/>
        </p:spPr>
        <p:txBody>
          <a:bodyPr wrap="none" rtlCol="0">
            <a:spAutoFit/>
          </a:bodyPr>
          <a:lstStyle/>
          <a:p>
            <a:r>
              <a:rPr lang="en-US" sz="2000" dirty="0"/>
              <a:t>Contd..</a:t>
            </a:r>
          </a:p>
        </p:txBody>
      </p:sp>
      <p:sp>
        <p:nvSpPr>
          <p:cNvPr id="12" name="Title 1"/>
          <p:cNvSpPr txBox="1"/>
          <p:nvPr/>
        </p:nvSpPr>
        <p:spPr>
          <a:xfrm>
            <a:off x="1399552" y="4"/>
            <a:ext cx="7744448" cy="93350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Program Outcomes (POs)</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198"/>
            <a:ext cx="1399552" cy="11429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idx="1"/>
            <p:extLst>
              <p:ext uri="{D42A27DB-BD31-4B8C-83A1-F6EECF244321}">
                <p14:modId xmlns:p14="http://schemas.microsoft.com/office/powerpoint/2010/main" val="832492099"/>
              </p:ext>
            </p:extLst>
          </p:nvPr>
        </p:nvGraphicFramePr>
        <p:xfrm>
          <a:off x="533400" y="1905000"/>
          <a:ext cx="8077200" cy="4419600"/>
        </p:xfrm>
        <a:graphic>
          <a:graphicData uri="http://schemas.openxmlformats.org/drawingml/2006/table">
            <a:tbl>
              <a:tblPr bandRow="1">
                <a:tableStyleId>{5C22544A-7EE6-4342-B048-85BDC9FD1C3A}</a:tableStyleId>
              </a:tblPr>
              <a:tblGrid>
                <a:gridCol w="8077200">
                  <a:extLst>
                    <a:ext uri="{9D8B030D-6E8A-4147-A177-3AD203B41FA5}">
                      <a16:colId xmlns:a16="http://schemas.microsoft.com/office/drawing/2014/main" val="20000"/>
                    </a:ext>
                  </a:extLst>
                </a:gridCol>
              </a:tblGrid>
              <a:tr h="670560">
                <a:tc>
                  <a:txBody>
                    <a:bodyPr/>
                    <a:lstStyle/>
                    <a:p>
                      <a:r>
                        <a:rPr lang="en-US" sz="1600" b="1" dirty="0">
                          <a:latin typeface="Times New Roman" panose="02020603050405020304" pitchFamily="18" charset="0"/>
                          <a:cs typeface="Times New Roman" panose="02020603050405020304" pitchFamily="18" charset="0"/>
                        </a:rPr>
                        <a:t>9. Individual and team work: </a:t>
                      </a:r>
                      <a:r>
                        <a:rPr lang="en-US" sz="1600" dirty="0">
                          <a:latin typeface="Times New Roman" panose="02020603050405020304" pitchFamily="18" charset="0"/>
                          <a:cs typeface="Times New Roman" panose="02020603050405020304" pitchFamily="18" charset="0"/>
                        </a:rPr>
                        <a:t>Function effectively as an individual, and as a member or leader in diverse teams, and in multidisciplinary settings. </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0"/>
                  </a:ext>
                </a:extLst>
              </a:tr>
              <a:tr h="1539240">
                <a:tc>
                  <a:txBody>
                    <a:bodyPr/>
                    <a:lstStyle/>
                    <a:p>
                      <a:r>
                        <a:rPr lang="en-US" sz="1600" b="1" dirty="0">
                          <a:latin typeface="Times New Roman" panose="02020603050405020304" pitchFamily="18" charset="0"/>
                          <a:cs typeface="Times New Roman" panose="02020603050405020304" pitchFamily="18" charset="0"/>
                        </a:rPr>
                        <a:t>10. Communication: </a:t>
                      </a:r>
                      <a:r>
                        <a:rPr lang="en-US" sz="1600" dirty="0">
                          <a:latin typeface="Times New Roman" panose="02020603050405020304" pitchFamily="18" charset="0"/>
                          <a:cs typeface="Times New Roman" panose="02020603050405020304" pitchFamily="18" charset="0"/>
                        </a:rPr>
                        <a:t>Communicate effectively on complex engineering activities with the engineering community and with society at large, such as, being able to comprehend and write effective reports and design documentation, make effective presentations, and give and receive clear instructions.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1"/>
                  </a:ext>
                </a:extLst>
              </a:tr>
              <a:tr h="1249680">
                <a:tc>
                  <a:txBody>
                    <a:bodyPr/>
                    <a:lstStyle/>
                    <a:p>
                      <a:r>
                        <a:rPr lang="en-US" sz="1600" b="1" dirty="0">
                          <a:latin typeface="Times New Roman" panose="02020603050405020304" pitchFamily="18" charset="0"/>
                          <a:cs typeface="Times New Roman" panose="02020603050405020304" pitchFamily="18" charset="0"/>
                        </a:rPr>
                        <a:t>11. Project management and finance:</a:t>
                      </a:r>
                      <a:r>
                        <a:rPr lang="en-US" sz="1600" dirty="0">
                          <a:latin typeface="Times New Roman" panose="02020603050405020304" pitchFamily="18" charset="0"/>
                          <a:cs typeface="Times New Roman" panose="02020603050405020304" pitchFamily="18" charset="0"/>
                        </a:rPr>
                        <a:t> Demonstrate knowledge and understanding of the engineering and management principles and apply these to one’s own work, as a member and leader in a team, to manage projects and in multidisciplinary environments.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2"/>
                  </a:ext>
                </a:extLst>
              </a:tr>
              <a:tr h="960120">
                <a:tc>
                  <a:txBody>
                    <a:bodyPr/>
                    <a:lstStyle/>
                    <a:p>
                      <a:r>
                        <a:rPr lang="en-US" sz="1600" b="1" dirty="0">
                          <a:latin typeface="Times New Roman" panose="02020603050405020304" pitchFamily="18" charset="0"/>
                          <a:cs typeface="Times New Roman" panose="02020603050405020304" pitchFamily="18" charset="0"/>
                        </a:rPr>
                        <a:t>12. Life-long learning: </a:t>
                      </a:r>
                      <a:r>
                        <a:rPr lang="en-US" sz="1600" dirty="0">
                          <a:latin typeface="Times New Roman" panose="02020603050405020304" pitchFamily="18" charset="0"/>
                          <a:cs typeface="Times New Roman" panose="02020603050405020304" pitchFamily="18" charset="0"/>
                        </a:rPr>
                        <a:t>Recognize the need for, and have the preparation and ability to engage in independent and life-long learning in the broadest context of technological change.</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3"/>
                  </a:ext>
                </a:extLst>
              </a:tr>
            </a:tbl>
          </a:graphicData>
        </a:graphic>
      </p:graphicFrame>
      <p:sp>
        <p:nvSpPr>
          <p:cNvPr id="6" name="Date Placeholder 5"/>
          <p:cNvSpPr>
            <a:spLocks noGrp="1"/>
          </p:cNvSpPr>
          <p:nvPr>
            <p:ph type="dt" sz="half" idx="10"/>
          </p:nvPr>
        </p:nvSpPr>
        <p:spPr/>
        <p:txBody>
          <a:bodyPr/>
          <a:lstStyle/>
          <a:p>
            <a:fld id="{D7F09A16-ABA5-4BB5-8ECF-F7E553B411F4}"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5" name="TextBox 14"/>
          <p:cNvSpPr txBox="1"/>
          <p:nvPr/>
        </p:nvSpPr>
        <p:spPr>
          <a:xfrm>
            <a:off x="381003" y="1219200"/>
            <a:ext cx="1018549" cy="400110"/>
          </a:xfrm>
          <a:prstGeom prst="rect">
            <a:avLst/>
          </a:prstGeom>
          <a:noFill/>
        </p:spPr>
        <p:txBody>
          <a:bodyPr wrap="none" rtlCol="0">
            <a:spAutoFit/>
          </a:bodyPr>
          <a:lstStyle/>
          <a:p>
            <a:r>
              <a:rPr lang="en-US" sz="2000" dirty="0"/>
              <a:t>Contd..</a:t>
            </a:r>
          </a:p>
        </p:txBody>
      </p:sp>
      <p:sp>
        <p:nvSpPr>
          <p:cNvPr id="11" name="Title 1"/>
          <p:cNvSpPr txBox="1"/>
          <p:nvPr/>
        </p:nvSpPr>
        <p:spPr>
          <a:xfrm>
            <a:off x="1399552" y="4"/>
            <a:ext cx="7744448" cy="1104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Program Outcomes (POs)</a:t>
            </a:r>
          </a:p>
        </p:txBody>
      </p:sp>
      <p:pic>
        <p:nvPicPr>
          <p:cNvPr id="2" name="Picture 1" descr="A black and red logo&#10;&#10;Description automatically generated">
            <a:extLst>
              <a:ext uri="{FF2B5EF4-FFF2-40B4-BE49-F238E27FC236}">
                <a16:creationId xmlns:a16="http://schemas.microsoft.com/office/drawing/2014/main" id="{8B392F72-C0B0-0C9C-8B5D-06CC45EE8AE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B3415312-62B0-4F95-82B1-987423D1F0F3}"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dirty="0"/>
          </a:p>
        </p:txBody>
      </p:sp>
      <p:sp>
        <p:nvSpPr>
          <p:cNvPr id="11" name="Title 1"/>
          <p:cNvSpPr txBox="1"/>
          <p:nvPr/>
        </p:nvSpPr>
        <p:spPr>
          <a:xfrm>
            <a:off x="1371600" y="4"/>
            <a:ext cx="7772400" cy="8381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CO-PO correlation matrix</a:t>
            </a:r>
          </a:p>
        </p:txBody>
      </p:sp>
      <p:pic>
        <p:nvPicPr>
          <p:cNvPr id="2" name="Picture 1" descr="A black and red logo&#10;&#10;Description automatically generated">
            <a:extLst>
              <a:ext uri="{FF2B5EF4-FFF2-40B4-BE49-F238E27FC236}">
                <a16:creationId xmlns:a16="http://schemas.microsoft.com/office/drawing/2014/main" id="{A85A267B-FF0A-75C2-B0E0-C27E470F21C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pic>
        <p:nvPicPr>
          <p:cNvPr id="4" name="Picture 3"/>
          <p:cNvPicPr>
            <a:picLocks noChangeAspect="1"/>
          </p:cNvPicPr>
          <p:nvPr/>
        </p:nvPicPr>
        <p:blipFill>
          <a:blip r:embed="rId4"/>
          <a:stretch>
            <a:fillRect/>
          </a:stretch>
        </p:blipFill>
        <p:spPr>
          <a:xfrm>
            <a:off x="457200" y="1981200"/>
            <a:ext cx="8229600" cy="2819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ontent Placeholder 12"/>
          <p:cNvGraphicFramePr>
            <a:graphicFrameLocks noGrp="1"/>
          </p:cNvGraphicFramePr>
          <p:nvPr>
            <p:ph idx="1"/>
            <p:extLst>
              <p:ext uri="{D42A27DB-BD31-4B8C-83A1-F6EECF244321}">
                <p14:modId xmlns:p14="http://schemas.microsoft.com/office/powerpoint/2010/main" val="1820172262"/>
              </p:ext>
            </p:extLst>
          </p:nvPr>
        </p:nvGraphicFramePr>
        <p:xfrm>
          <a:off x="609600" y="1904999"/>
          <a:ext cx="8153400" cy="4191001"/>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tblGrid>
              <a:tr h="1290227">
                <a:tc>
                  <a:txBody>
                    <a:bodyPr/>
                    <a:lstStyle/>
                    <a:p>
                      <a:pPr marL="0" marR="0" algn="ctr">
                        <a:lnSpc>
                          <a:spcPct val="115000"/>
                        </a:lnSpc>
                        <a:spcBef>
                          <a:spcPts val="0"/>
                        </a:spcBef>
                        <a:spcAft>
                          <a:spcPts val="0"/>
                        </a:spcAft>
                      </a:pPr>
                      <a:r>
                        <a:rPr lang="en-US" sz="1600" b="0" dirty="0">
                          <a:solidFill>
                            <a:schemeClr val="tx1"/>
                          </a:solidFill>
                          <a:latin typeface="Times New Roman" pitchFamily="18" charset="0"/>
                          <a:ea typeface="Times New Roman" panose="02020603050405020304"/>
                          <a:cs typeface="Times New Roman" pitchFamily="18" charset="0"/>
                        </a:rPr>
                        <a:t>PSO1:</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tc>
                  <a:txBody>
                    <a:bodyPr/>
                    <a:lstStyle/>
                    <a:p>
                      <a:pPr marL="0" marR="0" algn="ctr">
                        <a:lnSpc>
                          <a:spcPct val="100000"/>
                        </a:lnSpc>
                        <a:spcBef>
                          <a:spcPts val="0"/>
                        </a:spcBef>
                        <a:spcAft>
                          <a:spcPts val="0"/>
                        </a:spcAft>
                      </a:pPr>
                      <a:r>
                        <a:rPr lang="en-US" sz="1600" b="0" kern="1200" dirty="0">
                          <a:solidFill>
                            <a:schemeClr val="tx1"/>
                          </a:solidFill>
                          <a:effectLst/>
                          <a:latin typeface="Times New Roman" pitchFamily="18" charset="0"/>
                          <a:ea typeface="+mn-ea"/>
                          <a:cs typeface="Times New Roman" pitchFamily="18" charset="0"/>
                        </a:rPr>
                        <a:t>identify, analyze real world problems and design their ethical solutions using artificial intelligence, robotics, virtual/augmented reality, data analytics, block chain technology, and cloud computing. </a:t>
                      </a:r>
                    </a:p>
                    <a:p>
                      <a:pPr marL="0" marR="0" algn="ctr">
                        <a:lnSpc>
                          <a:spcPct val="100000"/>
                        </a:lnSpc>
                        <a:spcBef>
                          <a:spcPts val="0"/>
                        </a:spcBef>
                        <a:spcAft>
                          <a:spcPts val="0"/>
                        </a:spcAft>
                      </a:pPr>
                      <a:endParaRPr lang="en-US" sz="1600" b="0" i="0" dirty="0">
                        <a:solidFill>
                          <a:schemeClr val="tx1"/>
                        </a:solidFill>
                        <a:latin typeface="Times New Roman" pitchFamily="18" charset="0"/>
                        <a:ea typeface="Times New Roman" panose="02020603050405020304"/>
                        <a:cs typeface="Times New Roman" pitchFamily="18" charset="0"/>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0"/>
                  </a:ext>
                </a:extLst>
              </a:tr>
              <a:tr h="974479">
                <a:tc>
                  <a:txBody>
                    <a:bodyPr/>
                    <a:lstStyle/>
                    <a:p>
                      <a:pPr marL="0" marR="0" algn="ctr">
                        <a:lnSpc>
                          <a:spcPct val="115000"/>
                        </a:lnSpc>
                        <a:spcBef>
                          <a:spcPts val="0"/>
                        </a:spcBef>
                        <a:spcAft>
                          <a:spcPts val="0"/>
                        </a:spcAft>
                      </a:pPr>
                      <a:r>
                        <a:rPr lang="en-US" sz="1600" b="0">
                          <a:solidFill>
                            <a:schemeClr val="tx1"/>
                          </a:solidFill>
                          <a:latin typeface="Times New Roman" pitchFamily="18" charset="0"/>
                          <a:ea typeface="Times New Roman" panose="02020603050405020304"/>
                          <a:cs typeface="Times New Roman" pitchFamily="18" charset="0"/>
                        </a:rPr>
                        <a:t>PSO2:</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tc>
                  <a:txBody>
                    <a:bodyPr/>
                    <a:lstStyle/>
                    <a:p>
                      <a:pPr marL="0" marR="0" algn="ctr">
                        <a:lnSpc>
                          <a:spcPct val="100000"/>
                        </a:lnSpc>
                        <a:spcBef>
                          <a:spcPts val="0"/>
                        </a:spcBef>
                        <a:spcAft>
                          <a:spcPts val="0"/>
                        </a:spcAft>
                      </a:pPr>
                      <a:r>
                        <a:rPr lang="en-US" sz="1600" kern="1200" dirty="0">
                          <a:solidFill>
                            <a:schemeClr val="dk1"/>
                          </a:solidFill>
                          <a:effectLst/>
                          <a:latin typeface="Times New Roman" pitchFamily="18" charset="0"/>
                          <a:ea typeface="+mn-ea"/>
                          <a:cs typeface="Times New Roman" pitchFamily="18" charset="0"/>
                        </a:rPr>
                        <a:t>Design and develop the hardware sensor devices and related interfacing software systems for solving complex engineering problems.</a:t>
                      </a:r>
                    </a:p>
                    <a:p>
                      <a:pPr marL="0" marR="0" algn="ctr">
                        <a:lnSpc>
                          <a:spcPct val="100000"/>
                        </a:lnSpc>
                        <a:spcBef>
                          <a:spcPts val="0"/>
                        </a:spcBef>
                        <a:spcAft>
                          <a:spcPts val="0"/>
                        </a:spcAft>
                      </a:pPr>
                      <a:endParaRPr lang="en-US" sz="1600" b="0" i="0" dirty="0">
                        <a:solidFill>
                          <a:schemeClr val="tx1"/>
                        </a:solidFill>
                        <a:latin typeface="Times New Roman" pitchFamily="18" charset="0"/>
                        <a:ea typeface="Times New Roman" panose="02020603050405020304"/>
                        <a:cs typeface="Times New Roman" pitchFamily="18" charset="0"/>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1"/>
                  </a:ext>
                </a:extLst>
              </a:tr>
              <a:tr h="974479">
                <a:tc>
                  <a:txBody>
                    <a:bodyPr/>
                    <a:lstStyle/>
                    <a:p>
                      <a:pPr marL="0" marR="0" algn="ctr">
                        <a:lnSpc>
                          <a:spcPct val="115000"/>
                        </a:lnSpc>
                        <a:spcBef>
                          <a:spcPts val="0"/>
                        </a:spcBef>
                        <a:spcAft>
                          <a:spcPts val="0"/>
                        </a:spcAft>
                      </a:pPr>
                      <a:r>
                        <a:rPr lang="en-US" sz="1600" b="0">
                          <a:solidFill>
                            <a:schemeClr val="tx1"/>
                          </a:solidFill>
                          <a:latin typeface="Times New Roman" pitchFamily="18" charset="0"/>
                          <a:ea typeface="Times New Roman" panose="02020603050405020304"/>
                          <a:cs typeface="Times New Roman" pitchFamily="18" charset="0"/>
                        </a:rPr>
                        <a:t>PSO3:</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tc>
                  <a:txBody>
                    <a:bodyPr/>
                    <a:lstStyle/>
                    <a:p>
                      <a:pPr marL="0" marR="0" algn="ctr">
                        <a:lnSpc>
                          <a:spcPct val="100000"/>
                        </a:lnSpc>
                        <a:spcBef>
                          <a:spcPts val="0"/>
                        </a:spcBef>
                        <a:spcAft>
                          <a:spcPts val="0"/>
                        </a:spcAft>
                      </a:pPr>
                      <a:r>
                        <a:rPr lang="en-US" sz="1600" kern="1200" dirty="0">
                          <a:solidFill>
                            <a:schemeClr val="dk1"/>
                          </a:solidFill>
                          <a:effectLst/>
                          <a:latin typeface="Times New Roman" pitchFamily="18" charset="0"/>
                          <a:ea typeface="+mn-ea"/>
                          <a:cs typeface="Times New Roman" pitchFamily="18" charset="0"/>
                        </a:rPr>
                        <a:t>understand inter-disciplinary computing techniques and to apply them in the design of advanced computing. </a:t>
                      </a:r>
                    </a:p>
                    <a:p>
                      <a:pPr marL="0" marR="0" algn="ctr">
                        <a:lnSpc>
                          <a:spcPct val="100000"/>
                        </a:lnSpc>
                        <a:spcBef>
                          <a:spcPts val="0"/>
                        </a:spcBef>
                        <a:spcAft>
                          <a:spcPts val="0"/>
                        </a:spcAft>
                      </a:pPr>
                      <a:endParaRPr lang="en-US" sz="1600" b="0" i="0" dirty="0">
                        <a:solidFill>
                          <a:schemeClr val="tx1"/>
                        </a:solidFill>
                        <a:latin typeface="Times New Roman" pitchFamily="18" charset="0"/>
                        <a:ea typeface="Times New Roman" panose="02020603050405020304"/>
                        <a:cs typeface="Times New Roman" pitchFamily="18" charset="0"/>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2"/>
                  </a:ext>
                </a:extLst>
              </a:tr>
              <a:tr h="951816">
                <a:tc>
                  <a:txBody>
                    <a:bodyPr/>
                    <a:lstStyle/>
                    <a:p>
                      <a:pPr marL="0" marR="0" algn="ctr">
                        <a:lnSpc>
                          <a:spcPct val="115000"/>
                        </a:lnSpc>
                        <a:spcBef>
                          <a:spcPts val="0"/>
                        </a:spcBef>
                        <a:spcAft>
                          <a:spcPts val="0"/>
                        </a:spcAft>
                      </a:pPr>
                      <a:r>
                        <a:rPr lang="en-US" sz="1600" b="0" dirty="0">
                          <a:solidFill>
                            <a:schemeClr val="tx1"/>
                          </a:solidFill>
                          <a:latin typeface="Times New Roman" pitchFamily="18" charset="0"/>
                          <a:ea typeface="Times New Roman" panose="02020603050405020304"/>
                          <a:cs typeface="Times New Roman" pitchFamily="18" charset="0"/>
                        </a:rPr>
                        <a:t>PSO4:</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tc>
                  <a:txBody>
                    <a:bodyPr/>
                    <a:lstStyle/>
                    <a:p>
                      <a:pPr algn="ctr"/>
                      <a:r>
                        <a:rPr lang="en-US" sz="1600" kern="1200" dirty="0">
                          <a:solidFill>
                            <a:schemeClr val="dk1"/>
                          </a:solidFill>
                          <a:effectLst/>
                          <a:latin typeface="Times New Roman" pitchFamily="18" charset="0"/>
                          <a:ea typeface="+mn-ea"/>
                          <a:cs typeface="Times New Roman" pitchFamily="18" charset="0"/>
                        </a:rPr>
                        <a:t>Conduct investigation of complex problem with the help of technical, managerial, leadership qualities, and modern engineering tools provided by industry sponsored laboratories.	</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4">
                        <a:alpha val="25000"/>
                      </a:schemeClr>
                    </a:solidFill>
                  </a:tcPr>
                </a:tc>
                <a:extLst>
                  <a:ext uri="{0D108BD9-81ED-4DB2-BD59-A6C34878D82A}">
                    <a16:rowId xmlns:a16="http://schemas.microsoft.com/office/drawing/2014/main" val="10003"/>
                  </a:ext>
                </a:extLst>
              </a:tr>
            </a:tbl>
          </a:graphicData>
        </a:graphic>
      </p:graphicFrame>
      <p:sp>
        <p:nvSpPr>
          <p:cNvPr id="6" name="Date Placeholder 5"/>
          <p:cNvSpPr>
            <a:spLocks noGrp="1"/>
          </p:cNvSpPr>
          <p:nvPr>
            <p:ph type="dt" sz="half" idx="10"/>
          </p:nvPr>
        </p:nvSpPr>
        <p:spPr/>
        <p:txBody>
          <a:bodyPr/>
          <a:lstStyle/>
          <a:p>
            <a:fld id="{B4A9A309-6B52-45F9-B629-3A496666F6E9}"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dirty="0"/>
          </a:p>
        </p:txBody>
      </p:sp>
      <p:sp>
        <p:nvSpPr>
          <p:cNvPr id="11" name="Title 1"/>
          <p:cNvSpPr txBox="1"/>
          <p:nvPr/>
        </p:nvSpPr>
        <p:spPr>
          <a:xfrm>
            <a:off x="1371600" y="4"/>
            <a:ext cx="7772400" cy="99059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Program Specific Outcomes</a:t>
            </a:r>
          </a:p>
        </p:txBody>
      </p:sp>
      <p:sp>
        <p:nvSpPr>
          <p:cNvPr id="8" name="TextBox 7"/>
          <p:cNvSpPr txBox="1"/>
          <p:nvPr/>
        </p:nvSpPr>
        <p:spPr>
          <a:xfrm>
            <a:off x="609600" y="1143001"/>
            <a:ext cx="8153400" cy="677108"/>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On successful completion of graduation degree the Computer Science &amp; </a:t>
            </a:r>
          </a:p>
          <a:p>
            <a:pPr algn="just"/>
            <a:r>
              <a:rPr lang="en-US" dirty="0">
                <a:latin typeface="Times New Roman" panose="02020603050405020304" pitchFamily="18" charset="0"/>
                <a:cs typeface="Times New Roman" panose="02020603050405020304" pitchFamily="18" charset="0"/>
              </a:rPr>
              <a:t>Engineering graduates will be able to</a:t>
            </a:r>
            <a:r>
              <a:rPr lang="en-US" sz="2000" dirty="0"/>
              <a:t>:</a:t>
            </a:r>
          </a:p>
        </p:txBody>
      </p:sp>
      <p:pic>
        <p:nvPicPr>
          <p:cNvPr id="2" name="Picture 1" descr="A black and red logo&#10;&#10;Description automatically generated">
            <a:extLst>
              <a:ext uri="{FF2B5EF4-FFF2-40B4-BE49-F238E27FC236}">
                <a16:creationId xmlns:a16="http://schemas.microsoft.com/office/drawing/2014/main" id="{1E8D4030-7B29-1EA0-67F1-274E581AE5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6" y="0"/>
            <a:ext cx="1376516" cy="990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3611289768"/>
              </p:ext>
            </p:extLst>
          </p:nvPr>
        </p:nvGraphicFramePr>
        <p:xfrm>
          <a:off x="1066802" y="1752600"/>
          <a:ext cx="7315197" cy="3581400"/>
        </p:xfrm>
        <a:graphic>
          <a:graphicData uri="http://schemas.openxmlformats.org/drawingml/2006/table">
            <a:tbl>
              <a:tblPr/>
              <a:tblGrid>
                <a:gridCol w="1155034">
                  <a:extLst>
                    <a:ext uri="{9D8B030D-6E8A-4147-A177-3AD203B41FA5}">
                      <a16:colId xmlns:a16="http://schemas.microsoft.com/office/drawing/2014/main" val="20000"/>
                    </a:ext>
                  </a:extLst>
                </a:gridCol>
                <a:gridCol w="2481956">
                  <a:extLst>
                    <a:ext uri="{9D8B030D-6E8A-4147-A177-3AD203B41FA5}">
                      <a16:colId xmlns:a16="http://schemas.microsoft.com/office/drawing/2014/main" val="20001"/>
                    </a:ext>
                  </a:extLst>
                </a:gridCol>
                <a:gridCol w="1226069">
                  <a:extLst>
                    <a:ext uri="{9D8B030D-6E8A-4147-A177-3AD203B41FA5}">
                      <a16:colId xmlns:a16="http://schemas.microsoft.com/office/drawing/2014/main" val="20002"/>
                    </a:ext>
                  </a:extLst>
                </a:gridCol>
                <a:gridCol w="1226069">
                  <a:extLst>
                    <a:ext uri="{9D8B030D-6E8A-4147-A177-3AD203B41FA5}">
                      <a16:colId xmlns:a16="http://schemas.microsoft.com/office/drawing/2014/main" val="20003"/>
                    </a:ext>
                  </a:extLst>
                </a:gridCol>
                <a:gridCol w="1226069">
                  <a:extLst>
                    <a:ext uri="{9D8B030D-6E8A-4147-A177-3AD203B41FA5}">
                      <a16:colId xmlns:a16="http://schemas.microsoft.com/office/drawing/2014/main" val="20004"/>
                    </a:ext>
                  </a:extLst>
                </a:gridCol>
              </a:tblGrid>
              <a:tr h="447675">
                <a:tc rowSpan="2">
                  <a:txBody>
                    <a:bodyPr/>
                    <a:lstStyle/>
                    <a:p>
                      <a:pPr marL="0" marR="0" algn="ctr">
                        <a:lnSpc>
                          <a:spcPct val="115000"/>
                        </a:lnSpc>
                        <a:spcBef>
                          <a:spcPts val="0"/>
                        </a:spcBef>
                        <a:spcAft>
                          <a:spcPts val="0"/>
                        </a:spcAft>
                      </a:pPr>
                      <a:r>
                        <a:rPr lang="en-US" sz="1600" b="1" dirty="0">
                          <a:latin typeface="Times New Roman" panose="02020603050405020304" pitchFamily="18" charset="0"/>
                          <a:ea typeface="Calibri" panose="020F0502020204030204"/>
                          <a:cs typeface="Times New Roman" panose="02020603050405020304" pitchFamily="18" charset="0"/>
                        </a:rPr>
                        <a:t>CO</a:t>
                      </a: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gridSpan="4">
                  <a:txBody>
                    <a:bodyPr/>
                    <a:lstStyle/>
                    <a:p>
                      <a:pPr marL="0" marR="0" algn="ctr">
                        <a:lnSpc>
                          <a:spcPct val="115000"/>
                        </a:lnSpc>
                        <a:spcBef>
                          <a:spcPts val="0"/>
                        </a:spcBef>
                        <a:spcAft>
                          <a:spcPts val="1000"/>
                        </a:spcAft>
                      </a:pPr>
                      <a:r>
                        <a:rPr lang="en-US" sz="1600" b="1" dirty="0">
                          <a:latin typeface="Times New Roman" panose="02020603050405020304" pitchFamily="18" charset="0"/>
                          <a:ea typeface="Times New Roman" panose="02020603050405020304"/>
                          <a:cs typeface="Times New Roman" panose="02020603050405020304" pitchFamily="18" charset="0"/>
                        </a:rPr>
                        <a:t>PSO</a:t>
                      </a:r>
                      <a:endParaRPr lang="en-US" sz="16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447675">
                <a:tc v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1600" b="1" dirty="0">
                          <a:latin typeface="Times New Roman" panose="02020603050405020304" pitchFamily="18" charset="0"/>
                          <a:ea typeface="Calibri" panose="020F0502020204030204"/>
                          <a:cs typeface="Times New Roman" panose="02020603050405020304" pitchFamily="18" charset="0"/>
                        </a:rPr>
                        <a:t>PSO1</a:t>
                      </a:r>
                      <a:endParaRPr lang="en-US" sz="1600"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0" marR="0" algn="ctr">
                        <a:lnSpc>
                          <a:spcPct val="115000"/>
                        </a:lnSpc>
                        <a:spcBef>
                          <a:spcPts val="0"/>
                        </a:spcBef>
                        <a:spcAft>
                          <a:spcPts val="0"/>
                        </a:spcAft>
                      </a:pPr>
                      <a:r>
                        <a:rPr lang="en-US" sz="1600" b="1" dirty="0">
                          <a:latin typeface="Times New Roman" panose="02020603050405020304" pitchFamily="18" charset="0"/>
                          <a:ea typeface="Calibri" panose="020F0502020204030204"/>
                          <a:cs typeface="Times New Roman" panose="02020603050405020304" pitchFamily="18" charset="0"/>
                        </a:rPr>
                        <a:t>PSO2</a:t>
                      </a:r>
                      <a:endParaRPr lang="en-US" sz="1600"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0" marR="0" algn="ctr">
                        <a:lnSpc>
                          <a:spcPct val="115000"/>
                        </a:lnSpc>
                        <a:spcBef>
                          <a:spcPts val="0"/>
                        </a:spcBef>
                        <a:spcAft>
                          <a:spcPts val="0"/>
                        </a:spcAft>
                      </a:pPr>
                      <a:r>
                        <a:rPr lang="en-US" sz="1600" b="1" dirty="0">
                          <a:latin typeface="Times New Roman" panose="02020603050405020304" pitchFamily="18" charset="0"/>
                          <a:ea typeface="Calibri" panose="020F0502020204030204"/>
                          <a:cs typeface="Times New Roman" panose="02020603050405020304" pitchFamily="18" charset="0"/>
                        </a:rPr>
                        <a:t>PSO3</a:t>
                      </a:r>
                      <a:endParaRPr lang="en-US" sz="1600"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0" marR="0" algn="ctr">
                        <a:lnSpc>
                          <a:spcPct val="115000"/>
                        </a:lnSpc>
                        <a:spcBef>
                          <a:spcPts val="0"/>
                        </a:spcBef>
                        <a:spcAft>
                          <a:spcPts val="0"/>
                        </a:spcAft>
                      </a:pPr>
                      <a:r>
                        <a:rPr lang="en-US" sz="1600" b="1" dirty="0">
                          <a:latin typeface="Times New Roman" panose="02020603050405020304" pitchFamily="18" charset="0"/>
                          <a:ea typeface="Calibri" panose="020F0502020204030204"/>
                          <a:cs typeface="Times New Roman" panose="02020603050405020304" pitchFamily="18" charset="0"/>
                        </a:rPr>
                        <a:t>PSO4</a:t>
                      </a:r>
                      <a:endParaRPr lang="en-US" sz="1600"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1"/>
                  </a:ext>
                </a:extLst>
              </a:tr>
              <a:tr h="447675">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CO1</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algn="ctr">
                        <a:lnSpc>
                          <a:spcPct val="115000"/>
                        </a:lnSpc>
                        <a:spcBef>
                          <a:spcPts val="10"/>
                        </a:spcBef>
                        <a:spcAft>
                          <a:spcPts val="0"/>
                        </a:spcAf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algn="ctr">
                        <a:lnSpc>
                          <a:spcPct val="115000"/>
                        </a:lnSpc>
                        <a:spcBef>
                          <a:spcPts val="10"/>
                        </a:spcBef>
                        <a:spcAft>
                          <a:spcPts val="0"/>
                        </a:spcAf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175" algn="ctr">
                        <a:lnSpc>
                          <a:spcPct val="115000"/>
                        </a:lnSpc>
                        <a:spcBef>
                          <a:spcPts val="10"/>
                        </a:spcBef>
                        <a:spcAft>
                          <a:spcPts val="0"/>
                        </a:spcAft>
                      </a:pPr>
                      <a:r>
                        <a:rPr lang="en-US" sz="1600" dirty="0" smtClean="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5080" algn="ctr">
                        <a:lnSpc>
                          <a:spcPct val="115000"/>
                        </a:lnSpc>
                        <a:spcBef>
                          <a:spcPts val="1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2"/>
                  </a:ext>
                </a:extLst>
              </a:tr>
              <a:tr h="447675">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CO2</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2</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175"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5080" algn="ctr">
                        <a:lnSpc>
                          <a:spcPct val="115000"/>
                        </a:lnSpc>
                        <a:spcBef>
                          <a:spcPts val="1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3"/>
                  </a:ext>
                </a:extLst>
              </a:tr>
              <a:tr h="447675">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CO3</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2</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175"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5080" algn="ctr">
                        <a:lnSpc>
                          <a:spcPct val="115000"/>
                        </a:lnSpc>
                        <a:spcBef>
                          <a:spcPts val="1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4"/>
                  </a:ext>
                </a:extLst>
              </a:tr>
              <a:tr h="447675">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CO4</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2</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175"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5080" algn="ctr">
                        <a:lnSpc>
                          <a:spcPct val="115000"/>
                        </a:lnSpc>
                        <a:spcBef>
                          <a:spcPts val="1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5"/>
                  </a:ext>
                </a:extLst>
              </a:tr>
              <a:tr h="447675">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CO5</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dirty="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dirty="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2</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175" marR="0" lvl="0" indent="0" algn="ctr" defTabSz="685800" rtl="0" eaLnBrk="1" fontAlgn="auto" latinLnBrk="0" hangingPunct="1">
                        <a:lnSpc>
                          <a:spcPct val="115000"/>
                        </a:lnSpc>
                        <a:spcBef>
                          <a:spcPts val="10"/>
                        </a:spcBef>
                        <a:spcAft>
                          <a:spcPts val="0"/>
                        </a:spcAft>
                        <a:buClrTx/>
                        <a:buSzTx/>
                        <a:buFontTx/>
                        <a:buNone/>
                        <a:tabLst/>
                        <a:defRPr/>
                      </a:pPr>
                      <a:r>
                        <a:rPr kumimoji="0" lang="en-US" sz="1600" b="0" i="0" u="none" strike="noStrike" kern="1200" cap="none" spc="0" normalizeH="0" baseline="0" noProof="0" dirty="0" smtClean="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3</a:t>
                      </a:r>
                      <a:endParaRPr kumimoji="0" lang="en-IN" sz="16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5080" algn="ctr">
                        <a:lnSpc>
                          <a:spcPct val="115000"/>
                        </a:lnSpc>
                        <a:spcBef>
                          <a:spcPts val="1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6"/>
                  </a:ext>
                </a:extLst>
              </a:tr>
              <a:tr h="447675">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Average</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algn="ctr">
                        <a:lnSpc>
                          <a:spcPct val="115000"/>
                        </a:lnSpc>
                        <a:spcBef>
                          <a:spcPts val="10"/>
                        </a:spcBef>
                        <a:spcAft>
                          <a:spcPts val="0"/>
                        </a:spcAft>
                      </a:pPr>
                      <a:r>
                        <a:rPr lang="en-US"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810" algn="ctr">
                        <a:lnSpc>
                          <a:spcPct val="115000"/>
                        </a:lnSpc>
                        <a:spcBef>
                          <a:spcPts val="10"/>
                        </a:spcBef>
                        <a:spcAft>
                          <a:spcPts val="0"/>
                        </a:spcAft>
                      </a:pPr>
                      <a:r>
                        <a:rPr lang="en-US"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3175" algn="ctr">
                        <a:lnSpc>
                          <a:spcPct val="115000"/>
                        </a:lnSpc>
                        <a:spcBef>
                          <a:spcPts val="10"/>
                        </a:spcBef>
                        <a:spcAft>
                          <a:spcPts val="0"/>
                        </a:spcAft>
                      </a:pPr>
                      <a:r>
                        <a:rPr lang="en-US" sz="1600" b="1" dirty="0" smtClean="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tc>
                  <a:txBody>
                    <a:bodyPr/>
                    <a:lstStyle/>
                    <a:p>
                      <a:pPr marL="5080" algn="ctr">
                        <a:lnSpc>
                          <a:spcPct val="115000"/>
                        </a:lnSpc>
                        <a:spcBef>
                          <a:spcPts val="10"/>
                        </a:spcBef>
                        <a:spcAft>
                          <a:spcPts val="0"/>
                        </a:spcAf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3">
                        <a:lumMod val="60000"/>
                        <a:lumOff val="40000"/>
                        <a:alpha val="25000"/>
                      </a:schemeClr>
                    </a:solidFill>
                  </a:tcPr>
                </a:tc>
                <a:extLst>
                  <a:ext uri="{0D108BD9-81ED-4DB2-BD59-A6C34878D82A}">
                    <a16:rowId xmlns:a16="http://schemas.microsoft.com/office/drawing/2014/main" val="10007"/>
                  </a:ext>
                </a:extLst>
              </a:tr>
            </a:tbl>
          </a:graphicData>
        </a:graphic>
      </p:graphicFrame>
      <p:sp>
        <p:nvSpPr>
          <p:cNvPr id="6" name="Date Placeholder 5"/>
          <p:cNvSpPr>
            <a:spLocks noGrp="1"/>
          </p:cNvSpPr>
          <p:nvPr>
            <p:ph type="dt" sz="half" idx="10"/>
          </p:nvPr>
        </p:nvSpPr>
        <p:spPr/>
        <p:txBody>
          <a:bodyPr/>
          <a:lstStyle/>
          <a:p>
            <a:fld id="{24540E56-B580-4262-A77E-34218F193CB1}"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dirty="0"/>
          </a:p>
        </p:txBody>
      </p:sp>
      <p:sp>
        <p:nvSpPr>
          <p:cNvPr id="11" name="Title 1"/>
          <p:cNvSpPr txBox="1"/>
          <p:nvPr/>
        </p:nvSpPr>
        <p:spPr>
          <a:xfrm>
            <a:off x="1371600" y="4"/>
            <a:ext cx="7772400" cy="99059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CO-PSO correlation matrix</a:t>
            </a:r>
          </a:p>
        </p:txBody>
      </p:sp>
      <p:pic>
        <p:nvPicPr>
          <p:cNvPr id="2" name="Picture 1"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6" y="0"/>
            <a:ext cx="1376516" cy="990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719417F-C8A4-408C-ABE8-01153A6027D5}"/>
              </a:ext>
            </a:extLst>
          </p:cNvPr>
          <p:cNvSpPr txBox="1">
            <a:spLocks noGrp="1"/>
          </p:cNvSpPr>
          <p:nvPr>
            <p:ph type="title"/>
          </p:nvPr>
        </p:nvSpPr>
        <p:spPr>
          <a:xfrm>
            <a:off x="1447800" y="1"/>
            <a:ext cx="7696200" cy="944563"/>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sym typeface="Arial" charset="0"/>
              </a:rPr>
              <a:t>Program </a:t>
            </a:r>
            <a:r>
              <a:rPr lang="en-US" sz="2400">
                <a:sym typeface="Arial" charset="0"/>
              </a:rPr>
              <a:t>Educational Objectives</a:t>
            </a:r>
            <a:endParaRPr lang="en-US" sz="2400" dirty="0">
              <a:sym typeface="Arial" charset="0"/>
            </a:endParaRPr>
          </a:p>
        </p:txBody>
      </p:sp>
      <p:sp>
        <p:nvSpPr>
          <p:cNvPr id="3" name="Content Placeholder 2"/>
          <p:cNvSpPr>
            <a:spLocks noGrp="1"/>
          </p:cNvSpPr>
          <p:nvPr>
            <p:ph idx="1"/>
          </p:nvPr>
        </p:nvSpPr>
        <p:spPr/>
        <p:txBody>
          <a:bodyPr>
            <a:normAutofit fontScale="25000" lnSpcReduction="20000"/>
          </a:bodyPr>
          <a:lstStyle/>
          <a:p>
            <a:pPr marL="0" indent="0">
              <a:buNone/>
            </a:pPr>
            <a:r>
              <a:rPr lang="en-US" sz="7200" dirty="0" smtClean="0">
                <a:latin typeface="Times New Roman" panose="02020603050405020304" pitchFamily="18" charset="0"/>
                <a:cs typeface="Times New Roman" panose="02020603050405020304" pitchFamily="18" charset="0"/>
              </a:rPr>
              <a:t>PEO’S </a:t>
            </a:r>
            <a:r>
              <a:rPr lang="en-US" sz="7200" dirty="0">
                <a:latin typeface="Times New Roman" panose="02020603050405020304" pitchFamily="18" charset="0"/>
                <a:cs typeface="Times New Roman" panose="02020603050405020304" pitchFamily="18" charset="0"/>
              </a:rPr>
              <a:t>of the B. Tech. in Computer Science and Engineering are:</a:t>
            </a:r>
            <a:endParaRPr lang="en-IN" sz="7200" dirty="0">
              <a:latin typeface="Times New Roman" panose="02020603050405020304" pitchFamily="18" charset="0"/>
              <a:cs typeface="Times New Roman" panose="02020603050405020304" pitchFamily="18" charset="0"/>
            </a:endParaRPr>
          </a:p>
          <a:p>
            <a:r>
              <a:rPr lang="en-US" sz="7200" dirty="0">
                <a:latin typeface="Times New Roman" panose="02020603050405020304" pitchFamily="18" charset="0"/>
                <a:cs typeface="Times New Roman" panose="02020603050405020304" pitchFamily="18" charset="0"/>
              </a:rPr>
              <a:t>The graduates will be able:</a:t>
            </a:r>
            <a:endParaRPr lang="en-IN" sz="7200" dirty="0">
              <a:latin typeface="Times New Roman" panose="02020603050405020304" pitchFamily="18" charset="0"/>
              <a:cs typeface="Times New Roman" panose="02020603050405020304" pitchFamily="18" charset="0"/>
            </a:endParaRPr>
          </a:p>
          <a:p>
            <a:pPr marL="0" indent="0">
              <a:buNone/>
            </a:pPr>
            <a:r>
              <a:rPr lang="en-US" sz="4500" dirty="0">
                <a:latin typeface="Times New Roman" panose="02020603050405020304" pitchFamily="18" charset="0"/>
                <a:cs typeface="Times New Roman" panose="02020603050405020304" pitchFamily="18" charset="0"/>
              </a:rPr>
              <a:t/>
            </a:r>
            <a:br>
              <a:rPr lang="en-US" sz="4500" dirty="0">
                <a:latin typeface="Times New Roman" panose="02020603050405020304" pitchFamily="18" charset="0"/>
                <a:cs typeface="Times New Roman" panose="02020603050405020304" pitchFamily="18" charset="0"/>
              </a:rPr>
            </a:br>
            <a:r>
              <a:rPr lang="en-US" sz="6400" b="1" dirty="0">
                <a:latin typeface="Times New Roman" panose="02020603050405020304" pitchFamily="18" charset="0"/>
                <a:cs typeface="Times New Roman" panose="02020603050405020304" pitchFamily="18" charset="0"/>
              </a:rPr>
              <a:t>PEO 1</a:t>
            </a:r>
            <a:r>
              <a:rPr lang="en-US" sz="6400" dirty="0">
                <a:latin typeface="Times New Roman" panose="02020603050405020304" pitchFamily="18" charset="0"/>
                <a:cs typeface="Times New Roman" panose="02020603050405020304" pitchFamily="18" charset="0"/>
              </a:rPr>
              <a:t>: To have an excellent scientific and engineering breadth so as to comprehend, analyze, design and provide sustainable solutions for real-life problems using state-of-the-art technologies. </a:t>
            </a:r>
            <a:endParaRPr lang="en-IN" sz="6400" dirty="0">
              <a:latin typeface="Times New Roman" panose="02020603050405020304" pitchFamily="18" charset="0"/>
              <a:cs typeface="Times New Roman" panose="02020603050405020304" pitchFamily="18" charset="0"/>
            </a:endParaRPr>
          </a:p>
          <a:p>
            <a:pPr marL="0" indent="0">
              <a:buNone/>
            </a:pPr>
            <a:r>
              <a:rPr lang="en-US" sz="6400" dirty="0">
                <a:latin typeface="Times New Roman" panose="02020603050405020304" pitchFamily="18" charset="0"/>
                <a:cs typeface="Times New Roman" panose="02020603050405020304" pitchFamily="18" charset="0"/>
              </a:rPr>
              <a:t> </a:t>
            </a:r>
            <a:endParaRPr lang="en-IN" sz="6400" dirty="0">
              <a:latin typeface="Times New Roman" panose="02020603050405020304" pitchFamily="18" charset="0"/>
              <a:cs typeface="Times New Roman" panose="02020603050405020304" pitchFamily="18" charset="0"/>
            </a:endParaRPr>
          </a:p>
          <a:p>
            <a:pPr marL="0" indent="0">
              <a:buNone/>
            </a:pPr>
            <a:r>
              <a:rPr lang="en-US" sz="6400" b="1" dirty="0">
                <a:latin typeface="Times New Roman" panose="02020603050405020304" pitchFamily="18" charset="0"/>
                <a:cs typeface="Times New Roman" panose="02020603050405020304" pitchFamily="18" charset="0"/>
              </a:rPr>
              <a:t>PEO 2</a:t>
            </a:r>
            <a:r>
              <a:rPr lang="en-US" sz="6400" dirty="0">
                <a:latin typeface="Times New Roman" panose="02020603050405020304" pitchFamily="18" charset="0"/>
                <a:cs typeface="Times New Roman" panose="02020603050405020304" pitchFamily="18" charset="0"/>
              </a:rPr>
              <a:t>: To have a successful career in industries, to pursue higher studies or to support entrepreneurial endeavors and to face global challenges. </a:t>
            </a:r>
            <a:endParaRPr lang="en-IN" sz="6400" dirty="0">
              <a:latin typeface="Times New Roman" panose="02020603050405020304" pitchFamily="18" charset="0"/>
              <a:cs typeface="Times New Roman" panose="02020603050405020304" pitchFamily="18" charset="0"/>
            </a:endParaRPr>
          </a:p>
          <a:p>
            <a:pPr marL="0" indent="0">
              <a:buNone/>
            </a:pPr>
            <a:r>
              <a:rPr lang="en-US" sz="6400" dirty="0">
                <a:latin typeface="Times New Roman" panose="02020603050405020304" pitchFamily="18" charset="0"/>
                <a:cs typeface="Times New Roman" panose="02020603050405020304" pitchFamily="18" charset="0"/>
              </a:rPr>
              <a:t> </a:t>
            </a:r>
            <a:endParaRPr lang="en-IN" sz="6400" dirty="0">
              <a:latin typeface="Times New Roman" panose="02020603050405020304" pitchFamily="18" charset="0"/>
              <a:cs typeface="Times New Roman" panose="02020603050405020304" pitchFamily="18" charset="0"/>
            </a:endParaRPr>
          </a:p>
          <a:p>
            <a:pPr marL="0" indent="0">
              <a:buNone/>
            </a:pPr>
            <a:r>
              <a:rPr lang="en-US" sz="6400" b="1" dirty="0">
                <a:latin typeface="Times New Roman" panose="02020603050405020304" pitchFamily="18" charset="0"/>
                <a:cs typeface="Times New Roman" panose="02020603050405020304" pitchFamily="18" charset="0"/>
              </a:rPr>
              <a:t>PEO 3</a:t>
            </a:r>
            <a:r>
              <a:rPr lang="en-US" sz="6400" dirty="0">
                <a:latin typeface="Times New Roman" panose="02020603050405020304" pitchFamily="18" charset="0"/>
                <a:cs typeface="Times New Roman" panose="02020603050405020304" pitchFamily="18" charset="0"/>
              </a:rPr>
              <a:t>: To have an effective communication skill, professional attitude, ethical values and a desire to learn specific knowledge in emerging trends, technologies for research, innovation and product development and contribution to society. </a:t>
            </a:r>
            <a:endParaRPr lang="en-IN" sz="6400" dirty="0">
              <a:latin typeface="Times New Roman" panose="02020603050405020304" pitchFamily="18" charset="0"/>
              <a:cs typeface="Times New Roman" panose="02020603050405020304" pitchFamily="18" charset="0"/>
            </a:endParaRPr>
          </a:p>
          <a:p>
            <a:pPr marL="0" indent="0">
              <a:buNone/>
            </a:pPr>
            <a:r>
              <a:rPr lang="en-US" sz="6400" dirty="0">
                <a:latin typeface="Times New Roman" panose="02020603050405020304" pitchFamily="18" charset="0"/>
                <a:cs typeface="Times New Roman" panose="02020603050405020304" pitchFamily="18" charset="0"/>
              </a:rPr>
              <a:t> </a:t>
            </a:r>
            <a:endParaRPr lang="en-IN" sz="6400" dirty="0">
              <a:latin typeface="Times New Roman" panose="02020603050405020304" pitchFamily="18" charset="0"/>
              <a:cs typeface="Times New Roman" panose="02020603050405020304" pitchFamily="18" charset="0"/>
            </a:endParaRPr>
          </a:p>
          <a:p>
            <a:pPr marL="0" indent="0">
              <a:buNone/>
            </a:pPr>
            <a:r>
              <a:rPr lang="en-US" sz="6400" b="1" dirty="0">
                <a:latin typeface="Times New Roman" panose="02020603050405020304" pitchFamily="18" charset="0"/>
                <a:cs typeface="Times New Roman" panose="02020603050405020304" pitchFamily="18" charset="0"/>
              </a:rPr>
              <a:t>PEO</a:t>
            </a:r>
            <a:r>
              <a:rPr lang="en-US" sz="6400" dirty="0">
                <a:latin typeface="Times New Roman" panose="02020603050405020304" pitchFamily="18" charset="0"/>
                <a:cs typeface="Times New Roman" panose="02020603050405020304" pitchFamily="18" charset="0"/>
              </a:rPr>
              <a:t> 4: To have life-long learning for up-skilling and re-skilling for a successful professional career as an engineer, scientist, entrepreneur, or bureaucrat for the betterment of the society</a:t>
            </a:r>
            <a:r>
              <a:rPr lang="en-US" sz="7200" dirty="0">
                <a:latin typeface="Times New Roman" panose="02020603050405020304" pitchFamily="18" charset="0"/>
                <a:cs typeface="Times New Roman" panose="02020603050405020304" pitchFamily="18" charset="0"/>
              </a:rPr>
              <a:t>.</a:t>
            </a:r>
            <a:endParaRPr lang="en-IN" sz="7200" dirty="0">
              <a:latin typeface="Times New Roman" panose="02020603050405020304" pitchFamily="18" charset="0"/>
              <a:cs typeface="Times New Roman" panose="02020603050405020304" pitchFamily="18" charset="0"/>
            </a:endParaRPr>
          </a:p>
          <a:p>
            <a:pPr marL="0" indent="0">
              <a:buNone/>
            </a:pPr>
            <a:r>
              <a:rPr lang="en-US" sz="7200" dirty="0">
                <a:latin typeface="Times New Roman" panose="02020603050405020304" pitchFamily="18" charset="0"/>
                <a:cs typeface="Times New Roman" panose="02020603050405020304" pitchFamily="18" charset="0"/>
              </a:rPr>
              <a:t> </a:t>
            </a:r>
            <a:endParaRPr lang="en-IN" sz="72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None/>
            </a:pPr>
            <a:r>
              <a:rPr lang="en-US" dirty="0" smtClean="0">
                <a:latin typeface="Times New Roman" pitchFamily="18" charset="0"/>
                <a:cs typeface="Times New Roman" pitchFamily="18" charset="0"/>
              </a:rPr>
              <a:t>.</a:t>
            </a:r>
            <a:endParaRPr lang="en-IN" alt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F5E29ED-5A23-4F57-9FC9-63AD5A0F3923}" type="datetime1">
              <a:rPr lang="en-US" smtClean="0"/>
              <a:t>3/16/2026</a:t>
            </a:fld>
            <a:endParaRPr lang="en-US"/>
          </a:p>
        </p:txBody>
      </p:sp>
      <p:sp>
        <p:nvSpPr>
          <p:cNvPr id="5" name="Footer Placeholder 4"/>
          <p:cNvSpPr>
            <a:spLocks noGrp="1"/>
          </p:cNvSpPr>
          <p:nvPr>
            <p:ph type="ftr" sz="quarter" idx="11"/>
          </p:nvPr>
        </p:nvSpPr>
        <p:spPr>
          <a:xfrm>
            <a:off x="2057400" y="6356353"/>
            <a:ext cx="51054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2" name="Picture 1" descr="A black and red logo&#10;&#10;Description automatically generated">
            <a:extLst>
              <a:ext uri="{FF2B5EF4-FFF2-40B4-BE49-F238E27FC236}">
                <a16:creationId xmlns:a16="http://schemas.microsoft.com/office/drawing/2014/main" id="{9328B972-9C91-B1B3-5231-D3F4FE0E31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6" y="0"/>
            <a:ext cx="1408843" cy="944564"/>
          </a:xfrm>
          <a:prstGeom prst="rect">
            <a:avLst/>
          </a:prstGeom>
        </p:spPr>
      </p:pic>
    </p:spTree>
    <p:extLst>
      <p:ext uri="{BB962C8B-B14F-4D97-AF65-F5344CB8AC3E}">
        <p14:creationId xmlns:p14="http://schemas.microsoft.com/office/powerpoint/2010/main" val="38931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p:cNvGraphicFramePr>
            <a:graphicFrameLocks noGrp="1"/>
          </p:cNvGraphicFramePr>
          <p:nvPr>
            <p:ph idx="1"/>
            <p:extLst>
              <p:ext uri="{D42A27DB-BD31-4B8C-83A1-F6EECF244321}">
                <p14:modId xmlns:p14="http://schemas.microsoft.com/office/powerpoint/2010/main" val="164306234"/>
              </p:ext>
            </p:extLst>
          </p:nvPr>
        </p:nvGraphicFramePr>
        <p:xfrm>
          <a:off x="1066802" y="1752600"/>
          <a:ext cx="7086598" cy="3657600"/>
        </p:xfrm>
        <a:graphic>
          <a:graphicData uri="http://schemas.openxmlformats.org/drawingml/2006/table">
            <a:tbl>
              <a:tblPr/>
              <a:tblGrid>
                <a:gridCol w="1118939">
                  <a:extLst>
                    <a:ext uri="{9D8B030D-6E8A-4147-A177-3AD203B41FA5}">
                      <a16:colId xmlns:a16="http://schemas.microsoft.com/office/drawing/2014/main" val="20000"/>
                    </a:ext>
                  </a:extLst>
                </a:gridCol>
                <a:gridCol w="1517935">
                  <a:extLst>
                    <a:ext uri="{9D8B030D-6E8A-4147-A177-3AD203B41FA5}">
                      <a16:colId xmlns:a16="http://schemas.microsoft.com/office/drawing/2014/main" val="20001"/>
                    </a:ext>
                  </a:extLst>
                </a:gridCol>
                <a:gridCol w="1895252">
                  <a:extLst>
                    <a:ext uri="{9D8B030D-6E8A-4147-A177-3AD203B41FA5}">
                      <a16:colId xmlns:a16="http://schemas.microsoft.com/office/drawing/2014/main" val="20002"/>
                    </a:ext>
                  </a:extLst>
                </a:gridCol>
                <a:gridCol w="1366717">
                  <a:extLst>
                    <a:ext uri="{9D8B030D-6E8A-4147-A177-3AD203B41FA5}">
                      <a16:colId xmlns:a16="http://schemas.microsoft.com/office/drawing/2014/main" val="20003"/>
                    </a:ext>
                  </a:extLst>
                </a:gridCol>
                <a:gridCol w="1187755">
                  <a:extLst>
                    <a:ext uri="{9D8B030D-6E8A-4147-A177-3AD203B41FA5}">
                      <a16:colId xmlns:a16="http://schemas.microsoft.com/office/drawing/2014/main" val="20004"/>
                    </a:ext>
                  </a:extLst>
                </a:gridCol>
              </a:tblGrid>
              <a:tr h="457200">
                <a:tc rowSpan="2">
                  <a:txBody>
                    <a:bodyPr/>
                    <a:lstStyle/>
                    <a:p>
                      <a:pPr marL="0" marR="0" algn="ctr">
                        <a:lnSpc>
                          <a:spcPct val="115000"/>
                        </a:lnSpc>
                        <a:spcBef>
                          <a:spcPts val="0"/>
                        </a:spcBef>
                        <a:spcAft>
                          <a:spcPts val="0"/>
                        </a:spcAft>
                      </a:pPr>
                      <a:r>
                        <a:rPr lang="en-US" sz="1600" b="1" dirty="0">
                          <a:latin typeface="+mn-lt"/>
                          <a:ea typeface="Calibri" panose="020F0502020204030204"/>
                          <a:cs typeface="Times New Roman" panose="02020603050405020304"/>
                        </a:rPr>
                        <a:t>CO</a:t>
                      </a: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gridSpan="4">
                  <a:txBody>
                    <a:bodyPr/>
                    <a:lstStyle/>
                    <a:p>
                      <a:pPr marL="0" marR="0" algn="ctr">
                        <a:lnSpc>
                          <a:spcPct val="115000"/>
                        </a:lnSpc>
                        <a:spcBef>
                          <a:spcPts val="0"/>
                        </a:spcBef>
                        <a:spcAft>
                          <a:spcPts val="1000"/>
                        </a:spcAft>
                      </a:pPr>
                      <a:r>
                        <a:rPr lang="en-US" sz="1600" b="1" dirty="0">
                          <a:latin typeface="+mn-lt"/>
                          <a:ea typeface="Times New Roman" panose="02020603050405020304"/>
                          <a:cs typeface="Calibri" panose="020F0502020204030204"/>
                        </a:rPr>
                        <a:t>PEO</a:t>
                      </a:r>
                      <a:endParaRPr lang="en-US" sz="1600" b="1" dirty="0">
                        <a:latin typeface="+mn-lt"/>
                        <a:ea typeface="Calibri" panose="020F0502020204030204"/>
                        <a:cs typeface="Times New Roman" panose="02020603050405020304"/>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457200">
                <a:tc v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1600" b="1" dirty="0">
                          <a:latin typeface="+mn-lt"/>
                          <a:ea typeface="Calibri" panose="020F0502020204030204"/>
                          <a:cs typeface="Times New Roman" panose="02020603050405020304"/>
                        </a:rPr>
                        <a:t>PEO1</a:t>
                      </a:r>
                      <a:endParaRPr lang="en-US" sz="1600" dirty="0">
                        <a:latin typeface="+mn-lt"/>
                        <a:ea typeface="Calibri" panose="020F0502020204030204"/>
                        <a:cs typeface="Times New Roman" panose="02020603050405020304"/>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600" b="1" dirty="0">
                          <a:latin typeface="+mn-lt"/>
                          <a:ea typeface="Calibri" panose="020F0502020204030204"/>
                          <a:cs typeface="Times New Roman" panose="02020603050405020304"/>
                        </a:rPr>
                        <a:t>PEO2</a:t>
                      </a:r>
                      <a:endParaRPr lang="en-US" sz="1600" dirty="0">
                        <a:latin typeface="+mn-lt"/>
                        <a:ea typeface="Calibri" panose="020F0502020204030204"/>
                        <a:cs typeface="Times New Roman" panose="02020603050405020304"/>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600" b="1" dirty="0">
                          <a:latin typeface="+mn-lt"/>
                          <a:ea typeface="Calibri" panose="020F0502020204030204"/>
                          <a:cs typeface="Times New Roman" panose="02020603050405020304"/>
                        </a:rPr>
                        <a:t>PEO3</a:t>
                      </a:r>
                      <a:endParaRPr lang="en-US" sz="1600" dirty="0">
                        <a:latin typeface="+mn-lt"/>
                        <a:ea typeface="Calibri" panose="020F0502020204030204"/>
                        <a:cs typeface="Times New Roman" panose="02020603050405020304"/>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600" b="1" dirty="0">
                          <a:latin typeface="+mn-lt"/>
                          <a:ea typeface="Calibri" panose="020F0502020204030204"/>
                          <a:cs typeface="Times New Roman" panose="02020603050405020304"/>
                        </a:rPr>
                        <a:t>PEO4</a:t>
                      </a:r>
                      <a:endParaRPr lang="en-US" sz="1600" dirty="0">
                        <a:latin typeface="+mn-lt"/>
                        <a:ea typeface="Calibri" panose="020F0502020204030204"/>
                        <a:cs typeface="Times New Roman" panose="02020603050405020304"/>
                      </a:endParaRP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1"/>
                  </a:ext>
                </a:extLst>
              </a:tr>
              <a:tr h="457200">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CO1</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1</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2"/>
                  </a:ext>
                </a:extLst>
              </a:tr>
              <a:tr h="457200">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CO2</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a:latin typeface="+mn-lt"/>
                          <a:ea typeface="Calibri" panose="020F0502020204030204"/>
                          <a:cs typeface="Times New Roman" panose="02020603050405020304"/>
                        </a:rPr>
                        <a:t>1</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1</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3"/>
                  </a:ext>
                </a:extLst>
              </a:tr>
              <a:tr h="457200">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CO3</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4"/>
                  </a:ext>
                </a:extLst>
              </a:tr>
              <a:tr h="457200">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CO4</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1</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a:latin typeface="+mn-lt"/>
                          <a:ea typeface="Calibri" panose="020F0502020204030204"/>
                          <a:cs typeface="Times New Roman" panose="02020603050405020304"/>
                        </a:rPr>
                        <a:t>1</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5"/>
                  </a:ext>
                </a:extLst>
              </a:tr>
              <a:tr h="457200">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CO5</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1</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6"/>
                  </a:ext>
                </a:extLst>
              </a:tr>
              <a:tr h="457200">
                <a:tc>
                  <a:txBody>
                    <a:bodyPr/>
                    <a:lstStyle/>
                    <a:p>
                      <a:pPr marL="0" marR="0">
                        <a:lnSpc>
                          <a:spcPct val="115000"/>
                        </a:lnSpc>
                        <a:spcBef>
                          <a:spcPts val="0"/>
                        </a:spcBef>
                        <a:spcAft>
                          <a:spcPts val="0"/>
                        </a:spcAft>
                      </a:pPr>
                      <a:r>
                        <a:rPr lang="en-US" sz="1600" b="1" kern="1200" dirty="0">
                          <a:latin typeface="Times New Roman" panose="02020603050405020304" pitchFamily="18" charset="0"/>
                          <a:ea typeface="Calibri" panose="020F0502020204030204"/>
                          <a:cs typeface="Times New Roman" panose="02020603050405020304" pitchFamily="18" charset="0"/>
                        </a:rPr>
                        <a:t>Average</a:t>
                      </a:r>
                      <a:endParaRPr lang="en-US" sz="1600" dirty="0">
                        <a:latin typeface="Times New Roman" panose="02020603050405020304" pitchFamily="18" charset="0"/>
                        <a:ea typeface="Times New Roman" panose="02020603050405020304"/>
                        <a:cs typeface="Times New Roman" panose="02020603050405020304" pitchFamily="18" charset="0"/>
                      </a:endParaRPr>
                    </a:p>
                  </a:txBody>
                  <a:tcPr marL="68580" marR="68580"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1.2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tc>
                  <a:txBody>
                    <a:bodyPr/>
                    <a:lstStyle/>
                    <a:p>
                      <a:pPr marL="0" marR="0" algn="ctr">
                        <a:lnSpc>
                          <a:spcPct val="115000"/>
                        </a:lnSpc>
                        <a:spcBef>
                          <a:spcPts val="0"/>
                        </a:spcBef>
                        <a:spcAft>
                          <a:spcPts val="0"/>
                        </a:spcAft>
                      </a:pPr>
                      <a:r>
                        <a:rPr lang="en-US" sz="1800" dirty="0">
                          <a:latin typeface="+mn-lt"/>
                          <a:ea typeface="Calibri" panose="020F0502020204030204"/>
                          <a:cs typeface="Times New Roman" panose="02020603050405020304"/>
                        </a:rPr>
                        <a:t>2</a:t>
                      </a:r>
                    </a:p>
                  </a:txBody>
                  <a:tcPr marL="68580" marR="68580"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chemeClr val="accent2">
                        <a:lumMod val="40000"/>
                        <a:lumOff val="60000"/>
                        <a:alpha val="25000"/>
                      </a:schemeClr>
                    </a:solidFill>
                  </a:tcPr>
                </a:tc>
                <a:extLst>
                  <a:ext uri="{0D108BD9-81ED-4DB2-BD59-A6C34878D82A}">
                    <a16:rowId xmlns:a16="http://schemas.microsoft.com/office/drawing/2014/main" val="10007"/>
                  </a:ext>
                </a:extLst>
              </a:tr>
            </a:tbl>
          </a:graphicData>
        </a:graphic>
      </p:graphicFrame>
      <p:sp>
        <p:nvSpPr>
          <p:cNvPr id="6" name="Date Placeholder 5"/>
          <p:cNvSpPr>
            <a:spLocks noGrp="1"/>
          </p:cNvSpPr>
          <p:nvPr>
            <p:ph type="dt" sz="half" idx="10"/>
          </p:nvPr>
        </p:nvSpPr>
        <p:spPr/>
        <p:txBody>
          <a:bodyPr/>
          <a:lstStyle/>
          <a:p>
            <a:fld id="{A049E97F-36BF-4CBB-9025-A9D2A7CCFA4B}" type="datetime1">
              <a:rPr lang="en-US" smtClean="0"/>
              <a:t>3/16/2026</a:t>
            </a:fld>
            <a:endParaRPr lang="en-US" dirty="0"/>
          </a:p>
        </p:txBody>
      </p:sp>
      <p:sp>
        <p:nvSpPr>
          <p:cNvPr id="10" name="Footer Placeholder 9"/>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dirty="0"/>
          </a:p>
        </p:txBody>
      </p:sp>
      <p:sp>
        <p:nvSpPr>
          <p:cNvPr id="11" name="Title 1"/>
          <p:cNvSpPr txBox="1"/>
          <p:nvPr/>
        </p:nvSpPr>
        <p:spPr>
          <a:xfrm>
            <a:off x="1371600" y="4"/>
            <a:ext cx="7772400" cy="1104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400"/>
            </a:lvl1pPr>
          </a:lstStyle>
          <a:p>
            <a:r>
              <a:rPr lang="en-US" dirty="0"/>
              <a:t>CO-PEO correlation matrix</a:t>
            </a:r>
          </a:p>
        </p:txBody>
      </p:sp>
      <p:pic>
        <p:nvPicPr>
          <p:cNvPr id="2" name="Picture 1" descr="A black and red logo&#10;&#10;Description automatically generated">
            <a:extLst>
              <a:ext uri="{FF2B5EF4-FFF2-40B4-BE49-F238E27FC236}">
                <a16:creationId xmlns:a16="http://schemas.microsoft.com/office/drawing/2014/main" id="{B9D786BC-459D-5236-CBB5-5E264B680D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6" y="0"/>
            <a:ext cx="1376516" cy="1104798"/>
          </a:xfrm>
          <a:prstGeom prst="rect">
            <a:avLst/>
          </a:prstGeom>
        </p:spPr>
      </p:pic>
    </p:spTree>
    <p:extLst>
      <p:ext uri="{BB962C8B-B14F-4D97-AF65-F5344CB8AC3E}">
        <p14:creationId xmlns:p14="http://schemas.microsoft.com/office/powerpoint/2010/main" val="3256078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514168" y="1"/>
            <a:ext cx="7629832" cy="990599"/>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sym typeface="Arial" charset="0"/>
              </a:rPr>
              <a:t>Result Analysis</a:t>
            </a:r>
          </a:p>
        </p:txBody>
      </p:sp>
      <p:sp>
        <p:nvSpPr>
          <p:cNvPr id="3" name="Content Placeholder 2"/>
          <p:cNvSpPr>
            <a:spLocks noGrp="1"/>
          </p:cNvSpPr>
          <p:nvPr>
            <p:ph idx="1"/>
          </p:nvPr>
        </p:nvSpPr>
        <p:spPr/>
        <p:txBody>
          <a:bodyPr>
            <a:normAutofit/>
          </a:bodyPr>
          <a:lstStyle/>
          <a:p>
            <a:pPr algn="just">
              <a:spcBef>
                <a:spcPct val="0"/>
              </a:spcBef>
              <a:spcAft>
                <a:spcPct val="0"/>
              </a:spcAft>
              <a:buClr>
                <a:srgbClr val="000000"/>
              </a:buClr>
              <a:buFont typeface="Arial" panose="020B0604020202020204" pitchFamily="34" charset="0"/>
              <a:buNone/>
            </a:pPr>
            <a:r>
              <a:rPr lang="en-IN" altLang="en-US" sz="2400" b="1" dirty="0">
                <a:latin typeface="Times New Roman" panose="02020603050405020304" pitchFamily="18" charset="0"/>
                <a:cs typeface="Times New Roman" panose="02020603050405020304" pitchFamily="18" charset="0"/>
              </a:rPr>
              <a:t>Subject Result:</a:t>
            </a:r>
          </a:p>
          <a:p>
            <a:pPr algn="just">
              <a:spcBef>
                <a:spcPct val="0"/>
              </a:spcBef>
              <a:spcAft>
                <a:spcPct val="0"/>
              </a:spcAft>
              <a:buClr>
                <a:srgbClr val="000000"/>
              </a:buClr>
              <a:buFont typeface="Arial" panose="020B0604020202020204" pitchFamily="34" charset="0"/>
              <a:buNone/>
            </a:pPr>
            <a:endParaRPr lang="en-IN" altLang="en-US" sz="2400" b="1"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Section A: 95.65%</a:t>
            </a: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Section B: 97.14%</a:t>
            </a: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Section C: 84.51%</a:t>
            </a:r>
          </a:p>
          <a:p>
            <a:pPr algn="just">
              <a:spcBef>
                <a:spcPct val="0"/>
              </a:spcBef>
              <a:spcAft>
                <a:spcPct val="0"/>
              </a:spcAft>
              <a:buClr>
                <a:srgbClr val="000000"/>
              </a:buCl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Section D: 94.29%</a:t>
            </a:r>
          </a:p>
          <a:p>
            <a:pPr marL="0" indent="0">
              <a:buNone/>
            </a:pPr>
            <a:endParaRPr lang="en-IN" sz="2000" dirty="0"/>
          </a:p>
        </p:txBody>
      </p:sp>
      <p:sp>
        <p:nvSpPr>
          <p:cNvPr id="4" name="Date Placeholder 3"/>
          <p:cNvSpPr>
            <a:spLocks noGrp="1"/>
          </p:cNvSpPr>
          <p:nvPr>
            <p:ph type="dt" sz="half" idx="10"/>
          </p:nvPr>
        </p:nvSpPr>
        <p:spPr/>
        <p:txBody>
          <a:bodyPr/>
          <a:lstStyle/>
          <a:p>
            <a:fld id="{4635ADE7-E266-4C95-98B0-F62D88CF17B1}"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98"/>
            <a:ext cx="1514168" cy="1142996"/>
          </a:xfrm>
          <a:prstGeom prst="rect">
            <a:avLst/>
          </a:prstGeom>
        </p:spPr>
      </p:pic>
    </p:spTree>
    <p:extLst>
      <p:ext uri="{BB962C8B-B14F-4D97-AF65-F5344CB8AC3E}">
        <p14:creationId xmlns:p14="http://schemas.microsoft.com/office/powerpoint/2010/main" val="1349633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647E03-879D-4188-B9F7-4A741850D4F7}"/>
              </a:ext>
            </a:extLst>
          </p:cNvPr>
          <p:cNvSpPr txBox="1">
            <a:spLocks noGrp="1"/>
          </p:cNvSpPr>
          <p:nvPr>
            <p:ph type="title"/>
          </p:nvPr>
        </p:nvSpPr>
        <p:spPr>
          <a:xfrm>
            <a:off x="1447800" y="1"/>
            <a:ext cx="7696200" cy="9143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2400" dirty="0">
                <a:sym typeface="Arial" charset="0"/>
              </a:rPr>
              <a:t>End Semester Question Paper Template </a:t>
            </a:r>
            <a:endParaRPr lang="en-US" sz="2400" dirty="0">
              <a:sym typeface="Arial" charset="0"/>
            </a:endParaRPr>
          </a:p>
        </p:txBody>
      </p:sp>
      <p:sp>
        <p:nvSpPr>
          <p:cNvPr id="4" name="Date Placeholder 3"/>
          <p:cNvSpPr>
            <a:spLocks noGrp="1"/>
          </p:cNvSpPr>
          <p:nvPr>
            <p:ph type="dt" sz="half" idx="10"/>
          </p:nvPr>
        </p:nvSpPr>
        <p:spPr/>
        <p:txBody>
          <a:bodyPr/>
          <a:lstStyle/>
          <a:p>
            <a:fld id="{5F83D3EC-5D76-4BB3-9906-35362EF6F0A9}"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9" name="Picture 8"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6" y="0"/>
            <a:ext cx="1452716" cy="1035051"/>
          </a:xfrm>
          <a:prstGeom prst="rect">
            <a:avLst/>
          </a:prstGeom>
        </p:spPr>
      </p:pic>
      <p:pic>
        <p:nvPicPr>
          <p:cNvPr id="10" name="Picture 9"/>
          <p:cNvPicPr>
            <a:picLocks noChangeAspect="1"/>
          </p:cNvPicPr>
          <p:nvPr/>
        </p:nvPicPr>
        <p:blipFill>
          <a:blip r:embed="rId3"/>
          <a:stretch>
            <a:fillRect/>
          </a:stretch>
        </p:blipFill>
        <p:spPr>
          <a:xfrm>
            <a:off x="276225" y="1143000"/>
            <a:ext cx="8591550" cy="6015037"/>
          </a:xfrm>
          <a:prstGeom prst="rect">
            <a:avLst/>
          </a:prstGeom>
        </p:spPr>
      </p:pic>
    </p:spTree>
    <p:extLst>
      <p:ext uri="{BB962C8B-B14F-4D97-AF65-F5344CB8AC3E}">
        <p14:creationId xmlns:p14="http://schemas.microsoft.com/office/powerpoint/2010/main" val="2530946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647E03-879D-4188-B9F7-4A741850D4F7}"/>
              </a:ext>
            </a:extLst>
          </p:cNvPr>
          <p:cNvSpPr txBox="1">
            <a:spLocks noGrp="1"/>
          </p:cNvSpPr>
          <p:nvPr>
            <p:ph type="title"/>
          </p:nvPr>
        </p:nvSpPr>
        <p:spPr>
          <a:xfrm>
            <a:off x="1447800" y="1"/>
            <a:ext cx="7696200" cy="9143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2400" dirty="0">
                <a:sym typeface="Arial" charset="0"/>
              </a:rPr>
              <a:t>End Semester Question Paper Template </a:t>
            </a:r>
            <a:endParaRPr lang="en-US" sz="2400" dirty="0">
              <a:sym typeface="Arial" charset="0"/>
            </a:endParaRPr>
          </a:p>
        </p:txBody>
      </p:sp>
      <p:sp>
        <p:nvSpPr>
          <p:cNvPr id="4" name="Date Placeholder 3"/>
          <p:cNvSpPr>
            <a:spLocks noGrp="1"/>
          </p:cNvSpPr>
          <p:nvPr>
            <p:ph type="dt" sz="half" idx="10"/>
          </p:nvPr>
        </p:nvSpPr>
        <p:spPr/>
        <p:txBody>
          <a:bodyPr/>
          <a:lstStyle/>
          <a:p>
            <a:fld id="{CBB76700-EDD4-4763-A645-BD4582E64EDA}"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8" name="Picture 7"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4450"/>
            <a:ext cx="1447800" cy="946150"/>
          </a:xfrm>
          <a:prstGeom prst="rect">
            <a:avLst/>
          </a:prstGeom>
        </p:spPr>
      </p:pic>
      <p:pic>
        <p:nvPicPr>
          <p:cNvPr id="3" name="Picture 2"/>
          <p:cNvPicPr>
            <a:picLocks noChangeAspect="1"/>
          </p:cNvPicPr>
          <p:nvPr/>
        </p:nvPicPr>
        <p:blipFill>
          <a:blip r:embed="rId3"/>
          <a:stretch>
            <a:fillRect/>
          </a:stretch>
        </p:blipFill>
        <p:spPr>
          <a:xfrm>
            <a:off x="723900" y="1295400"/>
            <a:ext cx="7696200" cy="3995737"/>
          </a:xfrm>
          <a:prstGeom prst="rect">
            <a:avLst/>
          </a:prstGeom>
        </p:spPr>
      </p:pic>
    </p:spTree>
    <p:extLst>
      <p:ext uri="{BB962C8B-B14F-4D97-AF65-F5344CB8AC3E}">
        <p14:creationId xmlns:p14="http://schemas.microsoft.com/office/powerpoint/2010/main" val="149120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B647E03-879D-4188-B9F7-4A741850D4F7}"/>
              </a:ext>
            </a:extLst>
          </p:cNvPr>
          <p:cNvSpPr txBox="1">
            <a:spLocks noGrp="1"/>
          </p:cNvSpPr>
          <p:nvPr>
            <p:ph type="title"/>
          </p:nvPr>
        </p:nvSpPr>
        <p:spPr>
          <a:xfrm>
            <a:off x="1371601" y="1"/>
            <a:ext cx="7772400" cy="9143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2400" dirty="0">
                <a:sym typeface="Arial" charset="0"/>
              </a:rPr>
              <a:t>End Semester Question Paper Template </a:t>
            </a:r>
            <a:endParaRPr lang="en-US" sz="2400" dirty="0">
              <a:sym typeface="Arial" charset="0"/>
            </a:endParaRPr>
          </a:p>
        </p:txBody>
      </p:sp>
      <p:sp>
        <p:nvSpPr>
          <p:cNvPr id="4" name="Date Placeholder 3"/>
          <p:cNvSpPr>
            <a:spLocks noGrp="1"/>
          </p:cNvSpPr>
          <p:nvPr>
            <p:ph type="dt" sz="half" idx="10"/>
          </p:nvPr>
        </p:nvSpPr>
        <p:spPr/>
        <p:txBody>
          <a:bodyPr/>
          <a:lstStyle/>
          <a:p>
            <a:fld id="{E91F8A14-033E-42DD-8E79-40A3D2AEF5C2}"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10" name="Picture 9"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54" y="-62345"/>
            <a:ext cx="1433945" cy="1143000"/>
          </a:xfrm>
          <a:prstGeom prst="rect">
            <a:avLst/>
          </a:prstGeom>
        </p:spPr>
      </p:pic>
      <p:pic>
        <p:nvPicPr>
          <p:cNvPr id="2" name="Picture 1"/>
          <p:cNvPicPr>
            <a:picLocks noChangeAspect="1"/>
          </p:cNvPicPr>
          <p:nvPr/>
        </p:nvPicPr>
        <p:blipFill>
          <a:blip r:embed="rId3"/>
          <a:stretch>
            <a:fillRect/>
          </a:stretch>
        </p:blipFill>
        <p:spPr>
          <a:xfrm>
            <a:off x="647700" y="1143000"/>
            <a:ext cx="7848600" cy="5205849"/>
          </a:xfrm>
          <a:prstGeom prst="rect">
            <a:avLst/>
          </a:prstGeom>
        </p:spPr>
      </p:pic>
    </p:spTree>
    <p:extLst>
      <p:ext uri="{BB962C8B-B14F-4D97-AF65-F5344CB8AC3E}">
        <p14:creationId xmlns:p14="http://schemas.microsoft.com/office/powerpoint/2010/main" val="2052391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2"/>
            <a:ext cx="8229600" cy="4525963"/>
          </a:xfrm>
        </p:spPr>
        <p:txBody>
          <a:bodyPr>
            <a:normAutofit/>
          </a:bodyPr>
          <a:lstStyle/>
          <a:p>
            <a:pPr algn="just"/>
            <a:endParaRPr lang="en-US" dirty="0"/>
          </a:p>
          <a:p>
            <a:pPr algn="just"/>
            <a:r>
              <a:rPr lang="en-US" sz="2200" dirty="0"/>
              <a:t>Basics operations of mathematics.</a:t>
            </a:r>
          </a:p>
          <a:p>
            <a:pPr algn="just"/>
            <a:r>
              <a:rPr lang="en-US" sz="2200" dirty="0"/>
              <a:t>Discrete mathematics.</a:t>
            </a:r>
          </a:p>
          <a:p>
            <a:pPr algn="just"/>
            <a:r>
              <a:rPr lang="en-US" sz="2200" dirty="0"/>
              <a:t>Predicate logic.</a:t>
            </a:r>
          </a:p>
          <a:p>
            <a:pPr algn="just"/>
            <a:endParaRPr lang="en-US" sz="2000" dirty="0"/>
          </a:p>
        </p:txBody>
      </p:sp>
      <p:sp>
        <p:nvSpPr>
          <p:cNvPr id="4" name="Date Placeholder 3"/>
          <p:cNvSpPr>
            <a:spLocks noGrp="1"/>
          </p:cNvSpPr>
          <p:nvPr>
            <p:ph type="dt" sz="half" idx="10"/>
          </p:nvPr>
        </p:nvSpPr>
        <p:spPr/>
        <p:txBody>
          <a:bodyPr/>
          <a:lstStyle/>
          <a:p>
            <a:fld id="{3DAED73A-5885-4AB9-BF12-04FA0986A97B}" type="datetime1">
              <a:rPr lang="en-US" smtClean="0"/>
              <a:t>3/16/2026</a:t>
            </a:fld>
            <a:endParaRPr lang="en-US"/>
          </a:p>
        </p:txBody>
      </p:sp>
      <p:sp>
        <p:nvSpPr>
          <p:cNvPr id="5" name="Footer Placeholder 4"/>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22" name="Title 1"/>
          <p:cNvSpPr txBox="1"/>
          <p:nvPr/>
        </p:nvSpPr>
        <p:spPr>
          <a:xfrm>
            <a:off x="1295400" y="0"/>
            <a:ext cx="7772400" cy="990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400"/>
            </a:lvl1pPr>
          </a:lstStyle>
          <a:p>
            <a:r>
              <a:rPr lang="en-US" dirty="0"/>
              <a:t>Prerequisite for the Course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98"/>
            <a:ext cx="1399552" cy="11429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noGrp="1"/>
          </p:cNvSpPr>
          <p:nvPr>
            <p:ph type="title"/>
          </p:nvPr>
        </p:nvSpPr>
        <p:spPr>
          <a:xfrm>
            <a:off x="1447800" y="0"/>
            <a:ext cx="7686674" cy="990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400" dirty="0"/>
              <a:t>Recap</a:t>
            </a:r>
          </a:p>
        </p:txBody>
      </p:sp>
      <p:sp>
        <p:nvSpPr>
          <p:cNvPr id="3" name="Content Placeholder 2"/>
          <p:cNvSpPr>
            <a:spLocks noGrp="1"/>
          </p:cNvSpPr>
          <p:nvPr>
            <p:ph idx="1"/>
          </p:nvPr>
        </p:nvSpPr>
        <p:spPr/>
        <p:txBody>
          <a:bodyPr>
            <a:normAutofit/>
          </a:bodyPr>
          <a:lstStyle/>
          <a:p>
            <a:pPr algn="just"/>
            <a:r>
              <a:rPr lang="en-US" sz="1800" dirty="0"/>
              <a:t>Finite automata is an abstract computing device. It is a mathematical model of a system with discrete inputs, outputs, states and a set of transitions from state to state that occurs on input symbols from the alphabet Σ.</a:t>
            </a:r>
            <a:endParaRPr lang="en-IN" sz="1800" dirty="0"/>
          </a:p>
        </p:txBody>
      </p:sp>
      <p:sp>
        <p:nvSpPr>
          <p:cNvPr id="4" name="Date Placeholder 3"/>
          <p:cNvSpPr>
            <a:spLocks noGrp="1"/>
          </p:cNvSpPr>
          <p:nvPr>
            <p:ph type="dt" sz="half" idx="10"/>
          </p:nvPr>
        </p:nvSpPr>
        <p:spPr/>
        <p:txBody>
          <a:bodyPr/>
          <a:lstStyle/>
          <a:p>
            <a:fld id="{6CDBBE8C-2B88-46AC-8358-8E6C4FA1F447}" type="datetime1">
              <a:rPr lang="en-US" smtClean="0"/>
              <a:t>3/16/2026</a:t>
            </a:fld>
            <a:endParaRPr lang="en-US"/>
          </a:p>
        </p:txBody>
      </p:sp>
      <p:sp>
        <p:nvSpPr>
          <p:cNvPr id="5" name="Footer Placeholder 4"/>
          <p:cNvSpPr>
            <a:spLocks noGrp="1"/>
          </p:cNvSpPr>
          <p:nvPr>
            <p:ph type="ftr" sz="quarter" idx="11"/>
          </p:nvPr>
        </p:nvSpPr>
        <p:spPr>
          <a:xfrm>
            <a:off x="2209800" y="6356353"/>
            <a:ext cx="47244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8" name="Picture 7"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16" y="0"/>
            <a:ext cx="1452716" cy="1104798"/>
          </a:xfrm>
          <a:prstGeom prst="rect">
            <a:avLst/>
          </a:prstGeom>
        </p:spPr>
      </p:pic>
    </p:spTree>
    <p:extLst>
      <p:ext uri="{BB962C8B-B14F-4D97-AF65-F5344CB8AC3E}">
        <p14:creationId xmlns:p14="http://schemas.microsoft.com/office/powerpoint/2010/main" val="3119514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7B69F-9179-455E-8AE6-72C9F081D133}"/>
              </a:ext>
            </a:extLst>
          </p:cNvPr>
          <p:cNvSpPr>
            <a:spLocks noGrp="1"/>
          </p:cNvSpPr>
          <p:nvPr>
            <p:ph type="title"/>
          </p:nvPr>
        </p:nvSpPr>
        <p:spPr>
          <a:xfrm>
            <a:off x="1524000" y="0"/>
            <a:ext cx="7620003" cy="1066799"/>
          </a:xfr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2000" dirty="0"/>
              <a:t>Brief subject introduction with Video Lecture</a:t>
            </a:r>
            <a:endParaRPr lang="en-IN" sz="2000" dirty="0"/>
          </a:p>
        </p:txBody>
      </p:sp>
      <p:sp>
        <p:nvSpPr>
          <p:cNvPr id="3" name="Text Placeholder 2">
            <a:extLst>
              <a:ext uri="{FF2B5EF4-FFF2-40B4-BE49-F238E27FC236}">
                <a16:creationId xmlns:a16="http://schemas.microsoft.com/office/drawing/2014/main" id="{75C89B52-AAAE-4169-B897-3D1B3F019089}"/>
              </a:ext>
            </a:extLst>
          </p:cNvPr>
          <p:cNvSpPr>
            <a:spLocks noGrp="1"/>
          </p:cNvSpPr>
          <p:nvPr>
            <p:ph idx="1"/>
          </p:nvPr>
        </p:nvSpPr>
        <p:spPr>
          <a:solidFill>
            <a:schemeClr val="accent4">
              <a:lumMod val="20000"/>
              <a:lumOff val="80000"/>
            </a:schemeClr>
          </a:solidFill>
          <a:ln>
            <a:solidFill>
              <a:schemeClr val="tx1"/>
            </a:solidFill>
          </a:ln>
        </p:spPr>
        <p:txBody>
          <a:bodyPr/>
          <a:lstStyle/>
          <a:p>
            <a:r>
              <a:rPr lang="en-US" u="sng" dirty="0">
                <a:hlinkClick r:id="rId2"/>
              </a:rPr>
              <a:t>(73) TAFL1:Theory of Automata and Formal Language| Course Overview of automata, TOC Lectures in Hindi - YouTube</a:t>
            </a:r>
            <a:endParaRPr lang="en-IN" u="sng" dirty="0"/>
          </a:p>
          <a:p>
            <a:r>
              <a:rPr lang="en-US" dirty="0">
                <a:hlinkClick r:id="rId3"/>
              </a:rPr>
              <a:t>(73) TAFL2:Theory of Automata and Formal Language| Theory of Computation Tutorial Syllabus - YouTube</a:t>
            </a:r>
            <a:endParaRPr lang="en-IN" b="1" dirty="0"/>
          </a:p>
        </p:txBody>
      </p:sp>
      <p:sp>
        <p:nvSpPr>
          <p:cNvPr id="4" name="Date Placeholder 3">
            <a:extLst>
              <a:ext uri="{FF2B5EF4-FFF2-40B4-BE49-F238E27FC236}">
                <a16:creationId xmlns:a16="http://schemas.microsoft.com/office/drawing/2014/main" id="{A9D150E0-0174-469B-B364-43A1D8635C17}"/>
              </a:ext>
            </a:extLst>
          </p:cNvPr>
          <p:cNvSpPr>
            <a:spLocks noGrp="1"/>
          </p:cNvSpPr>
          <p:nvPr>
            <p:ph type="dt" sz="half" idx="10"/>
          </p:nvPr>
        </p:nvSpPr>
        <p:spPr/>
        <p:txBody>
          <a:bodyPr/>
          <a:lstStyle/>
          <a:p>
            <a:fld id="{940C8EF0-0A85-4FEE-9740-3D5600C92E65}" type="datetime1">
              <a:rPr lang="en-US" smtClean="0"/>
              <a:t>3/16/2026</a:t>
            </a:fld>
            <a:endParaRPr lang="en-US"/>
          </a:p>
        </p:txBody>
      </p:sp>
      <p:sp>
        <p:nvSpPr>
          <p:cNvPr id="5" name="Footer Placeholder 4">
            <a:extLst>
              <a:ext uri="{FF2B5EF4-FFF2-40B4-BE49-F238E27FC236}">
                <a16:creationId xmlns:a16="http://schemas.microsoft.com/office/drawing/2014/main" id="{9C47E8EE-517C-454F-BFE6-70CD69198795}"/>
              </a:ext>
            </a:extLst>
          </p:cNvPr>
          <p:cNvSpPr>
            <a:spLocks noGrp="1"/>
          </p:cNvSpPr>
          <p:nvPr>
            <p:ph type="ftr" sz="quarter" idx="11"/>
          </p:nvPr>
        </p:nvSpPr>
        <p:spPr>
          <a:xfrm>
            <a:off x="3124200" y="6356353"/>
            <a:ext cx="4114800" cy="365125"/>
          </a:xfrm>
        </p:spPr>
        <p:txBody>
          <a:bodyPr/>
          <a:lstStyle/>
          <a:p>
            <a:r>
              <a:rPr lang="en-US" smtClean="0"/>
              <a:t>Vivek Kumar Sharma          BCSE0404X (TOC)                  Unit I</a:t>
            </a:r>
            <a:endParaRPr lang="en-US" dirty="0"/>
          </a:p>
        </p:txBody>
      </p:sp>
      <p:sp>
        <p:nvSpPr>
          <p:cNvPr id="6" name="Slide Number Placeholder 5">
            <a:extLst>
              <a:ext uri="{FF2B5EF4-FFF2-40B4-BE49-F238E27FC236}">
                <a16:creationId xmlns:a16="http://schemas.microsoft.com/office/drawing/2014/main" id="{75E5D24E-C3DF-4A02-8786-7508B3661C77}"/>
              </a:ext>
            </a:extLst>
          </p:cNvPr>
          <p:cNvSpPr>
            <a:spLocks noGrp="1"/>
          </p:cNvSpPr>
          <p:nvPr>
            <p:ph type="sldNum" sz="quarter" idx="12"/>
          </p:nvPr>
        </p:nvSpPr>
        <p:spPr/>
        <p:txBody>
          <a:bodyPr/>
          <a:lstStyle/>
          <a:p>
            <a:fld id="{00000000-1234-1234-1234-123412341234}" type="slidenum">
              <a:rPr lang="en-US" smtClean="0"/>
              <a:pPr/>
              <a:t>22</a:t>
            </a:fld>
            <a:endParaRPr lang="en-US"/>
          </a:p>
        </p:txBody>
      </p:sp>
      <p:pic>
        <p:nvPicPr>
          <p:cNvPr id="7" name="Picture 6" descr="A black and red logo&#10;&#10;Description automatically generated">
            <a:extLst>
              <a:ext uri="{FF2B5EF4-FFF2-40B4-BE49-F238E27FC236}">
                <a16:creationId xmlns:a16="http://schemas.microsoft.com/office/drawing/2014/main" id="{888C478D-4AAE-F528-B624-315BAD55798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200" y="0"/>
            <a:ext cx="1447800" cy="1104798"/>
          </a:xfrm>
          <a:prstGeom prst="rect">
            <a:avLst/>
          </a:prstGeom>
        </p:spPr>
      </p:pic>
    </p:spTree>
    <p:extLst>
      <p:ext uri="{BB962C8B-B14F-4D97-AF65-F5344CB8AC3E}">
        <p14:creationId xmlns:p14="http://schemas.microsoft.com/office/powerpoint/2010/main" val="4072751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219956836"/>
              </p:ext>
            </p:extLst>
          </p:nvPr>
        </p:nvGraphicFramePr>
        <p:xfrm>
          <a:off x="1143000" y="1524000"/>
          <a:ext cx="7315202" cy="2438400"/>
        </p:xfrm>
        <a:graphic>
          <a:graphicData uri="http://schemas.openxmlformats.org/drawingml/2006/table">
            <a:tbl>
              <a:tblPr firstRow="1" bandRow="1">
                <a:tableStyleId>{5C22544A-7EE6-4342-B048-85BDC9FD1C3A}</a:tableStyleId>
              </a:tblPr>
              <a:tblGrid>
                <a:gridCol w="4702630">
                  <a:extLst>
                    <a:ext uri="{9D8B030D-6E8A-4147-A177-3AD203B41FA5}">
                      <a16:colId xmlns:a16="http://schemas.microsoft.com/office/drawing/2014/main" val="20000"/>
                    </a:ext>
                  </a:extLst>
                </a:gridCol>
                <a:gridCol w="2612572">
                  <a:extLst>
                    <a:ext uri="{9D8B030D-6E8A-4147-A177-3AD203B41FA5}">
                      <a16:colId xmlns:a16="http://schemas.microsoft.com/office/drawing/2014/main" val="20001"/>
                    </a:ext>
                  </a:extLst>
                </a:gridCol>
              </a:tblGrid>
              <a:tr h="782320">
                <a:tc>
                  <a:txBody>
                    <a:bodyPr/>
                    <a:lstStyle/>
                    <a:p>
                      <a:r>
                        <a:rPr lang="en-US" sz="1800" b="1" dirty="0">
                          <a:solidFill>
                            <a:schemeClr val="tx1"/>
                          </a:solidFill>
                          <a:latin typeface="Times New Roman" panose="02020603050405020304" pitchFamily="18" charset="0"/>
                          <a:cs typeface="Times New Roman" panose="02020603050405020304" pitchFamily="18" charset="0"/>
                        </a:rPr>
                        <a:t>Topics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tc>
                  <a:txBody>
                    <a:bodyPr/>
                    <a:lstStyle/>
                    <a:p>
                      <a:r>
                        <a:rPr lang="en-US" sz="1800" b="1" dirty="0">
                          <a:solidFill>
                            <a:schemeClr val="tx1"/>
                          </a:solidFill>
                          <a:latin typeface="Times New Roman" panose="02020603050405020304" pitchFamily="18" charset="0"/>
                          <a:cs typeface="Times New Roman" panose="02020603050405020304" pitchFamily="18" charset="0"/>
                        </a:rPr>
                        <a:t>Duration (in Hours)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extLst>
                  <a:ext uri="{0D108BD9-81ED-4DB2-BD59-A6C34878D82A}">
                    <a16:rowId xmlns:a16="http://schemas.microsoft.com/office/drawing/2014/main" val="10000"/>
                  </a:ext>
                </a:extLst>
              </a:tr>
              <a:tr h="782320">
                <a:tc>
                  <a:txBody>
                    <a:bodyPr/>
                    <a:lstStyle/>
                    <a:p>
                      <a:r>
                        <a:rPr lang="en-US" sz="2000" dirty="0" smtClean="0">
                          <a:solidFill>
                            <a:schemeClr val="tx1"/>
                          </a:solidFill>
                        </a:rPr>
                        <a:t>Introduction</a:t>
                      </a:r>
                      <a:endParaRPr lang="en-US" sz="2000" dirty="0">
                        <a:solidFill>
                          <a:schemeClr val="tx1"/>
                        </a:solidFill>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tc>
                  <a:txBody>
                    <a:bodyPr/>
                    <a:lstStyle/>
                    <a:p>
                      <a:r>
                        <a:rPr lang="en-US" sz="2000" dirty="0" smtClean="0">
                          <a:solidFill>
                            <a:schemeClr val="tx1"/>
                          </a:solidFill>
                        </a:rPr>
                        <a:t>3 </a:t>
                      </a:r>
                      <a:endParaRPr lang="en-US" sz="2000" dirty="0">
                        <a:solidFill>
                          <a:schemeClr val="tx1"/>
                        </a:solidFill>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extLst>
                  <a:ext uri="{0D108BD9-81ED-4DB2-BD59-A6C34878D82A}">
                    <a16:rowId xmlns:a16="http://schemas.microsoft.com/office/drawing/2014/main" val="10001"/>
                  </a:ext>
                </a:extLst>
              </a:tr>
              <a:tr h="436880">
                <a:tc>
                  <a:txBody>
                    <a:bodyPr/>
                    <a:lstStyle/>
                    <a:p>
                      <a:r>
                        <a:rPr lang="en-US" sz="2000" dirty="0" smtClean="0"/>
                        <a:t>Introduction to Finite State Machine</a:t>
                      </a:r>
                      <a:endParaRPr lang="en-US" sz="2000" dirty="0">
                        <a:solidFill>
                          <a:schemeClr val="tx1"/>
                        </a:solidFill>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tc>
                  <a:txBody>
                    <a:bodyPr/>
                    <a:lstStyle/>
                    <a:p>
                      <a:r>
                        <a:rPr lang="en-US" sz="2000" dirty="0" smtClean="0">
                          <a:solidFill>
                            <a:schemeClr val="tx1"/>
                          </a:solidFill>
                        </a:rPr>
                        <a:t>4</a:t>
                      </a:r>
                      <a:endParaRPr lang="en-US" sz="2000" dirty="0">
                        <a:solidFill>
                          <a:schemeClr val="tx1"/>
                        </a:solidFill>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extLst>
                  <a:ext uri="{0D108BD9-81ED-4DB2-BD59-A6C34878D82A}">
                    <a16:rowId xmlns:a16="http://schemas.microsoft.com/office/drawing/2014/main" val="10002"/>
                  </a:ext>
                </a:extLst>
              </a:tr>
              <a:tr h="436880">
                <a:tc>
                  <a:txBody>
                    <a:bodyPr/>
                    <a:lstStyle/>
                    <a:p>
                      <a:r>
                        <a:rPr lang="en-US" sz="2000" dirty="0" smtClean="0"/>
                        <a:t>Introduction to Compiler</a:t>
                      </a:r>
                      <a:endParaRPr lang="en-US" sz="2000" dirty="0">
                        <a:solidFill>
                          <a:schemeClr val="tx1"/>
                        </a:solidFill>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tc>
                  <a:txBody>
                    <a:bodyPr/>
                    <a:lstStyle/>
                    <a:p>
                      <a:r>
                        <a:rPr lang="en-US" sz="2000" dirty="0" smtClean="0">
                          <a:solidFill>
                            <a:schemeClr val="tx1"/>
                          </a:solidFill>
                        </a:rPr>
                        <a:t>3</a:t>
                      </a:r>
                      <a:endParaRPr lang="en-US" sz="2000" dirty="0">
                        <a:solidFill>
                          <a:schemeClr val="tx1"/>
                        </a:solidFill>
                      </a:endParaRP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extLst>
                  <a:ext uri="{0D108BD9-81ED-4DB2-BD59-A6C34878D82A}">
                    <a16:rowId xmlns:a16="http://schemas.microsoft.com/office/drawing/2014/main" val="10003"/>
                  </a:ext>
                </a:extLst>
              </a:tr>
            </a:tbl>
          </a:graphicData>
        </a:graphic>
      </p:graphicFrame>
      <p:sp>
        <p:nvSpPr>
          <p:cNvPr id="4" name="Date Placeholder 3"/>
          <p:cNvSpPr>
            <a:spLocks noGrp="1"/>
          </p:cNvSpPr>
          <p:nvPr>
            <p:ph type="dt" sz="half" idx="10"/>
          </p:nvPr>
        </p:nvSpPr>
        <p:spPr/>
        <p:txBody>
          <a:bodyPr/>
          <a:lstStyle/>
          <a:p>
            <a:fld id="{8ACFF0AA-E413-4A3A-827D-39F1341476F3}" type="datetime1">
              <a:rPr lang="en-US" smtClean="0"/>
              <a:t>3/16/2026</a:t>
            </a:fld>
            <a:endParaRPr lang="en-US"/>
          </a:p>
        </p:txBody>
      </p:sp>
      <p:sp>
        <p:nvSpPr>
          <p:cNvPr id="5" name="Footer Placeholder 4"/>
          <p:cNvSpPr>
            <a:spLocks noGrp="1"/>
          </p:cNvSpPr>
          <p:nvPr>
            <p:ph type="ftr" sz="quarter" idx="11"/>
          </p:nvPr>
        </p:nvSpPr>
        <p:spPr>
          <a:xfrm>
            <a:off x="2514600" y="6356353"/>
            <a:ext cx="50292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p:cNvSpPr txBox="1"/>
          <p:nvPr/>
        </p:nvSpPr>
        <p:spPr>
          <a:xfrm>
            <a:off x="1447800" y="0"/>
            <a:ext cx="7696200" cy="9906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400"/>
            </a:lvl1pPr>
          </a:lstStyle>
          <a:p>
            <a:r>
              <a:rPr lang="en-US"/>
              <a:t>Unit Contents</a:t>
            </a:r>
            <a:endParaRPr lang="en-US" dirty="0"/>
          </a:p>
        </p:txBody>
      </p:sp>
      <p:graphicFrame>
        <p:nvGraphicFramePr>
          <p:cNvPr id="10" name="Table 9"/>
          <p:cNvGraphicFramePr>
            <a:graphicFrameLocks noGrp="1"/>
          </p:cNvGraphicFramePr>
          <p:nvPr>
            <p:extLst>
              <p:ext uri="{D42A27DB-BD31-4B8C-83A1-F6EECF244321}">
                <p14:modId xmlns:p14="http://schemas.microsoft.com/office/powerpoint/2010/main" val="4268257350"/>
              </p:ext>
            </p:extLst>
          </p:nvPr>
        </p:nvGraphicFramePr>
        <p:xfrm>
          <a:off x="1219200" y="4724400"/>
          <a:ext cx="7315200" cy="1219200"/>
        </p:xfrm>
        <a:graphic>
          <a:graphicData uri="http://schemas.openxmlformats.org/drawingml/2006/table">
            <a:tbl>
              <a:tblPr firstRow="1" bandRow="1">
                <a:tableStyleId>{5C22544A-7EE6-4342-B048-85BDC9FD1C3A}</a:tableStyleId>
              </a:tblPr>
              <a:tblGrid>
                <a:gridCol w="46482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tblGrid>
              <a:tr h="782320">
                <a:tc>
                  <a:txBody>
                    <a:bodyPr/>
                    <a:lstStyle/>
                    <a:p>
                      <a:r>
                        <a:rPr lang="en-US" sz="1600" dirty="0">
                          <a:solidFill>
                            <a:schemeClr val="tx1"/>
                          </a:solidFill>
                        </a:rPr>
                        <a:t>Topics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tc>
                  <a:txBody>
                    <a:bodyPr/>
                    <a:lstStyle/>
                    <a:p>
                      <a:r>
                        <a:rPr lang="en-US" sz="1600" dirty="0">
                          <a:solidFill>
                            <a:schemeClr val="tx1"/>
                          </a:solidFill>
                        </a:rPr>
                        <a:t>Duration (in Hours)</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extLst>
                  <a:ext uri="{0D108BD9-81ED-4DB2-BD59-A6C34878D82A}">
                    <a16:rowId xmlns:a16="http://schemas.microsoft.com/office/drawing/2014/main" val="10000"/>
                  </a:ext>
                </a:extLst>
              </a:tr>
              <a:tr h="436880">
                <a:tc>
                  <a:txBody>
                    <a:bodyPr/>
                    <a:lstStyle/>
                    <a:p>
                      <a:r>
                        <a:rPr lang="en-US" sz="1600" dirty="0">
                          <a:solidFill>
                            <a:schemeClr val="tx1"/>
                          </a:solidFill>
                        </a:rPr>
                        <a:t>Assignment, Tutorials and Quiz</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tc>
                  <a:txBody>
                    <a:bodyPr/>
                    <a:lstStyle/>
                    <a:p>
                      <a:r>
                        <a:rPr lang="en-US" sz="1600" dirty="0">
                          <a:solidFill>
                            <a:schemeClr val="tx1"/>
                          </a:solidFill>
                        </a:rPr>
                        <a:t>1 </a:t>
                      </a:r>
                    </a:p>
                  </a:txBody>
                  <a:tcP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chemeClr val="accent2">
                        <a:lumMod val="40000"/>
                        <a:lumOff val="60000"/>
                        <a:alpha val="4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lvl="0" algn="just"/>
            <a:endParaRPr lang="en-US" sz="1739" dirty="0"/>
          </a:p>
          <a:p>
            <a:pPr algn="just"/>
            <a:endParaRPr lang="en-US" sz="1739" dirty="0"/>
          </a:p>
        </p:txBody>
      </p:sp>
      <p:sp>
        <p:nvSpPr>
          <p:cNvPr id="56" name="Content Placeholder 55"/>
          <p:cNvSpPr>
            <a:spLocks noGrp="1"/>
          </p:cNvSpPr>
          <p:nvPr>
            <p:ph sz="quarter" idx="4"/>
          </p:nvPr>
        </p:nvSpPr>
        <p:spPr>
          <a:xfrm>
            <a:off x="304800" y="1308652"/>
            <a:ext cx="8610600" cy="4572000"/>
          </a:xfrm>
        </p:spPr>
        <p:txBody>
          <a:bodyPr>
            <a:normAutofit/>
          </a:bodyPr>
          <a:lstStyle/>
          <a:p>
            <a:pPr algn="just"/>
            <a:r>
              <a:rPr lang="en-US" sz="1739" dirty="0"/>
              <a:t>We have already discussed that languages accepted by Finite Automata are called Regular Language.</a:t>
            </a:r>
          </a:p>
          <a:p>
            <a:pPr algn="just"/>
            <a:r>
              <a:rPr lang="en-US" sz="1739" i="1" dirty="0"/>
              <a:t>Regular expressions</a:t>
            </a:r>
            <a:r>
              <a:rPr lang="en-US" sz="1739" dirty="0"/>
              <a:t>  are an algebraic way to describe languages.</a:t>
            </a:r>
          </a:p>
          <a:p>
            <a:pPr algn="just"/>
            <a:r>
              <a:rPr lang="en-US" sz="1739" dirty="0"/>
              <a:t>They describe exactly the regular languages.</a:t>
            </a:r>
          </a:p>
          <a:p>
            <a:pPr algn="just"/>
            <a:r>
              <a:rPr lang="en-US" sz="1739" dirty="0"/>
              <a:t>If E is a regular expression, then L(E) is the language it defines.</a:t>
            </a:r>
          </a:p>
          <a:p>
            <a:pPr algn="just"/>
            <a:r>
              <a:rPr lang="en-US" sz="1739" dirty="0"/>
              <a:t>We’ll describe RE’s and  their languages recursively.</a:t>
            </a:r>
          </a:p>
          <a:p>
            <a:pPr algn="just"/>
            <a:r>
              <a:rPr lang="en-US" sz="1739" dirty="0"/>
              <a:t>An expression  that express the regular language is called the regular Expression</a:t>
            </a:r>
          </a:p>
          <a:p>
            <a:pPr algn="just"/>
            <a:r>
              <a:rPr lang="en-US" sz="1739" dirty="0"/>
              <a:t>Any set that represents the value of the Regular Expression is called a </a:t>
            </a:r>
            <a:r>
              <a:rPr lang="en-US" sz="1739" b="1" dirty="0"/>
              <a:t>Regular Set</a:t>
            </a:r>
            <a:endParaRPr lang="en-US" sz="1739" dirty="0"/>
          </a:p>
          <a:p>
            <a:pPr algn="just"/>
            <a:r>
              <a:rPr lang="en-US" sz="1739" dirty="0"/>
              <a:t>RE is written for the Regular Language using </a:t>
            </a:r>
            <a:r>
              <a:rPr lang="en-US" sz="1739" b="1" dirty="0"/>
              <a:t>+, . , *</a:t>
            </a:r>
            <a:r>
              <a:rPr lang="en-US" sz="1739" dirty="0"/>
              <a:t> is known as Regular Expression. </a:t>
            </a:r>
          </a:p>
          <a:p>
            <a:pPr algn="just">
              <a:buNone/>
            </a:pPr>
            <a:r>
              <a:rPr lang="en-US" sz="1739" dirty="0"/>
              <a:t>Examples</a:t>
            </a:r>
          </a:p>
          <a:p>
            <a:pPr algn="just"/>
            <a:r>
              <a:rPr lang="en-US" sz="1739" dirty="0"/>
              <a:t>(</a:t>
            </a:r>
            <a:r>
              <a:rPr lang="en-US" sz="1739" dirty="0" err="1"/>
              <a:t>a+b</a:t>
            </a:r>
            <a:r>
              <a:rPr lang="en-US" sz="1739" dirty="0"/>
              <a:t>)</a:t>
            </a:r>
          </a:p>
          <a:p>
            <a:pPr algn="just"/>
            <a:r>
              <a:rPr lang="en-US" sz="1739" dirty="0"/>
              <a:t>(0+10*)</a:t>
            </a:r>
          </a:p>
          <a:p>
            <a:pPr algn="just"/>
            <a:r>
              <a:rPr lang="en-US" sz="1739" dirty="0"/>
              <a:t>(</a:t>
            </a:r>
            <a:r>
              <a:rPr lang="en-US" sz="1739" dirty="0" err="1"/>
              <a:t>a+Ɛ</a:t>
            </a:r>
            <a:r>
              <a:rPr lang="en-US" sz="1739" dirty="0"/>
              <a:t>)b*a</a:t>
            </a:r>
          </a:p>
          <a:p>
            <a:pPr algn="just"/>
            <a:r>
              <a:rPr lang="en-US" sz="1739" dirty="0"/>
              <a:t>(</a:t>
            </a:r>
            <a:r>
              <a:rPr lang="en-US" sz="1739" dirty="0" err="1"/>
              <a:t>ab+ba</a:t>
            </a:r>
            <a:r>
              <a:rPr lang="en-US" sz="1739" dirty="0"/>
              <a:t>)*</a:t>
            </a:r>
          </a:p>
        </p:txBody>
      </p:sp>
      <p:sp>
        <p:nvSpPr>
          <p:cNvPr id="4" name="Date Placeholder 3"/>
          <p:cNvSpPr>
            <a:spLocks noGrp="1"/>
          </p:cNvSpPr>
          <p:nvPr>
            <p:ph type="dt" sz="half" idx="10"/>
          </p:nvPr>
        </p:nvSpPr>
        <p:spPr/>
        <p:txBody>
          <a:bodyPr/>
          <a:lstStyle/>
          <a:p>
            <a:fld id="{FCD1F2AF-F45D-4053-9F84-1B2E585048F6}" type="datetime1">
              <a:rPr lang="en-US" smtClean="0"/>
              <a:t>3/16/2026</a:t>
            </a:fld>
            <a:endParaRPr lang="en-US"/>
          </a:p>
        </p:txBody>
      </p:sp>
      <p:sp>
        <p:nvSpPr>
          <p:cNvPr id="5" name="Footer Placeholder 4"/>
          <p:cNvSpPr>
            <a:spLocks noGrp="1"/>
          </p:cNvSpPr>
          <p:nvPr>
            <p:ph type="ftr" sz="quarter" idx="11"/>
          </p:nvPr>
        </p:nvSpPr>
        <p:spPr>
          <a:xfrm>
            <a:off x="2286000" y="5974525"/>
            <a:ext cx="48006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22" name="Title 1"/>
          <p:cNvSpPr txBox="1">
            <a:spLocks/>
          </p:cNvSpPr>
          <p:nvPr/>
        </p:nvSpPr>
        <p:spPr>
          <a:xfrm>
            <a:off x="1371600" y="447261"/>
            <a:ext cx="75438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b="1" dirty="0"/>
              <a:t>Regular Expression(RE)</a:t>
            </a:r>
          </a:p>
        </p:txBody>
      </p:sp>
    </p:spTree>
    <p:extLst>
      <p:ext uri="{BB962C8B-B14F-4D97-AF65-F5344CB8AC3E}">
        <p14:creationId xmlns:p14="http://schemas.microsoft.com/office/powerpoint/2010/main" val="4210347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lvl="0" algn="just"/>
            <a:endParaRPr lang="en-US" sz="1739" dirty="0"/>
          </a:p>
          <a:p>
            <a:pPr algn="just"/>
            <a:endParaRPr lang="en-US" sz="1739" dirty="0"/>
          </a:p>
        </p:txBody>
      </p:sp>
      <p:sp>
        <p:nvSpPr>
          <p:cNvPr id="4" name="Date Placeholder 3"/>
          <p:cNvSpPr>
            <a:spLocks noGrp="1"/>
          </p:cNvSpPr>
          <p:nvPr>
            <p:ph type="dt" sz="half" idx="10"/>
          </p:nvPr>
        </p:nvSpPr>
        <p:spPr/>
        <p:txBody>
          <a:bodyPr/>
          <a:lstStyle/>
          <a:p>
            <a:fld id="{1CE858D5-936B-4737-8AB8-355690CD06F9}" type="datetime1">
              <a:rPr lang="en-US" smtClean="0"/>
              <a:t>3/16/2026</a:t>
            </a:fld>
            <a:endParaRPr lang="en-US"/>
          </a:p>
        </p:txBody>
      </p:sp>
      <p:sp>
        <p:nvSpPr>
          <p:cNvPr id="5" name="Footer Placeholder 4"/>
          <p:cNvSpPr>
            <a:spLocks noGrp="1"/>
          </p:cNvSpPr>
          <p:nvPr>
            <p:ph type="ftr" sz="quarter" idx="11"/>
          </p:nvPr>
        </p:nvSpPr>
        <p:spPr>
          <a:xfrm>
            <a:off x="2286000" y="5974525"/>
            <a:ext cx="48006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Regular Expression(RE)</a:t>
            </a:r>
          </a:p>
        </p:txBody>
      </p:sp>
      <p:sp>
        <p:nvSpPr>
          <p:cNvPr id="10" name="Rectangle 9"/>
          <p:cNvSpPr/>
          <p:nvPr/>
        </p:nvSpPr>
        <p:spPr>
          <a:xfrm>
            <a:off x="381000" y="1308654"/>
            <a:ext cx="8534400" cy="3467231"/>
          </a:xfrm>
          <a:prstGeom prst="rect">
            <a:avLst/>
          </a:prstGeom>
        </p:spPr>
        <p:txBody>
          <a:bodyPr wrap="square">
            <a:spAutoFit/>
          </a:bodyPr>
          <a:lstStyle/>
          <a:p>
            <a:pPr marL="397581" indent="-397581" algn="just"/>
            <a:r>
              <a:rPr lang="en-US" sz="1739" dirty="0"/>
              <a:t>Formally a regular expression is defined recursively as </a:t>
            </a:r>
          </a:p>
          <a:p>
            <a:pPr marL="397581" indent="-397581" algn="just">
              <a:buFont typeface="+mj-lt"/>
              <a:buAutoNum type="arabicPeriod"/>
            </a:pPr>
            <a:r>
              <a:rPr lang="en-US" sz="1739" dirty="0"/>
              <a:t>Any terminal symbol (i.e. an element of ∑:), Ɛ and </a:t>
            </a:r>
            <a:r>
              <a:rPr lang="en-US" sz="1739" dirty="0">
                <a:sym typeface="Symbol"/>
              </a:rPr>
              <a:t></a:t>
            </a:r>
            <a:r>
              <a:rPr lang="en-US" sz="1739" dirty="0"/>
              <a:t> are regular expressions. When we view </a:t>
            </a:r>
            <a:r>
              <a:rPr lang="en-US" sz="1739" i="1" dirty="0"/>
              <a:t>a in </a:t>
            </a:r>
            <a:r>
              <a:rPr lang="en-US" sz="1739" dirty="0"/>
              <a:t> ∑</a:t>
            </a:r>
            <a:r>
              <a:rPr lang="en-US" sz="1739" i="1" dirty="0"/>
              <a:t> as a regular expression, we </a:t>
            </a:r>
            <a:r>
              <a:rPr lang="en-US" sz="1739" b="1" i="1" dirty="0"/>
              <a:t>denote </a:t>
            </a:r>
            <a:r>
              <a:rPr lang="en-US" sz="1739" b="1" dirty="0"/>
              <a:t>it by a.</a:t>
            </a:r>
          </a:p>
          <a:p>
            <a:pPr marL="397581" indent="-397581" algn="just">
              <a:buFont typeface="+mj-lt"/>
              <a:buAutoNum type="arabicPeriod"/>
            </a:pPr>
            <a:r>
              <a:rPr lang="en-US" sz="1739" dirty="0"/>
              <a:t> The union of two regular expressions R1 and </a:t>
            </a:r>
            <a:r>
              <a:rPr lang="en-US" sz="1739" dirty="0" smtClean="0"/>
              <a:t>R2 </a:t>
            </a:r>
            <a:r>
              <a:rPr lang="en-US" sz="1739" dirty="0"/>
              <a:t>written as </a:t>
            </a:r>
            <a:r>
              <a:rPr lang="en-US" sz="1739" b="1" dirty="0"/>
              <a:t>R1+ R2, is also a regular expression.</a:t>
            </a:r>
          </a:p>
          <a:p>
            <a:pPr marL="397581" indent="-397581" algn="just">
              <a:buFont typeface="+mj-lt"/>
              <a:buAutoNum type="arabicPeriod"/>
            </a:pPr>
            <a:r>
              <a:rPr lang="en-US" sz="1739" dirty="0"/>
              <a:t>The concatenation of two regular expressions R1 and R2, written as </a:t>
            </a:r>
            <a:r>
              <a:rPr lang="en-US" sz="1739" b="1" dirty="0"/>
              <a:t>R1 </a:t>
            </a:r>
            <a:r>
              <a:rPr lang="en-US" sz="2800" b="1" dirty="0" smtClean="0"/>
              <a:t>.</a:t>
            </a:r>
            <a:r>
              <a:rPr lang="en-US" sz="1739" b="1" dirty="0" smtClean="0"/>
              <a:t> R2</a:t>
            </a:r>
            <a:r>
              <a:rPr lang="en-US" sz="1739" b="1" dirty="0"/>
              <a:t>, is also a regular expression</a:t>
            </a:r>
            <a:r>
              <a:rPr lang="en-US" sz="1739" dirty="0"/>
              <a:t>.</a:t>
            </a:r>
          </a:p>
          <a:p>
            <a:pPr marL="397581" indent="-397581" algn="just">
              <a:buFont typeface="+mj-lt"/>
              <a:buAutoNum type="arabicPeriod"/>
            </a:pPr>
            <a:r>
              <a:rPr lang="en-US" sz="1739" dirty="0"/>
              <a:t>The iteration (or closure) of a regular expression R written as </a:t>
            </a:r>
            <a:r>
              <a:rPr lang="en-US" sz="1739" b="1" dirty="0"/>
              <a:t>R*, is also a regular expression.</a:t>
            </a:r>
          </a:p>
          <a:p>
            <a:pPr marL="397581" indent="-397581" algn="just">
              <a:buFont typeface="+mj-lt"/>
              <a:buAutoNum type="arabicPeriod"/>
            </a:pPr>
            <a:r>
              <a:rPr lang="en-US" sz="1739" i="1" dirty="0"/>
              <a:t>If R is a regular expression, then </a:t>
            </a:r>
            <a:r>
              <a:rPr lang="en-US" sz="1739" b="1" i="1" dirty="0"/>
              <a:t>(R) is also a regular expression</a:t>
            </a:r>
            <a:r>
              <a:rPr lang="en-US" sz="1739" i="1" dirty="0"/>
              <a:t>.</a:t>
            </a:r>
          </a:p>
          <a:p>
            <a:pPr marL="397581" indent="-397581" algn="just">
              <a:buFont typeface="+mj-lt"/>
              <a:buAutoNum type="arabicPeriod"/>
            </a:pPr>
            <a:r>
              <a:rPr lang="en-US" sz="1739" dirty="0"/>
              <a:t>The regular expressions over ∑ are precisely those obtained recursively by the application of the rules </a:t>
            </a:r>
            <a:r>
              <a:rPr lang="en-US" sz="1739" i="1" dirty="0"/>
              <a:t>1-5 once or several times.</a:t>
            </a:r>
            <a:endParaRPr lang="en-US" sz="1391" dirty="0"/>
          </a:p>
        </p:txBody>
      </p:sp>
    </p:spTree>
    <p:extLst>
      <p:ext uri="{BB962C8B-B14F-4D97-AF65-F5344CB8AC3E}">
        <p14:creationId xmlns:p14="http://schemas.microsoft.com/office/powerpoint/2010/main" val="6423133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6F1DC12-973E-431D-A3E6-EDA92FCE2AC3}" type="datetime1">
              <a:rPr lang="en-US" smtClean="0"/>
              <a:t>3/16/2026</a:t>
            </a:fld>
            <a:endParaRPr lang="en-US"/>
          </a:p>
        </p:txBody>
      </p:sp>
      <p:sp>
        <p:nvSpPr>
          <p:cNvPr id="5" name="Footer Placeholder 4"/>
          <p:cNvSpPr>
            <a:spLocks noGrp="1"/>
          </p:cNvSpPr>
          <p:nvPr>
            <p:ph type="ftr" sz="quarter" idx="11"/>
          </p:nvPr>
        </p:nvSpPr>
        <p:spPr>
          <a:xfrm>
            <a:off x="2286000" y="5974525"/>
            <a:ext cx="48006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b="1" dirty="0"/>
              <a:t>Regular Expression(RE)</a:t>
            </a:r>
          </a:p>
        </p:txBody>
      </p:sp>
      <p:sp>
        <p:nvSpPr>
          <p:cNvPr id="10" name="Rectangle 9"/>
          <p:cNvSpPr/>
          <p:nvPr/>
        </p:nvSpPr>
        <p:spPr>
          <a:xfrm>
            <a:off x="381000" y="1308655"/>
            <a:ext cx="8534400" cy="3384260"/>
          </a:xfrm>
          <a:prstGeom prst="rect">
            <a:avLst/>
          </a:prstGeom>
        </p:spPr>
        <p:txBody>
          <a:bodyPr wrap="square">
            <a:spAutoFit/>
          </a:bodyPr>
          <a:lstStyle/>
          <a:p>
            <a:pPr algn="just"/>
            <a:r>
              <a:rPr lang="en-US" sz="1739" dirty="0">
                <a:solidFill>
                  <a:srgbClr val="3366FF"/>
                </a:solidFill>
              </a:rPr>
              <a:t>Basis 1</a:t>
            </a:r>
            <a:r>
              <a:rPr lang="en-US" sz="1739" dirty="0"/>
              <a:t>: If </a:t>
            </a:r>
            <a:r>
              <a:rPr lang="en-US" sz="1739" i="1" dirty="0"/>
              <a:t>a</a:t>
            </a:r>
            <a:r>
              <a:rPr lang="en-US" sz="1739" dirty="0"/>
              <a:t>  is any symbol, then </a:t>
            </a:r>
            <a:r>
              <a:rPr lang="en-US" sz="1739" b="1" dirty="0"/>
              <a:t>a</a:t>
            </a:r>
            <a:r>
              <a:rPr lang="en-US" sz="1739" dirty="0"/>
              <a:t> is a RE, and L(</a:t>
            </a:r>
            <a:r>
              <a:rPr lang="en-US" sz="1739" b="1" dirty="0"/>
              <a:t>a</a:t>
            </a:r>
            <a:r>
              <a:rPr lang="en-US" sz="1739" dirty="0"/>
              <a:t>) = {a}.</a:t>
            </a:r>
          </a:p>
          <a:p>
            <a:pPr lvl="1" algn="just"/>
            <a:r>
              <a:rPr lang="en-US" sz="1739" dirty="0">
                <a:solidFill>
                  <a:srgbClr val="CC3300"/>
                </a:solidFill>
              </a:rPr>
              <a:t>Note</a:t>
            </a:r>
            <a:r>
              <a:rPr lang="en-US" sz="1739" dirty="0"/>
              <a:t>: {a} is the language containing one string, and that string is of length 1</a:t>
            </a:r>
            <a:r>
              <a:rPr lang="en-US" sz="1739" dirty="0" smtClean="0"/>
              <a:t>.</a:t>
            </a:r>
          </a:p>
          <a:p>
            <a:pPr lvl="1" algn="just"/>
            <a:endParaRPr lang="en-US" sz="1739" dirty="0"/>
          </a:p>
          <a:p>
            <a:pPr algn="just"/>
            <a:r>
              <a:rPr lang="en-US" sz="1739" dirty="0">
                <a:solidFill>
                  <a:srgbClr val="3366FF"/>
                </a:solidFill>
              </a:rPr>
              <a:t>Basis 2</a:t>
            </a:r>
            <a:r>
              <a:rPr lang="en-US" sz="1739" dirty="0"/>
              <a:t>: ε is a RE, and L(ε) = {ε</a:t>
            </a:r>
            <a:r>
              <a:rPr lang="en-US" sz="1739" dirty="0" smtClean="0"/>
              <a:t>}.</a:t>
            </a:r>
            <a:endParaRPr lang="en-US" sz="1739" dirty="0"/>
          </a:p>
          <a:p>
            <a:pPr algn="just"/>
            <a:r>
              <a:rPr lang="en-US" sz="1739" dirty="0">
                <a:solidFill>
                  <a:srgbClr val="3366FF"/>
                </a:solidFill>
              </a:rPr>
              <a:t>Basis 3</a:t>
            </a:r>
            <a:r>
              <a:rPr lang="en-US" sz="1739" dirty="0"/>
              <a:t>: </a:t>
            </a:r>
            <a:r>
              <a:rPr lang="en-US" sz="2435" dirty="0"/>
              <a:t>∅</a:t>
            </a:r>
            <a:r>
              <a:rPr lang="en-US" sz="1739" dirty="0"/>
              <a:t> is a RE, and L(</a:t>
            </a:r>
            <a:r>
              <a:rPr lang="en-US" sz="2435" dirty="0"/>
              <a:t>∅</a:t>
            </a:r>
            <a:r>
              <a:rPr lang="en-US" sz="1739" dirty="0"/>
              <a:t>) = </a:t>
            </a:r>
            <a:r>
              <a:rPr lang="en-US" sz="2435" dirty="0"/>
              <a:t>∅</a:t>
            </a:r>
            <a:r>
              <a:rPr lang="en-US" sz="1739" dirty="0" smtClean="0"/>
              <a:t>.</a:t>
            </a:r>
          </a:p>
          <a:p>
            <a:pPr algn="just"/>
            <a:endParaRPr lang="en-US" sz="1739" dirty="0"/>
          </a:p>
          <a:p>
            <a:pPr algn="just"/>
            <a:r>
              <a:rPr lang="en-US" sz="1739" dirty="0">
                <a:solidFill>
                  <a:srgbClr val="3366FF"/>
                </a:solidFill>
              </a:rPr>
              <a:t>Induction 1</a:t>
            </a:r>
            <a:r>
              <a:rPr lang="en-US" sz="1739" dirty="0"/>
              <a:t>: If E</a:t>
            </a:r>
            <a:r>
              <a:rPr lang="en-US" sz="1739" baseline="-25000" dirty="0"/>
              <a:t>1</a:t>
            </a:r>
            <a:r>
              <a:rPr lang="en-US" sz="1739" dirty="0"/>
              <a:t> and E</a:t>
            </a:r>
            <a:r>
              <a:rPr lang="en-US" sz="1739" baseline="-25000" dirty="0"/>
              <a:t>2</a:t>
            </a:r>
            <a:r>
              <a:rPr lang="en-US" sz="1739" dirty="0"/>
              <a:t> are regular expressions, then E</a:t>
            </a:r>
            <a:r>
              <a:rPr lang="en-US" sz="1739" baseline="-25000" dirty="0"/>
              <a:t>1</a:t>
            </a:r>
            <a:r>
              <a:rPr lang="en-US" sz="1739" dirty="0"/>
              <a:t>+E</a:t>
            </a:r>
            <a:r>
              <a:rPr lang="en-US" sz="1739" baseline="-25000" dirty="0"/>
              <a:t>2</a:t>
            </a:r>
            <a:r>
              <a:rPr lang="en-US" sz="1739" dirty="0"/>
              <a:t> is a regular expression, and L(E</a:t>
            </a:r>
            <a:r>
              <a:rPr lang="en-US" sz="1739" baseline="-25000" dirty="0"/>
              <a:t>1</a:t>
            </a:r>
            <a:r>
              <a:rPr lang="en-US" sz="1739" dirty="0"/>
              <a:t>+E</a:t>
            </a:r>
            <a:r>
              <a:rPr lang="en-US" sz="1739" baseline="-25000" dirty="0"/>
              <a:t>2</a:t>
            </a:r>
            <a:r>
              <a:rPr lang="en-US" sz="1739" dirty="0"/>
              <a:t>) = L(E</a:t>
            </a:r>
            <a:r>
              <a:rPr lang="en-US" sz="1739" baseline="-25000" dirty="0"/>
              <a:t>1</a:t>
            </a:r>
            <a:r>
              <a:rPr lang="en-US" sz="1739" dirty="0"/>
              <a:t>)</a:t>
            </a:r>
            <a:r>
              <a:rPr lang="en-US" sz="1739" dirty="0">
                <a:sym typeface="Symbol" pitchFamily="18" charset="2"/>
              </a:rPr>
              <a:t></a:t>
            </a:r>
            <a:r>
              <a:rPr lang="en-US" sz="1739" dirty="0"/>
              <a:t>L(E</a:t>
            </a:r>
            <a:r>
              <a:rPr lang="en-US" sz="1739" baseline="-25000" dirty="0"/>
              <a:t>2</a:t>
            </a:r>
            <a:r>
              <a:rPr lang="en-US" sz="1739" dirty="0" smtClean="0"/>
              <a:t>).</a:t>
            </a:r>
          </a:p>
          <a:p>
            <a:pPr algn="just"/>
            <a:endParaRPr lang="en-US" sz="1739" dirty="0"/>
          </a:p>
          <a:p>
            <a:pPr algn="just"/>
            <a:r>
              <a:rPr lang="en-US" sz="1739" dirty="0">
                <a:solidFill>
                  <a:srgbClr val="3366FF"/>
                </a:solidFill>
              </a:rPr>
              <a:t>Induction 2</a:t>
            </a:r>
            <a:r>
              <a:rPr lang="en-US" sz="1739" dirty="0"/>
              <a:t>: If E</a:t>
            </a:r>
            <a:r>
              <a:rPr lang="en-US" sz="1739" baseline="-25000" dirty="0"/>
              <a:t>1</a:t>
            </a:r>
            <a:r>
              <a:rPr lang="en-US" sz="1739" dirty="0"/>
              <a:t> and E</a:t>
            </a:r>
            <a:r>
              <a:rPr lang="en-US" sz="1739" baseline="-25000" dirty="0"/>
              <a:t>2</a:t>
            </a:r>
            <a:r>
              <a:rPr lang="en-US" sz="1739" dirty="0"/>
              <a:t> are regular expressions, then E</a:t>
            </a:r>
            <a:r>
              <a:rPr lang="en-US" sz="1739" baseline="-25000" dirty="0"/>
              <a:t>1</a:t>
            </a:r>
            <a:r>
              <a:rPr lang="en-US" sz="1739" dirty="0"/>
              <a:t>E</a:t>
            </a:r>
            <a:r>
              <a:rPr lang="en-US" sz="1739" baseline="-25000" dirty="0"/>
              <a:t>2</a:t>
            </a:r>
            <a:r>
              <a:rPr lang="en-US" sz="1739" dirty="0"/>
              <a:t> is a regular expression, and L(E</a:t>
            </a:r>
            <a:r>
              <a:rPr lang="en-US" sz="1739" baseline="-25000" dirty="0"/>
              <a:t>1</a:t>
            </a:r>
            <a:r>
              <a:rPr lang="en-US" sz="1739" dirty="0"/>
              <a:t>E</a:t>
            </a:r>
            <a:r>
              <a:rPr lang="en-US" sz="1739" baseline="-25000" dirty="0"/>
              <a:t>2</a:t>
            </a:r>
            <a:r>
              <a:rPr lang="en-US" sz="1739" dirty="0"/>
              <a:t>) = L(E</a:t>
            </a:r>
            <a:r>
              <a:rPr lang="en-US" sz="1739" baseline="-25000" dirty="0"/>
              <a:t>1</a:t>
            </a:r>
            <a:r>
              <a:rPr lang="en-US" sz="1739" dirty="0"/>
              <a:t>)L(E</a:t>
            </a:r>
            <a:r>
              <a:rPr lang="en-US" sz="1739" baseline="-25000" dirty="0"/>
              <a:t>2</a:t>
            </a:r>
            <a:r>
              <a:rPr lang="en-US" sz="1739" dirty="0"/>
              <a:t>).</a:t>
            </a:r>
          </a:p>
          <a:p>
            <a:pPr algn="just"/>
            <a:endParaRPr lang="en-US" sz="1565" dirty="0"/>
          </a:p>
        </p:txBody>
      </p:sp>
      <p:sp>
        <p:nvSpPr>
          <p:cNvPr id="11" name="Text Box 4"/>
          <p:cNvSpPr txBox="1">
            <a:spLocks noChangeArrowheads="1"/>
          </p:cNvSpPr>
          <p:nvPr/>
        </p:nvSpPr>
        <p:spPr bwMode="auto">
          <a:xfrm>
            <a:off x="381000" y="4752278"/>
            <a:ext cx="4567341" cy="627608"/>
          </a:xfrm>
          <a:prstGeom prst="rect">
            <a:avLst/>
          </a:prstGeom>
          <a:noFill/>
          <a:ln w="9525">
            <a:noFill/>
            <a:miter lim="800000"/>
            <a:headEnd/>
            <a:tailEnd/>
          </a:ln>
          <a:effectLst/>
        </p:spPr>
        <p:txBody>
          <a:bodyPr wrap="none">
            <a:spAutoFit/>
          </a:bodyPr>
          <a:lstStyle/>
          <a:p>
            <a:r>
              <a:rPr lang="en-US" sz="1739" i="1" dirty="0">
                <a:solidFill>
                  <a:srgbClr val="FF0066"/>
                </a:solidFill>
              </a:rPr>
              <a:t>Concatenation </a:t>
            </a:r>
            <a:r>
              <a:rPr lang="en-US" sz="1739" dirty="0"/>
              <a:t>: the set of strings </a:t>
            </a:r>
            <a:r>
              <a:rPr lang="en-US" sz="1739" dirty="0" err="1"/>
              <a:t>wx</a:t>
            </a:r>
            <a:r>
              <a:rPr lang="en-US" sz="1739" dirty="0"/>
              <a:t> such that w</a:t>
            </a:r>
          </a:p>
          <a:p>
            <a:r>
              <a:rPr lang="en-US" sz="1739" dirty="0"/>
              <a:t>i</a:t>
            </a:r>
            <a:r>
              <a:rPr lang="en-US" sz="1739" dirty="0" smtClean="0"/>
              <a:t>s </a:t>
            </a:r>
            <a:r>
              <a:rPr lang="en-US" sz="1739" dirty="0"/>
              <a:t>in L(E</a:t>
            </a:r>
            <a:r>
              <a:rPr lang="en-US" sz="1739" baseline="-25000" dirty="0"/>
              <a:t>1</a:t>
            </a:r>
            <a:r>
              <a:rPr lang="en-US" sz="1739" dirty="0"/>
              <a:t>) and x is in L(E</a:t>
            </a:r>
            <a:r>
              <a:rPr lang="en-US" sz="1739" baseline="-25000" dirty="0"/>
              <a:t>2</a:t>
            </a:r>
            <a:r>
              <a:rPr lang="en-US" sz="1739" dirty="0"/>
              <a:t>).</a:t>
            </a:r>
          </a:p>
        </p:txBody>
      </p:sp>
    </p:spTree>
    <p:extLst>
      <p:ext uri="{BB962C8B-B14F-4D97-AF65-F5344CB8AC3E}">
        <p14:creationId xmlns:p14="http://schemas.microsoft.com/office/powerpoint/2010/main" val="41096497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1079293-160F-4F5C-89AE-466851B2C56B}" type="datetime1">
              <a:rPr lang="en-US" smtClean="0"/>
              <a:t>3/16/2026</a:t>
            </a:fld>
            <a:endParaRPr lang="en-US"/>
          </a:p>
        </p:txBody>
      </p:sp>
      <p:sp>
        <p:nvSpPr>
          <p:cNvPr id="5" name="Footer Placeholder 4"/>
          <p:cNvSpPr>
            <a:spLocks noGrp="1"/>
          </p:cNvSpPr>
          <p:nvPr>
            <p:ph type="ftr" sz="quarter" idx="11"/>
          </p:nvPr>
        </p:nvSpPr>
        <p:spPr>
          <a:xfrm>
            <a:off x="2286000" y="5974525"/>
            <a:ext cx="48006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Regular Expression(RE)</a:t>
            </a:r>
          </a:p>
        </p:txBody>
      </p:sp>
      <p:sp>
        <p:nvSpPr>
          <p:cNvPr id="10" name="Rectangle 9"/>
          <p:cNvSpPr/>
          <p:nvPr/>
        </p:nvSpPr>
        <p:spPr>
          <a:xfrm>
            <a:off x="381000" y="1308655"/>
            <a:ext cx="8534400" cy="413511"/>
          </a:xfrm>
          <a:prstGeom prst="rect">
            <a:avLst/>
          </a:prstGeom>
        </p:spPr>
        <p:txBody>
          <a:bodyPr wrap="square">
            <a:spAutoFit/>
          </a:bodyPr>
          <a:lstStyle/>
          <a:p>
            <a:r>
              <a:rPr lang="en-US" sz="2087" dirty="0">
                <a:solidFill>
                  <a:srgbClr val="3366FF"/>
                </a:solidFill>
              </a:rPr>
              <a:t>Induction 3</a:t>
            </a:r>
            <a:r>
              <a:rPr lang="en-US" sz="2087" dirty="0"/>
              <a:t>: If E is a RE, then E* is a RE, and L(E*) = (L(E))*.</a:t>
            </a:r>
          </a:p>
        </p:txBody>
      </p:sp>
      <p:sp>
        <p:nvSpPr>
          <p:cNvPr id="13" name="Text Box 4"/>
          <p:cNvSpPr txBox="1">
            <a:spLocks noChangeArrowheads="1"/>
          </p:cNvSpPr>
          <p:nvPr/>
        </p:nvSpPr>
        <p:spPr bwMode="auto">
          <a:xfrm>
            <a:off x="533400" y="1971264"/>
            <a:ext cx="7924800" cy="948786"/>
          </a:xfrm>
          <a:prstGeom prst="rect">
            <a:avLst/>
          </a:prstGeom>
          <a:noFill/>
          <a:ln w="9525">
            <a:noFill/>
            <a:miter lim="800000"/>
            <a:headEnd/>
            <a:tailEnd/>
          </a:ln>
          <a:effectLst/>
        </p:spPr>
        <p:txBody>
          <a:bodyPr wrap="square">
            <a:spAutoFit/>
          </a:bodyPr>
          <a:lstStyle/>
          <a:p>
            <a:r>
              <a:rPr lang="en-US" sz="2087" i="1" dirty="0">
                <a:solidFill>
                  <a:srgbClr val="FF0066"/>
                </a:solidFill>
              </a:rPr>
              <a:t>Closure</a:t>
            </a:r>
            <a:r>
              <a:rPr lang="en-US" sz="1739" dirty="0"/>
              <a:t>, or “Kleene closure” = set of </a:t>
            </a:r>
            <a:r>
              <a:rPr lang="en-US" sz="1739" dirty="0" smtClean="0"/>
              <a:t>strings w</a:t>
            </a:r>
            <a:r>
              <a:rPr lang="en-US" sz="1739" baseline="-25000" dirty="0" smtClean="0"/>
              <a:t>1</a:t>
            </a:r>
            <a:r>
              <a:rPr lang="en-US" sz="1739" dirty="0" smtClean="0"/>
              <a:t>w</a:t>
            </a:r>
            <a:r>
              <a:rPr lang="en-US" sz="1739" baseline="-25000" dirty="0" smtClean="0"/>
              <a:t>2</a:t>
            </a:r>
            <a:r>
              <a:rPr lang="en-US" sz="1739" dirty="0" smtClean="0"/>
              <a:t>…</a:t>
            </a:r>
            <a:r>
              <a:rPr lang="en-US" sz="1739" dirty="0" err="1" smtClean="0"/>
              <a:t>w</a:t>
            </a:r>
            <a:r>
              <a:rPr lang="en-US" sz="1739" baseline="-25000" dirty="0" err="1" smtClean="0"/>
              <a:t>n</a:t>
            </a:r>
            <a:r>
              <a:rPr lang="en-US" sz="1739" dirty="0"/>
              <a:t>, for some n </a:t>
            </a:r>
            <a:r>
              <a:rPr lang="en-US" sz="1739" u="sng" dirty="0"/>
              <a:t>&gt;</a:t>
            </a:r>
            <a:r>
              <a:rPr lang="en-US" sz="1739" dirty="0"/>
              <a:t> 0, where each </a:t>
            </a:r>
            <a:r>
              <a:rPr lang="en-US" sz="1739" dirty="0" err="1"/>
              <a:t>w</a:t>
            </a:r>
            <a:r>
              <a:rPr lang="en-US" sz="1739" baseline="-25000" dirty="0" err="1"/>
              <a:t>i</a:t>
            </a:r>
            <a:r>
              <a:rPr lang="en-US" sz="1739" dirty="0"/>
              <a:t> </a:t>
            </a:r>
            <a:r>
              <a:rPr lang="en-US" sz="1739" dirty="0" smtClean="0"/>
              <a:t>is in </a:t>
            </a:r>
            <a:r>
              <a:rPr lang="en-US" sz="1739" dirty="0"/>
              <a:t>L(E).</a:t>
            </a:r>
          </a:p>
          <a:p>
            <a:r>
              <a:rPr lang="en-US" sz="1739" dirty="0">
                <a:solidFill>
                  <a:srgbClr val="CC3300"/>
                </a:solidFill>
              </a:rPr>
              <a:t>Note</a:t>
            </a:r>
            <a:r>
              <a:rPr lang="en-US" sz="1739" dirty="0"/>
              <a:t>: when n=0, the string is ε.</a:t>
            </a:r>
          </a:p>
        </p:txBody>
      </p:sp>
    </p:spTree>
    <p:extLst>
      <p:ext uri="{BB962C8B-B14F-4D97-AF65-F5344CB8AC3E}">
        <p14:creationId xmlns:p14="http://schemas.microsoft.com/office/powerpoint/2010/main" val="22096861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1177"/>
            <a:ext cx="8229600" cy="3935620"/>
          </a:xfrm>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612A56FE-D77F-4E67-BE7A-183CFF864296}"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DFA, NFA, Ɛ-NFA and Regular Expression(RE)</a:t>
            </a:r>
          </a:p>
        </p:txBody>
      </p:sp>
      <p:sp>
        <p:nvSpPr>
          <p:cNvPr id="9" name="Rounded Rectangle 8"/>
          <p:cNvSpPr/>
          <p:nvPr/>
        </p:nvSpPr>
        <p:spPr>
          <a:xfrm>
            <a:off x="3886200" y="1639957"/>
            <a:ext cx="1371600" cy="79513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35" b="1" dirty="0">
                <a:solidFill>
                  <a:schemeClr val="tx1"/>
                </a:solidFill>
              </a:rPr>
              <a:t>RE</a:t>
            </a:r>
          </a:p>
        </p:txBody>
      </p:sp>
      <p:sp>
        <p:nvSpPr>
          <p:cNvPr id="10" name="Rounded Rectangle 9"/>
          <p:cNvSpPr/>
          <p:nvPr/>
        </p:nvSpPr>
        <p:spPr>
          <a:xfrm>
            <a:off x="1905000" y="2965174"/>
            <a:ext cx="1600200" cy="79513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35" b="1" dirty="0">
                <a:solidFill>
                  <a:schemeClr val="tx1"/>
                </a:solidFill>
              </a:rPr>
              <a:t>Ɛ-NFA</a:t>
            </a:r>
            <a:endParaRPr lang="en-US" sz="2435" b="1" dirty="0"/>
          </a:p>
        </p:txBody>
      </p:sp>
      <p:sp>
        <p:nvSpPr>
          <p:cNvPr id="11" name="Rounded Rectangle 10"/>
          <p:cNvSpPr/>
          <p:nvPr/>
        </p:nvSpPr>
        <p:spPr>
          <a:xfrm>
            <a:off x="5943600" y="2832652"/>
            <a:ext cx="1524000" cy="79513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35" b="1" dirty="0">
                <a:solidFill>
                  <a:schemeClr val="tx1"/>
                </a:solidFill>
              </a:rPr>
              <a:t>DFA</a:t>
            </a:r>
            <a:endParaRPr lang="en-US" sz="2435" b="1" dirty="0"/>
          </a:p>
        </p:txBody>
      </p:sp>
      <p:sp>
        <p:nvSpPr>
          <p:cNvPr id="12" name="Rounded Rectangle 11"/>
          <p:cNvSpPr/>
          <p:nvPr/>
        </p:nvSpPr>
        <p:spPr>
          <a:xfrm>
            <a:off x="4191000" y="4224131"/>
            <a:ext cx="1371600" cy="79513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435" b="1" dirty="0">
                <a:solidFill>
                  <a:schemeClr val="tx1"/>
                </a:solidFill>
              </a:rPr>
              <a:t>NFA</a:t>
            </a:r>
            <a:endParaRPr lang="en-US" sz="2435" b="1" dirty="0"/>
          </a:p>
        </p:txBody>
      </p:sp>
      <p:cxnSp>
        <p:nvCxnSpPr>
          <p:cNvPr id="14" name="Shape 13"/>
          <p:cNvCxnSpPr>
            <a:stCxn id="11" idx="0"/>
            <a:endCxn id="9" idx="3"/>
          </p:cNvCxnSpPr>
          <p:nvPr/>
        </p:nvCxnSpPr>
        <p:spPr>
          <a:xfrm rot="16200000" flipV="1">
            <a:off x="5584135" y="1711187"/>
            <a:ext cx="795130" cy="1447800"/>
          </a:xfrm>
          <a:prstGeom prst="curvedConnector2">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6" name="Shape 15"/>
          <p:cNvCxnSpPr>
            <a:stCxn id="9" idx="1"/>
            <a:endCxn id="10" idx="0"/>
          </p:cNvCxnSpPr>
          <p:nvPr/>
        </p:nvCxnSpPr>
        <p:spPr>
          <a:xfrm rot="10800000" flipV="1">
            <a:off x="2705101" y="2037522"/>
            <a:ext cx="1181100" cy="927652"/>
          </a:xfrm>
          <a:prstGeom prst="curvedConnector2">
            <a:avLst/>
          </a:prstGeom>
          <a:ln>
            <a:tailEnd type="arrow"/>
          </a:ln>
        </p:spPr>
        <p:style>
          <a:lnRef idx="1">
            <a:schemeClr val="accent2"/>
          </a:lnRef>
          <a:fillRef idx="0">
            <a:schemeClr val="accent2"/>
          </a:fillRef>
          <a:effectRef idx="0">
            <a:schemeClr val="accent2"/>
          </a:effectRef>
          <a:fontRef idx="minor">
            <a:schemeClr val="tx1"/>
          </a:fontRef>
        </p:style>
      </p:cxnSp>
      <p:cxnSp>
        <p:nvCxnSpPr>
          <p:cNvPr id="17" name="Shape 16"/>
          <p:cNvCxnSpPr>
            <a:stCxn id="12" idx="3"/>
            <a:endCxn id="11" idx="2"/>
          </p:cNvCxnSpPr>
          <p:nvPr/>
        </p:nvCxnSpPr>
        <p:spPr>
          <a:xfrm flipV="1">
            <a:off x="5562600" y="3627783"/>
            <a:ext cx="1143000" cy="993913"/>
          </a:xfrm>
          <a:prstGeom prst="curvedConnector2">
            <a:avLst/>
          </a:prstGeom>
          <a:ln>
            <a:tailEnd type="arrow"/>
          </a:ln>
        </p:spPr>
        <p:style>
          <a:lnRef idx="1">
            <a:schemeClr val="accent2"/>
          </a:lnRef>
          <a:fillRef idx="0">
            <a:schemeClr val="accent2"/>
          </a:fillRef>
          <a:effectRef idx="0">
            <a:schemeClr val="accent2"/>
          </a:effectRef>
          <a:fontRef idx="minor">
            <a:schemeClr val="tx1"/>
          </a:fontRef>
        </p:style>
      </p:cxnSp>
      <p:cxnSp>
        <p:nvCxnSpPr>
          <p:cNvPr id="28" name="Shape 27"/>
          <p:cNvCxnSpPr>
            <a:stCxn id="10" idx="2"/>
            <a:endCxn id="12" idx="1"/>
          </p:cNvCxnSpPr>
          <p:nvPr/>
        </p:nvCxnSpPr>
        <p:spPr>
          <a:xfrm rot="16200000" flipH="1">
            <a:off x="3017356" y="3448052"/>
            <a:ext cx="861391" cy="1485900"/>
          </a:xfrm>
          <a:prstGeom prst="curvedConnector2">
            <a:avLst/>
          </a:prstGeom>
          <a:ln>
            <a:tailEnd type="arrow"/>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p14="http://schemas.microsoft.com/office/powerpoint/2010/main">
        <mc:Choice Requires="p14">
          <p:contentPart p14:bwMode="auto" r:id="rId2">
            <p14:nvContentPartPr>
              <p14:cNvPr id="18443" name="Ink 11"/>
              <p14:cNvContentPartPr>
                <a14:cpLocks xmlns:a14="http://schemas.microsoft.com/office/drawing/2010/main" noRot="1" noChangeAspect="1" noEditPoints="1" noChangeArrowheads="1" noChangeShapeType="1"/>
              </p14:cNvContentPartPr>
              <p14:nvPr/>
            </p14:nvContentPartPr>
            <p14:xfrm>
              <a:off x="5985565" y="2992782"/>
              <a:ext cx="11043" cy="5522"/>
            </p14:xfrm>
          </p:contentPart>
        </mc:Choice>
        <mc:Fallback xmlns="">
          <p:pic>
            <p:nvPicPr>
              <p:cNvPr id="18443" name="Ink 11"/>
              <p:cNvPicPr>
                <a:picLocks noRot="1" noChangeAspect="1" noEditPoints="1" noChangeArrowheads="1" noChangeShapeType="1"/>
              </p:cNvPicPr>
              <p:nvPr/>
            </p:nvPicPr>
            <p:blipFill>
              <a:blip r:embed="rId3"/>
              <a:stretch>
                <a:fillRect/>
              </a:stretch>
            </p:blipFill>
            <p:spPr>
              <a:xfrm>
                <a:off x="5975994" y="2984337"/>
                <a:ext cx="30184" cy="2241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444" name="Ink 12"/>
              <p14:cNvContentPartPr>
                <a14:cpLocks xmlns:a14="http://schemas.microsoft.com/office/drawing/2010/main" noRot="1" noChangeAspect="1" noEditPoints="1" noChangeArrowheads="1" noChangeShapeType="1"/>
              </p14:cNvContentPartPr>
              <p14:nvPr/>
            </p14:nvContentPartPr>
            <p14:xfrm>
              <a:off x="5334000" y="3235739"/>
              <a:ext cx="1381" cy="27609"/>
            </p14:xfrm>
          </p:contentPart>
        </mc:Choice>
        <mc:Fallback xmlns="">
          <p:pic>
            <p:nvPicPr>
              <p:cNvPr id="18444" name="Ink 12"/>
              <p:cNvPicPr>
                <a:picLocks noRot="1" noChangeAspect="1" noEditPoints="1" noChangeArrowheads="1" noChangeShapeType="1"/>
              </p:cNvPicPr>
              <p:nvPr/>
            </p:nvPicPr>
            <p:blipFill>
              <a:blip r:embed="rId5"/>
              <a:stretch>
                <a:fillRect/>
              </a:stretch>
            </p:blipFill>
            <p:spPr>
              <a:xfrm>
                <a:off x="5298094" y="3226416"/>
                <a:ext cx="73193" cy="4625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8447" name="Ink 15"/>
              <p14:cNvContentPartPr>
                <a14:cpLocks xmlns:a14="http://schemas.microsoft.com/office/drawing/2010/main" noRot="1" noChangeAspect="1" noEditPoints="1" noChangeArrowheads="1" noChangeShapeType="1"/>
              </p14:cNvContentPartPr>
              <p14:nvPr/>
            </p14:nvContentPartPr>
            <p14:xfrm>
              <a:off x="134001565" y="21170348"/>
              <a:ext cx="0" cy="0"/>
            </p14:xfrm>
          </p:contentPart>
        </mc:Choice>
        <mc:Fallback xmlns="">
          <p:pic>
            <p:nvPicPr>
              <p:cNvPr id="18447" name="Ink 15"/>
              <p:cNvPicPr>
                <a:picLocks noRot="1" noChangeAspect="1" noEditPoints="1" noChangeArrowheads="1" noChangeShapeType="1"/>
              </p:cNvPicPr>
              <p:nvPr/>
            </p:nvPicPr>
            <p:blipFill>
              <a:blip r:embed="rId7"/>
              <a:stretch>
                <a:fillRect/>
              </a:stretch>
            </p:blipFill>
            <p:spPr>
              <a:xfrm>
                <a:off x="134001565" y="21170348"/>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449" name="Ink 17"/>
              <p14:cNvContentPartPr>
                <a14:cpLocks xmlns:a14="http://schemas.microsoft.com/office/drawing/2010/main" noRot="1" noChangeAspect="1" noEditPoints="1" noChangeArrowheads="1" noChangeShapeType="1"/>
              </p14:cNvContentPartPr>
              <p14:nvPr/>
            </p14:nvContentPartPr>
            <p14:xfrm>
              <a:off x="4389783" y="4411870"/>
              <a:ext cx="16565" cy="1381"/>
            </p14:xfrm>
          </p:contentPart>
        </mc:Choice>
        <mc:Fallback xmlns="">
          <p:pic>
            <p:nvPicPr>
              <p:cNvPr id="18449" name="Ink 17"/>
              <p:cNvPicPr>
                <a:picLocks noRot="1" noChangeAspect="1" noEditPoints="1" noChangeArrowheads="1" noChangeShapeType="1"/>
              </p:cNvPicPr>
              <p:nvPr/>
            </p:nvPicPr>
            <p:blipFill>
              <a:blip r:embed="rId9"/>
              <a:stretch>
                <a:fillRect/>
              </a:stretch>
            </p:blipFill>
            <p:spPr>
              <a:xfrm>
                <a:off x="4380420" y="4375964"/>
                <a:ext cx="35291" cy="73193"/>
              </a:xfrm>
              <a:prstGeom prst="rect">
                <a:avLst/>
              </a:prstGeom>
            </p:spPr>
          </p:pic>
        </mc:Fallback>
      </mc:AlternateContent>
    </p:spTree>
    <p:extLst>
      <p:ext uri="{BB962C8B-B14F-4D97-AF65-F5344CB8AC3E}">
        <p14:creationId xmlns:p14="http://schemas.microsoft.com/office/powerpoint/2010/main" val="12208972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9178" y="1488002"/>
            <a:ext cx="8229600" cy="3935620"/>
          </a:xfrm>
        </p:spPr>
        <p:txBody>
          <a:bodyPr>
            <a:normAutofit/>
          </a:bodyPr>
          <a:lstStyle/>
          <a:p>
            <a:pPr algn="ctr"/>
            <a:endParaRPr lang="en-US" dirty="0" smtClean="0"/>
          </a:p>
          <a:p>
            <a:pPr algn="ctr"/>
            <a:endParaRPr lang="en-US" sz="1739" dirty="0"/>
          </a:p>
        </p:txBody>
      </p:sp>
      <p:sp>
        <p:nvSpPr>
          <p:cNvPr id="4" name="Date Placeholder 3"/>
          <p:cNvSpPr>
            <a:spLocks noGrp="1"/>
          </p:cNvSpPr>
          <p:nvPr>
            <p:ph type="dt" sz="half" idx="10"/>
          </p:nvPr>
        </p:nvSpPr>
        <p:spPr/>
        <p:txBody>
          <a:bodyPr/>
          <a:lstStyle/>
          <a:p>
            <a:fld id="{38C0421B-A921-4A48-B504-5B26D917DEA9}"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DFA, Regular Sets, Regular Expressions</a:t>
            </a:r>
          </a:p>
        </p:txBody>
      </p:sp>
      <p:grpSp>
        <p:nvGrpSpPr>
          <p:cNvPr id="61" name="Group 60"/>
          <p:cNvGrpSpPr/>
          <p:nvPr/>
        </p:nvGrpSpPr>
        <p:grpSpPr>
          <a:xfrm>
            <a:off x="826561" y="1474955"/>
            <a:ext cx="8305801" cy="4182770"/>
            <a:chOff x="838200" y="1473201"/>
            <a:chExt cx="8305801" cy="4810186"/>
          </a:xfrm>
        </p:grpSpPr>
        <p:graphicFrame>
          <p:nvGraphicFramePr>
            <p:cNvPr id="10" name="Content Placeholder 8"/>
            <p:cNvGraphicFramePr>
              <a:graphicFrameLocks/>
            </p:cNvGraphicFramePr>
            <p:nvPr>
              <p:extLst>
                <p:ext uri="{D42A27DB-BD31-4B8C-83A1-F6EECF244321}">
                  <p14:modId xmlns:p14="http://schemas.microsoft.com/office/powerpoint/2010/main" val="3973847599"/>
                </p:ext>
              </p:extLst>
            </p:nvPr>
          </p:nvGraphicFramePr>
          <p:xfrm>
            <a:off x="990600" y="1473201"/>
            <a:ext cx="8153401" cy="4810186"/>
          </p:xfrm>
          <a:graphic>
            <a:graphicData uri="http://schemas.openxmlformats.org/drawingml/2006/table">
              <a:tbl>
                <a:tblPr firstRow="1" bandRow="1">
                  <a:tableStyleId>{16D9F66E-5EB9-4882-86FB-DCBF35E3C3E4}</a:tableStyleId>
                </a:tblPr>
                <a:tblGrid>
                  <a:gridCol w="3862137">
                    <a:extLst>
                      <a:ext uri="{9D8B030D-6E8A-4147-A177-3AD203B41FA5}">
                        <a16:colId xmlns:a16="http://schemas.microsoft.com/office/drawing/2014/main" val="20000"/>
                      </a:ext>
                    </a:extLst>
                  </a:gridCol>
                  <a:gridCol w="2145632">
                    <a:extLst>
                      <a:ext uri="{9D8B030D-6E8A-4147-A177-3AD203B41FA5}">
                        <a16:colId xmlns:a16="http://schemas.microsoft.com/office/drawing/2014/main" val="20001"/>
                      </a:ext>
                    </a:extLst>
                  </a:gridCol>
                  <a:gridCol w="2145632">
                    <a:extLst>
                      <a:ext uri="{9D8B030D-6E8A-4147-A177-3AD203B41FA5}">
                        <a16:colId xmlns:a16="http://schemas.microsoft.com/office/drawing/2014/main" val="20002"/>
                      </a:ext>
                    </a:extLst>
                  </a:gridCol>
                </a:tblGrid>
                <a:tr h="682116">
                  <a:tc>
                    <a:txBody>
                      <a:bodyPr/>
                      <a:lstStyle/>
                      <a:p>
                        <a:pPr algn="ctr"/>
                        <a:r>
                          <a:rPr lang="en-US" sz="2000" dirty="0" smtClean="0"/>
                          <a:t>Finite Automata</a:t>
                        </a:r>
                        <a:endParaRPr lang="en-US" sz="2000" dirty="0">
                          <a:solidFill>
                            <a:schemeClr val="tx1"/>
                          </a:solidFill>
                        </a:endParaRPr>
                      </a:p>
                    </a:txBody>
                    <a:tcPr/>
                  </a:tc>
                  <a:tc>
                    <a:txBody>
                      <a:bodyPr/>
                      <a:lstStyle/>
                      <a:p>
                        <a:pPr algn="ctr"/>
                        <a:r>
                          <a:rPr lang="en-US" sz="2000" dirty="0" smtClean="0"/>
                          <a:t>Regular Set</a:t>
                        </a:r>
                        <a:endParaRPr lang="en-US" sz="2000" dirty="0">
                          <a:solidFill>
                            <a:schemeClr val="tx1"/>
                          </a:solidFill>
                        </a:endParaRPr>
                      </a:p>
                    </a:txBody>
                    <a:tcPr/>
                  </a:tc>
                  <a:tc>
                    <a:txBody>
                      <a:bodyPr/>
                      <a:lstStyle/>
                      <a:p>
                        <a:pPr algn="ctr"/>
                        <a:r>
                          <a:rPr lang="en-US" sz="2000" dirty="0" smtClean="0"/>
                          <a:t>Regular Expression</a:t>
                        </a:r>
                        <a:endParaRPr lang="en-US" sz="2000" dirty="0">
                          <a:solidFill>
                            <a:schemeClr val="tx1"/>
                          </a:solidFill>
                        </a:endParaRPr>
                      </a:p>
                    </a:txBody>
                    <a:tcPr/>
                  </a:tc>
                  <a:extLst>
                    <a:ext uri="{0D108BD9-81ED-4DB2-BD59-A6C34878D82A}">
                      <a16:rowId xmlns:a16="http://schemas.microsoft.com/office/drawing/2014/main" val="10000"/>
                    </a:ext>
                  </a:extLst>
                </a:tr>
                <a:tr h="909024">
                  <a:tc>
                    <a:txBody>
                      <a:bodyPr/>
                      <a:lstStyle/>
                      <a:p>
                        <a:pPr algn="ctr"/>
                        <a:endParaRPr lang="en-US" dirty="0">
                          <a:solidFill>
                            <a:schemeClr val="tx1"/>
                          </a:solidFill>
                        </a:endParaRPr>
                      </a:p>
                    </a:txBody>
                    <a:tcPr/>
                  </a:tc>
                  <a:tc>
                    <a:txBody>
                      <a:bodyPr/>
                      <a:lstStyle/>
                      <a:p>
                        <a:pPr algn="ctr"/>
                        <a:r>
                          <a:rPr lang="en-US" sz="2000" dirty="0" smtClean="0"/>
                          <a:t>{Ɛ}</a:t>
                        </a:r>
                        <a:endParaRPr lang="en-US" sz="2000" dirty="0">
                          <a:solidFill>
                            <a:schemeClr val="tx1"/>
                          </a:solidFill>
                        </a:endParaRPr>
                      </a:p>
                    </a:txBody>
                    <a:tcPr anchor="ctr"/>
                  </a:tc>
                  <a:tc>
                    <a:txBody>
                      <a:bodyPr/>
                      <a:lstStyle/>
                      <a:p>
                        <a:pPr algn="ctr"/>
                        <a:r>
                          <a:rPr lang="en-US" sz="2000" dirty="0" smtClean="0"/>
                          <a:t>RE =  Ɛ</a:t>
                        </a:r>
                        <a:endParaRPr lang="en-US" sz="2000" dirty="0">
                          <a:solidFill>
                            <a:schemeClr val="tx1"/>
                          </a:solidFill>
                        </a:endParaRPr>
                      </a:p>
                    </a:txBody>
                    <a:tcPr anchor="ctr"/>
                  </a:tc>
                  <a:extLst>
                    <a:ext uri="{0D108BD9-81ED-4DB2-BD59-A6C34878D82A}">
                      <a16:rowId xmlns:a16="http://schemas.microsoft.com/office/drawing/2014/main" val="10001"/>
                    </a:ext>
                  </a:extLst>
                </a:tr>
                <a:tr h="771812">
                  <a:tc>
                    <a:txBody>
                      <a:bodyPr/>
                      <a:lstStyle/>
                      <a:p>
                        <a:pPr algn="ctr"/>
                        <a:endParaRPr lang="en-US" dirty="0">
                          <a:solidFill>
                            <a:schemeClr val="tx1"/>
                          </a:solidFill>
                        </a:endParaRPr>
                      </a:p>
                    </a:txBody>
                    <a:tcPr/>
                  </a:tc>
                  <a:tc>
                    <a:txBody>
                      <a:bodyPr/>
                      <a:lstStyle/>
                      <a:p>
                        <a:pPr algn="ctr"/>
                        <a:r>
                          <a:rPr lang="en-US" sz="2000" dirty="0" smtClean="0"/>
                          <a:t>{</a:t>
                        </a:r>
                        <a:r>
                          <a:rPr lang="en-US" sz="2000" dirty="0" smtClean="0">
                            <a:sym typeface="Symbol"/>
                          </a:rPr>
                          <a:t>}</a:t>
                        </a:r>
                        <a:endParaRPr lang="en-US" sz="2000" dirty="0">
                          <a:solidFill>
                            <a:schemeClr val="tx1"/>
                          </a:solidFill>
                        </a:endParaRPr>
                      </a:p>
                    </a:txBody>
                    <a:tcPr anchor="ctr"/>
                  </a:tc>
                  <a:tc>
                    <a:txBody>
                      <a:bodyPr/>
                      <a:lstStyle/>
                      <a:p>
                        <a:pPr algn="ctr"/>
                        <a:r>
                          <a:rPr lang="en-US" sz="2000" dirty="0" smtClean="0"/>
                          <a:t>RE = </a:t>
                        </a:r>
                        <a:r>
                          <a:rPr lang="en-US" sz="2000" dirty="0" smtClean="0">
                            <a:sym typeface="Symbol"/>
                          </a:rPr>
                          <a:t></a:t>
                        </a:r>
                        <a:endParaRPr lang="en-US" sz="2000" dirty="0">
                          <a:solidFill>
                            <a:schemeClr val="tx1"/>
                          </a:solidFill>
                        </a:endParaRPr>
                      </a:p>
                    </a:txBody>
                    <a:tcPr anchor="ctr"/>
                  </a:tc>
                  <a:extLst>
                    <a:ext uri="{0D108BD9-81ED-4DB2-BD59-A6C34878D82A}">
                      <a16:rowId xmlns:a16="http://schemas.microsoft.com/office/drawing/2014/main" val="10002"/>
                    </a:ext>
                  </a:extLst>
                </a:tr>
                <a:tr h="900447">
                  <a:tc>
                    <a:txBody>
                      <a:bodyPr/>
                      <a:lstStyle/>
                      <a:p>
                        <a:pPr algn="ctr"/>
                        <a:endParaRPr lang="en-US" dirty="0">
                          <a:solidFill>
                            <a:schemeClr val="tx1"/>
                          </a:solidFill>
                        </a:endParaRPr>
                      </a:p>
                    </a:txBody>
                    <a:tcPr/>
                  </a:tc>
                  <a:tc>
                    <a:txBody>
                      <a:bodyPr/>
                      <a:lstStyle/>
                      <a:p>
                        <a:pPr algn="ctr"/>
                        <a:r>
                          <a:rPr lang="en-US" sz="2000" dirty="0" smtClean="0"/>
                          <a:t>{a}</a:t>
                        </a:r>
                        <a:endParaRPr lang="en-US" sz="2000" dirty="0">
                          <a:solidFill>
                            <a:schemeClr val="tx1"/>
                          </a:solidFill>
                        </a:endParaRPr>
                      </a:p>
                    </a:txBody>
                    <a:tcPr anchor="ctr"/>
                  </a:tc>
                  <a:tc>
                    <a:txBody>
                      <a:bodyPr/>
                      <a:lstStyle/>
                      <a:p>
                        <a:pPr algn="ctr"/>
                        <a:r>
                          <a:rPr lang="en-US" sz="2000" dirty="0" smtClean="0"/>
                          <a:t>RE = a</a:t>
                        </a:r>
                        <a:endParaRPr lang="en-US" sz="2000" dirty="0">
                          <a:solidFill>
                            <a:schemeClr val="tx1"/>
                          </a:solidFill>
                        </a:endParaRPr>
                      </a:p>
                    </a:txBody>
                    <a:tcPr anchor="ctr"/>
                  </a:tc>
                  <a:extLst>
                    <a:ext uri="{0D108BD9-81ED-4DB2-BD59-A6C34878D82A}">
                      <a16:rowId xmlns:a16="http://schemas.microsoft.com/office/drawing/2014/main" val="10003"/>
                    </a:ext>
                  </a:extLst>
                </a:tr>
                <a:tr h="900447">
                  <a:tc>
                    <a:txBody>
                      <a:bodyPr/>
                      <a:lstStyle/>
                      <a:p>
                        <a:pPr algn="ctr"/>
                        <a:endParaRPr lang="en-US" dirty="0">
                          <a:solidFill>
                            <a:schemeClr val="tx1"/>
                          </a:solidFill>
                        </a:endParaRPr>
                      </a:p>
                    </a:txBody>
                    <a:tcPr/>
                  </a:tc>
                  <a:tc>
                    <a:txBody>
                      <a:bodyPr/>
                      <a:lstStyle/>
                      <a:p>
                        <a:pPr algn="ctr"/>
                        <a:r>
                          <a:rPr lang="en-US" sz="2000" dirty="0" smtClean="0"/>
                          <a:t>{a,</a:t>
                        </a:r>
                        <a:r>
                          <a:rPr lang="en-US" sz="2000" baseline="0" dirty="0" smtClean="0"/>
                          <a:t> b}</a:t>
                        </a:r>
                        <a:endParaRPr lang="en-US" sz="2000" dirty="0">
                          <a:solidFill>
                            <a:schemeClr val="tx1"/>
                          </a:solidFill>
                        </a:endParaRPr>
                      </a:p>
                    </a:txBody>
                    <a:tcPr anchor="ctr"/>
                  </a:tc>
                  <a:tc>
                    <a:txBody>
                      <a:bodyPr/>
                      <a:lstStyle/>
                      <a:p>
                        <a:pPr algn="ctr"/>
                        <a:r>
                          <a:rPr lang="en-US" sz="2000" dirty="0" smtClean="0"/>
                          <a:t>RE = </a:t>
                        </a:r>
                        <a:r>
                          <a:rPr lang="en-US" sz="2000" dirty="0" err="1" smtClean="0"/>
                          <a:t>a+b</a:t>
                        </a:r>
                        <a:endParaRPr lang="en-US" sz="2000" dirty="0">
                          <a:solidFill>
                            <a:schemeClr val="tx1"/>
                          </a:solidFill>
                        </a:endParaRPr>
                      </a:p>
                    </a:txBody>
                    <a:tcPr anchor="ctr"/>
                  </a:tc>
                  <a:extLst>
                    <a:ext uri="{0D108BD9-81ED-4DB2-BD59-A6C34878D82A}">
                      <a16:rowId xmlns:a16="http://schemas.microsoft.com/office/drawing/2014/main" val="10004"/>
                    </a:ext>
                  </a:extLst>
                </a:tr>
              </a:tbl>
            </a:graphicData>
          </a:graphic>
        </p:graphicFrame>
        <p:grpSp>
          <p:nvGrpSpPr>
            <p:cNvPr id="16" name="Group 15"/>
            <p:cNvGrpSpPr/>
            <p:nvPr/>
          </p:nvGrpSpPr>
          <p:grpSpPr>
            <a:xfrm>
              <a:off x="1524000" y="2286000"/>
              <a:ext cx="1219200" cy="762000"/>
              <a:chOff x="1524000" y="2362200"/>
              <a:chExt cx="1219200" cy="762000"/>
            </a:xfrm>
          </p:grpSpPr>
          <p:sp>
            <p:nvSpPr>
              <p:cNvPr id="11" name="Oval 10"/>
              <p:cNvSpPr/>
              <p:nvPr/>
            </p:nvSpPr>
            <p:spPr>
              <a:xfrm>
                <a:off x="2057400" y="2438400"/>
                <a:ext cx="609600" cy="609600"/>
              </a:xfrm>
              <a:prstGeom prst="ellipse">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sz="1565"/>
              </a:p>
            </p:txBody>
          </p:sp>
          <p:sp>
            <p:nvSpPr>
              <p:cNvPr id="12" name="Oval 11"/>
              <p:cNvSpPr/>
              <p:nvPr/>
            </p:nvSpPr>
            <p:spPr>
              <a:xfrm>
                <a:off x="1981200" y="2362200"/>
                <a:ext cx="762000" cy="7620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87" dirty="0">
                    <a:solidFill>
                      <a:srgbClr val="FF0000"/>
                    </a:solidFill>
                  </a:rPr>
                  <a:t>q0</a:t>
                </a:r>
              </a:p>
            </p:txBody>
          </p:sp>
          <p:cxnSp>
            <p:nvCxnSpPr>
              <p:cNvPr id="13" name="Straight Arrow Connector 12"/>
              <p:cNvCxnSpPr>
                <a:endCxn id="12" idx="2"/>
              </p:cNvCxnSpPr>
              <p:nvPr/>
            </p:nvCxnSpPr>
            <p:spPr>
              <a:xfrm flipV="1">
                <a:off x="1524000" y="2743200"/>
                <a:ext cx="457200" cy="15240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grpSp>
        <p:grpSp>
          <p:nvGrpSpPr>
            <p:cNvPr id="34" name="Group 33"/>
            <p:cNvGrpSpPr/>
            <p:nvPr/>
          </p:nvGrpSpPr>
          <p:grpSpPr>
            <a:xfrm>
              <a:off x="838200" y="3276600"/>
              <a:ext cx="2895600" cy="762000"/>
              <a:chOff x="838200" y="3429000"/>
              <a:chExt cx="2895600" cy="762000"/>
            </a:xfrm>
          </p:grpSpPr>
          <p:sp>
            <p:nvSpPr>
              <p:cNvPr id="23" name="Oval 22"/>
              <p:cNvSpPr/>
              <p:nvPr/>
            </p:nvSpPr>
            <p:spPr>
              <a:xfrm>
                <a:off x="3048000" y="3505200"/>
                <a:ext cx="609600" cy="6096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sp>
            <p:nvSpPr>
              <p:cNvPr id="24" name="Oval 23"/>
              <p:cNvSpPr/>
              <p:nvPr/>
            </p:nvSpPr>
            <p:spPr>
              <a:xfrm>
                <a:off x="2971800" y="3429000"/>
                <a:ext cx="762000" cy="7620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87" dirty="0">
                    <a:solidFill>
                      <a:srgbClr val="FF0000"/>
                    </a:solidFill>
                  </a:rPr>
                  <a:t>q1</a:t>
                </a:r>
              </a:p>
            </p:txBody>
          </p:sp>
          <p:cxnSp>
            <p:nvCxnSpPr>
              <p:cNvPr id="25" name="Straight Arrow Connector 24"/>
              <p:cNvCxnSpPr>
                <a:endCxn id="26" idx="2"/>
              </p:cNvCxnSpPr>
              <p:nvPr/>
            </p:nvCxnSpPr>
            <p:spPr>
              <a:xfrm flipV="1">
                <a:off x="838200" y="3810000"/>
                <a:ext cx="381000" cy="22860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26" name="Oval 25"/>
              <p:cNvSpPr/>
              <p:nvPr/>
            </p:nvSpPr>
            <p:spPr>
              <a:xfrm>
                <a:off x="1219200" y="3429000"/>
                <a:ext cx="762000" cy="7620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87" dirty="0">
                    <a:solidFill>
                      <a:srgbClr val="FF0000"/>
                    </a:solidFill>
                  </a:rPr>
                  <a:t>q0</a:t>
                </a:r>
              </a:p>
            </p:txBody>
          </p:sp>
          <p:cxnSp>
            <p:nvCxnSpPr>
              <p:cNvPr id="29" name="Straight Arrow Connector 28"/>
              <p:cNvCxnSpPr>
                <a:stCxn id="24" idx="2"/>
                <a:endCxn id="26" idx="6"/>
              </p:cNvCxnSpPr>
              <p:nvPr/>
            </p:nvCxnSpPr>
            <p:spPr>
              <a:xfrm rot="10800000">
                <a:off x="1981200" y="3810000"/>
                <a:ext cx="990600" cy="1588"/>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33" name="TextBox 32"/>
              <p:cNvSpPr txBox="1"/>
              <p:nvPr/>
            </p:nvSpPr>
            <p:spPr>
              <a:xfrm>
                <a:off x="2362200" y="3429000"/>
                <a:ext cx="533400" cy="383143"/>
              </a:xfrm>
              <a:prstGeom prst="rect">
                <a:avLst/>
              </a:prstGeom>
              <a:noFill/>
            </p:spPr>
            <p:txBody>
              <a:bodyPr wrap="square" rtlCol="0">
                <a:spAutoFit/>
              </a:bodyPr>
              <a:lstStyle/>
              <a:p>
                <a:r>
                  <a:rPr lang="en-US" sz="1565" dirty="0">
                    <a:solidFill>
                      <a:srgbClr val="FF0000"/>
                    </a:solidFill>
                  </a:rPr>
                  <a:t>a</a:t>
                </a:r>
              </a:p>
            </p:txBody>
          </p:sp>
        </p:grpSp>
        <p:grpSp>
          <p:nvGrpSpPr>
            <p:cNvPr id="35" name="Group 34"/>
            <p:cNvGrpSpPr/>
            <p:nvPr/>
          </p:nvGrpSpPr>
          <p:grpSpPr>
            <a:xfrm>
              <a:off x="990600" y="4178300"/>
              <a:ext cx="2873513" cy="863600"/>
              <a:chOff x="838200" y="3340100"/>
              <a:chExt cx="2873513" cy="863600"/>
            </a:xfrm>
          </p:grpSpPr>
          <p:sp>
            <p:nvSpPr>
              <p:cNvPr id="36" name="Oval 35"/>
              <p:cNvSpPr/>
              <p:nvPr/>
            </p:nvSpPr>
            <p:spPr>
              <a:xfrm>
                <a:off x="2895599" y="3340100"/>
                <a:ext cx="816114" cy="863600"/>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1565"/>
              </a:p>
            </p:txBody>
          </p:sp>
          <p:sp>
            <p:nvSpPr>
              <p:cNvPr id="37" name="Oval 36"/>
              <p:cNvSpPr/>
              <p:nvPr/>
            </p:nvSpPr>
            <p:spPr>
              <a:xfrm>
                <a:off x="2971800" y="3429000"/>
                <a:ext cx="685800" cy="6858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87" dirty="0">
                    <a:solidFill>
                      <a:srgbClr val="FF0000"/>
                    </a:solidFill>
                  </a:rPr>
                  <a:t>q1</a:t>
                </a:r>
              </a:p>
            </p:txBody>
          </p:sp>
          <p:cxnSp>
            <p:nvCxnSpPr>
              <p:cNvPr id="38" name="Straight Arrow Connector 37"/>
              <p:cNvCxnSpPr>
                <a:endCxn id="39" idx="2"/>
              </p:cNvCxnSpPr>
              <p:nvPr/>
            </p:nvCxnSpPr>
            <p:spPr>
              <a:xfrm flipV="1">
                <a:off x="838200" y="3810000"/>
                <a:ext cx="381000" cy="228600"/>
              </a:xfrm>
              <a:prstGeom prst="straightConnector1">
                <a:avLst/>
              </a:prstGeom>
              <a:ln>
                <a:tailEnd type="arrow"/>
              </a:ln>
            </p:spPr>
            <p:style>
              <a:lnRef idx="1">
                <a:schemeClr val="accent5"/>
              </a:lnRef>
              <a:fillRef idx="2">
                <a:schemeClr val="accent5"/>
              </a:fillRef>
              <a:effectRef idx="1">
                <a:schemeClr val="accent5"/>
              </a:effectRef>
              <a:fontRef idx="minor">
                <a:schemeClr val="dk1"/>
              </a:fontRef>
            </p:style>
          </p:cxnSp>
          <p:sp>
            <p:nvSpPr>
              <p:cNvPr id="39" name="Oval 38"/>
              <p:cNvSpPr/>
              <p:nvPr/>
            </p:nvSpPr>
            <p:spPr>
              <a:xfrm>
                <a:off x="1219200" y="3429000"/>
                <a:ext cx="762000" cy="7620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87" dirty="0">
                    <a:solidFill>
                      <a:srgbClr val="FF0000"/>
                    </a:solidFill>
                  </a:rPr>
                  <a:t>q0</a:t>
                </a:r>
              </a:p>
            </p:txBody>
          </p:sp>
          <p:cxnSp>
            <p:nvCxnSpPr>
              <p:cNvPr id="40" name="Straight Arrow Connector 39"/>
              <p:cNvCxnSpPr>
                <a:stCxn id="39" idx="6"/>
              </p:cNvCxnSpPr>
              <p:nvPr/>
            </p:nvCxnSpPr>
            <p:spPr>
              <a:xfrm>
                <a:off x="1981200" y="3810000"/>
                <a:ext cx="914400" cy="0"/>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41" name="TextBox 40"/>
              <p:cNvSpPr txBox="1"/>
              <p:nvPr/>
            </p:nvSpPr>
            <p:spPr>
              <a:xfrm>
                <a:off x="2362200" y="3429000"/>
                <a:ext cx="533400" cy="383143"/>
              </a:xfrm>
              <a:prstGeom prst="rect">
                <a:avLst/>
              </a:prstGeom>
              <a:noFill/>
            </p:spPr>
            <p:txBody>
              <a:bodyPr wrap="square" rtlCol="0">
                <a:spAutoFit/>
              </a:bodyPr>
              <a:lstStyle/>
              <a:p>
                <a:r>
                  <a:rPr lang="en-US" sz="1565" dirty="0">
                    <a:solidFill>
                      <a:srgbClr val="FF0000"/>
                    </a:solidFill>
                  </a:rPr>
                  <a:t>a</a:t>
                </a:r>
              </a:p>
            </p:txBody>
          </p:sp>
        </p:grpSp>
        <p:grpSp>
          <p:nvGrpSpPr>
            <p:cNvPr id="45" name="Group 44"/>
            <p:cNvGrpSpPr/>
            <p:nvPr/>
          </p:nvGrpSpPr>
          <p:grpSpPr>
            <a:xfrm>
              <a:off x="990600" y="5105400"/>
              <a:ext cx="2895600" cy="914400"/>
              <a:chOff x="838200" y="3200400"/>
              <a:chExt cx="2895600" cy="990600"/>
            </a:xfrm>
          </p:grpSpPr>
          <p:sp>
            <p:nvSpPr>
              <p:cNvPr id="46" name="Oval 45"/>
              <p:cNvSpPr/>
              <p:nvPr/>
            </p:nvSpPr>
            <p:spPr>
              <a:xfrm>
                <a:off x="3048000" y="3505200"/>
                <a:ext cx="609600" cy="609600"/>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565"/>
              </a:p>
            </p:txBody>
          </p:sp>
          <p:sp>
            <p:nvSpPr>
              <p:cNvPr id="47" name="Oval 46"/>
              <p:cNvSpPr/>
              <p:nvPr/>
            </p:nvSpPr>
            <p:spPr>
              <a:xfrm>
                <a:off x="2971800" y="34290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87" dirty="0">
                    <a:solidFill>
                      <a:srgbClr val="FF0000"/>
                    </a:solidFill>
                  </a:rPr>
                  <a:t>q1</a:t>
                </a:r>
              </a:p>
            </p:txBody>
          </p:sp>
          <p:cxnSp>
            <p:nvCxnSpPr>
              <p:cNvPr id="48" name="Straight Arrow Connector 47"/>
              <p:cNvCxnSpPr>
                <a:endCxn id="49" idx="2"/>
              </p:cNvCxnSpPr>
              <p:nvPr/>
            </p:nvCxnSpPr>
            <p:spPr>
              <a:xfrm flipV="1">
                <a:off x="838200" y="3810000"/>
                <a:ext cx="381000" cy="228600"/>
              </a:xfrm>
              <a:prstGeom prst="straightConnector1">
                <a:avLst/>
              </a:prstGeom>
              <a:ln>
                <a:tailEnd type="arrow"/>
              </a:ln>
            </p:spPr>
            <p:style>
              <a:lnRef idx="1">
                <a:schemeClr val="accent5"/>
              </a:lnRef>
              <a:fillRef idx="2">
                <a:schemeClr val="accent5"/>
              </a:fillRef>
              <a:effectRef idx="1">
                <a:schemeClr val="accent5"/>
              </a:effectRef>
              <a:fontRef idx="minor">
                <a:schemeClr val="dk1"/>
              </a:fontRef>
            </p:style>
          </p:cxnSp>
          <p:sp>
            <p:nvSpPr>
              <p:cNvPr id="49" name="Oval 48"/>
              <p:cNvSpPr/>
              <p:nvPr/>
            </p:nvSpPr>
            <p:spPr>
              <a:xfrm>
                <a:off x="1219200" y="3428999"/>
                <a:ext cx="762000" cy="761999"/>
              </a:xfrm>
              <a:prstGeom prst="ellipse">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087" dirty="0">
                    <a:solidFill>
                      <a:srgbClr val="FF0000"/>
                    </a:solidFill>
                  </a:rPr>
                  <a:t>q0</a:t>
                </a:r>
              </a:p>
            </p:txBody>
          </p:sp>
          <p:cxnSp>
            <p:nvCxnSpPr>
              <p:cNvPr id="50" name="Straight Arrow Connector 49"/>
              <p:cNvCxnSpPr>
                <a:stCxn id="49" idx="7"/>
                <a:endCxn id="47" idx="1"/>
              </p:cNvCxnSpPr>
              <p:nvPr/>
            </p:nvCxnSpPr>
            <p:spPr>
              <a:xfrm rot="5400000" flipH="1" flipV="1">
                <a:off x="2476500" y="2933700"/>
                <a:ext cx="1588" cy="1213784"/>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51" name="TextBox 50"/>
              <p:cNvSpPr txBox="1"/>
              <p:nvPr/>
            </p:nvSpPr>
            <p:spPr>
              <a:xfrm>
                <a:off x="2362200" y="3200400"/>
                <a:ext cx="533400" cy="415072"/>
              </a:xfrm>
              <a:prstGeom prst="rect">
                <a:avLst/>
              </a:prstGeom>
              <a:noFill/>
            </p:spPr>
            <p:txBody>
              <a:bodyPr wrap="square" rtlCol="0">
                <a:spAutoFit/>
              </a:bodyPr>
              <a:lstStyle/>
              <a:p>
                <a:r>
                  <a:rPr lang="en-US" sz="1565" dirty="0">
                    <a:solidFill>
                      <a:srgbClr val="FF0000"/>
                    </a:solidFill>
                  </a:rPr>
                  <a:t>a</a:t>
                </a:r>
              </a:p>
            </p:txBody>
          </p:sp>
        </p:grpSp>
        <p:cxnSp>
          <p:nvCxnSpPr>
            <p:cNvPr id="54" name="Straight Arrow Connector 53"/>
            <p:cNvCxnSpPr>
              <a:stCxn id="49" idx="5"/>
              <a:endCxn id="47" idx="3"/>
            </p:cNvCxnSpPr>
            <p:nvPr/>
          </p:nvCxnSpPr>
          <p:spPr>
            <a:xfrm rot="16200000" flipH="1">
              <a:off x="2628900" y="5309900"/>
              <a:ext cx="1588" cy="1213784"/>
            </a:xfrm>
            <a:prstGeom prst="straightConnector1">
              <a:avLst/>
            </a:prstGeom>
            <a:ln>
              <a:tailEnd type="arrow"/>
            </a:ln>
          </p:spPr>
          <p:style>
            <a:lnRef idx="1">
              <a:schemeClr val="accent5"/>
            </a:lnRef>
            <a:fillRef idx="0">
              <a:schemeClr val="accent5"/>
            </a:fillRef>
            <a:effectRef idx="0">
              <a:schemeClr val="accent5"/>
            </a:effectRef>
            <a:fontRef idx="minor">
              <a:schemeClr val="tx1"/>
            </a:fontRef>
          </p:style>
        </p:cxnSp>
        <p:sp>
          <p:nvSpPr>
            <p:cNvPr id="60" name="TextBox 59"/>
            <p:cNvSpPr txBox="1"/>
            <p:nvPr/>
          </p:nvSpPr>
          <p:spPr>
            <a:xfrm>
              <a:off x="2438400" y="5334000"/>
              <a:ext cx="533400" cy="383143"/>
            </a:xfrm>
            <a:prstGeom prst="rect">
              <a:avLst/>
            </a:prstGeom>
            <a:noFill/>
          </p:spPr>
          <p:txBody>
            <a:bodyPr wrap="square" rtlCol="0">
              <a:spAutoFit/>
            </a:bodyPr>
            <a:lstStyle/>
            <a:p>
              <a:r>
                <a:rPr lang="en-US" sz="1565" dirty="0">
                  <a:solidFill>
                    <a:srgbClr val="FF0000"/>
                  </a:solidFill>
                </a:rPr>
                <a:t>b</a:t>
              </a:r>
            </a:p>
          </p:txBody>
        </p:sp>
      </p:grpSp>
    </p:spTree>
    <p:extLst>
      <p:ext uri="{BB962C8B-B14F-4D97-AF65-F5344CB8AC3E}">
        <p14:creationId xmlns:p14="http://schemas.microsoft.com/office/powerpoint/2010/main" val="19566385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1177"/>
            <a:ext cx="8229600" cy="3935620"/>
          </a:xfrm>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9BFCEA8D-44C2-4AA6-89CF-83466D061CFB}"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dirty="0"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DFA, Regular Sets, Regular Expressions</a:t>
            </a:r>
          </a:p>
        </p:txBody>
      </p:sp>
      <p:grpSp>
        <p:nvGrpSpPr>
          <p:cNvPr id="109" name="Group 108"/>
          <p:cNvGrpSpPr/>
          <p:nvPr/>
        </p:nvGrpSpPr>
        <p:grpSpPr>
          <a:xfrm>
            <a:off x="1151295" y="1750393"/>
            <a:ext cx="8153401" cy="3524739"/>
            <a:chOff x="609599" y="1447801"/>
            <a:chExt cx="8153401" cy="5349939"/>
          </a:xfrm>
        </p:grpSpPr>
        <p:graphicFrame>
          <p:nvGraphicFramePr>
            <p:cNvPr id="10" name="Content Placeholder 8"/>
            <p:cNvGraphicFramePr>
              <a:graphicFrameLocks/>
            </p:cNvGraphicFramePr>
            <p:nvPr>
              <p:extLst>
                <p:ext uri="{D42A27DB-BD31-4B8C-83A1-F6EECF244321}">
                  <p14:modId xmlns:p14="http://schemas.microsoft.com/office/powerpoint/2010/main" val="1139082789"/>
                </p:ext>
              </p:extLst>
            </p:nvPr>
          </p:nvGraphicFramePr>
          <p:xfrm>
            <a:off x="609599" y="1447801"/>
            <a:ext cx="8153401" cy="5349939"/>
          </p:xfrm>
          <a:graphic>
            <a:graphicData uri="http://schemas.openxmlformats.org/drawingml/2006/table">
              <a:tbl>
                <a:tblPr firstRow="1" bandRow="1">
                  <a:tableStyleId>{16D9F66E-5EB9-4882-86FB-DCBF35E3C3E4}</a:tableStyleId>
                </a:tblPr>
                <a:tblGrid>
                  <a:gridCol w="4018909">
                    <a:extLst>
                      <a:ext uri="{9D8B030D-6E8A-4147-A177-3AD203B41FA5}">
                        <a16:colId xmlns:a16="http://schemas.microsoft.com/office/drawing/2014/main" val="20000"/>
                      </a:ext>
                    </a:extLst>
                  </a:gridCol>
                  <a:gridCol w="1988860">
                    <a:extLst>
                      <a:ext uri="{9D8B030D-6E8A-4147-A177-3AD203B41FA5}">
                        <a16:colId xmlns:a16="http://schemas.microsoft.com/office/drawing/2014/main" val="20001"/>
                      </a:ext>
                    </a:extLst>
                  </a:gridCol>
                  <a:gridCol w="2145632">
                    <a:extLst>
                      <a:ext uri="{9D8B030D-6E8A-4147-A177-3AD203B41FA5}">
                        <a16:colId xmlns:a16="http://schemas.microsoft.com/office/drawing/2014/main" val="20002"/>
                      </a:ext>
                    </a:extLst>
                  </a:gridCol>
                </a:tblGrid>
                <a:tr h="607508">
                  <a:tc>
                    <a:txBody>
                      <a:bodyPr/>
                      <a:lstStyle/>
                      <a:p>
                        <a:pPr algn="ctr"/>
                        <a:r>
                          <a:rPr lang="en-US" sz="2000" dirty="0" smtClean="0"/>
                          <a:t>Finite Automata</a:t>
                        </a:r>
                        <a:endParaRPr lang="en-US" sz="2000" dirty="0">
                          <a:solidFill>
                            <a:schemeClr val="tx1"/>
                          </a:solidFill>
                        </a:endParaRPr>
                      </a:p>
                    </a:txBody>
                    <a:tcPr/>
                  </a:tc>
                  <a:tc>
                    <a:txBody>
                      <a:bodyPr/>
                      <a:lstStyle/>
                      <a:p>
                        <a:pPr algn="ctr"/>
                        <a:r>
                          <a:rPr lang="en-US" sz="2000" dirty="0" smtClean="0"/>
                          <a:t>Regular</a:t>
                        </a:r>
                        <a:r>
                          <a:rPr lang="en-US" sz="2000" baseline="0" dirty="0" smtClean="0"/>
                          <a:t> Set</a:t>
                        </a:r>
                        <a:endParaRPr lang="en-US" sz="2000" dirty="0">
                          <a:solidFill>
                            <a:schemeClr val="tx1"/>
                          </a:solidFill>
                        </a:endParaRPr>
                      </a:p>
                    </a:txBody>
                    <a:tcPr/>
                  </a:tc>
                  <a:tc>
                    <a:txBody>
                      <a:bodyPr/>
                      <a:lstStyle/>
                      <a:p>
                        <a:pPr algn="ctr"/>
                        <a:r>
                          <a:rPr lang="en-US" sz="2000" dirty="0" smtClean="0"/>
                          <a:t>Regular Expression</a:t>
                        </a:r>
                        <a:endParaRPr lang="en-US" sz="2000" dirty="0">
                          <a:solidFill>
                            <a:schemeClr val="tx1"/>
                          </a:solidFill>
                        </a:endParaRPr>
                      </a:p>
                    </a:txBody>
                    <a:tcPr/>
                  </a:tc>
                  <a:extLst>
                    <a:ext uri="{0D108BD9-81ED-4DB2-BD59-A6C34878D82A}">
                      <a16:rowId xmlns:a16="http://schemas.microsoft.com/office/drawing/2014/main" val="10000"/>
                    </a:ext>
                  </a:extLst>
                </a:tr>
                <a:tr h="737222">
                  <a:tc>
                    <a:txBody>
                      <a:bodyPr/>
                      <a:lstStyle/>
                      <a:p>
                        <a:endParaRPr lang="en-US" dirty="0">
                          <a:solidFill>
                            <a:schemeClr val="tx1"/>
                          </a:solidFill>
                        </a:endParaRPr>
                      </a:p>
                    </a:txBody>
                    <a:tcPr/>
                  </a:tc>
                  <a:tc>
                    <a:txBody>
                      <a:bodyPr/>
                      <a:lstStyle/>
                      <a:p>
                        <a:pPr algn="ctr"/>
                        <a:r>
                          <a:rPr lang="en-US" sz="2000" dirty="0" smtClean="0"/>
                          <a:t>{</a:t>
                        </a:r>
                        <a:r>
                          <a:rPr lang="en-US" sz="2000" dirty="0" err="1" smtClean="0"/>
                          <a:t>ab</a:t>
                        </a:r>
                        <a:r>
                          <a:rPr lang="en-US" sz="2000" dirty="0" smtClean="0"/>
                          <a:t>}</a:t>
                        </a:r>
                        <a:endParaRPr lang="en-US" sz="2000" dirty="0">
                          <a:solidFill>
                            <a:schemeClr val="tx1"/>
                          </a:solidFill>
                        </a:endParaRPr>
                      </a:p>
                    </a:txBody>
                    <a:tcPr anchor="ctr"/>
                  </a:tc>
                  <a:tc>
                    <a:txBody>
                      <a:bodyPr/>
                      <a:lstStyle/>
                      <a:p>
                        <a:pPr algn="ctr"/>
                        <a:r>
                          <a:rPr lang="en-US" sz="2000" dirty="0" smtClean="0"/>
                          <a:t>RE = </a:t>
                        </a:r>
                        <a:r>
                          <a:rPr lang="en-US" sz="2000" dirty="0" err="1" smtClean="0"/>
                          <a:t>a.b</a:t>
                        </a:r>
                        <a:endParaRPr lang="en-US" sz="2000" dirty="0">
                          <a:solidFill>
                            <a:schemeClr val="tx1"/>
                          </a:solidFill>
                        </a:endParaRPr>
                      </a:p>
                    </a:txBody>
                    <a:tcPr anchor="ctr"/>
                  </a:tc>
                  <a:extLst>
                    <a:ext uri="{0D108BD9-81ED-4DB2-BD59-A6C34878D82A}">
                      <a16:rowId xmlns:a16="http://schemas.microsoft.com/office/drawing/2014/main" val="10001"/>
                    </a:ext>
                  </a:extLst>
                </a:tr>
                <a:tr h="625943">
                  <a:tc>
                    <a:txBody>
                      <a:bodyPr/>
                      <a:lstStyle/>
                      <a:p>
                        <a:endParaRPr lang="en-US" dirty="0">
                          <a:solidFill>
                            <a:schemeClr val="tx1"/>
                          </a:solidFill>
                        </a:endParaRPr>
                      </a:p>
                    </a:txBody>
                    <a:tcPr/>
                  </a:tc>
                  <a:tc>
                    <a:txBody>
                      <a:bodyPr/>
                      <a:lstStyle/>
                      <a:p>
                        <a:pPr algn="ctr"/>
                        <a:r>
                          <a:rPr lang="en-US" sz="2000" dirty="0" smtClean="0"/>
                          <a:t>{</a:t>
                        </a:r>
                        <a:r>
                          <a:rPr lang="en-US" sz="2000" dirty="0" err="1" smtClean="0"/>
                          <a:t>Ɛ,a,aa,aaa</a:t>
                        </a:r>
                        <a:r>
                          <a:rPr lang="en-US" sz="2000" dirty="0" smtClean="0"/>
                          <a:t>,……</a:t>
                        </a:r>
                        <a:r>
                          <a:rPr lang="en-US" sz="2000" dirty="0" smtClean="0">
                            <a:sym typeface="Symbol"/>
                          </a:rPr>
                          <a:t>}</a:t>
                        </a:r>
                        <a:endParaRPr lang="en-US" sz="2000" dirty="0">
                          <a:solidFill>
                            <a:schemeClr val="tx1"/>
                          </a:solidFill>
                        </a:endParaRPr>
                      </a:p>
                    </a:txBody>
                    <a:tcPr anchor="ctr"/>
                  </a:tc>
                  <a:tc>
                    <a:txBody>
                      <a:bodyPr/>
                      <a:lstStyle/>
                      <a:p>
                        <a:pPr algn="ctr"/>
                        <a:r>
                          <a:rPr lang="en-US" sz="2000" dirty="0" smtClean="0"/>
                          <a:t>RE = </a:t>
                        </a:r>
                        <a:r>
                          <a:rPr lang="en-US" sz="2000" dirty="0" smtClean="0">
                            <a:sym typeface="Symbol"/>
                          </a:rPr>
                          <a:t>a*</a:t>
                        </a:r>
                        <a:endParaRPr lang="en-US" sz="2000" dirty="0">
                          <a:solidFill>
                            <a:schemeClr val="tx1"/>
                          </a:solidFill>
                        </a:endParaRPr>
                      </a:p>
                    </a:txBody>
                    <a:tcPr anchor="ctr"/>
                  </a:tc>
                  <a:extLst>
                    <a:ext uri="{0D108BD9-81ED-4DB2-BD59-A6C34878D82A}">
                      <a16:rowId xmlns:a16="http://schemas.microsoft.com/office/drawing/2014/main" val="10002"/>
                    </a:ext>
                  </a:extLst>
                </a:tr>
                <a:tr h="730267">
                  <a:tc>
                    <a:txBody>
                      <a:bodyPr/>
                      <a:lstStyle/>
                      <a:p>
                        <a:endParaRPr lang="en-US" dirty="0">
                          <a:solidFill>
                            <a:schemeClr val="tx1"/>
                          </a:solidFill>
                        </a:endParaRPr>
                      </a:p>
                    </a:txBody>
                    <a:tcPr/>
                  </a:tc>
                  <a:tc>
                    <a:txBody>
                      <a:bodyPr/>
                      <a:lstStyle/>
                      <a:p>
                        <a:pPr algn="ctr"/>
                        <a:r>
                          <a:rPr lang="en-US" sz="2000" dirty="0" smtClean="0"/>
                          <a:t>{</a:t>
                        </a:r>
                        <a:r>
                          <a:rPr lang="en-US" sz="2000" dirty="0" err="1" smtClean="0"/>
                          <a:t>a,aa,aaa</a:t>
                        </a:r>
                        <a:r>
                          <a:rPr lang="en-US" sz="2000" dirty="0" smtClean="0"/>
                          <a:t>,…….}</a:t>
                        </a:r>
                        <a:endParaRPr lang="en-US" sz="2000" dirty="0">
                          <a:solidFill>
                            <a:schemeClr val="tx1"/>
                          </a:solidFill>
                        </a:endParaRPr>
                      </a:p>
                    </a:txBody>
                    <a:tcPr anchor="ctr"/>
                  </a:tc>
                  <a:tc>
                    <a:txBody>
                      <a:bodyPr/>
                      <a:lstStyle/>
                      <a:p>
                        <a:pPr algn="ctr"/>
                        <a:r>
                          <a:rPr lang="en-US" sz="2000" dirty="0" smtClean="0"/>
                          <a:t>RE = </a:t>
                        </a:r>
                        <a:r>
                          <a:rPr lang="en-US" sz="2000" dirty="0" err="1" smtClean="0"/>
                          <a:t>a.a</a:t>
                        </a:r>
                        <a:r>
                          <a:rPr lang="en-US" sz="2000" dirty="0" smtClean="0"/>
                          <a:t>* = a</a:t>
                        </a:r>
                        <a:r>
                          <a:rPr lang="en-US" sz="2000" baseline="30000" dirty="0" smtClean="0"/>
                          <a:t>+</a:t>
                        </a:r>
                        <a:endParaRPr lang="en-US" sz="2000" baseline="30000" dirty="0">
                          <a:solidFill>
                            <a:schemeClr val="tx1"/>
                          </a:solidFill>
                        </a:endParaRPr>
                      </a:p>
                    </a:txBody>
                    <a:tcPr anchor="ctr"/>
                  </a:tc>
                  <a:extLst>
                    <a:ext uri="{0D108BD9-81ED-4DB2-BD59-A6C34878D82A}">
                      <a16:rowId xmlns:a16="http://schemas.microsoft.com/office/drawing/2014/main" val="10003"/>
                    </a:ext>
                  </a:extLst>
                </a:tr>
                <a:tr h="730267">
                  <a:tc>
                    <a:txBody>
                      <a:bodyPr/>
                      <a:lstStyle/>
                      <a:p>
                        <a:endParaRPr lang="en-US" dirty="0">
                          <a:solidFill>
                            <a:schemeClr val="tx1"/>
                          </a:solidFill>
                        </a:endParaRPr>
                      </a:p>
                    </a:txBody>
                    <a:tcPr/>
                  </a:tc>
                  <a:tc>
                    <a:txBody>
                      <a:bodyPr/>
                      <a:lstStyle/>
                      <a:p>
                        <a:pPr algn="ctr"/>
                        <a:r>
                          <a:rPr lang="en-US" sz="2000" dirty="0" smtClean="0"/>
                          <a:t>{Ɛ, </a:t>
                        </a:r>
                        <a:r>
                          <a:rPr lang="en-US" sz="2000" dirty="0" err="1" smtClean="0"/>
                          <a:t>ab,abab</a:t>
                        </a:r>
                        <a:r>
                          <a:rPr lang="en-US" sz="2000" dirty="0" smtClean="0"/>
                          <a:t>,…….</a:t>
                        </a:r>
                        <a:r>
                          <a:rPr lang="en-US" sz="2000" baseline="0" dirty="0" smtClean="0"/>
                          <a:t>}</a:t>
                        </a:r>
                        <a:endParaRPr lang="en-US" sz="2000" dirty="0">
                          <a:solidFill>
                            <a:schemeClr val="tx1"/>
                          </a:solidFill>
                        </a:endParaRPr>
                      </a:p>
                    </a:txBody>
                    <a:tcPr anchor="ctr"/>
                  </a:tc>
                  <a:tc>
                    <a:txBody>
                      <a:bodyPr/>
                      <a:lstStyle/>
                      <a:p>
                        <a:pPr algn="ctr"/>
                        <a:r>
                          <a:rPr lang="en-US" sz="2000" dirty="0" smtClean="0"/>
                          <a:t>RE = (</a:t>
                        </a:r>
                        <a:r>
                          <a:rPr lang="en-US" sz="2000" dirty="0" err="1" smtClean="0"/>
                          <a:t>ab</a:t>
                        </a:r>
                        <a:r>
                          <a:rPr lang="en-US" sz="2000" dirty="0" smtClean="0"/>
                          <a:t>)*</a:t>
                        </a:r>
                        <a:endParaRPr lang="en-US" sz="2000" dirty="0">
                          <a:solidFill>
                            <a:schemeClr val="tx1"/>
                          </a:solidFill>
                        </a:endParaRPr>
                      </a:p>
                    </a:txBody>
                    <a:tcPr anchor="ctr"/>
                  </a:tc>
                  <a:extLst>
                    <a:ext uri="{0D108BD9-81ED-4DB2-BD59-A6C34878D82A}">
                      <a16:rowId xmlns:a16="http://schemas.microsoft.com/office/drawing/2014/main" val="10004"/>
                    </a:ext>
                  </a:extLst>
                </a:tr>
              </a:tbl>
            </a:graphicData>
          </a:graphic>
        </p:graphicFrame>
        <p:grpSp>
          <p:nvGrpSpPr>
            <p:cNvPr id="7" name="Group 33"/>
            <p:cNvGrpSpPr/>
            <p:nvPr/>
          </p:nvGrpSpPr>
          <p:grpSpPr>
            <a:xfrm>
              <a:off x="1143000" y="3276600"/>
              <a:ext cx="2209800" cy="838200"/>
              <a:chOff x="2514600" y="3352800"/>
              <a:chExt cx="2209800" cy="838200"/>
            </a:xfrm>
          </p:grpSpPr>
          <p:sp>
            <p:nvSpPr>
              <p:cNvPr id="23" name="Oval 22"/>
              <p:cNvSpPr/>
              <p:nvPr/>
            </p:nvSpPr>
            <p:spPr>
              <a:xfrm>
                <a:off x="3048000" y="3505200"/>
                <a:ext cx="609600" cy="6096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sp>
            <p:nvSpPr>
              <p:cNvPr id="24" name="Oval 23"/>
              <p:cNvSpPr/>
              <p:nvPr/>
            </p:nvSpPr>
            <p:spPr>
              <a:xfrm>
                <a:off x="2971800" y="34290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87" dirty="0">
                    <a:solidFill>
                      <a:srgbClr val="FF0000"/>
                    </a:solidFill>
                  </a:rPr>
                  <a:t>q0</a:t>
                </a:r>
              </a:p>
            </p:txBody>
          </p:sp>
          <p:cxnSp>
            <p:nvCxnSpPr>
              <p:cNvPr id="25" name="Straight Arrow Connector 24"/>
              <p:cNvCxnSpPr>
                <a:endCxn id="24" idx="2"/>
              </p:cNvCxnSpPr>
              <p:nvPr/>
            </p:nvCxnSpPr>
            <p:spPr>
              <a:xfrm flipV="1">
                <a:off x="2514600" y="3810000"/>
                <a:ext cx="457200" cy="152400"/>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191000" y="3352800"/>
                <a:ext cx="533400" cy="383143"/>
              </a:xfrm>
              <a:prstGeom prst="rect">
                <a:avLst/>
              </a:prstGeom>
              <a:noFill/>
            </p:spPr>
            <p:txBody>
              <a:bodyPr wrap="square" rtlCol="0">
                <a:spAutoFit/>
              </a:bodyPr>
              <a:lstStyle/>
              <a:p>
                <a:r>
                  <a:rPr lang="en-US" sz="1565" dirty="0">
                    <a:solidFill>
                      <a:srgbClr val="FF0000"/>
                    </a:solidFill>
                  </a:rPr>
                  <a:t>a</a:t>
                </a:r>
              </a:p>
            </p:txBody>
          </p:sp>
        </p:grpSp>
        <p:grpSp>
          <p:nvGrpSpPr>
            <p:cNvPr id="9" name="Group 34"/>
            <p:cNvGrpSpPr/>
            <p:nvPr/>
          </p:nvGrpSpPr>
          <p:grpSpPr>
            <a:xfrm>
              <a:off x="762000" y="4343400"/>
              <a:ext cx="2895600" cy="762000"/>
              <a:chOff x="838200" y="3429000"/>
              <a:chExt cx="2895600" cy="762000"/>
            </a:xfrm>
          </p:grpSpPr>
          <p:sp>
            <p:nvSpPr>
              <p:cNvPr id="36" name="Oval 35"/>
              <p:cNvSpPr/>
              <p:nvPr/>
            </p:nvSpPr>
            <p:spPr>
              <a:xfrm>
                <a:off x="3048000" y="3505200"/>
                <a:ext cx="609600" cy="6096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sp>
            <p:nvSpPr>
              <p:cNvPr id="37" name="Oval 36"/>
              <p:cNvSpPr/>
              <p:nvPr/>
            </p:nvSpPr>
            <p:spPr>
              <a:xfrm>
                <a:off x="2971800" y="34290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87" dirty="0">
                    <a:solidFill>
                      <a:srgbClr val="FF0000"/>
                    </a:solidFill>
                  </a:rPr>
                  <a:t>q1</a:t>
                </a:r>
              </a:p>
            </p:txBody>
          </p:sp>
          <p:cxnSp>
            <p:nvCxnSpPr>
              <p:cNvPr id="38" name="Straight Arrow Connector 37"/>
              <p:cNvCxnSpPr>
                <a:endCxn id="39" idx="2"/>
              </p:cNvCxnSpPr>
              <p:nvPr/>
            </p:nvCxnSpPr>
            <p:spPr>
              <a:xfrm flipV="1">
                <a:off x="838200" y="3810000"/>
                <a:ext cx="381000" cy="228600"/>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1219200" y="34290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87" dirty="0">
                    <a:solidFill>
                      <a:srgbClr val="FF0000"/>
                    </a:solidFill>
                  </a:rPr>
                  <a:t>q0</a:t>
                </a:r>
              </a:p>
            </p:txBody>
          </p:sp>
          <p:cxnSp>
            <p:nvCxnSpPr>
              <p:cNvPr id="40" name="Straight Arrow Connector 39"/>
              <p:cNvCxnSpPr>
                <a:stCxn id="39" idx="6"/>
                <a:endCxn id="37" idx="2"/>
              </p:cNvCxnSpPr>
              <p:nvPr/>
            </p:nvCxnSpPr>
            <p:spPr>
              <a:xfrm>
                <a:off x="1981200" y="3810000"/>
                <a:ext cx="990600" cy="1588"/>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362200" y="3429000"/>
                <a:ext cx="533400" cy="383143"/>
              </a:xfrm>
              <a:prstGeom prst="rect">
                <a:avLst/>
              </a:prstGeom>
              <a:noFill/>
            </p:spPr>
            <p:txBody>
              <a:bodyPr wrap="square" rtlCol="0">
                <a:spAutoFit/>
              </a:bodyPr>
              <a:lstStyle/>
              <a:p>
                <a:r>
                  <a:rPr lang="en-US" sz="1565" dirty="0">
                    <a:solidFill>
                      <a:srgbClr val="FF0000"/>
                    </a:solidFill>
                  </a:rPr>
                  <a:t>a</a:t>
                </a:r>
              </a:p>
            </p:txBody>
          </p:sp>
        </p:grpSp>
        <p:grpSp>
          <p:nvGrpSpPr>
            <p:cNvPr id="14" name="Group 44"/>
            <p:cNvGrpSpPr/>
            <p:nvPr/>
          </p:nvGrpSpPr>
          <p:grpSpPr>
            <a:xfrm>
              <a:off x="990600" y="5257800"/>
              <a:ext cx="2895600" cy="914400"/>
              <a:chOff x="838200" y="3200400"/>
              <a:chExt cx="2895600" cy="990600"/>
            </a:xfrm>
          </p:grpSpPr>
          <p:sp>
            <p:nvSpPr>
              <p:cNvPr id="46" name="Oval 45"/>
              <p:cNvSpPr/>
              <p:nvPr/>
            </p:nvSpPr>
            <p:spPr>
              <a:xfrm>
                <a:off x="1295400" y="3505200"/>
                <a:ext cx="609600" cy="6096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sp>
            <p:nvSpPr>
              <p:cNvPr id="47" name="Oval 46"/>
              <p:cNvSpPr/>
              <p:nvPr/>
            </p:nvSpPr>
            <p:spPr>
              <a:xfrm>
                <a:off x="2971800" y="34290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87" dirty="0">
                    <a:solidFill>
                      <a:srgbClr val="FF0000"/>
                    </a:solidFill>
                  </a:rPr>
                  <a:t>q1</a:t>
                </a:r>
              </a:p>
            </p:txBody>
          </p:sp>
          <p:cxnSp>
            <p:nvCxnSpPr>
              <p:cNvPr id="48" name="Straight Arrow Connector 47"/>
              <p:cNvCxnSpPr>
                <a:endCxn id="49" idx="2"/>
              </p:cNvCxnSpPr>
              <p:nvPr/>
            </p:nvCxnSpPr>
            <p:spPr>
              <a:xfrm flipV="1">
                <a:off x="838200" y="3810000"/>
                <a:ext cx="381000" cy="228600"/>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1219200" y="34290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87" dirty="0">
                    <a:solidFill>
                      <a:srgbClr val="FF0000"/>
                    </a:solidFill>
                  </a:rPr>
                  <a:t>q0</a:t>
                </a:r>
              </a:p>
            </p:txBody>
          </p:sp>
          <p:cxnSp>
            <p:nvCxnSpPr>
              <p:cNvPr id="50" name="Straight Arrow Connector 49"/>
              <p:cNvCxnSpPr>
                <a:stCxn id="49" idx="7"/>
                <a:endCxn id="47" idx="1"/>
              </p:cNvCxnSpPr>
              <p:nvPr/>
            </p:nvCxnSpPr>
            <p:spPr>
              <a:xfrm rot="5400000" flipH="1" flipV="1">
                <a:off x="2476500" y="2933700"/>
                <a:ext cx="1588" cy="1213784"/>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362200" y="3200400"/>
                <a:ext cx="533400" cy="415072"/>
              </a:xfrm>
              <a:prstGeom prst="rect">
                <a:avLst/>
              </a:prstGeom>
              <a:noFill/>
            </p:spPr>
            <p:txBody>
              <a:bodyPr wrap="square" rtlCol="0">
                <a:spAutoFit/>
              </a:bodyPr>
              <a:lstStyle/>
              <a:p>
                <a:r>
                  <a:rPr lang="en-US" sz="1565" dirty="0">
                    <a:solidFill>
                      <a:srgbClr val="FF0000"/>
                    </a:solidFill>
                  </a:rPr>
                  <a:t>a</a:t>
                </a:r>
              </a:p>
            </p:txBody>
          </p:sp>
        </p:grpSp>
        <p:cxnSp>
          <p:nvCxnSpPr>
            <p:cNvPr id="54" name="Straight Arrow Connector 53"/>
            <p:cNvCxnSpPr>
              <a:stCxn id="47" idx="3"/>
              <a:endCxn id="49" idx="5"/>
            </p:cNvCxnSpPr>
            <p:nvPr/>
          </p:nvCxnSpPr>
          <p:spPr>
            <a:xfrm rot="5400000">
              <a:off x="2628900" y="5462300"/>
              <a:ext cx="1588" cy="1213784"/>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grpSp>
          <p:nvGrpSpPr>
            <p:cNvPr id="42" name="Group 34"/>
            <p:cNvGrpSpPr/>
            <p:nvPr/>
          </p:nvGrpSpPr>
          <p:grpSpPr>
            <a:xfrm>
              <a:off x="685800" y="2209800"/>
              <a:ext cx="3262250" cy="762000"/>
              <a:chOff x="762000" y="3352800"/>
              <a:chExt cx="3262250" cy="762000"/>
            </a:xfrm>
          </p:grpSpPr>
          <p:sp>
            <p:nvSpPr>
              <p:cNvPr id="43" name="Oval 42"/>
              <p:cNvSpPr/>
              <p:nvPr/>
            </p:nvSpPr>
            <p:spPr>
              <a:xfrm>
                <a:off x="3414650" y="3429000"/>
                <a:ext cx="609600" cy="6096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sp>
            <p:nvSpPr>
              <p:cNvPr id="44" name="Oval 43"/>
              <p:cNvSpPr/>
              <p:nvPr/>
            </p:nvSpPr>
            <p:spPr>
              <a:xfrm>
                <a:off x="2362200" y="3352800"/>
                <a:ext cx="6858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65" dirty="0">
                    <a:solidFill>
                      <a:srgbClr val="FF0000"/>
                    </a:solidFill>
                  </a:rPr>
                  <a:t>q1</a:t>
                </a:r>
              </a:p>
            </p:txBody>
          </p:sp>
          <p:cxnSp>
            <p:nvCxnSpPr>
              <p:cNvPr id="45" name="Straight Arrow Connector 44"/>
              <p:cNvCxnSpPr>
                <a:endCxn id="52" idx="2"/>
              </p:cNvCxnSpPr>
              <p:nvPr/>
            </p:nvCxnSpPr>
            <p:spPr>
              <a:xfrm flipV="1">
                <a:off x="762000" y="3771900"/>
                <a:ext cx="381000" cy="266700"/>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52" name="Oval 51"/>
              <p:cNvSpPr/>
              <p:nvPr/>
            </p:nvSpPr>
            <p:spPr>
              <a:xfrm>
                <a:off x="1143000" y="3429000"/>
                <a:ext cx="685800" cy="6858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65" dirty="0">
                    <a:solidFill>
                      <a:srgbClr val="FF0000"/>
                    </a:solidFill>
                  </a:rPr>
                  <a:t>q0</a:t>
                </a:r>
              </a:p>
            </p:txBody>
          </p:sp>
          <p:cxnSp>
            <p:nvCxnSpPr>
              <p:cNvPr id="53" name="Straight Arrow Connector 52"/>
              <p:cNvCxnSpPr>
                <a:stCxn id="52" idx="6"/>
                <a:endCxn id="44" idx="2"/>
              </p:cNvCxnSpPr>
              <p:nvPr/>
            </p:nvCxnSpPr>
            <p:spPr>
              <a:xfrm flipV="1">
                <a:off x="1828800" y="3733800"/>
                <a:ext cx="533400" cy="38100"/>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1981200" y="3429000"/>
                <a:ext cx="533400" cy="383143"/>
              </a:xfrm>
              <a:prstGeom prst="rect">
                <a:avLst/>
              </a:prstGeom>
              <a:noFill/>
            </p:spPr>
            <p:txBody>
              <a:bodyPr wrap="square" rtlCol="0">
                <a:spAutoFit/>
              </a:bodyPr>
              <a:lstStyle/>
              <a:p>
                <a:r>
                  <a:rPr lang="en-US" sz="1565" dirty="0">
                    <a:solidFill>
                      <a:srgbClr val="FF0000"/>
                    </a:solidFill>
                  </a:rPr>
                  <a:t>a</a:t>
                </a:r>
              </a:p>
            </p:txBody>
          </p:sp>
        </p:grpSp>
        <p:sp>
          <p:nvSpPr>
            <p:cNvPr id="61" name="Oval 60"/>
            <p:cNvSpPr/>
            <p:nvPr/>
          </p:nvSpPr>
          <p:spPr>
            <a:xfrm>
              <a:off x="3276600" y="2209800"/>
              <a:ext cx="7620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q2</a:t>
              </a:r>
            </a:p>
          </p:txBody>
        </p:sp>
        <p:sp>
          <p:nvSpPr>
            <p:cNvPr id="62" name="TextBox 61"/>
            <p:cNvSpPr txBox="1"/>
            <p:nvPr/>
          </p:nvSpPr>
          <p:spPr>
            <a:xfrm>
              <a:off x="3124200" y="2221468"/>
              <a:ext cx="533400" cy="383143"/>
            </a:xfrm>
            <a:prstGeom prst="rect">
              <a:avLst/>
            </a:prstGeom>
            <a:noFill/>
          </p:spPr>
          <p:txBody>
            <a:bodyPr wrap="square" rtlCol="0">
              <a:spAutoFit/>
            </a:bodyPr>
            <a:lstStyle/>
            <a:p>
              <a:r>
                <a:rPr lang="en-US" sz="1565" dirty="0">
                  <a:solidFill>
                    <a:srgbClr val="FF0000"/>
                  </a:solidFill>
                </a:rPr>
                <a:t>b</a:t>
              </a:r>
            </a:p>
          </p:txBody>
        </p:sp>
        <p:cxnSp>
          <p:nvCxnSpPr>
            <p:cNvPr id="63" name="Straight Arrow Connector 62"/>
            <p:cNvCxnSpPr>
              <a:stCxn id="44" idx="6"/>
              <a:endCxn id="62" idx="2"/>
            </p:cNvCxnSpPr>
            <p:nvPr/>
          </p:nvCxnSpPr>
          <p:spPr>
            <a:xfrm>
              <a:off x="2971800" y="2590800"/>
              <a:ext cx="419100" cy="0"/>
            </a:xfrm>
            <a:prstGeom prst="straightConnector1">
              <a:avLst/>
            </a:prstGeom>
            <a:ln w="3175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72" name="Curved Connector 71"/>
            <p:cNvCxnSpPr>
              <a:stCxn id="24" idx="7"/>
              <a:endCxn id="24" idx="6"/>
            </p:cNvCxnSpPr>
            <p:nvPr/>
          </p:nvCxnSpPr>
          <p:spPr>
            <a:xfrm rot="16200000" flipH="1">
              <a:off x="2171700" y="3543300"/>
              <a:ext cx="269408" cy="111592"/>
            </a:xfrm>
            <a:prstGeom prst="curvedConnector4">
              <a:avLst>
                <a:gd name="adj1" fmla="val -71530"/>
                <a:gd name="adj2" fmla="val 4238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Curved Connector 71"/>
            <p:cNvCxnSpPr>
              <a:stCxn id="37" idx="7"/>
              <a:endCxn id="37" idx="6"/>
            </p:cNvCxnSpPr>
            <p:nvPr/>
          </p:nvCxnSpPr>
          <p:spPr>
            <a:xfrm rot="16200000" flipH="1">
              <a:off x="3467100" y="4533900"/>
              <a:ext cx="269408" cy="111592"/>
            </a:xfrm>
            <a:prstGeom prst="curvedConnector4">
              <a:avLst>
                <a:gd name="adj1" fmla="val -126274"/>
                <a:gd name="adj2" fmla="val 304853"/>
              </a:avLst>
            </a:prstGeom>
            <a:ln>
              <a:tailEnd type="arrow"/>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3886200" y="4126468"/>
              <a:ext cx="533400" cy="383143"/>
            </a:xfrm>
            <a:prstGeom prst="rect">
              <a:avLst/>
            </a:prstGeom>
            <a:noFill/>
          </p:spPr>
          <p:txBody>
            <a:bodyPr wrap="square" rtlCol="0">
              <a:spAutoFit/>
            </a:bodyPr>
            <a:lstStyle/>
            <a:p>
              <a:r>
                <a:rPr lang="en-US" sz="1565" dirty="0">
                  <a:solidFill>
                    <a:srgbClr val="FF0000"/>
                  </a:solidFill>
                </a:rPr>
                <a:t>a</a:t>
              </a:r>
            </a:p>
          </p:txBody>
        </p:sp>
        <p:sp>
          <p:nvSpPr>
            <p:cNvPr id="108" name="TextBox 107"/>
            <p:cNvSpPr txBox="1"/>
            <p:nvPr/>
          </p:nvSpPr>
          <p:spPr>
            <a:xfrm>
              <a:off x="2514600" y="5715000"/>
              <a:ext cx="533400" cy="383143"/>
            </a:xfrm>
            <a:prstGeom prst="rect">
              <a:avLst/>
            </a:prstGeom>
            <a:noFill/>
          </p:spPr>
          <p:txBody>
            <a:bodyPr wrap="square" rtlCol="0">
              <a:spAutoFit/>
            </a:bodyPr>
            <a:lstStyle/>
            <a:p>
              <a:r>
                <a:rPr lang="en-US" sz="1565" dirty="0">
                  <a:solidFill>
                    <a:srgbClr val="FF0000"/>
                  </a:solidFill>
                </a:rPr>
                <a:t>b</a:t>
              </a:r>
            </a:p>
          </p:txBody>
        </p:sp>
      </p:grpSp>
    </p:spTree>
    <p:extLst>
      <p:ext uri="{BB962C8B-B14F-4D97-AF65-F5344CB8AC3E}">
        <p14:creationId xmlns:p14="http://schemas.microsoft.com/office/powerpoint/2010/main" val="15859136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1177"/>
            <a:ext cx="8229600" cy="3935620"/>
          </a:xfrm>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394E3952-75FD-4556-AD41-209198781066}"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Regular Expressions, Regular Sets</a:t>
            </a:r>
          </a:p>
        </p:txBody>
      </p:sp>
      <p:graphicFrame>
        <p:nvGraphicFramePr>
          <p:cNvPr id="56" name="Content Placeholder 8"/>
          <p:cNvGraphicFramePr>
            <a:graphicFrameLocks/>
          </p:cNvGraphicFramePr>
          <p:nvPr>
            <p:extLst/>
          </p:nvPr>
        </p:nvGraphicFramePr>
        <p:xfrm>
          <a:off x="265044" y="1308653"/>
          <a:ext cx="8706678" cy="4996205"/>
        </p:xfrm>
        <a:graphic>
          <a:graphicData uri="http://schemas.openxmlformats.org/drawingml/2006/table">
            <a:tbl>
              <a:tblPr firstRow="1" bandRow="1">
                <a:tableStyleId>{8A107856-5554-42FB-B03E-39F5DBC370BA}</a:tableStyleId>
              </a:tblPr>
              <a:tblGrid>
                <a:gridCol w="2453701">
                  <a:extLst>
                    <a:ext uri="{9D8B030D-6E8A-4147-A177-3AD203B41FA5}">
                      <a16:colId xmlns:a16="http://schemas.microsoft.com/office/drawing/2014/main" val="20000"/>
                    </a:ext>
                  </a:extLst>
                </a:gridCol>
                <a:gridCol w="6252977">
                  <a:extLst>
                    <a:ext uri="{9D8B030D-6E8A-4147-A177-3AD203B41FA5}">
                      <a16:colId xmlns:a16="http://schemas.microsoft.com/office/drawing/2014/main" val="20001"/>
                    </a:ext>
                  </a:extLst>
                </a:gridCol>
              </a:tblGrid>
              <a:tr h="478426">
                <a:tc>
                  <a:txBody>
                    <a:bodyPr/>
                    <a:lstStyle/>
                    <a:p>
                      <a:r>
                        <a:rPr lang="en-US" sz="1600" dirty="0" smtClean="0"/>
                        <a:t>Regular</a:t>
                      </a:r>
                      <a:r>
                        <a:rPr lang="en-US" sz="1600" baseline="0" dirty="0" smtClean="0"/>
                        <a:t> Expressions</a:t>
                      </a:r>
                      <a:endParaRPr lang="en-US" sz="1600" dirty="0">
                        <a:solidFill>
                          <a:schemeClr val="tx1"/>
                        </a:solidFill>
                      </a:endParaRPr>
                    </a:p>
                  </a:txBody>
                  <a:tcPr marT="39757" marB="39757"/>
                </a:tc>
                <a:tc>
                  <a:txBody>
                    <a:bodyPr/>
                    <a:lstStyle/>
                    <a:p>
                      <a:pPr algn="ctr"/>
                      <a:r>
                        <a:rPr lang="en-US" sz="1600" dirty="0" smtClean="0"/>
                        <a:t>Regular Set</a:t>
                      </a:r>
                      <a:endParaRPr lang="en-US" sz="1600" dirty="0">
                        <a:solidFill>
                          <a:schemeClr val="tx1"/>
                        </a:solidFill>
                      </a:endParaRPr>
                    </a:p>
                  </a:txBody>
                  <a:tcPr marT="39757" marB="39757"/>
                </a:tc>
                <a:extLst>
                  <a:ext uri="{0D108BD9-81ED-4DB2-BD59-A6C34878D82A}">
                    <a16:rowId xmlns:a16="http://schemas.microsoft.com/office/drawing/2014/main" val="10000"/>
                  </a:ext>
                </a:extLst>
              </a:tr>
              <a:tr h="371061">
                <a:tc>
                  <a:txBody>
                    <a:bodyPr/>
                    <a:lstStyle/>
                    <a:p>
                      <a:pPr algn="ctr" fontAlgn="t"/>
                      <a:r>
                        <a:rPr lang="en-US" sz="1600" dirty="0"/>
                        <a:t>(0 + 10*)</a:t>
                      </a:r>
                    </a:p>
                  </a:txBody>
                  <a:tcPr marL="76200" marR="76200" marT="66261" marB="66261"/>
                </a:tc>
                <a:tc>
                  <a:txBody>
                    <a:bodyPr/>
                    <a:lstStyle/>
                    <a:p>
                      <a:pPr fontAlgn="t"/>
                      <a:r>
                        <a:rPr lang="en-US" sz="1600"/>
                        <a:t>L = { 0, 1, 10, 100, 1000, 10000, … }</a:t>
                      </a:r>
                    </a:p>
                  </a:txBody>
                  <a:tcPr marL="76200" marR="76200" marT="66261" marB="66261"/>
                </a:tc>
                <a:extLst>
                  <a:ext uri="{0D108BD9-81ED-4DB2-BD59-A6C34878D82A}">
                    <a16:rowId xmlns:a16="http://schemas.microsoft.com/office/drawing/2014/main" val="10001"/>
                  </a:ext>
                </a:extLst>
              </a:tr>
              <a:tr h="371061">
                <a:tc>
                  <a:txBody>
                    <a:bodyPr/>
                    <a:lstStyle/>
                    <a:p>
                      <a:pPr algn="ctr" fontAlgn="t"/>
                      <a:r>
                        <a:rPr lang="en-US" sz="1600"/>
                        <a:t>(0*10*)</a:t>
                      </a:r>
                    </a:p>
                  </a:txBody>
                  <a:tcPr marL="76200" marR="76200" marT="66261" marB="66261"/>
                </a:tc>
                <a:tc>
                  <a:txBody>
                    <a:bodyPr/>
                    <a:lstStyle/>
                    <a:p>
                      <a:pPr fontAlgn="t"/>
                      <a:r>
                        <a:rPr lang="en-US" sz="1600"/>
                        <a:t>L = {1, 01, 10, 010, 0010, …}</a:t>
                      </a:r>
                    </a:p>
                  </a:txBody>
                  <a:tcPr marL="76200" marR="76200" marT="66261" marB="66261"/>
                </a:tc>
                <a:extLst>
                  <a:ext uri="{0D108BD9-81ED-4DB2-BD59-A6C34878D82A}">
                    <a16:rowId xmlns:a16="http://schemas.microsoft.com/office/drawing/2014/main" val="10002"/>
                  </a:ext>
                </a:extLst>
              </a:tr>
              <a:tr h="371061">
                <a:tc>
                  <a:txBody>
                    <a:bodyPr/>
                    <a:lstStyle/>
                    <a:p>
                      <a:pPr algn="ctr" fontAlgn="t"/>
                      <a:r>
                        <a:rPr lang="el-GR" sz="1600"/>
                        <a:t>(0 + ε)(1 + ε)</a:t>
                      </a:r>
                    </a:p>
                  </a:txBody>
                  <a:tcPr marL="76200" marR="76200" marT="66261" marB="66261"/>
                </a:tc>
                <a:tc>
                  <a:txBody>
                    <a:bodyPr/>
                    <a:lstStyle/>
                    <a:p>
                      <a:pPr fontAlgn="t"/>
                      <a:r>
                        <a:rPr lang="el-GR" sz="1600" dirty="0"/>
                        <a:t>L = </a:t>
                      </a:r>
                      <a:r>
                        <a:rPr lang="el-GR" sz="1600" dirty="0" smtClean="0"/>
                        <a:t>{</a:t>
                      </a:r>
                      <a:r>
                        <a:rPr lang="en-US" sz="1600" dirty="0" smtClean="0"/>
                        <a:t>Ɛ</a:t>
                      </a:r>
                      <a:r>
                        <a:rPr lang="el-GR" sz="1600" dirty="0" smtClean="0"/>
                        <a:t>, </a:t>
                      </a:r>
                      <a:r>
                        <a:rPr lang="el-GR" sz="1600" dirty="0"/>
                        <a:t>0, 1, 01}</a:t>
                      </a:r>
                    </a:p>
                  </a:txBody>
                  <a:tcPr marL="76200" marR="76200" marT="66261" marB="66261"/>
                </a:tc>
                <a:extLst>
                  <a:ext uri="{0D108BD9-81ED-4DB2-BD59-A6C34878D82A}">
                    <a16:rowId xmlns:a16="http://schemas.microsoft.com/office/drawing/2014/main" val="10003"/>
                  </a:ext>
                </a:extLst>
              </a:tr>
              <a:tr h="523990">
                <a:tc>
                  <a:txBody>
                    <a:bodyPr/>
                    <a:lstStyle/>
                    <a:p>
                      <a:pPr algn="ctr" fontAlgn="t"/>
                      <a:r>
                        <a:rPr lang="en-US" sz="1600"/>
                        <a:t>(a+b)*</a:t>
                      </a:r>
                    </a:p>
                  </a:txBody>
                  <a:tcPr marL="76200" marR="76200" marT="66261" marB="66261"/>
                </a:tc>
                <a:tc>
                  <a:txBody>
                    <a:bodyPr/>
                    <a:lstStyle/>
                    <a:p>
                      <a:pPr fontAlgn="t"/>
                      <a:r>
                        <a:rPr lang="en-US" sz="1600" dirty="0" smtClean="0"/>
                        <a:t>L </a:t>
                      </a:r>
                      <a:r>
                        <a:rPr lang="en-US" sz="1600" dirty="0"/>
                        <a:t>= </a:t>
                      </a:r>
                      <a:r>
                        <a:rPr lang="en-US" sz="1600" dirty="0" smtClean="0"/>
                        <a:t>{Ɛ, </a:t>
                      </a:r>
                      <a:r>
                        <a:rPr lang="en-US" sz="1600" dirty="0"/>
                        <a:t>a, b, </a:t>
                      </a:r>
                      <a:r>
                        <a:rPr lang="en-US" sz="1600" dirty="0" err="1"/>
                        <a:t>aa</a:t>
                      </a:r>
                      <a:r>
                        <a:rPr lang="en-US" sz="1600" dirty="0"/>
                        <a:t> , </a:t>
                      </a:r>
                      <a:r>
                        <a:rPr lang="en-US" sz="1600" dirty="0" err="1"/>
                        <a:t>ab</a:t>
                      </a:r>
                      <a:r>
                        <a:rPr lang="en-US" sz="1600" dirty="0"/>
                        <a:t> , bb , </a:t>
                      </a:r>
                      <a:r>
                        <a:rPr lang="en-US" sz="1600" dirty="0" err="1"/>
                        <a:t>ba</a:t>
                      </a:r>
                      <a:r>
                        <a:rPr lang="en-US" sz="1600" dirty="0"/>
                        <a:t>, </a:t>
                      </a:r>
                      <a:r>
                        <a:rPr lang="en-US" sz="1600" dirty="0" err="1"/>
                        <a:t>aaa</a:t>
                      </a:r>
                      <a:r>
                        <a:rPr lang="en-US" sz="1600" dirty="0"/>
                        <a:t>…….}</a:t>
                      </a:r>
                    </a:p>
                  </a:txBody>
                  <a:tcPr marL="76200" marR="76200" marT="66261" marB="66261"/>
                </a:tc>
                <a:extLst>
                  <a:ext uri="{0D108BD9-81ED-4DB2-BD59-A6C34878D82A}">
                    <a16:rowId xmlns:a16="http://schemas.microsoft.com/office/drawing/2014/main" val="10004"/>
                  </a:ext>
                </a:extLst>
              </a:tr>
              <a:tr h="523990">
                <a:tc>
                  <a:txBody>
                    <a:bodyPr/>
                    <a:lstStyle/>
                    <a:p>
                      <a:pPr algn="ctr" fontAlgn="t"/>
                      <a:r>
                        <a:rPr lang="en-US" sz="1600"/>
                        <a:t>(a+b)*abb</a:t>
                      </a:r>
                    </a:p>
                  </a:txBody>
                  <a:tcPr marL="76200" marR="76200" marT="66261" marB="66261"/>
                </a:tc>
                <a:tc>
                  <a:txBody>
                    <a:bodyPr/>
                    <a:lstStyle/>
                    <a:p>
                      <a:pPr fontAlgn="t"/>
                      <a:r>
                        <a:rPr lang="en-US" sz="1600" dirty="0" smtClean="0"/>
                        <a:t>L </a:t>
                      </a:r>
                      <a:r>
                        <a:rPr lang="en-US" sz="1600" dirty="0"/>
                        <a:t>= {</a:t>
                      </a:r>
                      <a:r>
                        <a:rPr lang="en-US" sz="1600" dirty="0" err="1"/>
                        <a:t>abb</a:t>
                      </a:r>
                      <a:r>
                        <a:rPr lang="en-US" sz="1600" dirty="0"/>
                        <a:t>, </a:t>
                      </a:r>
                      <a:r>
                        <a:rPr lang="en-US" sz="1600" dirty="0" err="1"/>
                        <a:t>aabb</a:t>
                      </a:r>
                      <a:r>
                        <a:rPr lang="en-US" sz="1600" dirty="0"/>
                        <a:t>, </a:t>
                      </a:r>
                      <a:r>
                        <a:rPr lang="en-US" sz="1600" dirty="0" err="1"/>
                        <a:t>babb</a:t>
                      </a:r>
                      <a:r>
                        <a:rPr lang="en-US" sz="1600" dirty="0"/>
                        <a:t>, </a:t>
                      </a:r>
                      <a:r>
                        <a:rPr lang="en-US" sz="1600" dirty="0" err="1"/>
                        <a:t>aaabb</a:t>
                      </a:r>
                      <a:r>
                        <a:rPr lang="en-US" sz="1600" dirty="0"/>
                        <a:t>, </a:t>
                      </a:r>
                      <a:r>
                        <a:rPr lang="en-US" sz="1600" dirty="0" err="1"/>
                        <a:t>ababb</a:t>
                      </a:r>
                      <a:r>
                        <a:rPr lang="en-US" sz="1600" dirty="0"/>
                        <a:t>, </a:t>
                      </a:r>
                      <a:r>
                        <a:rPr lang="en-US" sz="1600" dirty="0" smtClean="0"/>
                        <a:t>…………..} ending with </a:t>
                      </a:r>
                      <a:r>
                        <a:rPr lang="en-US" sz="1600" dirty="0" err="1" smtClean="0"/>
                        <a:t>abb</a:t>
                      </a:r>
                      <a:endParaRPr lang="en-US" sz="1600" dirty="0">
                        <a:solidFill>
                          <a:srgbClr val="FF0000"/>
                        </a:solidFill>
                      </a:endParaRPr>
                    </a:p>
                  </a:txBody>
                  <a:tcPr marL="76200" marR="76200" marT="66261" marB="66261"/>
                </a:tc>
                <a:extLst>
                  <a:ext uri="{0D108BD9-81ED-4DB2-BD59-A6C34878D82A}">
                    <a16:rowId xmlns:a16="http://schemas.microsoft.com/office/drawing/2014/main" val="10005"/>
                  </a:ext>
                </a:extLst>
              </a:tr>
              <a:tr h="371061">
                <a:tc>
                  <a:txBody>
                    <a:bodyPr/>
                    <a:lstStyle/>
                    <a:p>
                      <a:pPr algn="ctr" fontAlgn="t"/>
                      <a:r>
                        <a:rPr lang="en-US" sz="1600"/>
                        <a:t>(11)*</a:t>
                      </a:r>
                    </a:p>
                  </a:txBody>
                  <a:tcPr marL="76200" marR="76200" marT="66261" marB="66261"/>
                </a:tc>
                <a:tc>
                  <a:txBody>
                    <a:bodyPr/>
                    <a:lstStyle/>
                    <a:p>
                      <a:pPr fontAlgn="t"/>
                      <a:r>
                        <a:rPr lang="en-US" sz="1600" dirty="0" smtClean="0"/>
                        <a:t>L</a:t>
                      </a:r>
                      <a:r>
                        <a:rPr lang="en-US" sz="1600" dirty="0"/>
                        <a:t>= </a:t>
                      </a:r>
                      <a:r>
                        <a:rPr lang="en-US" sz="1600" dirty="0" smtClean="0"/>
                        <a:t>{Ɛ, </a:t>
                      </a:r>
                      <a:r>
                        <a:rPr lang="en-US" sz="1600" dirty="0"/>
                        <a:t>11, 1111, 111111, ……….}</a:t>
                      </a:r>
                    </a:p>
                  </a:txBody>
                  <a:tcPr marL="76200" marR="76200" marT="66261" marB="66261"/>
                </a:tc>
                <a:extLst>
                  <a:ext uri="{0D108BD9-81ED-4DB2-BD59-A6C34878D82A}">
                    <a16:rowId xmlns:a16="http://schemas.microsoft.com/office/drawing/2014/main" val="10006"/>
                  </a:ext>
                </a:extLst>
              </a:tr>
              <a:tr h="609600">
                <a:tc>
                  <a:txBody>
                    <a:bodyPr/>
                    <a:lstStyle/>
                    <a:p>
                      <a:pPr algn="ctr" fontAlgn="t"/>
                      <a:r>
                        <a:rPr lang="en-US" sz="1600"/>
                        <a:t>(aa)*(bb)*b</a:t>
                      </a:r>
                    </a:p>
                  </a:txBody>
                  <a:tcPr marL="76200" marR="76200" marT="66261" marB="66261"/>
                </a:tc>
                <a:tc>
                  <a:txBody>
                    <a:bodyPr/>
                    <a:lstStyle/>
                    <a:p>
                      <a:pPr fontAlgn="t"/>
                      <a:r>
                        <a:rPr lang="en-US" sz="1600" dirty="0"/>
                        <a:t>Set of strings consisting of even number of </a:t>
                      </a:r>
                      <a:r>
                        <a:rPr lang="en-US" sz="1600" dirty="0" err="1"/>
                        <a:t>a’s</a:t>
                      </a:r>
                      <a:r>
                        <a:rPr lang="en-US" sz="1600" dirty="0"/>
                        <a:t> followed by odd number of </a:t>
                      </a:r>
                      <a:r>
                        <a:rPr lang="en-US" sz="1600" dirty="0" err="1"/>
                        <a:t>b’s</a:t>
                      </a:r>
                      <a:r>
                        <a:rPr lang="en-US" sz="1600" dirty="0"/>
                        <a:t> , so L = {b, </a:t>
                      </a:r>
                      <a:r>
                        <a:rPr lang="en-US" sz="1600" dirty="0" err="1"/>
                        <a:t>aab</a:t>
                      </a:r>
                      <a:r>
                        <a:rPr lang="en-US" sz="1600" dirty="0"/>
                        <a:t>, </a:t>
                      </a:r>
                      <a:r>
                        <a:rPr lang="en-US" sz="1600" dirty="0" err="1"/>
                        <a:t>aabbb</a:t>
                      </a:r>
                      <a:r>
                        <a:rPr lang="en-US" sz="1600" dirty="0"/>
                        <a:t>, </a:t>
                      </a:r>
                      <a:r>
                        <a:rPr lang="en-US" sz="1600" dirty="0" err="1"/>
                        <a:t>aabbbbb</a:t>
                      </a:r>
                      <a:r>
                        <a:rPr lang="en-US" sz="1600" dirty="0"/>
                        <a:t>, </a:t>
                      </a:r>
                      <a:r>
                        <a:rPr lang="en-US" sz="1600" dirty="0" err="1"/>
                        <a:t>aaaab</a:t>
                      </a:r>
                      <a:r>
                        <a:rPr lang="en-US" sz="1600" dirty="0"/>
                        <a:t>, </a:t>
                      </a:r>
                      <a:r>
                        <a:rPr lang="en-US" sz="1600" dirty="0" err="1"/>
                        <a:t>aaaabbb</a:t>
                      </a:r>
                      <a:r>
                        <a:rPr lang="en-US" sz="1600" dirty="0"/>
                        <a:t>, …………..}</a:t>
                      </a:r>
                    </a:p>
                  </a:txBody>
                  <a:tcPr marL="76200" marR="76200" marT="66261" marB="66261"/>
                </a:tc>
                <a:extLst>
                  <a:ext uri="{0D108BD9-81ED-4DB2-BD59-A6C34878D82A}">
                    <a16:rowId xmlns:a16="http://schemas.microsoft.com/office/drawing/2014/main" val="10007"/>
                  </a:ext>
                </a:extLst>
              </a:tr>
              <a:tr h="1344149">
                <a:tc>
                  <a:txBody>
                    <a:bodyPr/>
                    <a:lstStyle/>
                    <a:p>
                      <a:pPr algn="ctr" fontAlgn="t"/>
                      <a:r>
                        <a:rPr lang="en-US" sz="1600"/>
                        <a:t>(aa + ab + ba + bb)*</a:t>
                      </a:r>
                    </a:p>
                  </a:txBody>
                  <a:tcPr marL="76200" marR="76200" marT="66261" marB="66261"/>
                </a:tc>
                <a:tc>
                  <a:txBody>
                    <a:bodyPr/>
                    <a:lstStyle/>
                    <a:p>
                      <a:pPr fontAlgn="t"/>
                      <a:r>
                        <a:rPr lang="en-US" sz="1600" dirty="0"/>
                        <a:t>String of </a:t>
                      </a:r>
                      <a:r>
                        <a:rPr lang="en-US" sz="1600" dirty="0" err="1"/>
                        <a:t>a’s</a:t>
                      </a:r>
                      <a:r>
                        <a:rPr lang="en-US" sz="1600" dirty="0"/>
                        <a:t> and </a:t>
                      </a:r>
                      <a:r>
                        <a:rPr lang="en-US" sz="1600" dirty="0" err="1"/>
                        <a:t>b’s</a:t>
                      </a:r>
                      <a:r>
                        <a:rPr lang="en-US" sz="1600" dirty="0"/>
                        <a:t> of even length can be obtained by concatenating any combination of the strings </a:t>
                      </a:r>
                      <a:r>
                        <a:rPr lang="en-US" sz="1600" dirty="0" err="1"/>
                        <a:t>aa</a:t>
                      </a:r>
                      <a:r>
                        <a:rPr lang="en-US" sz="1600" dirty="0"/>
                        <a:t>, </a:t>
                      </a:r>
                      <a:r>
                        <a:rPr lang="en-US" sz="1600" dirty="0" err="1"/>
                        <a:t>ab</a:t>
                      </a:r>
                      <a:r>
                        <a:rPr lang="en-US" sz="1600" dirty="0"/>
                        <a:t>, </a:t>
                      </a:r>
                      <a:r>
                        <a:rPr lang="en-US" sz="1600" dirty="0" err="1"/>
                        <a:t>ba</a:t>
                      </a:r>
                      <a:r>
                        <a:rPr lang="en-US" sz="1600" dirty="0"/>
                        <a:t> and bb including null, so L = </a:t>
                      </a:r>
                      <a:r>
                        <a:rPr lang="en-US" sz="1600" dirty="0" smtClean="0"/>
                        <a:t>{Ɛ,</a:t>
                      </a:r>
                      <a:r>
                        <a:rPr lang="en-US" sz="1600" baseline="0" dirty="0" smtClean="0"/>
                        <a:t> </a:t>
                      </a:r>
                      <a:r>
                        <a:rPr lang="en-US" sz="1600" dirty="0" err="1" smtClean="0"/>
                        <a:t>aa</a:t>
                      </a:r>
                      <a:r>
                        <a:rPr lang="en-US" sz="1600" dirty="0"/>
                        <a:t>, </a:t>
                      </a:r>
                      <a:r>
                        <a:rPr lang="en-US" sz="1600" dirty="0" err="1"/>
                        <a:t>ab</a:t>
                      </a:r>
                      <a:r>
                        <a:rPr lang="en-US" sz="1600" dirty="0"/>
                        <a:t>, </a:t>
                      </a:r>
                      <a:r>
                        <a:rPr lang="en-US" sz="1600" dirty="0" err="1"/>
                        <a:t>ba</a:t>
                      </a:r>
                      <a:r>
                        <a:rPr lang="en-US" sz="1600" dirty="0"/>
                        <a:t>, bb, </a:t>
                      </a:r>
                      <a:r>
                        <a:rPr lang="en-US" sz="1600" dirty="0" err="1"/>
                        <a:t>aaab</a:t>
                      </a:r>
                      <a:r>
                        <a:rPr lang="en-US" sz="1600" dirty="0"/>
                        <a:t>, </a:t>
                      </a:r>
                      <a:r>
                        <a:rPr lang="en-US" sz="1600" dirty="0" err="1"/>
                        <a:t>aaba</a:t>
                      </a:r>
                      <a:r>
                        <a:rPr lang="en-US" sz="1600" dirty="0"/>
                        <a:t>, …………..}</a:t>
                      </a:r>
                    </a:p>
                  </a:txBody>
                  <a:tcPr marL="76200" marR="76200" marT="66261" marB="66261"/>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43541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57A59A1C-431E-4880-947C-18DDCE8011F5}"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5"/>
            <a:ext cx="8229600" cy="2554610"/>
          </a:xfrm>
          <a:prstGeom prst="rect">
            <a:avLst/>
          </a:prstGeom>
        </p:spPr>
        <p:txBody>
          <a:bodyPr wrap="square">
            <a:spAutoFit/>
          </a:bodyPr>
          <a:lstStyle/>
          <a:p>
            <a:r>
              <a:rPr lang="en-US" sz="1739" dirty="0"/>
              <a:t>Q1: Write the regular expression for the language accepting all combinations of </a:t>
            </a:r>
            <a:r>
              <a:rPr lang="en-US" sz="1739" dirty="0" err="1"/>
              <a:t>a's</a:t>
            </a:r>
            <a:r>
              <a:rPr lang="en-US" sz="1739" dirty="0"/>
              <a:t>, over the set ∑ = {a}</a:t>
            </a:r>
          </a:p>
          <a:p>
            <a:r>
              <a:rPr lang="en-US" sz="1739" b="1" dirty="0"/>
              <a:t>Solution:</a:t>
            </a:r>
            <a:endParaRPr lang="en-US" sz="1739" dirty="0"/>
          </a:p>
          <a:p>
            <a:r>
              <a:rPr lang="en-US" sz="1739" dirty="0"/>
              <a:t>All combinations of </a:t>
            </a:r>
            <a:r>
              <a:rPr lang="en-US" sz="1739" dirty="0" err="1"/>
              <a:t>a's</a:t>
            </a:r>
            <a:r>
              <a:rPr lang="en-US" sz="1739" dirty="0"/>
              <a:t> means a may be zero, single, double and so on. If a is appearing zero times, that means a null string. That is we expect the set of {ε, a, </a:t>
            </a:r>
            <a:r>
              <a:rPr lang="en-US" sz="1739" dirty="0" err="1"/>
              <a:t>aa</a:t>
            </a:r>
            <a:r>
              <a:rPr lang="en-US" sz="1739" dirty="0"/>
              <a:t>, </a:t>
            </a:r>
            <a:r>
              <a:rPr lang="en-US" sz="1739" dirty="0" err="1"/>
              <a:t>aaa</a:t>
            </a:r>
            <a:r>
              <a:rPr lang="en-US" sz="1739" dirty="0"/>
              <a:t>, ....}. So we give a regular expression for this as:</a:t>
            </a:r>
          </a:p>
          <a:p>
            <a:r>
              <a:rPr lang="en-US" sz="1739" dirty="0"/>
              <a:t>R = a*  </a:t>
            </a:r>
          </a:p>
          <a:p>
            <a:r>
              <a:rPr lang="en-US" sz="1739" dirty="0"/>
              <a:t>That is </a:t>
            </a:r>
            <a:r>
              <a:rPr lang="en-US" sz="1739" dirty="0" err="1"/>
              <a:t>Kleen</a:t>
            </a:r>
            <a:r>
              <a:rPr lang="en-US" sz="1739" dirty="0"/>
              <a:t> closure of a.</a:t>
            </a:r>
          </a:p>
          <a:p>
            <a:endParaRPr lang="en-US" sz="2087" dirty="0"/>
          </a:p>
        </p:txBody>
      </p:sp>
    </p:spTree>
    <p:extLst>
      <p:ext uri="{BB962C8B-B14F-4D97-AF65-F5344CB8AC3E}">
        <p14:creationId xmlns:p14="http://schemas.microsoft.com/office/powerpoint/2010/main" val="4120116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11AB2990-4C3E-4F61-B382-2336322E14BD}"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5"/>
            <a:ext cx="8229600" cy="4285340"/>
          </a:xfrm>
          <a:prstGeom prst="rect">
            <a:avLst/>
          </a:prstGeom>
        </p:spPr>
        <p:txBody>
          <a:bodyPr wrap="square">
            <a:spAutoFit/>
          </a:bodyPr>
          <a:lstStyle/>
          <a:p>
            <a:r>
              <a:rPr lang="en-US" sz="1739" dirty="0"/>
              <a:t>Q2: Write the regular expression for the language accepting all combinations of </a:t>
            </a:r>
            <a:r>
              <a:rPr lang="en-US" sz="1739" dirty="0" err="1"/>
              <a:t>a's</a:t>
            </a:r>
            <a:r>
              <a:rPr lang="en-US" sz="1739" dirty="0"/>
              <a:t> except the null string, over the set ∑ = {a}</a:t>
            </a:r>
          </a:p>
          <a:p>
            <a:r>
              <a:rPr lang="en-US" sz="1739" b="1" dirty="0"/>
              <a:t>Solution:</a:t>
            </a:r>
            <a:endParaRPr lang="en-US" sz="1739" dirty="0"/>
          </a:p>
          <a:p>
            <a:r>
              <a:rPr lang="en-US" sz="1739" dirty="0"/>
              <a:t>The regular expression has to be built for the language</a:t>
            </a:r>
          </a:p>
          <a:p>
            <a:r>
              <a:rPr lang="en-US" sz="1739" dirty="0"/>
              <a:t>L = {a, </a:t>
            </a:r>
            <a:r>
              <a:rPr lang="en-US" sz="1739" dirty="0" err="1"/>
              <a:t>aa</a:t>
            </a:r>
            <a:r>
              <a:rPr lang="en-US" sz="1739" dirty="0"/>
              <a:t>, </a:t>
            </a:r>
            <a:r>
              <a:rPr lang="en-US" sz="1739" dirty="0" err="1"/>
              <a:t>aaa</a:t>
            </a:r>
            <a:r>
              <a:rPr lang="en-US" sz="1739" dirty="0"/>
              <a:t>, ....}  </a:t>
            </a:r>
          </a:p>
          <a:p>
            <a:r>
              <a:rPr lang="en-US" sz="1739" dirty="0"/>
              <a:t>This set indicates that there is no null string. So we can denote regular expression as:  R = a</a:t>
            </a:r>
            <a:r>
              <a:rPr lang="en-US" sz="1739" baseline="30000" dirty="0"/>
              <a:t>+</a:t>
            </a:r>
          </a:p>
          <a:p>
            <a:endParaRPr lang="en-US" sz="1739" baseline="30000" dirty="0"/>
          </a:p>
          <a:p>
            <a:r>
              <a:rPr lang="en-US" sz="1739" dirty="0"/>
              <a:t>Q3:Write the regular expression for the language accepting all the string containing any number of a's and b's.</a:t>
            </a:r>
          </a:p>
          <a:p>
            <a:r>
              <a:rPr lang="en-US" sz="1739" b="1" dirty="0"/>
              <a:t>Solution:</a:t>
            </a:r>
            <a:endParaRPr lang="en-US" sz="1739" dirty="0"/>
          </a:p>
          <a:p>
            <a:r>
              <a:rPr lang="en-US" sz="1739" dirty="0"/>
              <a:t>The regular expression will be:</a:t>
            </a:r>
          </a:p>
          <a:p>
            <a:r>
              <a:rPr lang="en-US" sz="1739" dirty="0" err="1"/>
              <a:t>r.e</a:t>
            </a:r>
            <a:r>
              <a:rPr lang="en-US" sz="1739" dirty="0"/>
              <a:t>. = (a + b)*  </a:t>
            </a:r>
          </a:p>
          <a:p>
            <a:r>
              <a:rPr lang="en-US" sz="1739" dirty="0"/>
              <a:t>This will give the set as L = {ε, a, </a:t>
            </a:r>
            <a:r>
              <a:rPr lang="en-US" sz="1739" dirty="0" err="1"/>
              <a:t>aa</a:t>
            </a:r>
            <a:r>
              <a:rPr lang="en-US" sz="1739" dirty="0"/>
              <a:t>, b, bb, </a:t>
            </a:r>
            <a:r>
              <a:rPr lang="en-US" sz="1739" dirty="0" err="1"/>
              <a:t>ab</a:t>
            </a:r>
            <a:r>
              <a:rPr lang="en-US" sz="1739" dirty="0"/>
              <a:t>, </a:t>
            </a:r>
            <a:r>
              <a:rPr lang="en-US" sz="1739" dirty="0" err="1"/>
              <a:t>ba</a:t>
            </a:r>
            <a:r>
              <a:rPr lang="en-US" sz="1739" dirty="0"/>
              <a:t>, </a:t>
            </a:r>
            <a:r>
              <a:rPr lang="en-US" sz="1739" dirty="0" err="1"/>
              <a:t>aba</a:t>
            </a:r>
            <a:r>
              <a:rPr lang="en-US" sz="1739" dirty="0"/>
              <a:t>, </a:t>
            </a:r>
            <a:r>
              <a:rPr lang="en-US" sz="1739" dirty="0" err="1"/>
              <a:t>bab</a:t>
            </a:r>
            <a:r>
              <a:rPr lang="en-US" sz="1739" dirty="0"/>
              <a:t>, .....}, any combination of a and b.</a:t>
            </a:r>
          </a:p>
          <a:p>
            <a:r>
              <a:rPr lang="en-US" sz="1739" dirty="0"/>
              <a:t>The (a + b)* shows any combination with a and b even a null string.</a:t>
            </a:r>
          </a:p>
        </p:txBody>
      </p:sp>
    </p:spTree>
    <p:extLst>
      <p:ext uri="{BB962C8B-B14F-4D97-AF65-F5344CB8AC3E}">
        <p14:creationId xmlns:p14="http://schemas.microsoft.com/office/powerpoint/2010/main" val="42356416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79371714-8047-495A-92AA-855226DBC1A5}"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4"/>
            <a:ext cx="8229600" cy="3303981"/>
          </a:xfrm>
          <a:prstGeom prst="rect">
            <a:avLst/>
          </a:prstGeom>
        </p:spPr>
        <p:txBody>
          <a:bodyPr wrap="square">
            <a:spAutoFit/>
          </a:bodyPr>
          <a:lstStyle/>
          <a:p>
            <a:r>
              <a:rPr lang="en-US" sz="1739" dirty="0"/>
              <a:t>Q4: Write the regular expression for the language accepting all the string which are starting with 1 and ending with 0, over ∑ = {0, 1}.</a:t>
            </a:r>
          </a:p>
          <a:p>
            <a:r>
              <a:rPr lang="en-US" sz="1739" b="1" dirty="0"/>
              <a:t>Solution:</a:t>
            </a:r>
            <a:endParaRPr lang="en-US" sz="1739" dirty="0"/>
          </a:p>
          <a:p>
            <a:r>
              <a:rPr lang="en-US" sz="1739" dirty="0"/>
              <a:t>In a regular expression, the first symbol should be 1, and the last symbol should be 0. The </a:t>
            </a:r>
            <a:r>
              <a:rPr lang="en-US" sz="1739" dirty="0" err="1"/>
              <a:t>r.e</a:t>
            </a:r>
            <a:r>
              <a:rPr lang="en-US" sz="1739" dirty="0"/>
              <a:t>. is as follows:</a:t>
            </a:r>
          </a:p>
          <a:p>
            <a:r>
              <a:rPr lang="en-US" sz="1739" dirty="0"/>
              <a:t>R = 1 (0+1)* 0  </a:t>
            </a:r>
          </a:p>
          <a:p>
            <a:endParaRPr lang="en-US" sz="1739" dirty="0"/>
          </a:p>
          <a:p>
            <a:r>
              <a:rPr lang="en-US" sz="1739" dirty="0"/>
              <a:t>Q5: Write the regular expression for the language starting and ending with a and having any combination of b's in between.</a:t>
            </a:r>
          </a:p>
          <a:p>
            <a:r>
              <a:rPr lang="en-US" sz="1739" b="1" dirty="0"/>
              <a:t>Solution:</a:t>
            </a:r>
            <a:endParaRPr lang="en-US" sz="1739" dirty="0"/>
          </a:p>
          <a:p>
            <a:r>
              <a:rPr lang="en-US" sz="1739" dirty="0"/>
              <a:t>The regular expression will be:</a:t>
            </a:r>
          </a:p>
          <a:p>
            <a:r>
              <a:rPr lang="en-US" sz="1739" dirty="0"/>
              <a:t>R = a b* a  </a:t>
            </a:r>
          </a:p>
        </p:txBody>
      </p:sp>
    </p:spTree>
    <p:extLst>
      <p:ext uri="{BB962C8B-B14F-4D97-AF65-F5344CB8AC3E}">
        <p14:creationId xmlns:p14="http://schemas.microsoft.com/office/powerpoint/2010/main" val="247499765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D7422A35-B250-4357-B2EB-AFF689437FA6}"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5"/>
            <a:ext cx="8229600" cy="4106894"/>
          </a:xfrm>
          <a:prstGeom prst="rect">
            <a:avLst/>
          </a:prstGeom>
        </p:spPr>
        <p:txBody>
          <a:bodyPr wrap="square">
            <a:spAutoFit/>
          </a:bodyPr>
          <a:lstStyle/>
          <a:p>
            <a:r>
              <a:rPr lang="en-US" sz="1739" dirty="0"/>
              <a:t>Q6:</a:t>
            </a:r>
          </a:p>
          <a:p>
            <a:r>
              <a:rPr lang="en-US" sz="1739" dirty="0"/>
              <a:t>Write the regular expression for the language starting with </a:t>
            </a:r>
            <a:r>
              <a:rPr lang="en-US" sz="1739" dirty="0" smtClean="0"/>
              <a:t>‘a’ </a:t>
            </a:r>
            <a:r>
              <a:rPr lang="en-US" sz="1739" dirty="0"/>
              <a:t>but not having consecutive b's.</a:t>
            </a:r>
          </a:p>
          <a:p>
            <a:r>
              <a:rPr lang="en-US" sz="1739" b="1" dirty="0"/>
              <a:t>Solution:</a:t>
            </a:r>
            <a:r>
              <a:rPr lang="en-US" sz="1739" dirty="0"/>
              <a:t> The regular expression has to be built for the language:</a:t>
            </a:r>
          </a:p>
          <a:p>
            <a:r>
              <a:rPr lang="en-US" sz="1739" dirty="0"/>
              <a:t>L = {a, </a:t>
            </a:r>
            <a:r>
              <a:rPr lang="en-US" sz="1739" dirty="0" err="1"/>
              <a:t>aba</a:t>
            </a:r>
            <a:r>
              <a:rPr lang="en-US" sz="1739" dirty="0"/>
              <a:t>, </a:t>
            </a:r>
            <a:r>
              <a:rPr lang="en-US" sz="1739" dirty="0" err="1"/>
              <a:t>aab</a:t>
            </a:r>
            <a:r>
              <a:rPr lang="en-US" sz="1739" dirty="0"/>
              <a:t>, </a:t>
            </a:r>
            <a:r>
              <a:rPr lang="en-US" sz="1739" dirty="0" err="1"/>
              <a:t>aba</a:t>
            </a:r>
            <a:r>
              <a:rPr lang="en-US" sz="1739" dirty="0"/>
              <a:t>, </a:t>
            </a:r>
            <a:r>
              <a:rPr lang="en-US" sz="1739" dirty="0" err="1"/>
              <a:t>aaa</a:t>
            </a:r>
            <a:r>
              <a:rPr lang="en-US" sz="1739" dirty="0"/>
              <a:t>, </a:t>
            </a:r>
            <a:r>
              <a:rPr lang="en-US" sz="1739" dirty="0" err="1"/>
              <a:t>abab</a:t>
            </a:r>
            <a:r>
              <a:rPr lang="en-US" sz="1739" dirty="0"/>
              <a:t>, .....}  </a:t>
            </a:r>
          </a:p>
          <a:p>
            <a:r>
              <a:rPr lang="en-US" sz="1739" dirty="0"/>
              <a:t>The regular expression for the above language is:</a:t>
            </a:r>
          </a:p>
          <a:p>
            <a:r>
              <a:rPr lang="en-US" sz="1739" dirty="0"/>
              <a:t>R = {a + </a:t>
            </a:r>
            <a:r>
              <a:rPr lang="en-US" sz="1739" dirty="0" err="1"/>
              <a:t>ab</a:t>
            </a:r>
            <a:r>
              <a:rPr lang="en-US" sz="1739" dirty="0"/>
              <a:t>}*  </a:t>
            </a:r>
          </a:p>
          <a:p>
            <a:r>
              <a:rPr lang="en-US" sz="1739" dirty="0"/>
              <a:t>Q7:</a:t>
            </a:r>
          </a:p>
          <a:p>
            <a:r>
              <a:rPr lang="en-US" sz="1739" dirty="0"/>
              <a:t>Write the regular expression for the language accepting all the string in which any number of </a:t>
            </a:r>
            <a:r>
              <a:rPr lang="en-US" sz="1739" dirty="0" err="1"/>
              <a:t>a's</a:t>
            </a:r>
            <a:r>
              <a:rPr lang="en-US" sz="1739" dirty="0"/>
              <a:t> is followed by any number of </a:t>
            </a:r>
            <a:r>
              <a:rPr lang="en-US" sz="1739" dirty="0" err="1"/>
              <a:t>b's</a:t>
            </a:r>
            <a:r>
              <a:rPr lang="en-US" sz="1739" dirty="0"/>
              <a:t> is followed by any number of </a:t>
            </a:r>
            <a:r>
              <a:rPr lang="en-US" sz="1739" dirty="0" err="1"/>
              <a:t>c's</a:t>
            </a:r>
            <a:r>
              <a:rPr lang="en-US" sz="1739" dirty="0"/>
              <a:t>.</a:t>
            </a:r>
          </a:p>
          <a:p>
            <a:r>
              <a:rPr lang="en-US" sz="1739" b="1" dirty="0"/>
              <a:t>Solution:</a:t>
            </a:r>
            <a:r>
              <a:rPr lang="en-US" sz="1739" dirty="0"/>
              <a:t> As we know, any number of </a:t>
            </a:r>
            <a:r>
              <a:rPr lang="en-US" sz="1739" dirty="0" err="1"/>
              <a:t>a's</a:t>
            </a:r>
            <a:r>
              <a:rPr lang="en-US" sz="1739" dirty="0"/>
              <a:t> means a* any number of </a:t>
            </a:r>
            <a:r>
              <a:rPr lang="en-US" sz="1739" dirty="0" err="1"/>
              <a:t>b's</a:t>
            </a:r>
            <a:r>
              <a:rPr lang="en-US" sz="1739" dirty="0"/>
              <a:t> means b*, any number of </a:t>
            </a:r>
            <a:r>
              <a:rPr lang="en-US" sz="1739" dirty="0" err="1"/>
              <a:t>c's</a:t>
            </a:r>
            <a:r>
              <a:rPr lang="en-US" sz="1739" dirty="0"/>
              <a:t> means c*. Since as given in problem statement, </a:t>
            </a:r>
            <a:r>
              <a:rPr lang="en-US" sz="1739" dirty="0" err="1"/>
              <a:t>b's</a:t>
            </a:r>
            <a:r>
              <a:rPr lang="en-US" sz="1739" dirty="0"/>
              <a:t> appear after </a:t>
            </a:r>
            <a:r>
              <a:rPr lang="en-US" sz="1739" dirty="0" err="1"/>
              <a:t>a's</a:t>
            </a:r>
            <a:r>
              <a:rPr lang="en-US" sz="1739" dirty="0"/>
              <a:t> and </a:t>
            </a:r>
            <a:r>
              <a:rPr lang="en-US" sz="1739" dirty="0" err="1"/>
              <a:t>c's</a:t>
            </a:r>
            <a:r>
              <a:rPr lang="en-US" sz="1739" dirty="0"/>
              <a:t> appear after </a:t>
            </a:r>
            <a:r>
              <a:rPr lang="en-US" sz="1739" dirty="0" err="1"/>
              <a:t>b's</a:t>
            </a:r>
            <a:r>
              <a:rPr lang="en-US" sz="1739" dirty="0"/>
              <a:t>. So the regular expression could be:</a:t>
            </a:r>
          </a:p>
          <a:p>
            <a:r>
              <a:rPr lang="en-US" sz="1739" dirty="0"/>
              <a:t>R = a* b* c*  </a:t>
            </a:r>
          </a:p>
          <a:p>
            <a:endParaRPr lang="en-US" sz="1739" dirty="0"/>
          </a:p>
        </p:txBody>
      </p:sp>
    </p:spTree>
    <p:extLst>
      <p:ext uri="{BB962C8B-B14F-4D97-AF65-F5344CB8AC3E}">
        <p14:creationId xmlns:p14="http://schemas.microsoft.com/office/powerpoint/2010/main" val="4154733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1352B480-A15A-4180-BE4F-E6AA166ED5C9}"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7"/>
            <a:ext cx="8229600" cy="4106894"/>
          </a:xfrm>
          <a:prstGeom prst="rect">
            <a:avLst/>
          </a:prstGeom>
        </p:spPr>
        <p:txBody>
          <a:bodyPr wrap="square">
            <a:spAutoFit/>
          </a:bodyPr>
          <a:lstStyle/>
          <a:p>
            <a:r>
              <a:rPr lang="en-US" sz="1739" dirty="0"/>
              <a:t>Q8:Write the regular expression for the language over ∑ = {0} having even length of the string.</a:t>
            </a:r>
          </a:p>
          <a:p>
            <a:r>
              <a:rPr lang="en-US" sz="1739" b="1" dirty="0"/>
              <a:t>Solution:</a:t>
            </a:r>
            <a:endParaRPr lang="en-US" sz="1739" dirty="0"/>
          </a:p>
          <a:p>
            <a:r>
              <a:rPr lang="en-US" sz="1739" dirty="0"/>
              <a:t>The regular expression has to be built for the language:</a:t>
            </a:r>
          </a:p>
          <a:p>
            <a:r>
              <a:rPr lang="en-US" sz="1739" dirty="0"/>
              <a:t>L = {ε, 00, 0000, 000000, ......}  </a:t>
            </a:r>
          </a:p>
          <a:p>
            <a:r>
              <a:rPr lang="en-US" sz="1739" dirty="0"/>
              <a:t>The regular expression for the above language is:</a:t>
            </a:r>
          </a:p>
          <a:p>
            <a:r>
              <a:rPr lang="en-US" sz="1739" dirty="0"/>
              <a:t>R = (00)*  </a:t>
            </a:r>
          </a:p>
          <a:p>
            <a:r>
              <a:rPr lang="en-US" sz="1739" dirty="0"/>
              <a:t>Q9:</a:t>
            </a:r>
          </a:p>
          <a:p>
            <a:r>
              <a:rPr lang="en-US" sz="1739" dirty="0"/>
              <a:t>Write the regular expression for the language having a string which should have </a:t>
            </a:r>
            <a:r>
              <a:rPr lang="en-US" sz="1739" dirty="0" err="1"/>
              <a:t>atleast</a:t>
            </a:r>
            <a:r>
              <a:rPr lang="en-US" sz="1739" dirty="0"/>
              <a:t> one 0 and </a:t>
            </a:r>
            <a:r>
              <a:rPr lang="en-US" sz="1739" dirty="0" err="1"/>
              <a:t>alteast</a:t>
            </a:r>
            <a:r>
              <a:rPr lang="en-US" sz="1739" dirty="0"/>
              <a:t> one 1.</a:t>
            </a:r>
          </a:p>
          <a:p>
            <a:r>
              <a:rPr lang="en-US" sz="1739" b="1" dirty="0"/>
              <a:t>Solution:</a:t>
            </a:r>
            <a:endParaRPr lang="en-US" sz="1739" dirty="0"/>
          </a:p>
          <a:p>
            <a:r>
              <a:rPr lang="en-US" sz="1739" dirty="0"/>
              <a:t>The regular expression will be:</a:t>
            </a:r>
          </a:p>
          <a:p>
            <a:r>
              <a:rPr lang="en-US" sz="1739" dirty="0"/>
              <a:t>R = [(0 + 1)* 0 (0 + 1)* 1 (0 + 1)*] + [(0 + 1)* 1 (0 + 1)* 0 (0 + 1)*]  </a:t>
            </a:r>
          </a:p>
          <a:p>
            <a:r>
              <a:rPr lang="en-US" sz="1739" dirty="0"/>
              <a:t/>
            </a:r>
            <a:br>
              <a:rPr lang="en-US" sz="1739" dirty="0"/>
            </a:br>
            <a:endParaRPr lang="en-US" sz="1739" dirty="0"/>
          </a:p>
        </p:txBody>
      </p:sp>
    </p:spTree>
    <p:extLst>
      <p:ext uri="{BB962C8B-B14F-4D97-AF65-F5344CB8AC3E}">
        <p14:creationId xmlns:p14="http://schemas.microsoft.com/office/powerpoint/2010/main" val="242864710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A7E8C993-C88D-413A-BCEF-AD7944EA0FBB}"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5"/>
            <a:ext cx="8229600" cy="4642168"/>
          </a:xfrm>
          <a:prstGeom prst="rect">
            <a:avLst/>
          </a:prstGeom>
        </p:spPr>
        <p:txBody>
          <a:bodyPr wrap="square">
            <a:spAutoFit/>
          </a:bodyPr>
          <a:lstStyle/>
          <a:p>
            <a:r>
              <a:rPr lang="en-US" sz="1739" dirty="0"/>
              <a:t>Q10: Describe the language denoted by following regular expression</a:t>
            </a:r>
          </a:p>
          <a:p>
            <a:r>
              <a:rPr lang="en-US" sz="1739" dirty="0" err="1"/>
              <a:t>r.e</a:t>
            </a:r>
            <a:r>
              <a:rPr lang="en-US" sz="1739" dirty="0"/>
              <a:t>. = (b* (</a:t>
            </a:r>
            <a:r>
              <a:rPr lang="en-US" sz="1739" dirty="0" err="1"/>
              <a:t>aaa</a:t>
            </a:r>
            <a:r>
              <a:rPr lang="en-US" sz="1739" dirty="0"/>
              <a:t>)* b*)*  </a:t>
            </a:r>
          </a:p>
          <a:p>
            <a:r>
              <a:rPr lang="en-US" sz="1739" b="1" dirty="0"/>
              <a:t>Solution:</a:t>
            </a:r>
            <a:endParaRPr lang="en-US" sz="1739" dirty="0"/>
          </a:p>
          <a:p>
            <a:r>
              <a:rPr lang="en-US" sz="1739" dirty="0"/>
              <a:t>The language can be predicted from the regular expression by finding the meaning of it. We will first split the regular expression as:</a:t>
            </a:r>
          </a:p>
          <a:p>
            <a:r>
              <a:rPr lang="en-US" sz="1739" dirty="0" err="1"/>
              <a:t>r.e</a:t>
            </a:r>
            <a:r>
              <a:rPr lang="en-US" sz="1739" dirty="0"/>
              <a:t>. = (any combination of </a:t>
            </a:r>
            <a:r>
              <a:rPr lang="en-US" sz="1739" dirty="0" err="1"/>
              <a:t>b's</a:t>
            </a:r>
            <a:r>
              <a:rPr lang="en-US" sz="1739" dirty="0"/>
              <a:t>) (</a:t>
            </a:r>
            <a:r>
              <a:rPr lang="en-US" sz="1739" dirty="0" err="1"/>
              <a:t>aaa</a:t>
            </a:r>
            <a:r>
              <a:rPr lang="en-US" sz="1739" dirty="0"/>
              <a:t>)* (any combination of </a:t>
            </a:r>
            <a:r>
              <a:rPr lang="en-US" sz="1739" dirty="0" err="1"/>
              <a:t>b's</a:t>
            </a:r>
            <a:r>
              <a:rPr lang="en-US" sz="1739" dirty="0"/>
              <a:t>)</a:t>
            </a:r>
          </a:p>
          <a:p>
            <a:r>
              <a:rPr lang="en-US" sz="1739" dirty="0"/>
              <a:t>L = {The language consists of the string in which </a:t>
            </a:r>
            <a:r>
              <a:rPr lang="en-US" sz="1739" dirty="0" err="1"/>
              <a:t>a's</a:t>
            </a:r>
            <a:r>
              <a:rPr lang="en-US" sz="1739" dirty="0"/>
              <a:t> appear triples, there is no restriction on the number of </a:t>
            </a:r>
            <a:r>
              <a:rPr lang="en-US" sz="1739" dirty="0" err="1"/>
              <a:t>b's</a:t>
            </a:r>
            <a:r>
              <a:rPr lang="en-US" sz="1739" dirty="0"/>
              <a:t>}</a:t>
            </a:r>
          </a:p>
          <a:p>
            <a:r>
              <a:rPr lang="en-US" sz="1739" dirty="0"/>
              <a:t>Q11:</a:t>
            </a:r>
          </a:p>
          <a:p>
            <a:r>
              <a:rPr lang="en-US" sz="1739" dirty="0"/>
              <a:t>Write the regular expression for the language L over ∑ = {0, 1} such that all the string do not contain the substring 01.</a:t>
            </a:r>
          </a:p>
          <a:p>
            <a:r>
              <a:rPr lang="en-US" sz="1739" b="1" dirty="0"/>
              <a:t>Solution:</a:t>
            </a:r>
            <a:endParaRPr lang="en-US" sz="1739" dirty="0"/>
          </a:p>
          <a:p>
            <a:r>
              <a:rPr lang="en-US" sz="1739" dirty="0"/>
              <a:t>The Language is as follows:</a:t>
            </a:r>
          </a:p>
          <a:p>
            <a:r>
              <a:rPr lang="en-US" sz="1739" dirty="0"/>
              <a:t>L = {ε, 0, 1, 00, 11, 10, 100, .....}  </a:t>
            </a:r>
          </a:p>
          <a:p>
            <a:r>
              <a:rPr lang="en-US" sz="1739" dirty="0"/>
              <a:t>The regular expression for the above language is as follows:</a:t>
            </a:r>
          </a:p>
          <a:p>
            <a:r>
              <a:rPr lang="en-US" sz="1739" dirty="0"/>
              <a:t>R = (1* 0*)  </a:t>
            </a:r>
          </a:p>
          <a:p>
            <a:endParaRPr lang="en-US" sz="1739" dirty="0"/>
          </a:p>
        </p:txBody>
      </p:sp>
    </p:spTree>
    <p:extLst>
      <p:ext uri="{BB962C8B-B14F-4D97-AF65-F5344CB8AC3E}">
        <p14:creationId xmlns:p14="http://schemas.microsoft.com/office/powerpoint/2010/main" val="333080642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87BABBB8-407B-4889-B329-D3ADD873D695}" type="datetime1">
              <a:rPr lang="en-US" smtClean="0"/>
              <a:t>3/16/2026</a:t>
            </a:fld>
            <a:endParaRPr lang="en-US" dirty="0"/>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441178"/>
            <a:ext cx="8229600" cy="3839256"/>
          </a:xfrm>
          <a:prstGeom prst="rect">
            <a:avLst/>
          </a:prstGeom>
        </p:spPr>
        <p:txBody>
          <a:bodyPr wrap="square">
            <a:spAutoFit/>
          </a:bodyPr>
          <a:lstStyle/>
          <a:p>
            <a:pPr algn="just"/>
            <a:r>
              <a:rPr lang="en-US" sz="1739" dirty="0"/>
              <a:t>Q12:</a:t>
            </a:r>
          </a:p>
          <a:p>
            <a:pPr algn="just"/>
            <a:r>
              <a:rPr lang="en-US" sz="1739" dirty="0"/>
              <a:t>Write the regular expression for the language containing the string over {0, 1} in which there are at least two occurrences of 1's between any two occurrences of 1's between any two occurrences of 0's.</a:t>
            </a:r>
          </a:p>
          <a:p>
            <a:pPr algn="just"/>
            <a:r>
              <a:rPr lang="en-US" sz="1739" b="1" dirty="0"/>
              <a:t>Solution:</a:t>
            </a:r>
            <a:r>
              <a:rPr lang="en-US" sz="1739" dirty="0"/>
              <a:t> At least two 1's between two occurrences of 0's can be denoted by (0111*0)*.</a:t>
            </a:r>
          </a:p>
          <a:p>
            <a:pPr algn="just"/>
            <a:r>
              <a:rPr lang="en-US" sz="1739" dirty="0"/>
              <a:t>Similarly, if there is no occurrence of 0's, then any number of 1's are also allowed. Hence the </a:t>
            </a:r>
            <a:r>
              <a:rPr lang="en-US" sz="1739" dirty="0" err="1"/>
              <a:t>r.e</a:t>
            </a:r>
            <a:r>
              <a:rPr lang="en-US" sz="1739" dirty="0"/>
              <a:t>. for required language is:</a:t>
            </a:r>
          </a:p>
          <a:p>
            <a:pPr algn="just"/>
            <a:r>
              <a:rPr lang="en-US" sz="1739" dirty="0"/>
              <a:t>R = (1 + (0111*0))*  </a:t>
            </a:r>
          </a:p>
          <a:p>
            <a:pPr algn="just"/>
            <a:r>
              <a:rPr lang="en-US" sz="1739" dirty="0"/>
              <a:t>Q13:</a:t>
            </a:r>
          </a:p>
          <a:p>
            <a:pPr algn="just"/>
            <a:r>
              <a:rPr lang="en-US" sz="1739" dirty="0"/>
              <a:t>Write the regular expression for the language containing the string in which every 0 is immediately followed by 11.</a:t>
            </a:r>
          </a:p>
          <a:p>
            <a:pPr algn="just"/>
            <a:r>
              <a:rPr lang="en-US" sz="1739" b="1" dirty="0"/>
              <a:t>Solution:</a:t>
            </a:r>
            <a:endParaRPr lang="en-US" sz="1739" dirty="0"/>
          </a:p>
          <a:p>
            <a:pPr algn="just"/>
            <a:r>
              <a:rPr lang="en-US" sz="1739" dirty="0"/>
              <a:t>The regular expectation will be:</a:t>
            </a:r>
          </a:p>
          <a:p>
            <a:pPr algn="just"/>
            <a:r>
              <a:rPr lang="en-US" sz="1739" dirty="0"/>
              <a:t>R = (011 + 1)*  </a:t>
            </a:r>
          </a:p>
        </p:txBody>
      </p:sp>
    </p:spTree>
    <p:extLst>
      <p:ext uri="{BB962C8B-B14F-4D97-AF65-F5344CB8AC3E}">
        <p14:creationId xmlns:p14="http://schemas.microsoft.com/office/powerpoint/2010/main" val="292555027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C9450DAC-BCE2-4DFC-A733-A5D8CA37096D}" type="slidenum">
              <a:rPr lang="en-US"/>
              <a:pPr/>
              <a:t>39</a:t>
            </a:fld>
            <a:endParaRPr lang="en-US"/>
          </a:p>
        </p:txBody>
      </p:sp>
      <p:sp>
        <p:nvSpPr>
          <p:cNvPr id="23555" name="Rectangle 3"/>
          <p:cNvSpPr>
            <a:spLocks noGrp="1" noChangeArrowheads="1"/>
          </p:cNvSpPr>
          <p:nvPr>
            <p:ph type="body" idx="1"/>
          </p:nvPr>
        </p:nvSpPr>
        <p:spPr/>
        <p:txBody>
          <a:bodyPr/>
          <a:lstStyle/>
          <a:p>
            <a:r>
              <a:rPr lang="en-US" dirty="0"/>
              <a:t>Proof is an induction on the number of operators (+, concatenation, *) in the RE.</a:t>
            </a:r>
          </a:p>
          <a:p>
            <a:r>
              <a:rPr lang="en-US" dirty="0"/>
              <a:t>We always construct an automaton of a special form (next slide).</a:t>
            </a:r>
          </a:p>
        </p:txBody>
      </p:sp>
      <p:sp>
        <p:nvSpPr>
          <p:cNvPr id="7"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Converting a RE to an </a:t>
            </a:r>
            <a:r>
              <a:rPr lang="en-US" sz="2783" dirty="0">
                <a:latin typeface="Lucida Sans Unicode" pitchFamily="34" charset="0"/>
              </a:rPr>
              <a:t>ε</a:t>
            </a:r>
            <a:r>
              <a:rPr lang="en-US" sz="2783" dirty="0"/>
              <a:t>-NFA</a:t>
            </a:r>
          </a:p>
        </p:txBody>
      </p:sp>
      <p:sp>
        <p:nvSpPr>
          <p:cNvPr id="8" name="Date Placeholder 3"/>
          <p:cNvSpPr>
            <a:spLocks noGrp="1"/>
          </p:cNvSpPr>
          <p:nvPr>
            <p:ph type="dt" sz="half" idx="10"/>
          </p:nvPr>
        </p:nvSpPr>
        <p:spPr>
          <a:xfrm>
            <a:off x="609600" y="6107047"/>
            <a:ext cx="2133600" cy="317500"/>
          </a:xfrm>
        </p:spPr>
        <p:txBody>
          <a:bodyPr/>
          <a:lstStyle/>
          <a:p>
            <a:fld id="{155CC30C-6945-4EB2-A8DB-D2BB3CA522BB}" type="datetime1">
              <a:rPr lang="en-US" smtClean="0"/>
              <a:t>3/16/2026</a:t>
            </a:fld>
            <a:endParaRPr lang="en-US" dirty="0"/>
          </a:p>
        </p:txBody>
      </p:sp>
      <p:sp>
        <p:nvSpPr>
          <p:cNvPr id="9" name="Footer Placeholder 4"/>
          <p:cNvSpPr>
            <a:spLocks noGrp="1"/>
          </p:cNvSpPr>
          <p:nvPr>
            <p:ph type="ftr" sz="quarter" idx="11"/>
          </p:nvPr>
        </p:nvSpPr>
        <p:spPr>
          <a:xfrm>
            <a:off x="2743200" y="6107047"/>
            <a:ext cx="4343400" cy="317500"/>
          </a:xfrm>
        </p:spPr>
        <p:txBody>
          <a:bodyPr/>
          <a:lstStyle/>
          <a:p>
            <a:r>
              <a:rPr lang="en-US" smtClean="0"/>
              <a:t>Vivek Kumar Sharma     BCSE0404(TAFL) (Unit II</a:t>
            </a:r>
            <a:endParaRPr lang="en-US" dirty="0"/>
          </a:p>
        </p:txBody>
      </p:sp>
      <p:sp>
        <p:nvSpPr>
          <p:cNvPr id="10" name="Slide Number Placeholder 5"/>
          <p:cNvSpPr txBox="1">
            <a:spLocks/>
          </p:cNvSpPr>
          <p:nvPr/>
        </p:nvSpPr>
        <p:spPr>
          <a:xfrm>
            <a:off x="6705600" y="6107047"/>
            <a:ext cx="2133600" cy="317500"/>
          </a:xfrm>
          <a:prstGeom prst="rect">
            <a:avLst/>
          </a:prstGeom>
        </p:spPr>
        <p:txBody>
          <a:bodyPr vert="horz" lIns="79513" tIns="39757" rIns="79513" bIns="39757" rtlCol="0" anchor="ctr"/>
          <a:lstStyle/>
          <a:p>
            <a:pPr algn="r" defTabSz="795162">
              <a:defRPr/>
            </a:pPr>
            <a:fld id="{B6F15528-21DE-4FAA-801E-634DDDAF4B2B}" type="slidenum">
              <a:rPr lang="en-US" sz="1044">
                <a:solidFill>
                  <a:schemeClr val="tx1">
                    <a:tint val="75000"/>
                  </a:schemeClr>
                </a:solidFill>
              </a:rPr>
              <a:pPr algn="r" defTabSz="795162">
                <a:defRPr/>
              </a:pPr>
              <a:t>39</a:t>
            </a:fld>
            <a:endParaRPr lang="en-US" sz="1044">
              <a:solidFill>
                <a:schemeClr val="tx1">
                  <a:tint val="75000"/>
                </a:schemeClr>
              </a:solidFill>
            </a:endParaRPr>
          </a:p>
        </p:txBody>
      </p:sp>
    </p:spTree>
    <p:extLst>
      <p:ext uri="{BB962C8B-B14F-4D97-AF65-F5344CB8AC3E}">
        <p14:creationId xmlns:p14="http://schemas.microsoft.com/office/powerpoint/2010/main" val="1289941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4"/>
          <p:cNvSpPr>
            <a:spLocks noGrp="1"/>
          </p:cNvSpPr>
          <p:nvPr>
            <p:ph type="sldNum" sz="quarter" idx="12"/>
          </p:nvPr>
        </p:nvSpPr>
        <p:spPr/>
        <p:txBody>
          <a:bodyPr/>
          <a:lstStyle/>
          <a:p>
            <a:fld id="{E042F587-C69F-4371-B5A2-CC87010CFE39}" type="slidenum">
              <a:rPr lang="en-US"/>
              <a:pPr/>
              <a:t>40</a:t>
            </a:fld>
            <a:endParaRPr lang="en-US"/>
          </a:p>
        </p:txBody>
      </p:sp>
      <p:sp>
        <p:nvSpPr>
          <p:cNvPr id="25603" name="Oval 3"/>
          <p:cNvSpPr>
            <a:spLocks noChangeArrowheads="1"/>
          </p:cNvSpPr>
          <p:nvPr/>
        </p:nvSpPr>
        <p:spPr bwMode="auto">
          <a:xfrm>
            <a:off x="1905000" y="3694044"/>
            <a:ext cx="457200" cy="397565"/>
          </a:xfrm>
          <a:prstGeom prst="ellipse">
            <a:avLst/>
          </a:prstGeom>
          <a:solidFill>
            <a:srgbClr val="CC99FF">
              <a:alpha val="50000"/>
            </a:srgbClr>
          </a:solidFill>
          <a:ln w="9525">
            <a:solidFill>
              <a:schemeClr val="tx1"/>
            </a:solidFill>
            <a:round/>
            <a:headEnd/>
            <a:tailEnd/>
          </a:ln>
          <a:effectLst/>
        </p:spPr>
        <p:txBody>
          <a:bodyPr wrap="none" anchor="ctr"/>
          <a:lstStyle/>
          <a:p>
            <a:endParaRPr lang="en-US" sz="1565"/>
          </a:p>
        </p:txBody>
      </p:sp>
      <p:sp>
        <p:nvSpPr>
          <p:cNvPr id="25604" name="Oval 4"/>
          <p:cNvSpPr>
            <a:spLocks noChangeArrowheads="1"/>
          </p:cNvSpPr>
          <p:nvPr/>
        </p:nvSpPr>
        <p:spPr bwMode="auto">
          <a:xfrm>
            <a:off x="5638800" y="3694044"/>
            <a:ext cx="457200" cy="397565"/>
          </a:xfrm>
          <a:prstGeom prst="ellipse">
            <a:avLst/>
          </a:prstGeom>
          <a:solidFill>
            <a:srgbClr val="CC99FF">
              <a:alpha val="50000"/>
            </a:srgbClr>
          </a:solidFill>
          <a:ln w="9525">
            <a:solidFill>
              <a:schemeClr val="tx1"/>
            </a:solidFill>
            <a:round/>
            <a:headEnd/>
            <a:tailEnd/>
          </a:ln>
          <a:effectLst/>
        </p:spPr>
        <p:txBody>
          <a:bodyPr wrap="none" anchor="ctr"/>
          <a:lstStyle/>
          <a:p>
            <a:endParaRPr lang="en-US" sz="1565"/>
          </a:p>
        </p:txBody>
      </p:sp>
      <p:sp>
        <p:nvSpPr>
          <p:cNvPr id="25605" name="Line 5"/>
          <p:cNvSpPr>
            <a:spLocks noChangeShapeType="1"/>
          </p:cNvSpPr>
          <p:nvPr/>
        </p:nvSpPr>
        <p:spPr bwMode="auto">
          <a:xfrm>
            <a:off x="1371600" y="3892826"/>
            <a:ext cx="533400" cy="0"/>
          </a:xfrm>
          <a:prstGeom prst="line">
            <a:avLst/>
          </a:prstGeom>
          <a:noFill/>
          <a:ln w="9525">
            <a:solidFill>
              <a:schemeClr val="tx1"/>
            </a:solidFill>
            <a:round/>
            <a:headEnd/>
            <a:tailEnd type="triangle" w="med" len="med"/>
          </a:ln>
          <a:effectLst/>
        </p:spPr>
        <p:txBody>
          <a:bodyPr/>
          <a:lstStyle/>
          <a:p>
            <a:endParaRPr lang="en-US" sz="1565"/>
          </a:p>
        </p:txBody>
      </p:sp>
      <p:sp>
        <p:nvSpPr>
          <p:cNvPr id="25606" name="Line 6"/>
          <p:cNvSpPr>
            <a:spLocks noChangeShapeType="1"/>
          </p:cNvSpPr>
          <p:nvPr/>
        </p:nvSpPr>
        <p:spPr bwMode="auto">
          <a:xfrm>
            <a:off x="6096000" y="3892826"/>
            <a:ext cx="533400" cy="0"/>
          </a:xfrm>
          <a:prstGeom prst="line">
            <a:avLst/>
          </a:prstGeom>
          <a:noFill/>
          <a:ln w="9525">
            <a:solidFill>
              <a:schemeClr val="tx1"/>
            </a:solidFill>
            <a:round/>
            <a:headEnd/>
            <a:tailEnd type="triangle" w="med" len="med"/>
          </a:ln>
          <a:effectLst/>
        </p:spPr>
        <p:txBody>
          <a:bodyPr/>
          <a:lstStyle/>
          <a:p>
            <a:endParaRPr lang="en-US" sz="1565"/>
          </a:p>
        </p:txBody>
      </p:sp>
      <p:sp>
        <p:nvSpPr>
          <p:cNvPr id="25607" name="Oval 7"/>
          <p:cNvSpPr>
            <a:spLocks noChangeArrowheads="1"/>
          </p:cNvSpPr>
          <p:nvPr/>
        </p:nvSpPr>
        <p:spPr bwMode="auto">
          <a:xfrm>
            <a:off x="2514600" y="3031435"/>
            <a:ext cx="2971800" cy="1722783"/>
          </a:xfrm>
          <a:prstGeom prst="ellipse">
            <a:avLst/>
          </a:prstGeom>
          <a:solidFill>
            <a:srgbClr val="FFFF00">
              <a:alpha val="50000"/>
            </a:srgbClr>
          </a:solidFill>
          <a:ln w="9525">
            <a:solidFill>
              <a:schemeClr val="tx1"/>
            </a:solidFill>
            <a:round/>
            <a:headEnd/>
            <a:tailEnd/>
          </a:ln>
          <a:effectLst/>
        </p:spPr>
        <p:txBody>
          <a:bodyPr wrap="none" anchor="ctr"/>
          <a:lstStyle/>
          <a:p>
            <a:pPr algn="ctr"/>
            <a:r>
              <a:rPr lang="en-US" sz="1565" dirty="0"/>
              <a:t>No arcs from outside,</a:t>
            </a:r>
          </a:p>
          <a:p>
            <a:pPr algn="ctr"/>
            <a:r>
              <a:rPr lang="en-US" sz="1565" dirty="0"/>
              <a:t>no arcs leaving</a:t>
            </a:r>
          </a:p>
        </p:txBody>
      </p:sp>
      <p:sp>
        <p:nvSpPr>
          <p:cNvPr id="25608" name="Line 8"/>
          <p:cNvSpPr>
            <a:spLocks noChangeShapeType="1"/>
          </p:cNvSpPr>
          <p:nvPr/>
        </p:nvSpPr>
        <p:spPr bwMode="auto">
          <a:xfrm>
            <a:off x="2286000" y="4025348"/>
            <a:ext cx="533400" cy="132522"/>
          </a:xfrm>
          <a:prstGeom prst="line">
            <a:avLst/>
          </a:prstGeom>
          <a:noFill/>
          <a:ln w="9525">
            <a:solidFill>
              <a:schemeClr val="tx1"/>
            </a:solidFill>
            <a:round/>
            <a:headEnd/>
            <a:tailEnd type="triangle" w="med" len="med"/>
          </a:ln>
          <a:effectLst/>
        </p:spPr>
        <p:txBody>
          <a:bodyPr/>
          <a:lstStyle/>
          <a:p>
            <a:endParaRPr lang="en-US" sz="1565"/>
          </a:p>
        </p:txBody>
      </p:sp>
      <p:sp>
        <p:nvSpPr>
          <p:cNvPr id="25609" name="Line 9"/>
          <p:cNvSpPr>
            <a:spLocks noChangeShapeType="1"/>
          </p:cNvSpPr>
          <p:nvPr/>
        </p:nvSpPr>
        <p:spPr bwMode="auto">
          <a:xfrm flipV="1">
            <a:off x="2286000" y="3561522"/>
            <a:ext cx="914400" cy="198783"/>
          </a:xfrm>
          <a:prstGeom prst="line">
            <a:avLst/>
          </a:prstGeom>
          <a:noFill/>
          <a:ln w="9525">
            <a:solidFill>
              <a:schemeClr val="tx1"/>
            </a:solidFill>
            <a:round/>
            <a:headEnd/>
            <a:tailEnd type="triangle" w="med" len="med"/>
          </a:ln>
          <a:effectLst/>
        </p:spPr>
        <p:txBody>
          <a:bodyPr/>
          <a:lstStyle/>
          <a:p>
            <a:endParaRPr lang="en-US" sz="1565"/>
          </a:p>
        </p:txBody>
      </p:sp>
      <p:sp>
        <p:nvSpPr>
          <p:cNvPr id="25610" name="Line 10"/>
          <p:cNvSpPr>
            <a:spLocks noChangeShapeType="1"/>
          </p:cNvSpPr>
          <p:nvPr/>
        </p:nvSpPr>
        <p:spPr bwMode="auto">
          <a:xfrm>
            <a:off x="4572000" y="3429000"/>
            <a:ext cx="1143000" cy="397565"/>
          </a:xfrm>
          <a:prstGeom prst="line">
            <a:avLst/>
          </a:prstGeom>
          <a:noFill/>
          <a:ln w="9525">
            <a:solidFill>
              <a:schemeClr val="tx1"/>
            </a:solidFill>
            <a:round/>
            <a:headEnd/>
            <a:tailEnd type="triangle" w="med" len="med"/>
          </a:ln>
          <a:effectLst/>
        </p:spPr>
        <p:txBody>
          <a:bodyPr/>
          <a:lstStyle/>
          <a:p>
            <a:endParaRPr lang="en-US" sz="1565"/>
          </a:p>
        </p:txBody>
      </p:sp>
      <p:sp>
        <p:nvSpPr>
          <p:cNvPr id="25611" name="Line 11"/>
          <p:cNvSpPr>
            <a:spLocks noChangeShapeType="1"/>
          </p:cNvSpPr>
          <p:nvPr/>
        </p:nvSpPr>
        <p:spPr bwMode="auto">
          <a:xfrm flipV="1">
            <a:off x="4724400" y="4025348"/>
            <a:ext cx="990600" cy="397565"/>
          </a:xfrm>
          <a:prstGeom prst="line">
            <a:avLst/>
          </a:prstGeom>
          <a:noFill/>
          <a:ln w="9525">
            <a:solidFill>
              <a:schemeClr val="tx1"/>
            </a:solidFill>
            <a:round/>
            <a:headEnd/>
            <a:tailEnd type="triangle" w="med" len="med"/>
          </a:ln>
          <a:effectLst/>
        </p:spPr>
        <p:txBody>
          <a:bodyPr/>
          <a:lstStyle/>
          <a:p>
            <a:endParaRPr lang="en-US" sz="1565"/>
          </a:p>
        </p:txBody>
      </p:sp>
      <p:sp>
        <p:nvSpPr>
          <p:cNvPr id="25612" name="Text Box 12"/>
          <p:cNvSpPr txBox="1">
            <a:spLocks noChangeArrowheads="1"/>
          </p:cNvSpPr>
          <p:nvPr/>
        </p:nvSpPr>
        <p:spPr bwMode="auto">
          <a:xfrm>
            <a:off x="304801" y="3959090"/>
            <a:ext cx="1258871" cy="1055674"/>
          </a:xfrm>
          <a:prstGeom prst="rect">
            <a:avLst/>
          </a:prstGeom>
          <a:noFill/>
          <a:ln w="9525">
            <a:noFill/>
            <a:miter lim="800000"/>
            <a:headEnd/>
            <a:tailEnd/>
          </a:ln>
          <a:effectLst/>
        </p:spPr>
        <p:txBody>
          <a:bodyPr wrap="none">
            <a:spAutoFit/>
          </a:bodyPr>
          <a:lstStyle/>
          <a:p>
            <a:r>
              <a:rPr lang="en-US" sz="1565"/>
              <a:t>Start state:</a:t>
            </a:r>
          </a:p>
          <a:p>
            <a:r>
              <a:rPr lang="en-US" sz="1565"/>
              <a:t>Only state</a:t>
            </a:r>
          </a:p>
          <a:p>
            <a:r>
              <a:rPr lang="en-US" sz="1565"/>
              <a:t>with external</a:t>
            </a:r>
          </a:p>
          <a:p>
            <a:r>
              <a:rPr lang="en-US" sz="1565"/>
              <a:t>predecessors</a:t>
            </a:r>
          </a:p>
        </p:txBody>
      </p:sp>
      <p:sp>
        <p:nvSpPr>
          <p:cNvPr id="25613" name="Text Box 13"/>
          <p:cNvSpPr txBox="1">
            <a:spLocks noChangeArrowheads="1"/>
          </p:cNvSpPr>
          <p:nvPr/>
        </p:nvSpPr>
        <p:spPr bwMode="auto">
          <a:xfrm>
            <a:off x="6156325" y="3988079"/>
            <a:ext cx="1258871" cy="1055674"/>
          </a:xfrm>
          <a:prstGeom prst="rect">
            <a:avLst/>
          </a:prstGeom>
          <a:noFill/>
          <a:ln w="9525">
            <a:noFill/>
            <a:miter lim="800000"/>
            <a:headEnd/>
            <a:tailEnd/>
          </a:ln>
          <a:effectLst/>
        </p:spPr>
        <p:txBody>
          <a:bodyPr wrap="none">
            <a:spAutoFit/>
          </a:bodyPr>
          <a:lstStyle/>
          <a:p>
            <a:r>
              <a:rPr lang="en-US" sz="1565"/>
              <a:t>“Final” state:</a:t>
            </a:r>
          </a:p>
          <a:p>
            <a:r>
              <a:rPr lang="en-US" sz="1565"/>
              <a:t>Only state</a:t>
            </a:r>
          </a:p>
          <a:p>
            <a:r>
              <a:rPr lang="en-US" sz="1565"/>
              <a:t>with external</a:t>
            </a:r>
          </a:p>
          <a:p>
            <a:r>
              <a:rPr lang="en-US" sz="1565"/>
              <a:t>successors</a:t>
            </a:r>
          </a:p>
        </p:txBody>
      </p:sp>
      <p:sp>
        <p:nvSpPr>
          <p:cNvPr id="16"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Form of </a:t>
            </a:r>
            <a:r>
              <a:rPr lang="en-US" sz="2783" dirty="0">
                <a:latin typeface="Lucida Sans Unicode" pitchFamily="34" charset="0"/>
              </a:rPr>
              <a:t>ε</a:t>
            </a:r>
            <a:r>
              <a:rPr lang="en-US" sz="2783" dirty="0"/>
              <a:t>-NFA’s Constructed</a:t>
            </a:r>
          </a:p>
        </p:txBody>
      </p:sp>
      <p:sp>
        <p:nvSpPr>
          <p:cNvPr id="17" name="Date Placeholder 3"/>
          <p:cNvSpPr>
            <a:spLocks noGrp="1"/>
          </p:cNvSpPr>
          <p:nvPr>
            <p:ph type="dt" sz="half" idx="10"/>
          </p:nvPr>
        </p:nvSpPr>
        <p:spPr>
          <a:xfrm>
            <a:off x="609600" y="6107047"/>
            <a:ext cx="2133600" cy="317500"/>
          </a:xfrm>
        </p:spPr>
        <p:txBody>
          <a:bodyPr/>
          <a:lstStyle/>
          <a:p>
            <a:fld id="{584D1693-B5EE-4704-9F7B-427F4537352B}" type="datetime1">
              <a:rPr lang="en-US" smtClean="0"/>
              <a:t>3/16/2026</a:t>
            </a:fld>
            <a:endParaRPr lang="en-US" dirty="0"/>
          </a:p>
        </p:txBody>
      </p:sp>
      <p:sp>
        <p:nvSpPr>
          <p:cNvPr id="18" name="Footer Placeholder 4"/>
          <p:cNvSpPr>
            <a:spLocks noGrp="1"/>
          </p:cNvSpPr>
          <p:nvPr>
            <p:ph type="ftr" sz="quarter" idx="11"/>
          </p:nvPr>
        </p:nvSpPr>
        <p:spPr>
          <a:xfrm>
            <a:off x="2743200" y="6107047"/>
            <a:ext cx="4343400" cy="317500"/>
          </a:xfrm>
        </p:spPr>
        <p:txBody>
          <a:bodyPr/>
          <a:lstStyle/>
          <a:p>
            <a:r>
              <a:rPr lang="en-US" smtClean="0"/>
              <a:t>Vivek Kumar Sharma     BCSE0404(TAFL) (Unit II</a:t>
            </a:r>
            <a:endParaRPr lang="en-US" dirty="0"/>
          </a:p>
        </p:txBody>
      </p:sp>
      <p:sp>
        <p:nvSpPr>
          <p:cNvPr id="19" name="Slide Number Placeholder 5"/>
          <p:cNvSpPr txBox="1">
            <a:spLocks/>
          </p:cNvSpPr>
          <p:nvPr/>
        </p:nvSpPr>
        <p:spPr>
          <a:xfrm>
            <a:off x="6705600" y="6107047"/>
            <a:ext cx="2133600" cy="317500"/>
          </a:xfrm>
          <a:prstGeom prst="rect">
            <a:avLst/>
          </a:prstGeom>
        </p:spPr>
        <p:txBody>
          <a:bodyPr vert="horz" lIns="79513" tIns="39757" rIns="79513" bIns="39757" rtlCol="0" anchor="ctr"/>
          <a:lstStyle/>
          <a:p>
            <a:pPr algn="r" defTabSz="795162">
              <a:defRPr/>
            </a:pPr>
            <a:fld id="{B6F15528-21DE-4FAA-801E-634DDDAF4B2B}" type="slidenum">
              <a:rPr lang="en-US" sz="1044">
                <a:solidFill>
                  <a:schemeClr val="tx1">
                    <a:tint val="75000"/>
                  </a:schemeClr>
                </a:solidFill>
              </a:rPr>
              <a:pPr algn="r" defTabSz="795162">
                <a:defRPr/>
              </a:pPr>
              <a:t>40</a:t>
            </a:fld>
            <a:endParaRPr lang="en-US" sz="1044">
              <a:solidFill>
                <a:schemeClr val="tx1">
                  <a:tint val="75000"/>
                </a:schemeClr>
              </a:solidFill>
            </a:endParaRPr>
          </a:p>
        </p:txBody>
      </p:sp>
    </p:spTree>
    <p:extLst>
      <p:ext uri="{BB962C8B-B14F-4D97-AF65-F5344CB8AC3E}">
        <p14:creationId xmlns:p14="http://schemas.microsoft.com/office/powerpoint/2010/main" val="342793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6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2" grpId="0" autoUpdateAnimBg="0"/>
      <p:bldP spid="25613"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5"/>
          <p:cNvSpPr>
            <a:spLocks noGrp="1"/>
          </p:cNvSpPr>
          <p:nvPr>
            <p:ph type="sldNum" sz="quarter" idx="12"/>
          </p:nvPr>
        </p:nvSpPr>
        <p:spPr/>
        <p:txBody>
          <a:bodyPr/>
          <a:lstStyle/>
          <a:p>
            <a:fld id="{89C297AE-8E84-4C85-8C03-4B9A3C50347D}" type="slidenum">
              <a:rPr lang="en-US"/>
              <a:pPr/>
              <a:t>41</a:t>
            </a:fld>
            <a:endParaRPr lang="en-US"/>
          </a:p>
        </p:txBody>
      </p:sp>
      <p:sp>
        <p:nvSpPr>
          <p:cNvPr id="27651" name="Rectangle 3"/>
          <p:cNvSpPr>
            <a:spLocks noGrp="1" noChangeArrowheads="1"/>
          </p:cNvSpPr>
          <p:nvPr>
            <p:ph type="body" idx="1"/>
          </p:nvPr>
        </p:nvSpPr>
        <p:spPr/>
        <p:txBody>
          <a:bodyPr/>
          <a:lstStyle/>
          <a:p>
            <a:r>
              <a:rPr lang="en-US"/>
              <a:t>Symbol </a:t>
            </a:r>
            <a:r>
              <a:rPr lang="en-US" b="1"/>
              <a:t>a</a:t>
            </a:r>
            <a:r>
              <a:rPr lang="en-US"/>
              <a:t>:</a:t>
            </a:r>
          </a:p>
          <a:p>
            <a:endParaRPr lang="en-US"/>
          </a:p>
          <a:p>
            <a:r>
              <a:rPr lang="en-US">
                <a:latin typeface="Lucida Sans Unicode" pitchFamily="34" charset="0"/>
              </a:rPr>
              <a:t>ε</a:t>
            </a:r>
            <a:r>
              <a:rPr lang="en-US"/>
              <a:t>:</a:t>
            </a:r>
          </a:p>
          <a:p>
            <a:endParaRPr lang="en-US"/>
          </a:p>
          <a:p>
            <a:r>
              <a:rPr lang="en-US" sz="2087">
                <a:latin typeface="Lucida Sans Unicode" pitchFamily="34" charset="0"/>
              </a:rPr>
              <a:t>∅</a:t>
            </a:r>
            <a:r>
              <a:rPr lang="en-US"/>
              <a:t>:</a:t>
            </a:r>
          </a:p>
        </p:txBody>
      </p:sp>
      <p:grpSp>
        <p:nvGrpSpPr>
          <p:cNvPr id="2" name="Group 8"/>
          <p:cNvGrpSpPr>
            <a:grpSpLocks/>
          </p:cNvGrpSpPr>
          <p:nvPr/>
        </p:nvGrpSpPr>
        <p:grpSpPr bwMode="auto">
          <a:xfrm>
            <a:off x="5029200" y="2037522"/>
            <a:ext cx="2133600" cy="662609"/>
            <a:chOff x="3168" y="1248"/>
            <a:chExt cx="1344" cy="480"/>
          </a:xfrm>
        </p:grpSpPr>
        <p:sp>
          <p:nvSpPr>
            <p:cNvPr id="27652" name="Oval 4"/>
            <p:cNvSpPr>
              <a:spLocks noChangeArrowheads="1"/>
            </p:cNvSpPr>
            <p:nvPr/>
          </p:nvSpPr>
          <p:spPr bwMode="auto">
            <a:xfrm>
              <a:off x="3168" y="1419"/>
              <a:ext cx="288" cy="288"/>
            </a:xfrm>
            <a:prstGeom prst="ellipse">
              <a:avLst/>
            </a:prstGeom>
            <a:solidFill>
              <a:srgbClr val="FF99CC">
                <a:alpha val="50000"/>
              </a:srgbClr>
            </a:solidFill>
            <a:ln w="9525">
              <a:solidFill>
                <a:schemeClr val="tx1"/>
              </a:solidFill>
              <a:round/>
              <a:headEnd/>
              <a:tailEnd/>
            </a:ln>
            <a:effectLst/>
          </p:spPr>
          <p:txBody>
            <a:bodyPr wrap="none" anchor="ctr"/>
            <a:lstStyle/>
            <a:p>
              <a:endParaRPr lang="en-US" sz="1565"/>
            </a:p>
          </p:txBody>
        </p:sp>
        <p:sp>
          <p:nvSpPr>
            <p:cNvPr id="27653" name="Oval 5"/>
            <p:cNvSpPr>
              <a:spLocks noChangeArrowheads="1"/>
            </p:cNvSpPr>
            <p:nvPr/>
          </p:nvSpPr>
          <p:spPr bwMode="auto">
            <a:xfrm>
              <a:off x="4224" y="1440"/>
              <a:ext cx="288" cy="288"/>
            </a:xfrm>
            <a:prstGeom prst="ellipse">
              <a:avLst/>
            </a:prstGeom>
            <a:solidFill>
              <a:srgbClr val="FF99CC">
                <a:alpha val="50000"/>
              </a:srgbClr>
            </a:solidFill>
            <a:ln w="9525">
              <a:solidFill>
                <a:schemeClr val="tx1"/>
              </a:solidFill>
              <a:round/>
              <a:headEnd/>
              <a:tailEnd/>
            </a:ln>
            <a:effectLst/>
          </p:spPr>
          <p:txBody>
            <a:bodyPr wrap="none" anchor="ctr"/>
            <a:lstStyle/>
            <a:p>
              <a:endParaRPr lang="en-US" sz="1565"/>
            </a:p>
          </p:txBody>
        </p:sp>
        <p:sp>
          <p:nvSpPr>
            <p:cNvPr id="27654" name="Line 6"/>
            <p:cNvSpPr>
              <a:spLocks noChangeShapeType="1"/>
            </p:cNvSpPr>
            <p:nvPr/>
          </p:nvSpPr>
          <p:spPr bwMode="auto">
            <a:xfrm>
              <a:off x="3456" y="1563"/>
              <a:ext cx="768" cy="0"/>
            </a:xfrm>
            <a:prstGeom prst="line">
              <a:avLst/>
            </a:prstGeom>
            <a:noFill/>
            <a:ln w="9525">
              <a:solidFill>
                <a:schemeClr val="tx1"/>
              </a:solidFill>
              <a:round/>
              <a:headEnd/>
              <a:tailEnd type="triangle" w="med" len="med"/>
            </a:ln>
            <a:effectLst/>
          </p:spPr>
          <p:txBody>
            <a:bodyPr/>
            <a:lstStyle/>
            <a:p>
              <a:endParaRPr lang="en-US" sz="1565"/>
            </a:p>
          </p:txBody>
        </p:sp>
        <p:sp>
          <p:nvSpPr>
            <p:cNvPr id="27655" name="Text Box 7"/>
            <p:cNvSpPr txBox="1">
              <a:spLocks noChangeArrowheads="1"/>
            </p:cNvSpPr>
            <p:nvPr/>
          </p:nvSpPr>
          <p:spPr bwMode="auto">
            <a:xfrm>
              <a:off x="3648" y="1248"/>
              <a:ext cx="177" cy="241"/>
            </a:xfrm>
            <a:prstGeom prst="rect">
              <a:avLst/>
            </a:prstGeom>
            <a:noFill/>
            <a:ln w="9525">
              <a:noFill/>
              <a:miter lim="800000"/>
              <a:headEnd/>
              <a:tailEnd/>
            </a:ln>
            <a:effectLst/>
          </p:spPr>
          <p:txBody>
            <a:bodyPr wrap="none">
              <a:spAutoFit/>
            </a:bodyPr>
            <a:lstStyle/>
            <a:p>
              <a:r>
                <a:rPr lang="en-US" sz="1565"/>
                <a:t>a</a:t>
              </a:r>
            </a:p>
          </p:txBody>
        </p:sp>
      </p:grpSp>
      <p:grpSp>
        <p:nvGrpSpPr>
          <p:cNvPr id="3" name="Group 24"/>
          <p:cNvGrpSpPr>
            <a:grpSpLocks/>
          </p:cNvGrpSpPr>
          <p:nvPr/>
        </p:nvGrpSpPr>
        <p:grpSpPr bwMode="auto">
          <a:xfrm>
            <a:off x="5029200" y="4250362"/>
            <a:ext cx="2133600" cy="437597"/>
            <a:chOff x="3168" y="2755"/>
            <a:chExt cx="1344" cy="317"/>
          </a:xfrm>
        </p:grpSpPr>
        <p:sp>
          <p:nvSpPr>
            <p:cNvPr id="27658" name="Oval 10"/>
            <p:cNvSpPr>
              <a:spLocks noChangeArrowheads="1"/>
            </p:cNvSpPr>
            <p:nvPr/>
          </p:nvSpPr>
          <p:spPr bwMode="auto">
            <a:xfrm>
              <a:off x="3168" y="2755"/>
              <a:ext cx="288" cy="288"/>
            </a:xfrm>
            <a:prstGeom prst="ellipse">
              <a:avLst/>
            </a:prstGeom>
            <a:solidFill>
              <a:srgbClr val="FF99CC">
                <a:alpha val="50000"/>
              </a:srgbClr>
            </a:solidFill>
            <a:ln w="9525">
              <a:solidFill>
                <a:schemeClr val="tx1"/>
              </a:solidFill>
              <a:round/>
              <a:headEnd/>
              <a:tailEnd/>
            </a:ln>
            <a:effectLst/>
          </p:spPr>
          <p:txBody>
            <a:bodyPr wrap="none" anchor="ctr"/>
            <a:lstStyle/>
            <a:p>
              <a:endParaRPr lang="en-US" sz="1565"/>
            </a:p>
          </p:txBody>
        </p:sp>
        <p:sp>
          <p:nvSpPr>
            <p:cNvPr id="27659" name="Oval 11"/>
            <p:cNvSpPr>
              <a:spLocks noChangeArrowheads="1"/>
            </p:cNvSpPr>
            <p:nvPr/>
          </p:nvSpPr>
          <p:spPr bwMode="auto">
            <a:xfrm>
              <a:off x="4224" y="2784"/>
              <a:ext cx="288" cy="288"/>
            </a:xfrm>
            <a:prstGeom prst="ellipse">
              <a:avLst/>
            </a:prstGeom>
            <a:solidFill>
              <a:srgbClr val="FF99CC">
                <a:alpha val="50000"/>
              </a:srgbClr>
            </a:solidFill>
            <a:ln w="9525">
              <a:solidFill>
                <a:schemeClr val="tx1"/>
              </a:solidFill>
              <a:round/>
              <a:headEnd/>
              <a:tailEnd/>
            </a:ln>
            <a:effectLst/>
          </p:spPr>
          <p:txBody>
            <a:bodyPr wrap="none" anchor="ctr"/>
            <a:lstStyle/>
            <a:p>
              <a:endParaRPr lang="en-US" sz="1565"/>
            </a:p>
          </p:txBody>
        </p:sp>
      </p:grpSp>
      <p:grpSp>
        <p:nvGrpSpPr>
          <p:cNvPr id="4" name="Group 19"/>
          <p:cNvGrpSpPr>
            <a:grpSpLocks/>
          </p:cNvGrpSpPr>
          <p:nvPr/>
        </p:nvGrpSpPr>
        <p:grpSpPr bwMode="auto">
          <a:xfrm>
            <a:off x="5029200" y="2965174"/>
            <a:ext cx="2133600" cy="702642"/>
            <a:chOff x="3168" y="1219"/>
            <a:chExt cx="1344" cy="509"/>
          </a:xfrm>
        </p:grpSpPr>
        <p:sp>
          <p:nvSpPr>
            <p:cNvPr id="27668" name="Oval 20"/>
            <p:cNvSpPr>
              <a:spLocks noChangeArrowheads="1"/>
            </p:cNvSpPr>
            <p:nvPr/>
          </p:nvSpPr>
          <p:spPr bwMode="auto">
            <a:xfrm>
              <a:off x="3168" y="1419"/>
              <a:ext cx="288" cy="288"/>
            </a:xfrm>
            <a:prstGeom prst="ellipse">
              <a:avLst/>
            </a:prstGeom>
            <a:solidFill>
              <a:srgbClr val="FF99CC">
                <a:alpha val="50000"/>
              </a:srgbClr>
            </a:solidFill>
            <a:ln w="9525">
              <a:solidFill>
                <a:schemeClr val="tx1"/>
              </a:solidFill>
              <a:round/>
              <a:headEnd/>
              <a:tailEnd/>
            </a:ln>
            <a:effectLst/>
          </p:spPr>
          <p:txBody>
            <a:bodyPr wrap="none" anchor="ctr"/>
            <a:lstStyle/>
            <a:p>
              <a:endParaRPr lang="en-US" sz="1565"/>
            </a:p>
          </p:txBody>
        </p:sp>
        <p:sp>
          <p:nvSpPr>
            <p:cNvPr id="27669" name="Oval 21"/>
            <p:cNvSpPr>
              <a:spLocks noChangeArrowheads="1"/>
            </p:cNvSpPr>
            <p:nvPr/>
          </p:nvSpPr>
          <p:spPr bwMode="auto">
            <a:xfrm>
              <a:off x="4224" y="1440"/>
              <a:ext cx="288" cy="288"/>
            </a:xfrm>
            <a:prstGeom prst="ellipse">
              <a:avLst/>
            </a:prstGeom>
            <a:solidFill>
              <a:srgbClr val="FF99CC">
                <a:alpha val="50000"/>
              </a:srgbClr>
            </a:solidFill>
            <a:ln w="9525">
              <a:solidFill>
                <a:schemeClr val="tx1"/>
              </a:solidFill>
              <a:round/>
              <a:headEnd/>
              <a:tailEnd/>
            </a:ln>
            <a:effectLst/>
          </p:spPr>
          <p:txBody>
            <a:bodyPr wrap="none" anchor="ctr"/>
            <a:lstStyle/>
            <a:p>
              <a:endParaRPr lang="en-US" sz="1565"/>
            </a:p>
          </p:txBody>
        </p:sp>
        <p:sp>
          <p:nvSpPr>
            <p:cNvPr id="27670" name="Line 22"/>
            <p:cNvSpPr>
              <a:spLocks noChangeShapeType="1"/>
            </p:cNvSpPr>
            <p:nvPr/>
          </p:nvSpPr>
          <p:spPr bwMode="auto">
            <a:xfrm>
              <a:off x="3456" y="1563"/>
              <a:ext cx="768" cy="0"/>
            </a:xfrm>
            <a:prstGeom prst="line">
              <a:avLst/>
            </a:prstGeom>
            <a:noFill/>
            <a:ln w="9525">
              <a:solidFill>
                <a:schemeClr val="tx1"/>
              </a:solidFill>
              <a:round/>
              <a:headEnd/>
              <a:tailEnd type="triangle" w="med" len="med"/>
            </a:ln>
            <a:effectLst/>
          </p:spPr>
          <p:txBody>
            <a:bodyPr/>
            <a:lstStyle/>
            <a:p>
              <a:endParaRPr lang="en-US" sz="1565"/>
            </a:p>
          </p:txBody>
        </p:sp>
        <p:sp>
          <p:nvSpPr>
            <p:cNvPr id="27671" name="Text Box 23"/>
            <p:cNvSpPr txBox="1">
              <a:spLocks noChangeArrowheads="1"/>
            </p:cNvSpPr>
            <p:nvPr/>
          </p:nvSpPr>
          <p:spPr bwMode="auto">
            <a:xfrm>
              <a:off x="3648" y="1219"/>
              <a:ext cx="234" cy="377"/>
            </a:xfrm>
            <a:prstGeom prst="rect">
              <a:avLst/>
            </a:prstGeom>
            <a:noFill/>
            <a:ln w="9525">
              <a:noFill/>
              <a:miter lim="800000"/>
              <a:headEnd/>
              <a:tailEnd/>
            </a:ln>
            <a:effectLst/>
          </p:spPr>
          <p:txBody>
            <a:bodyPr wrap="none">
              <a:spAutoFit/>
            </a:bodyPr>
            <a:lstStyle/>
            <a:p>
              <a:r>
                <a:rPr lang="en-US" sz="2783">
                  <a:latin typeface="Lucida Sans Unicode" pitchFamily="34" charset="0"/>
                </a:rPr>
                <a:t>ε</a:t>
              </a:r>
            </a:p>
          </p:txBody>
        </p:sp>
      </p:grpSp>
      <p:sp>
        <p:nvSpPr>
          <p:cNvPr id="19"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 to </a:t>
            </a:r>
            <a:r>
              <a:rPr lang="en-US" sz="2783" dirty="0">
                <a:latin typeface="Lucida Sans Unicode" pitchFamily="34" charset="0"/>
              </a:rPr>
              <a:t>ε</a:t>
            </a:r>
            <a:r>
              <a:rPr lang="en-US" sz="2783" dirty="0"/>
              <a:t>-NFA: </a:t>
            </a:r>
            <a:r>
              <a:rPr lang="en-US" sz="2783" dirty="0">
                <a:solidFill>
                  <a:srgbClr val="3366FF"/>
                </a:solidFill>
              </a:rPr>
              <a:t>Basis</a:t>
            </a:r>
            <a:endParaRPr lang="en-US" sz="2783" dirty="0"/>
          </a:p>
        </p:txBody>
      </p:sp>
      <p:sp>
        <p:nvSpPr>
          <p:cNvPr id="20" name="Date Placeholder 3"/>
          <p:cNvSpPr>
            <a:spLocks noGrp="1"/>
          </p:cNvSpPr>
          <p:nvPr>
            <p:ph type="dt" sz="half" idx="10"/>
          </p:nvPr>
        </p:nvSpPr>
        <p:spPr>
          <a:xfrm>
            <a:off x="609600" y="6107047"/>
            <a:ext cx="2133600" cy="317500"/>
          </a:xfrm>
        </p:spPr>
        <p:txBody>
          <a:bodyPr/>
          <a:lstStyle/>
          <a:p>
            <a:fld id="{52712DD5-7501-483F-8711-04E46C3E7CF3}" type="datetime1">
              <a:rPr lang="en-US" smtClean="0"/>
              <a:t>3/16/2026</a:t>
            </a:fld>
            <a:endParaRPr lang="en-US" dirty="0"/>
          </a:p>
        </p:txBody>
      </p:sp>
      <p:sp>
        <p:nvSpPr>
          <p:cNvPr id="21" name="Footer Placeholder 4"/>
          <p:cNvSpPr>
            <a:spLocks noGrp="1"/>
          </p:cNvSpPr>
          <p:nvPr>
            <p:ph type="ftr" sz="quarter" idx="11"/>
          </p:nvPr>
        </p:nvSpPr>
        <p:spPr>
          <a:xfrm>
            <a:off x="2743200" y="6107047"/>
            <a:ext cx="4343400" cy="317500"/>
          </a:xfrm>
        </p:spPr>
        <p:txBody>
          <a:bodyPr/>
          <a:lstStyle/>
          <a:p>
            <a:r>
              <a:rPr lang="en-US" smtClean="0"/>
              <a:t>Vivek Kumar Sharma     BCSE0404(TAFL) (Unit II</a:t>
            </a:r>
            <a:endParaRPr lang="en-US" dirty="0"/>
          </a:p>
        </p:txBody>
      </p:sp>
      <p:sp>
        <p:nvSpPr>
          <p:cNvPr id="22" name="Slide Number Placeholder 5"/>
          <p:cNvSpPr txBox="1">
            <a:spLocks/>
          </p:cNvSpPr>
          <p:nvPr/>
        </p:nvSpPr>
        <p:spPr>
          <a:xfrm>
            <a:off x="6705600" y="6107047"/>
            <a:ext cx="2133600" cy="317500"/>
          </a:xfrm>
          <a:prstGeom prst="rect">
            <a:avLst/>
          </a:prstGeom>
        </p:spPr>
        <p:txBody>
          <a:bodyPr vert="horz" lIns="79513" tIns="39757" rIns="79513" bIns="39757" rtlCol="0" anchor="ctr"/>
          <a:lstStyle/>
          <a:p>
            <a:pPr algn="r" defTabSz="795162">
              <a:defRPr/>
            </a:pPr>
            <a:fld id="{B6F15528-21DE-4FAA-801E-634DDDAF4B2B}" type="slidenum">
              <a:rPr lang="en-US" sz="1044">
                <a:solidFill>
                  <a:schemeClr val="tx1">
                    <a:tint val="75000"/>
                  </a:schemeClr>
                </a:solidFill>
              </a:rPr>
              <a:pPr algn="r" defTabSz="795162">
                <a:defRPr/>
              </a:pPr>
              <a:t>41</a:t>
            </a:fld>
            <a:endParaRPr lang="en-US" sz="1044">
              <a:solidFill>
                <a:schemeClr val="tx1">
                  <a:tint val="75000"/>
                </a:schemeClr>
              </a:solidFill>
            </a:endParaRPr>
          </a:p>
        </p:txBody>
      </p:sp>
    </p:spTree>
    <p:extLst>
      <p:ext uri="{BB962C8B-B14F-4D97-AF65-F5344CB8AC3E}">
        <p14:creationId xmlns:p14="http://schemas.microsoft.com/office/powerpoint/2010/main" val="1984223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lide Number Placeholder 4"/>
          <p:cNvSpPr>
            <a:spLocks noGrp="1"/>
          </p:cNvSpPr>
          <p:nvPr>
            <p:ph type="sldNum" sz="quarter" idx="12"/>
          </p:nvPr>
        </p:nvSpPr>
        <p:spPr/>
        <p:txBody>
          <a:bodyPr/>
          <a:lstStyle/>
          <a:p>
            <a:fld id="{8613677A-1A5B-4F48-8C8E-9679FC075367}" type="slidenum">
              <a:rPr lang="en-US"/>
              <a:pPr/>
              <a:t>42</a:t>
            </a:fld>
            <a:endParaRPr lang="en-US"/>
          </a:p>
        </p:txBody>
      </p:sp>
      <p:grpSp>
        <p:nvGrpSpPr>
          <p:cNvPr id="2" name="Group 6"/>
          <p:cNvGrpSpPr>
            <a:grpSpLocks/>
          </p:cNvGrpSpPr>
          <p:nvPr/>
        </p:nvGrpSpPr>
        <p:grpSpPr bwMode="auto">
          <a:xfrm>
            <a:off x="2895600" y="2501348"/>
            <a:ext cx="2971800" cy="1192696"/>
            <a:chOff x="1824" y="1488"/>
            <a:chExt cx="1872" cy="864"/>
          </a:xfrm>
        </p:grpSpPr>
        <p:sp>
          <p:nvSpPr>
            <p:cNvPr id="29699" name="Oval 3"/>
            <p:cNvSpPr>
              <a:spLocks noChangeArrowheads="1"/>
            </p:cNvSpPr>
            <p:nvPr/>
          </p:nvSpPr>
          <p:spPr bwMode="auto">
            <a:xfrm>
              <a:off x="1824" y="1488"/>
              <a:ext cx="1872" cy="864"/>
            </a:xfrm>
            <a:prstGeom prst="ellipse">
              <a:avLst/>
            </a:prstGeom>
            <a:solidFill>
              <a:schemeClr val="accent1">
                <a:alpha val="50000"/>
              </a:schemeClr>
            </a:solidFill>
            <a:ln w="9525">
              <a:solidFill>
                <a:schemeClr val="tx1"/>
              </a:solidFill>
              <a:round/>
              <a:headEnd/>
              <a:tailEnd/>
            </a:ln>
            <a:effectLst/>
          </p:spPr>
          <p:txBody>
            <a:bodyPr wrap="none" anchor="ctr"/>
            <a:lstStyle/>
            <a:p>
              <a:pPr algn="ctr"/>
              <a:r>
                <a:rPr lang="en-US" sz="1565"/>
                <a:t>For E</a:t>
              </a:r>
              <a:r>
                <a:rPr lang="en-US" sz="1565" baseline="-25000"/>
                <a:t>1</a:t>
              </a:r>
            </a:p>
          </p:txBody>
        </p:sp>
        <p:sp>
          <p:nvSpPr>
            <p:cNvPr id="29700" name="Oval 4"/>
            <p:cNvSpPr>
              <a:spLocks noChangeArrowheads="1"/>
            </p:cNvSpPr>
            <p:nvPr/>
          </p:nvSpPr>
          <p:spPr bwMode="auto">
            <a:xfrm>
              <a:off x="331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29701" name="Oval 5"/>
            <p:cNvSpPr>
              <a:spLocks noChangeArrowheads="1"/>
            </p:cNvSpPr>
            <p:nvPr/>
          </p:nvSpPr>
          <p:spPr bwMode="auto">
            <a:xfrm>
              <a:off x="187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grpSp>
      <p:grpSp>
        <p:nvGrpSpPr>
          <p:cNvPr id="3" name="Group 7"/>
          <p:cNvGrpSpPr>
            <a:grpSpLocks/>
          </p:cNvGrpSpPr>
          <p:nvPr/>
        </p:nvGrpSpPr>
        <p:grpSpPr bwMode="auto">
          <a:xfrm>
            <a:off x="2895600" y="4091609"/>
            <a:ext cx="2971800" cy="1192696"/>
            <a:chOff x="1824" y="1488"/>
            <a:chExt cx="1872" cy="864"/>
          </a:xfrm>
        </p:grpSpPr>
        <p:sp>
          <p:nvSpPr>
            <p:cNvPr id="29704" name="Oval 8"/>
            <p:cNvSpPr>
              <a:spLocks noChangeArrowheads="1"/>
            </p:cNvSpPr>
            <p:nvPr/>
          </p:nvSpPr>
          <p:spPr bwMode="auto">
            <a:xfrm>
              <a:off x="1824" y="1488"/>
              <a:ext cx="1872" cy="864"/>
            </a:xfrm>
            <a:prstGeom prst="ellipse">
              <a:avLst/>
            </a:prstGeom>
            <a:solidFill>
              <a:schemeClr val="accent1">
                <a:alpha val="50000"/>
              </a:schemeClr>
            </a:solidFill>
            <a:ln w="9525">
              <a:solidFill>
                <a:schemeClr val="tx1"/>
              </a:solidFill>
              <a:round/>
              <a:headEnd/>
              <a:tailEnd/>
            </a:ln>
            <a:effectLst/>
          </p:spPr>
          <p:txBody>
            <a:bodyPr wrap="none" anchor="ctr"/>
            <a:lstStyle/>
            <a:p>
              <a:pPr algn="ctr"/>
              <a:r>
                <a:rPr lang="en-US" sz="1565"/>
                <a:t>For E</a:t>
              </a:r>
              <a:r>
                <a:rPr lang="en-US" sz="1565" baseline="-25000"/>
                <a:t>2</a:t>
              </a:r>
            </a:p>
          </p:txBody>
        </p:sp>
        <p:sp>
          <p:nvSpPr>
            <p:cNvPr id="29705" name="Oval 9"/>
            <p:cNvSpPr>
              <a:spLocks noChangeArrowheads="1"/>
            </p:cNvSpPr>
            <p:nvPr/>
          </p:nvSpPr>
          <p:spPr bwMode="auto">
            <a:xfrm>
              <a:off x="331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29706" name="Oval 10"/>
            <p:cNvSpPr>
              <a:spLocks noChangeArrowheads="1"/>
            </p:cNvSpPr>
            <p:nvPr/>
          </p:nvSpPr>
          <p:spPr bwMode="auto">
            <a:xfrm>
              <a:off x="187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grpSp>
      <p:grpSp>
        <p:nvGrpSpPr>
          <p:cNvPr id="4" name="Group 20"/>
          <p:cNvGrpSpPr>
            <a:grpSpLocks/>
          </p:cNvGrpSpPr>
          <p:nvPr/>
        </p:nvGrpSpPr>
        <p:grpSpPr bwMode="auto">
          <a:xfrm>
            <a:off x="1311276" y="2435089"/>
            <a:ext cx="6096000" cy="3568424"/>
            <a:chOff x="826" y="1440"/>
            <a:chExt cx="3840" cy="2585"/>
          </a:xfrm>
        </p:grpSpPr>
        <p:sp>
          <p:nvSpPr>
            <p:cNvPr id="29714" name="Oval 18"/>
            <p:cNvSpPr>
              <a:spLocks noChangeArrowheads="1"/>
            </p:cNvSpPr>
            <p:nvPr/>
          </p:nvSpPr>
          <p:spPr bwMode="auto">
            <a:xfrm>
              <a:off x="826" y="1440"/>
              <a:ext cx="3840" cy="2112"/>
            </a:xfrm>
            <a:prstGeom prst="ellipse">
              <a:avLst/>
            </a:prstGeom>
            <a:noFill/>
            <a:ln w="9525">
              <a:solidFill>
                <a:schemeClr val="tx1"/>
              </a:solidFill>
              <a:round/>
              <a:headEnd/>
              <a:tailEnd/>
            </a:ln>
            <a:effectLst/>
          </p:spPr>
          <p:txBody>
            <a:bodyPr wrap="none" anchor="ctr"/>
            <a:lstStyle/>
            <a:p>
              <a:endParaRPr lang="en-US" sz="1565"/>
            </a:p>
          </p:txBody>
        </p:sp>
        <p:sp>
          <p:nvSpPr>
            <p:cNvPr id="29715" name="Text Box 19"/>
            <p:cNvSpPr txBox="1">
              <a:spLocks noChangeArrowheads="1"/>
            </p:cNvSpPr>
            <p:nvPr/>
          </p:nvSpPr>
          <p:spPr bwMode="auto">
            <a:xfrm>
              <a:off x="2208" y="3648"/>
              <a:ext cx="750" cy="377"/>
            </a:xfrm>
            <a:prstGeom prst="rect">
              <a:avLst/>
            </a:prstGeom>
            <a:noFill/>
            <a:ln w="9525">
              <a:noFill/>
              <a:miter lim="800000"/>
              <a:headEnd/>
              <a:tailEnd/>
            </a:ln>
            <a:effectLst/>
          </p:spPr>
          <p:txBody>
            <a:bodyPr wrap="none">
              <a:spAutoFit/>
            </a:bodyPr>
            <a:lstStyle/>
            <a:p>
              <a:r>
                <a:rPr lang="en-US" sz="1565"/>
                <a:t>For E</a:t>
              </a:r>
              <a:r>
                <a:rPr lang="en-US" sz="1565" baseline="-25000"/>
                <a:t>1</a:t>
              </a:r>
              <a:r>
                <a:rPr lang="en-US" sz="1565"/>
                <a:t> </a:t>
              </a:r>
              <a:r>
                <a:rPr lang="en-US" sz="2783">
                  <a:sym typeface="Symbol" pitchFamily="18" charset="2"/>
                </a:rPr>
                <a:t></a:t>
              </a:r>
              <a:r>
                <a:rPr lang="en-US" sz="1565"/>
                <a:t> E</a:t>
              </a:r>
              <a:r>
                <a:rPr lang="en-US" sz="1565" baseline="-25000"/>
                <a:t>2</a:t>
              </a:r>
            </a:p>
          </p:txBody>
        </p:sp>
      </p:grpSp>
      <p:grpSp>
        <p:nvGrpSpPr>
          <p:cNvPr id="5" name="Group 25"/>
          <p:cNvGrpSpPr>
            <a:grpSpLocks/>
          </p:cNvGrpSpPr>
          <p:nvPr/>
        </p:nvGrpSpPr>
        <p:grpSpPr bwMode="auto">
          <a:xfrm>
            <a:off x="1447800" y="3097695"/>
            <a:ext cx="5867400" cy="1525380"/>
            <a:chOff x="912" y="1920"/>
            <a:chExt cx="3696" cy="1105"/>
          </a:xfrm>
        </p:grpSpPr>
        <p:grpSp>
          <p:nvGrpSpPr>
            <p:cNvPr id="6" name="Group 17"/>
            <p:cNvGrpSpPr>
              <a:grpSpLocks/>
            </p:cNvGrpSpPr>
            <p:nvPr/>
          </p:nvGrpSpPr>
          <p:grpSpPr bwMode="auto">
            <a:xfrm>
              <a:off x="912" y="1920"/>
              <a:ext cx="3696" cy="1104"/>
              <a:chOff x="912" y="1920"/>
              <a:chExt cx="3696" cy="1104"/>
            </a:xfrm>
          </p:grpSpPr>
          <p:sp>
            <p:nvSpPr>
              <p:cNvPr id="29707" name="Oval 11"/>
              <p:cNvSpPr>
                <a:spLocks noChangeArrowheads="1"/>
              </p:cNvSpPr>
              <p:nvPr/>
            </p:nvSpPr>
            <p:spPr bwMode="auto">
              <a:xfrm>
                <a:off x="912" y="2352"/>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29708" name="Oval 12"/>
              <p:cNvSpPr>
                <a:spLocks noChangeArrowheads="1"/>
              </p:cNvSpPr>
              <p:nvPr/>
            </p:nvSpPr>
            <p:spPr bwMode="auto">
              <a:xfrm>
                <a:off x="4320" y="2400"/>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29709" name="Line 13"/>
              <p:cNvSpPr>
                <a:spLocks noChangeShapeType="1"/>
              </p:cNvSpPr>
              <p:nvPr/>
            </p:nvSpPr>
            <p:spPr bwMode="auto">
              <a:xfrm flipV="1">
                <a:off x="1152" y="1920"/>
                <a:ext cx="720" cy="480"/>
              </a:xfrm>
              <a:prstGeom prst="line">
                <a:avLst/>
              </a:prstGeom>
              <a:noFill/>
              <a:ln w="9525">
                <a:solidFill>
                  <a:schemeClr val="tx1"/>
                </a:solidFill>
                <a:round/>
                <a:headEnd/>
                <a:tailEnd type="triangle" w="med" len="med"/>
              </a:ln>
              <a:effectLst/>
            </p:spPr>
            <p:txBody>
              <a:bodyPr/>
              <a:lstStyle/>
              <a:p>
                <a:endParaRPr lang="en-US" sz="1565"/>
              </a:p>
            </p:txBody>
          </p:sp>
          <p:sp>
            <p:nvSpPr>
              <p:cNvPr id="29710" name="Line 14"/>
              <p:cNvSpPr>
                <a:spLocks noChangeShapeType="1"/>
              </p:cNvSpPr>
              <p:nvPr/>
            </p:nvSpPr>
            <p:spPr bwMode="auto">
              <a:xfrm>
                <a:off x="1152" y="2592"/>
                <a:ext cx="720" cy="432"/>
              </a:xfrm>
              <a:prstGeom prst="line">
                <a:avLst/>
              </a:prstGeom>
              <a:noFill/>
              <a:ln w="9525">
                <a:solidFill>
                  <a:schemeClr val="tx1"/>
                </a:solidFill>
                <a:round/>
                <a:headEnd/>
                <a:tailEnd type="triangle" w="med" len="med"/>
              </a:ln>
              <a:effectLst/>
            </p:spPr>
            <p:txBody>
              <a:bodyPr/>
              <a:lstStyle/>
              <a:p>
                <a:endParaRPr lang="en-US" sz="1565"/>
              </a:p>
            </p:txBody>
          </p:sp>
          <p:sp>
            <p:nvSpPr>
              <p:cNvPr id="29711" name="Line 15"/>
              <p:cNvSpPr>
                <a:spLocks noChangeShapeType="1"/>
              </p:cNvSpPr>
              <p:nvPr/>
            </p:nvSpPr>
            <p:spPr bwMode="auto">
              <a:xfrm>
                <a:off x="3600" y="1920"/>
                <a:ext cx="768" cy="528"/>
              </a:xfrm>
              <a:prstGeom prst="line">
                <a:avLst/>
              </a:prstGeom>
              <a:noFill/>
              <a:ln w="9525">
                <a:solidFill>
                  <a:schemeClr val="tx1"/>
                </a:solidFill>
                <a:round/>
                <a:headEnd/>
                <a:tailEnd type="triangle" w="med" len="med"/>
              </a:ln>
              <a:effectLst/>
            </p:spPr>
            <p:txBody>
              <a:bodyPr/>
              <a:lstStyle/>
              <a:p>
                <a:endParaRPr lang="en-US" sz="1565"/>
              </a:p>
            </p:txBody>
          </p:sp>
          <p:sp>
            <p:nvSpPr>
              <p:cNvPr id="29712" name="Line 16"/>
              <p:cNvSpPr>
                <a:spLocks noChangeShapeType="1"/>
              </p:cNvSpPr>
              <p:nvPr/>
            </p:nvSpPr>
            <p:spPr bwMode="auto">
              <a:xfrm flipV="1">
                <a:off x="3600" y="2640"/>
                <a:ext cx="768" cy="384"/>
              </a:xfrm>
              <a:prstGeom prst="line">
                <a:avLst/>
              </a:prstGeom>
              <a:noFill/>
              <a:ln w="9525">
                <a:solidFill>
                  <a:schemeClr val="tx1"/>
                </a:solidFill>
                <a:round/>
                <a:headEnd/>
                <a:tailEnd type="triangle" w="med" len="med"/>
              </a:ln>
              <a:effectLst/>
            </p:spPr>
            <p:txBody>
              <a:bodyPr/>
              <a:lstStyle/>
              <a:p>
                <a:endParaRPr lang="en-US" sz="1565"/>
              </a:p>
            </p:txBody>
          </p:sp>
        </p:grpSp>
        <p:sp>
          <p:nvSpPr>
            <p:cNvPr id="29717" name="Text Box 21"/>
            <p:cNvSpPr txBox="1">
              <a:spLocks noChangeArrowheads="1"/>
            </p:cNvSpPr>
            <p:nvPr/>
          </p:nvSpPr>
          <p:spPr bwMode="auto">
            <a:xfrm>
              <a:off x="1344" y="1920"/>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sp>
          <p:nvSpPr>
            <p:cNvPr id="29718" name="Text Box 22"/>
            <p:cNvSpPr txBox="1">
              <a:spLocks noChangeArrowheads="1"/>
            </p:cNvSpPr>
            <p:nvPr/>
          </p:nvSpPr>
          <p:spPr bwMode="auto">
            <a:xfrm>
              <a:off x="1344" y="2784"/>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sp>
          <p:nvSpPr>
            <p:cNvPr id="29719" name="Text Box 23"/>
            <p:cNvSpPr txBox="1">
              <a:spLocks noChangeArrowheads="1"/>
            </p:cNvSpPr>
            <p:nvPr/>
          </p:nvSpPr>
          <p:spPr bwMode="auto">
            <a:xfrm>
              <a:off x="3936" y="2784"/>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sp>
          <p:nvSpPr>
            <p:cNvPr id="29720" name="Text Box 24"/>
            <p:cNvSpPr txBox="1">
              <a:spLocks noChangeArrowheads="1"/>
            </p:cNvSpPr>
            <p:nvPr/>
          </p:nvSpPr>
          <p:spPr bwMode="auto">
            <a:xfrm>
              <a:off x="3936" y="1920"/>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grpSp>
      <p:sp>
        <p:nvSpPr>
          <p:cNvPr id="28"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 to </a:t>
            </a:r>
            <a:r>
              <a:rPr lang="en-US" sz="2783" dirty="0">
                <a:latin typeface="Lucida Sans Unicode" pitchFamily="34" charset="0"/>
              </a:rPr>
              <a:t>ε</a:t>
            </a:r>
            <a:r>
              <a:rPr lang="en-US" sz="2783" dirty="0"/>
              <a:t>-NFA: </a:t>
            </a:r>
            <a:r>
              <a:rPr lang="en-US" sz="2783" dirty="0">
                <a:solidFill>
                  <a:srgbClr val="3366FF"/>
                </a:solidFill>
              </a:rPr>
              <a:t>Induction 1</a:t>
            </a:r>
            <a:r>
              <a:rPr lang="en-US" sz="2783" dirty="0"/>
              <a:t> – Union</a:t>
            </a:r>
          </a:p>
        </p:txBody>
      </p:sp>
      <p:sp>
        <p:nvSpPr>
          <p:cNvPr id="7" name="Date Placeholder 6"/>
          <p:cNvSpPr>
            <a:spLocks noGrp="1"/>
          </p:cNvSpPr>
          <p:nvPr>
            <p:ph type="dt" sz="half" idx="10"/>
          </p:nvPr>
        </p:nvSpPr>
        <p:spPr/>
        <p:txBody>
          <a:bodyPr/>
          <a:lstStyle/>
          <a:p>
            <a:fld id="{E7A8E310-5626-40B1-BE36-AA67C582E5B8}" type="datetime1">
              <a:rPr lang="en-US" smtClean="0"/>
              <a:t>3/16/2026</a:t>
            </a:fld>
            <a:endParaRPr lang="en-US"/>
          </a:p>
        </p:txBody>
      </p:sp>
      <p:sp>
        <p:nvSpPr>
          <p:cNvPr id="8" name="Footer Placeholder 7"/>
          <p:cNvSpPr>
            <a:spLocks noGrp="1"/>
          </p:cNvSpPr>
          <p:nvPr>
            <p:ph type="ftr" sz="quarter" idx="11"/>
          </p:nvPr>
        </p:nvSpPr>
        <p:spPr/>
        <p:txBody>
          <a:bodyPr/>
          <a:lstStyle/>
          <a:p>
            <a:r>
              <a:rPr lang="en-US" smtClean="0"/>
              <a:t>Vivek Kumar Sharma     BCSE0404(TAFL) (Unit II</a:t>
            </a:r>
            <a:endParaRPr lang="en-US" dirty="0"/>
          </a:p>
        </p:txBody>
      </p:sp>
    </p:spTree>
    <p:extLst>
      <p:ext uri="{BB962C8B-B14F-4D97-AF65-F5344CB8AC3E}">
        <p14:creationId xmlns:p14="http://schemas.microsoft.com/office/powerpoint/2010/main" val="1705776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4"/>
          <p:cNvSpPr>
            <a:spLocks noGrp="1"/>
          </p:cNvSpPr>
          <p:nvPr>
            <p:ph type="sldNum" sz="quarter" idx="12"/>
          </p:nvPr>
        </p:nvSpPr>
        <p:spPr/>
        <p:txBody>
          <a:bodyPr/>
          <a:lstStyle/>
          <a:p>
            <a:fld id="{07D1DFCC-6FF0-4D79-9031-27768A4EB28F}" type="slidenum">
              <a:rPr lang="en-US"/>
              <a:pPr/>
              <a:t>43</a:t>
            </a:fld>
            <a:endParaRPr lang="en-US"/>
          </a:p>
        </p:txBody>
      </p:sp>
      <p:grpSp>
        <p:nvGrpSpPr>
          <p:cNvPr id="2" name="Group 3"/>
          <p:cNvGrpSpPr>
            <a:grpSpLocks/>
          </p:cNvGrpSpPr>
          <p:nvPr/>
        </p:nvGrpSpPr>
        <p:grpSpPr bwMode="auto">
          <a:xfrm>
            <a:off x="914400" y="3031435"/>
            <a:ext cx="2971800" cy="1192696"/>
            <a:chOff x="1824" y="1488"/>
            <a:chExt cx="1872" cy="864"/>
          </a:xfrm>
        </p:grpSpPr>
        <p:sp>
          <p:nvSpPr>
            <p:cNvPr id="31748" name="Oval 4"/>
            <p:cNvSpPr>
              <a:spLocks noChangeArrowheads="1"/>
            </p:cNvSpPr>
            <p:nvPr/>
          </p:nvSpPr>
          <p:spPr bwMode="auto">
            <a:xfrm>
              <a:off x="1824" y="1488"/>
              <a:ext cx="1872" cy="864"/>
            </a:xfrm>
            <a:prstGeom prst="ellipse">
              <a:avLst/>
            </a:prstGeom>
            <a:solidFill>
              <a:schemeClr val="accent1">
                <a:alpha val="50000"/>
              </a:schemeClr>
            </a:solidFill>
            <a:ln w="9525">
              <a:solidFill>
                <a:schemeClr val="tx1"/>
              </a:solidFill>
              <a:round/>
              <a:headEnd/>
              <a:tailEnd/>
            </a:ln>
            <a:effectLst/>
          </p:spPr>
          <p:txBody>
            <a:bodyPr wrap="none" anchor="ctr"/>
            <a:lstStyle/>
            <a:p>
              <a:pPr algn="ctr"/>
              <a:r>
                <a:rPr lang="en-US" sz="1565"/>
                <a:t>For E</a:t>
              </a:r>
              <a:r>
                <a:rPr lang="en-US" sz="1565" baseline="-25000"/>
                <a:t>1</a:t>
              </a:r>
            </a:p>
          </p:txBody>
        </p:sp>
        <p:sp>
          <p:nvSpPr>
            <p:cNvPr id="31749" name="Oval 5"/>
            <p:cNvSpPr>
              <a:spLocks noChangeArrowheads="1"/>
            </p:cNvSpPr>
            <p:nvPr/>
          </p:nvSpPr>
          <p:spPr bwMode="auto">
            <a:xfrm>
              <a:off x="331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31750" name="Oval 6"/>
            <p:cNvSpPr>
              <a:spLocks noChangeArrowheads="1"/>
            </p:cNvSpPr>
            <p:nvPr/>
          </p:nvSpPr>
          <p:spPr bwMode="auto">
            <a:xfrm>
              <a:off x="187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grpSp>
      <p:grpSp>
        <p:nvGrpSpPr>
          <p:cNvPr id="3" name="Group 7"/>
          <p:cNvGrpSpPr>
            <a:grpSpLocks/>
          </p:cNvGrpSpPr>
          <p:nvPr/>
        </p:nvGrpSpPr>
        <p:grpSpPr bwMode="auto">
          <a:xfrm>
            <a:off x="5486400" y="3031435"/>
            <a:ext cx="2971800" cy="1192696"/>
            <a:chOff x="1824" y="1488"/>
            <a:chExt cx="1872" cy="864"/>
          </a:xfrm>
        </p:grpSpPr>
        <p:sp>
          <p:nvSpPr>
            <p:cNvPr id="31752" name="Oval 8"/>
            <p:cNvSpPr>
              <a:spLocks noChangeArrowheads="1"/>
            </p:cNvSpPr>
            <p:nvPr/>
          </p:nvSpPr>
          <p:spPr bwMode="auto">
            <a:xfrm>
              <a:off x="1824" y="1488"/>
              <a:ext cx="1872" cy="864"/>
            </a:xfrm>
            <a:prstGeom prst="ellipse">
              <a:avLst/>
            </a:prstGeom>
            <a:solidFill>
              <a:schemeClr val="accent1">
                <a:alpha val="50000"/>
              </a:schemeClr>
            </a:solidFill>
            <a:ln w="9525">
              <a:solidFill>
                <a:schemeClr val="tx1"/>
              </a:solidFill>
              <a:round/>
              <a:headEnd/>
              <a:tailEnd/>
            </a:ln>
            <a:effectLst/>
          </p:spPr>
          <p:txBody>
            <a:bodyPr wrap="none" anchor="ctr"/>
            <a:lstStyle/>
            <a:p>
              <a:pPr algn="ctr"/>
              <a:r>
                <a:rPr lang="en-US" sz="1565"/>
                <a:t>For E</a:t>
              </a:r>
              <a:r>
                <a:rPr lang="en-US" sz="1565" baseline="-25000"/>
                <a:t>2</a:t>
              </a:r>
            </a:p>
          </p:txBody>
        </p:sp>
        <p:sp>
          <p:nvSpPr>
            <p:cNvPr id="31753" name="Oval 9"/>
            <p:cNvSpPr>
              <a:spLocks noChangeArrowheads="1"/>
            </p:cNvSpPr>
            <p:nvPr/>
          </p:nvSpPr>
          <p:spPr bwMode="auto">
            <a:xfrm>
              <a:off x="331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31754" name="Oval 10"/>
            <p:cNvSpPr>
              <a:spLocks noChangeArrowheads="1"/>
            </p:cNvSpPr>
            <p:nvPr/>
          </p:nvSpPr>
          <p:spPr bwMode="auto">
            <a:xfrm>
              <a:off x="1872" y="177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grpSp>
      <p:grpSp>
        <p:nvGrpSpPr>
          <p:cNvPr id="4" name="Group 23"/>
          <p:cNvGrpSpPr>
            <a:grpSpLocks/>
          </p:cNvGrpSpPr>
          <p:nvPr/>
        </p:nvGrpSpPr>
        <p:grpSpPr bwMode="auto">
          <a:xfrm>
            <a:off x="609600" y="2633870"/>
            <a:ext cx="8153400" cy="2585554"/>
            <a:chOff x="384" y="1584"/>
            <a:chExt cx="5136" cy="1873"/>
          </a:xfrm>
        </p:grpSpPr>
        <p:sp>
          <p:nvSpPr>
            <p:cNvPr id="31763" name="Oval 19"/>
            <p:cNvSpPr>
              <a:spLocks noChangeArrowheads="1"/>
            </p:cNvSpPr>
            <p:nvPr/>
          </p:nvSpPr>
          <p:spPr bwMode="auto">
            <a:xfrm>
              <a:off x="384" y="1584"/>
              <a:ext cx="5136" cy="1440"/>
            </a:xfrm>
            <a:prstGeom prst="ellipse">
              <a:avLst/>
            </a:prstGeom>
            <a:noFill/>
            <a:ln w="9525">
              <a:solidFill>
                <a:schemeClr val="tx1"/>
              </a:solidFill>
              <a:round/>
              <a:headEnd/>
              <a:tailEnd/>
            </a:ln>
            <a:effectLst/>
          </p:spPr>
          <p:txBody>
            <a:bodyPr wrap="none" anchor="ctr"/>
            <a:lstStyle/>
            <a:p>
              <a:endParaRPr lang="en-US" sz="1565"/>
            </a:p>
          </p:txBody>
        </p:sp>
        <p:sp>
          <p:nvSpPr>
            <p:cNvPr id="31764" name="Text Box 20"/>
            <p:cNvSpPr txBox="1">
              <a:spLocks noChangeArrowheads="1"/>
            </p:cNvSpPr>
            <p:nvPr/>
          </p:nvSpPr>
          <p:spPr bwMode="auto">
            <a:xfrm>
              <a:off x="2352" y="3216"/>
              <a:ext cx="521" cy="241"/>
            </a:xfrm>
            <a:prstGeom prst="rect">
              <a:avLst/>
            </a:prstGeom>
            <a:noFill/>
            <a:ln w="9525">
              <a:noFill/>
              <a:miter lim="800000"/>
              <a:headEnd/>
              <a:tailEnd/>
            </a:ln>
            <a:effectLst/>
          </p:spPr>
          <p:txBody>
            <a:bodyPr wrap="none">
              <a:spAutoFit/>
            </a:bodyPr>
            <a:lstStyle/>
            <a:p>
              <a:r>
                <a:rPr lang="en-US" sz="1565"/>
                <a:t>For E</a:t>
              </a:r>
              <a:r>
                <a:rPr lang="en-US" sz="1565" baseline="-25000"/>
                <a:t>1</a:t>
              </a:r>
              <a:r>
                <a:rPr lang="en-US" sz="1565"/>
                <a:t>E</a:t>
              </a:r>
              <a:r>
                <a:rPr lang="en-US" sz="1565" baseline="-25000"/>
                <a:t>2</a:t>
              </a:r>
            </a:p>
          </p:txBody>
        </p:sp>
      </p:grpSp>
      <p:grpSp>
        <p:nvGrpSpPr>
          <p:cNvPr id="5" name="Group 26"/>
          <p:cNvGrpSpPr>
            <a:grpSpLocks/>
          </p:cNvGrpSpPr>
          <p:nvPr/>
        </p:nvGrpSpPr>
        <p:grpSpPr bwMode="auto">
          <a:xfrm>
            <a:off x="3733800" y="3230218"/>
            <a:ext cx="1828800" cy="397565"/>
            <a:chOff x="2352" y="2016"/>
            <a:chExt cx="1152" cy="288"/>
          </a:xfrm>
        </p:grpSpPr>
        <p:sp>
          <p:nvSpPr>
            <p:cNvPr id="31765" name="Line 21"/>
            <p:cNvSpPr>
              <a:spLocks noChangeShapeType="1"/>
            </p:cNvSpPr>
            <p:nvPr/>
          </p:nvSpPr>
          <p:spPr bwMode="auto">
            <a:xfrm>
              <a:off x="2352" y="2304"/>
              <a:ext cx="1152" cy="0"/>
            </a:xfrm>
            <a:prstGeom prst="line">
              <a:avLst/>
            </a:prstGeom>
            <a:noFill/>
            <a:ln w="9525">
              <a:solidFill>
                <a:schemeClr val="tx1"/>
              </a:solidFill>
              <a:round/>
              <a:headEnd/>
              <a:tailEnd type="triangle" w="med" len="med"/>
            </a:ln>
            <a:effectLst/>
          </p:spPr>
          <p:txBody>
            <a:bodyPr/>
            <a:lstStyle/>
            <a:p>
              <a:endParaRPr lang="en-US" sz="1565"/>
            </a:p>
          </p:txBody>
        </p:sp>
        <p:sp>
          <p:nvSpPr>
            <p:cNvPr id="31768" name="Text Box 24"/>
            <p:cNvSpPr txBox="1">
              <a:spLocks noChangeArrowheads="1"/>
            </p:cNvSpPr>
            <p:nvPr/>
          </p:nvSpPr>
          <p:spPr bwMode="auto">
            <a:xfrm>
              <a:off x="2832" y="2016"/>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grpSp>
      <p:sp>
        <p:nvSpPr>
          <p:cNvPr id="19"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 to </a:t>
            </a:r>
            <a:r>
              <a:rPr lang="en-US" sz="2783" dirty="0">
                <a:latin typeface="Lucida Sans Unicode" pitchFamily="34" charset="0"/>
              </a:rPr>
              <a:t>ε</a:t>
            </a:r>
            <a:r>
              <a:rPr lang="en-US" sz="2783" dirty="0"/>
              <a:t>-NFA: </a:t>
            </a:r>
            <a:r>
              <a:rPr lang="en-US" sz="2783" dirty="0">
                <a:solidFill>
                  <a:srgbClr val="3366FF"/>
                </a:solidFill>
              </a:rPr>
              <a:t>Induction 2</a:t>
            </a:r>
            <a:r>
              <a:rPr lang="en-US" sz="2783" dirty="0"/>
              <a:t> – Concatenation</a:t>
            </a:r>
          </a:p>
        </p:txBody>
      </p:sp>
      <p:sp>
        <p:nvSpPr>
          <p:cNvPr id="6" name="Date Placeholder 5"/>
          <p:cNvSpPr>
            <a:spLocks noGrp="1"/>
          </p:cNvSpPr>
          <p:nvPr>
            <p:ph type="dt" sz="half" idx="10"/>
          </p:nvPr>
        </p:nvSpPr>
        <p:spPr/>
        <p:txBody>
          <a:bodyPr/>
          <a:lstStyle/>
          <a:p>
            <a:fld id="{DDEE87B1-B693-4805-8E29-03E1738BFA67}" type="datetime1">
              <a:rPr lang="en-US" smtClean="0"/>
              <a:t>3/16/2026</a:t>
            </a:fld>
            <a:endParaRPr lang="en-US"/>
          </a:p>
        </p:txBody>
      </p:sp>
      <p:sp>
        <p:nvSpPr>
          <p:cNvPr id="7" name="Footer Placeholder 6"/>
          <p:cNvSpPr>
            <a:spLocks noGrp="1"/>
          </p:cNvSpPr>
          <p:nvPr>
            <p:ph type="ftr" sz="quarter" idx="11"/>
          </p:nvPr>
        </p:nvSpPr>
        <p:spPr/>
        <p:txBody>
          <a:bodyPr/>
          <a:lstStyle/>
          <a:p>
            <a:r>
              <a:rPr lang="en-US" smtClean="0"/>
              <a:t>Vivek Kumar Sharma     BCSE0404(TAFL) (Unit II</a:t>
            </a:r>
            <a:endParaRPr lang="en-US" dirty="0"/>
          </a:p>
        </p:txBody>
      </p:sp>
    </p:spTree>
    <p:extLst>
      <p:ext uri="{BB962C8B-B14F-4D97-AF65-F5344CB8AC3E}">
        <p14:creationId xmlns:p14="http://schemas.microsoft.com/office/powerpoint/2010/main" val="563096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4"/>
          <p:cNvSpPr>
            <a:spLocks noGrp="1"/>
          </p:cNvSpPr>
          <p:nvPr>
            <p:ph type="sldNum" sz="quarter" idx="12"/>
          </p:nvPr>
        </p:nvSpPr>
        <p:spPr/>
        <p:txBody>
          <a:bodyPr/>
          <a:lstStyle/>
          <a:p>
            <a:fld id="{5EDB845F-8F80-4209-9E74-E5611B052AC6}" type="slidenum">
              <a:rPr lang="en-US"/>
              <a:pPr/>
              <a:t>44</a:t>
            </a:fld>
            <a:endParaRPr lang="en-US"/>
          </a:p>
        </p:txBody>
      </p:sp>
      <p:grpSp>
        <p:nvGrpSpPr>
          <p:cNvPr id="2" name="Group 22"/>
          <p:cNvGrpSpPr>
            <a:grpSpLocks/>
          </p:cNvGrpSpPr>
          <p:nvPr/>
        </p:nvGrpSpPr>
        <p:grpSpPr bwMode="auto">
          <a:xfrm>
            <a:off x="2667000" y="2832652"/>
            <a:ext cx="2971800" cy="1192696"/>
            <a:chOff x="1680" y="1728"/>
            <a:chExt cx="1872" cy="864"/>
          </a:xfrm>
        </p:grpSpPr>
        <p:sp>
          <p:nvSpPr>
            <p:cNvPr id="33796" name="Oval 4"/>
            <p:cNvSpPr>
              <a:spLocks noChangeArrowheads="1"/>
            </p:cNvSpPr>
            <p:nvPr/>
          </p:nvSpPr>
          <p:spPr bwMode="auto">
            <a:xfrm>
              <a:off x="1680" y="1728"/>
              <a:ext cx="1872" cy="864"/>
            </a:xfrm>
            <a:prstGeom prst="ellipse">
              <a:avLst/>
            </a:prstGeom>
            <a:solidFill>
              <a:schemeClr val="accent1">
                <a:alpha val="50000"/>
              </a:schemeClr>
            </a:solidFill>
            <a:ln w="9525">
              <a:solidFill>
                <a:schemeClr val="tx1"/>
              </a:solidFill>
              <a:round/>
              <a:headEnd/>
              <a:tailEnd/>
            </a:ln>
            <a:effectLst/>
          </p:spPr>
          <p:txBody>
            <a:bodyPr wrap="none" anchor="ctr"/>
            <a:lstStyle/>
            <a:p>
              <a:pPr algn="ctr"/>
              <a:r>
                <a:rPr lang="en-US" sz="1565"/>
                <a:t>For E</a:t>
              </a:r>
              <a:endParaRPr lang="en-US" sz="1565" baseline="-25000"/>
            </a:p>
          </p:txBody>
        </p:sp>
        <p:sp>
          <p:nvSpPr>
            <p:cNvPr id="33797" name="Oval 5"/>
            <p:cNvSpPr>
              <a:spLocks noChangeArrowheads="1"/>
            </p:cNvSpPr>
            <p:nvPr/>
          </p:nvSpPr>
          <p:spPr bwMode="auto">
            <a:xfrm>
              <a:off x="3168" y="201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33798" name="Oval 6"/>
            <p:cNvSpPr>
              <a:spLocks noChangeArrowheads="1"/>
            </p:cNvSpPr>
            <p:nvPr/>
          </p:nvSpPr>
          <p:spPr bwMode="auto">
            <a:xfrm>
              <a:off x="1728" y="201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grpSp>
      <p:grpSp>
        <p:nvGrpSpPr>
          <p:cNvPr id="3" name="Group 27"/>
          <p:cNvGrpSpPr>
            <a:grpSpLocks/>
          </p:cNvGrpSpPr>
          <p:nvPr/>
        </p:nvGrpSpPr>
        <p:grpSpPr bwMode="auto">
          <a:xfrm>
            <a:off x="609600" y="1905000"/>
            <a:ext cx="7086600" cy="3711989"/>
            <a:chOff x="384" y="1056"/>
            <a:chExt cx="4464" cy="2689"/>
          </a:xfrm>
        </p:grpSpPr>
        <p:sp>
          <p:nvSpPr>
            <p:cNvPr id="33804" name="Oval 12"/>
            <p:cNvSpPr>
              <a:spLocks noChangeArrowheads="1"/>
            </p:cNvSpPr>
            <p:nvPr/>
          </p:nvSpPr>
          <p:spPr bwMode="auto">
            <a:xfrm>
              <a:off x="384" y="1056"/>
              <a:ext cx="4464" cy="2160"/>
            </a:xfrm>
            <a:prstGeom prst="ellipse">
              <a:avLst/>
            </a:prstGeom>
            <a:noFill/>
            <a:ln w="9525">
              <a:solidFill>
                <a:schemeClr val="tx1"/>
              </a:solidFill>
              <a:round/>
              <a:headEnd/>
              <a:tailEnd/>
            </a:ln>
            <a:effectLst/>
          </p:spPr>
          <p:txBody>
            <a:bodyPr wrap="none" anchor="ctr"/>
            <a:lstStyle/>
            <a:p>
              <a:endParaRPr lang="en-US" sz="1565"/>
            </a:p>
          </p:txBody>
        </p:sp>
        <p:sp>
          <p:nvSpPr>
            <p:cNvPr id="33805" name="Text Box 13"/>
            <p:cNvSpPr txBox="1">
              <a:spLocks noChangeArrowheads="1"/>
            </p:cNvSpPr>
            <p:nvPr/>
          </p:nvSpPr>
          <p:spPr bwMode="auto">
            <a:xfrm>
              <a:off x="2256" y="3504"/>
              <a:ext cx="437" cy="241"/>
            </a:xfrm>
            <a:prstGeom prst="rect">
              <a:avLst/>
            </a:prstGeom>
            <a:noFill/>
            <a:ln w="9525">
              <a:noFill/>
              <a:miter lim="800000"/>
              <a:headEnd/>
              <a:tailEnd/>
            </a:ln>
            <a:effectLst/>
          </p:spPr>
          <p:txBody>
            <a:bodyPr wrap="none">
              <a:spAutoFit/>
            </a:bodyPr>
            <a:lstStyle/>
            <a:p>
              <a:r>
                <a:rPr lang="en-US" sz="1565"/>
                <a:t>For E*</a:t>
              </a:r>
              <a:endParaRPr lang="en-US" sz="1565" baseline="-25000"/>
            </a:p>
          </p:txBody>
        </p:sp>
      </p:grpSp>
      <p:grpSp>
        <p:nvGrpSpPr>
          <p:cNvPr id="4" name="Group 26"/>
          <p:cNvGrpSpPr>
            <a:grpSpLocks/>
          </p:cNvGrpSpPr>
          <p:nvPr/>
        </p:nvGrpSpPr>
        <p:grpSpPr bwMode="auto">
          <a:xfrm>
            <a:off x="990600" y="1971262"/>
            <a:ext cx="6096000" cy="2784336"/>
            <a:chOff x="624" y="1104"/>
            <a:chExt cx="3840" cy="2017"/>
          </a:xfrm>
        </p:grpSpPr>
        <p:sp>
          <p:nvSpPr>
            <p:cNvPr id="33801" name="Oval 9"/>
            <p:cNvSpPr>
              <a:spLocks noChangeArrowheads="1"/>
            </p:cNvSpPr>
            <p:nvPr/>
          </p:nvSpPr>
          <p:spPr bwMode="auto">
            <a:xfrm>
              <a:off x="4176" y="201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33802" name="Oval 10"/>
            <p:cNvSpPr>
              <a:spLocks noChangeArrowheads="1"/>
            </p:cNvSpPr>
            <p:nvPr/>
          </p:nvSpPr>
          <p:spPr bwMode="auto">
            <a:xfrm>
              <a:off x="624" y="2016"/>
              <a:ext cx="288" cy="288"/>
            </a:xfrm>
            <a:prstGeom prst="ellipse">
              <a:avLst/>
            </a:prstGeom>
            <a:solidFill>
              <a:srgbClr val="FFFF99">
                <a:alpha val="50000"/>
              </a:srgbClr>
            </a:solidFill>
            <a:ln w="9525">
              <a:solidFill>
                <a:schemeClr val="tx1"/>
              </a:solidFill>
              <a:round/>
              <a:headEnd/>
              <a:tailEnd/>
            </a:ln>
            <a:effectLst/>
          </p:spPr>
          <p:txBody>
            <a:bodyPr wrap="none" anchor="ctr"/>
            <a:lstStyle/>
            <a:p>
              <a:endParaRPr lang="en-US" sz="1565"/>
            </a:p>
          </p:txBody>
        </p:sp>
        <p:sp>
          <p:nvSpPr>
            <p:cNvPr id="33807" name="Line 15"/>
            <p:cNvSpPr>
              <a:spLocks noChangeShapeType="1"/>
            </p:cNvSpPr>
            <p:nvPr/>
          </p:nvSpPr>
          <p:spPr bwMode="auto">
            <a:xfrm>
              <a:off x="912" y="2160"/>
              <a:ext cx="768" cy="0"/>
            </a:xfrm>
            <a:prstGeom prst="line">
              <a:avLst/>
            </a:prstGeom>
            <a:noFill/>
            <a:ln w="9525">
              <a:solidFill>
                <a:schemeClr val="tx1"/>
              </a:solidFill>
              <a:round/>
              <a:headEnd/>
              <a:tailEnd type="triangle" w="med" len="med"/>
            </a:ln>
            <a:effectLst/>
          </p:spPr>
          <p:txBody>
            <a:bodyPr/>
            <a:lstStyle/>
            <a:p>
              <a:endParaRPr lang="en-US" sz="1565"/>
            </a:p>
          </p:txBody>
        </p:sp>
        <p:sp>
          <p:nvSpPr>
            <p:cNvPr id="33808" name="Line 16"/>
            <p:cNvSpPr>
              <a:spLocks noChangeShapeType="1"/>
            </p:cNvSpPr>
            <p:nvPr/>
          </p:nvSpPr>
          <p:spPr bwMode="auto">
            <a:xfrm>
              <a:off x="3456" y="2160"/>
              <a:ext cx="720" cy="0"/>
            </a:xfrm>
            <a:prstGeom prst="line">
              <a:avLst/>
            </a:prstGeom>
            <a:noFill/>
            <a:ln w="9525">
              <a:solidFill>
                <a:schemeClr val="tx1"/>
              </a:solidFill>
              <a:round/>
              <a:headEnd/>
              <a:tailEnd type="triangle" w="med" len="med"/>
            </a:ln>
            <a:effectLst/>
          </p:spPr>
          <p:txBody>
            <a:bodyPr/>
            <a:lstStyle/>
            <a:p>
              <a:endParaRPr lang="en-US" sz="1565"/>
            </a:p>
          </p:txBody>
        </p:sp>
        <p:cxnSp>
          <p:nvCxnSpPr>
            <p:cNvPr id="33810" name="AutoShape 18"/>
            <p:cNvCxnSpPr>
              <a:cxnSpLocks noChangeShapeType="1"/>
            </p:cNvCxnSpPr>
            <p:nvPr/>
          </p:nvCxnSpPr>
          <p:spPr bwMode="auto">
            <a:xfrm rot="16200000" flipH="1" flipV="1">
              <a:off x="2543" y="1297"/>
              <a:ext cx="1" cy="1440"/>
            </a:xfrm>
            <a:prstGeom prst="curvedConnector3">
              <a:avLst>
                <a:gd name="adj1" fmla="val -63900005"/>
              </a:avLst>
            </a:prstGeom>
            <a:noFill/>
            <a:ln w="9525">
              <a:solidFill>
                <a:schemeClr val="tx1"/>
              </a:solidFill>
              <a:round/>
              <a:headEnd/>
              <a:tailEnd type="triangle" w="med" len="med"/>
            </a:ln>
            <a:effectLst/>
          </p:spPr>
        </p:cxnSp>
        <p:cxnSp>
          <p:nvCxnSpPr>
            <p:cNvPr id="33811" name="AutoShape 19"/>
            <p:cNvCxnSpPr>
              <a:cxnSpLocks noChangeShapeType="1"/>
            </p:cNvCxnSpPr>
            <p:nvPr/>
          </p:nvCxnSpPr>
          <p:spPr bwMode="auto">
            <a:xfrm rot="16200000" flipH="1">
              <a:off x="2543" y="529"/>
              <a:ext cx="1" cy="3552"/>
            </a:xfrm>
            <a:prstGeom prst="curvedConnector3">
              <a:avLst>
                <a:gd name="adj1" fmla="val 54899995"/>
              </a:avLst>
            </a:prstGeom>
            <a:noFill/>
            <a:ln w="9525">
              <a:solidFill>
                <a:schemeClr val="tx1"/>
              </a:solidFill>
              <a:round/>
              <a:headEnd/>
              <a:tailEnd type="triangle" w="med" len="med"/>
            </a:ln>
            <a:effectLst/>
          </p:spPr>
        </p:cxnSp>
        <p:sp>
          <p:nvSpPr>
            <p:cNvPr id="33812" name="Text Box 20"/>
            <p:cNvSpPr txBox="1">
              <a:spLocks noChangeArrowheads="1"/>
            </p:cNvSpPr>
            <p:nvPr/>
          </p:nvSpPr>
          <p:spPr bwMode="auto">
            <a:xfrm>
              <a:off x="2496" y="1104"/>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sp>
          <p:nvSpPr>
            <p:cNvPr id="33813" name="Text Box 21"/>
            <p:cNvSpPr txBox="1">
              <a:spLocks noChangeArrowheads="1"/>
            </p:cNvSpPr>
            <p:nvPr/>
          </p:nvSpPr>
          <p:spPr bwMode="auto">
            <a:xfrm>
              <a:off x="2544" y="2880"/>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sp>
          <p:nvSpPr>
            <p:cNvPr id="33816" name="Text Box 24"/>
            <p:cNvSpPr txBox="1">
              <a:spLocks noChangeArrowheads="1"/>
            </p:cNvSpPr>
            <p:nvPr/>
          </p:nvSpPr>
          <p:spPr bwMode="auto">
            <a:xfrm>
              <a:off x="3696" y="1872"/>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sp>
          <p:nvSpPr>
            <p:cNvPr id="33817" name="Text Box 25"/>
            <p:cNvSpPr txBox="1">
              <a:spLocks noChangeArrowheads="1"/>
            </p:cNvSpPr>
            <p:nvPr/>
          </p:nvSpPr>
          <p:spPr bwMode="auto">
            <a:xfrm>
              <a:off x="1152" y="1872"/>
              <a:ext cx="183" cy="241"/>
            </a:xfrm>
            <a:prstGeom prst="rect">
              <a:avLst/>
            </a:prstGeom>
            <a:noFill/>
            <a:ln w="9525">
              <a:noFill/>
              <a:miter lim="800000"/>
              <a:headEnd/>
              <a:tailEnd/>
            </a:ln>
            <a:effectLst/>
          </p:spPr>
          <p:txBody>
            <a:bodyPr wrap="none">
              <a:spAutoFit/>
            </a:bodyPr>
            <a:lstStyle/>
            <a:p>
              <a:r>
                <a:rPr lang="en-US" sz="1565">
                  <a:solidFill>
                    <a:schemeClr val="tx2"/>
                  </a:solidFill>
                  <a:latin typeface="Lucida Sans Unicode" pitchFamily="34" charset="0"/>
                </a:rPr>
                <a:t>ε</a:t>
              </a:r>
            </a:p>
          </p:txBody>
        </p:sp>
      </p:grpSp>
      <p:sp>
        <p:nvSpPr>
          <p:cNvPr id="23"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 to </a:t>
            </a:r>
            <a:r>
              <a:rPr lang="en-US" sz="2783" dirty="0">
                <a:latin typeface="Lucida Sans Unicode" pitchFamily="34" charset="0"/>
              </a:rPr>
              <a:t>ε</a:t>
            </a:r>
            <a:r>
              <a:rPr lang="en-US" sz="2783" dirty="0"/>
              <a:t>-NFA: </a:t>
            </a:r>
            <a:r>
              <a:rPr lang="en-US" sz="2783" dirty="0">
                <a:solidFill>
                  <a:srgbClr val="3366FF"/>
                </a:solidFill>
              </a:rPr>
              <a:t>Induction 3</a:t>
            </a:r>
            <a:r>
              <a:rPr lang="en-US" sz="2783" dirty="0"/>
              <a:t> – Closure</a:t>
            </a:r>
          </a:p>
        </p:txBody>
      </p:sp>
      <p:sp>
        <p:nvSpPr>
          <p:cNvPr id="5" name="Date Placeholder 4"/>
          <p:cNvSpPr>
            <a:spLocks noGrp="1"/>
          </p:cNvSpPr>
          <p:nvPr>
            <p:ph type="dt" sz="half" idx="10"/>
          </p:nvPr>
        </p:nvSpPr>
        <p:spPr/>
        <p:txBody>
          <a:bodyPr/>
          <a:lstStyle/>
          <a:p>
            <a:fld id="{F5FA2015-B7AD-4BA4-9225-2E0A98DAC016}" type="datetime1">
              <a:rPr lang="en-US" smtClean="0"/>
              <a:t>3/16/2026</a:t>
            </a:fld>
            <a:endParaRPr lang="en-US"/>
          </a:p>
        </p:txBody>
      </p:sp>
      <p:sp>
        <p:nvSpPr>
          <p:cNvPr id="6" name="Footer Placeholder 5"/>
          <p:cNvSpPr>
            <a:spLocks noGrp="1"/>
          </p:cNvSpPr>
          <p:nvPr>
            <p:ph type="ftr" sz="quarter" idx="11"/>
          </p:nvPr>
        </p:nvSpPr>
        <p:spPr/>
        <p:txBody>
          <a:bodyPr/>
          <a:lstStyle/>
          <a:p>
            <a:r>
              <a:rPr lang="en-US" smtClean="0"/>
              <a:t>Vivek Kumar Sharma     BCSE0404(TAFL) (Unit II</a:t>
            </a:r>
            <a:endParaRPr lang="en-US" dirty="0"/>
          </a:p>
        </p:txBody>
      </p:sp>
    </p:spTree>
    <p:extLst>
      <p:ext uri="{BB962C8B-B14F-4D97-AF65-F5344CB8AC3E}">
        <p14:creationId xmlns:p14="http://schemas.microsoft.com/office/powerpoint/2010/main" val="390799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4"/>
          <p:cNvSpPr>
            <a:spLocks noGrp="1"/>
          </p:cNvSpPr>
          <p:nvPr>
            <p:ph type="sldNum" sz="quarter" idx="12"/>
          </p:nvPr>
        </p:nvSpPr>
        <p:spPr/>
        <p:txBody>
          <a:bodyPr/>
          <a:lstStyle/>
          <a:p>
            <a:fld id="{0019B84F-BC69-4809-AD9B-6DFA85293D42}" type="slidenum">
              <a:rPr lang="en-US"/>
              <a:pPr/>
              <a:t>45</a:t>
            </a:fld>
            <a:endParaRPr lang="en-US"/>
          </a:p>
        </p:txBody>
      </p:sp>
      <p:sp>
        <p:nvSpPr>
          <p:cNvPr id="25"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Example of RE to NFA</a:t>
            </a:r>
          </a:p>
        </p:txBody>
      </p:sp>
      <p:sp>
        <p:nvSpPr>
          <p:cNvPr id="73738" name="Rectangle 10"/>
          <p:cNvSpPr>
            <a:spLocks noChangeArrowheads="1"/>
          </p:cNvSpPr>
          <p:nvPr/>
        </p:nvSpPr>
        <p:spPr bwMode="auto">
          <a:xfrm>
            <a:off x="1066804" y="3694024"/>
            <a:ext cx="606214" cy="1605836"/>
          </a:xfrm>
          <a:prstGeom prst="rect">
            <a:avLst/>
          </a:prstGeom>
          <a:solidFill>
            <a:srgbClr val="FFFFFF"/>
          </a:solid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fontAlgn="base">
              <a:spcBef>
                <a:spcPct val="0"/>
              </a:spcBef>
              <a:spcAft>
                <a:spcPct val="0"/>
              </a:spcAft>
            </a:pPr>
            <a:r>
              <a:rPr lang="en-US" sz="4174" dirty="0">
                <a:latin typeface="Arial" pitchFamily="34" charset="0"/>
                <a:cs typeface="Arial" pitchFamily="34" charset="0"/>
              </a:rPr>
              <a:t/>
            </a:r>
            <a:br>
              <a:rPr lang="en-US" sz="4174" dirty="0">
                <a:latin typeface="Arial" pitchFamily="34" charset="0"/>
                <a:cs typeface="Arial" pitchFamily="34" charset="0"/>
              </a:rPr>
            </a:br>
            <a:endParaRPr lang="en-US" sz="1565" dirty="0">
              <a:latin typeface="Arial" pitchFamily="34" charset="0"/>
              <a:cs typeface="Arial" pitchFamily="34" charset="0"/>
            </a:endParaRPr>
          </a:p>
          <a:p>
            <a:pPr defTabSz="795162" eaLnBrk="0" fontAlgn="base" hangingPunct="0">
              <a:spcBef>
                <a:spcPct val="0"/>
              </a:spcBef>
              <a:spcAft>
                <a:spcPct val="0"/>
              </a:spcAft>
            </a:pPr>
            <a:r>
              <a:rPr lang="en-US" sz="1044" b="1" dirty="0">
                <a:solidFill>
                  <a:srgbClr val="333333"/>
                </a:solidFill>
                <a:latin typeface="inter-bold"/>
                <a:cs typeface="Arial" pitchFamily="34" charset="0"/>
              </a:rPr>
              <a:t>Step 2:</a:t>
            </a:r>
            <a:endParaRPr lang="en-US" sz="696" dirty="0">
              <a:latin typeface="Arial" pitchFamily="34" charset="0"/>
              <a:cs typeface="Arial" pitchFamily="34" charset="0"/>
            </a:endParaRPr>
          </a:p>
          <a:p>
            <a:pPr defTabSz="795162" eaLnBrk="0" fontAlgn="base" hangingPunct="0">
              <a:spcBef>
                <a:spcPct val="0"/>
              </a:spcBef>
              <a:spcAft>
                <a:spcPct val="0"/>
              </a:spcAft>
            </a:pPr>
            <a:r>
              <a:rPr lang="en-US" sz="1565" dirty="0">
                <a:latin typeface="Arial" pitchFamily="34" charset="0"/>
                <a:cs typeface="Arial" pitchFamily="34" charset="0"/>
              </a:rPr>
              <a:t>  </a:t>
            </a:r>
            <a:r>
              <a:rPr lang="en-US" sz="9392" dirty="0">
                <a:latin typeface="Arial" pitchFamily="34" charset="0"/>
                <a:cs typeface="Arial" pitchFamily="34" charset="0"/>
              </a:rPr>
              <a:t/>
            </a:r>
            <a:br>
              <a:rPr lang="en-US" sz="9392" dirty="0">
                <a:latin typeface="Arial" pitchFamily="34" charset="0"/>
                <a:cs typeface="Arial" pitchFamily="34" charset="0"/>
              </a:rPr>
            </a:br>
            <a:endParaRPr lang="en-US" sz="1565" dirty="0">
              <a:latin typeface="Arial" pitchFamily="34" charset="0"/>
              <a:cs typeface="Arial" pitchFamily="34" charset="0"/>
            </a:endParaRPr>
          </a:p>
        </p:txBody>
      </p:sp>
      <p:pic>
        <p:nvPicPr>
          <p:cNvPr id="73739" name="Picture 11" descr="Conversion of RE to FA"/>
          <p:cNvPicPr>
            <a:picLocks noChangeAspect="1" noChangeArrowheads="1"/>
          </p:cNvPicPr>
          <p:nvPr/>
        </p:nvPicPr>
        <p:blipFill>
          <a:blip r:embed="rId3"/>
          <a:srcRect/>
          <a:stretch>
            <a:fillRect/>
          </a:stretch>
        </p:blipFill>
        <p:spPr bwMode="auto">
          <a:xfrm>
            <a:off x="2196340" y="3031437"/>
            <a:ext cx="2876551" cy="662610"/>
          </a:xfrm>
          <a:prstGeom prst="rect">
            <a:avLst/>
          </a:prstGeom>
          <a:noFill/>
        </p:spPr>
      </p:pic>
      <p:pic>
        <p:nvPicPr>
          <p:cNvPr id="73740" name="Picture 12" descr="Conversion of RE to FA"/>
          <p:cNvPicPr>
            <a:picLocks noChangeAspect="1" noChangeArrowheads="1"/>
          </p:cNvPicPr>
          <p:nvPr/>
        </p:nvPicPr>
        <p:blipFill>
          <a:blip r:embed="rId4"/>
          <a:srcRect/>
          <a:stretch>
            <a:fillRect/>
          </a:stretch>
        </p:blipFill>
        <p:spPr bwMode="auto">
          <a:xfrm>
            <a:off x="1784764" y="3992217"/>
            <a:ext cx="3495676" cy="1490870"/>
          </a:xfrm>
          <a:prstGeom prst="rect">
            <a:avLst/>
          </a:prstGeom>
          <a:noFill/>
        </p:spPr>
      </p:pic>
      <p:sp>
        <p:nvSpPr>
          <p:cNvPr id="38" name="Rectangle 37"/>
          <p:cNvSpPr/>
          <p:nvPr/>
        </p:nvSpPr>
        <p:spPr>
          <a:xfrm>
            <a:off x="533400" y="1308655"/>
            <a:ext cx="7239000" cy="1055866"/>
          </a:xfrm>
          <a:prstGeom prst="rect">
            <a:avLst/>
          </a:prstGeom>
        </p:spPr>
        <p:txBody>
          <a:bodyPr wrap="square">
            <a:spAutoFit/>
          </a:bodyPr>
          <a:lstStyle/>
          <a:p>
            <a:pPr lvl="0" algn="just" fontAlgn="base">
              <a:spcBef>
                <a:spcPct val="0"/>
              </a:spcBef>
              <a:spcAft>
                <a:spcPct val="0"/>
              </a:spcAft>
            </a:pPr>
            <a:r>
              <a:rPr lang="en-US" sz="2087" dirty="0">
                <a:solidFill>
                  <a:srgbClr val="333333"/>
                </a:solidFill>
                <a:cs typeface="Arial" pitchFamily="34" charset="0"/>
              </a:rPr>
              <a:t>Design a FA from given regular expression 10 + (0 + 11)0* 1.</a:t>
            </a:r>
            <a:endParaRPr lang="en-US" sz="1044" dirty="0">
              <a:cs typeface="Arial" pitchFamily="34" charset="0"/>
            </a:endParaRPr>
          </a:p>
          <a:p>
            <a:pPr lvl="0" algn="just" eaLnBrk="0" fontAlgn="base" hangingPunct="0">
              <a:spcBef>
                <a:spcPct val="0"/>
              </a:spcBef>
              <a:spcAft>
                <a:spcPct val="0"/>
              </a:spcAft>
            </a:pPr>
            <a:r>
              <a:rPr lang="en-US" sz="2087" b="1" dirty="0">
                <a:solidFill>
                  <a:srgbClr val="333333"/>
                </a:solidFill>
                <a:cs typeface="Arial" pitchFamily="34" charset="0"/>
              </a:rPr>
              <a:t>Solution:</a:t>
            </a:r>
            <a:r>
              <a:rPr lang="en-US" sz="2087" dirty="0">
                <a:solidFill>
                  <a:srgbClr val="333333"/>
                </a:solidFill>
                <a:cs typeface="Arial" pitchFamily="34" charset="0"/>
              </a:rPr>
              <a:t> First we will construct the transition diagram for a given regular expression</a:t>
            </a:r>
            <a:r>
              <a:rPr lang="en-US" sz="1739" dirty="0">
                <a:solidFill>
                  <a:srgbClr val="333333"/>
                </a:solidFill>
                <a:latin typeface="inter-regular"/>
                <a:cs typeface="Arial" pitchFamily="34" charset="0"/>
              </a:rPr>
              <a:t>.</a:t>
            </a:r>
            <a:endParaRPr lang="en-US" sz="957" dirty="0">
              <a:latin typeface="Arial" pitchFamily="34" charset="0"/>
              <a:cs typeface="Arial" pitchFamily="34" charset="0"/>
            </a:endParaRPr>
          </a:p>
        </p:txBody>
      </p:sp>
      <p:sp>
        <p:nvSpPr>
          <p:cNvPr id="2" name="Date Placeholder 1"/>
          <p:cNvSpPr>
            <a:spLocks noGrp="1"/>
          </p:cNvSpPr>
          <p:nvPr>
            <p:ph type="dt" sz="half" idx="10"/>
          </p:nvPr>
        </p:nvSpPr>
        <p:spPr/>
        <p:txBody>
          <a:bodyPr/>
          <a:lstStyle/>
          <a:p>
            <a:fld id="{124E805A-0262-4292-87AD-A1AA6BCCFE1D}" type="datetime1">
              <a:rPr lang="en-US" smtClean="0"/>
              <a:t>3/16/2026</a:t>
            </a:fld>
            <a:endParaRPr lang="en-US"/>
          </a:p>
        </p:txBody>
      </p:sp>
      <p:sp>
        <p:nvSpPr>
          <p:cNvPr id="3" name="Footer Placeholder 2"/>
          <p:cNvSpPr>
            <a:spLocks noGrp="1"/>
          </p:cNvSpPr>
          <p:nvPr>
            <p:ph type="ftr" sz="quarter" idx="11"/>
          </p:nvPr>
        </p:nvSpPr>
        <p:spPr/>
        <p:txBody>
          <a:bodyPr/>
          <a:lstStyle/>
          <a:p>
            <a:r>
              <a:rPr lang="en-US" smtClean="0"/>
              <a:t>Vivek Kumar Sharma     BCSE0404(TAFL) (Unit II</a:t>
            </a:r>
            <a:endParaRPr lang="en-US" dirty="0"/>
          </a:p>
        </p:txBody>
      </p:sp>
      <p:sp>
        <p:nvSpPr>
          <p:cNvPr id="12" name="Rectangle 10"/>
          <p:cNvSpPr>
            <a:spLocks noChangeArrowheads="1"/>
          </p:cNvSpPr>
          <p:nvPr/>
        </p:nvSpPr>
        <p:spPr bwMode="auto">
          <a:xfrm>
            <a:off x="1068284" y="2386405"/>
            <a:ext cx="606214" cy="1605836"/>
          </a:xfrm>
          <a:prstGeom prst="rect">
            <a:avLst/>
          </a:prstGeom>
          <a:solidFill>
            <a:srgbClr val="FFFFFF"/>
          </a:solid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fontAlgn="base">
              <a:spcBef>
                <a:spcPct val="0"/>
              </a:spcBef>
              <a:spcAft>
                <a:spcPct val="0"/>
              </a:spcAft>
            </a:pPr>
            <a:r>
              <a:rPr lang="en-US" sz="4174" dirty="0">
                <a:latin typeface="Arial" pitchFamily="34" charset="0"/>
                <a:cs typeface="Arial" pitchFamily="34" charset="0"/>
              </a:rPr>
              <a:t/>
            </a:r>
            <a:br>
              <a:rPr lang="en-US" sz="4174" dirty="0">
                <a:latin typeface="Arial" pitchFamily="34" charset="0"/>
                <a:cs typeface="Arial" pitchFamily="34" charset="0"/>
              </a:rPr>
            </a:br>
            <a:endParaRPr lang="en-US" sz="1565" dirty="0">
              <a:latin typeface="Arial" pitchFamily="34" charset="0"/>
              <a:cs typeface="Arial" pitchFamily="34" charset="0"/>
            </a:endParaRPr>
          </a:p>
          <a:p>
            <a:pPr defTabSz="795162" eaLnBrk="0" fontAlgn="base" hangingPunct="0">
              <a:spcBef>
                <a:spcPct val="0"/>
              </a:spcBef>
              <a:spcAft>
                <a:spcPct val="0"/>
              </a:spcAft>
            </a:pPr>
            <a:r>
              <a:rPr lang="en-US" sz="1044" b="1" dirty="0">
                <a:solidFill>
                  <a:srgbClr val="333333"/>
                </a:solidFill>
                <a:latin typeface="inter-bold"/>
                <a:cs typeface="Arial" pitchFamily="34" charset="0"/>
              </a:rPr>
              <a:t>Step 1:</a:t>
            </a:r>
            <a:endParaRPr lang="en-US" sz="696" dirty="0">
              <a:latin typeface="Arial" pitchFamily="34" charset="0"/>
              <a:cs typeface="Arial" pitchFamily="34" charset="0"/>
            </a:endParaRPr>
          </a:p>
          <a:p>
            <a:pPr defTabSz="795162" eaLnBrk="0" fontAlgn="base" hangingPunct="0">
              <a:spcBef>
                <a:spcPct val="0"/>
              </a:spcBef>
              <a:spcAft>
                <a:spcPct val="0"/>
              </a:spcAft>
            </a:pPr>
            <a:r>
              <a:rPr lang="en-US" sz="1565" dirty="0">
                <a:latin typeface="Arial" pitchFamily="34" charset="0"/>
                <a:cs typeface="Arial" pitchFamily="34" charset="0"/>
              </a:rPr>
              <a:t>  </a:t>
            </a:r>
            <a:r>
              <a:rPr lang="en-US" sz="9392" dirty="0">
                <a:latin typeface="Arial" pitchFamily="34" charset="0"/>
                <a:cs typeface="Arial" pitchFamily="34" charset="0"/>
              </a:rPr>
              <a:t/>
            </a:r>
            <a:br>
              <a:rPr lang="en-US" sz="9392" dirty="0">
                <a:latin typeface="Arial" pitchFamily="34" charset="0"/>
                <a:cs typeface="Arial" pitchFamily="34" charset="0"/>
              </a:rPr>
            </a:br>
            <a:endParaRPr lang="en-US" sz="1565" dirty="0">
              <a:latin typeface="Arial" pitchFamily="34" charset="0"/>
              <a:cs typeface="Arial" pitchFamily="34" charset="0"/>
            </a:endParaRPr>
          </a:p>
        </p:txBody>
      </p:sp>
    </p:spTree>
    <p:extLst>
      <p:ext uri="{BB962C8B-B14F-4D97-AF65-F5344CB8AC3E}">
        <p14:creationId xmlns:p14="http://schemas.microsoft.com/office/powerpoint/2010/main" val="185898991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4"/>
          <p:cNvSpPr>
            <a:spLocks noGrp="1"/>
          </p:cNvSpPr>
          <p:nvPr>
            <p:ph type="sldNum" sz="quarter" idx="12"/>
          </p:nvPr>
        </p:nvSpPr>
        <p:spPr/>
        <p:txBody>
          <a:bodyPr/>
          <a:lstStyle/>
          <a:p>
            <a:fld id="{0019B84F-BC69-4809-AD9B-6DFA85293D42}" type="slidenum">
              <a:rPr lang="en-US"/>
              <a:pPr/>
              <a:t>46</a:t>
            </a:fld>
            <a:endParaRPr lang="en-US"/>
          </a:p>
        </p:txBody>
      </p:sp>
      <p:sp>
        <p:nvSpPr>
          <p:cNvPr id="25"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Example of RE to NFA</a:t>
            </a:r>
          </a:p>
        </p:txBody>
      </p:sp>
      <p:sp>
        <p:nvSpPr>
          <p:cNvPr id="174081" name="Rectangle 1"/>
          <p:cNvSpPr>
            <a:spLocks noChangeArrowheads="1"/>
          </p:cNvSpPr>
          <p:nvPr/>
        </p:nvSpPr>
        <p:spPr bwMode="auto">
          <a:xfrm>
            <a:off x="1060174" y="1503624"/>
            <a:ext cx="878767" cy="4603580"/>
          </a:xfrm>
          <a:prstGeom prst="rect">
            <a:avLst/>
          </a:prstGeom>
          <a:solidFill>
            <a:srgbClr val="FFFFFF"/>
          </a:solidFill>
          <a:ln w="9525">
            <a:noFill/>
            <a:miter lim="800000"/>
            <a:headEnd/>
            <a:tailEnd/>
          </a:ln>
          <a:effectLst/>
        </p:spPr>
        <p:txBody>
          <a:bodyPr vert="horz" wrap="square" lIns="79513" tIns="39757" rIns="79513" bIns="39757" numCol="1" anchor="ctr" anchorCtr="0" compatLnSpc="1">
            <a:prstTxWarp prst="textNoShape">
              <a:avLst/>
            </a:prstTxWarp>
            <a:spAutoFit/>
          </a:bodyPr>
          <a:lstStyle/>
          <a:p>
            <a:pPr fontAlgn="base">
              <a:spcBef>
                <a:spcPct val="0"/>
              </a:spcBef>
              <a:spcAft>
                <a:spcPct val="0"/>
              </a:spcAft>
            </a:pPr>
            <a:r>
              <a:rPr lang="en-US" sz="1217" b="1" dirty="0">
                <a:solidFill>
                  <a:srgbClr val="333333"/>
                </a:solidFill>
                <a:latin typeface="inter-bold"/>
                <a:cs typeface="Arial" pitchFamily="34" charset="0"/>
              </a:rPr>
              <a:t>Step 3:</a:t>
            </a:r>
            <a:endParaRPr lang="en-US" sz="1217" dirty="0">
              <a:latin typeface="Arial" pitchFamily="34" charset="0"/>
              <a:cs typeface="Arial" pitchFamily="34" charset="0"/>
            </a:endParaRPr>
          </a:p>
          <a:p>
            <a:pPr defTabSz="795162" fontAlgn="base">
              <a:spcBef>
                <a:spcPct val="0"/>
              </a:spcBef>
              <a:spcAft>
                <a:spcPct val="0"/>
              </a:spcAft>
            </a:pPr>
            <a:r>
              <a:rPr lang="en-US" sz="11740" dirty="0">
                <a:latin typeface="Arial" pitchFamily="34" charset="0"/>
                <a:cs typeface="Arial" pitchFamily="34" charset="0"/>
              </a:rPr>
              <a:t/>
            </a:r>
            <a:br>
              <a:rPr lang="en-US" sz="11740" dirty="0">
                <a:latin typeface="Arial" pitchFamily="34" charset="0"/>
                <a:cs typeface="Arial" pitchFamily="34" charset="0"/>
              </a:rPr>
            </a:br>
            <a:endParaRPr lang="en-US" sz="1565" dirty="0">
              <a:latin typeface="Arial" pitchFamily="34" charset="0"/>
              <a:cs typeface="Arial" pitchFamily="34" charset="0"/>
            </a:endParaRPr>
          </a:p>
          <a:p>
            <a:pPr defTabSz="795162" eaLnBrk="0" fontAlgn="base" hangingPunct="0">
              <a:spcBef>
                <a:spcPct val="0"/>
              </a:spcBef>
              <a:spcAft>
                <a:spcPct val="0"/>
              </a:spcAft>
            </a:pPr>
            <a:r>
              <a:rPr lang="en-US" sz="1044" b="1" dirty="0">
                <a:solidFill>
                  <a:srgbClr val="333333"/>
                </a:solidFill>
                <a:latin typeface="inter-bold"/>
                <a:cs typeface="Arial" pitchFamily="34" charset="0"/>
              </a:rPr>
              <a:t>Step 4:</a:t>
            </a:r>
            <a:endParaRPr lang="en-US" sz="1565" dirty="0">
              <a:latin typeface="Arial" pitchFamily="34" charset="0"/>
              <a:cs typeface="Arial" pitchFamily="34" charset="0"/>
            </a:endParaRPr>
          </a:p>
          <a:p>
            <a:pPr defTabSz="795162" eaLnBrk="0" fontAlgn="base" hangingPunct="0">
              <a:spcBef>
                <a:spcPct val="0"/>
              </a:spcBef>
              <a:spcAft>
                <a:spcPct val="0"/>
              </a:spcAft>
            </a:pPr>
            <a:r>
              <a:rPr lang="en-US" sz="1044" b="1" dirty="0">
                <a:solidFill>
                  <a:srgbClr val="333333"/>
                </a:solidFill>
                <a:latin typeface="inter-bold"/>
                <a:cs typeface="Arial" pitchFamily="34" charset="0"/>
              </a:rPr>
              <a:t>Step 5:</a:t>
            </a:r>
            <a:r>
              <a:rPr lang="en-US" sz="1565" dirty="0">
                <a:latin typeface="Arial" pitchFamily="34" charset="0"/>
                <a:cs typeface="Arial" pitchFamily="34" charset="0"/>
              </a:rPr>
              <a:t> </a:t>
            </a:r>
            <a:r>
              <a:rPr lang="en-US" sz="13827" dirty="0">
                <a:latin typeface="Arial" pitchFamily="34" charset="0"/>
                <a:cs typeface="Arial" pitchFamily="34" charset="0"/>
              </a:rPr>
              <a:t> </a:t>
            </a:r>
            <a:endParaRPr lang="en-US" sz="1565" dirty="0">
              <a:latin typeface="Arial" pitchFamily="34" charset="0"/>
              <a:cs typeface="Arial" pitchFamily="34" charset="0"/>
            </a:endParaRPr>
          </a:p>
        </p:txBody>
      </p:sp>
      <p:pic>
        <p:nvPicPr>
          <p:cNvPr id="174082" name="Picture 2" descr="Conversion of RE to FA"/>
          <p:cNvPicPr>
            <a:picLocks noChangeAspect="1" noChangeArrowheads="1"/>
          </p:cNvPicPr>
          <p:nvPr/>
        </p:nvPicPr>
        <p:blipFill>
          <a:blip r:embed="rId3"/>
          <a:srcRect/>
          <a:stretch>
            <a:fillRect/>
          </a:stretch>
        </p:blipFill>
        <p:spPr bwMode="auto">
          <a:xfrm>
            <a:off x="2584174" y="1352528"/>
            <a:ext cx="2791752" cy="1192696"/>
          </a:xfrm>
          <a:prstGeom prst="rect">
            <a:avLst/>
          </a:prstGeom>
          <a:noFill/>
        </p:spPr>
      </p:pic>
      <p:pic>
        <p:nvPicPr>
          <p:cNvPr id="174083" name="Picture 3" descr="Conversion of RE to FA"/>
          <p:cNvPicPr>
            <a:picLocks noChangeAspect="1" noChangeArrowheads="1"/>
          </p:cNvPicPr>
          <p:nvPr/>
        </p:nvPicPr>
        <p:blipFill>
          <a:blip r:embed="rId4"/>
          <a:srcRect/>
          <a:stretch>
            <a:fillRect/>
          </a:stretch>
        </p:blipFill>
        <p:spPr bwMode="auto">
          <a:xfrm>
            <a:off x="2416191" y="2766391"/>
            <a:ext cx="3127717" cy="1524000"/>
          </a:xfrm>
          <a:prstGeom prst="rect">
            <a:avLst/>
          </a:prstGeom>
          <a:noFill/>
        </p:spPr>
      </p:pic>
      <p:pic>
        <p:nvPicPr>
          <p:cNvPr id="174084" name="Picture 4" descr="Conversion of RE to FA"/>
          <p:cNvPicPr>
            <a:picLocks noChangeAspect="1" noChangeArrowheads="1"/>
          </p:cNvPicPr>
          <p:nvPr/>
        </p:nvPicPr>
        <p:blipFill>
          <a:blip r:embed="rId5"/>
          <a:srcRect/>
          <a:stretch>
            <a:fillRect/>
          </a:stretch>
        </p:blipFill>
        <p:spPr bwMode="auto">
          <a:xfrm>
            <a:off x="2870732" y="4450524"/>
            <a:ext cx="2742916" cy="1656522"/>
          </a:xfrm>
          <a:prstGeom prst="rect">
            <a:avLst/>
          </a:prstGeom>
          <a:noFill/>
        </p:spPr>
      </p:pic>
      <p:sp>
        <p:nvSpPr>
          <p:cNvPr id="10" name="Date Placeholder 3"/>
          <p:cNvSpPr>
            <a:spLocks noGrp="1"/>
          </p:cNvSpPr>
          <p:nvPr>
            <p:ph type="dt" sz="half" idx="10"/>
          </p:nvPr>
        </p:nvSpPr>
        <p:spPr>
          <a:xfrm>
            <a:off x="609600" y="6107047"/>
            <a:ext cx="2133600" cy="317500"/>
          </a:xfrm>
        </p:spPr>
        <p:txBody>
          <a:bodyPr/>
          <a:lstStyle/>
          <a:p>
            <a:fld id="{9DC58504-62CB-4619-85A5-127776C258DF}" type="datetime1">
              <a:rPr lang="en-US" smtClean="0"/>
              <a:t>3/16/2026</a:t>
            </a:fld>
            <a:endParaRPr lang="en-US" dirty="0"/>
          </a:p>
        </p:txBody>
      </p:sp>
      <p:sp>
        <p:nvSpPr>
          <p:cNvPr id="11" name="Footer Placeholder 4"/>
          <p:cNvSpPr>
            <a:spLocks noGrp="1"/>
          </p:cNvSpPr>
          <p:nvPr>
            <p:ph type="ftr" sz="quarter" idx="11"/>
          </p:nvPr>
        </p:nvSpPr>
        <p:spPr>
          <a:xfrm>
            <a:off x="2743200" y="6107047"/>
            <a:ext cx="4343400" cy="317500"/>
          </a:xfrm>
        </p:spPr>
        <p:txBody>
          <a:bodyPr/>
          <a:lstStyle/>
          <a:p>
            <a:r>
              <a:rPr lang="en-US" smtClean="0"/>
              <a:t>Vivek Kumar Sharma     BCSE0404(TAFL) (Unit II</a:t>
            </a:r>
            <a:endParaRPr lang="en-US" dirty="0"/>
          </a:p>
        </p:txBody>
      </p:sp>
      <p:sp>
        <p:nvSpPr>
          <p:cNvPr id="12" name="Slide Number Placeholder 5"/>
          <p:cNvSpPr txBox="1">
            <a:spLocks/>
          </p:cNvSpPr>
          <p:nvPr/>
        </p:nvSpPr>
        <p:spPr>
          <a:xfrm>
            <a:off x="6705600" y="6107047"/>
            <a:ext cx="2133600" cy="317500"/>
          </a:xfrm>
          <a:prstGeom prst="rect">
            <a:avLst/>
          </a:prstGeom>
        </p:spPr>
        <p:txBody>
          <a:bodyPr vert="horz" lIns="79513" tIns="39757" rIns="79513" bIns="39757" rtlCol="0" anchor="ctr"/>
          <a:lstStyle/>
          <a:p>
            <a:pPr algn="r" defTabSz="795162">
              <a:defRPr/>
            </a:pPr>
            <a:fld id="{B6F15528-21DE-4FAA-801E-634DDDAF4B2B}" type="slidenum">
              <a:rPr lang="en-US" sz="1044">
                <a:solidFill>
                  <a:schemeClr val="tx1">
                    <a:tint val="75000"/>
                  </a:schemeClr>
                </a:solidFill>
              </a:rPr>
              <a:pPr algn="r" defTabSz="795162">
                <a:defRPr/>
              </a:pPr>
              <a:t>46</a:t>
            </a:fld>
            <a:endParaRPr lang="en-US" sz="1044">
              <a:solidFill>
                <a:schemeClr val="tx1">
                  <a:tint val="75000"/>
                </a:schemeClr>
              </a:solidFill>
            </a:endParaRPr>
          </a:p>
        </p:txBody>
      </p:sp>
    </p:spTree>
    <p:extLst>
      <p:ext uri="{BB962C8B-B14F-4D97-AF65-F5344CB8AC3E}">
        <p14:creationId xmlns:p14="http://schemas.microsoft.com/office/powerpoint/2010/main" val="77494813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4"/>
          <p:cNvSpPr>
            <a:spLocks noGrp="1"/>
          </p:cNvSpPr>
          <p:nvPr>
            <p:ph type="sldNum" sz="quarter" idx="12"/>
          </p:nvPr>
        </p:nvSpPr>
        <p:spPr/>
        <p:txBody>
          <a:bodyPr/>
          <a:lstStyle/>
          <a:p>
            <a:fld id="{0019B84F-BC69-4809-AD9B-6DFA85293D42}" type="slidenum">
              <a:rPr lang="en-US"/>
              <a:pPr/>
              <a:t>47</a:t>
            </a:fld>
            <a:endParaRPr lang="en-US"/>
          </a:p>
        </p:txBody>
      </p:sp>
      <p:sp>
        <p:nvSpPr>
          <p:cNvPr id="25"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Example of RE to NFA</a:t>
            </a:r>
          </a:p>
        </p:txBody>
      </p:sp>
      <p:sp>
        <p:nvSpPr>
          <p:cNvPr id="174085" name="Rectangle 5"/>
          <p:cNvSpPr>
            <a:spLocks noChangeArrowheads="1"/>
          </p:cNvSpPr>
          <p:nvPr/>
        </p:nvSpPr>
        <p:spPr bwMode="auto">
          <a:xfrm>
            <a:off x="4" y="447297"/>
            <a:ext cx="160644" cy="561961"/>
          </a:xfrm>
          <a:prstGeom prst="rect">
            <a:avLst/>
          </a:prstGeom>
          <a:no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eaLnBrk="0" fontAlgn="base" hangingPunct="0">
              <a:spcBef>
                <a:spcPct val="0"/>
              </a:spcBef>
              <a:spcAft>
                <a:spcPct val="0"/>
              </a:spcAft>
            </a:pPr>
            <a:r>
              <a:rPr lang="en-US" sz="1565" dirty="0">
                <a:latin typeface="Arial" pitchFamily="34" charset="0"/>
                <a:cs typeface="Arial" pitchFamily="34" charset="0"/>
              </a:rPr>
              <a:t/>
            </a:r>
            <a:br>
              <a:rPr lang="en-US" sz="1565" dirty="0">
                <a:latin typeface="Arial" pitchFamily="34" charset="0"/>
                <a:cs typeface="Arial" pitchFamily="34" charset="0"/>
              </a:rPr>
            </a:br>
            <a:endParaRPr lang="en-US" sz="1565" dirty="0">
              <a:latin typeface="Arial" pitchFamily="34" charset="0"/>
              <a:cs typeface="Arial" pitchFamily="34" charset="0"/>
            </a:endParaRPr>
          </a:p>
        </p:txBody>
      </p:sp>
      <p:sp>
        <p:nvSpPr>
          <p:cNvPr id="176129" name="Rectangle 1"/>
          <p:cNvSpPr>
            <a:spLocks noChangeArrowheads="1"/>
          </p:cNvSpPr>
          <p:nvPr/>
        </p:nvSpPr>
        <p:spPr bwMode="auto">
          <a:xfrm>
            <a:off x="1219200" y="1507435"/>
            <a:ext cx="7162800" cy="3599652"/>
          </a:xfrm>
          <a:prstGeom prst="rect">
            <a:avLst/>
          </a:prstGeom>
          <a:solidFill>
            <a:srgbClr val="FFFFFF"/>
          </a:solidFill>
          <a:ln w="9525">
            <a:noFill/>
            <a:miter lim="800000"/>
            <a:headEnd/>
            <a:tailEnd/>
          </a:ln>
          <a:effectLst/>
        </p:spPr>
        <p:txBody>
          <a:bodyPr vert="horz" wrap="square" lIns="79513" tIns="39757" rIns="79513" bIns="39757" numCol="1" anchor="ctr" anchorCtr="0" compatLnSpc="1">
            <a:prstTxWarp prst="textNoShape">
              <a:avLst/>
            </a:prstTxWarp>
            <a:spAutoFit/>
          </a:bodyPr>
          <a:lstStyle/>
          <a:p>
            <a:pPr defTabSz="795162" fontAlgn="base">
              <a:spcBef>
                <a:spcPct val="0"/>
              </a:spcBef>
              <a:spcAft>
                <a:spcPct val="0"/>
              </a:spcAft>
            </a:pPr>
            <a:r>
              <a:rPr lang="en-US" sz="1217" dirty="0">
                <a:solidFill>
                  <a:srgbClr val="333333"/>
                </a:solidFill>
                <a:latin typeface="inter-regular"/>
                <a:cs typeface="Arial" pitchFamily="34" charset="0"/>
              </a:rPr>
              <a:t>Design a NFA from given regular expression 1 (1* 01* 01*)*.</a:t>
            </a:r>
            <a:endParaRPr lang="en-US" sz="783" dirty="0">
              <a:latin typeface="Arial" pitchFamily="34" charset="0"/>
              <a:cs typeface="Arial" pitchFamily="34" charset="0"/>
            </a:endParaRPr>
          </a:p>
          <a:p>
            <a:pPr defTabSz="795162" eaLnBrk="0" fontAlgn="base" hangingPunct="0">
              <a:spcBef>
                <a:spcPct val="0"/>
              </a:spcBef>
              <a:spcAft>
                <a:spcPct val="0"/>
              </a:spcAft>
            </a:pPr>
            <a:r>
              <a:rPr lang="en-US" sz="1217" b="1" dirty="0">
                <a:solidFill>
                  <a:srgbClr val="333333"/>
                </a:solidFill>
                <a:latin typeface="inter-bold"/>
                <a:cs typeface="Arial" pitchFamily="34" charset="0"/>
              </a:rPr>
              <a:t>Solution:</a:t>
            </a:r>
            <a:r>
              <a:rPr lang="en-US" sz="1217" dirty="0">
                <a:solidFill>
                  <a:srgbClr val="333333"/>
                </a:solidFill>
                <a:latin typeface="inter-regular"/>
                <a:cs typeface="Arial" pitchFamily="34" charset="0"/>
              </a:rPr>
              <a:t> The NFA for the given regular expression is as follows:</a:t>
            </a:r>
            <a:endParaRPr lang="en-US" sz="783" dirty="0">
              <a:latin typeface="Arial" pitchFamily="34" charset="0"/>
              <a:cs typeface="Arial" pitchFamily="34" charset="0"/>
            </a:endParaRPr>
          </a:p>
          <a:p>
            <a:pPr defTabSz="795162" eaLnBrk="0" fontAlgn="base" hangingPunct="0">
              <a:spcBef>
                <a:spcPct val="0"/>
              </a:spcBef>
              <a:spcAft>
                <a:spcPct val="0"/>
              </a:spcAft>
            </a:pPr>
            <a:r>
              <a:rPr lang="en-US" sz="1217" b="1" dirty="0">
                <a:solidFill>
                  <a:srgbClr val="333333"/>
                </a:solidFill>
                <a:latin typeface="inter-bold"/>
                <a:cs typeface="Arial" pitchFamily="34" charset="0"/>
              </a:rPr>
              <a:t>Step 1:</a:t>
            </a:r>
            <a:endParaRPr lang="en-US" sz="783" dirty="0">
              <a:latin typeface="Arial" pitchFamily="34" charset="0"/>
              <a:cs typeface="Arial" pitchFamily="34" charset="0"/>
            </a:endParaRPr>
          </a:p>
          <a:p>
            <a:pPr defTabSz="795162" eaLnBrk="0" fontAlgn="base" hangingPunct="0">
              <a:spcBef>
                <a:spcPct val="0"/>
              </a:spcBef>
              <a:spcAft>
                <a:spcPct val="0"/>
              </a:spcAft>
            </a:pPr>
            <a:r>
              <a:rPr lang="en-US" sz="1565" dirty="0">
                <a:latin typeface="Arial" pitchFamily="34" charset="0"/>
                <a:cs typeface="Arial" pitchFamily="34" charset="0"/>
              </a:rPr>
              <a:t>  </a:t>
            </a:r>
            <a:r>
              <a:rPr lang="en-US" sz="4435" dirty="0">
                <a:latin typeface="Arial" pitchFamily="34" charset="0"/>
                <a:cs typeface="Arial" pitchFamily="34" charset="0"/>
              </a:rPr>
              <a:t/>
            </a:r>
            <a:br>
              <a:rPr lang="en-US" sz="4435" dirty="0">
                <a:latin typeface="Arial" pitchFamily="34" charset="0"/>
                <a:cs typeface="Arial" pitchFamily="34" charset="0"/>
              </a:rPr>
            </a:br>
            <a:endParaRPr lang="en-US" sz="4435" dirty="0">
              <a:latin typeface="Arial" pitchFamily="34" charset="0"/>
              <a:cs typeface="Arial" pitchFamily="34" charset="0"/>
            </a:endParaRPr>
          </a:p>
          <a:p>
            <a:pPr defTabSz="795162" eaLnBrk="0" fontAlgn="base" hangingPunct="0">
              <a:spcBef>
                <a:spcPct val="0"/>
              </a:spcBef>
              <a:spcAft>
                <a:spcPct val="0"/>
              </a:spcAft>
            </a:pPr>
            <a:endParaRPr lang="en-US" sz="4435" dirty="0">
              <a:latin typeface="Arial" pitchFamily="34" charset="0"/>
              <a:cs typeface="Arial" pitchFamily="34" charset="0"/>
            </a:endParaRPr>
          </a:p>
          <a:p>
            <a:pPr defTabSz="795162" eaLnBrk="0" fontAlgn="base" hangingPunct="0">
              <a:spcBef>
                <a:spcPct val="0"/>
              </a:spcBef>
              <a:spcAft>
                <a:spcPct val="0"/>
              </a:spcAft>
            </a:pPr>
            <a:endParaRPr lang="en-US" sz="1565" dirty="0">
              <a:latin typeface="Arial" pitchFamily="34" charset="0"/>
              <a:cs typeface="Arial" pitchFamily="34" charset="0"/>
            </a:endParaRPr>
          </a:p>
          <a:p>
            <a:pPr defTabSz="795162" eaLnBrk="0" fontAlgn="base" hangingPunct="0">
              <a:spcBef>
                <a:spcPct val="0"/>
              </a:spcBef>
              <a:spcAft>
                <a:spcPct val="0"/>
              </a:spcAft>
            </a:pPr>
            <a:r>
              <a:rPr lang="en-US" sz="1044" b="1" dirty="0">
                <a:solidFill>
                  <a:srgbClr val="333333"/>
                </a:solidFill>
                <a:latin typeface="inter-bold"/>
                <a:cs typeface="Arial" pitchFamily="34" charset="0"/>
              </a:rPr>
              <a:t>Step 2:</a:t>
            </a:r>
            <a:endParaRPr lang="en-US" sz="696" dirty="0">
              <a:latin typeface="Arial" pitchFamily="34" charset="0"/>
              <a:cs typeface="Arial" pitchFamily="34" charset="0"/>
            </a:endParaRPr>
          </a:p>
          <a:p>
            <a:pPr defTabSz="795162" eaLnBrk="0" fontAlgn="base" hangingPunct="0">
              <a:spcBef>
                <a:spcPct val="0"/>
              </a:spcBef>
              <a:spcAft>
                <a:spcPct val="0"/>
              </a:spcAft>
            </a:pPr>
            <a:r>
              <a:rPr lang="en-US" sz="1565" dirty="0">
                <a:latin typeface="Arial" pitchFamily="34" charset="0"/>
                <a:cs typeface="Arial" pitchFamily="34" charset="0"/>
              </a:rPr>
              <a:t>  </a:t>
            </a:r>
            <a:r>
              <a:rPr lang="en-US" sz="6174" dirty="0">
                <a:latin typeface="Arial" pitchFamily="34" charset="0"/>
                <a:cs typeface="Arial" pitchFamily="34" charset="0"/>
              </a:rPr>
              <a:t> </a:t>
            </a:r>
            <a:endParaRPr lang="en-US" sz="1565" dirty="0">
              <a:latin typeface="Arial" pitchFamily="34" charset="0"/>
              <a:cs typeface="Arial" pitchFamily="34" charset="0"/>
            </a:endParaRPr>
          </a:p>
        </p:txBody>
      </p:sp>
      <p:pic>
        <p:nvPicPr>
          <p:cNvPr id="176130" name="Picture 2" descr="Conversion of RE to FA"/>
          <p:cNvPicPr>
            <a:picLocks noChangeAspect="1" noChangeArrowheads="1"/>
          </p:cNvPicPr>
          <p:nvPr/>
        </p:nvPicPr>
        <p:blipFill>
          <a:blip r:embed="rId3"/>
          <a:srcRect/>
          <a:stretch>
            <a:fillRect/>
          </a:stretch>
        </p:blipFill>
        <p:spPr bwMode="auto">
          <a:xfrm>
            <a:off x="1657354" y="2512918"/>
            <a:ext cx="3095625" cy="712305"/>
          </a:xfrm>
          <a:prstGeom prst="rect">
            <a:avLst/>
          </a:prstGeom>
          <a:noFill/>
        </p:spPr>
      </p:pic>
      <p:pic>
        <p:nvPicPr>
          <p:cNvPr id="176131" name="Picture 3" descr="Conversion of RE to FA"/>
          <p:cNvPicPr>
            <a:picLocks noChangeAspect="1" noChangeArrowheads="1"/>
          </p:cNvPicPr>
          <p:nvPr/>
        </p:nvPicPr>
        <p:blipFill>
          <a:blip r:embed="rId4"/>
          <a:srcRect/>
          <a:stretch>
            <a:fillRect/>
          </a:stretch>
        </p:blipFill>
        <p:spPr bwMode="auto">
          <a:xfrm>
            <a:off x="1295403" y="3627786"/>
            <a:ext cx="3457576" cy="985630"/>
          </a:xfrm>
          <a:prstGeom prst="rect">
            <a:avLst/>
          </a:prstGeom>
          <a:noFill/>
        </p:spPr>
      </p:pic>
      <p:sp>
        <p:nvSpPr>
          <p:cNvPr id="2" name="Date Placeholder 1"/>
          <p:cNvSpPr>
            <a:spLocks noGrp="1"/>
          </p:cNvSpPr>
          <p:nvPr>
            <p:ph type="dt" sz="half" idx="10"/>
          </p:nvPr>
        </p:nvSpPr>
        <p:spPr/>
        <p:txBody>
          <a:bodyPr/>
          <a:lstStyle/>
          <a:p>
            <a:fld id="{FB21DDD0-1F41-4A0A-88F9-7CAFD2FA9210}" type="datetime1">
              <a:rPr lang="en-US" smtClean="0"/>
              <a:t>3/16/2026</a:t>
            </a:fld>
            <a:endParaRPr lang="en-US"/>
          </a:p>
        </p:txBody>
      </p:sp>
      <p:sp>
        <p:nvSpPr>
          <p:cNvPr id="3" name="Footer Placeholder 2"/>
          <p:cNvSpPr>
            <a:spLocks noGrp="1"/>
          </p:cNvSpPr>
          <p:nvPr>
            <p:ph type="ftr" sz="quarter" idx="11"/>
          </p:nvPr>
        </p:nvSpPr>
        <p:spPr>
          <a:xfrm>
            <a:off x="2186609" y="5974525"/>
            <a:ext cx="3833191" cy="317500"/>
          </a:xfrm>
        </p:spPr>
        <p:txBody>
          <a:bodyPr/>
          <a:lstStyle/>
          <a:p>
            <a:r>
              <a:rPr lang="en-US" smtClean="0"/>
              <a:t>Vivek Kumar Sharma     BCSE0404(TAFL) (Unit II</a:t>
            </a:r>
            <a:endParaRPr lang="en-US" dirty="0"/>
          </a:p>
        </p:txBody>
      </p:sp>
    </p:spTree>
    <p:extLst>
      <p:ext uri="{BB962C8B-B14F-4D97-AF65-F5344CB8AC3E}">
        <p14:creationId xmlns:p14="http://schemas.microsoft.com/office/powerpoint/2010/main" val="316480586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4"/>
          <p:cNvSpPr>
            <a:spLocks noGrp="1"/>
          </p:cNvSpPr>
          <p:nvPr>
            <p:ph type="sldNum" sz="quarter" idx="12"/>
          </p:nvPr>
        </p:nvSpPr>
        <p:spPr/>
        <p:txBody>
          <a:bodyPr/>
          <a:lstStyle/>
          <a:p>
            <a:fld id="{0019B84F-BC69-4809-AD9B-6DFA85293D42}" type="slidenum">
              <a:rPr lang="en-US"/>
              <a:pPr/>
              <a:t>48</a:t>
            </a:fld>
            <a:endParaRPr lang="en-US"/>
          </a:p>
        </p:txBody>
      </p:sp>
      <p:sp>
        <p:nvSpPr>
          <p:cNvPr id="25"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Example of RE to NFA</a:t>
            </a:r>
          </a:p>
        </p:txBody>
      </p:sp>
      <p:sp>
        <p:nvSpPr>
          <p:cNvPr id="174085" name="Rectangle 5"/>
          <p:cNvSpPr>
            <a:spLocks noChangeArrowheads="1"/>
          </p:cNvSpPr>
          <p:nvPr/>
        </p:nvSpPr>
        <p:spPr bwMode="auto">
          <a:xfrm>
            <a:off x="4" y="447297"/>
            <a:ext cx="160644" cy="561961"/>
          </a:xfrm>
          <a:prstGeom prst="rect">
            <a:avLst/>
          </a:prstGeom>
          <a:no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eaLnBrk="0" fontAlgn="base" hangingPunct="0">
              <a:spcBef>
                <a:spcPct val="0"/>
              </a:spcBef>
              <a:spcAft>
                <a:spcPct val="0"/>
              </a:spcAft>
            </a:pPr>
            <a:r>
              <a:rPr lang="en-US" sz="1565" dirty="0">
                <a:latin typeface="Arial" pitchFamily="34" charset="0"/>
                <a:cs typeface="Arial" pitchFamily="34" charset="0"/>
              </a:rPr>
              <a:t/>
            </a:r>
            <a:br>
              <a:rPr lang="en-US" sz="1565" dirty="0">
                <a:latin typeface="Arial" pitchFamily="34" charset="0"/>
                <a:cs typeface="Arial" pitchFamily="34" charset="0"/>
              </a:rPr>
            </a:br>
            <a:endParaRPr lang="en-US" sz="1565" dirty="0">
              <a:latin typeface="Arial" pitchFamily="34" charset="0"/>
              <a:cs typeface="Arial" pitchFamily="34" charset="0"/>
            </a:endParaRPr>
          </a:p>
        </p:txBody>
      </p:sp>
      <p:sp>
        <p:nvSpPr>
          <p:cNvPr id="176129" name="Rectangle 1"/>
          <p:cNvSpPr>
            <a:spLocks noChangeArrowheads="1"/>
          </p:cNvSpPr>
          <p:nvPr/>
        </p:nvSpPr>
        <p:spPr bwMode="auto">
          <a:xfrm>
            <a:off x="1219200" y="1507451"/>
            <a:ext cx="7162800" cy="321126"/>
          </a:xfrm>
          <a:prstGeom prst="rect">
            <a:avLst/>
          </a:prstGeom>
          <a:solidFill>
            <a:srgbClr val="FFFFFF"/>
          </a:solidFill>
          <a:ln w="9525">
            <a:noFill/>
            <a:miter lim="800000"/>
            <a:headEnd/>
            <a:tailEnd/>
          </a:ln>
          <a:effectLst/>
        </p:spPr>
        <p:txBody>
          <a:bodyPr vert="horz" wrap="square" lIns="79513" tIns="39757" rIns="79513" bIns="39757" numCol="1" anchor="ctr" anchorCtr="0" compatLnSpc="1">
            <a:prstTxWarp prst="textNoShape">
              <a:avLst/>
            </a:prstTxWarp>
            <a:spAutoFit/>
          </a:bodyPr>
          <a:lstStyle/>
          <a:p>
            <a:pPr defTabSz="795162" fontAlgn="base">
              <a:spcBef>
                <a:spcPct val="0"/>
              </a:spcBef>
              <a:spcAft>
                <a:spcPct val="0"/>
              </a:spcAft>
            </a:pPr>
            <a:endParaRPr lang="en-US" sz="1565" dirty="0">
              <a:latin typeface="Arial" pitchFamily="34" charset="0"/>
              <a:cs typeface="Arial" pitchFamily="34" charset="0"/>
            </a:endParaRPr>
          </a:p>
        </p:txBody>
      </p:sp>
      <p:sp>
        <p:nvSpPr>
          <p:cNvPr id="180225" name="Rectangle 1"/>
          <p:cNvSpPr>
            <a:spLocks noChangeArrowheads="1"/>
          </p:cNvSpPr>
          <p:nvPr/>
        </p:nvSpPr>
        <p:spPr bwMode="auto">
          <a:xfrm>
            <a:off x="1447803" y="1639973"/>
            <a:ext cx="832238" cy="321126"/>
          </a:xfrm>
          <a:prstGeom prst="rect">
            <a:avLst/>
          </a:prstGeom>
          <a:solidFill>
            <a:srgbClr val="FFFFFF"/>
          </a:solidFill>
          <a:ln w="9525">
            <a:noFill/>
            <a:miter lim="800000"/>
            <a:headEnd/>
            <a:tailEnd/>
          </a:ln>
          <a:effectLst/>
        </p:spPr>
        <p:txBody>
          <a:bodyPr vert="horz" wrap="none" lIns="79513" tIns="39757" rIns="79513" bIns="39757" numCol="1" anchor="ctr" anchorCtr="0" compatLnSpc="1">
            <a:prstTxWarp prst="textNoShape">
              <a:avLst/>
            </a:prstTxWarp>
            <a:spAutoFit/>
          </a:bodyPr>
          <a:lstStyle/>
          <a:p>
            <a:pPr lvl="0" fontAlgn="base">
              <a:spcBef>
                <a:spcPct val="0"/>
              </a:spcBef>
              <a:spcAft>
                <a:spcPct val="0"/>
              </a:spcAft>
            </a:pPr>
            <a:r>
              <a:rPr lang="en-US" sz="1565" b="1" dirty="0">
                <a:solidFill>
                  <a:srgbClr val="333333"/>
                </a:solidFill>
                <a:latin typeface="inter-bold"/>
                <a:cs typeface="Arial" pitchFamily="34" charset="0"/>
              </a:rPr>
              <a:t>Step 3:</a:t>
            </a:r>
            <a:endParaRPr lang="en-US" sz="913" dirty="0">
              <a:latin typeface="Arial" pitchFamily="34" charset="0"/>
              <a:cs typeface="Arial" pitchFamily="34" charset="0"/>
            </a:endParaRPr>
          </a:p>
        </p:txBody>
      </p:sp>
      <p:pic>
        <p:nvPicPr>
          <p:cNvPr id="180226" name="Picture 2" descr="Conversion of RE to FA"/>
          <p:cNvPicPr>
            <a:picLocks noChangeAspect="1" noChangeArrowheads="1"/>
          </p:cNvPicPr>
          <p:nvPr/>
        </p:nvPicPr>
        <p:blipFill>
          <a:blip r:embed="rId3"/>
          <a:srcRect/>
          <a:stretch>
            <a:fillRect/>
          </a:stretch>
        </p:blipFill>
        <p:spPr bwMode="auto">
          <a:xfrm>
            <a:off x="1219202" y="2037522"/>
            <a:ext cx="4448176" cy="1167849"/>
          </a:xfrm>
          <a:prstGeom prst="rect">
            <a:avLst/>
          </a:prstGeom>
          <a:noFill/>
        </p:spPr>
      </p:pic>
      <p:sp>
        <p:nvSpPr>
          <p:cNvPr id="180227" name="Rectangle 3"/>
          <p:cNvSpPr>
            <a:spLocks noChangeArrowheads="1"/>
          </p:cNvSpPr>
          <p:nvPr/>
        </p:nvSpPr>
        <p:spPr bwMode="auto">
          <a:xfrm>
            <a:off x="4" y="447297"/>
            <a:ext cx="160644" cy="561961"/>
          </a:xfrm>
          <a:prstGeom prst="rect">
            <a:avLst/>
          </a:prstGeom>
          <a:solidFill>
            <a:srgbClr val="FFFFFF"/>
          </a:solid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eaLnBrk="0" fontAlgn="base" hangingPunct="0">
              <a:spcBef>
                <a:spcPct val="0"/>
              </a:spcBef>
              <a:spcAft>
                <a:spcPct val="0"/>
              </a:spcAft>
            </a:pPr>
            <a:r>
              <a:rPr lang="en-US" sz="1565" dirty="0">
                <a:latin typeface="Arial" pitchFamily="34" charset="0"/>
                <a:cs typeface="Arial" pitchFamily="34" charset="0"/>
              </a:rPr>
              <a:t/>
            </a:r>
            <a:br>
              <a:rPr lang="en-US" sz="1565" dirty="0">
                <a:latin typeface="Arial" pitchFamily="34" charset="0"/>
                <a:cs typeface="Arial" pitchFamily="34" charset="0"/>
              </a:rPr>
            </a:br>
            <a:endParaRPr lang="en-US" sz="1565" dirty="0">
              <a:latin typeface="Arial" pitchFamily="34" charset="0"/>
              <a:cs typeface="Arial" pitchFamily="34" charset="0"/>
            </a:endParaRPr>
          </a:p>
        </p:txBody>
      </p:sp>
      <p:sp>
        <p:nvSpPr>
          <p:cNvPr id="12" name="Rectangle 11"/>
          <p:cNvSpPr/>
          <p:nvPr/>
        </p:nvSpPr>
        <p:spPr>
          <a:xfrm>
            <a:off x="381000" y="3561525"/>
            <a:ext cx="8382000" cy="1055674"/>
          </a:xfrm>
          <a:prstGeom prst="rect">
            <a:avLst/>
          </a:prstGeom>
        </p:spPr>
        <p:txBody>
          <a:bodyPr wrap="square">
            <a:spAutoFit/>
          </a:bodyPr>
          <a:lstStyle/>
          <a:p>
            <a:pPr lvl="0" eaLnBrk="0" fontAlgn="base" hangingPunct="0">
              <a:spcBef>
                <a:spcPct val="0"/>
              </a:spcBef>
              <a:spcAft>
                <a:spcPct val="0"/>
              </a:spcAft>
            </a:pPr>
            <a:r>
              <a:rPr lang="en-US" sz="1565" dirty="0">
                <a:solidFill>
                  <a:srgbClr val="333333"/>
                </a:solidFill>
                <a:latin typeface="inter-regular"/>
                <a:cs typeface="Arial" pitchFamily="34" charset="0"/>
              </a:rPr>
              <a:t>Construct the FA for regular expression 0*1 + 10.</a:t>
            </a:r>
            <a:endParaRPr lang="en-US" sz="913" dirty="0">
              <a:latin typeface="Arial" pitchFamily="34" charset="0"/>
              <a:cs typeface="Arial" pitchFamily="34" charset="0"/>
            </a:endParaRPr>
          </a:p>
          <a:p>
            <a:pPr lvl="0" eaLnBrk="0" fontAlgn="base" hangingPunct="0">
              <a:spcBef>
                <a:spcPct val="0"/>
              </a:spcBef>
              <a:spcAft>
                <a:spcPct val="0"/>
              </a:spcAft>
            </a:pPr>
            <a:r>
              <a:rPr lang="en-US" sz="1565" b="1" dirty="0">
                <a:solidFill>
                  <a:srgbClr val="333333"/>
                </a:solidFill>
                <a:latin typeface="inter-bold"/>
                <a:cs typeface="Arial" pitchFamily="34" charset="0"/>
              </a:rPr>
              <a:t>Solution:</a:t>
            </a:r>
            <a:endParaRPr lang="en-US" sz="913" dirty="0">
              <a:latin typeface="Arial" pitchFamily="34" charset="0"/>
              <a:cs typeface="Arial" pitchFamily="34" charset="0"/>
            </a:endParaRPr>
          </a:p>
          <a:p>
            <a:pPr lvl="0" eaLnBrk="0" fontAlgn="base" hangingPunct="0">
              <a:spcBef>
                <a:spcPct val="0"/>
              </a:spcBef>
              <a:spcAft>
                <a:spcPct val="0"/>
              </a:spcAft>
            </a:pPr>
            <a:r>
              <a:rPr lang="en-US" sz="1565" dirty="0">
                <a:solidFill>
                  <a:srgbClr val="333333"/>
                </a:solidFill>
                <a:latin typeface="inter-regular"/>
                <a:cs typeface="Arial" pitchFamily="34" charset="0"/>
              </a:rPr>
              <a:t>We will first construct FA for R = 0*1 + 10 as follows:</a:t>
            </a:r>
            <a:endParaRPr lang="en-US" sz="913" dirty="0">
              <a:latin typeface="Arial" pitchFamily="34" charset="0"/>
              <a:cs typeface="Arial" pitchFamily="34" charset="0"/>
            </a:endParaRPr>
          </a:p>
          <a:p>
            <a:pPr lvl="0" eaLnBrk="0" fontAlgn="base" hangingPunct="0">
              <a:spcBef>
                <a:spcPct val="0"/>
              </a:spcBef>
              <a:spcAft>
                <a:spcPct val="0"/>
              </a:spcAft>
            </a:pPr>
            <a:r>
              <a:rPr lang="en-US" sz="1565" b="1" dirty="0">
                <a:solidFill>
                  <a:srgbClr val="333333"/>
                </a:solidFill>
                <a:latin typeface="inter-bold"/>
                <a:cs typeface="Arial" pitchFamily="34" charset="0"/>
              </a:rPr>
              <a:t>Step 1:</a:t>
            </a:r>
            <a:endParaRPr lang="en-US" sz="913" dirty="0">
              <a:latin typeface="Arial" pitchFamily="34" charset="0"/>
              <a:cs typeface="Arial" pitchFamily="34" charset="0"/>
            </a:endParaRPr>
          </a:p>
        </p:txBody>
      </p:sp>
      <p:pic>
        <p:nvPicPr>
          <p:cNvPr id="180229" name="Picture 5" descr="Conversion of RE to FA"/>
          <p:cNvPicPr>
            <a:picLocks noChangeAspect="1" noChangeArrowheads="1"/>
          </p:cNvPicPr>
          <p:nvPr/>
        </p:nvPicPr>
        <p:blipFill>
          <a:blip r:embed="rId4"/>
          <a:srcRect/>
          <a:stretch>
            <a:fillRect/>
          </a:stretch>
        </p:blipFill>
        <p:spPr bwMode="auto">
          <a:xfrm>
            <a:off x="1447802" y="4687957"/>
            <a:ext cx="4857751" cy="762000"/>
          </a:xfrm>
          <a:prstGeom prst="rect">
            <a:avLst/>
          </a:prstGeom>
          <a:noFill/>
        </p:spPr>
      </p:pic>
      <p:sp>
        <p:nvSpPr>
          <p:cNvPr id="2" name="Date Placeholder 1"/>
          <p:cNvSpPr>
            <a:spLocks noGrp="1"/>
          </p:cNvSpPr>
          <p:nvPr>
            <p:ph type="dt" sz="half" idx="10"/>
          </p:nvPr>
        </p:nvSpPr>
        <p:spPr/>
        <p:txBody>
          <a:bodyPr/>
          <a:lstStyle/>
          <a:p>
            <a:fld id="{F2B4BC43-74BC-4623-AFCD-CAD241DEF07E}" type="datetime1">
              <a:rPr lang="en-US" smtClean="0"/>
              <a:t>3/16/2026</a:t>
            </a:fld>
            <a:endParaRPr lang="en-US"/>
          </a:p>
        </p:txBody>
      </p:sp>
      <p:sp>
        <p:nvSpPr>
          <p:cNvPr id="3" name="Footer Placeholder 2"/>
          <p:cNvSpPr>
            <a:spLocks noGrp="1"/>
          </p:cNvSpPr>
          <p:nvPr>
            <p:ph type="ftr" sz="quarter" idx="11"/>
          </p:nvPr>
        </p:nvSpPr>
        <p:spPr/>
        <p:txBody>
          <a:bodyPr/>
          <a:lstStyle/>
          <a:p>
            <a:r>
              <a:rPr lang="en-US" smtClean="0"/>
              <a:t>Vivek Kumar Sharma     BCSE0404(TAFL) (Unit II</a:t>
            </a:r>
            <a:endParaRPr lang="en-US" dirty="0"/>
          </a:p>
        </p:txBody>
      </p:sp>
    </p:spTree>
    <p:extLst>
      <p:ext uri="{BB962C8B-B14F-4D97-AF65-F5344CB8AC3E}">
        <p14:creationId xmlns:p14="http://schemas.microsoft.com/office/powerpoint/2010/main" val="142396620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4"/>
          <p:cNvSpPr>
            <a:spLocks noGrp="1"/>
          </p:cNvSpPr>
          <p:nvPr>
            <p:ph type="sldNum" sz="quarter" idx="12"/>
          </p:nvPr>
        </p:nvSpPr>
        <p:spPr/>
        <p:txBody>
          <a:bodyPr/>
          <a:lstStyle/>
          <a:p>
            <a:fld id="{0019B84F-BC69-4809-AD9B-6DFA85293D42}" type="slidenum">
              <a:rPr lang="en-US"/>
              <a:pPr/>
              <a:t>49</a:t>
            </a:fld>
            <a:endParaRPr lang="en-US"/>
          </a:p>
        </p:txBody>
      </p:sp>
      <p:sp>
        <p:nvSpPr>
          <p:cNvPr id="25"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Example of RE to NFA</a:t>
            </a:r>
          </a:p>
        </p:txBody>
      </p:sp>
      <p:sp>
        <p:nvSpPr>
          <p:cNvPr id="174085" name="Rectangle 5"/>
          <p:cNvSpPr>
            <a:spLocks noChangeArrowheads="1"/>
          </p:cNvSpPr>
          <p:nvPr/>
        </p:nvSpPr>
        <p:spPr bwMode="auto">
          <a:xfrm>
            <a:off x="4" y="447297"/>
            <a:ext cx="160644" cy="561961"/>
          </a:xfrm>
          <a:prstGeom prst="rect">
            <a:avLst/>
          </a:prstGeom>
          <a:no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eaLnBrk="0" fontAlgn="base" hangingPunct="0">
              <a:spcBef>
                <a:spcPct val="0"/>
              </a:spcBef>
              <a:spcAft>
                <a:spcPct val="0"/>
              </a:spcAft>
            </a:pPr>
            <a:r>
              <a:rPr lang="en-US" sz="1565" dirty="0">
                <a:latin typeface="Arial" pitchFamily="34" charset="0"/>
                <a:cs typeface="Arial" pitchFamily="34" charset="0"/>
              </a:rPr>
              <a:t/>
            </a:r>
            <a:br>
              <a:rPr lang="en-US" sz="1565" dirty="0">
                <a:latin typeface="Arial" pitchFamily="34" charset="0"/>
                <a:cs typeface="Arial" pitchFamily="34" charset="0"/>
              </a:rPr>
            </a:br>
            <a:endParaRPr lang="en-US" sz="1565" dirty="0">
              <a:latin typeface="Arial" pitchFamily="34" charset="0"/>
              <a:cs typeface="Arial" pitchFamily="34" charset="0"/>
            </a:endParaRPr>
          </a:p>
        </p:txBody>
      </p:sp>
      <p:sp>
        <p:nvSpPr>
          <p:cNvPr id="176129" name="Rectangle 1"/>
          <p:cNvSpPr>
            <a:spLocks noChangeArrowheads="1"/>
          </p:cNvSpPr>
          <p:nvPr/>
        </p:nvSpPr>
        <p:spPr bwMode="auto">
          <a:xfrm>
            <a:off x="1219200" y="1507451"/>
            <a:ext cx="7162800" cy="321126"/>
          </a:xfrm>
          <a:prstGeom prst="rect">
            <a:avLst/>
          </a:prstGeom>
          <a:solidFill>
            <a:srgbClr val="FFFFFF"/>
          </a:solidFill>
          <a:ln w="9525">
            <a:noFill/>
            <a:miter lim="800000"/>
            <a:headEnd/>
            <a:tailEnd/>
          </a:ln>
          <a:effectLst/>
        </p:spPr>
        <p:txBody>
          <a:bodyPr vert="horz" wrap="square" lIns="79513" tIns="39757" rIns="79513" bIns="39757" numCol="1" anchor="ctr" anchorCtr="0" compatLnSpc="1">
            <a:prstTxWarp prst="textNoShape">
              <a:avLst/>
            </a:prstTxWarp>
            <a:spAutoFit/>
          </a:bodyPr>
          <a:lstStyle/>
          <a:p>
            <a:pPr defTabSz="795162" fontAlgn="base">
              <a:spcBef>
                <a:spcPct val="0"/>
              </a:spcBef>
              <a:spcAft>
                <a:spcPct val="0"/>
              </a:spcAft>
            </a:pPr>
            <a:endParaRPr lang="en-US" sz="1565" dirty="0">
              <a:latin typeface="Arial" pitchFamily="34" charset="0"/>
              <a:cs typeface="Arial" pitchFamily="34" charset="0"/>
            </a:endParaRPr>
          </a:p>
        </p:txBody>
      </p:sp>
      <p:sp>
        <p:nvSpPr>
          <p:cNvPr id="180225" name="Rectangle 1"/>
          <p:cNvSpPr>
            <a:spLocks noChangeArrowheads="1"/>
          </p:cNvSpPr>
          <p:nvPr/>
        </p:nvSpPr>
        <p:spPr bwMode="auto">
          <a:xfrm>
            <a:off x="1447803" y="1639973"/>
            <a:ext cx="832238" cy="321126"/>
          </a:xfrm>
          <a:prstGeom prst="rect">
            <a:avLst/>
          </a:prstGeom>
          <a:solidFill>
            <a:srgbClr val="FFFFFF"/>
          </a:solidFill>
          <a:ln w="9525">
            <a:noFill/>
            <a:miter lim="800000"/>
            <a:headEnd/>
            <a:tailEnd/>
          </a:ln>
          <a:effectLst/>
        </p:spPr>
        <p:txBody>
          <a:bodyPr vert="horz" wrap="none" lIns="79513" tIns="39757" rIns="79513" bIns="39757" numCol="1" anchor="ctr" anchorCtr="0" compatLnSpc="1">
            <a:prstTxWarp prst="textNoShape">
              <a:avLst/>
            </a:prstTxWarp>
            <a:spAutoFit/>
          </a:bodyPr>
          <a:lstStyle/>
          <a:p>
            <a:pPr lvl="0" fontAlgn="base">
              <a:spcBef>
                <a:spcPct val="0"/>
              </a:spcBef>
              <a:spcAft>
                <a:spcPct val="0"/>
              </a:spcAft>
            </a:pPr>
            <a:r>
              <a:rPr lang="en-US" sz="1565" b="1" dirty="0">
                <a:solidFill>
                  <a:srgbClr val="333333"/>
                </a:solidFill>
                <a:latin typeface="inter-bold"/>
                <a:cs typeface="Arial" pitchFamily="34" charset="0"/>
              </a:rPr>
              <a:t>Step 2:</a:t>
            </a:r>
            <a:endParaRPr lang="en-US" sz="913" dirty="0">
              <a:latin typeface="Arial" pitchFamily="34" charset="0"/>
              <a:cs typeface="Arial" pitchFamily="34" charset="0"/>
            </a:endParaRPr>
          </a:p>
        </p:txBody>
      </p:sp>
      <p:sp>
        <p:nvSpPr>
          <p:cNvPr id="180227" name="Rectangle 3"/>
          <p:cNvSpPr>
            <a:spLocks noChangeArrowheads="1"/>
          </p:cNvSpPr>
          <p:nvPr/>
        </p:nvSpPr>
        <p:spPr bwMode="auto">
          <a:xfrm>
            <a:off x="4" y="447297"/>
            <a:ext cx="160644" cy="561961"/>
          </a:xfrm>
          <a:prstGeom prst="rect">
            <a:avLst/>
          </a:prstGeom>
          <a:solidFill>
            <a:srgbClr val="FFFFFF"/>
          </a:solidFill>
          <a:ln w="9525">
            <a:noFill/>
            <a:miter lim="800000"/>
            <a:headEnd/>
            <a:tailEnd/>
          </a:ln>
          <a:effectLst/>
        </p:spPr>
        <p:txBody>
          <a:bodyPr vert="horz" wrap="none" lIns="79513" tIns="39757" rIns="79513" bIns="39757" numCol="1" anchor="ctr" anchorCtr="0" compatLnSpc="1">
            <a:prstTxWarp prst="textNoShape">
              <a:avLst/>
            </a:prstTxWarp>
            <a:spAutoFit/>
          </a:bodyPr>
          <a:lstStyle/>
          <a:p>
            <a:pPr defTabSz="795162" eaLnBrk="0" fontAlgn="base" hangingPunct="0">
              <a:spcBef>
                <a:spcPct val="0"/>
              </a:spcBef>
              <a:spcAft>
                <a:spcPct val="0"/>
              </a:spcAft>
            </a:pPr>
            <a:r>
              <a:rPr lang="en-US" sz="1565" dirty="0">
                <a:latin typeface="Arial" pitchFamily="34" charset="0"/>
                <a:cs typeface="Arial" pitchFamily="34" charset="0"/>
              </a:rPr>
              <a:t/>
            </a:r>
            <a:br>
              <a:rPr lang="en-US" sz="1565" dirty="0">
                <a:latin typeface="Arial" pitchFamily="34" charset="0"/>
                <a:cs typeface="Arial" pitchFamily="34" charset="0"/>
              </a:rPr>
            </a:br>
            <a:endParaRPr lang="en-US" sz="1565" dirty="0">
              <a:latin typeface="Arial" pitchFamily="34" charset="0"/>
              <a:cs typeface="Arial" pitchFamily="34" charset="0"/>
            </a:endParaRPr>
          </a:p>
        </p:txBody>
      </p:sp>
      <p:pic>
        <p:nvPicPr>
          <p:cNvPr id="182274" name="Picture 2" descr="Conversion of RE to FA"/>
          <p:cNvPicPr>
            <a:picLocks noChangeAspect="1" noChangeArrowheads="1"/>
          </p:cNvPicPr>
          <p:nvPr/>
        </p:nvPicPr>
        <p:blipFill>
          <a:blip r:embed="rId3"/>
          <a:srcRect/>
          <a:stretch>
            <a:fillRect/>
          </a:stretch>
        </p:blipFill>
        <p:spPr bwMode="auto">
          <a:xfrm>
            <a:off x="3200402" y="1573698"/>
            <a:ext cx="2760391" cy="687457"/>
          </a:xfrm>
          <a:prstGeom prst="rect">
            <a:avLst/>
          </a:prstGeom>
          <a:noFill/>
        </p:spPr>
      </p:pic>
      <p:pic>
        <p:nvPicPr>
          <p:cNvPr id="182275" name="Picture 3" descr="Conversion of RE to FA"/>
          <p:cNvPicPr>
            <a:picLocks noChangeAspect="1" noChangeArrowheads="1"/>
          </p:cNvPicPr>
          <p:nvPr/>
        </p:nvPicPr>
        <p:blipFill>
          <a:blip r:embed="rId4"/>
          <a:srcRect/>
          <a:stretch>
            <a:fillRect/>
          </a:stretch>
        </p:blipFill>
        <p:spPr bwMode="auto">
          <a:xfrm>
            <a:off x="4648200" y="2501348"/>
            <a:ext cx="4267200" cy="1474304"/>
          </a:xfrm>
          <a:prstGeom prst="rect">
            <a:avLst/>
          </a:prstGeom>
          <a:noFill/>
        </p:spPr>
      </p:pic>
      <p:sp>
        <p:nvSpPr>
          <p:cNvPr id="15" name="Rectangle 14"/>
          <p:cNvSpPr/>
          <p:nvPr/>
        </p:nvSpPr>
        <p:spPr>
          <a:xfrm>
            <a:off x="1524003" y="2832652"/>
            <a:ext cx="856325" cy="333168"/>
          </a:xfrm>
          <a:prstGeom prst="rect">
            <a:avLst/>
          </a:prstGeom>
        </p:spPr>
        <p:txBody>
          <a:bodyPr wrap="none">
            <a:spAutoFit/>
          </a:bodyPr>
          <a:lstStyle/>
          <a:p>
            <a:pPr lvl="0" eaLnBrk="0" fontAlgn="base" hangingPunct="0">
              <a:spcBef>
                <a:spcPct val="0"/>
              </a:spcBef>
              <a:spcAft>
                <a:spcPct val="0"/>
              </a:spcAft>
            </a:pPr>
            <a:r>
              <a:rPr lang="en-US" sz="1565" b="1" dirty="0">
                <a:solidFill>
                  <a:srgbClr val="333333"/>
                </a:solidFill>
                <a:latin typeface="inter-bold"/>
                <a:cs typeface="Arial" pitchFamily="34" charset="0"/>
              </a:rPr>
              <a:t>Step 3:</a:t>
            </a:r>
            <a:endParaRPr lang="en-US" sz="913" dirty="0">
              <a:latin typeface="Arial" pitchFamily="34" charset="0"/>
              <a:cs typeface="Arial" pitchFamily="34" charset="0"/>
            </a:endParaRPr>
          </a:p>
        </p:txBody>
      </p:sp>
      <p:pic>
        <p:nvPicPr>
          <p:cNvPr id="182277" name="Picture 5" descr="Conversion of RE to FA"/>
          <p:cNvPicPr>
            <a:picLocks noChangeAspect="1" noChangeArrowheads="1"/>
          </p:cNvPicPr>
          <p:nvPr/>
        </p:nvPicPr>
        <p:blipFill>
          <a:blip r:embed="rId5"/>
          <a:srcRect/>
          <a:stretch>
            <a:fillRect/>
          </a:stretch>
        </p:blipFill>
        <p:spPr bwMode="auto">
          <a:xfrm>
            <a:off x="1600201" y="4157870"/>
            <a:ext cx="2186660" cy="1789043"/>
          </a:xfrm>
          <a:prstGeom prst="rect">
            <a:avLst/>
          </a:prstGeom>
          <a:noFill/>
        </p:spPr>
      </p:pic>
      <p:sp>
        <p:nvSpPr>
          <p:cNvPr id="17" name="Rectangle 16"/>
          <p:cNvSpPr/>
          <p:nvPr/>
        </p:nvSpPr>
        <p:spPr>
          <a:xfrm>
            <a:off x="304803" y="4621696"/>
            <a:ext cx="856325" cy="333168"/>
          </a:xfrm>
          <a:prstGeom prst="rect">
            <a:avLst/>
          </a:prstGeom>
        </p:spPr>
        <p:txBody>
          <a:bodyPr wrap="none">
            <a:spAutoFit/>
          </a:bodyPr>
          <a:lstStyle/>
          <a:p>
            <a:pPr lvl="0" eaLnBrk="0" fontAlgn="base" hangingPunct="0">
              <a:spcBef>
                <a:spcPct val="0"/>
              </a:spcBef>
              <a:spcAft>
                <a:spcPct val="0"/>
              </a:spcAft>
            </a:pPr>
            <a:r>
              <a:rPr lang="en-US" sz="1565" b="1" dirty="0">
                <a:solidFill>
                  <a:srgbClr val="333333"/>
                </a:solidFill>
                <a:latin typeface="inter-bold"/>
                <a:cs typeface="Arial" pitchFamily="34" charset="0"/>
              </a:rPr>
              <a:t>Step 4:</a:t>
            </a:r>
            <a:endParaRPr lang="en-US" sz="913" dirty="0">
              <a:latin typeface="Arial" pitchFamily="34" charset="0"/>
              <a:cs typeface="Arial" pitchFamily="34" charset="0"/>
            </a:endParaRPr>
          </a:p>
        </p:txBody>
      </p:sp>
      <p:sp>
        <p:nvSpPr>
          <p:cNvPr id="14" name="Date Placeholder 3"/>
          <p:cNvSpPr>
            <a:spLocks noGrp="1"/>
          </p:cNvSpPr>
          <p:nvPr>
            <p:ph type="dt" sz="half" idx="10"/>
          </p:nvPr>
        </p:nvSpPr>
        <p:spPr>
          <a:xfrm>
            <a:off x="609600" y="6107047"/>
            <a:ext cx="2133600" cy="317500"/>
          </a:xfrm>
        </p:spPr>
        <p:txBody>
          <a:bodyPr/>
          <a:lstStyle/>
          <a:p>
            <a:fld id="{BD64D631-970A-472F-9DE4-0C3690CE12DA}" type="datetime1">
              <a:rPr lang="en-US" smtClean="0"/>
              <a:t>3/16/2026</a:t>
            </a:fld>
            <a:endParaRPr lang="en-US" dirty="0"/>
          </a:p>
        </p:txBody>
      </p:sp>
      <p:sp>
        <p:nvSpPr>
          <p:cNvPr id="16" name="Footer Placeholder 4"/>
          <p:cNvSpPr>
            <a:spLocks noGrp="1"/>
          </p:cNvSpPr>
          <p:nvPr>
            <p:ph type="ftr" sz="quarter" idx="11"/>
          </p:nvPr>
        </p:nvSpPr>
        <p:spPr>
          <a:xfrm>
            <a:off x="2743200" y="6107047"/>
            <a:ext cx="4343400" cy="317500"/>
          </a:xfrm>
        </p:spPr>
        <p:txBody>
          <a:bodyPr/>
          <a:lstStyle/>
          <a:p>
            <a:r>
              <a:rPr lang="en-US" smtClean="0"/>
              <a:t>Vivek Kumar Sharma     BCSE0404(TAFL) (Unit II</a:t>
            </a:r>
            <a:endParaRPr lang="en-US" dirty="0"/>
          </a:p>
        </p:txBody>
      </p:sp>
      <p:sp>
        <p:nvSpPr>
          <p:cNvPr id="18" name="Slide Number Placeholder 5"/>
          <p:cNvSpPr txBox="1">
            <a:spLocks/>
          </p:cNvSpPr>
          <p:nvPr/>
        </p:nvSpPr>
        <p:spPr>
          <a:xfrm>
            <a:off x="6705600" y="6107047"/>
            <a:ext cx="2133600" cy="317500"/>
          </a:xfrm>
          <a:prstGeom prst="rect">
            <a:avLst/>
          </a:prstGeom>
        </p:spPr>
        <p:txBody>
          <a:bodyPr vert="horz" lIns="79513" tIns="39757" rIns="79513" bIns="39757" rtlCol="0" anchor="ctr"/>
          <a:lstStyle/>
          <a:p>
            <a:pPr algn="r" defTabSz="795162">
              <a:defRPr/>
            </a:pPr>
            <a:fld id="{B6F15528-21DE-4FAA-801E-634DDDAF4B2B}" type="slidenum">
              <a:rPr lang="en-US" sz="1044">
                <a:solidFill>
                  <a:schemeClr val="tx1">
                    <a:tint val="75000"/>
                  </a:schemeClr>
                </a:solidFill>
              </a:rPr>
              <a:pPr algn="r" defTabSz="795162">
                <a:defRPr/>
              </a:pPr>
              <a:t>49</a:t>
            </a:fld>
            <a:endParaRPr lang="en-US" sz="1044">
              <a:solidFill>
                <a:schemeClr val="tx1">
                  <a:tint val="75000"/>
                </a:schemeClr>
              </a:solidFill>
            </a:endParaRPr>
          </a:p>
        </p:txBody>
      </p:sp>
    </p:spTree>
    <p:extLst>
      <p:ext uri="{BB962C8B-B14F-4D97-AF65-F5344CB8AC3E}">
        <p14:creationId xmlns:p14="http://schemas.microsoft.com/office/powerpoint/2010/main" val="263225470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972098" y="1753138"/>
            <a:ext cx="8229600" cy="437598"/>
          </a:xfrm>
        </p:spPr>
        <p:txBody>
          <a:bodyPr>
            <a:normAutofit/>
          </a:bodyPr>
          <a:lstStyle/>
          <a:p>
            <a:pPr algn="l"/>
            <a:r>
              <a:rPr lang="en-US" sz="1913" dirty="0">
                <a:latin typeface="+mn-lt"/>
              </a:rPr>
              <a:t>Construct an NFA for a*b*c*.</a:t>
            </a:r>
          </a:p>
        </p:txBody>
      </p:sp>
      <p:sp>
        <p:nvSpPr>
          <p:cNvPr id="4" name="Date Placeholder 3"/>
          <p:cNvSpPr>
            <a:spLocks noGrp="1"/>
          </p:cNvSpPr>
          <p:nvPr>
            <p:ph type="dt" sz="half" idx="10"/>
          </p:nvPr>
        </p:nvSpPr>
        <p:spPr/>
        <p:txBody>
          <a:bodyPr/>
          <a:lstStyle/>
          <a:p>
            <a:fld id="{1B2E84F5-47BA-490D-9F37-B7F7109376D6}" type="datetime1">
              <a:rPr lang="en-US" smtClean="0"/>
              <a:t>3/16/2026</a:t>
            </a:fld>
            <a:endParaRPr lang="en-US" dirty="0"/>
          </a:p>
        </p:txBody>
      </p:sp>
      <p:sp>
        <p:nvSpPr>
          <p:cNvPr id="5" name="Footer Placeholder 4"/>
          <p:cNvSpPr>
            <a:spLocks noGrp="1"/>
          </p:cNvSpPr>
          <p:nvPr>
            <p:ph type="ftr" sz="quarter" idx="11"/>
          </p:nvPr>
        </p:nvSpPr>
        <p:spPr>
          <a:xfrm>
            <a:off x="25146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31"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Regular Expression to NFA</a:t>
            </a:r>
          </a:p>
        </p:txBody>
      </p:sp>
      <p:grpSp>
        <p:nvGrpSpPr>
          <p:cNvPr id="2" name="Group 81"/>
          <p:cNvGrpSpPr/>
          <p:nvPr/>
        </p:nvGrpSpPr>
        <p:grpSpPr>
          <a:xfrm>
            <a:off x="743500" y="2274959"/>
            <a:ext cx="6410187" cy="1590261"/>
            <a:chOff x="699052" y="1676400"/>
            <a:chExt cx="6410187" cy="1828800"/>
          </a:xfrm>
        </p:grpSpPr>
        <p:sp>
          <p:nvSpPr>
            <p:cNvPr id="26" name="Oval 25"/>
            <p:cNvSpPr/>
            <p:nvPr/>
          </p:nvSpPr>
          <p:spPr>
            <a:xfrm>
              <a:off x="6019800" y="2474942"/>
              <a:ext cx="1089439" cy="1030258"/>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q2</a:t>
              </a:r>
            </a:p>
          </p:txBody>
        </p:sp>
        <p:sp>
          <p:nvSpPr>
            <p:cNvPr id="28" name="TextBox 27"/>
            <p:cNvSpPr txBox="1"/>
            <p:nvPr/>
          </p:nvSpPr>
          <p:spPr>
            <a:xfrm>
              <a:off x="719589" y="1764268"/>
              <a:ext cx="423412" cy="383143"/>
            </a:xfrm>
            <a:prstGeom prst="rect">
              <a:avLst/>
            </a:prstGeom>
            <a:noFill/>
          </p:spPr>
          <p:txBody>
            <a:bodyPr wrap="square" rtlCol="0">
              <a:spAutoFit/>
            </a:bodyPr>
            <a:lstStyle/>
            <a:p>
              <a:r>
                <a:rPr lang="en-US" sz="1565" dirty="0">
                  <a:solidFill>
                    <a:srgbClr val="FF0000"/>
                  </a:solidFill>
                </a:rPr>
                <a:t>a</a:t>
              </a:r>
            </a:p>
          </p:txBody>
        </p:sp>
        <p:sp>
          <p:nvSpPr>
            <p:cNvPr id="32" name="Oval 31"/>
            <p:cNvSpPr/>
            <p:nvPr/>
          </p:nvSpPr>
          <p:spPr>
            <a:xfrm>
              <a:off x="927650" y="2590800"/>
              <a:ext cx="990600" cy="874355"/>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q0</a:t>
              </a:r>
            </a:p>
          </p:txBody>
        </p:sp>
        <p:sp>
          <p:nvSpPr>
            <p:cNvPr id="33" name="Oval 32"/>
            <p:cNvSpPr/>
            <p:nvPr/>
          </p:nvSpPr>
          <p:spPr>
            <a:xfrm>
              <a:off x="3429000" y="2514600"/>
              <a:ext cx="937039" cy="950555"/>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q1</a:t>
              </a:r>
            </a:p>
          </p:txBody>
        </p:sp>
        <p:cxnSp>
          <p:nvCxnSpPr>
            <p:cNvPr id="34" name="Straight Arrow Connector 33"/>
            <p:cNvCxnSpPr>
              <a:endCxn id="32" idx="2"/>
            </p:cNvCxnSpPr>
            <p:nvPr/>
          </p:nvCxnSpPr>
          <p:spPr>
            <a:xfrm flipV="1">
              <a:off x="699052" y="3027978"/>
              <a:ext cx="228598" cy="208577"/>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37" name="Curved Connector 36"/>
            <p:cNvCxnSpPr>
              <a:stCxn id="32" idx="1"/>
              <a:endCxn id="32" idx="0"/>
            </p:cNvCxnSpPr>
            <p:nvPr/>
          </p:nvCxnSpPr>
          <p:spPr>
            <a:xfrm rot="5400000" flipH="1" flipV="1">
              <a:off x="1183812" y="2479708"/>
              <a:ext cx="128046" cy="350230"/>
            </a:xfrm>
            <a:prstGeom prst="curvedConnector3">
              <a:avLst>
                <a:gd name="adj1" fmla="val 278530"/>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39" name="Oval 38"/>
            <p:cNvSpPr/>
            <p:nvPr/>
          </p:nvSpPr>
          <p:spPr>
            <a:xfrm>
              <a:off x="6118639" y="2560796"/>
              <a:ext cx="907866" cy="858548"/>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cxnSp>
          <p:nvCxnSpPr>
            <p:cNvPr id="41" name="Straight Arrow Connector 40"/>
            <p:cNvCxnSpPr>
              <a:stCxn id="33" idx="6"/>
              <a:endCxn id="26" idx="2"/>
            </p:cNvCxnSpPr>
            <p:nvPr/>
          </p:nvCxnSpPr>
          <p:spPr>
            <a:xfrm>
              <a:off x="4366039" y="2989878"/>
              <a:ext cx="1653761" cy="193"/>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2" idx="6"/>
              <a:endCxn id="33" idx="2"/>
            </p:cNvCxnSpPr>
            <p:nvPr/>
          </p:nvCxnSpPr>
          <p:spPr>
            <a:xfrm flipV="1">
              <a:off x="1918250" y="2989878"/>
              <a:ext cx="1510750" cy="38100"/>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2366527" y="2666415"/>
              <a:ext cx="423412" cy="383143"/>
            </a:xfrm>
            <a:prstGeom prst="rect">
              <a:avLst/>
            </a:prstGeom>
            <a:noFill/>
          </p:spPr>
          <p:txBody>
            <a:bodyPr wrap="square" rtlCol="0">
              <a:spAutoFit/>
            </a:bodyPr>
            <a:lstStyle/>
            <a:p>
              <a:r>
                <a:rPr lang="en-US" sz="1565" dirty="0">
                  <a:solidFill>
                    <a:srgbClr val="FF0000"/>
                  </a:solidFill>
                </a:rPr>
                <a:t>Ɛ</a:t>
              </a:r>
            </a:p>
          </p:txBody>
        </p:sp>
        <p:sp>
          <p:nvSpPr>
            <p:cNvPr id="49" name="TextBox 48"/>
            <p:cNvSpPr txBox="1"/>
            <p:nvPr/>
          </p:nvSpPr>
          <p:spPr>
            <a:xfrm>
              <a:off x="5334000" y="2654399"/>
              <a:ext cx="423412" cy="383143"/>
            </a:xfrm>
            <a:prstGeom prst="rect">
              <a:avLst/>
            </a:prstGeom>
            <a:noFill/>
          </p:spPr>
          <p:txBody>
            <a:bodyPr wrap="square" rtlCol="0">
              <a:spAutoFit/>
            </a:bodyPr>
            <a:lstStyle/>
            <a:p>
              <a:r>
                <a:rPr lang="en-US" sz="1565" dirty="0">
                  <a:solidFill>
                    <a:srgbClr val="FF0000"/>
                  </a:solidFill>
                </a:rPr>
                <a:t>Ɛ</a:t>
              </a:r>
            </a:p>
          </p:txBody>
        </p:sp>
        <p:cxnSp>
          <p:nvCxnSpPr>
            <p:cNvPr id="50" name="Curved Connector 49"/>
            <p:cNvCxnSpPr>
              <a:stCxn id="33" idx="1"/>
              <a:endCxn id="33" idx="0"/>
            </p:cNvCxnSpPr>
            <p:nvPr/>
          </p:nvCxnSpPr>
          <p:spPr>
            <a:xfrm rot="5400000" flipH="1" flipV="1">
              <a:off x="3662271" y="2418556"/>
              <a:ext cx="139205" cy="331294"/>
            </a:xfrm>
            <a:prstGeom prst="curvedConnector3">
              <a:avLst>
                <a:gd name="adj1" fmla="val 518492"/>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67" name="Curved Connector 66"/>
            <p:cNvCxnSpPr>
              <a:stCxn id="26" idx="1"/>
              <a:endCxn id="26" idx="0"/>
            </p:cNvCxnSpPr>
            <p:nvPr/>
          </p:nvCxnSpPr>
          <p:spPr>
            <a:xfrm rot="5400000" flipH="1" flipV="1">
              <a:off x="6296493" y="2357794"/>
              <a:ext cx="150878" cy="385175"/>
            </a:xfrm>
            <a:prstGeom prst="curvedConnector3">
              <a:avLst>
                <a:gd name="adj1" fmla="val 456789"/>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386589" y="1676400"/>
              <a:ext cx="423412" cy="383143"/>
            </a:xfrm>
            <a:prstGeom prst="rect">
              <a:avLst/>
            </a:prstGeom>
            <a:noFill/>
          </p:spPr>
          <p:txBody>
            <a:bodyPr wrap="square" rtlCol="0">
              <a:spAutoFit/>
            </a:bodyPr>
            <a:lstStyle/>
            <a:p>
              <a:r>
                <a:rPr lang="en-US" sz="1565" dirty="0">
                  <a:solidFill>
                    <a:srgbClr val="FF0000"/>
                  </a:solidFill>
                </a:rPr>
                <a:t>b</a:t>
              </a:r>
            </a:p>
          </p:txBody>
        </p:sp>
        <p:sp>
          <p:nvSpPr>
            <p:cNvPr id="78" name="TextBox 77"/>
            <p:cNvSpPr txBox="1"/>
            <p:nvPr/>
          </p:nvSpPr>
          <p:spPr>
            <a:xfrm>
              <a:off x="6477000" y="1676400"/>
              <a:ext cx="423412" cy="383143"/>
            </a:xfrm>
            <a:prstGeom prst="rect">
              <a:avLst/>
            </a:prstGeom>
            <a:noFill/>
          </p:spPr>
          <p:txBody>
            <a:bodyPr wrap="square" rtlCol="0">
              <a:spAutoFit/>
            </a:bodyPr>
            <a:lstStyle/>
            <a:p>
              <a:r>
                <a:rPr lang="en-US" sz="1565" dirty="0">
                  <a:solidFill>
                    <a:srgbClr val="FF0000"/>
                  </a:solidFill>
                </a:rPr>
                <a:t>c</a:t>
              </a:r>
            </a:p>
          </p:txBody>
        </p:sp>
      </p:grpSp>
      <mc:AlternateContent xmlns:mc="http://schemas.openxmlformats.org/markup-compatibility/2006" xmlns:p14="http://schemas.microsoft.com/office/powerpoint/2010/main">
        <mc:Choice Requires="p14">
          <p:contentPart p14:bwMode="auto" r:id="rId2">
            <p14:nvContentPartPr>
              <p14:cNvPr id="183330" name="Ink 34"/>
              <p14:cNvContentPartPr>
                <a14:cpLocks xmlns:a14="http://schemas.microsoft.com/office/drawing/2010/main" noRot="1" noChangeAspect="1" noEditPoints="1" noChangeArrowheads="1" noChangeShapeType="1"/>
              </p14:cNvContentPartPr>
              <p14:nvPr/>
            </p14:nvContentPartPr>
            <p14:xfrm>
              <a:off x="90468174" y="92389739"/>
              <a:ext cx="0" cy="0"/>
            </p14:xfrm>
          </p:contentPart>
        </mc:Choice>
        <mc:Fallback xmlns="">
          <p:pic>
            <p:nvPicPr>
              <p:cNvPr id="183330" name="Ink 34"/>
              <p:cNvPicPr>
                <a:picLocks noRot="1" noChangeAspect="1" noEditPoints="1" noChangeArrowheads="1" noChangeShapeType="1"/>
              </p:cNvPicPr>
              <p:nvPr/>
            </p:nvPicPr>
            <p:blipFill>
              <a:blip r:embed="rId3"/>
              <a:stretch>
                <a:fillRect/>
              </a:stretch>
            </p:blipFill>
            <p:spPr>
              <a:xfrm>
                <a:off x="90468174" y="92389739"/>
                <a:ext cx="0" cy="0"/>
              </a:xfrm>
              <a:prstGeom prst="rect">
                <a:avLst/>
              </a:prstGeom>
            </p:spPr>
          </p:pic>
        </mc:Fallback>
      </mc:AlternateContent>
    </p:spTree>
    <p:extLst>
      <p:ext uri="{BB962C8B-B14F-4D97-AF65-F5344CB8AC3E}">
        <p14:creationId xmlns:p14="http://schemas.microsoft.com/office/powerpoint/2010/main" val="281154190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685800" y="1374913"/>
            <a:ext cx="8229600" cy="437598"/>
          </a:xfrm>
        </p:spPr>
        <p:txBody>
          <a:bodyPr>
            <a:normAutofit/>
          </a:bodyPr>
          <a:lstStyle/>
          <a:p>
            <a:pPr algn="l"/>
            <a:r>
              <a:rPr lang="en-US" sz="1913" dirty="0">
                <a:latin typeface="+mn-lt"/>
              </a:rPr>
              <a:t>Construct an NFA for a(</a:t>
            </a:r>
            <a:r>
              <a:rPr lang="en-US" sz="1913" dirty="0" err="1">
                <a:latin typeface="+mn-lt"/>
              </a:rPr>
              <a:t>a+b</a:t>
            </a:r>
            <a:r>
              <a:rPr lang="en-US" sz="1913" dirty="0">
                <a:latin typeface="+mn-lt"/>
              </a:rPr>
              <a:t>)*b.</a:t>
            </a:r>
          </a:p>
        </p:txBody>
      </p:sp>
      <p:sp>
        <p:nvSpPr>
          <p:cNvPr id="4" name="Date Placeholder 3"/>
          <p:cNvSpPr>
            <a:spLocks noGrp="1"/>
          </p:cNvSpPr>
          <p:nvPr>
            <p:ph type="dt" sz="half" idx="10"/>
          </p:nvPr>
        </p:nvSpPr>
        <p:spPr/>
        <p:txBody>
          <a:bodyPr/>
          <a:lstStyle/>
          <a:p>
            <a:fld id="{CD2298B6-3F87-42C0-9417-61BC49510969}" type="datetime1">
              <a:rPr lang="en-US" smtClean="0"/>
              <a:t>3/16/2026</a:t>
            </a:fld>
            <a:endParaRPr lang="en-US" dirty="0"/>
          </a:p>
        </p:txBody>
      </p:sp>
      <p:sp>
        <p:nvSpPr>
          <p:cNvPr id="5" name="Footer Placeholder 4"/>
          <p:cNvSpPr>
            <a:spLocks noGrp="1"/>
          </p:cNvSpPr>
          <p:nvPr>
            <p:ph type="ftr" sz="quarter" idx="11"/>
          </p:nvPr>
        </p:nvSpPr>
        <p:spPr>
          <a:xfrm>
            <a:off x="25146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31"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Regular Expression to NFA</a:t>
            </a:r>
          </a:p>
        </p:txBody>
      </p:sp>
      <p:cxnSp>
        <p:nvCxnSpPr>
          <p:cNvPr id="34" name="Straight Arrow Connector 33"/>
          <p:cNvCxnSpPr/>
          <p:nvPr/>
        </p:nvCxnSpPr>
        <p:spPr>
          <a:xfrm flipV="1">
            <a:off x="762003" y="3038703"/>
            <a:ext cx="228599" cy="181371"/>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grpSp>
        <p:nvGrpSpPr>
          <p:cNvPr id="2" name="Group 72"/>
          <p:cNvGrpSpPr/>
          <p:nvPr/>
        </p:nvGrpSpPr>
        <p:grpSpPr>
          <a:xfrm>
            <a:off x="990600" y="1905003"/>
            <a:ext cx="7414039" cy="1346510"/>
            <a:chOff x="990598" y="1676400"/>
            <a:chExt cx="7414039" cy="1548487"/>
          </a:xfrm>
        </p:grpSpPr>
        <p:sp>
          <p:nvSpPr>
            <p:cNvPr id="26" name="Oval 25"/>
            <p:cNvSpPr/>
            <p:nvPr/>
          </p:nvSpPr>
          <p:spPr>
            <a:xfrm>
              <a:off x="7566437" y="2426732"/>
              <a:ext cx="8382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q4</a:t>
              </a:r>
            </a:p>
          </p:txBody>
        </p:sp>
        <p:sp>
          <p:nvSpPr>
            <p:cNvPr id="28" name="TextBox 27"/>
            <p:cNvSpPr txBox="1"/>
            <p:nvPr/>
          </p:nvSpPr>
          <p:spPr>
            <a:xfrm>
              <a:off x="1885225" y="2462669"/>
              <a:ext cx="423412" cy="444715"/>
            </a:xfrm>
            <a:prstGeom prst="rect">
              <a:avLst/>
            </a:prstGeom>
            <a:noFill/>
          </p:spPr>
          <p:txBody>
            <a:bodyPr wrap="square" rtlCol="0">
              <a:spAutoFit/>
            </a:bodyPr>
            <a:lstStyle/>
            <a:p>
              <a:r>
                <a:rPr lang="en-US" sz="1913" dirty="0">
                  <a:solidFill>
                    <a:srgbClr val="FF0000"/>
                  </a:solidFill>
                </a:rPr>
                <a:t>a</a:t>
              </a:r>
            </a:p>
          </p:txBody>
        </p:sp>
        <p:sp>
          <p:nvSpPr>
            <p:cNvPr id="32" name="Oval 31"/>
            <p:cNvSpPr/>
            <p:nvPr/>
          </p:nvSpPr>
          <p:spPr>
            <a:xfrm>
              <a:off x="990598" y="2502932"/>
              <a:ext cx="708439" cy="721955"/>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q0</a:t>
              </a:r>
            </a:p>
          </p:txBody>
        </p:sp>
        <p:sp>
          <p:nvSpPr>
            <p:cNvPr id="33" name="Oval 32"/>
            <p:cNvSpPr/>
            <p:nvPr/>
          </p:nvSpPr>
          <p:spPr>
            <a:xfrm>
              <a:off x="4038598" y="2502932"/>
              <a:ext cx="708439" cy="6858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q2</a:t>
              </a:r>
            </a:p>
          </p:txBody>
        </p:sp>
        <p:sp>
          <p:nvSpPr>
            <p:cNvPr id="39" name="Oval 38"/>
            <p:cNvSpPr/>
            <p:nvPr/>
          </p:nvSpPr>
          <p:spPr>
            <a:xfrm>
              <a:off x="7642637" y="2472928"/>
              <a:ext cx="685800" cy="668048"/>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cxnSp>
          <p:nvCxnSpPr>
            <p:cNvPr id="41" name="Straight Arrow Connector 40"/>
            <p:cNvCxnSpPr>
              <a:stCxn id="33" idx="6"/>
              <a:endCxn id="25" idx="2"/>
            </p:cNvCxnSpPr>
            <p:nvPr/>
          </p:nvCxnSpPr>
          <p:spPr>
            <a:xfrm flipV="1">
              <a:off x="4747037" y="2827755"/>
              <a:ext cx="1066800" cy="18077"/>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2" idx="6"/>
              <a:endCxn id="24" idx="2"/>
            </p:cNvCxnSpPr>
            <p:nvPr/>
          </p:nvCxnSpPr>
          <p:spPr>
            <a:xfrm flipV="1">
              <a:off x="1699037" y="2845832"/>
              <a:ext cx="685801" cy="18078"/>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333025" y="2462669"/>
              <a:ext cx="423412" cy="444715"/>
            </a:xfrm>
            <a:prstGeom prst="rect">
              <a:avLst/>
            </a:prstGeom>
            <a:noFill/>
          </p:spPr>
          <p:txBody>
            <a:bodyPr wrap="square" rtlCol="0">
              <a:spAutoFit/>
            </a:bodyPr>
            <a:lstStyle/>
            <a:p>
              <a:r>
                <a:rPr lang="en-US" sz="1913" dirty="0">
                  <a:solidFill>
                    <a:srgbClr val="FF0000"/>
                  </a:solidFill>
                </a:rPr>
                <a:t>Ɛ</a:t>
              </a:r>
            </a:p>
          </p:txBody>
        </p:sp>
        <p:sp>
          <p:nvSpPr>
            <p:cNvPr id="49" name="TextBox 48"/>
            <p:cNvSpPr txBox="1"/>
            <p:nvPr/>
          </p:nvSpPr>
          <p:spPr>
            <a:xfrm>
              <a:off x="5051837" y="2462669"/>
              <a:ext cx="423412" cy="444715"/>
            </a:xfrm>
            <a:prstGeom prst="rect">
              <a:avLst/>
            </a:prstGeom>
            <a:noFill/>
          </p:spPr>
          <p:txBody>
            <a:bodyPr wrap="square" rtlCol="0">
              <a:spAutoFit/>
            </a:bodyPr>
            <a:lstStyle/>
            <a:p>
              <a:r>
                <a:rPr lang="en-US" sz="1913" dirty="0">
                  <a:solidFill>
                    <a:srgbClr val="FF0000"/>
                  </a:solidFill>
                </a:rPr>
                <a:t>Ɛ</a:t>
              </a:r>
            </a:p>
          </p:txBody>
        </p:sp>
        <p:cxnSp>
          <p:nvCxnSpPr>
            <p:cNvPr id="50" name="Curved Connector 49"/>
            <p:cNvCxnSpPr>
              <a:stCxn id="33" idx="1"/>
              <a:endCxn id="33" idx="7"/>
            </p:cNvCxnSpPr>
            <p:nvPr/>
          </p:nvCxnSpPr>
          <p:spPr>
            <a:xfrm rot="5400000" flipH="1" flipV="1">
              <a:off x="4392817" y="2352895"/>
              <a:ext cx="1588" cy="500941"/>
            </a:xfrm>
            <a:prstGeom prst="curvedConnector3">
              <a:avLst>
                <a:gd name="adj1" fmla="val 43938490"/>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832637" y="1676400"/>
              <a:ext cx="609600" cy="444715"/>
            </a:xfrm>
            <a:prstGeom prst="rect">
              <a:avLst/>
            </a:prstGeom>
            <a:noFill/>
          </p:spPr>
          <p:txBody>
            <a:bodyPr wrap="square" rtlCol="0">
              <a:spAutoFit/>
            </a:bodyPr>
            <a:lstStyle/>
            <a:p>
              <a:r>
                <a:rPr lang="en-US" sz="1913" dirty="0" err="1">
                  <a:solidFill>
                    <a:srgbClr val="FF0000"/>
                  </a:solidFill>
                </a:rPr>
                <a:t>a,b</a:t>
              </a:r>
              <a:endParaRPr lang="en-US" sz="1913" dirty="0">
                <a:solidFill>
                  <a:srgbClr val="FF0000"/>
                </a:solidFill>
              </a:endParaRPr>
            </a:p>
          </p:txBody>
        </p:sp>
        <p:sp>
          <p:nvSpPr>
            <p:cNvPr id="24" name="Oval 23"/>
            <p:cNvSpPr/>
            <p:nvPr/>
          </p:nvSpPr>
          <p:spPr>
            <a:xfrm>
              <a:off x="2384838" y="2502932"/>
              <a:ext cx="685799" cy="6858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q1</a:t>
              </a:r>
            </a:p>
          </p:txBody>
        </p:sp>
        <p:sp>
          <p:nvSpPr>
            <p:cNvPr id="25" name="Oval 24"/>
            <p:cNvSpPr/>
            <p:nvPr/>
          </p:nvSpPr>
          <p:spPr>
            <a:xfrm>
              <a:off x="5813837" y="2466777"/>
              <a:ext cx="784639" cy="721955"/>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q3</a:t>
              </a:r>
            </a:p>
          </p:txBody>
        </p:sp>
        <p:cxnSp>
          <p:nvCxnSpPr>
            <p:cNvPr id="35" name="Straight Arrow Connector 34"/>
            <p:cNvCxnSpPr>
              <a:stCxn id="25" idx="6"/>
              <a:endCxn id="26" idx="2"/>
            </p:cNvCxnSpPr>
            <p:nvPr/>
          </p:nvCxnSpPr>
          <p:spPr>
            <a:xfrm flipV="1">
              <a:off x="6598476" y="2807732"/>
              <a:ext cx="967961" cy="20023"/>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4" idx="6"/>
              <a:endCxn id="33" idx="2"/>
            </p:cNvCxnSpPr>
            <p:nvPr/>
          </p:nvCxnSpPr>
          <p:spPr>
            <a:xfrm>
              <a:off x="3070637" y="2845832"/>
              <a:ext cx="967961" cy="1588"/>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6838225" y="2438399"/>
              <a:ext cx="423412" cy="444715"/>
            </a:xfrm>
            <a:prstGeom prst="rect">
              <a:avLst/>
            </a:prstGeom>
            <a:noFill/>
          </p:spPr>
          <p:txBody>
            <a:bodyPr wrap="square" rtlCol="0">
              <a:spAutoFit/>
            </a:bodyPr>
            <a:lstStyle/>
            <a:p>
              <a:r>
                <a:rPr lang="en-US" sz="1913" dirty="0">
                  <a:solidFill>
                    <a:srgbClr val="FF0000"/>
                  </a:solidFill>
                </a:rPr>
                <a:t>b</a:t>
              </a:r>
            </a:p>
          </p:txBody>
        </p:sp>
      </p:grpSp>
      <p:sp>
        <p:nvSpPr>
          <p:cNvPr id="79" name="Title 18"/>
          <p:cNvSpPr txBox="1">
            <a:spLocks/>
          </p:cNvSpPr>
          <p:nvPr/>
        </p:nvSpPr>
        <p:spPr>
          <a:xfrm>
            <a:off x="838200" y="1798706"/>
            <a:ext cx="1066800" cy="437598"/>
          </a:xfrm>
          <a:prstGeom prst="rect">
            <a:avLst/>
          </a:prstGeom>
        </p:spPr>
        <p:txBody>
          <a:bodyPr vert="horz" lIns="79513" tIns="39757" rIns="79513" bIns="39757" rtlCol="0" anchor="ctr">
            <a:normAutofit/>
          </a:bodyPr>
          <a:lstStyle/>
          <a:p>
            <a:pPr defTabSz="795162">
              <a:spcBef>
                <a:spcPct val="0"/>
              </a:spcBef>
              <a:defRPr/>
            </a:pPr>
            <a:r>
              <a:rPr lang="en-US" sz="1913" b="1" dirty="0">
                <a:ea typeface="+mj-ea"/>
                <a:cs typeface="+mj-cs"/>
              </a:rPr>
              <a:t>Ɛ-NFA</a:t>
            </a:r>
          </a:p>
        </p:txBody>
      </p:sp>
      <p:grpSp>
        <p:nvGrpSpPr>
          <p:cNvPr id="3" name="Group 80"/>
          <p:cNvGrpSpPr/>
          <p:nvPr/>
        </p:nvGrpSpPr>
        <p:grpSpPr>
          <a:xfrm>
            <a:off x="914401" y="3720271"/>
            <a:ext cx="7642637" cy="1497772"/>
            <a:chOff x="914400" y="3535362"/>
            <a:chExt cx="7642637" cy="1722438"/>
          </a:xfrm>
        </p:grpSpPr>
        <p:sp>
          <p:nvSpPr>
            <p:cNvPr id="55" name="Oval 54"/>
            <p:cNvSpPr/>
            <p:nvPr/>
          </p:nvSpPr>
          <p:spPr>
            <a:xfrm>
              <a:off x="7718837" y="4459645"/>
              <a:ext cx="838200" cy="7620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q4</a:t>
              </a:r>
            </a:p>
          </p:txBody>
        </p:sp>
        <p:sp>
          <p:nvSpPr>
            <p:cNvPr id="56" name="TextBox 55"/>
            <p:cNvSpPr txBox="1"/>
            <p:nvPr/>
          </p:nvSpPr>
          <p:spPr>
            <a:xfrm>
              <a:off x="2929388" y="4495800"/>
              <a:ext cx="423412" cy="444715"/>
            </a:xfrm>
            <a:prstGeom prst="rect">
              <a:avLst/>
            </a:prstGeom>
            <a:noFill/>
          </p:spPr>
          <p:txBody>
            <a:bodyPr wrap="square" rtlCol="0">
              <a:spAutoFit/>
            </a:bodyPr>
            <a:lstStyle/>
            <a:p>
              <a:r>
                <a:rPr lang="en-US" sz="1913" dirty="0">
                  <a:solidFill>
                    <a:srgbClr val="FF0000"/>
                  </a:solidFill>
                </a:rPr>
                <a:t>a</a:t>
              </a:r>
            </a:p>
          </p:txBody>
        </p:sp>
        <p:sp>
          <p:nvSpPr>
            <p:cNvPr id="57" name="Oval 56"/>
            <p:cNvSpPr/>
            <p:nvPr/>
          </p:nvSpPr>
          <p:spPr>
            <a:xfrm>
              <a:off x="1142998" y="4535845"/>
              <a:ext cx="708439" cy="721955"/>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q0</a:t>
              </a:r>
            </a:p>
          </p:txBody>
        </p:sp>
        <p:sp>
          <p:nvSpPr>
            <p:cNvPr id="58" name="Oval 57"/>
            <p:cNvSpPr/>
            <p:nvPr/>
          </p:nvSpPr>
          <p:spPr>
            <a:xfrm>
              <a:off x="4190998" y="4535845"/>
              <a:ext cx="708439" cy="685800"/>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39" dirty="0">
                  <a:solidFill>
                    <a:srgbClr val="FF0000"/>
                  </a:solidFill>
                </a:rPr>
                <a:t>q2</a:t>
              </a:r>
            </a:p>
          </p:txBody>
        </p:sp>
        <p:cxnSp>
          <p:nvCxnSpPr>
            <p:cNvPr id="59" name="Straight Arrow Connector 58"/>
            <p:cNvCxnSpPr/>
            <p:nvPr/>
          </p:nvCxnSpPr>
          <p:spPr>
            <a:xfrm flipV="1">
              <a:off x="914400" y="5013068"/>
              <a:ext cx="228598" cy="208577"/>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60" name="Oval 59"/>
            <p:cNvSpPr/>
            <p:nvPr/>
          </p:nvSpPr>
          <p:spPr>
            <a:xfrm>
              <a:off x="7795037" y="4505841"/>
              <a:ext cx="685800" cy="668048"/>
            </a:xfrm>
            <a:prstGeom prst="ellipse">
              <a:avLst/>
            </a:prstGeom>
            <a:noFill/>
            <a:ln>
              <a:solidFill>
                <a:srgbClr val="7BE5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5"/>
            </a:p>
          </p:txBody>
        </p:sp>
        <p:cxnSp>
          <p:nvCxnSpPr>
            <p:cNvPr id="61" name="Straight Arrow Connector 60"/>
            <p:cNvCxnSpPr>
              <a:stCxn id="58" idx="6"/>
              <a:endCxn id="55" idx="2"/>
            </p:cNvCxnSpPr>
            <p:nvPr/>
          </p:nvCxnSpPr>
          <p:spPr>
            <a:xfrm flipV="1">
              <a:off x="4899437" y="4840645"/>
              <a:ext cx="2819400" cy="38100"/>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57" idx="6"/>
              <a:endCxn id="58" idx="2"/>
            </p:cNvCxnSpPr>
            <p:nvPr/>
          </p:nvCxnSpPr>
          <p:spPr>
            <a:xfrm flipV="1">
              <a:off x="1851437" y="4878745"/>
              <a:ext cx="2339561" cy="18078"/>
            </a:xfrm>
            <a:prstGeom prst="straightConnector1">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cxnSp>
          <p:nvCxnSpPr>
            <p:cNvPr id="65" name="Curved Connector 64"/>
            <p:cNvCxnSpPr>
              <a:stCxn id="58" idx="1"/>
              <a:endCxn id="58" idx="7"/>
            </p:cNvCxnSpPr>
            <p:nvPr/>
          </p:nvCxnSpPr>
          <p:spPr>
            <a:xfrm rot="5400000" flipH="1" flipV="1">
              <a:off x="4545217" y="4385808"/>
              <a:ext cx="1588" cy="500941"/>
            </a:xfrm>
            <a:prstGeom prst="curvedConnector3">
              <a:avLst>
                <a:gd name="adj1" fmla="val 43938490"/>
              </a:avLst>
            </a:prstGeom>
            <a:ln w="25400">
              <a:solidFill>
                <a:srgbClr val="7BE5E5"/>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3985037" y="3709313"/>
              <a:ext cx="609600" cy="444715"/>
            </a:xfrm>
            <a:prstGeom prst="rect">
              <a:avLst/>
            </a:prstGeom>
            <a:noFill/>
          </p:spPr>
          <p:txBody>
            <a:bodyPr wrap="square" rtlCol="0">
              <a:spAutoFit/>
            </a:bodyPr>
            <a:lstStyle/>
            <a:p>
              <a:r>
                <a:rPr lang="en-US" sz="1913" dirty="0" err="1">
                  <a:solidFill>
                    <a:srgbClr val="FF0000"/>
                  </a:solidFill>
                </a:rPr>
                <a:t>a,b</a:t>
              </a:r>
              <a:endParaRPr lang="en-US" sz="1913" dirty="0">
                <a:solidFill>
                  <a:srgbClr val="FF0000"/>
                </a:solidFill>
              </a:endParaRPr>
            </a:p>
          </p:txBody>
        </p:sp>
        <p:sp>
          <p:nvSpPr>
            <p:cNvPr id="72" name="TextBox 71"/>
            <p:cNvSpPr txBox="1"/>
            <p:nvPr/>
          </p:nvSpPr>
          <p:spPr>
            <a:xfrm>
              <a:off x="6205988" y="4495800"/>
              <a:ext cx="423412" cy="444715"/>
            </a:xfrm>
            <a:prstGeom prst="rect">
              <a:avLst/>
            </a:prstGeom>
            <a:noFill/>
          </p:spPr>
          <p:txBody>
            <a:bodyPr wrap="square" rtlCol="0">
              <a:spAutoFit/>
            </a:bodyPr>
            <a:lstStyle/>
            <a:p>
              <a:r>
                <a:rPr lang="en-US" sz="1913" dirty="0">
                  <a:solidFill>
                    <a:srgbClr val="FF0000"/>
                  </a:solidFill>
                </a:rPr>
                <a:t>b</a:t>
              </a:r>
            </a:p>
          </p:txBody>
        </p:sp>
        <p:sp>
          <p:nvSpPr>
            <p:cNvPr id="80" name="Title 18"/>
            <p:cNvSpPr txBox="1">
              <a:spLocks/>
            </p:cNvSpPr>
            <p:nvPr/>
          </p:nvSpPr>
          <p:spPr>
            <a:xfrm>
              <a:off x="990600" y="3535362"/>
              <a:ext cx="914400" cy="503238"/>
            </a:xfrm>
            <a:prstGeom prst="rect">
              <a:avLst/>
            </a:prstGeom>
          </p:spPr>
          <p:txBody>
            <a:bodyPr vert="horz" lIns="79513" tIns="39757" rIns="79513" bIns="39757" rtlCol="0" anchor="ctr">
              <a:noAutofit/>
            </a:bodyPr>
            <a:lstStyle/>
            <a:p>
              <a:pPr defTabSz="795162">
                <a:spcBef>
                  <a:spcPct val="0"/>
                </a:spcBef>
                <a:defRPr/>
              </a:pPr>
              <a:r>
                <a:rPr lang="en-US" sz="1913" b="1" dirty="0">
                  <a:ea typeface="+mj-ea"/>
                  <a:cs typeface="+mj-cs"/>
                </a:rPr>
                <a:t>NFA</a:t>
              </a:r>
            </a:p>
          </p:txBody>
        </p:sp>
      </p:grpSp>
    </p:spTree>
    <p:extLst>
      <p:ext uri="{BB962C8B-B14F-4D97-AF65-F5344CB8AC3E}">
        <p14:creationId xmlns:p14="http://schemas.microsoft.com/office/powerpoint/2010/main" val="7718891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p:cNvSpPr>
            <a:spLocks noGrp="1"/>
          </p:cNvSpPr>
          <p:nvPr>
            <p:ph type="body" idx="1"/>
          </p:nvPr>
        </p:nvSpPr>
        <p:spPr>
          <a:xfrm>
            <a:off x="457200" y="1348685"/>
            <a:ext cx="8229600" cy="1218923"/>
          </a:xfrm>
        </p:spPr>
        <p:txBody>
          <a:bodyPr>
            <a:noAutofit/>
          </a:bodyPr>
          <a:lstStyle/>
          <a:p>
            <a:r>
              <a:rPr lang="en-US" sz="1826" b="0" dirty="0"/>
              <a:t>Let </a:t>
            </a:r>
            <a:r>
              <a:rPr lang="en-US" sz="1826" dirty="0"/>
              <a:t>P</a:t>
            </a:r>
            <a:r>
              <a:rPr lang="en-US" sz="1826" b="0" dirty="0"/>
              <a:t> and </a:t>
            </a:r>
            <a:r>
              <a:rPr lang="en-US" sz="1826" dirty="0"/>
              <a:t>Q</a:t>
            </a:r>
            <a:r>
              <a:rPr lang="en-US" sz="1826" b="0" dirty="0"/>
              <a:t> be two regular expressions. If P does not contain Ɛ, then </a:t>
            </a:r>
          </a:p>
          <a:p>
            <a:r>
              <a:rPr lang="en-US" sz="1826" b="0" dirty="0"/>
              <a:t>	</a:t>
            </a:r>
            <a:r>
              <a:rPr lang="en-US" sz="1826" dirty="0"/>
              <a:t>R = Q + RP</a:t>
            </a:r>
            <a:r>
              <a:rPr lang="en-US" sz="1826" b="0" dirty="0"/>
              <a:t> has a unique solution that is </a:t>
            </a:r>
          </a:p>
          <a:p>
            <a:r>
              <a:rPr lang="en-US" sz="1826" b="0" dirty="0"/>
              <a:t>	</a:t>
            </a:r>
            <a:r>
              <a:rPr lang="en-US" sz="1826" dirty="0"/>
              <a:t>R = QP*</a:t>
            </a:r>
          </a:p>
          <a:p>
            <a:endParaRPr lang="en-US" sz="1826" b="0" dirty="0"/>
          </a:p>
        </p:txBody>
      </p:sp>
      <p:sp>
        <p:nvSpPr>
          <p:cNvPr id="3" name="Content Placeholder 2"/>
          <p:cNvSpPr>
            <a:spLocks noGrp="1"/>
          </p:cNvSpPr>
          <p:nvPr>
            <p:ph sz="half" idx="2"/>
          </p:nvPr>
        </p:nvSpPr>
        <p:spPr>
          <a:xfrm>
            <a:off x="457200" y="2338456"/>
            <a:ext cx="2971800" cy="3435903"/>
          </a:xfrm>
          <a:ln w="3175">
            <a:solidFill>
              <a:srgbClr val="FF9999"/>
            </a:solidFill>
          </a:ln>
        </p:spPr>
        <p:txBody>
          <a:bodyPr>
            <a:normAutofit/>
          </a:bodyPr>
          <a:lstStyle/>
          <a:p>
            <a:pPr algn="just">
              <a:buNone/>
            </a:pPr>
            <a:r>
              <a:rPr lang="en-US" sz="1826" b="1" dirty="0">
                <a:solidFill>
                  <a:srgbClr val="FF0000"/>
                </a:solidFill>
              </a:rPr>
              <a:t>Proof </a:t>
            </a:r>
          </a:p>
          <a:p>
            <a:pPr algn="just">
              <a:buNone/>
            </a:pPr>
            <a:r>
              <a:rPr lang="en-US" sz="1826" b="1" dirty="0"/>
              <a:t> </a:t>
            </a:r>
            <a:r>
              <a:rPr lang="en-US" sz="1826" dirty="0"/>
              <a:t>R=Q+RP</a:t>
            </a:r>
          </a:p>
          <a:p>
            <a:pPr algn="just">
              <a:buNone/>
            </a:pPr>
            <a:r>
              <a:rPr lang="en-US" sz="1826" dirty="0"/>
              <a:t>	= Q+QP*P</a:t>
            </a:r>
          </a:p>
          <a:p>
            <a:pPr algn="just">
              <a:buNone/>
            </a:pPr>
            <a:r>
              <a:rPr lang="en-US" sz="1826" dirty="0"/>
              <a:t>	= Q(Ɛ + P*P)</a:t>
            </a:r>
          </a:p>
          <a:p>
            <a:pPr algn="just">
              <a:buNone/>
            </a:pPr>
            <a:r>
              <a:rPr lang="en-US" sz="1826" dirty="0"/>
              <a:t>	= QP*</a:t>
            </a:r>
          </a:p>
          <a:p>
            <a:pPr algn="just">
              <a:buNone/>
            </a:pPr>
            <a:r>
              <a:rPr lang="en-US" sz="1826" dirty="0"/>
              <a:t>So, R = QP* is a solution.</a:t>
            </a:r>
          </a:p>
        </p:txBody>
      </p:sp>
      <p:sp>
        <p:nvSpPr>
          <p:cNvPr id="12" name="Content Placeholder 11"/>
          <p:cNvSpPr>
            <a:spLocks noGrp="1"/>
          </p:cNvSpPr>
          <p:nvPr>
            <p:ph sz="quarter" idx="4"/>
          </p:nvPr>
        </p:nvSpPr>
        <p:spPr>
          <a:xfrm>
            <a:off x="3733803" y="1971264"/>
            <a:ext cx="4953001" cy="3736837"/>
          </a:xfrm>
          <a:ln w="3175">
            <a:solidFill>
              <a:srgbClr val="FF9999"/>
            </a:solidFill>
          </a:ln>
        </p:spPr>
        <p:txBody>
          <a:bodyPr>
            <a:noAutofit/>
          </a:bodyPr>
          <a:lstStyle/>
          <a:p>
            <a:pPr algn="just">
              <a:buNone/>
            </a:pPr>
            <a:r>
              <a:rPr lang="en-US" sz="1826" dirty="0"/>
              <a:t>R = Q+RP</a:t>
            </a:r>
          </a:p>
          <a:p>
            <a:pPr algn="just">
              <a:buNone/>
            </a:pPr>
            <a:r>
              <a:rPr lang="en-US" sz="1826" dirty="0"/>
              <a:t>	= Q + (Q + RP)P</a:t>
            </a:r>
          </a:p>
          <a:p>
            <a:pPr algn="just">
              <a:buNone/>
            </a:pPr>
            <a:r>
              <a:rPr lang="en-US" sz="1826" dirty="0"/>
              <a:t>	 = Q + QP + RP</a:t>
            </a:r>
            <a:r>
              <a:rPr lang="en-US" sz="1826" baseline="30000" dirty="0"/>
              <a:t>2</a:t>
            </a:r>
          </a:p>
          <a:p>
            <a:pPr algn="just">
              <a:buNone/>
            </a:pPr>
            <a:r>
              <a:rPr lang="en-US" sz="1826" dirty="0"/>
              <a:t>	= Q + QP + (Q + RP)PP</a:t>
            </a:r>
          </a:p>
          <a:p>
            <a:pPr algn="just">
              <a:buNone/>
            </a:pPr>
            <a:r>
              <a:rPr lang="en-US" sz="1826" dirty="0"/>
              <a:t>	= Q + QP + QP</a:t>
            </a:r>
            <a:r>
              <a:rPr lang="en-US" sz="1826" baseline="30000" dirty="0"/>
              <a:t>2 </a:t>
            </a:r>
            <a:r>
              <a:rPr lang="en-US" sz="1826" dirty="0"/>
              <a:t>+ RP</a:t>
            </a:r>
            <a:r>
              <a:rPr lang="en-US" sz="1826" baseline="30000" dirty="0"/>
              <a:t>3</a:t>
            </a:r>
          </a:p>
          <a:p>
            <a:pPr algn="just">
              <a:buNone/>
            </a:pPr>
            <a:r>
              <a:rPr lang="en-US" sz="1826" baseline="30000" dirty="0"/>
              <a:t>	</a:t>
            </a:r>
            <a:r>
              <a:rPr lang="en-US" sz="1826" dirty="0"/>
              <a:t>=…</a:t>
            </a:r>
          </a:p>
          <a:p>
            <a:pPr algn="just">
              <a:buNone/>
            </a:pPr>
            <a:r>
              <a:rPr lang="en-US" sz="1826" dirty="0"/>
              <a:t>	=…</a:t>
            </a:r>
          </a:p>
          <a:p>
            <a:pPr algn="just">
              <a:buNone/>
            </a:pPr>
            <a:r>
              <a:rPr lang="en-US" sz="1826" baseline="30000" dirty="0"/>
              <a:t>	</a:t>
            </a:r>
            <a:r>
              <a:rPr lang="en-US" sz="1826" dirty="0"/>
              <a:t>= Q + QP + QP</a:t>
            </a:r>
            <a:r>
              <a:rPr lang="en-US" sz="1826" baseline="30000" dirty="0"/>
              <a:t>2 </a:t>
            </a:r>
            <a:r>
              <a:rPr lang="en-US" sz="1826" dirty="0"/>
              <a:t>+_ _ _ _ + </a:t>
            </a:r>
            <a:r>
              <a:rPr lang="en-US" sz="1826" dirty="0" err="1"/>
              <a:t>QP</a:t>
            </a:r>
            <a:r>
              <a:rPr lang="en-US" sz="1826" baseline="30000" dirty="0" err="1"/>
              <a:t>n</a:t>
            </a:r>
            <a:r>
              <a:rPr lang="en-US" sz="1826" dirty="0"/>
              <a:t> + RP</a:t>
            </a:r>
            <a:r>
              <a:rPr lang="en-US" sz="1826" baseline="30000" dirty="0"/>
              <a:t>n+1</a:t>
            </a:r>
            <a:r>
              <a:rPr lang="en-US" sz="1826" dirty="0"/>
              <a:t> </a:t>
            </a:r>
          </a:p>
          <a:p>
            <a:pPr algn="just">
              <a:buNone/>
            </a:pPr>
            <a:r>
              <a:rPr lang="en-US" sz="1826" dirty="0"/>
              <a:t>	= Q + QP + QP</a:t>
            </a:r>
            <a:r>
              <a:rPr lang="en-US" sz="1826" baseline="30000" dirty="0"/>
              <a:t>2 </a:t>
            </a:r>
            <a:r>
              <a:rPr lang="en-US" sz="1826" dirty="0"/>
              <a:t>+_ _ _ _ + </a:t>
            </a:r>
            <a:r>
              <a:rPr lang="en-US" sz="1826" dirty="0" err="1"/>
              <a:t>QP</a:t>
            </a:r>
            <a:r>
              <a:rPr lang="en-US" sz="1826" baseline="30000" dirty="0" err="1"/>
              <a:t>n</a:t>
            </a:r>
            <a:r>
              <a:rPr lang="en-US" sz="1826" dirty="0"/>
              <a:t> + QP*P</a:t>
            </a:r>
            <a:r>
              <a:rPr lang="en-US" sz="1826" baseline="30000" dirty="0"/>
              <a:t>n+1</a:t>
            </a:r>
          </a:p>
          <a:p>
            <a:pPr algn="just">
              <a:buNone/>
            </a:pPr>
            <a:r>
              <a:rPr lang="en-US" sz="1826" dirty="0"/>
              <a:t>	=Q ( Ɛ+ P + P2 + _ _ _ _ + </a:t>
            </a:r>
            <a:r>
              <a:rPr lang="en-US" sz="1826" dirty="0" err="1"/>
              <a:t>P</a:t>
            </a:r>
            <a:r>
              <a:rPr lang="en-US" sz="1826" baseline="30000" dirty="0" err="1"/>
              <a:t>n</a:t>
            </a:r>
            <a:r>
              <a:rPr lang="en-US" sz="1826" dirty="0"/>
              <a:t> + P*P</a:t>
            </a:r>
            <a:r>
              <a:rPr lang="en-US" sz="1826" baseline="30000" dirty="0"/>
              <a:t>n+1</a:t>
            </a:r>
            <a:r>
              <a:rPr lang="en-US" sz="1826" dirty="0"/>
              <a:t>)</a:t>
            </a:r>
          </a:p>
          <a:p>
            <a:pPr algn="just">
              <a:buNone/>
            </a:pPr>
            <a:r>
              <a:rPr lang="en-US" sz="1826" dirty="0"/>
              <a:t>	=QP*</a:t>
            </a:r>
          </a:p>
          <a:p>
            <a:pPr algn="just">
              <a:buNone/>
            </a:pPr>
            <a:r>
              <a:rPr lang="en-US" sz="1826" dirty="0"/>
              <a:t> 	Hence, R=QP* is a Unique Solution.</a:t>
            </a:r>
          </a:p>
        </p:txBody>
      </p:sp>
      <p:sp>
        <p:nvSpPr>
          <p:cNvPr id="4" name="Date Placeholder 3"/>
          <p:cNvSpPr>
            <a:spLocks noGrp="1"/>
          </p:cNvSpPr>
          <p:nvPr>
            <p:ph type="dt" sz="half" idx="10"/>
          </p:nvPr>
        </p:nvSpPr>
        <p:spPr/>
        <p:txBody>
          <a:bodyPr/>
          <a:lstStyle/>
          <a:p>
            <a:fld id="{73624BC0-27AA-42D5-803B-6640B7E5B86C}"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22" name="Title 1"/>
          <p:cNvSpPr txBox="1">
            <a:spLocks/>
          </p:cNvSpPr>
          <p:nvPr/>
        </p:nvSpPr>
        <p:spPr>
          <a:xfrm>
            <a:off x="1325217" y="451279"/>
            <a:ext cx="7818783"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Arden’s Theorem</a:t>
            </a:r>
          </a:p>
        </p:txBody>
      </p:sp>
    </p:spTree>
    <p:extLst>
      <p:ext uri="{BB962C8B-B14F-4D97-AF65-F5344CB8AC3E}">
        <p14:creationId xmlns:p14="http://schemas.microsoft.com/office/powerpoint/2010/main" val="83521536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FFE856-3DCE-482F-974A-917586AEC103}"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 of Arden’s theorem</a:t>
            </a:r>
          </a:p>
        </p:txBody>
      </p:sp>
      <p:sp>
        <p:nvSpPr>
          <p:cNvPr id="184323" name="Rectangle 3"/>
          <p:cNvSpPr>
            <a:spLocks noChangeArrowheads="1"/>
          </p:cNvSpPr>
          <p:nvPr/>
        </p:nvSpPr>
        <p:spPr bwMode="auto">
          <a:xfrm>
            <a:off x="457202" y="1625317"/>
            <a:ext cx="4847353" cy="1177514"/>
          </a:xfrm>
          <a:prstGeom prst="rect">
            <a:avLst/>
          </a:prstGeom>
          <a:solidFill>
            <a:srgbClr val="FFFFFF"/>
          </a:solidFill>
          <a:ln w="9525">
            <a:noFill/>
            <a:miter lim="800000"/>
            <a:headEnd/>
            <a:tailEnd/>
          </a:ln>
          <a:effectLst/>
        </p:spPr>
        <p:txBody>
          <a:bodyPr vert="horz" wrap="square" lIns="79513" tIns="39757" rIns="79513" bIns="39757" numCol="1" anchor="ctr" anchorCtr="0" compatLnSpc="1">
            <a:prstTxWarp prst="textNoShape">
              <a:avLst/>
            </a:prstTxWarp>
            <a:spAutoFit/>
          </a:bodyPr>
          <a:lstStyle/>
          <a:p>
            <a:pPr defTabSz="795162" fontAlgn="base">
              <a:spcBef>
                <a:spcPct val="0"/>
              </a:spcBef>
              <a:spcAft>
                <a:spcPct val="0"/>
              </a:spcAft>
            </a:pPr>
            <a:r>
              <a:rPr lang="en-US" sz="1565" dirty="0">
                <a:solidFill>
                  <a:srgbClr val="333333"/>
                </a:solidFill>
                <a:cs typeface="Arial" pitchFamily="34" charset="0"/>
              </a:rPr>
              <a:t>Q1: Construct the regular expression for the given DFA</a:t>
            </a:r>
            <a:r>
              <a:rPr lang="en-US" sz="6261" dirty="0">
                <a:cs typeface="Arial" pitchFamily="34" charset="0"/>
              </a:rPr>
              <a:t/>
            </a:r>
            <a:br>
              <a:rPr lang="en-US" sz="6261" dirty="0">
                <a:cs typeface="Arial" pitchFamily="34" charset="0"/>
              </a:rPr>
            </a:br>
            <a:endParaRPr lang="en-US" sz="2435" dirty="0">
              <a:cs typeface="Arial" pitchFamily="34" charset="0"/>
            </a:endParaRPr>
          </a:p>
          <a:p>
            <a:pPr defTabSz="795162" eaLnBrk="0" fontAlgn="base" hangingPunct="0">
              <a:spcBef>
                <a:spcPct val="0"/>
              </a:spcBef>
              <a:spcAft>
                <a:spcPct val="0"/>
              </a:spcAft>
            </a:pPr>
            <a:r>
              <a:rPr lang="en-US" sz="1565" b="1" dirty="0">
                <a:solidFill>
                  <a:srgbClr val="333333"/>
                </a:solidFill>
                <a:cs typeface="Arial" pitchFamily="34" charset="0"/>
              </a:rPr>
              <a:t>Solution:</a:t>
            </a:r>
            <a:endParaRPr lang="en-US" sz="1565" dirty="0">
              <a:cs typeface="Arial" pitchFamily="34" charset="0"/>
            </a:endParaRPr>
          </a:p>
          <a:p>
            <a:pPr defTabSz="795162" eaLnBrk="0" fontAlgn="base" hangingPunct="0">
              <a:spcBef>
                <a:spcPct val="0"/>
              </a:spcBef>
              <a:spcAft>
                <a:spcPct val="0"/>
              </a:spcAft>
            </a:pPr>
            <a:endParaRPr lang="en-US" sz="1565" dirty="0">
              <a:latin typeface="Arial" pitchFamily="34" charset="0"/>
              <a:cs typeface="Arial" pitchFamily="34" charset="0"/>
            </a:endParaRPr>
          </a:p>
        </p:txBody>
      </p:sp>
      <p:pic>
        <p:nvPicPr>
          <p:cNvPr id="184324" name="Picture 4" descr="Arden's Theorem"/>
          <p:cNvPicPr>
            <a:picLocks noChangeAspect="1" noChangeArrowheads="1"/>
          </p:cNvPicPr>
          <p:nvPr/>
        </p:nvPicPr>
        <p:blipFill>
          <a:blip r:embed="rId2"/>
          <a:srcRect/>
          <a:stretch>
            <a:fillRect/>
          </a:stretch>
        </p:blipFill>
        <p:spPr bwMode="auto">
          <a:xfrm>
            <a:off x="1393687" y="2032580"/>
            <a:ext cx="3590925" cy="770283"/>
          </a:xfrm>
          <a:prstGeom prst="rect">
            <a:avLst/>
          </a:prstGeom>
          <a:noFill/>
        </p:spPr>
      </p:pic>
      <p:sp>
        <p:nvSpPr>
          <p:cNvPr id="184325" name="Rectangle 5"/>
          <p:cNvSpPr>
            <a:spLocks noChangeArrowheads="1"/>
          </p:cNvSpPr>
          <p:nvPr/>
        </p:nvSpPr>
        <p:spPr bwMode="auto">
          <a:xfrm>
            <a:off x="228601" y="3481158"/>
            <a:ext cx="8686800" cy="1764266"/>
          </a:xfrm>
          <a:prstGeom prst="rect">
            <a:avLst/>
          </a:prstGeom>
          <a:noFill/>
          <a:ln w="9525">
            <a:noFill/>
            <a:miter lim="800000"/>
            <a:headEnd/>
            <a:tailEnd/>
          </a:ln>
          <a:effectLst/>
        </p:spPr>
        <p:txBody>
          <a:bodyPr vert="horz" wrap="square" lIns="57960" tIns="38640" rIns="79513" bIns="38640" numCol="1" anchor="ctr" anchorCtr="0" compatLnSpc="1">
            <a:prstTxWarp prst="textNoShape">
              <a:avLst/>
            </a:prstTxWarp>
            <a:spAutoFit/>
          </a:bodyPr>
          <a:lstStyle/>
          <a:p>
            <a:pPr defTabSz="795162" fontAlgn="base">
              <a:spcBef>
                <a:spcPct val="0"/>
              </a:spcBef>
              <a:spcAft>
                <a:spcPct val="0"/>
              </a:spcAft>
            </a:pPr>
            <a:r>
              <a:rPr lang="en-US" sz="1565" dirty="0">
                <a:solidFill>
                  <a:srgbClr val="333333"/>
                </a:solidFill>
                <a:latin typeface="inter-regular"/>
                <a:cs typeface="Arial" pitchFamily="34" charset="0"/>
              </a:rPr>
              <a:t>Let us write down the equations</a:t>
            </a:r>
            <a:endParaRPr lang="en-US" sz="913" dirty="0">
              <a:latin typeface="Arial" pitchFamily="34" charset="0"/>
              <a:cs typeface="Arial" pitchFamily="34" charset="0"/>
            </a:endParaRPr>
          </a:p>
          <a:p>
            <a:pPr defTabSz="795162" eaLnBrk="0" fontAlgn="base" hangingPunct="0">
              <a:spcBef>
                <a:spcPct val="0"/>
              </a:spcBef>
              <a:spcAft>
                <a:spcPct val="0"/>
              </a:spcAft>
            </a:pPr>
            <a:r>
              <a:rPr lang="en-US" sz="1044" dirty="0">
                <a:solidFill>
                  <a:srgbClr val="333333"/>
                </a:solidFill>
                <a:latin typeface="Arial Unicode MS" pitchFamily="34" charset="-128"/>
                <a:cs typeface="Arial" pitchFamily="34" charset="0"/>
              </a:rPr>
              <a:t>q1 = q1 0 + ε </a:t>
            </a:r>
            <a:endParaRPr lang="en-US" sz="913" dirty="0">
              <a:latin typeface="Arial" pitchFamily="34" charset="0"/>
              <a:cs typeface="Arial" pitchFamily="34" charset="0"/>
            </a:endParaRPr>
          </a:p>
          <a:p>
            <a:pPr defTabSz="795162" eaLnBrk="0" fontAlgn="base" hangingPunct="0">
              <a:spcBef>
                <a:spcPct val="0"/>
              </a:spcBef>
              <a:spcAft>
                <a:spcPct val="0"/>
              </a:spcAft>
            </a:pPr>
            <a:r>
              <a:rPr lang="en-US" sz="1565" dirty="0">
                <a:solidFill>
                  <a:srgbClr val="333333"/>
                </a:solidFill>
                <a:latin typeface="inter-regular"/>
                <a:cs typeface="Arial" pitchFamily="34" charset="0"/>
              </a:rPr>
              <a:t>Since q1 is the start state, so ε will be added, and the input 0 is coming to q1 from q1 hence we write</a:t>
            </a:r>
            <a:br>
              <a:rPr lang="en-US" sz="1565" dirty="0">
                <a:solidFill>
                  <a:srgbClr val="333333"/>
                </a:solidFill>
                <a:latin typeface="inter-regular"/>
                <a:cs typeface="Arial" pitchFamily="34" charset="0"/>
              </a:rPr>
            </a:br>
            <a:r>
              <a:rPr lang="en-US" sz="1565" dirty="0">
                <a:solidFill>
                  <a:srgbClr val="333333"/>
                </a:solidFill>
                <a:latin typeface="inter-regular"/>
                <a:cs typeface="Arial" pitchFamily="34" charset="0"/>
              </a:rPr>
              <a:t>State = source state of input × input coming to it</a:t>
            </a:r>
            <a:endParaRPr lang="en-US" sz="913" dirty="0">
              <a:latin typeface="Arial" pitchFamily="34" charset="0"/>
              <a:cs typeface="Arial" pitchFamily="34" charset="0"/>
            </a:endParaRPr>
          </a:p>
          <a:p>
            <a:pPr defTabSz="795162" eaLnBrk="0" fontAlgn="base" hangingPunct="0">
              <a:spcBef>
                <a:spcPct val="0"/>
              </a:spcBef>
              <a:spcAft>
                <a:spcPct val="0"/>
              </a:spcAft>
            </a:pPr>
            <a:r>
              <a:rPr lang="en-US" sz="1565" dirty="0">
                <a:solidFill>
                  <a:srgbClr val="333333"/>
                </a:solidFill>
                <a:latin typeface="inter-regular"/>
                <a:cs typeface="Arial" pitchFamily="34" charset="0"/>
              </a:rPr>
              <a:t>Similarly,</a:t>
            </a:r>
            <a:endParaRPr lang="en-US" sz="913" dirty="0">
              <a:latin typeface="Arial" pitchFamily="34" charset="0"/>
              <a:cs typeface="Arial" pitchFamily="34" charset="0"/>
            </a:endParaRPr>
          </a:p>
          <a:p>
            <a:pPr defTabSz="795162" eaLnBrk="0" fontAlgn="base" hangingPunct="0">
              <a:spcBef>
                <a:spcPct val="0"/>
              </a:spcBef>
              <a:spcAft>
                <a:spcPct val="0"/>
              </a:spcAft>
            </a:pPr>
            <a:r>
              <a:rPr lang="en-US" sz="1044" dirty="0">
                <a:solidFill>
                  <a:srgbClr val="333333"/>
                </a:solidFill>
                <a:latin typeface="Arial Unicode MS" pitchFamily="34" charset="-128"/>
                <a:cs typeface="Arial" pitchFamily="34" charset="0"/>
              </a:rPr>
              <a:t>q2 = q1 1 + q2 1</a:t>
            </a:r>
          </a:p>
          <a:p>
            <a:pPr defTabSz="795162" eaLnBrk="0" fontAlgn="base" hangingPunct="0">
              <a:spcBef>
                <a:spcPct val="0"/>
              </a:spcBef>
              <a:spcAft>
                <a:spcPct val="0"/>
              </a:spcAft>
            </a:pPr>
            <a:r>
              <a:rPr lang="en-US" sz="1044" dirty="0">
                <a:solidFill>
                  <a:srgbClr val="333333"/>
                </a:solidFill>
                <a:latin typeface="Arial Unicode MS" pitchFamily="34" charset="-128"/>
                <a:cs typeface="Arial" pitchFamily="34" charset="0"/>
              </a:rPr>
              <a:t> q3 = q2 0 + q3 (0+1)</a:t>
            </a:r>
            <a:endParaRPr lang="en-US" sz="2087" dirty="0">
              <a:latin typeface="Arial" pitchFamily="34" charset="0"/>
              <a:cs typeface="Arial" pitchFamily="34" charset="0"/>
            </a:endParaRPr>
          </a:p>
        </p:txBody>
      </p:sp>
    </p:spTree>
    <p:extLst>
      <p:ext uri="{BB962C8B-B14F-4D97-AF65-F5344CB8AC3E}">
        <p14:creationId xmlns:p14="http://schemas.microsoft.com/office/powerpoint/2010/main" val="134613942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79F85C8-F7B2-40C8-8853-C58EF5F14FEA}"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 of Arden’s theorem</a:t>
            </a:r>
          </a:p>
        </p:txBody>
      </p:sp>
      <p:sp>
        <p:nvSpPr>
          <p:cNvPr id="184325" name="Rectangle 5"/>
          <p:cNvSpPr>
            <a:spLocks noChangeArrowheads="1"/>
          </p:cNvSpPr>
          <p:nvPr/>
        </p:nvSpPr>
        <p:spPr bwMode="auto">
          <a:xfrm>
            <a:off x="457200" y="1441375"/>
            <a:ext cx="8382000" cy="2968057"/>
          </a:xfrm>
          <a:prstGeom prst="rect">
            <a:avLst/>
          </a:prstGeom>
          <a:noFill/>
          <a:ln w="9525">
            <a:noFill/>
            <a:miter lim="800000"/>
            <a:headEnd/>
            <a:tailEnd/>
          </a:ln>
          <a:effectLst/>
        </p:spPr>
        <p:txBody>
          <a:bodyPr vert="horz" wrap="square" lIns="57960" tIns="38640" rIns="79513" bIns="38640" numCol="1" anchor="ctr" anchorCtr="0" compatLnSpc="1">
            <a:prstTxWarp prst="textNoShape">
              <a:avLst/>
            </a:prstTxWarp>
            <a:spAutoFit/>
          </a:bodyPr>
          <a:lstStyle/>
          <a:p>
            <a:pPr algn="just"/>
            <a:r>
              <a:rPr lang="en-US" sz="1565" dirty="0"/>
              <a:t>Since the final states are q1 and q2, we are interested in solving q1 and q2 only. Let us see q1 first</a:t>
            </a:r>
          </a:p>
          <a:p>
            <a:pPr algn="just"/>
            <a:r>
              <a:rPr lang="en-US" sz="1565" dirty="0"/>
              <a:t>q1 = q1 0 + ε </a:t>
            </a:r>
          </a:p>
          <a:p>
            <a:pPr algn="just"/>
            <a:r>
              <a:rPr lang="en-US" sz="1565" dirty="0"/>
              <a:t>We can re-write it as</a:t>
            </a:r>
          </a:p>
          <a:p>
            <a:pPr algn="just"/>
            <a:r>
              <a:rPr lang="en-US" sz="1565" dirty="0"/>
              <a:t>q1 = ε + q1 0 </a:t>
            </a:r>
          </a:p>
          <a:p>
            <a:pPr algn="just"/>
            <a:r>
              <a:rPr lang="en-US" sz="1565" dirty="0"/>
              <a:t>Which is similar to R = Q + RP, and gets reduced to R = OP*.</a:t>
            </a:r>
          </a:p>
          <a:p>
            <a:pPr algn="just"/>
            <a:r>
              <a:rPr lang="en-US" sz="1565" dirty="0"/>
              <a:t>Assuming R = q1, Q = ε, P = 0</a:t>
            </a:r>
          </a:p>
          <a:p>
            <a:pPr algn="just"/>
            <a:r>
              <a:rPr lang="en-US" sz="1565" dirty="0"/>
              <a:t>We get</a:t>
            </a:r>
          </a:p>
          <a:p>
            <a:pPr algn="just"/>
            <a:r>
              <a:rPr lang="en-US" sz="1565" dirty="0"/>
              <a:t>q1 = ε.(0)* q1 = 0* (</a:t>
            </a:r>
            <a:r>
              <a:rPr lang="en-US" sz="1565" dirty="0" err="1"/>
              <a:t>ε.R</a:t>
            </a:r>
            <a:r>
              <a:rPr lang="en-US" sz="1565" dirty="0"/>
              <a:t>*= R*) </a:t>
            </a:r>
          </a:p>
          <a:p>
            <a:pPr algn="just"/>
            <a:r>
              <a:rPr lang="en-US" sz="1565" dirty="0"/>
              <a:t>Substituting the value into q2, we will get</a:t>
            </a:r>
          </a:p>
          <a:p>
            <a:pPr algn="just"/>
            <a:r>
              <a:rPr lang="en-US" sz="1565" dirty="0"/>
              <a:t>q2 = 0* 1 + q2 1 q2 = 0* 1 (1)* (R = Q + RP → Q P*) </a:t>
            </a:r>
          </a:p>
          <a:p>
            <a:pPr algn="just"/>
            <a:r>
              <a:rPr lang="en-US" sz="1565" dirty="0"/>
              <a:t>The regular expression is given by</a:t>
            </a:r>
          </a:p>
          <a:p>
            <a:pPr algn="just"/>
            <a:r>
              <a:rPr lang="en-US" sz="1565" dirty="0"/>
              <a:t>r = q1 + q2 = 0</a:t>
            </a:r>
            <a:r>
              <a:rPr lang="en-US" sz="1565" baseline="30000" dirty="0"/>
              <a:t>*</a:t>
            </a:r>
            <a:r>
              <a:rPr lang="en-US" sz="1565" dirty="0"/>
              <a:t> + 0</a:t>
            </a:r>
            <a:r>
              <a:rPr lang="en-US" sz="1565" baseline="30000" dirty="0"/>
              <a:t>*</a:t>
            </a:r>
            <a:r>
              <a:rPr lang="en-US" sz="1565" dirty="0"/>
              <a:t> 1.1</a:t>
            </a:r>
            <a:r>
              <a:rPr lang="en-US" sz="1565" baseline="30000" dirty="0"/>
              <a:t>*</a:t>
            </a:r>
            <a:r>
              <a:rPr lang="en-US" sz="1565" dirty="0"/>
              <a:t> r = 0</a:t>
            </a:r>
            <a:r>
              <a:rPr lang="en-US" sz="1565" baseline="30000" dirty="0"/>
              <a:t>*</a:t>
            </a:r>
            <a:r>
              <a:rPr lang="en-US" sz="1565" dirty="0"/>
              <a:t> + 0</a:t>
            </a:r>
            <a:r>
              <a:rPr lang="en-US" sz="1565" baseline="30000" dirty="0"/>
              <a:t>*</a:t>
            </a:r>
            <a:r>
              <a:rPr lang="en-US" sz="1565" dirty="0"/>
              <a:t> 1</a:t>
            </a:r>
            <a:r>
              <a:rPr lang="en-US" sz="1565" baseline="30000" dirty="0"/>
              <a:t>+</a:t>
            </a:r>
            <a:r>
              <a:rPr lang="en-US" sz="1565" dirty="0"/>
              <a:t> (1.1</a:t>
            </a:r>
            <a:r>
              <a:rPr lang="en-US" sz="1565" baseline="30000" dirty="0"/>
              <a:t>*</a:t>
            </a:r>
            <a:r>
              <a:rPr lang="en-US" sz="1565" dirty="0"/>
              <a:t> = 1</a:t>
            </a:r>
            <a:r>
              <a:rPr lang="en-US" sz="1565" baseline="30000" dirty="0"/>
              <a:t>+</a:t>
            </a:r>
            <a:r>
              <a:rPr lang="en-US" sz="1565" dirty="0"/>
              <a:t>) </a:t>
            </a:r>
          </a:p>
        </p:txBody>
      </p:sp>
    </p:spTree>
    <p:extLst>
      <p:ext uri="{BB962C8B-B14F-4D97-AF65-F5344CB8AC3E}">
        <p14:creationId xmlns:p14="http://schemas.microsoft.com/office/powerpoint/2010/main" val="356926984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6DE1EC-D6A8-4BE5-924D-ADE809FC8712}"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 of Arden’s theorem</a:t>
            </a:r>
          </a:p>
        </p:txBody>
      </p:sp>
      <p:sp>
        <p:nvSpPr>
          <p:cNvPr id="184325" name="Rectangle 5"/>
          <p:cNvSpPr>
            <a:spLocks noChangeArrowheads="1"/>
          </p:cNvSpPr>
          <p:nvPr/>
        </p:nvSpPr>
        <p:spPr bwMode="auto">
          <a:xfrm>
            <a:off x="457200" y="1441461"/>
            <a:ext cx="8382000" cy="4172232"/>
          </a:xfrm>
          <a:prstGeom prst="rect">
            <a:avLst/>
          </a:prstGeom>
          <a:noFill/>
          <a:ln w="9525">
            <a:noFill/>
            <a:miter lim="800000"/>
            <a:headEnd/>
            <a:tailEnd/>
          </a:ln>
          <a:effectLst/>
        </p:spPr>
        <p:txBody>
          <a:bodyPr vert="horz" wrap="square" lIns="57960" tIns="38640" rIns="79513" bIns="38640" numCol="1" anchor="ctr" anchorCtr="0" compatLnSpc="1">
            <a:prstTxWarp prst="textNoShape">
              <a:avLst/>
            </a:prstTxWarp>
            <a:spAutoFit/>
          </a:bodyPr>
          <a:lstStyle/>
          <a:p>
            <a:pPr algn="just" fontAlgn="base"/>
            <a:r>
              <a:rPr lang="en-US" sz="1565" dirty="0"/>
              <a:t>Q2:Find regular expression for the following DFA using Arden’s Theorem- </a:t>
            </a:r>
          </a:p>
          <a:p>
            <a:pPr algn="just" fontAlgn="base"/>
            <a:r>
              <a:rPr lang="en-US" sz="1565" dirty="0"/>
              <a:t> </a:t>
            </a:r>
          </a:p>
          <a:p>
            <a:pPr algn="just" fontAlgn="base"/>
            <a:r>
              <a:rPr lang="en-US" sz="1565" b="1" u="sng" dirty="0"/>
              <a:t>Solution-</a:t>
            </a:r>
            <a:r>
              <a:rPr lang="en-US" sz="1565" dirty="0"/>
              <a:t> </a:t>
            </a:r>
          </a:p>
          <a:p>
            <a:pPr algn="just" fontAlgn="base"/>
            <a:r>
              <a:rPr lang="en-US" sz="1565" b="1" u="sng" dirty="0"/>
              <a:t>Step-01:</a:t>
            </a:r>
            <a:endParaRPr lang="en-US" sz="1565" b="1" dirty="0"/>
          </a:p>
          <a:p>
            <a:pPr algn="just" fontAlgn="base"/>
            <a:r>
              <a:rPr lang="en-US" sz="1565" dirty="0"/>
              <a:t> Form a equation for each state-</a:t>
            </a:r>
          </a:p>
          <a:p>
            <a:pPr algn="just" fontAlgn="base"/>
            <a:r>
              <a:rPr lang="en-US" sz="1565" dirty="0"/>
              <a:t>q1 = ∈ ……(1)</a:t>
            </a:r>
          </a:p>
          <a:p>
            <a:pPr algn="just" fontAlgn="base"/>
            <a:r>
              <a:rPr lang="en-US" sz="1565" dirty="0"/>
              <a:t>q2 = q1.a ……(2)</a:t>
            </a:r>
          </a:p>
          <a:p>
            <a:pPr algn="just" fontAlgn="base"/>
            <a:r>
              <a:rPr lang="en-US" sz="1565" dirty="0"/>
              <a:t>q3 = q1.b + q2.a + q3.a …….(3)</a:t>
            </a:r>
          </a:p>
          <a:p>
            <a:pPr algn="just" fontAlgn="base"/>
            <a:r>
              <a:rPr lang="en-US" sz="1565" dirty="0"/>
              <a:t> </a:t>
            </a:r>
          </a:p>
          <a:p>
            <a:pPr algn="just" fontAlgn="base"/>
            <a:r>
              <a:rPr lang="en-US" sz="1565" b="1" u="sng" dirty="0"/>
              <a:t>Step-02:</a:t>
            </a:r>
            <a:endParaRPr lang="en-US" sz="1565" b="1" dirty="0"/>
          </a:p>
          <a:p>
            <a:pPr algn="just" fontAlgn="base"/>
            <a:r>
              <a:rPr lang="en-US" sz="1565" dirty="0"/>
              <a:t> </a:t>
            </a:r>
          </a:p>
          <a:p>
            <a:pPr algn="just" fontAlgn="base"/>
            <a:r>
              <a:rPr lang="en-US" sz="1565" dirty="0"/>
              <a:t>Bring final state in the form R = Q + RP.</a:t>
            </a:r>
          </a:p>
          <a:p>
            <a:pPr algn="just" fontAlgn="base"/>
            <a:r>
              <a:rPr lang="en-US" sz="1565" dirty="0"/>
              <a:t> </a:t>
            </a:r>
          </a:p>
          <a:p>
            <a:pPr algn="just" fontAlgn="base"/>
            <a:r>
              <a:rPr lang="en-US" sz="1565" dirty="0"/>
              <a:t>Using (1) in (2), we get-</a:t>
            </a:r>
          </a:p>
          <a:p>
            <a:pPr algn="just" fontAlgn="base"/>
            <a:r>
              <a:rPr lang="en-US" sz="1565" dirty="0"/>
              <a:t>q2 = ∈.a</a:t>
            </a:r>
          </a:p>
          <a:p>
            <a:pPr algn="just" fontAlgn="base"/>
            <a:r>
              <a:rPr lang="en-US" sz="1565" dirty="0"/>
              <a:t>q2 = a …….(4)</a:t>
            </a:r>
          </a:p>
          <a:p>
            <a:pPr algn="just" fontAlgn="base"/>
            <a:r>
              <a:rPr lang="en-US" sz="1565" dirty="0"/>
              <a:t> </a:t>
            </a:r>
          </a:p>
        </p:txBody>
      </p:sp>
    </p:spTree>
    <p:extLst>
      <p:ext uri="{BB962C8B-B14F-4D97-AF65-F5344CB8AC3E}">
        <p14:creationId xmlns:p14="http://schemas.microsoft.com/office/powerpoint/2010/main" val="31315912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AC8306-0259-42AB-AA5E-B3A7CD74C604}"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 of Arden’s theorem</a:t>
            </a:r>
          </a:p>
        </p:txBody>
      </p:sp>
      <p:sp>
        <p:nvSpPr>
          <p:cNvPr id="184325" name="Rectangle 5"/>
          <p:cNvSpPr>
            <a:spLocks noChangeArrowheads="1"/>
          </p:cNvSpPr>
          <p:nvPr/>
        </p:nvSpPr>
        <p:spPr bwMode="auto">
          <a:xfrm>
            <a:off x="457200" y="1441432"/>
            <a:ext cx="8382000" cy="4252575"/>
          </a:xfrm>
          <a:prstGeom prst="rect">
            <a:avLst/>
          </a:prstGeom>
          <a:noFill/>
          <a:ln w="9525">
            <a:noFill/>
            <a:miter lim="800000"/>
            <a:headEnd/>
            <a:tailEnd/>
          </a:ln>
          <a:effectLst/>
        </p:spPr>
        <p:txBody>
          <a:bodyPr vert="horz" wrap="square" lIns="57960" tIns="38640" rIns="79513" bIns="38640" numCol="1" anchor="ctr" anchorCtr="0" compatLnSpc="1">
            <a:prstTxWarp prst="textNoShape">
              <a:avLst/>
            </a:prstTxWarp>
            <a:spAutoFit/>
          </a:bodyPr>
          <a:lstStyle/>
          <a:p>
            <a:pPr fontAlgn="base"/>
            <a:r>
              <a:rPr lang="en-US" sz="1565" dirty="0"/>
              <a:t>Using (1) and (4) in (3), we get-</a:t>
            </a:r>
          </a:p>
          <a:p>
            <a:pPr fontAlgn="base"/>
            <a:r>
              <a:rPr lang="en-US" sz="1565" dirty="0"/>
              <a:t> </a:t>
            </a:r>
          </a:p>
          <a:p>
            <a:pPr fontAlgn="base"/>
            <a:r>
              <a:rPr lang="en-US" sz="1565" dirty="0"/>
              <a:t>q3 = q1.b + q2.a + q3.a</a:t>
            </a:r>
          </a:p>
          <a:p>
            <a:pPr fontAlgn="base"/>
            <a:r>
              <a:rPr lang="en-US" sz="1565" dirty="0"/>
              <a:t>q3 = ∈.b + </a:t>
            </a:r>
            <a:r>
              <a:rPr lang="en-US" sz="1565" dirty="0" err="1"/>
              <a:t>a.a</a:t>
            </a:r>
            <a:r>
              <a:rPr lang="en-US" sz="1565" dirty="0"/>
              <a:t> + q3.a</a:t>
            </a:r>
          </a:p>
          <a:p>
            <a:pPr fontAlgn="base"/>
            <a:r>
              <a:rPr lang="en-US" sz="1565" dirty="0"/>
              <a:t>q3 = (b + </a:t>
            </a:r>
            <a:r>
              <a:rPr lang="en-US" sz="1565" dirty="0" err="1"/>
              <a:t>a.a</a:t>
            </a:r>
            <a:r>
              <a:rPr lang="en-US" sz="1565" dirty="0"/>
              <a:t>) + q3.a …….(5)</a:t>
            </a:r>
          </a:p>
          <a:p>
            <a:pPr fontAlgn="base"/>
            <a:r>
              <a:rPr lang="en-US" sz="1565" dirty="0"/>
              <a:t> </a:t>
            </a:r>
          </a:p>
          <a:p>
            <a:pPr fontAlgn="base"/>
            <a:r>
              <a:rPr lang="en-US" sz="1565" dirty="0"/>
              <a:t>Using Arden’s Theorem in (5), we get-</a:t>
            </a:r>
          </a:p>
          <a:p>
            <a:pPr fontAlgn="base"/>
            <a:r>
              <a:rPr lang="en-US" sz="1565" dirty="0"/>
              <a:t>q3 = (b + </a:t>
            </a:r>
            <a:r>
              <a:rPr lang="en-US" sz="1565" dirty="0" err="1"/>
              <a:t>a.a</a:t>
            </a:r>
            <a:r>
              <a:rPr lang="en-US" sz="1565" dirty="0"/>
              <a:t>)a*</a:t>
            </a:r>
          </a:p>
          <a:p>
            <a:pPr fontAlgn="base"/>
            <a:r>
              <a:rPr lang="en-US" sz="1565" dirty="0"/>
              <a:t> Thus, Regular Expression for the given DFA = (b + </a:t>
            </a:r>
            <a:r>
              <a:rPr lang="en-US" sz="1565" dirty="0" err="1"/>
              <a:t>aa</a:t>
            </a:r>
            <a:r>
              <a:rPr lang="en-US" sz="1565" dirty="0"/>
              <a:t>)a*</a:t>
            </a:r>
          </a:p>
          <a:p>
            <a:pPr fontAlgn="base"/>
            <a:endParaRPr lang="en-US" sz="1565" dirty="0"/>
          </a:p>
          <a:p>
            <a:pPr fontAlgn="base"/>
            <a:r>
              <a:rPr lang="en-US" sz="1565" dirty="0"/>
              <a:t>Q3: Find regular expression for the following DFA using Arden’s Theorem-</a:t>
            </a:r>
          </a:p>
          <a:p>
            <a:pPr fontAlgn="base"/>
            <a:r>
              <a:rPr lang="en-US" sz="1565" dirty="0"/>
              <a:t> </a:t>
            </a:r>
          </a:p>
          <a:p>
            <a:pPr fontAlgn="base"/>
            <a:r>
              <a:rPr lang="en-US" sz="1565" dirty="0"/>
              <a:t> </a:t>
            </a:r>
          </a:p>
          <a:p>
            <a:pPr fontAlgn="base"/>
            <a:endParaRPr lang="en-US" sz="1565" dirty="0"/>
          </a:p>
          <a:p>
            <a:endParaRPr lang="en-US" sz="1565" dirty="0"/>
          </a:p>
          <a:p>
            <a:r>
              <a:rPr lang="en-US" sz="1565" dirty="0"/>
              <a:t/>
            </a:r>
            <a:br>
              <a:rPr lang="en-US" sz="1565" dirty="0"/>
            </a:br>
            <a:endParaRPr lang="en-US" sz="2087" dirty="0">
              <a:latin typeface="Arial" pitchFamily="34" charset="0"/>
              <a:cs typeface="Arial" pitchFamily="34" charset="0"/>
            </a:endParaRPr>
          </a:p>
        </p:txBody>
      </p:sp>
      <p:pic>
        <p:nvPicPr>
          <p:cNvPr id="257026" name="Picture 2" descr="https://www.gatevidyalay.com/wp-content/uploads/2019/12/DFA-to-Regular-Expression-Conversion-Ardens-Theorem-Problem-04.png"/>
          <p:cNvPicPr>
            <a:picLocks noChangeAspect="1" noChangeArrowheads="1"/>
          </p:cNvPicPr>
          <p:nvPr/>
        </p:nvPicPr>
        <p:blipFill>
          <a:blip r:embed="rId2"/>
          <a:srcRect/>
          <a:stretch>
            <a:fillRect/>
          </a:stretch>
        </p:blipFill>
        <p:spPr bwMode="auto">
          <a:xfrm>
            <a:off x="2819400" y="4091609"/>
            <a:ext cx="3133725" cy="1838739"/>
          </a:xfrm>
          <a:prstGeom prst="rect">
            <a:avLst/>
          </a:prstGeom>
          <a:noFill/>
        </p:spPr>
      </p:pic>
    </p:spTree>
    <p:extLst>
      <p:ext uri="{BB962C8B-B14F-4D97-AF65-F5344CB8AC3E}">
        <p14:creationId xmlns:p14="http://schemas.microsoft.com/office/powerpoint/2010/main" val="151598444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45EF0E6-B5D3-4EBC-BF7A-F9FFE9867876}"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435" dirty="0"/>
              <a:t>Example of Arden’s theorem</a:t>
            </a:r>
          </a:p>
        </p:txBody>
      </p:sp>
      <p:sp>
        <p:nvSpPr>
          <p:cNvPr id="184325" name="Rectangle 5"/>
          <p:cNvSpPr>
            <a:spLocks noChangeArrowheads="1"/>
          </p:cNvSpPr>
          <p:nvPr/>
        </p:nvSpPr>
        <p:spPr bwMode="auto">
          <a:xfrm>
            <a:off x="457200" y="1183978"/>
            <a:ext cx="8382000" cy="4895507"/>
          </a:xfrm>
          <a:prstGeom prst="rect">
            <a:avLst/>
          </a:prstGeom>
          <a:noFill/>
          <a:ln w="9525">
            <a:noFill/>
            <a:miter lim="800000"/>
            <a:headEnd/>
            <a:tailEnd/>
          </a:ln>
          <a:effectLst/>
        </p:spPr>
        <p:txBody>
          <a:bodyPr vert="horz" wrap="square" lIns="57960" tIns="38640" rIns="79513" bIns="38640" numCol="1" anchor="ctr" anchorCtr="0" compatLnSpc="1">
            <a:prstTxWarp prst="textNoShape">
              <a:avLst/>
            </a:prstTxWarp>
            <a:spAutoFit/>
          </a:bodyPr>
          <a:lstStyle/>
          <a:p>
            <a:pPr fontAlgn="base"/>
            <a:r>
              <a:rPr lang="en-US" sz="1739" b="1" u="sng" dirty="0"/>
              <a:t>Step-01:</a:t>
            </a:r>
            <a:endParaRPr lang="en-US" sz="1739" b="1" dirty="0"/>
          </a:p>
          <a:p>
            <a:pPr fontAlgn="base"/>
            <a:r>
              <a:rPr lang="en-US" sz="1739" dirty="0"/>
              <a:t> Form a equation for each state-</a:t>
            </a:r>
          </a:p>
          <a:p>
            <a:pPr fontAlgn="base"/>
            <a:r>
              <a:rPr lang="en-US" sz="1739" dirty="0"/>
              <a:t>q1 = ∈ + q1.a + q3.a ……(1)</a:t>
            </a:r>
          </a:p>
          <a:p>
            <a:pPr fontAlgn="base"/>
            <a:r>
              <a:rPr lang="en-US" sz="1739" dirty="0"/>
              <a:t>q2 = q1.b + q2.b + q3.b ……(2)</a:t>
            </a:r>
          </a:p>
          <a:p>
            <a:pPr fontAlgn="base"/>
            <a:r>
              <a:rPr lang="en-US" sz="1739" dirty="0"/>
              <a:t>q3 = q2.a …….(3)</a:t>
            </a:r>
          </a:p>
          <a:p>
            <a:pPr fontAlgn="base"/>
            <a:r>
              <a:rPr lang="en-US" sz="1739" dirty="0"/>
              <a:t> </a:t>
            </a:r>
          </a:p>
          <a:p>
            <a:pPr fontAlgn="base"/>
            <a:r>
              <a:rPr lang="en-US" sz="1739" b="1" u="sng" dirty="0"/>
              <a:t>Step-02:</a:t>
            </a:r>
            <a:endParaRPr lang="en-US" sz="1739" b="1" dirty="0"/>
          </a:p>
          <a:p>
            <a:pPr fontAlgn="base"/>
            <a:r>
              <a:rPr lang="en-US" sz="1739" dirty="0"/>
              <a:t> </a:t>
            </a:r>
          </a:p>
          <a:p>
            <a:pPr fontAlgn="base"/>
            <a:r>
              <a:rPr lang="en-US" sz="1739" dirty="0"/>
              <a:t>Bring final state in the form R = Q + RP.</a:t>
            </a:r>
          </a:p>
          <a:p>
            <a:pPr fontAlgn="base"/>
            <a:r>
              <a:rPr lang="en-US" sz="1739" dirty="0"/>
              <a:t> </a:t>
            </a:r>
          </a:p>
          <a:p>
            <a:pPr fontAlgn="base"/>
            <a:r>
              <a:rPr lang="en-US" sz="1739" dirty="0"/>
              <a:t>Using (3) in (2), we get-</a:t>
            </a:r>
          </a:p>
          <a:p>
            <a:pPr fontAlgn="base"/>
            <a:r>
              <a:rPr lang="en-US" sz="1739" dirty="0"/>
              <a:t>q2 = q1.b + q2.b + q2.a.b</a:t>
            </a:r>
          </a:p>
          <a:p>
            <a:pPr fontAlgn="base"/>
            <a:r>
              <a:rPr lang="en-US" sz="1739" dirty="0"/>
              <a:t>q2 = q1.b + q2.(b + </a:t>
            </a:r>
            <a:r>
              <a:rPr lang="en-US" sz="1739" dirty="0" err="1"/>
              <a:t>a.b</a:t>
            </a:r>
            <a:r>
              <a:rPr lang="en-US" sz="1739" dirty="0"/>
              <a:t>) …….(4)</a:t>
            </a:r>
          </a:p>
          <a:p>
            <a:pPr fontAlgn="base"/>
            <a:endParaRPr lang="en-US" sz="1739" dirty="0"/>
          </a:p>
          <a:p>
            <a:pPr fontAlgn="base"/>
            <a:r>
              <a:rPr lang="en-US" sz="1739" dirty="0"/>
              <a:t>Using (3) in (2), we get-</a:t>
            </a:r>
          </a:p>
          <a:p>
            <a:pPr fontAlgn="base"/>
            <a:r>
              <a:rPr lang="en-US" sz="1739" dirty="0"/>
              <a:t>q2 = q1.b + q2.b + q2.a.b</a:t>
            </a:r>
          </a:p>
          <a:p>
            <a:pPr fontAlgn="base"/>
            <a:r>
              <a:rPr lang="en-US" sz="1739" dirty="0"/>
              <a:t>q2 = q1.b + q2.(b + </a:t>
            </a:r>
            <a:r>
              <a:rPr lang="en-US" sz="1739" dirty="0" err="1"/>
              <a:t>a.b</a:t>
            </a:r>
            <a:r>
              <a:rPr lang="en-US" sz="1739" dirty="0"/>
              <a:t>) …….(4)</a:t>
            </a:r>
          </a:p>
          <a:p>
            <a:pPr fontAlgn="base"/>
            <a:r>
              <a:rPr lang="en-US" sz="1739" dirty="0"/>
              <a:t> </a:t>
            </a:r>
          </a:p>
        </p:txBody>
      </p:sp>
    </p:spTree>
    <p:extLst>
      <p:ext uri="{BB962C8B-B14F-4D97-AF65-F5344CB8AC3E}">
        <p14:creationId xmlns:p14="http://schemas.microsoft.com/office/powerpoint/2010/main" val="295971528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3D5631-5533-4119-B214-E7DBCDA34BA8}" type="datetime1">
              <a:rPr lang="en-US" smtClean="0"/>
              <a:t>3/16/2026</a:t>
            </a:fld>
            <a:endParaRPr lang="en-US"/>
          </a:p>
        </p:txBody>
      </p:sp>
      <p:sp>
        <p:nvSpPr>
          <p:cNvPr id="5" name="Footer Placeholder 4"/>
          <p:cNvSpPr>
            <a:spLocks noGrp="1"/>
          </p:cNvSpPr>
          <p:nvPr>
            <p:ph type="ftr" sz="quarter" idx="11"/>
          </p:nvPr>
        </p:nvSpPr>
        <p:spPr>
          <a:xfrm>
            <a:off x="2514600" y="5974525"/>
            <a:ext cx="4495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22" name="Title 1"/>
          <p:cNvSpPr txBox="1">
            <a:spLocks/>
          </p:cNvSpPr>
          <p:nvPr/>
        </p:nvSpPr>
        <p:spPr>
          <a:xfrm>
            <a:off x="1371600" y="458059"/>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783" dirty="0"/>
              <a:t>Example of Arden’s theorem</a:t>
            </a:r>
          </a:p>
        </p:txBody>
      </p:sp>
      <p:sp>
        <p:nvSpPr>
          <p:cNvPr id="184325" name="Rectangle 5"/>
          <p:cNvSpPr>
            <a:spLocks noChangeArrowheads="1"/>
          </p:cNvSpPr>
          <p:nvPr/>
        </p:nvSpPr>
        <p:spPr bwMode="auto">
          <a:xfrm>
            <a:off x="457200" y="1186866"/>
            <a:ext cx="8382000" cy="5002588"/>
          </a:xfrm>
          <a:prstGeom prst="rect">
            <a:avLst/>
          </a:prstGeom>
          <a:noFill/>
          <a:ln w="9525">
            <a:noFill/>
            <a:miter lim="800000"/>
            <a:headEnd/>
            <a:tailEnd/>
          </a:ln>
          <a:effectLst/>
        </p:spPr>
        <p:txBody>
          <a:bodyPr vert="horz" wrap="square" lIns="57960" tIns="38640" rIns="79513" bIns="38640" numCol="1" anchor="ctr" anchorCtr="0" compatLnSpc="1">
            <a:prstTxWarp prst="textNoShape">
              <a:avLst/>
            </a:prstTxWarp>
            <a:spAutoFit/>
          </a:bodyPr>
          <a:lstStyle/>
          <a:p>
            <a:pPr fontAlgn="base"/>
            <a:endParaRPr lang="en-US" sz="1739" dirty="0"/>
          </a:p>
          <a:p>
            <a:pPr fontAlgn="base"/>
            <a:r>
              <a:rPr lang="en-US" sz="1739" dirty="0"/>
              <a:t>Using (5) in (3), we get-</a:t>
            </a:r>
          </a:p>
          <a:p>
            <a:pPr fontAlgn="base"/>
            <a:r>
              <a:rPr lang="en-US" sz="1739" dirty="0"/>
              <a:t>q3 = q1.b.(b + </a:t>
            </a:r>
            <a:r>
              <a:rPr lang="en-US" sz="1739" dirty="0" err="1"/>
              <a:t>a.b</a:t>
            </a:r>
            <a:r>
              <a:rPr lang="en-US" sz="1739" dirty="0"/>
              <a:t>)*.a …….(6)</a:t>
            </a:r>
          </a:p>
          <a:p>
            <a:pPr fontAlgn="base"/>
            <a:r>
              <a:rPr lang="en-US" sz="1739" dirty="0"/>
              <a:t> </a:t>
            </a:r>
          </a:p>
          <a:p>
            <a:pPr fontAlgn="base"/>
            <a:r>
              <a:rPr lang="en-US" sz="1739" dirty="0"/>
              <a:t>Using (6) in (1), we get-</a:t>
            </a:r>
          </a:p>
          <a:p>
            <a:pPr fontAlgn="base"/>
            <a:r>
              <a:rPr lang="en-US" sz="1739" dirty="0"/>
              <a:t>q1 = ∈ + q1.a + q1.b.(b + </a:t>
            </a:r>
            <a:r>
              <a:rPr lang="en-US" sz="1739" dirty="0" err="1"/>
              <a:t>a.b</a:t>
            </a:r>
            <a:r>
              <a:rPr lang="en-US" sz="1739" dirty="0"/>
              <a:t>)*.</a:t>
            </a:r>
            <a:r>
              <a:rPr lang="en-US" sz="1739" dirty="0" err="1"/>
              <a:t>a.a</a:t>
            </a:r>
            <a:endParaRPr lang="en-US" sz="1739" dirty="0"/>
          </a:p>
          <a:p>
            <a:pPr fontAlgn="base"/>
            <a:r>
              <a:rPr lang="en-US" sz="1739" dirty="0"/>
              <a:t>q1 = ∈ + q1.(a + b.(b + </a:t>
            </a:r>
            <a:r>
              <a:rPr lang="en-US" sz="1739" dirty="0" err="1"/>
              <a:t>a.b</a:t>
            </a:r>
            <a:r>
              <a:rPr lang="en-US" sz="1739" dirty="0"/>
              <a:t>)*.</a:t>
            </a:r>
            <a:r>
              <a:rPr lang="en-US" sz="1739" dirty="0" err="1"/>
              <a:t>a.a</a:t>
            </a:r>
            <a:r>
              <a:rPr lang="en-US" sz="1739" dirty="0"/>
              <a:t>) …….(7)</a:t>
            </a:r>
          </a:p>
          <a:p>
            <a:pPr fontAlgn="base"/>
            <a:r>
              <a:rPr lang="en-US" sz="1739" dirty="0"/>
              <a:t> </a:t>
            </a:r>
          </a:p>
          <a:p>
            <a:pPr fontAlgn="base"/>
            <a:r>
              <a:rPr lang="en-US" sz="1739" dirty="0"/>
              <a:t>Using Arden’s Theorem in (7), we get-</a:t>
            </a:r>
          </a:p>
          <a:p>
            <a:pPr fontAlgn="base"/>
            <a:r>
              <a:rPr lang="en-US" sz="1739" dirty="0"/>
              <a:t>q1 = ∈.(a + b.(b + </a:t>
            </a:r>
            <a:r>
              <a:rPr lang="en-US" sz="1739" dirty="0" err="1"/>
              <a:t>a.b</a:t>
            </a:r>
            <a:r>
              <a:rPr lang="en-US" sz="1739" dirty="0"/>
              <a:t>)*.</a:t>
            </a:r>
            <a:r>
              <a:rPr lang="en-US" sz="1739" dirty="0" err="1"/>
              <a:t>a.a</a:t>
            </a:r>
            <a:r>
              <a:rPr lang="en-US" sz="1739" dirty="0"/>
              <a:t>)*</a:t>
            </a:r>
          </a:p>
          <a:p>
            <a:pPr fontAlgn="base"/>
            <a:r>
              <a:rPr lang="en-US" sz="1739" dirty="0"/>
              <a:t>q1 = (a + b.(b + </a:t>
            </a:r>
            <a:r>
              <a:rPr lang="en-US" sz="1739" dirty="0" err="1"/>
              <a:t>a.b</a:t>
            </a:r>
            <a:r>
              <a:rPr lang="en-US" sz="1739" dirty="0"/>
              <a:t>)*.</a:t>
            </a:r>
            <a:r>
              <a:rPr lang="en-US" sz="1739" dirty="0" err="1"/>
              <a:t>a.a</a:t>
            </a:r>
            <a:r>
              <a:rPr lang="en-US" sz="1739" dirty="0"/>
              <a:t>)*</a:t>
            </a:r>
          </a:p>
          <a:p>
            <a:pPr fontAlgn="base"/>
            <a:r>
              <a:rPr lang="en-US" sz="1739" dirty="0"/>
              <a:t> </a:t>
            </a:r>
          </a:p>
          <a:p>
            <a:pPr fontAlgn="base"/>
            <a:r>
              <a:rPr lang="en-US" sz="1739" dirty="0"/>
              <a:t>Thus, Regular Expression for the given DFA = (a + b(b + </a:t>
            </a:r>
            <a:r>
              <a:rPr lang="en-US" sz="1739" dirty="0" err="1"/>
              <a:t>ab</a:t>
            </a:r>
            <a:r>
              <a:rPr lang="en-US" sz="1739" dirty="0"/>
              <a:t>)*</a:t>
            </a:r>
            <a:r>
              <a:rPr lang="en-US" sz="1739" dirty="0" err="1"/>
              <a:t>aa</a:t>
            </a:r>
            <a:r>
              <a:rPr lang="en-US" sz="1739" dirty="0"/>
              <a:t>)*</a:t>
            </a:r>
          </a:p>
          <a:p>
            <a:r>
              <a:rPr lang="en-US" sz="1739" dirty="0"/>
              <a:t/>
            </a:r>
            <a:br>
              <a:rPr lang="en-US" sz="1739" dirty="0"/>
            </a:br>
            <a:endParaRPr lang="en-US" sz="1739" dirty="0"/>
          </a:p>
          <a:p>
            <a:endParaRPr lang="en-US" sz="1739" dirty="0"/>
          </a:p>
          <a:p>
            <a:r>
              <a:rPr lang="en-US" sz="1739" dirty="0"/>
              <a:t/>
            </a:r>
            <a:br>
              <a:rPr lang="en-US" sz="1739" dirty="0"/>
            </a:br>
            <a:endParaRPr lang="en-US" sz="2435" dirty="0">
              <a:latin typeface="Arial" pitchFamily="34" charset="0"/>
              <a:cs typeface="Arial" pitchFamily="34" charset="0"/>
            </a:endParaRPr>
          </a:p>
        </p:txBody>
      </p:sp>
    </p:spTree>
    <p:extLst>
      <p:ext uri="{BB962C8B-B14F-4D97-AF65-F5344CB8AC3E}">
        <p14:creationId xmlns:p14="http://schemas.microsoft.com/office/powerpoint/2010/main" val="23332460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fontAlgn="base">
              <a:buNone/>
            </a:pPr>
            <a:r>
              <a:rPr lang="en-US" sz="1739" b="1" dirty="0"/>
              <a:t>Arden’s theorem</a:t>
            </a:r>
            <a:r>
              <a:rPr lang="en-US" sz="1739" dirty="0"/>
              <a:t> state that: “If P and Q are two regular expressions over “</a:t>
            </a:r>
            <a:r>
              <a:rPr lang="en-US" sz="1739" b="1" dirty="0"/>
              <a:t>∑”</a:t>
            </a:r>
            <a:r>
              <a:rPr lang="en-US" sz="1739" dirty="0"/>
              <a:t>, and if P does not contain “∈” , then the following equation in R given by R = Q + RP has a unique solution i.e., R = QP*.” That means, whenever we get any equation in the form of R = Q + RP, then we can directly replace it with R = QP*. So, here we will first prove that R = QP* is the solution of this equation and then prove that it is the unique solution of this equation. Let’s start by taking this equation as equation (</a:t>
            </a:r>
            <a:r>
              <a:rPr lang="en-US" sz="1739" dirty="0" err="1"/>
              <a:t>i</a:t>
            </a:r>
            <a:r>
              <a:rPr lang="en-US" sz="1739" dirty="0"/>
              <a:t>)</a:t>
            </a:r>
          </a:p>
          <a:p>
            <a:pPr marL="0" indent="0" algn="just" fontAlgn="base">
              <a:buNone/>
            </a:pPr>
            <a:r>
              <a:rPr lang="en-US" sz="1739" b="1" i="1" dirty="0"/>
              <a:t>1. proof R = QP* is the solution of R = Q + RP</a:t>
            </a:r>
            <a:endParaRPr lang="en-US" sz="1739" b="1" dirty="0"/>
          </a:p>
          <a:p>
            <a:pPr marL="0" indent="0" algn="just" fontAlgn="base">
              <a:buNone/>
            </a:pPr>
            <a:r>
              <a:rPr lang="en-US" sz="1739" dirty="0"/>
              <a:t>R = Q + RP ......(</a:t>
            </a:r>
            <a:r>
              <a:rPr lang="en-US" sz="1739" dirty="0" err="1"/>
              <a:t>i</a:t>
            </a:r>
            <a:r>
              <a:rPr lang="en-US" sz="1739" dirty="0"/>
              <a:t>) Now, replacing R by R = QP*, we get,</a:t>
            </a:r>
          </a:p>
          <a:p>
            <a:pPr marL="0" indent="0" algn="just" fontAlgn="base">
              <a:buNone/>
            </a:pPr>
            <a:r>
              <a:rPr lang="en-US" sz="1739" dirty="0"/>
              <a:t>R = Q + QP*P Taking Q as common,</a:t>
            </a:r>
          </a:p>
          <a:p>
            <a:pPr marL="0" indent="0" algn="just" fontAlgn="base">
              <a:buNone/>
            </a:pPr>
            <a:r>
              <a:rPr lang="en-US" sz="1739" dirty="0"/>
              <a:t>R = Q( ∈ + P*P) = QP* </a:t>
            </a:r>
          </a:p>
          <a:p>
            <a:pPr marL="0" indent="0" algn="just" fontAlgn="base">
              <a:buNone/>
            </a:pPr>
            <a:r>
              <a:rPr lang="en-US" sz="1739" dirty="0"/>
              <a:t>(As we know that ∈ + R*R = R*). </a:t>
            </a:r>
            <a:r>
              <a:rPr lang="en-US" sz="1739" b="1" dirty="0"/>
              <a:t>Hence proved. </a:t>
            </a:r>
            <a:r>
              <a:rPr lang="en-US" sz="1739" b="1" i="1" dirty="0"/>
              <a:t>Thus, R = QP* is the solution of the equation R = Q + RP.</a:t>
            </a:r>
            <a:r>
              <a:rPr lang="en-US" sz="1739" b="1" dirty="0"/>
              <a:t> Now, we have to prove that this is the only solution to this equation.</a:t>
            </a:r>
          </a:p>
          <a:p>
            <a:pPr marL="0" indent="0">
              <a:buNone/>
            </a:pPr>
            <a:endParaRPr lang="en-US" sz="1739" b="1" dirty="0"/>
          </a:p>
        </p:txBody>
      </p:sp>
      <p:sp>
        <p:nvSpPr>
          <p:cNvPr id="4" name="Date Placeholder 3"/>
          <p:cNvSpPr>
            <a:spLocks noGrp="1"/>
          </p:cNvSpPr>
          <p:nvPr>
            <p:ph type="dt" sz="half" idx="10"/>
          </p:nvPr>
        </p:nvSpPr>
        <p:spPr/>
        <p:txBody>
          <a:bodyPr/>
          <a:lstStyle/>
          <a:p>
            <a:fld id="{D8D97C78-9928-4C0F-AFB2-2A4945FDDA6D}"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565" dirty="0"/>
          </a:p>
        </p:txBody>
      </p:sp>
      <p:sp>
        <p:nvSpPr>
          <p:cNvPr id="8" name="AutoShape 2" descr="$\sum_   "/>
          <p:cNvSpPr>
            <a:spLocks noChangeAspect="1" noChangeArrowheads="1"/>
          </p:cNvSpPr>
          <p:nvPr/>
        </p:nvSpPr>
        <p:spPr bwMode="auto">
          <a:xfrm>
            <a:off x="4359413" y="539751"/>
            <a:ext cx="215348" cy="2236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9" name="AutoShape 3" descr="$\epsilon_   "/>
          <p:cNvSpPr>
            <a:spLocks noChangeAspect="1" noChangeArrowheads="1"/>
          </p:cNvSpPr>
          <p:nvPr/>
        </p:nvSpPr>
        <p:spPr bwMode="auto">
          <a:xfrm>
            <a:off x="6209196" y="539751"/>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0" name="Title 1"/>
          <p:cNvSpPr txBox="1">
            <a:spLocks noGrp="1"/>
          </p:cNvSpPr>
          <p:nvPr>
            <p:ph type="title"/>
          </p:nvPr>
        </p:nvSpPr>
        <p:spPr>
          <a:xfrm>
            <a:off x="1371600" y="447261"/>
            <a:ext cx="7772400" cy="746816"/>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r>
              <a:rPr lang="en-US" sz="2087" dirty="0">
                <a:solidFill>
                  <a:schemeClr val="tx1"/>
                </a:solidFill>
                <a:latin typeface="+mj-lt"/>
              </a:rPr>
              <a:t>Algebraic method using </a:t>
            </a:r>
            <a:r>
              <a:rPr lang="en-US" altLang="en-US" sz="2087" dirty="0">
                <a:solidFill>
                  <a:schemeClr val="tx1"/>
                </a:solidFill>
                <a:latin typeface="+mj-lt"/>
              </a:rPr>
              <a:t>Arden’s theorem</a:t>
            </a:r>
            <a:endParaRPr lang="en-US" sz="2087" dirty="0">
              <a:solidFill>
                <a:schemeClr val="tx1"/>
              </a:solidFill>
              <a:latin typeface="+mj-lt"/>
            </a:endParaRPr>
          </a:p>
        </p:txBody>
      </p:sp>
      <p:sp>
        <p:nvSpPr>
          <p:cNvPr id="12" name="Rectangle 4"/>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3" name="Rectangle 5"/>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4" name="Rectangle 6"/>
          <p:cNvSpPr>
            <a:spLocks noChangeArrowheads="1"/>
          </p:cNvSpPr>
          <p:nvPr/>
        </p:nvSpPr>
        <p:spPr bwMode="auto">
          <a:xfrm>
            <a:off x="0" y="565701"/>
            <a:ext cx="65" cy="1606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044" dirty="0">
              <a:solidFill>
                <a:srgbClr val="273239"/>
              </a:solidFill>
              <a:latin typeface="Consolas" panose="020B0609020204030204" pitchFamily="49" charset="0"/>
            </a:endParaRPr>
          </a:p>
        </p:txBody>
      </p:sp>
      <p:sp>
        <p:nvSpPr>
          <p:cNvPr id="15" name="AutoShape 7" descr="$\epsilon_"/>
          <p:cNvSpPr>
            <a:spLocks noChangeAspect="1" noChangeArrowheads="1"/>
          </p:cNvSpPr>
          <p:nvPr/>
        </p:nvSpPr>
        <p:spPr bwMode="auto">
          <a:xfrm>
            <a:off x="512142" y="-74681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6" name="AutoShape 8" descr="$\epsilon_   "/>
          <p:cNvSpPr>
            <a:spLocks noChangeAspect="1" noChangeArrowheads="1"/>
          </p:cNvSpPr>
          <p:nvPr/>
        </p:nvSpPr>
        <p:spPr bwMode="auto">
          <a:xfrm>
            <a:off x="1082262" y="-58806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7" name="AutoShape 9" descr="P^2"/>
          <p:cNvSpPr>
            <a:spLocks noChangeAspect="1" noChangeArrowheads="1"/>
          </p:cNvSpPr>
          <p:nvPr/>
        </p:nvSpPr>
        <p:spPr bwMode="auto">
          <a:xfrm>
            <a:off x="2268055" y="335446"/>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9" name="AutoShape 11" descr="P^2"/>
          <p:cNvSpPr>
            <a:spLocks noChangeAspect="1" noChangeArrowheads="1"/>
          </p:cNvSpPr>
          <p:nvPr/>
        </p:nvSpPr>
        <p:spPr bwMode="auto">
          <a:xfrm>
            <a:off x="3012109"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0" name="AutoShape 12" descr="P^3"/>
          <p:cNvSpPr>
            <a:spLocks noChangeAspect="1" noChangeArrowheads="1"/>
          </p:cNvSpPr>
          <p:nvPr/>
        </p:nvSpPr>
        <p:spPr bwMode="auto">
          <a:xfrm>
            <a:off x="3683000"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1" name="AutoShape 13" descr="P^2"/>
          <p:cNvSpPr>
            <a:spLocks noChangeAspect="1" noChangeArrowheads="1"/>
          </p:cNvSpPr>
          <p:nvPr/>
        </p:nvSpPr>
        <p:spPr bwMode="auto">
          <a:xfrm>
            <a:off x="5890316"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2" name="AutoShape 14" descr="P^n"/>
          <p:cNvSpPr>
            <a:spLocks noChangeAspect="1" noChangeArrowheads="1"/>
          </p:cNvSpPr>
          <p:nvPr/>
        </p:nvSpPr>
        <p:spPr bwMode="auto">
          <a:xfrm>
            <a:off x="6927022" y="679174"/>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3" name="AutoShape 15" descr="P^{(n+1)}"/>
          <p:cNvSpPr>
            <a:spLocks noChangeAspect="1" noChangeArrowheads="1"/>
          </p:cNvSpPr>
          <p:nvPr/>
        </p:nvSpPr>
        <p:spPr bwMode="auto">
          <a:xfrm>
            <a:off x="7578587" y="679174"/>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4" name="AutoShape 16" descr="P^2"/>
          <p:cNvSpPr>
            <a:spLocks noChangeAspect="1" noChangeArrowheads="1"/>
          </p:cNvSpPr>
          <p:nvPr/>
        </p:nvSpPr>
        <p:spPr bwMode="auto">
          <a:xfrm>
            <a:off x="1097446" y="1036707"/>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5" name="AutoShape 17" descr="P^n"/>
          <p:cNvSpPr>
            <a:spLocks noChangeAspect="1" noChangeArrowheads="1"/>
          </p:cNvSpPr>
          <p:nvPr/>
        </p:nvSpPr>
        <p:spPr bwMode="auto">
          <a:xfrm>
            <a:off x="2134152" y="1036707"/>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6" name="AutoShape 18" descr="P^{(n+1)}"/>
          <p:cNvSpPr>
            <a:spLocks noChangeAspect="1" noChangeArrowheads="1"/>
          </p:cNvSpPr>
          <p:nvPr/>
        </p:nvSpPr>
        <p:spPr bwMode="auto">
          <a:xfrm>
            <a:off x="2932043" y="1036708"/>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7" name="AutoShape 19" descr="$\epsilon_"/>
          <p:cNvSpPr>
            <a:spLocks noChangeAspect="1" noChangeArrowheads="1"/>
          </p:cNvSpPr>
          <p:nvPr/>
        </p:nvSpPr>
        <p:spPr bwMode="auto">
          <a:xfrm>
            <a:off x="512142"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8" name="AutoShape 20" descr="P^2"/>
          <p:cNvSpPr>
            <a:spLocks noChangeAspect="1" noChangeArrowheads="1"/>
          </p:cNvSpPr>
          <p:nvPr/>
        </p:nvSpPr>
        <p:spPr bwMode="auto">
          <a:xfrm>
            <a:off x="1213403"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9" name="AutoShape 21" descr="P^n"/>
          <p:cNvSpPr>
            <a:spLocks noChangeAspect="1" noChangeArrowheads="1"/>
          </p:cNvSpPr>
          <p:nvPr/>
        </p:nvSpPr>
        <p:spPr bwMode="auto">
          <a:xfrm>
            <a:off x="2176946"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0" name="AutoShape 22" descr="P^{(n+1)}"/>
          <p:cNvSpPr>
            <a:spLocks noChangeAspect="1" noChangeArrowheads="1"/>
          </p:cNvSpPr>
          <p:nvPr/>
        </p:nvSpPr>
        <p:spPr bwMode="auto">
          <a:xfrm>
            <a:off x="2901674"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1" name="AutoShape 23" descr="$\epsilon_"/>
          <p:cNvSpPr>
            <a:spLocks noChangeAspect="1" noChangeArrowheads="1"/>
          </p:cNvSpPr>
          <p:nvPr/>
        </p:nvSpPr>
        <p:spPr bwMode="auto">
          <a:xfrm>
            <a:off x="4529208"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2" name="AutoShape 24" descr="P^2"/>
          <p:cNvSpPr>
            <a:spLocks noChangeAspect="1" noChangeArrowheads="1"/>
          </p:cNvSpPr>
          <p:nvPr/>
        </p:nvSpPr>
        <p:spPr bwMode="auto">
          <a:xfrm>
            <a:off x="5230468"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3" name="AutoShape 25" descr="P^n"/>
          <p:cNvSpPr>
            <a:spLocks noChangeAspect="1" noChangeArrowheads="1"/>
          </p:cNvSpPr>
          <p:nvPr/>
        </p:nvSpPr>
        <p:spPr bwMode="auto">
          <a:xfrm>
            <a:off x="6194012"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4" name="AutoShape 26" descr="P^{(n+1)}"/>
          <p:cNvSpPr>
            <a:spLocks noChangeAspect="1" noChangeArrowheads="1"/>
          </p:cNvSpPr>
          <p:nvPr/>
        </p:nvSpPr>
        <p:spPr bwMode="auto">
          <a:xfrm>
            <a:off x="6918739"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Tree>
    <p:extLst>
      <p:ext uri="{BB962C8B-B14F-4D97-AF65-F5344CB8AC3E}">
        <p14:creationId xmlns:p14="http://schemas.microsoft.com/office/powerpoint/2010/main" val="201647705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3FEFFA-7BBC-4E90-A8A4-75E8B4E33A15}"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565" dirty="0"/>
          </a:p>
        </p:txBody>
      </p:sp>
      <p:sp>
        <p:nvSpPr>
          <p:cNvPr id="8" name="AutoShape 2" descr="$\sum_   "/>
          <p:cNvSpPr>
            <a:spLocks noChangeAspect="1" noChangeArrowheads="1"/>
          </p:cNvSpPr>
          <p:nvPr/>
        </p:nvSpPr>
        <p:spPr bwMode="auto">
          <a:xfrm>
            <a:off x="4359413" y="539751"/>
            <a:ext cx="215348" cy="2236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9" name="AutoShape 3" descr="$\epsilon_   "/>
          <p:cNvSpPr>
            <a:spLocks noChangeAspect="1" noChangeArrowheads="1"/>
          </p:cNvSpPr>
          <p:nvPr/>
        </p:nvSpPr>
        <p:spPr bwMode="auto">
          <a:xfrm>
            <a:off x="6209196" y="539751"/>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0" name="Title 1"/>
          <p:cNvSpPr txBox="1">
            <a:spLocks noGrp="1"/>
          </p:cNvSpPr>
          <p:nvPr>
            <p:ph type="title"/>
          </p:nvPr>
        </p:nvSpPr>
        <p:spPr>
          <a:xfrm>
            <a:off x="1371600" y="447261"/>
            <a:ext cx="7772400" cy="746816"/>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r>
              <a:rPr lang="en-US" sz="2087" dirty="0">
                <a:solidFill>
                  <a:schemeClr val="tx1"/>
                </a:solidFill>
                <a:latin typeface="+mj-lt"/>
              </a:rPr>
              <a:t>Algebraic method using </a:t>
            </a:r>
            <a:r>
              <a:rPr lang="en-US" altLang="en-US" sz="2087" dirty="0">
                <a:solidFill>
                  <a:schemeClr val="tx1"/>
                </a:solidFill>
                <a:latin typeface="+mj-lt"/>
              </a:rPr>
              <a:t>Arden’s theorem</a:t>
            </a:r>
            <a:endParaRPr lang="en-US" sz="2087" dirty="0">
              <a:solidFill>
                <a:schemeClr val="tx1"/>
              </a:solidFill>
              <a:latin typeface="+mj-lt"/>
            </a:endParaRPr>
          </a:p>
        </p:txBody>
      </p:sp>
      <p:sp>
        <p:nvSpPr>
          <p:cNvPr id="12" name="Rectangle 4"/>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3" name="Rectangle 5"/>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4" name="Rectangle 6"/>
          <p:cNvSpPr>
            <a:spLocks noChangeArrowheads="1"/>
          </p:cNvSpPr>
          <p:nvPr/>
        </p:nvSpPr>
        <p:spPr bwMode="auto">
          <a:xfrm>
            <a:off x="0" y="565701"/>
            <a:ext cx="65" cy="1606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044" dirty="0">
              <a:solidFill>
                <a:srgbClr val="273239"/>
              </a:solidFill>
              <a:latin typeface="Consolas" panose="020B0609020204030204" pitchFamily="49" charset="0"/>
            </a:endParaRPr>
          </a:p>
        </p:txBody>
      </p:sp>
      <p:sp>
        <p:nvSpPr>
          <p:cNvPr id="15" name="AutoShape 7" descr="$\epsilon_"/>
          <p:cNvSpPr>
            <a:spLocks noChangeAspect="1" noChangeArrowheads="1"/>
          </p:cNvSpPr>
          <p:nvPr/>
        </p:nvSpPr>
        <p:spPr bwMode="auto">
          <a:xfrm>
            <a:off x="512142" y="-74681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6" name="AutoShape 8" descr="$\epsilon_   "/>
          <p:cNvSpPr>
            <a:spLocks noChangeAspect="1" noChangeArrowheads="1"/>
          </p:cNvSpPr>
          <p:nvPr/>
        </p:nvSpPr>
        <p:spPr bwMode="auto">
          <a:xfrm>
            <a:off x="1082262" y="-58806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7" name="AutoShape 9" descr="P^2"/>
          <p:cNvSpPr>
            <a:spLocks noChangeAspect="1" noChangeArrowheads="1"/>
          </p:cNvSpPr>
          <p:nvPr/>
        </p:nvSpPr>
        <p:spPr bwMode="auto">
          <a:xfrm>
            <a:off x="2268055" y="335446"/>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9" name="AutoShape 11" descr="P^2"/>
          <p:cNvSpPr>
            <a:spLocks noChangeAspect="1" noChangeArrowheads="1"/>
          </p:cNvSpPr>
          <p:nvPr/>
        </p:nvSpPr>
        <p:spPr bwMode="auto">
          <a:xfrm>
            <a:off x="3012109"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0" name="AutoShape 12" descr="P^3"/>
          <p:cNvSpPr>
            <a:spLocks noChangeAspect="1" noChangeArrowheads="1"/>
          </p:cNvSpPr>
          <p:nvPr/>
        </p:nvSpPr>
        <p:spPr bwMode="auto">
          <a:xfrm>
            <a:off x="3683000"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1" name="AutoShape 13" descr="P^2"/>
          <p:cNvSpPr>
            <a:spLocks noChangeAspect="1" noChangeArrowheads="1"/>
          </p:cNvSpPr>
          <p:nvPr/>
        </p:nvSpPr>
        <p:spPr bwMode="auto">
          <a:xfrm>
            <a:off x="5890316"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2" name="AutoShape 14" descr="P^n"/>
          <p:cNvSpPr>
            <a:spLocks noChangeAspect="1" noChangeArrowheads="1"/>
          </p:cNvSpPr>
          <p:nvPr/>
        </p:nvSpPr>
        <p:spPr bwMode="auto">
          <a:xfrm>
            <a:off x="6927022" y="679174"/>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3" name="AutoShape 15" descr="P^{(n+1)}"/>
          <p:cNvSpPr>
            <a:spLocks noChangeAspect="1" noChangeArrowheads="1"/>
          </p:cNvSpPr>
          <p:nvPr/>
        </p:nvSpPr>
        <p:spPr bwMode="auto">
          <a:xfrm>
            <a:off x="7578587" y="679174"/>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4" name="AutoShape 16" descr="P^2"/>
          <p:cNvSpPr>
            <a:spLocks noChangeAspect="1" noChangeArrowheads="1"/>
          </p:cNvSpPr>
          <p:nvPr/>
        </p:nvSpPr>
        <p:spPr bwMode="auto">
          <a:xfrm>
            <a:off x="1097446" y="1036707"/>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5" name="AutoShape 17" descr="P^n"/>
          <p:cNvSpPr>
            <a:spLocks noChangeAspect="1" noChangeArrowheads="1"/>
          </p:cNvSpPr>
          <p:nvPr/>
        </p:nvSpPr>
        <p:spPr bwMode="auto">
          <a:xfrm>
            <a:off x="2134152" y="1036707"/>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6" name="AutoShape 18" descr="P^{(n+1)}"/>
          <p:cNvSpPr>
            <a:spLocks noChangeAspect="1" noChangeArrowheads="1"/>
          </p:cNvSpPr>
          <p:nvPr/>
        </p:nvSpPr>
        <p:spPr bwMode="auto">
          <a:xfrm>
            <a:off x="2932043" y="1036708"/>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7" name="AutoShape 19" descr="$\epsilon_"/>
          <p:cNvSpPr>
            <a:spLocks noChangeAspect="1" noChangeArrowheads="1"/>
          </p:cNvSpPr>
          <p:nvPr/>
        </p:nvSpPr>
        <p:spPr bwMode="auto">
          <a:xfrm>
            <a:off x="512142"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8" name="AutoShape 20" descr="P^2"/>
          <p:cNvSpPr>
            <a:spLocks noChangeAspect="1" noChangeArrowheads="1"/>
          </p:cNvSpPr>
          <p:nvPr/>
        </p:nvSpPr>
        <p:spPr bwMode="auto">
          <a:xfrm>
            <a:off x="1213403"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9" name="AutoShape 21" descr="P^n"/>
          <p:cNvSpPr>
            <a:spLocks noChangeAspect="1" noChangeArrowheads="1"/>
          </p:cNvSpPr>
          <p:nvPr/>
        </p:nvSpPr>
        <p:spPr bwMode="auto">
          <a:xfrm>
            <a:off x="2176946"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0" name="AutoShape 22" descr="P^{(n+1)}"/>
          <p:cNvSpPr>
            <a:spLocks noChangeAspect="1" noChangeArrowheads="1"/>
          </p:cNvSpPr>
          <p:nvPr/>
        </p:nvSpPr>
        <p:spPr bwMode="auto">
          <a:xfrm>
            <a:off x="2901674"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1" name="AutoShape 23" descr="$\epsilon_"/>
          <p:cNvSpPr>
            <a:spLocks noChangeAspect="1" noChangeArrowheads="1"/>
          </p:cNvSpPr>
          <p:nvPr/>
        </p:nvSpPr>
        <p:spPr bwMode="auto">
          <a:xfrm>
            <a:off x="4529208"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2" name="AutoShape 24" descr="P^2"/>
          <p:cNvSpPr>
            <a:spLocks noChangeAspect="1" noChangeArrowheads="1"/>
          </p:cNvSpPr>
          <p:nvPr/>
        </p:nvSpPr>
        <p:spPr bwMode="auto">
          <a:xfrm>
            <a:off x="5230468"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3" name="AutoShape 25" descr="P^n"/>
          <p:cNvSpPr>
            <a:spLocks noChangeAspect="1" noChangeArrowheads="1"/>
          </p:cNvSpPr>
          <p:nvPr/>
        </p:nvSpPr>
        <p:spPr bwMode="auto">
          <a:xfrm>
            <a:off x="6194012"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4" name="AutoShape 26" descr="P^{(n+1)}"/>
          <p:cNvSpPr>
            <a:spLocks noChangeAspect="1" noChangeArrowheads="1"/>
          </p:cNvSpPr>
          <p:nvPr/>
        </p:nvSpPr>
        <p:spPr bwMode="auto">
          <a:xfrm>
            <a:off x="6918739"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 name="Content Placeholder 1"/>
          <p:cNvSpPr>
            <a:spLocks noGrp="1"/>
          </p:cNvSpPr>
          <p:nvPr>
            <p:ph idx="1"/>
          </p:nvPr>
        </p:nvSpPr>
        <p:spPr/>
        <p:txBody>
          <a:bodyPr>
            <a:noAutofit/>
          </a:bodyPr>
          <a:lstStyle/>
          <a:p>
            <a:pPr marL="0" indent="0" fontAlgn="base">
              <a:buNone/>
            </a:pPr>
            <a:r>
              <a:rPr lang="en-US" sz="1739" b="1" i="1" dirty="0"/>
              <a:t>2. proof R = QP* is the unique solution of R = Q + RP</a:t>
            </a:r>
            <a:endParaRPr lang="en-US" sz="1739" b="1" dirty="0"/>
          </a:p>
          <a:p>
            <a:pPr marL="0" indent="0" fontAlgn="base">
              <a:buNone/>
            </a:pPr>
            <a:r>
              <a:rPr lang="en-US" sz="1739" dirty="0"/>
              <a:t>Let me take this equation again:</a:t>
            </a:r>
          </a:p>
          <a:p>
            <a:pPr marL="0" indent="0" fontAlgn="base">
              <a:buNone/>
            </a:pPr>
            <a:r>
              <a:rPr lang="en-US" sz="1739" dirty="0"/>
              <a:t>R = Q + RP Now, replace R by R = Q + RP,</a:t>
            </a:r>
          </a:p>
          <a:p>
            <a:pPr marL="0" indent="0" fontAlgn="base">
              <a:buNone/>
            </a:pPr>
            <a:r>
              <a:rPr lang="en-US" sz="1739" dirty="0"/>
              <a:t>R = Q + (Q + RP)P = Q + QP + RP</a:t>
            </a:r>
            <a:r>
              <a:rPr lang="en-US" sz="1739" baseline="30000" dirty="0"/>
              <a:t>2 </a:t>
            </a:r>
          </a:p>
          <a:p>
            <a:pPr marL="0" indent="0" fontAlgn="base">
              <a:buNone/>
            </a:pPr>
            <a:r>
              <a:rPr lang="en-US" sz="1739" dirty="0"/>
              <a:t>Again, replace R by R = Q + RP </a:t>
            </a:r>
          </a:p>
          <a:p>
            <a:pPr marL="0" indent="0" fontAlgn="base">
              <a:buNone/>
            </a:pPr>
            <a:r>
              <a:rPr lang="en-US" sz="1739" dirty="0"/>
              <a:t>R = Q + QP + (Q + RP) P</a:t>
            </a:r>
            <a:r>
              <a:rPr lang="en-US" sz="1739" baseline="30000" dirty="0"/>
              <a:t>2</a:t>
            </a:r>
            <a:r>
              <a:rPr lang="en-US" sz="1739" dirty="0"/>
              <a:t> = Q + QP + QP</a:t>
            </a:r>
            <a:r>
              <a:rPr lang="en-US" sz="1739" baseline="30000" dirty="0"/>
              <a:t>2</a:t>
            </a:r>
            <a:r>
              <a:rPr lang="en-US" sz="1739" dirty="0"/>
              <a:t> + RP</a:t>
            </a:r>
            <a:r>
              <a:rPr lang="en-US" sz="1739" baseline="30000" dirty="0"/>
              <a:t>3</a:t>
            </a:r>
            <a:r>
              <a:rPr lang="en-US" sz="1739" dirty="0"/>
              <a:t> . . = Q + QP + QP</a:t>
            </a:r>
            <a:r>
              <a:rPr lang="en-US" sz="1739" baseline="30000" dirty="0"/>
              <a:t>2</a:t>
            </a:r>
            <a:r>
              <a:rPr lang="en-US" sz="1739" dirty="0"/>
              <a:t> + .. + Q + RP</a:t>
            </a:r>
            <a:r>
              <a:rPr lang="en-US" sz="1739" baseline="30000" dirty="0"/>
              <a:t>(n+1)</a:t>
            </a:r>
          </a:p>
          <a:p>
            <a:pPr marL="0" indent="0" fontAlgn="base">
              <a:buNone/>
            </a:pPr>
            <a:r>
              <a:rPr lang="en-US" sz="1739" dirty="0"/>
              <a:t>Now, replace R by R = QP*, we get,</a:t>
            </a:r>
          </a:p>
          <a:p>
            <a:pPr marL="0" indent="0" fontAlgn="base">
              <a:buNone/>
            </a:pPr>
            <a:r>
              <a:rPr lang="en-US" sz="1739" dirty="0"/>
              <a:t>R = Q + QP + QP</a:t>
            </a:r>
            <a:r>
              <a:rPr lang="en-US" sz="1739" baseline="30000" dirty="0"/>
              <a:t>2</a:t>
            </a:r>
            <a:r>
              <a:rPr lang="en-US" sz="1739" dirty="0"/>
              <a:t> + .. + </a:t>
            </a:r>
            <a:r>
              <a:rPr lang="en-US" sz="1739" dirty="0" err="1"/>
              <a:t>QP</a:t>
            </a:r>
            <a:r>
              <a:rPr lang="en-US" sz="1739" baseline="30000" dirty="0" err="1"/>
              <a:t>n</a:t>
            </a:r>
            <a:r>
              <a:rPr lang="en-US" sz="1739" dirty="0"/>
              <a:t>+ QP*P</a:t>
            </a:r>
            <a:r>
              <a:rPr lang="en-US" sz="1739" baseline="30000" dirty="0"/>
              <a:t>(n+1)</a:t>
            </a:r>
          </a:p>
          <a:p>
            <a:pPr marL="0" indent="0" fontAlgn="base">
              <a:buNone/>
            </a:pPr>
            <a:r>
              <a:rPr lang="en-US" sz="1739" dirty="0"/>
              <a:t>Taking Q as common,</a:t>
            </a:r>
          </a:p>
          <a:p>
            <a:pPr marL="0" indent="0" fontAlgn="base">
              <a:buNone/>
            </a:pPr>
            <a:r>
              <a:rPr lang="en-US" sz="1739" dirty="0"/>
              <a:t>R = Q( ∈ + P + P</a:t>
            </a:r>
            <a:r>
              <a:rPr lang="en-US" sz="1739" baseline="30000" dirty="0"/>
              <a:t>2</a:t>
            </a:r>
            <a:r>
              <a:rPr lang="en-US" sz="1739" dirty="0"/>
              <a:t> + .. + </a:t>
            </a:r>
            <a:r>
              <a:rPr lang="en-US" sz="1739" dirty="0" err="1"/>
              <a:t>P</a:t>
            </a:r>
            <a:r>
              <a:rPr lang="en-US" sz="1739" baseline="30000" dirty="0" err="1"/>
              <a:t>n</a:t>
            </a:r>
            <a:r>
              <a:rPr lang="en-US" sz="1739" dirty="0"/>
              <a:t> + P*P</a:t>
            </a:r>
            <a:r>
              <a:rPr lang="en-US" sz="1739" baseline="30000" dirty="0"/>
              <a:t>(n+1)</a:t>
            </a:r>
            <a:r>
              <a:rPr lang="en-US" sz="1739" dirty="0"/>
              <a:t> = QP* </a:t>
            </a:r>
          </a:p>
          <a:p>
            <a:pPr marL="0" indent="0" fontAlgn="base">
              <a:buNone/>
            </a:pPr>
            <a:r>
              <a:rPr lang="en-US" sz="1739" dirty="0"/>
              <a:t>[As ∈ + P + P</a:t>
            </a:r>
            <a:r>
              <a:rPr lang="en-US" sz="1739" baseline="30000" dirty="0"/>
              <a:t>2</a:t>
            </a:r>
            <a:r>
              <a:rPr lang="en-US" sz="1739" dirty="0"/>
              <a:t> + .. + </a:t>
            </a:r>
            <a:r>
              <a:rPr lang="en-US" sz="1739" dirty="0" err="1"/>
              <a:t>P</a:t>
            </a:r>
            <a:r>
              <a:rPr lang="en-US" sz="1739" baseline="30000" dirty="0" err="1"/>
              <a:t>n</a:t>
            </a:r>
            <a:r>
              <a:rPr lang="en-US" sz="1739" dirty="0"/>
              <a:t> + P*P</a:t>
            </a:r>
            <a:r>
              <a:rPr lang="en-US" sz="1739" baseline="30000" dirty="0"/>
              <a:t>(n+1)</a:t>
            </a:r>
            <a:r>
              <a:rPr lang="en-US" sz="1739" dirty="0"/>
              <a:t> represent the closure of P] Hence proved. </a:t>
            </a:r>
            <a:r>
              <a:rPr lang="en-US" sz="1739" b="1" dirty="0"/>
              <a:t>Thus, R = QP* is the unique solution of the equation R = Q + RP. </a:t>
            </a:r>
          </a:p>
          <a:p>
            <a:endParaRPr lang="en-US" sz="1739" dirty="0"/>
          </a:p>
        </p:txBody>
      </p:sp>
    </p:spTree>
    <p:extLst>
      <p:ext uri="{BB962C8B-B14F-4D97-AF65-F5344CB8AC3E}">
        <p14:creationId xmlns:p14="http://schemas.microsoft.com/office/powerpoint/2010/main" val="171438675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26" name="Content Placeholder 25"/>
          <p:cNvSpPr>
            <a:spLocks noGrp="1"/>
          </p:cNvSpPr>
          <p:nvPr>
            <p:ph sz="quarter" idx="4"/>
          </p:nvPr>
        </p:nvSpPr>
        <p:spPr>
          <a:xfrm>
            <a:off x="685801" y="1414948"/>
            <a:ext cx="8001000" cy="4266924"/>
          </a:xfrm>
        </p:spPr>
        <p:txBody>
          <a:bodyPr>
            <a:normAutofit/>
          </a:bodyPr>
          <a:lstStyle/>
          <a:p>
            <a:pPr>
              <a:buNone/>
            </a:pPr>
            <a:r>
              <a:rPr lang="en-US" b="1" dirty="0" smtClean="0">
                <a:solidFill>
                  <a:srgbClr val="FF0000"/>
                </a:solidFill>
              </a:rPr>
              <a:t>I</a:t>
            </a:r>
            <a:r>
              <a:rPr lang="en-US" b="1" baseline="-25000" dirty="0" smtClean="0">
                <a:solidFill>
                  <a:srgbClr val="FF0000"/>
                </a:solidFill>
              </a:rPr>
              <a:t>1</a:t>
            </a:r>
            <a:r>
              <a:rPr lang="en-US" b="1" dirty="0" smtClean="0">
                <a:solidFill>
                  <a:srgbClr val="FF0000"/>
                </a:solidFill>
              </a:rPr>
              <a:t>:</a:t>
            </a:r>
            <a:r>
              <a:rPr lang="en-US" dirty="0" smtClean="0"/>
              <a:t> 		R + ∅ = ∅ + R = R</a:t>
            </a:r>
          </a:p>
          <a:p>
            <a:pPr>
              <a:buNone/>
            </a:pPr>
            <a:r>
              <a:rPr lang="en-US" b="1" dirty="0" smtClean="0">
                <a:solidFill>
                  <a:srgbClr val="FF0000"/>
                </a:solidFill>
              </a:rPr>
              <a:t>I</a:t>
            </a:r>
            <a:r>
              <a:rPr lang="en-US" b="1" baseline="-25000" dirty="0" smtClean="0">
                <a:solidFill>
                  <a:srgbClr val="FF0000"/>
                </a:solidFill>
              </a:rPr>
              <a:t>2</a:t>
            </a:r>
            <a:r>
              <a:rPr lang="en-US" b="1" dirty="0" smtClean="0">
                <a:solidFill>
                  <a:srgbClr val="FF0000"/>
                </a:solidFill>
              </a:rPr>
              <a:t>:</a:t>
            </a:r>
            <a:r>
              <a:rPr lang="en-US" dirty="0" smtClean="0"/>
              <a:t> 		R. ∅ = ∅</a:t>
            </a:r>
          </a:p>
          <a:p>
            <a:pPr>
              <a:buNone/>
            </a:pPr>
            <a:r>
              <a:rPr lang="en-US" b="1" dirty="0" smtClean="0">
                <a:solidFill>
                  <a:srgbClr val="FF0000"/>
                </a:solidFill>
              </a:rPr>
              <a:t>I</a:t>
            </a:r>
            <a:r>
              <a:rPr lang="en-US" b="1" baseline="-25000" dirty="0" smtClean="0">
                <a:solidFill>
                  <a:srgbClr val="FF0000"/>
                </a:solidFill>
              </a:rPr>
              <a:t>3</a:t>
            </a:r>
            <a:r>
              <a:rPr lang="en-US" b="1" dirty="0" smtClean="0">
                <a:solidFill>
                  <a:srgbClr val="FF0000"/>
                </a:solidFill>
              </a:rPr>
              <a:t>:</a:t>
            </a:r>
            <a:r>
              <a:rPr lang="en-US" dirty="0" smtClean="0"/>
              <a:t> 		</a:t>
            </a:r>
            <a:r>
              <a:rPr lang="pt-BR" dirty="0" smtClean="0"/>
              <a:t>R.ε = ε.R = R</a:t>
            </a:r>
            <a:endParaRPr lang="en-US" dirty="0" smtClean="0"/>
          </a:p>
          <a:p>
            <a:pPr>
              <a:buNone/>
            </a:pPr>
            <a:r>
              <a:rPr lang="en-US" b="1" dirty="0" smtClean="0">
                <a:solidFill>
                  <a:srgbClr val="FF0000"/>
                </a:solidFill>
              </a:rPr>
              <a:t>I</a:t>
            </a:r>
            <a:r>
              <a:rPr lang="en-US" b="1" baseline="-25000" dirty="0" smtClean="0">
                <a:solidFill>
                  <a:srgbClr val="FF0000"/>
                </a:solidFill>
              </a:rPr>
              <a:t>4</a:t>
            </a:r>
            <a:r>
              <a:rPr lang="en-US" b="1" dirty="0" smtClean="0">
                <a:solidFill>
                  <a:srgbClr val="FF0000"/>
                </a:solidFill>
              </a:rPr>
              <a:t>:</a:t>
            </a:r>
            <a:r>
              <a:rPr lang="en-US" dirty="0" smtClean="0"/>
              <a:t> 		</a:t>
            </a:r>
            <a:r>
              <a:rPr lang="el-GR" dirty="0" smtClean="0"/>
              <a:t>ε* = ε</a:t>
            </a:r>
            <a:endParaRPr lang="en-US" dirty="0" smtClean="0"/>
          </a:p>
          <a:p>
            <a:pPr>
              <a:buNone/>
            </a:pPr>
            <a:r>
              <a:rPr lang="en-US" b="1" dirty="0" smtClean="0">
                <a:solidFill>
                  <a:srgbClr val="FF0000"/>
                </a:solidFill>
              </a:rPr>
              <a:t>I</a:t>
            </a:r>
            <a:r>
              <a:rPr lang="en-US" b="1" baseline="-25000" dirty="0" smtClean="0">
                <a:solidFill>
                  <a:srgbClr val="FF0000"/>
                </a:solidFill>
              </a:rPr>
              <a:t>5</a:t>
            </a:r>
            <a:r>
              <a:rPr lang="en-US" b="1" dirty="0" smtClean="0">
                <a:solidFill>
                  <a:srgbClr val="FF0000"/>
                </a:solidFill>
              </a:rPr>
              <a:t>:</a:t>
            </a:r>
            <a:r>
              <a:rPr lang="en-US" dirty="0" smtClean="0"/>
              <a:t> 		R+R=R</a:t>
            </a:r>
          </a:p>
          <a:p>
            <a:pPr>
              <a:buNone/>
            </a:pPr>
            <a:r>
              <a:rPr lang="en-US" b="1" dirty="0" smtClean="0">
                <a:solidFill>
                  <a:srgbClr val="FF0000"/>
                </a:solidFill>
              </a:rPr>
              <a:t>I</a:t>
            </a:r>
            <a:r>
              <a:rPr lang="en-US" b="1" baseline="-25000" dirty="0" smtClean="0">
                <a:solidFill>
                  <a:srgbClr val="FF0000"/>
                </a:solidFill>
              </a:rPr>
              <a:t>6</a:t>
            </a:r>
            <a:r>
              <a:rPr lang="en-US" b="1" dirty="0" smtClean="0">
                <a:solidFill>
                  <a:srgbClr val="FF0000"/>
                </a:solidFill>
              </a:rPr>
              <a:t>:</a:t>
            </a:r>
            <a:r>
              <a:rPr lang="en-US" dirty="0" smtClean="0"/>
              <a:t> 		R*R* = R*</a:t>
            </a:r>
          </a:p>
          <a:p>
            <a:pPr>
              <a:buNone/>
            </a:pPr>
            <a:r>
              <a:rPr lang="en-US" b="1" dirty="0" smtClean="0">
                <a:solidFill>
                  <a:srgbClr val="FF0000"/>
                </a:solidFill>
              </a:rPr>
              <a:t>I</a:t>
            </a:r>
            <a:r>
              <a:rPr lang="en-US" b="1" baseline="-25000" dirty="0" smtClean="0">
                <a:solidFill>
                  <a:srgbClr val="FF0000"/>
                </a:solidFill>
              </a:rPr>
              <a:t>7</a:t>
            </a:r>
            <a:r>
              <a:rPr lang="en-US" b="1" dirty="0" smtClean="0">
                <a:solidFill>
                  <a:srgbClr val="FF0000"/>
                </a:solidFill>
              </a:rPr>
              <a:t>:</a:t>
            </a:r>
            <a:r>
              <a:rPr lang="en-US" dirty="0" smtClean="0"/>
              <a:t> 		RR* = R*R</a:t>
            </a:r>
          </a:p>
          <a:p>
            <a:pPr>
              <a:buNone/>
            </a:pPr>
            <a:r>
              <a:rPr lang="en-US" b="1" dirty="0" smtClean="0">
                <a:solidFill>
                  <a:srgbClr val="FF0000"/>
                </a:solidFill>
              </a:rPr>
              <a:t>I</a:t>
            </a:r>
            <a:r>
              <a:rPr lang="en-US" b="1" baseline="-25000" dirty="0" smtClean="0">
                <a:solidFill>
                  <a:srgbClr val="FF0000"/>
                </a:solidFill>
              </a:rPr>
              <a:t>8</a:t>
            </a:r>
            <a:r>
              <a:rPr lang="en-US" b="1" dirty="0" smtClean="0">
                <a:solidFill>
                  <a:srgbClr val="FF0000"/>
                </a:solidFill>
              </a:rPr>
              <a:t>:</a:t>
            </a:r>
            <a:r>
              <a:rPr lang="en-US" dirty="0" smtClean="0"/>
              <a:t> 		(R*)* = R*</a:t>
            </a:r>
          </a:p>
          <a:p>
            <a:pPr>
              <a:buNone/>
            </a:pPr>
            <a:r>
              <a:rPr lang="en-US" b="1" dirty="0" smtClean="0">
                <a:solidFill>
                  <a:srgbClr val="FF0000"/>
                </a:solidFill>
              </a:rPr>
              <a:t>I</a:t>
            </a:r>
            <a:r>
              <a:rPr lang="en-US" b="1" baseline="-25000" dirty="0" smtClean="0">
                <a:solidFill>
                  <a:srgbClr val="FF0000"/>
                </a:solidFill>
              </a:rPr>
              <a:t>9</a:t>
            </a:r>
            <a:r>
              <a:rPr lang="en-US" b="1" dirty="0" smtClean="0">
                <a:solidFill>
                  <a:srgbClr val="FF0000"/>
                </a:solidFill>
              </a:rPr>
              <a:t>:</a:t>
            </a:r>
            <a:r>
              <a:rPr lang="en-US" dirty="0" smtClean="0"/>
              <a:t> 		</a:t>
            </a:r>
            <a:r>
              <a:rPr lang="pt-BR" dirty="0" smtClean="0"/>
              <a:t>ε + RR* = ε + R*R = R*</a:t>
            </a:r>
            <a:endParaRPr lang="en-US" dirty="0" smtClean="0"/>
          </a:p>
          <a:p>
            <a:pPr>
              <a:buNone/>
            </a:pPr>
            <a:r>
              <a:rPr lang="en-US" b="1" dirty="0" smtClean="0">
                <a:solidFill>
                  <a:srgbClr val="FF0000"/>
                </a:solidFill>
              </a:rPr>
              <a:t>I</a:t>
            </a:r>
            <a:r>
              <a:rPr lang="en-US" b="1" baseline="-25000" dirty="0" smtClean="0">
                <a:solidFill>
                  <a:srgbClr val="FF0000"/>
                </a:solidFill>
              </a:rPr>
              <a:t>10</a:t>
            </a:r>
            <a:r>
              <a:rPr lang="en-US" b="1" dirty="0" smtClean="0">
                <a:solidFill>
                  <a:srgbClr val="FF0000"/>
                </a:solidFill>
              </a:rPr>
              <a:t>:</a:t>
            </a:r>
            <a:r>
              <a:rPr lang="en-US" dirty="0" smtClean="0"/>
              <a:t> 	(PQ)*P =P(QP)*</a:t>
            </a:r>
          </a:p>
          <a:p>
            <a:pPr>
              <a:buNone/>
            </a:pPr>
            <a:r>
              <a:rPr lang="en-US" b="1" dirty="0" smtClean="0">
                <a:solidFill>
                  <a:srgbClr val="FF0000"/>
                </a:solidFill>
              </a:rPr>
              <a:t>I</a:t>
            </a:r>
            <a:r>
              <a:rPr lang="en-US" b="1" baseline="-25000" dirty="0" smtClean="0">
                <a:solidFill>
                  <a:srgbClr val="FF0000"/>
                </a:solidFill>
              </a:rPr>
              <a:t>11</a:t>
            </a:r>
            <a:r>
              <a:rPr lang="en-US" b="1" dirty="0" smtClean="0">
                <a:solidFill>
                  <a:srgbClr val="FF0000"/>
                </a:solidFill>
              </a:rPr>
              <a:t>:</a:t>
            </a:r>
            <a:r>
              <a:rPr lang="en-US" dirty="0" smtClean="0"/>
              <a:t> 	(P+Q)* = (P*Q*)* = (P*+Q*)*</a:t>
            </a:r>
          </a:p>
          <a:p>
            <a:pPr>
              <a:buNone/>
            </a:pPr>
            <a:r>
              <a:rPr lang="en-US" b="1" dirty="0" smtClean="0">
                <a:solidFill>
                  <a:srgbClr val="FF0000"/>
                </a:solidFill>
              </a:rPr>
              <a:t>I</a:t>
            </a:r>
            <a:r>
              <a:rPr lang="en-US" b="1" baseline="-25000" dirty="0" smtClean="0">
                <a:solidFill>
                  <a:srgbClr val="FF0000"/>
                </a:solidFill>
              </a:rPr>
              <a:t>12</a:t>
            </a:r>
            <a:r>
              <a:rPr lang="en-US" b="1" dirty="0" smtClean="0">
                <a:solidFill>
                  <a:srgbClr val="FF0000"/>
                </a:solidFill>
              </a:rPr>
              <a:t>:</a:t>
            </a:r>
            <a:r>
              <a:rPr lang="en-US" dirty="0" smtClean="0"/>
              <a:t> 	PQ+PR = P(Q+R) and QP+RP = (Q+R)P</a:t>
            </a:r>
          </a:p>
        </p:txBody>
      </p:sp>
      <p:sp>
        <p:nvSpPr>
          <p:cNvPr id="4" name="Date Placeholder 3"/>
          <p:cNvSpPr>
            <a:spLocks noGrp="1"/>
          </p:cNvSpPr>
          <p:nvPr>
            <p:ph type="dt" sz="half" idx="10"/>
          </p:nvPr>
        </p:nvSpPr>
        <p:spPr/>
        <p:txBody>
          <a:bodyPr/>
          <a:lstStyle/>
          <a:p>
            <a:fld id="{285E5272-0539-4C0C-8854-7102BEDB7681}"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Identities of Regular Expression</a:t>
            </a:r>
          </a:p>
        </p:txBody>
      </p:sp>
    </p:spTree>
    <p:extLst>
      <p:ext uri="{BB962C8B-B14F-4D97-AF65-F5344CB8AC3E}">
        <p14:creationId xmlns:p14="http://schemas.microsoft.com/office/powerpoint/2010/main" val="131718910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2"/>
          </p:nvPr>
        </p:nvSpPr>
        <p:spPr/>
        <p:txBody>
          <a:bodyPr>
            <a:normAutofit/>
          </a:bodyPr>
          <a:lstStyle/>
          <a:p>
            <a:pPr algn="just"/>
            <a:endParaRPr lang="en-US" dirty="0" smtClean="0"/>
          </a:p>
          <a:p>
            <a:pPr algn="just"/>
            <a:endParaRPr lang="en-US" sz="1739" dirty="0"/>
          </a:p>
        </p:txBody>
      </p:sp>
      <p:sp>
        <p:nvSpPr>
          <p:cNvPr id="4" name="Date Placeholder 3"/>
          <p:cNvSpPr>
            <a:spLocks noGrp="1"/>
          </p:cNvSpPr>
          <p:nvPr>
            <p:ph type="dt" sz="half" idx="10"/>
          </p:nvPr>
        </p:nvSpPr>
        <p:spPr/>
        <p:txBody>
          <a:bodyPr/>
          <a:lstStyle/>
          <a:p>
            <a:fld id="{AFE301DF-CE34-46A4-B0C6-2529D169A391}" type="datetime1">
              <a:rPr lang="en-US" smtClean="0"/>
              <a:t>3/16/2026</a:t>
            </a:fld>
            <a:endParaRPr lang="en-US"/>
          </a:p>
        </p:txBody>
      </p:sp>
      <p:sp>
        <p:nvSpPr>
          <p:cNvPr id="5" name="Footer Placeholder 4"/>
          <p:cNvSpPr>
            <a:spLocks noGrp="1"/>
          </p:cNvSpPr>
          <p:nvPr>
            <p:ph type="ftr" sz="quarter" idx="11"/>
          </p:nvPr>
        </p:nvSpPr>
        <p:spPr>
          <a:xfrm>
            <a:off x="2590800" y="5974525"/>
            <a:ext cx="43434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22" name="Title 1"/>
          <p:cNvSpPr txBox="1">
            <a:spLocks/>
          </p:cNvSpPr>
          <p:nvPr/>
        </p:nvSpPr>
        <p:spPr>
          <a:xfrm>
            <a:off x="1371600" y="447261"/>
            <a:ext cx="7772400" cy="728870"/>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a:spcBef>
                <a:spcPct val="0"/>
              </a:spcBef>
              <a:defRPr/>
            </a:pPr>
            <a:r>
              <a:rPr lang="en-US" sz="2087" dirty="0"/>
              <a:t>Examples of Regular Expression</a:t>
            </a:r>
          </a:p>
        </p:txBody>
      </p:sp>
      <p:sp>
        <p:nvSpPr>
          <p:cNvPr id="11" name="Rectangle 10"/>
          <p:cNvSpPr/>
          <p:nvPr/>
        </p:nvSpPr>
        <p:spPr>
          <a:xfrm>
            <a:off x="457200" y="1706218"/>
            <a:ext cx="8229600" cy="2019399"/>
          </a:xfrm>
          <a:prstGeom prst="rect">
            <a:avLst/>
          </a:prstGeom>
        </p:spPr>
        <p:txBody>
          <a:bodyPr wrap="square">
            <a:spAutoFit/>
          </a:bodyPr>
          <a:lstStyle/>
          <a:p>
            <a:r>
              <a:rPr lang="en-US" sz="2087" dirty="0"/>
              <a:t>L(</a:t>
            </a:r>
            <a:r>
              <a:rPr lang="en-US" sz="2087" b="1" dirty="0"/>
              <a:t>01</a:t>
            </a:r>
            <a:r>
              <a:rPr lang="en-US" sz="2087" dirty="0"/>
              <a:t>) = {01}.</a:t>
            </a:r>
          </a:p>
          <a:p>
            <a:r>
              <a:rPr lang="en-US" sz="2087" dirty="0"/>
              <a:t>L(</a:t>
            </a:r>
            <a:r>
              <a:rPr lang="en-US" sz="2087" b="1" dirty="0"/>
              <a:t>01</a:t>
            </a:r>
            <a:r>
              <a:rPr lang="en-US" sz="2087" dirty="0"/>
              <a:t>+</a:t>
            </a:r>
            <a:r>
              <a:rPr lang="en-US" sz="2087" b="1" dirty="0"/>
              <a:t>0</a:t>
            </a:r>
            <a:r>
              <a:rPr lang="en-US" sz="2087" dirty="0"/>
              <a:t>) = {01, 0}.</a:t>
            </a:r>
          </a:p>
          <a:p>
            <a:r>
              <a:rPr lang="en-US" sz="2087" dirty="0"/>
              <a:t>L(</a:t>
            </a:r>
            <a:r>
              <a:rPr lang="en-US" sz="2087" b="1" dirty="0"/>
              <a:t>0</a:t>
            </a:r>
            <a:r>
              <a:rPr lang="en-US" sz="2087" dirty="0"/>
              <a:t>(</a:t>
            </a:r>
            <a:r>
              <a:rPr lang="en-US" sz="2087" b="1" dirty="0"/>
              <a:t>1</a:t>
            </a:r>
            <a:r>
              <a:rPr lang="en-US" sz="2087" dirty="0"/>
              <a:t>+</a:t>
            </a:r>
            <a:r>
              <a:rPr lang="en-US" sz="2087" b="1" dirty="0"/>
              <a:t>0</a:t>
            </a:r>
            <a:r>
              <a:rPr lang="en-US" sz="2087" dirty="0"/>
              <a:t>)) = {01, 00}.</a:t>
            </a:r>
          </a:p>
          <a:p>
            <a:pPr lvl="1"/>
            <a:r>
              <a:rPr lang="en-US" sz="2087" dirty="0"/>
              <a:t>Note order of precedence of operators.</a:t>
            </a:r>
          </a:p>
          <a:p>
            <a:r>
              <a:rPr lang="en-US" sz="2087" dirty="0"/>
              <a:t>L(</a:t>
            </a:r>
            <a:r>
              <a:rPr lang="en-US" sz="2087" b="1" dirty="0"/>
              <a:t>0</a:t>
            </a:r>
            <a:r>
              <a:rPr lang="en-US" sz="2087" dirty="0"/>
              <a:t>*) = {ε, 0, 00, 000,… }.</a:t>
            </a:r>
          </a:p>
          <a:p>
            <a:r>
              <a:rPr lang="en-US" sz="2087" dirty="0"/>
              <a:t>L((</a:t>
            </a:r>
            <a:r>
              <a:rPr lang="en-US" sz="2087" b="1" dirty="0"/>
              <a:t>0</a:t>
            </a:r>
            <a:r>
              <a:rPr lang="en-US" sz="2087" dirty="0"/>
              <a:t>+</a:t>
            </a:r>
            <a:r>
              <a:rPr lang="en-US" sz="2087" b="1" dirty="0"/>
              <a:t>10</a:t>
            </a:r>
            <a:r>
              <a:rPr lang="en-US" sz="2087" dirty="0"/>
              <a:t>)*(ε+</a:t>
            </a:r>
            <a:r>
              <a:rPr lang="en-US" sz="2087" b="1" dirty="0"/>
              <a:t>1</a:t>
            </a:r>
            <a:r>
              <a:rPr lang="en-US" sz="2087" dirty="0"/>
              <a:t>)) = all strings of 0’s and 1’s without two consecutive 1’s.</a:t>
            </a:r>
          </a:p>
        </p:txBody>
      </p:sp>
    </p:spTree>
    <p:extLst>
      <p:ext uri="{BB962C8B-B14F-4D97-AF65-F5344CB8AC3E}">
        <p14:creationId xmlns:p14="http://schemas.microsoft.com/office/powerpoint/2010/main" val="35841263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fontAlgn="base">
              <a:buNone/>
            </a:pPr>
            <a:r>
              <a:rPr lang="en-US" sz="1739" b="1" dirty="0"/>
              <a:t>Type-3 grammar/Regular grammar:</a:t>
            </a:r>
          </a:p>
          <a:p>
            <a:pPr marL="0" indent="0" algn="just" fontAlgn="base">
              <a:buNone/>
            </a:pPr>
            <a:r>
              <a:rPr lang="en-US" sz="1739" dirty="0"/>
              <a:t>Regular grammar generates regular language. They have a single non-terminal on the left-hand side and a right-hand side consisting of </a:t>
            </a:r>
            <a:r>
              <a:rPr lang="en-US" sz="1739" dirty="0" smtClean="0"/>
              <a:t>terminal’s </a:t>
            </a:r>
            <a:r>
              <a:rPr lang="en-US" sz="1739" dirty="0"/>
              <a:t>or </a:t>
            </a:r>
            <a:r>
              <a:rPr lang="en-US" sz="1739" dirty="0" smtClean="0"/>
              <a:t>terminal’s </a:t>
            </a:r>
            <a:r>
              <a:rPr lang="en-US" sz="1739" dirty="0"/>
              <a:t>followed by a </a:t>
            </a:r>
            <a:r>
              <a:rPr lang="en-US" sz="1739" dirty="0" smtClean="0"/>
              <a:t>non-terminal</a:t>
            </a:r>
            <a:r>
              <a:rPr lang="en-US" sz="1739" dirty="0"/>
              <a:t> </a:t>
            </a:r>
            <a:r>
              <a:rPr lang="en-US" sz="1739" dirty="0" smtClean="0"/>
              <a:t>or vice versa.</a:t>
            </a:r>
            <a:endParaRPr lang="en-US" sz="1739" dirty="0"/>
          </a:p>
          <a:p>
            <a:pPr marL="0" indent="0" algn="just" fontAlgn="base">
              <a:buNone/>
            </a:pPr>
            <a:r>
              <a:rPr lang="en-US" sz="1739" dirty="0"/>
              <a:t>The productions must be in the form:</a:t>
            </a:r>
          </a:p>
          <a:p>
            <a:pPr marL="0" indent="0" algn="just" fontAlgn="base">
              <a:buNone/>
            </a:pPr>
            <a:r>
              <a:rPr lang="en-US" sz="1739" b="1" dirty="0"/>
              <a:t>A ⇢ </a:t>
            </a:r>
            <a:r>
              <a:rPr lang="en-US" sz="1739" b="1" dirty="0" err="1"/>
              <a:t>w</a:t>
            </a:r>
            <a:r>
              <a:rPr lang="en-US" sz="1739" b="1" dirty="0" err="1" smtClean="0"/>
              <a:t>B</a:t>
            </a:r>
            <a:r>
              <a:rPr lang="en-US" sz="1739" b="1" dirty="0" smtClean="0"/>
              <a:t> </a:t>
            </a:r>
            <a:endParaRPr lang="en-US" sz="1739" b="1" dirty="0"/>
          </a:p>
          <a:p>
            <a:pPr marL="0" indent="0" algn="just" fontAlgn="base">
              <a:buNone/>
            </a:pPr>
            <a:r>
              <a:rPr lang="en-US" sz="1739" b="1" dirty="0"/>
              <a:t>A ⇢ </a:t>
            </a:r>
            <a:r>
              <a:rPr lang="en-US" sz="1739" b="1" dirty="0" smtClean="0"/>
              <a:t>w</a:t>
            </a:r>
            <a:r>
              <a:rPr lang="en-US" sz="1739" dirty="0" smtClean="0"/>
              <a:t> </a:t>
            </a:r>
          </a:p>
          <a:p>
            <a:pPr marL="0" indent="0" algn="just" fontAlgn="base">
              <a:buNone/>
            </a:pPr>
            <a:r>
              <a:rPr lang="en-US" sz="1739" dirty="0" smtClean="0"/>
              <a:t>Where </a:t>
            </a:r>
            <a:r>
              <a:rPr lang="en-US" sz="1739" dirty="0"/>
              <a:t>w ∈ T*</a:t>
            </a:r>
          </a:p>
          <a:p>
            <a:pPr marL="0" indent="0" algn="just" fontAlgn="base">
              <a:buNone/>
            </a:pPr>
            <a:r>
              <a:rPr lang="en-US" sz="1739" b="1" dirty="0"/>
              <a:t>A ⇢ </a:t>
            </a:r>
            <a:r>
              <a:rPr lang="en-US" sz="1739" b="1" dirty="0" err="1" smtClean="0"/>
              <a:t>Bw</a:t>
            </a:r>
            <a:r>
              <a:rPr lang="en-US" sz="1739" dirty="0" smtClean="0"/>
              <a:t> </a:t>
            </a:r>
            <a:r>
              <a:rPr lang="en-US" sz="1739" dirty="0"/>
              <a:t>where A, B ∈ Variable(V) and </a:t>
            </a:r>
            <a:r>
              <a:rPr lang="en-US" sz="1739" dirty="0" smtClean="0"/>
              <a:t>w </a:t>
            </a:r>
            <a:r>
              <a:rPr lang="en-US" sz="1739" dirty="0"/>
              <a:t>∈ T* i.e. string of terminals.</a:t>
            </a:r>
          </a:p>
          <a:p>
            <a:pPr marL="0" indent="0" algn="just" fontAlgn="base">
              <a:buNone/>
            </a:pPr>
            <a:r>
              <a:rPr lang="en-US" sz="1739" b="1" dirty="0"/>
              <a:t>Types of regular grammar:</a:t>
            </a:r>
          </a:p>
          <a:p>
            <a:pPr algn="just" fontAlgn="base">
              <a:buFont typeface="+mj-lt"/>
              <a:buAutoNum type="arabicPeriod"/>
            </a:pPr>
            <a:r>
              <a:rPr lang="en-US" sz="1739" dirty="0"/>
              <a:t>Left Linear grammar(LLG)</a:t>
            </a:r>
          </a:p>
          <a:p>
            <a:pPr algn="just" fontAlgn="base">
              <a:buFont typeface="+mj-lt"/>
              <a:buAutoNum type="arabicPeriod"/>
            </a:pPr>
            <a:r>
              <a:rPr lang="en-US" sz="1739" dirty="0"/>
              <a:t>Right linear grammar(RLG)</a:t>
            </a:r>
          </a:p>
          <a:p>
            <a:pPr marL="0" indent="0">
              <a:buNone/>
            </a:pPr>
            <a:endParaRPr lang="en-US" sz="1565" dirty="0"/>
          </a:p>
        </p:txBody>
      </p:sp>
      <p:sp>
        <p:nvSpPr>
          <p:cNvPr id="4" name="Date Placeholder 3"/>
          <p:cNvSpPr>
            <a:spLocks noGrp="1"/>
          </p:cNvSpPr>
          <p:nvPr>
            <p:ph type="dt" sz="half" idx="10"/>
          </p:nvPr>
        </p:nvSpPr>
        <p:spPr/>
        <p:txBody>
          <a:bodyPr/>
          <a:lstStyle/>
          <a:p>
            <a:fld id="{4B539AC0-DF4C-48F7-9C0A-CF9321120040}"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565" dirty="0"/>
          </a:p>
        </p:txBody>
      </p:sp>
      <p:sp>
        <p:nvSpPr>
          <p:cNvPr id="8" name="AutoShape 2" descr="$\sum_   "/>
          <p:cNvSpPr>
            <a:spLocks noChangeAspect="1" noChangeArrowheads="1"/>
          </p:cNvSpPr>
          <p:nvPr/>
        </p:nvSpPr>
        <p:spPr bwMode="auto">
          <a:xfrm>
            <a:off x="4359413" y="539751"/>
            <a:ext cx="215348" cy="2236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9" name="AutoShape 3" descr="$\epsilon_   "/>
          <p:cNvSpPr>
            <a:spLocks noChangeAspect="1" noChangeArrowheads="1"/>
          </p:cNvSpPr>
          <p:nvPr/>
        </p:nvSpPr>
        <p:spPr bwMode="auto">
          <a:xfrm>
            <a:off x="6209196" y="539751"/>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0" name="Title 1"/>
          <p:cNvSpPr txBox="1">
            <a:spLocks noGrp="1"/>
          </p:cNvSpPr>
          <p:nvPr>
            <p:ph type="title"/>
          </p:nvPr>
        </p:nvSpPr>
        <p:spPr>
          <a:xfrm>
            <a:off x="1524000" y="447261"/>
            <a:ext cx="7620000" cy="746816"/>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r>
              <a:rPr lang="en-US" sz="2087" dirty="0">
                <a:solidFill>
                  <a:schemeClr val="tx1"/>
                </a:solidFill>
                <a:latin typeface="+mj-lt"/>
              </a:rPr>
              <a:t>Regular grammar</a:t>
            </a:r>
          </a:p>
        </p:txBody>
      </p:sp>
      <p:sp>
        <p:nvSpPr>
          <p:cNvPr id="12" name="Rectangle 4"/>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3" name="Rectangle 5"/>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4" name="Rectangle 6"/>
          <p:cNvSpPr>
            <a:spLocks noChangeArrowheads="1"/>
          </p:cNvSpPr>
          <p:nvPr/>
        </p:nvSpPr>
        <p:spPr bwMode="auto">
          <a:xfrm>
            <a:off x="0" y="565701"/>
            <a:ext cx="65" cy="1606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044" dirty="0">
              <a:solidFill>
                <a:srgbClr val="273239"/>
              </a:solidFill>
              <a:latin typeface="Consolas" panose="020B0609020204030204" pitchFamily="49" charset="0"/>
            </a:endParaRPr>
          </a:p>
        </p:txBody>
      </p:sp>
      <p:sp>
        <p:nvSpPr>
          <p:cNvPr id="15" name="AutoShape 7" descr="$\epsilon_"/>
          <p:cNvSpPr>
            <a:spLocks noChangeAspect="1" noChangeArrowheads="1"/>
          </p:cNvSpPr>
          <p:nvPr/>
        </p:nvSpPr>
        <p:spPr bwMode="auto">
          <a:xfrm>
            <a:off x="512142" y="-74681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6" name="AutoShape 8" descr="$\epsilon_   "/>
          <p:cNvSpPr>
            <a:spLocks noChangeAspect="1" noChangeArrowheads="1"/>
          </p:cNvSpPr>
          <p:nvPr/>
        </p:nvSpPr>
        <p:spPr bwMode="auto">
          <a:xfrm>
            <a:off x="1082262" y="-58806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7" name="AutoShape 9" descr="P^2"/>
          <p:cNvSpPr>
            <a:spLocks noChangeAspect="1" noChangeArrowheads="1"/>
          </p:cNvSpPr>
          <p:nvPr/>
        </p:nvSpPr>
        <p:spPr bwMode="auto">
          <a:xfrm>
            <a:off x="2268055" y="335446"/>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8" name="AutoShape 10" descr="P^2"/>
          <p:cNvSpPr>
            <a:spLocks noChangeAspect="1" noChangeArrowheads="1"/>
          </p:cNvSpPr>
          <p:nvPr/>
        </p:nvSpPr>
        <p:spPr bwMode="auto">
          <a:xfrm>
            <a:off x="1682751"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9" name="AutoShape 11" descr="P^2"/>
          <p:cNvSpPr>
            <a:spLocks noChangeAspect="1" noChangeArrowheads="1"/>
          </p:cNvSpPr>
          <p:nvPr/>
        </p:nvSpPr>
        <p:spPr bwMode="auto">
          <a:xfrm>
            <a:off x="3012109"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0" name="AutoShape 12" descr="P^3"/>
          <p:cNvSpPr>
            <a:spLocks noChangeAspect="1" noChangeArrowheads="1"/>
          </p:cNvSpPr>
          <p:nvPr/>
        </p:nvSpPr>
        <p:spPr bwMode="auto">
          <a:xfrm>
            <a:off x="3683000"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1" name="AutoShape 13" descr="P^2"/>
          <p:cNvSpPr>
            <a:spLocks noChangeAspect="1" noChangeArrowheads="1"/>
          </p:cNvSpPr>
          <p:nvPr/>
        </p:nvSpPr>
        <p:spPr bwMode="auto">
          <a:xfrm>
            <a:off x="5890316"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2" name="AutoShape 14" descr="P^n"/>
          <p:cNvSpPr>
            <a:spLocks noChangeAspect="1" noChangeArrowheads="1"/>
          </p:cNvSpPr>
          <p:nvPr/>
        </p:nvSpPr>
        <p:spPr bwMode="auto">
          <a:xfrm>
            <a:off x="6927022" y="679174"/>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3" name="AutoShape 15" descr="P^{(n+1)}"/>
          <p:cNvSpPr>
            <a:spLocks noChangeAspect="1" noChangeArrowheads="1"/>
          </p:cNvSpPr>
          <p:nvPr/>
        </p:nvSpPr>
        <p:spPr bwMode="auto">
          <a:xfrm>
            <a:off x="7578587" y="679174"/>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4" name="AutoShape 16" descr="P^2"/>
          <p:cNvSpPr>
            <a:spLocks noChangeAspect="1" noChangeArrowheads="1"/>
          </p:cNvSpPr>
          <p:nvPr/>
        </p:nvSpPr>
        <p:spPr bwMode="auto">
          <a:xfrm>
            <a:off x="1097446" y="1036707"/>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5" name="AutoShape 17" descr="P^n"/>
          <p:cNvSpPr>
            <a:spLocks noChangeAspect="1" noChangeArrowheads="1"/>
          </p:cNvSpPr>
          <p:nvPr/>
        </p:nvSpPr>
        <p:spPr bwMode="auto">
          <a:xfrm>
            <a:off x="2134152" y="1036707"/>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6" name="AutoShape 18" descr="P^{(n+1)}"/>
          <p:cNvSpPr>
            <a:spLocks noChangeAspect="1" noChangeArrowheads="1"/>
          </p:cNvSpPr>
          <p:nvPr/>
        </p:nvSpPr>
        <p:spPr bwMode="auto">
          <a:xfrm>
            <a:off x="2932043" y="1036708"/>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7" name="AutoShape 19" descr="$\epsilon_"/>
          <p:cNvSpPr>
            <a:spLocks noChangeAspect="1" noChangeArrowheads="1"/>
          </p:cNvSpPr>
          <p:nvPr/>
        </p:nvSpPr>
        <p:spPr bwMode="auto">
          <a:xfrm>
            <a:off x="512142"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8" name="AutoShape 20" descr="P^2"/>
          <p:cNvSpPr>
            <a:spLocks noChangeAspect="1" noChangeArrowheads="1"/>
          </p:cNvSpPr>
          <p:nvPr/>
        </p:nvSpPr>
        <p:spPr bwMode="auto">
          <a:xfrm>
            <a:off x="1213403"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9" name="AutoShape 21" descr="P^n"/>
          <p:cNvSpPr>
            <a:spLocks noChangeAspect="1" noChangeArrowheads="1"/>
          </p:cNvSpPr>
          <p:nvPr/>
        </p:nvSpPr>
        <p:spPr bwMode="auto">
          <a:xfrm>
            <a:off x="2176946"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0" name="AutoShape 22" descr="P^{(n+1)}"/>
          <p:cNvSpPr>
            <a:spLocks noChangeAspect="1" noChangeArrowheads="1"/>
          </p:cNvSpPr>
          <p:nvPr/>
        </p:nvSpPr>
        <p:spPr bwMode="auto">
          <a:xfrm>
            <a:off x="2901674"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1" name="AutoShape 23" descr="$\epsilon_"/>
          <p:cNvSpPr>
            <a:spLocks noChangeAspect="1" noChangeArrowheads="1"/>
          </p:cNvSpPr>
          <p:nvPr/>
        </p:nvSpPr>
        <p:spPr bwMode="auto">
          <a:xfrm>
            <a:off x="4529208"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2" name="AutoShape 24" descr="P^2"/>
          <p:cNvSpPr>
            <a:spLocks noChangeAspect="1" noChangeArrowheads="1"/>
          </p:cNvSpPr>
          <p:nvPr/>
        </p:nvSpPr>
        <p:spPr bwMode="auto">
          <a:xfrm>
            <a:off x="5230468"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3" name="AutoShape 25" descr="P^n"/>
          <p:cNvSpPr>
            <a:spLocks noChangeAspect="1" noChangeArrowheads="1"/>
          </p:cNvSpPr>
          <p:nvPr/>
        </p:nvSpPr>
        <p:spPr bwMode="auto">
          <a:xfrm>
            <a:off x="6194012"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4" name="AutoShape 26" descr="P^{(n+1)}"/>
          <p:cNvSpPr>
            <a:spLocks noChangeAspect="1" noChangeArrowheads="1"/>
          </p:cNvSpPr>
          <p:nvPr/>
        </p:nvSpPr>
        <p:spPr bwMode="auto">
          <a:xfrm>
            <a:off x="6918739"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565" dirty="0"/>
          </a:p>
        </p:txBody>
      </p:sp>
    </p:spTree>
    <p:extLst>
      <p:ext uri="{BB962C8B-B14F-4D97-AF65-F5344CB8AC3E}">
        <p14:creationId xmlns:p14="http://schemas.microsoft.com/office/powerpoint/2010/main" val="245680482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fontAlgn="base">
              <a:buNone/>
            </a:pPr>
            <a:r>
              <a:rPr lang="en-US" sz="1739" b="1" dirty="0"/>
              <a:t>1. Left linear grammar(LLG):</a:t>
            </a:r>
            <a:r>
              <a:rPr lang="en-US" sz="1739" dirty="0"/>
              <a:t/>
            </a:r>
            <a:br>
              <a:rPr lang="en-US" sz="1739" dirty="0"/>
            </a:br>
            <a:r>
              <a:rPr lang="en-US" sz="1739" dirty="0"/>
              <a:t>In LLG, the productions are in the form if all the productions are of the form </a:t>
            </a:r>
          </a:p>
          <a:p>
            <a:pPr marL="0" indent="0" fontAlgn="base">
              <a:buNone/>
            </a:pPr>
            <a:r>
              <a:rPr lang="en-US" sz="1739" dirty="0"/>
              <a:t>A ⇢ </a:t>
            </a:r>
            <a:r>
              <a:rPr lang="en-US" sz="1739" dirty="0" err="1" smtClean="0"/>
              <a:t>Bw</a:t>
            </a:r>
            <a:r>
              <a:rPr lang="en-US" sz="1739" dirty="0" smtClean="0"/>
              <a:t> </a:t>
            </a:r>
            <a:endParaRPr lang="en-US" sz="1739" dirty="0"/>
          </a:p>
          <a:p>
            <a:pPr marL="0" indent="0" fontAlgn="base">
              <a:buNone/>
            </a:pPr>
            <a:r>
              <a:rPr lang="en-US" sz="1739" dirty="0"/>
              <a:t>A ⇢ </a:t>
            </a:r>
            <a:r>
              <a:rPr lang="en-US" sz="1739" dirty="0" smtClean="0"/>
              <a:t>w </a:t>
            </a:r>
            <a:r>
              <a:rPr lang="en-US" sz="1739" dirty="0"/>
              <a:t>where A,B ∈ V and </a:t>
            </a:r>
            <a:r>
              <a:rPr lang="en-US" sz="1739" dirty="0" smtClean="0"/>
              <a:t>w </a:t>
            </a:r>
            <a:r>
              <a:rPr lang="en-US" sz="1739" dirty="0"/>
              <a:t>∈ T*</a:t>
            </a:r>
          </a:p>
          <a:p>
            <a:pPr marL="0" indent="0" fontAlgn="base">
              <a:buNone/>
            </a:pPr>
            <a:endParaRPr lang="en-US" sz="1739" dirty="0"/>
          </a:p>
          <a:p>
            <a:pPr marL="0" indent="0" fontAlgn="base">
              <a:buNone/>
            </a:pPr>
            <a:endParaRPr lang="en-US" sz="1739" dirty="0"/>
          </a:p>
          <a:p>
            <a:pPr marL="0" indent="0" fontAlgn="base">
              <a:buNone/>
            </a:pPr>
            <a:r>
              <a:rPr lang="en-US" sz="1739" b="1" dirty="0"/>
              <a:t>2. Right linear grammar(RLG):</a:t>
            </a:r>
            <a:r>
              <a:rPr lang="en-US" sz="1739" dirty="0"/>
              <a:t/>
            </a:r>
            <a:br>
              <a:rPr lang="en-US" sz="1739" dirty="0"/>
            </a:br>
            <a:r>
              <a:rPr lang="en-US" sz="1739" dirty="0"/>
              <a:t>In RLG, the productions are in the form if all the productions are of the form</a:t>
            </a:r>
          </a:p>
          <a:p>
            <a:pPr marL="0" indent="0">
              <a:buNone/>
            </a:pPr>
            <a:r>
              <a:rPr lang="en-US" sz="1739" dirty="0"/>
              <a:t>A ⇢ </a:t>
            </a:r>
            <a:r>
              <a:rPr lang="en-US" sz="1739" dirty="0" err="1"/>
              <a:t>w</a:t>
            </a:r>
            <a:r>
              <a:rPr lang="en-US" sz="1739" dirty="0" err="1" smtClean="0"/>
              <a:t>B</a:t>
            </a:r>
            <a:r>
              <a:rPr lang="en-US" sz="1739" dirty="0" smtClean="0"/>
              <a:t> </a:t>
            </a:r>
            <a:endParaRPr lang="en-US" sz="1739" dirty="0"/>
          </a:p>
          <a:p>
            <a:pPr marL="0" indent="0">
              <a:buNone/>
            </a:pPr>
            <a:r>
              <a:rPr lang="en-US" sz="1739" dirty="0"/>
              <a:t>A ⇢ </a:t>
            </a:r>
            <a:r>
              <a:rPr lang="en-US" sz="1739" dirty="0" smtClean="0"/>
              <a:t>w </a:t>
            </a:r>
            <a:r>
              <a:rPr lang="en-US" sz="1739" dirty="0"/>
              <a:t>where A,B ∈ V and </a:t>
            </a:r>
            <a:r>
              <a:rPr lang="en-US" sz="1739" dirty="0" smtClean="0"/>
              <a:t>w </a:t>
            </a:r>
            <a:r>
              <a:rPr lang="en-US" sz="1739" dirty="0"/>
              <a:t>∈ T*</a:t>
            </a:r>
          </a:p>
        </p:txBody>
      </p:sp>
      <p:sp>
        <p:nvSpPr>
          <p:cNvPr id="4" name="Date Placeholder 3"/>
          <p:cNvSpPr>
            <a:spLocks noGrp="1"/>
          </p:cNvSpPr>
          <p:nvPr>
            <p:ph type="dt" sz="half" idx="10"/>
          </p:nvPr>
        </p:nvSpPr>
        <p:spPr/>
        <p:txBody>
          <a:bodyPr/>
          <a:lstStyle/>
          <a:p>
            <a:fld id="{76A68034-2643-494F-A747-3452C72271F6}" type="datetime1">
              <a:rPr lang="en-US" smtClean="0"/>
              <a:t>3/16/2026</a:t>
            </a:fld>
            <a:endParaRPr lang="en-US"/>
          </a:p>
        </p:txBody>
      </p:sp>
      <p:sp>
        <p:nvSpPr>
          <p:cNvPr id="5" name="Footer Placeholder 4"/>
          <p:cNvSpPr>
            <a:spLocks noGrp="1"/>
          </p:cNvSpPr>
          <p:nvPr>
            <p:ph type="ftr" sz="quarter" idx="11"/>
          </p:nvPr>
        </p:nvSpPr>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565" dirty="0"/>
          </a:p>
        </p:txBody>
      </p:sp>
      <p:sp>
        <p:nvSpPr>
          <p:cNvPr id="8" name="AutoShape 2" descr="$\sum_   "/>
          <p:cNvSpPr>
            <a:spLocks noChangeAspect="1" noChangeArrowheads="1"/>
          </p:cNvSpPr>
          <p:nvPr/>
        </p:nvSpPr>
        <p:spPr bwMode="auto">
          <a:xfrm>
            <a:off x="4359413" y="539751"/>
            <a:ext cx="215348" cy="22363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9" name="AutoShape 3" descr="$\epsilon_   "/>
          <p:cNvSpPr>
            <a:spLocks noChangeAspect="1" noChangeArrowheads="1"/>
          </p:cNvSpPr>
          <p:nvPr/>
        </p:nvSpPr>
        <p:spPr bwMode="auto">
          <a:xfrm>
            <a:off x="6209196" y="539751"/>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0" name="Title 1"/>
          <p:cNvSpPr txBox="1">
            <a:spLocks noGrp="1"/>
          </p:cNvSpPr>
          <p:nvPr>
            <p:ph type="title"/>
          </p:nvPr>
        </p:nvSpPr>
        <p:spPr>
          <a:xfrm>
            <a:off x="1461881" y="447262"/>
            <a:ext cx="7682119" cy="68883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r>
              <a:rPr lang="en-US" sz="2087" dirty="0">
                <a:solidFill>
                  <a:schemeClr val="tx1"/>
                </a:solidFill>
                <a:latin typeface="+mj-lt"/>
              </a:rPr>
              <a:t>Regular grammar </a:t>
            </a:r>
          </a:p>
        </p:txBody>
      </p:sp>
      <p:sp>
        <p:nvSpPr>
          <p:cNvPr id="12" name="Rectangle 4"/>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3" name="Rectangle 5"/>
          <p:cNvSpPr>
            <a:spLocks noChangeArrowheads="1"/>
          </p:cNvSpPr>
          <p:nvPr/>
        </p:nvSpPr>
        <p:spPr bwMode="auto">
          <a:xfrm>
            <a:off x="0" y="497757"/>
            <a:ext cx="65" cy="296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5520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
        <p:nvSpPr>
          <p:cNvPr id="14" name="Rectangle 6"/>
          <p:cNvSpPr>
            <a:spLocks noChangeArrowheads="1"/>
          </p:cNvSpPr>
          <p:nvPr/>
        </p:nvSpPr>
        <p:spPr bwMode="auto">
          <a:xfrm>
            <a:off x="0" y="565701"/>
            <a:ext cx="65" cy="1606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044" dirty="0">
              <a:solidFill>
                <a:srgbClr val="273239"/>
              </a:solidFill>
              <a:latin typeface="Consolas" panose="020B0609020204030204" pitchFamily="49" charset="0"/>
            </a:endParaRPr>
          </a:p>
        </p:txBody>
      </p:sp>
      <p:sp>
        <p:nvSpPr>
          <p:cNvPr id="15" name="AutoShape 7" descr="$\epsilon_"/>
          <p:cNvSpPr>
            <a:spLocks noChangeAspect="1" noChangeArrowheads="1"/>
          </p:cNvSpPr>
          <p:nvPr/>
        </p:nvSpPr>
        <p:spPr bwMode="auto">
          <a:xfrm>
            <a:off x="512142" y="-74681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6" name="AutoShape 8" descr="$\epsilon_   "/>
          <p:cNvSpPr>
            <a:spLocks noChangeAspect="1" noChangeArrowheads="1"/>
          </p:cNvSpPr>
          <p:nvPr/>
        </p:nvSpPr>
        <p:spPr bwMode="auto">
          <a:xfrm>
            <a:off x="1082262" y="-588065"/>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7" name="AutoShape 9" descr="P^2"/>
          <p:cNvSpPr>
            <a:spLocks noChangeAspect="1" noChangeArrowheads="1"/>
          </p:cNvSpPr>
          <p:nvPr/>
        </p:nvSpPr>
        <p:spPr bwMode="auto">
          <a:xfrm>
            <a:off x="2268055" y="335446"/>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8" name="AutoShape 10" descr="P^2"/>
          <p:cNvSpPr>
            <a:spLocks noChangeAspect="1" noChangeArrowheads="1"/>
          </p:cNvSpPr>
          <p:nvPr/>
        </p:nvSpPr>
        <p:spPr bwMode="auto">
          <a:xfrm>
            <a:off x="1682751"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19" name="AutoShape 11" descr="P^2"/>
          <p:cNvSpPr>
            <a:spLocks noChangeAspect="1" noChangeArrowheads="1"/>
          </p:cNvSpPr>
          <p:nvPr/>
        </p:nvSpPr>
        <p:spPr bwMode="auto">
          <a:xfrm>
            <a:off x="3012109"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0" name="AutoShape 12" descr="P^3"/>
          <p:cNvSpPr>
            <a:spLocks noChangeAspect="1" noChangeArrowheads="1"/>
          </p:cNvSpPr>
          <p:nvPr/>
        </p:nvSpPr>
        <p:spPr bwMode="auto">
          <a:xfrm>
            <a:off x="3683000"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1" name="AutoShape 13" descr="P^2"/>
          <p:cNvSpPr>
            <a:spLocks noChangeAspect="1" noChangeArrowheads="1"/>
          </p:cNvSpPr>
          <p:nvPr/>
        </p:nvSpPr>
        <p:spPr bwMode="auto">
          <a:xfrm>
            <a:off x="5890316" y="679174"/>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2" name="AutoShape 14" descr="P^n"/>
          <p:cNvSpPr>
            <a:spLocks noChangeAspect="1" noChangeArrowheads="1"/>
          </p:cNvSpPr>
          <p:nvPr/>
        </p:nvSpPr>
        <p:spPr bwMode="auto">
          <a:xfrm>
            <a:off x="6927022" y="679174"/>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3" name="AutoShape 15" descr="P^{(n+1)}"/>
          <p:cNvSpPr>
            <a:spLocks noChangeAspect="1" noChangeArrowheads="1"/>
          </p:cNvSpPr>
          <p:nvPr/>
        </p:nvSpPr>
        <p:spPr bwMode="auto">
          <a:xfrm>
            <a:off x="7578587" y="679174"/>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4" name="AutoShape 16" descr="P^2"/>
          <p:cNvSpPr>
            <a:spLocks noChangeAspect="1" noChangeArrowheads="1"/>
          </p:cNvSpPr>
          <p:nvPr/>
        </p:nvSpPr>
        <p:spPr bwMode="auto">
          <a:xfrm>
            <a:off x="1097446" y="1036707"/>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5" name="AutoShape 17" descr="P^n"/>
          <p:cNvSpPr>
            <a:spLocks noChangeAspect="1" noChangeArrowheads="1"/>
          </p:cNvSpPr>
          <p:nvPr/>
        </p:nvSpPr>
        <p:spPr bwMode="auto">
          <a:xfrm>
            <a:off x="2134152" y="1036707"/>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6" name="AutoShape 18" descr="P^{(n+1)}"/>
          <p:cNvSpPr>
            <a:spLocks noChangeAspect="1" noChangeArrowheads="1"/>
          </p:cNvSpPr>
          <p:nvPr/>
        </p:nvSpPr>
        <p:spPr bwMode="auto">
          <a:xfrm>
            <a:off x="2932043" y="1036708"/>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7" name="AutoShape 19" descr="$\epsilon_"/>
          <p:cNvSpPr>
            <a:spLocks noChangeAspect="1" noChangeArrowheads="1"/>
          </p:cNvSpPr>
          <p:nvPr/>
        </p:nvSpPr>
        <p:spPr bwMode="auto">
          <a:xfrm>
            <a:off x="512142"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8" name="AutoShape 20" descr="P^2"/>
          <p:cNvSpPr>
            <a:spLocks noChangeAspect="1" noChangeArrowheads="1"/>
          </p:cNvSpPr>
          <p:nvPr/>
        </p:nvSpPr>
        <p:spPr bwMode="auto">
          <a:xfrm>
            <a:off x="1213403"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9" name="AutoShape 21" descr="P^n"/>
          <p:cNvSpPr>
            <a:spLocks noChangeAspect="1" noChangeArrowheads="1"/>
          </p:cNvSpPr>
          <p:nvPr/>
        </p:nvSpPr>
        <p:spPr bwMode="auto">
          <a:xfrm>
            <a:off x="2176946"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0" name="AutoShape 22" descr="P^{(n+1)}"/>
          <p:cNvSpPr>
            <a:spLocks noChangeAspect="1" noChangeArrowheads="1"/>
          </p:cNvSpPr>
          <p:nvPr/>
        </p:nvSpPr>
        <p:spPr bwMode="auto">
          <a:xfrm>
            <a:off x="2901674"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1" name="AutoShape 23" descr="$\epsilon_"/>
          <p:cNvSpPr>
            <a:spLocks noChangeAspect="1" noChangeArrowheads="1"/>
          </p:cNvSpPr>
          <p:nvPr/>
        </p:nvSpPr>
        <p:spPr bwMode="auto">
          <a:xfrm>
            <a:off x="4529208" y="1394239"/>
            <a:ext cx="74543" cy="9939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2" name="AutoShape 24" descr="P^2"/>
          <p:cNvSpPr>
            <a:spLocks noChangeAspect="1" noChangeArrowheads="1"/>
          </p:cNvSpPr>
          <p:nvPr/>
        </p:nvSpPr>
        <p:spPr bwMode="auto">
          <a:xfrm>
            <a:off x="5230468" y="1394239"/>
            <a:ext cx="248478" cy="1987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3" name="AutoShape 25" descr="P^n"/>
          <p:cNvSpPr>
            <a:spLocks noChangeAspect="1" noChangeArrowheads="1"/>
          </p:cNvSpPr>
          <p:nvPr/>
        </p:nvSpPr>
        <p:spPr bwMode="auto">
          <a:xfrm>
            <a:off x="6194012" y="1394239"/>
            <a:ext cx="265043" cy="1573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34" name="AutoShape 26" descr="P^{(n+1)}"/>
          <p:cNvSpPr>
            <a:spLocks noChangeAspect="1" noChangeArrowheads="1"/>
          </p:cNvSpPr>
          <p:nvPr/>
        </p:nvSpPr>
        <p:spPr bwMode="auto">
          <a:xfrm>
            <a:off x="6918739" y="1394240"/>
            <a:ext cx="596348" cy="20706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79513" tIns="39757" rIns="79513" bIns="39757" numCol="1" anchor="t" anchorCtr="0" compatLnSpc="1">
            <a:prstTxWarp prst="textNoShape">
              <a:avLst/>
            </a:prstTxWarp>
          </a:bodyPr>
          <a:lstStyle/>
          <a:p>
            <a:endParaRPr lang="en-US" sz="1565"/>
          </a:p>
        </p:txBody>
      </p:sp>
      <p:sp>
        <p:nvSpPr>
          <p:cNvPr id="2"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795162"/>
            <a:endParaRPr lang="en-US" altLang="en-US" sz="1565" dirty="0"/>
          </a:p>
        </p:txBody>
      </p:sp>
      <p:sp>
        <p:nvSpPr>
          <p:cNvPr id="35" name="Rectangle 1"/>
          <p:cNvSpPr>
            <a:spLocks noChangeArrowheads="1"/>
          </p:cNvSpPr>
          <p:nvPr/>
        </p:nvSpPr>
        <p:spPr bwMode="auto">
          <a:xfrm>
            <a:off x="0" y="525626"/>
            <a:ext cx="65" cy="2408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defTabSz="795162" eaLnBrk="0" fontAlgn="base" hangingPunct="0">
              <a:spcBef>
                <a:spcPct val="0"/>
              </a:spcBef>
              <a:spcAft>
                <a:spcPct val="0"/>
              </a:spcAft>
            </a:pPr>
            <a:endParaRPr lang="en-US" altLang="en-US" sz="1565" dirty="0">
              <a:latin typeface="Arial" panose="020B0604020202020204" pitchFamily="34" charset="0"/>
            </a:endParaRPr>
          </a:p>
        </p:txBody>
      </p:sp>
    </p:spTree>
    <p:extLst>
      <p:ext uri="{BB962C8B-B14F-4D97-AF65-F5344CB8AC3E}">
        <p14:creationId xmlns:p14="http://schemas.microsoft.com/office/powerpoint/2010/main" val="359627976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dirty="0" smtClean="0"/>
              <a:t>Given a DFA: </a:t>
            </a:r>
          </a:p>
          <a:p>
            <a:endParaRPr lang="en-US" sz="2200" dirty="0"/>
          </a:p>
          <a:p>
            <a:endParaRPr lang="en-US" sz="2200" dirty="0" smtClean="0"/>
          </a:p>
          <a:p>
            <a:endParaRPr lang="en-US" sz="2200" dirty="0"/>
          </a:p>
        </p:txBody>
      </p:sp>
      <p:sp>
        <p:nvSpPr>
          <p:cNvPr id="4" name="Date Placeholder 3"/>
          <p:cNvSpPr>
            <a:spLocks noGrp="1"/>
          </p:cNvSpPr>
          <p:nvPr>
            <p:ph type="dt" sz="half" idx="10"/>
          </p:nvPr>
        </p:nvSpPr>
        <p:spPr/>
        <p:txBody>
          <a:bodyPr/>
          <a:lstStyle/>
          <a:p>
            <a:fld id="{0CEDA516-1C43-49F5-A481-A137DE2DA23B}"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905000" y="0"/>
            <a:ext cx="72390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DFA to Right Linear Regular Grammar </a:t>
            </a:r>
            <a:endParaRPr kumimoji="0" lang="en-US" sz="3200" b="1" i="0" u="none" strike="noStrike" kern="1200" cap="none" spc="0" normalizeH="0" baseline="0" noProof="0" dirty="0">
              <a:ln>
                <a:noFill/>
              </a:ln>
              <a:solidFill>
                <a:schemeClr val="dk1"/>
              </a:solidFill>
              <a:effectLst/>
              <a:uLnTx/>
              <a:uFillTx/>
            </a:endParaRPr>
          </a:p>
        </p:txBody>
      </p:sp>
      <p:sp>
        <p:nvSpPr>
          <p:cNvPr id="10" name="Oval 6"/>
          <p:cNvSpPr>
            <a:spLocks noChangeArrowheads="1"/>
          </p:cNvSpPr>
          <p:nvPr/>
        </p:nvSpPr>
        <p:spPr bwMode="auto">
          <a:xfrm>
            <a:off x="2667000" y="2116358"/>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q0</a:t>
            </a:r>
            <a:endParaRPr lang="en-US" altLang="en-US" sz="2000" baseline="-25000" dirty="0">
              <a:cs typeface="Times New Roman" pitchFamily="18" charset="0"/>
            </a:endParaRPr>
          </a:p>
        </p:txBody>
      </p:sp>
      <p:grpSp>
        <p:nvGrpSpPr>
          <p:cNvPr id="11" name="Group 25"/>
          <p:cNvGrpSpPr>
            <a:grpSpLocks/>
          </p:cNvGrpSpPr>
          <p:nvPr/>
        </p:nvGrpSpPr>
        <p:grpSpPr bwMode="auto">
          <a:xfrm>
            <a:off x="4971652" y="3810000"/>
            <a:ext cx="572295" cy="606882"/>
            <a:chOff x="755" y="1461"/>
            <a:chExt cx="446" cy="434"/>
          </a:xfrm>
        </p:grpSpPr>
        <p:sp>
          <p:nvSpPr>
            <p:cNvPr id="12" name="Oval 26"/>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q3</a:t>
              </a:r>
              <a:endParaRPr lang="en-US" altLang="en-US" sz="2000" baseline="-25000" dirty="0">
                <a:cs typeface="Times New Roman" pitchFamily="18" charset="0"/>
              </a:endParaRPr>
            </a:p>
          </p:txBody>
        </p:sp>
        <p:sp>
          <p:nvSpPr>
            <p:cNvPr id="13" name="Oval 27"/>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grpSp>
      <p:cxnSp>
        <p:nvCxnSpPr>
          <p:cNvPr id="14" name="AutoShape 37"/>
          <p:cNvCxnSpPr>
            <a:cxnSpLocks noChangeShapeType="1"/>
          </p:cNvCxnSpPr>
          <p:nvPr/>
        </p:nvCxnSpPr>
        <p:spPr bwMode="auto">
          <a:xfrm rot="5400000" flipH="1" flipV="1">
            <a:off x="4048157" y="1078064"/>
            <a:ext cx="76271" cy="2076584"/>
          </a:xfrm>
          <a:prstGeom prst="curvedConnector3">
            <a:avLst>
              <a:gd name="adj1" fmla="val 51624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3618005" y="1466723"/>
            <a:ext cx="295274" cy="369332"/>
          </a:xfrm>
          <a:prstGeom prst="rect">
            <a:avLst/>
          </a:prstGeom>
          <a:noFill/>
        </p:spPr>
        <p:txBody>
          <a:bodyPr wrap="none" rtlCol="0">
            <a:spAutoFit/>
          </a:bodyPr>
          <a:lstStyle/>
          <a:p>
            <a:r>
              <a:rPr lang="en-US" dirty="0"/>
              <a:t>a</a:t>
            </a:r>
          </a:p>
        </p:txBody>
      </p:sp>
      <p:cxnSp>
        <p:nvCxnSpPr>
          <p:cNvPr id="16" name="AutoShape 37"/>
          <p:cNvCxnSpPr>
            <a:cxnSpLocks noChangeShapeType="1"/>
          </p:cNvCxnSpPr>
          <p:nvPr/>
        </p:nvCxnSpPr>
        <p:spPr bwMode="auto">
          <a:xfrm rot="5400000">
            <a:off x="4079749" y="1524300"/>
            <a:ext cx="13086" cy="2076584"/>
          </a:xfrm>
          <a:prstGeom prst="curvedConnector3">
            <a:avLst>
              <a:gd name="adj1" fmla="val 242607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Line 32"/>
          <p:cNvSpPr>
            <a:spLocks noChangeShapeType="1"/>
          </p:cNvSpPr>
          <p:nvPr/>
        </p:nvSpPr>
        <p:spPr bwMode="auto">
          <a:xfrm>
            <a:off x="2322809" y="2362294"/>
            <a:ext cx="34419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Oval 6"/>
          <p:cNvSpPr>
            <a:spLocks noChangeArrowheads="1"/>
          </p:cNvSpPr>
          <p:nvPr/>
        </p:nvSpPr>
        <p:spPr bwMode="auto">
          <a:xfrm>
            <a:off x="4879316" y="205161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q1</a:t>
            </a:r>
            <a:endParaRPr lang="en-US" altLang="en-US" sz="2000" baseline="-25000" dirty="0">
              <a:cs typeface="Times New Roman" pitchFamily="18" charset="0"/>
            </a:endParaRPr>
          </a:p>
        </p:txBody>
      </p:sp>
      <p:sp>
        <p:nvSpPr>
          <p:cNvPr id="19" name="TextBox 18"/>
          <p:cNvSpPr txBox="1"/>
          <p:nvPr/>
        </p:nvSpPr>
        <p:spPr>
          <a:xfrm>
            <a:off x="3938655" y="2569135"/>
            <a:ext cx="295274" cy="369332"/>
          </a:xfrm>
          <a:prstGeom prst="rect">
            <a:avLst/>
          </a:prstGeom>
          <a:noFill/>
        </p:spPr>
        <p:txBody>
          <a:bodyPr wrap="none" rtlCol="0">
            <a:spAutoFit/>
          </a:bodyPr>
          <a:lstStyle/>
          <a:p>
            <a:r>
              <a:rPr lang="en-US" dirty="0"/>
              <a:t>a</a:t>
            </a:r>
          </a:p>
        </p:txBody>
      </p:sp>
      <p:cxnSp>
        <p:nvCxnSpPr>
          <p:cNvPr id="20" name="AutoShape 37"/>
          <p:cNvCxnSpPr>
            <a:cxnSpLocks noChangeShapeType="1"/>
            <a:stCxn id="13" idx="2"/>
            <a:endCxn id="18" idx="2"/>
          </p:cNvCxnSpPr>
          <p:nvPr/>
        </p:nvCxnSpPr>
        <p:spPr bwMode="auto">
          <a:xfrm rot="10800000">
            <a:off x="4879316" y="2310373"/>
            <a:ext cx="92336" cy="1803068"/>
          </a:xfrm>
          <a:prstGeom prst="curvedConnector3">
            <a:avLst>
              <a:gd name="adj1" fmla="val 34757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p:cNvSpPr txBox="1"/>
          <p:nvPr/>
        </p:nvSpPr>
        <p:spPr>
          <a:xfrm>
            <a:off x="4403990" y="3121482"/>
            <a:ext cx="306494" cy="369332"/>
          </a:xfrm>
          <a:prstGeom prst="rect">
            <a:avLst/>
          </a:prstGeom>
          <a:noFill/>
        </p:spPr>
        <p:txBody>
          <a:bodyPr wrap="none" rtlCol="0">
            <a:spAutoFit/>
          </a:bodyPr>
          <a:lstStyle/>
          <a:p>
            <a:r>
              <a:rPr lang="en-US" dirty="0" smtClean="0"/>
              <a:t>b</a:t>
            </a:r>
            <a:endParaRPr lang="en-US" dirty="0"/>
          </a:p>
        </p:txBody>
      </p:sp>
      <p:cxnSp>
        <p:nvCxnSpPr>
          <p:cNvPr id="25" name="AutoShape 37"/>
          <p:cNvCxnSpPr>
            <a:cxnSpLocks noChangeShapeType="1"/>
            <a:stCxn id="18" idx="6"/>
            <a:endCxn id="13" idx="6"/>
          </p:cNvCxnSpPr>
          <p:nvPr/>
        </p:nvCxnSpPr>
        <p:spPr bwMode="auto">
          <a:xfrm>
            <a:off x="5369854" y="2310373"/>
            <a:ext cx="174093" cy="1803068"/>
          </a:xfrm>
          <a:prstGeom prst="curvedConnector3">
            <a:avLst>
              <a:gd name="adj1" fmla="val 231309"/>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p:cNvSpPr txBox="1"/>
          <p:nvPr/>
        </p:nvSpPr>
        <p:spPr>
          <a:xfrm>
            <a:off x="5791200" y="3062885"/>
            <a:ext cx="306494" cy="369332"/>
          </a:xfrm>
          <a:prstGeom prst="rect">
            <a:avLst/>
          </a:prstGeom>
          <a:noFill/>
        </p:spPr>
        <p:txBody>
          <a:bodyPr wrap="none" rtlCol="0">
            <a:spAutoFit/>
          </a:bodyPr>
          <a:lstStyle/>
          <a:p>
            <a:r>
              <a:rPr lang="en-US" dirty="0" smtClean="0"/>
              <a:t>b</a:t>
            </a:r>
            <a:endParaRPr lang="en-US" dirty="0"/>
          </a:p>
        </p:txBody>
      </p:sp>
      <p:sp>
        <p:nvSpPr>
          <p:cNvPr id="31" name="Oval 6"/>
          <p:cNvSpPr>
            <a:spLocks noChangeArrowheads="1"/>
          </p:cNvSpPr>
          <p:nvPr/>
        </p:nvSpPr>
        <p:spPr bwMode="auto">
          <a:xfrm>
            <a:off x="2819400" y="389672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q2</a:t>
            </a:r>
            <a:endParaRPr lang="en-US" altLang="en-US" sz="2000" baseline="-25000" dirty="0">
              <a:cs typeface="Times New Roman" pitchFamily="18" charset="0"/>
            </a:endParaRPr>
          </a:p>
        </p:txBody>
      </p:sp>
      <p:cxnSp>
        <p:nvCxnSpPr>
          <p:cNvPr id="32" name="AutoShape 37"/>
          <p:cNvCxnSpPr>
            <a:cxnSpLocks noChangeShapeType="1"/>
            <a:stCxn id="10" idx="2"/>
            <a:endCxn id="31" idx="2"/>
          </p:cNvCxnSpPr>
          <p:nvPr/>
        </p:nvCxnSpPr>
        <p:spPr bwMode="auto">
          <a:xfrm rot="10800000" flipH="1" flipV="1">
            <a:off x="2667000" y="2375121"/>
            <a:ext cx="152400" cy="1780362"/>
          </a:xfrm>
          <a:prstGeom prst="curvedConnector3">
            <a:avLst>
              <a:gd name="adj1" fmla="val -1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AutoShape 37"/>
          <p:cNvCxnSpPr>
            <a:cxnSpLocks noChangeShapeType="1"/>
            <a:stCxn id="31" idx="6"/>
            <a:endCxn id="10" idx="6"/>
          </p:cNvCxnSpPr>
          <p:nvPr/>
        </p:nvCxnSpPr>
        <p:spPr bwMode="auto">
          <a:xfrm flipH="1" flipV="1">
            <a:off x="3157538" y="2375121"/>
            <a:ext cx="152400" cy="1780362"/>
          </a:xfrm>
          <a:prstGeom prst="curvedConnector3">
            <a:avLst>
              <a:gd name="adj1" fmla="val -1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8" name="TextBox 37"/>
          <p:cNvSpPr txBox="1"/>
          <p:nvPr/>
        </p:nvSpPr>
        <p:spPr>
          <a:xfrm>
            <a:off x="2169562" y="3158998"/>
            <a:ext cx="306494" cy="369332"/>
          </a:xfrm>
          <a:prstGeom prst="rect">
            <a:avLst/>
          </a:prstGeom>
          <a:noFill/>
        </p:spPr>
        <p:txBody>
          <a:bodyPr wrap="none" rtlCol="0">
            <a:spAutoFit/>
          </a:bodyPr>
          <a:lstStyle/>
          <a:p>
            <a:r>
              <a:rPr lang="en-US" dirty="0" smtClean="0"/>
              <a:t>b</a:t>
            </a:r>
            <a:endParaRPr lang="en-US" dirty="0"/>
          </a:p>
        </p:txBody>
      </p:sp>
      <p:sp>
        <p:nvSpPr>
          <p:cNvPr id="39" name="TextBox 38"/>
          <p:cNvSpPr txBox="1"/>
          <p:nvPr/>
        </p:nvSpPr>
        <p:spPr>
          <a:xfrm>
            <a:off x="3216530" y="3215817"/>
            <a:ext cx="306494" cy="369332"/>
          </a:xfrm>
          <a:prstGeom prst="rect">
            <a:avLst/>
          </a:prstGeom>
          <a:noFill/>
        </p:spPr>
        <p:txBody>
          <a:bodyPr wrap="none" rtlCol="0">
            <a:spAutoFit/>
          </a:bodyPr>
          <a:lstStyle/>
          <a:p>
            <a:r>
              <a:rPr lang="en-US" dirty="0" smtClean="0"/>
              <a:t>b</a:t>
            </a:r>
            <a:endParaRPr lang="en-US" dirty="0"/>
          </a:p>
        </p:txBody>
      </p:sp>
      <p:cxnSp>
        <p:nvCxnSpPr>
          <p:cNvPr id="40" name="AutoShape 37"/>
          <p:cNvCxnSpPr>
            <a:cxnSpLocks noChangeShapeType="1"/>
            <a:stCxn id="31" idx="4"/>
            <a:endCxn id="13" idx="4"/>
          </p:cNvCxnSpPr>
          <p:nvPr/>
        </p:nvCxnSpPr>
        <p:spPr bwMode="auto">
          <a:xfrm rot="16200000" flipH="1">
            <a:off x="4159916" y="3318997"/>
            <a:ext cx="2637" cy="2193131"/>
          </a:xfrm>
          <a:prstGeom prst="curvedConnector3">
            <a:avLst>
              <a:gd name="adj1" fmla="val 876894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AutoShape 37"/>
          <p:cNvCxnSpPr>
            <a:cxnSpLocks noChangeShapeType="1"/>
            <a:stCxn id="13" idx="0"/>
            <a:endCxn id="31" idx="0"/>
          </p:cNvCxnSpPr>
          <p:nvPr/>
        </p:nvCxnSpPr>
        <p:spPr bwMode="auto">
          <a:xfrm rot="16200000" flipH="1" flipV="1">
            <a:off x="4117875" y="2756794"/>
            <a:ext cx="86720" cy="2193131"/>
          </a:xfrm>
          <a:prstGeom prst="curvedConnector3">
            <a:avLst>
              <a:gd name="adj1" fmla="val -26360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TextBox 45"/>
          <p:cNvSpPr txBox="1"/>
          <p:nvPr/>
        </p:nvSpPr>
        <p:spPr>
          <a:xfrm>
            <a:off x="3958322" y="3593208"/>
            <a:ext cx="295274" cy="369332"/>
          </a:xfrm>
          <a:prstGeom prst="rect">
            <a:avLst/>
          </a:prstGeom>
          <a:noFill/>
        </p:spPr>
        <p:txBody>
          <a:bodyPr wrap="none" rtlCol="0">
            <a:spAutoFit/>
          </a:bodyPr>
          <a:lstStyle/>
          <a:p>
            <a:r>
              <a:rPr lang="en-US" dirty="0"/>
              <a:t>a</a:t>
            </a:r>
          </a:p>
        </p:txBody>
      </p:sp>
      <p:sp>
        <p:nvSpPr>
          <p:cNvPr id="47" name="TextBox 46"/>
          <p:cNvSpPr txBox="1"/>
          <p:nvPr/>
        </p:nvSpPr>
        <p:spPr>
          <a:xfrm>
            <a:off x="4013598" y="4648200"/>
            <a:ext cx="295274" cy="369332"/>
          </a:xfrm>
          <a:prstGeom prst="rect">
            <a:avLst/>
          </a:prstGeom>
          <a:noFill/>
        </p:spPr>
        <p:txBody>
          <a:bodyPr wrap="none" rtlCol="0">
            <a:spAutoFit/>
          </a:bodyPr>
          <a:lstStyle/>
          <a:p>
            <a:r>
              <a:rPr lang="en-US" dirty="0"/>
              <a:t>a</a:t>
            </a:r>
          </a:p>
        </p:txBody>
      </p:sp>
    </p:spTree>
    <p:extLst>
      <p:ext uri="{BB962C8B-B14F-4D97-AF65-F5344CB8AC3E}">
        <p14:creationId xmlns:p14="http://schemas.microsoft.com/office/powerpoint/2010/main" val="98267223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684" y="858500"/>
            <a:ext cx="8229600" cy="4525963"/>
          </a:xfrm>
        </p:spPr>
        <p:txBody>
          <a:bodyPr>
            <a:normAutofit/>
          </a:bodyPr>
          <a:lstStyle/>
          <a:p>
            <a:r>
              <a:rPr lang="en-US" sz="2200" b="1" dirty="0" smtClean="0"/>
              <a:t>Step 1: </a:t>
            </a:r>
            <a:r>
              <a:rPr lang="en-US" sz="2200" dirty="0" smtClean="0"/>
              <a:t>Rename the states: for q0 which is start state make it as S. rest as a non terminals like A,B,C…</a:t>
            </a:r>
          </a:p>
          <a:p>
            <a:endParaRPr lang="en-US" sz="2200" dirty="0"/>
          </a:p>
        </p:txBody>
      </p:sp>
      <p:sp>
        <p:nvSpPr>
          <p:cNvPr id="4" name="Date Placeholder 3"/>
          <p:cNvSpPr>
            <a:spLocks noGrp="1"/>
          </p:cNvSpPr>
          <p:nvPr>
            <p:ph type="dt" sz="half" idx="10"/>
          </p:nvPr>
        </p:nvSpPr>
        <p:spPr/>
        <p:txBody>
          <a:bodyPr/>
          <a:lstStyle/>
          <a:p>
            <a:fld id="{8A0FDF01-D55A-4E82-9805-2B59715F8CC4}"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600200" y="1"/>
            <a:ext cx="7543800" cy="685800"/>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dirty="0"/>
              <a:t>DFA to Right Linear Regular Grammar </a:t>
            </a:r>
            <a:r>
              <a:rPr lang="en-US" altLang="en-US" sz="2800" b="1" dirty="0"/>
              <a:t>(Continued)</a:t>
            </a:r>
            <a:endParaRPr lang="en-US" sz="2800" dirty="0"/>
          </a:p>
        </p:txBody>
      </p:sp>
      <p:sp>
        <p:nvSpPr>
          <p:cNvPr id="10" name="Oval 6"/>
          <p:cNvSpPr>
            <a:spLocks noChangeArrowheads="1"/>
          </p:cNvSpPr>
          <p:nvPr/>
        </p:nvSpPr>
        <p:spPr bwMode="auto">
          <a:xfrm>
            <a:off x="2667000" y="2116358"/>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S</a:t>
            </a:r>
            <a:endParaRPr lang="en-US" altLang="en-US" sz="2000" baseline="-25000" dirty="0">
              <a:cs typeface="Times New Roman" pitchFamily="18" charset="0"/>
            </a:endParaRPr>
          </a:p>
        </p:txBody>
      </p:sp>
      <p:grpSp>
        <p:nvGrpSpPr>
          <p:cNvPr id="11" name="Group 25"/>
          <p:cNvGrpSpPr>
            <a:grpSpLocks/>
          </p:cNvGrpSpPr>
          <p:nvPr/>
        </p:nvGrpSpPr>
        <p:grpSpPr bwMode="auto">
          <a:xfrm>
            <a:off x="4971652" y="3810000"/>
            <a:ext cx="572295" cy="606882"/>
            <a:chOff x="755" y="1461"/>
            <a:chExt cx="446" cy="434"/>
          </a:xfrm>
        </p:grpSpPr>
        <p:sp>
          <p:nvSpPr>
            <p:cNvPr id="12" name="Oval 26"/>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C</a:t>
              </a:r>
              <a:endParaRPr lang="en-US" altLang="en-US" sz="2000" baseline="-25000" dirty="0">
                <a:cs typeface="Times New Roman" pitchFamily="18" charset="0"/>
              </a:endParaRPr>
            </a:p>
          </p:txBody>
        </p:sp>
        <p:sp>
          <p:nvSpPr>
            <p:cNvPr id="13" name="Oval 27"/>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grpSp>
      <p:cxnSp>
        <p:nvCxnSpPr>
          <p:cNvPr id="14" name="AutoShape 37"/>
          <p:cNvCxnSpPr>
            <a:cxnSpLocks noChangeShapeType="1"/>
          </p:cNvCxnSpPr>
          <p:nvPr/>
        </p:nvCxnSpPr>
        <p:spPr bwMode="auto">
          <a:xfrm rot="5400000" flipH="1" flipV="1">
            <a:off x="4048157" y="1078064"/>
            <a:ext cx="76271" cy="2076584"/>
          </a:xfrm>
          <a:prstGeom prst="curvedConnector3">
            <a:avLst>
              <a:gd name="adj1" fmla="val 51624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3618005" y="1466723"/>
            <a:ext cx="295274" cy="369332"/>
          </a:xfrm>
          <a:prstGeom prst="rect">
            <a:avLst/>
          </a:prstGeom>
          <a:noFill/>
        </p:spPr>
        <p:txBody>
          <a:bodyPr wrap="none" rtlCol="0">
            <a:spAutoFit/>
          </a:bodyPr>
          <a:lstStyle/>
          <a:p>
            <a:r>
              <a:rPr lang="en-US" dirty="0"/>
              <a:t>a</a:t>
            </a:r>
          </a:p>
        </p:txBody>
      </p:sp>
      <p:cxnSp>
        <p:nvCxnSpPr>
          <p:cNvPr id="16" name="AutoShape 37"/>
          <p:cNvCxnSpPr>
            <a:cxnSpLocks noChangeShapeType="1"/>
          </p:cNvCxnSpPr>
          <p:nvPr/>
        </p:nvCxnSpPr>
        <p:spPr bwMode="auto">
          <a:xfrm rot="5400000">
            <a:off x="4079749" y="1524300"/>
            <a:ext cx="13086" cy="2076584"/>
          </a:xfrm>
          <a:prstGeom prst="curvedConnector3">
            <a:avLst>
              <a:gd name="adj1" fmla="val 242607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Line 32"/>
          <p:cNvSpPr>
            <a:spLocks noChangeShapeType="1"/>
          </p:cNvSpPr>
          <p:nvPr/>
        </p:nvSpPr>
        <p:spPr bwMode="auto">
          <a:xfrm>
            <a:off x="2322809" y="2362294"/>
            <a:ext cx="34419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Oval 6"/>
          <p:cNvSpPr>
            <a:spLocks noChangeArrowheads="1"/>
          </p:cNvSpPr>
          <p:nvPr/>
        </p:nvSpPr>
        <p:spPr bwMode="auto">
          <a:xfrm>
            <a:off x="4879316" y="205161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A</a:t>
            </a:r>
            <a:endParaRPr lang="en-US" altLang="en-US" sz="2000" baseline="-25000" dirty="0">
              <a:cs typeface="Times New Roman" pitchFamily="18" charset="0"/>
            </a:endParaRPr>
          </a:p>
        </p:txBody>
      </p:sp>
      <p:sp>
        <p:nvSpPr>
          <p:cNvPr id="19" name="TextBox 18"/>
          <p:cNvSpPr txBox="1"/>
          <p:nvPr/>
        </p:nvSpPr>
        <p:spPr>
          <a:xfrm>
            <a:off x="3938655" y="2569135"/>
            <a:ext cx="295274" cy="369332"/>
          </a:xfrm>
          <a:prstGeom prst="rect">
            <a:avLst/>
          </a:prstGeom>
          <a:noFill/>
        </p:spPr>
        <p:txBody>
          <a:bodyPr wrap="none" rtlCol="0">
            <a:spAutoFit/>
          </a:bodyPr>
          <a:lstStyle/>
          <a:p>
            <a:r>
              <a:rPr lang="en-US" dirty="0"/>
              <a:t>a</a:t>
            </a:r>
          </a:p>
        </p:txBody>
      </p:sp>
      <p:cxnSp>
        <p:nvCxnSpPr>
          <p:cNvPr id="20" name="AutoShape 37"/>
          <p:cNvCxnSpPr>
            <a:cxnSpLocks noChangeShapeType="1"/>
            <a:stCxn id="13" idx="2"/>
            <a:endCxn id="18" idx="2"/>
          </p:cNvCxnSpPr>
          <p:nvPr/>
        </p:nvCxnSpPr>
        <p:spPr bwMode="auto">
          <a:xfrm rot="10800000">
            <a:off x="4879316" y="2310373"/>
            <a:ext cx="92336" cy="1803068"/>
          </a:xfrm>
          <a:prstGeom prst="curvedConnector3">
            <a:avLst>
              <a:gd name="adj1" fmla="val 34757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p:cNvSpPr txBox="1"/>
          <p:nvPr/>
        </p:nvSpPr>
        <p:spPr>
          <a:xfrm>
            <a:off x="4403990" y="3121482"/>
            <a:ext cx="306494" cy="369332"/>
          </a:xfrm>
          <a:prstGeom prst="rect">
            <a:avLst/>
          </a:prstGeom>
          <a:noFill/>
        </p:spPr>
        <p:txBody>
          <a:bodyPr wrap="none" rtlCol="0">
            <a:spAutoFit/>
          </a:bodyPr>
          <a:lstStyle/>
          <a:p>
            <a:r>
              <a:rPr lang="en-US" dirty="0" smtClean="0"/>
              <a:t>b</a:t>
            </a:r>
            <a:endParaRPr lang="en-US" dirty="0"/>
          </a:p>
        </p:txBody>
      </p:sp>
      <p:cxnSp>
        <p:nvCxnSpPr>
          <p:cNvPr id="22" name="AutoShape 37"/>
          <p:cNvCxnSpPr>
            <a:cxnSpLocks noChangeShapeType="1"/>
            <a:stCxn id="18" idx="6"/>
            <a:endCxn id="13" idx="6"/>
          </p:cNvCxnSpPr>
          <p:nvPr/>
        </p:nvCxnSpPr>
        <p:spPr bwMode="auto">
          <a:xfrm>
            <a:off x="5369854" y="2310373"/>
            <a:ext cx="174093" cy="1803068"/>
          </a:xfrm>
          <a:prstGeom prst="curvedConnector3">
            <a:avLst>
              <a:gd name="adj1" fmla="val 231309"/>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Box 22"/>
          <p:cNvSpPr txBox="1"/>
          <p:nvPr/>
        </p:nvSpPr>
        <p:spPr>
          <a:xfrm>
            <a:off x="5791200" y="3062885"/>
            <a:ext cx="306494" cy="369332"/>
          </a:xfrm>
          <a:prstGeom prst="rect">
            <a:avLst/>
          </a:prstGeom>
          <a:noFill/>
        </p:spPr>
        <p:txBody>
          <a:bodyPr wrap="none" rtlCol="0">
            <a:spAutoFit/>
          </a:bodyPr>
          <a:lstStyle/>
          <a:p>
            <a:r>
              <a:rPr lang="en-US" dirty="0" smtClean="0"/>
              <a:t>b</a:t>
            </a:r>
            <a:endParaRPr lang="en-US" dirty="0"/>
          </a:p>
        </p:txBody>
      </p:sp>
      <p:cxnSp>
        <p:nvCxnSpPr>
          <p:cNvPr id="24" name="AutoShape 37"/>
          <p:cNvCxnSpPr>
            <a:cxnSpLocks noChangeShapeType="1"/>
            <a:stCxn id="10" idx="2"/>
          </p:cNvCxnSpPr>
          <p:nvPr/>
        </p:nvCxnSpPr>
        <p:spPr bwMode="auto">
          <a:xfrm rot="10800000" flipH="1" flipV="1">
            <a:off x="2667000" y="2375121"/>
            <a:ext cx="152400" cy="1780362"/>
          </a:xfrm>
          <a:prstGeom prst="curvedConnector3">
            <a:avLst>
              <a:gd name="adj1" fmla="val -1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37"/>
          <p:cNvCxnSpPr>
            <a:cxnSpLocks noChangeShapeType="1"/>
            <a:endCxn id="10" idx="6"/>
          </p:cNvCxnSpPr>
          <p:nvPr/>
        </p:nvCxnSpPr>
        <p:spPr bwMode="auto">
          <a:xfrm flipH="1" flipV="1">
            <a:off x="3157538" y="2375121"/>
            <a:ext cx="152400" cy="1780362"/>
          </a:xfrm>
          <a:prstGeom prst="curvedConnector3">
            <a:avLst>
              <a:gd name="adj1" fmla="val -1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p:cNvSpPr txBox="1"/>
          <p:nvPr/>
        </p:nvSpPr>
        <p:spPr>
          <a:xfrm>
            <a:off x="2169562" y="3158998"/>
            <a:ext cx="306494" cy="369332"/>
          </a:xfrm>
          <a:prstGeom prst="rect">
            <a:avLst/>
          </a:prstGeom>
          <a:noFill/>
        </p:spPr>
        <p:txBody>
          <a:bodyPr wrap="none" rtlCol="0">
            <a:spAutoFit/>
          </a:bodyPr>
          <a:lstStyle/>
          <a:p>
            <a:r>
              <a:rPr lang="en-US" dirty="0" smtClean="0"/>
              <a:t>b</a:t>
            </a:r>
            <a:endParaRPr lang="en-US" dirty="0"/>
          </a:p>
        </p:txBody>
      </p:sp>
      <p:sp>
        <p:nvSpPr>
          <p:cNvPr id="27" name="TextBox 26"/>
          <p:cNvSpPr txBox="1"/>
          <p:nvPr/>
        </p:nvSpPr>
        <p:spPr>
          <a:xfrm>
            <a:off x="3216530" y="3215817"/>
            <a:ext cx="306494" cy="369332"/>
          </a:xfrm>
          <a:prstGeom prst="rect">
            <a:avLst/>
          </a:prstGeom>
          <a:noFill/>
        </p:spPr>
        <p:txBody>
          <a:bodyPr wrap="none" rtlCol="0">
            <a:spAutoFit/>
          </a:bodyPr>
          <a:lstStyle/>
          <a:p>
            <a:r>
              <a:rPr lang="en-US" dirty="0" smtClean="0"/>
              <a:t>b</a:t>
            </a:r>
            <a:endParaRPr lang="en-US" dirty="0"/>
          </a:p>
        </p:txBody>
      </p:sp>
      <p:cxnSp>
        <p:nvCxnSpPr>
          <p:cNvPr id="28" name="AutoShape 37"/>
          <p:cNvCxnSpPr>
            <a:cxnSpLocks noChangeShapeType="1"/>
            <a:endCxn id="13" idx="4"/>
          </p:cNvCxnSpPr>
          <p:nvPr/>
        </p:nvCxnSpPr>
        <p:spPr bwMode="auto">
          <a:xfrm rot="16200000" flipH="1">
            <a:off x="4159916" y="3318997"/>
            <a:ext cx="2637" cy="2193131"/>
          </a:xfrm>
          <a:prstGeom prst="curvedConnector3">
            <a:avLst>
              <a:gd name="adj1" fmla="val 876894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37"/>
          <p:cNvCxnSpPr>
            <a:cxnSpLocks noChangeShapeType="1"/>
            <a:stCxn id="13" idx="0"/>
          </p:cNvCxnSpPr>
          <p:nvPr/>
        </p:nvCxnSpPr>
        <p:spPr bwMode="auto">
          <a:xfrm rot="16200000" flipH="1" flipV="1">
            <a:off x="4117875" y="2756794"/>
            <a:ext cx="86720" cy="2193131"/>
          </a:xfrm>
          <a:prstGeom prst="curvedConnector3">
            <a:avLst>
              <a:gd name="adj1" fmla="val -26360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p:cNvSpPr txBox="1"/>
          <p:nvPr/>
        </p:nvSpPr>
        <p:spPr>
          <a:xfrm>
            <a:off x="3958322" y="3593208"/>
            <a:ext cx="295274" cy="369332"/>
          </a:xfrm>
          <a:prstGeom prst="rect">
            <a:avLst/>
          </a:prstGeom>
          <a:noFill/>
        </p:spPr>
        <p:txBody>
          <a:bodyPr wrap="none" rtlCol="0">
            <a:spAutoFit/>
          </a:bodyPr>
          <a:lstStyle/>
          <a:p>
            <a:r>
              <a:rPr lang="en-US" dirty="0"/>
              <a:t>a</a:t>
            </a:r>
          </a:p>
        </p:txBody>
      </p:sp>
      <p:sp>
        <p:nvSpPr>
          <p:cNvPr id="31" name="TextBox 30"/>
          <p:cNvSpPr txBox="1"/>
          <p:nvPr/>
        </p:nvSpPr>
        <p:spPr>
          <a:xfrm>
            <a:off x="4013598" y="4648200"/>
            <a:ext cx="295274" cy="369332"/>
          </a:xfrm>
          <a:prstGeom prst="rect">
            <a:avLst/>
          </a:prstGeom>
          <a:noFill/>
        </p:spPr>
        <p:txBody>
          <a:bodyPr wrap="none" rtlCol="0">
            <a:spAutoFit/>
          </a:bodyPr>
          <a:lstStyle/>
          <a:p>
            <a:r>
              <a:rPr lang="en-US" dirty="0"/>
              <a:t>a</a:t>
            </a:r>
          </a:p>
        </p:txBody>
      </p:sp>
      <p:sp>
        <p:nvSpPr>
          <p:cNvPr id="32" name="Oval 6"/>
          <p:cNvSpPr>
            <a:spLocks noChangeArrowheads="1"/>
          </p:cNvSpPr>
          <p:nvPr/>
        </p:nvSpPr>
        <p:spPr bwMode="auto">
          <a:xfrm>
            <a:off x="2819400" y="389672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B</a:t>
            </a:r>
            <a:endParaRPr lang="en-US" altLang="en-US" sz="2000" baseline="-25000" dirty="0">
              <a:cs typeface="Times New Roman" pitchFamily="18" charset="0"/>
            </a:endParaRPr>
          </a:p>
        </p:txBody>
      </p:sp>
    </p:spTree>
    <p:extLst>
      <p:ext uri="{BB962C8B-B14F-4D97-AF65-F5344CB8AC3E}">
        <p14:creationId xmlns:p14="http://schemas.microsoft.com/office/powerpoint/2010/main" val="32223495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5684" y="817163"/>
            <a:ext cx="8229600" cy="4394599"/>
          </a:xfrm>
        </p:spPr>
        <p:txBody>
          <a:bodyPr>
            <a:noAutofit/>
          </a:bodyPr>
          <a:lstStyle/>
          <a:p>
            <a:r>
              <a:rPr lang="en-US" sz="2200" dirty="0" smtClean="0"/>
              <a:t>Step 2:  Set of productions are given by: </a:t>
            </a:r>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endParaRPr lang="en-US" sz="2200" dirty="0"/>
          </a:p>
          <a:p>
            <a:r>
              <a:rPr lang="en-US" sz="2200" dirty="0"/>
              <a:t>S </a:t>
            </a:r>
            <a:r>
              <a:rPr lang="en-US" sz="2200" dirty="0" smtClean="0"/>
              <a:t>→ </a:t>
            </a:r>
            <a:r>
              <a:rPr lang="en-US" sz="2200" dirty="0" err="1" smtClean="0"/>
              <a:t>aA|bB</a:t>
            </a:r>
            <a:endParaRPr lang="en-US" sz="2200" dirty="0" smtClean="0"/>
          </a:p>
          <a:p>
            <a:r>
              <a:rPr lang="en-US" sz="2200" dirty="0" smtClean="0"/>
              <a:t>A → </a:t>
            </a:r>
            <a:r>
              <a:rPr lang="en-US" sz="2200" dirty="0" err="1" smtClean="0"/>
              <a:t>aS|bC|b</a:t>
            </a:r>
            <a:endParaRPr lang="en-US" sz="2200" dirty="0" smtClean="0"/>
          </a:p>
          <a:p>
            <a:r>
              <a:rPr lang="en-US" sz="2200" dirty="0"/>
              <a:t>B </a:t>
            </a:r>
            <a:r>
              <a:rPr lang="en-US" sz="2200" dirty="0" smtClean="0"/>
              <a:t>→ </a:t>
            </a:r>
            <a:r>
              <a:rPr lang="en-US" sz="2200" dirty="0" err="1" smtClean="0"/>
              <a:t>bs|aC|a</a:t>
            </a:r>
            <a:endParaRPr lang="en-US" sz="2200" dirty="0" smtClean="0"/>
          </a:p>
          <a:p>
            <a:r>
              <a:rPr lang="en-US" sz="2200" dirty="0"/>
              <a:t>C </a:t>
            </a:r>
            <a:r>
              <a:rPr lang="en-US" sz="2200" dirty="0" smtClean="0"/>
              <a:t>→ </a:t>
            </a:r>
            <a:r>
              <a:rPr lang="en-US" sz="2200" dirty="0" err="1" smtClean="0"/>
              <a:t>aB|bA</a:t>
            </a:r>
            <a:endParaRPr lang="en-US" sz="2200" dirty="0" smtClean="0"/>
          </a:p>
          <a:p>
            <a:endParaRPr lang="en-US" sz="2200" dirty="0"/>
          </a:p>
        </p:txBody>
      </p:sp>
      <p:sp>
        <p:nvSpPr>
          <p:cNvPr id="4" name="Date Placeholder 3"/>
          <p:cNvSpPr>
            <a:spLocks noGrp="1"/>
          </p:cNvSpPr>
          <p:nvPr>
            <p:ph type="dt" sz="half" idx="10"/>
          </p:nvPr>
        </p:nvSpPr>
        <p:spPr/>
        <p:txBody>
          <a:bodyPr/>
          <a:lstStyle/>
          <a:p>
            <a:fld id="{A2F06323-9D20-4593-846B-83479040D447}"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676400" y="0"/>
            <a:ext cx="7467600" cy="817163"/>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b="1" dirty="0"/>
              <a:t>DFA to Right Linear Regular Grammar </a:t>
            </a:r>
            <a:r>
              <a:rPr lang="en-US" altLang="en-US" sz="2800" b="1" dirty="0"/>
              <a:t>(Continued</a:t>
            </a:r>
            <a:r>
              <a:rPr lang="en-US" altLang="en-US" sz="2800" b="1" dirty="0" smtClean="0"/>
              <a:t>)</a:t>
            </a:r>
            <a:endParaRPr lang="en-US" sz="2800" dirty="0"/>
          </a:p>
        </p:txBody>
      </p:sp>
      <p:sp>
        <p:nvSpPr>
          <p:cNvPr id="10" name="Oval 6"/>
          <p:cNvSpPr>
            <a:spLocks noChangeArrowheads="1"/>
          </p:cNvSpPr>
          <p:nvPr/>
        </p:nvSpPr>
        <p:spPr bwMode="auto">
          <a:xfrm>
            <a:off x="2667000" y="2116358"/>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S</a:t>
            </a:r>
            <a:endParaRPr lang="en-US" altLang="en-US" sz="2000" baseline="-25000" dirty="0">
              <a:cs typeface="Times New Roman" pitchFamily="18" charset="0"/>
            </a:endParaRPr>
          </a:p>
        </p:txBody>
      </p:sp>
      <p:grpSp>
        <p:nvGrpSpPr>
          <p:cNvPr id="11" name="Group 25"/>
          <p:cNvGrpSpPr>
            <a:grpSpLocks/>
          </p:cNvGrpSpPr>
          <p:nvPr/>
        </p:nvGrpSpPr>
        <p:grpSpPr bwMode="auto">
          <a:xfrm>
            <a:off x="4971652" y="3810000"/>
            <a:ext cx="572295" cy="606882"/>
            <a:chOff x="755" y="1461"/>
            <a:chExt cx="446" cy="434"/>
          </a:xfrm>
        </p:grpSpPr>
        <p:sp>
          <p:nvSpPr>
            <p:cNvPr id="12" name="Oval 26"/>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C</a:t>
              </a:r>
              <a:endParaRPr lang="en-US" altLang="en-US" sz="2000" baseline="-25000" dirty="0">
                <a:cs typeface="Times New Roman" pitchFamily="18" charset="0"/>
              </a:endParaRPr>
            </a:p>
          </p:txBody>
        </p:sp>
        <p:sp>
          <p:nvSpPr>
            <p:cNvPr id="13" name="Oval 27"/>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grpSp>
      <p:cxnSp>
        <p:nvCxnSpPr>
          <p:cNvPr id="14" name="AutoShape 37"/>
          <p:cNvCxnSpPr>
            <a:cxnSpLocks noChangeShapeType="1"/>
          </p:cNvCxnSpPr>
          <p:nvPr/>
        </p:nvCxnSpPr>
        <p:spPr bwMode="auto">
          <a:xfrm rot="5400000" flipH="1" flipV="1">
            <a:off x="4048157" y="1078064"/>
            <a:ext cx="76271" cy="2076584"/>
          </a:xfrm>
          <a:prstGeom prst="curvedConnector3">
            <a:avLst>
              <a:gd name="adj1" fmla="val 51624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Box 14"/>
          <p:cNvSpPr txBox="1"/>
          <p:nvPr/>
        </p:nvSpPr>
        <p:spPr>
          <a:xfrm>
            <a:off x="3618005" y="1466723"/>
            <a:ext cx="295274" cy="369332"/>
          </a:xfrm>
          <a:prstGeom prst="rect">
            <a:avLst/>
          </a:prstGeom>
          <a:noFill/>
        </p:spPr>
        <p:txBody>
          <a:bodyPr wrap="none" rtlCol="0">
            <a:spAutoFit/>
          </a:bodyPr>
          <a:lstStyle/>
          <a:p>
            <a:r>
              <a:rPr lang="en-US" dirty="0"/>
              <a:t>a</a:t>
            </a:r>
          </a:p>
        </p:txBody>
      </p:sp>
      <p:cxnSp>
        <p:nvCxnSpPr>
          <p:cNvPr id="16" name="AutoShape 37"/>
          <p:cNvCxnSpPr>
            <a:cxnSpLocks noChangeShapeType="1"/>
          </p:cNvCxnSpPr>
          <p:nvPr/>
        </p:nvCxnSpPr>
        <p:spPr bwMode="auto">
          <a:xfrm rot="5400000">
            <a:off x="4079749" y="1524300"/>
            <a:ext cx="13086" cy="2076584"/>
          </a:xfrm>
          <a:prstGeom prst="curvedConnector3">
            <a:avLst>
              <a:gd name="adj1" fmla="val 242607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Line 32"/>
          <p:cNvSpPr>
            <a:spLocks noChangeShapeType="1"/>
          </p:cNvSpPr>
          <p:nvPr/>
        </p:nvSpPr>
        <p:spPr bwMode="auto">
          <a:xfrm>
            <a:off x="2322809" y="2362294"/>
            <a:ext cx="34419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Oval 6"/>
          <p:cNvSpPr>
            <a:spLocks noChangeArrowheads="1"/>
          </p:cNvSpPr>
          <p:nvPr/>
        </p:nvSpPr>
        <p:spPr bwMode="auto">
          <a:xfrm>
            <a:off x="4879316" y="205161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A</a:t>
            </a:r>
            <a:endParaRPr lang="en-US" altLang="en-US" sz="2000" baseline="-25000" dirty="0">
              <a:cs typeface="Times New Roman" pitchFamily="18" charset="0"/>
            </a:endParaRPr>
          </a:p>
        </p:txBody>
      </p:sp>
      <p:sp>
        <p:nvSpPr>
          <p:cNvPr id="19" name="TextBox 18"/>
          <p:cNvSpPr txBox="1"/>
          <p:nvPr/>
        </p:nvSpPr>
        <p:spPr>
          <a:xfrm>
            <a:off x="3938655" y="2569135"/>
            <a:ext cx="295274" cy="369332"/>
          </a:xfrm>
          <a:prstGeom prst="rect">
            <a:avLst/>
          </a:prstGeom>
          <a:noFill/>
        </p:spPr>
        <p:txBody>
          <a:bodyPr wrap="none" rtlCol="0">
            <a:spAutoFit/>
          </a:bodyPr>
          <a:lstStyle/>
          <a:p>
            <a:r>
              <a:rPr lang="en-US" dirty="0"/>
              <a:t>a</a:t>
            </a:r>
          </a:p>
        </p:txBody>
      </p:sp>
      <p:cxnSp>
        <p:nvCxnSpPr>
          <p:cNvPr id="20" name="AutoShape 37"/>
          <p:cNvCxnSpPr>
            <a:cxnSpLocks noChangeShapeType="1"/>
            <a:stCxn id="13" idx="2"/>
            <a:endCxn id="18" idx="2"/>
          </p:cNvCxnSpPr>
          <p:nvPr/>
        </p:nvCxnSpPr>
        <p:spPr bwMode="auto">
          <a:xfrm rot="10800000">
            <a:off x="4879316" y="2310373"/>
            <a:ext cx="92336" cy="1803068"/>
          </a:xfrm>
          <a:prstGeom prst="curvedConnector3">
            <a:avLst>
              <a:gd name="adj1" fmla="val 347574"/>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TextBox 20"/>
          <p:cNvSpPr txBox="1"/>
          <p:nvPr/>
        </p:nvSpPr>
        <p:spPr>
          <a:xfrm>
            <a:off x="4403990" y="3121482"/>
            <a:ext cx="306494" cy="369332"/>
          </a:xfrm>
          <a:prstGeom prst="rect">
            <a:avLst/>
          </a:prstGeom>
          <a:noFill/>
        </p:spPr>
        <p:txBody>
          <a:bodyPr wrap="none" rtlCol="0">
            <a:spAutoFit/>
          </a:bodyPr>
          <a:lstStyle/>
          <a:p>
            <a:r>
              <a:rPr lang="en-US" dirty="0" smtClean="0"/>
              <a:t>b</a:t>
            </a:r>
            <a:endParaRPr lang="en-US" dirty="0"/>
          </a:p>
        </p:txBody>
      </p:sp>
      <p:cxnSp>
        <p:nvCxnSpPr>
          <p:cNvPr id="22" name="AutoShape 37"/>
          <p:cNvCxnSpPr>
            <a:cxnSpLocks noChangeShapeType="1"/>
            <a:stCxn id="18" idx="6"/>
            <a:endCxn id="13" idx="6"/>
          </p:cNvCxnSpPr>
          <p:nvPr/>
        </p:nvCxnSpPr>
        <p:spPr bwMode="auto">
          <a:xfrm>
            <a:off x="5369854" y="2310373"/>
            <a:ext cx="174093" cy="1803068"/>
          </a:xfrm>
          <a:prstGeom prst="curvedConnector3">
            <a:avLst>
              <a:gd name="adj1" fmla="val 231309"/>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Box 22"/>
          <p:cNvSpPr txBox="1"/>
          <p:nvPr/>
        </p:nvSpPr>
        <p:spPr>
          <a:xfrm>
            <a:off x="5791200" y="3062885"/>
            <a:ext cx="306494" cy="369332"/>
          </a:xfrm>
          <a:prstGeom prst="rect">
            <a:avLst/>
          </a:prstGeom>
          <a:noFill/>
        </p:spPr>
        <p:txBody>
          <a:bodyPr wrap="none" rtlCol="0">
            <a:spAutoFit/>
          </a:bodyPr>
          <a:lstStyle/>
          <a:p>
            <a:r>
              <a:rPr lang="en-US" dirty="0" smtClean="0"/>
              <a:t>b</a:t>
            </a:r>
            <a:endParaRPr lang="en-US" dirty="0"/>
          </a:p>
        </p:txBody>
      </p:sp>
      <p:cxnSp>
        <p:nvCxnSpPr>
          <p:cNvPr id="24" name="AutoShape 37"/>
          <p:cNvCxnSpPr>
            <a:cxnSpLocks noChangeShapeType="1"/>
            <a:stCxn id="10" idx="2"/>
          </p:cNvCxnSpPr>
          <p:nvPr/>
        </p:nvCxnSpPr>
        <p:spPr bwMode="auto">
          <a:xfrm rot="10800000" flipH="1" flipV="1">
            <a:off x="2667000" y="2375121"/>
            <a:ext cx="152400" cy="1780362"/>
          </a:xfrm>
          <a:prstGeom prst="curvedConnector3">
            <a:avLst>
              <a:gd name="adj1" fmla="val -1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37"/>
          <p:cNvCxnSpPr>
            <a:cxnSpLocks noChangeShapeType="1"/>
            <a:endCxn id="10" idx="6"/>
          </p:cNvCxnSpPr>
          <p:nvPr/>
        </p:nvCxnSpPr>
        <p:spPr bwMode="auto">
          <a:xfrm flipH="1" flipV="1">
            <a:off x="3157538" y="2375121"/>
            <a:ext cx="152400" cy="1780362"/>
          </a:xfrm>
          <a:prstGeom prst="curvedConnector3">
            <a:avLst>
              <a:gd name="adj1" fmla="val -15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TextBox 25"/>
          <p:cNvSpPr txBox="1"/>
          <p:nvPr/>
        </p:nvSpPr>
        <p:spPr>
          <a:xfrm>
            <a:off x="2169562" y="3158998"/>
            <a:ext cx="306494" cy="369332"/>
          </a:xfrm>
          <a:prstGeom prst="rect">
            <a:avLst/>
          </a:prstGeom>
          <a:noFill/>
        </p:spPr>
        <p:txBody>
          <a:bodyPr wrap="none" rtlCol="0">
            <a:spAutoFit/>
          </a:bodyPr>
          <a:lstStyle/>
          <a:p>
            <a:r>
              <a:rPr lang="en-US" dirty="0" smtClean="0"/>
              <a:t>b</a:t>
            </a:r>
            <a:endParaRPr lang="en-US" dirty="0"/>
          </a:p>
        </p:txBody>
      </p:sp>
      <p:sp>
        <p:nvSpPr>
          <p:cNvPr id="27" name="TextBox 26"/>
          <p:cNvSpPr txBox="1"/>
          <p:nvPr/>
        </p:nvSpPr>
        <p:spPr>
          <a:xfrm>
            <a:off x="3216530" y="3215817"/>
            <a:ext cx="306494" cy="369332"/>
          </a:xfrm>
          <a:prstGeom prst="rect">
            <a:avLst/>
          </a:prstGeom>
          <a:noFill/>
        </p:spPr>
        <p:txBody>
          <a:bodyPr wrap="none" rtlCol="0">
            <a:spAutoFit/>
          </a:bodyPr>
          <a:lstStyle/>
          <a:p>
            <a:r>
              <a:rPr lang="en-US" dirty="0" smtClean="0"/>
              <a:t>b</a:t>
            </a:r>
            <a:endParaRPr lang="en-US" dirty="0"/>
          </a:p>
        </p:txBody>
      </p:sp>
      <p:cxnSp>
        <p:nvCxnSpPr>
          <p:cNvPr id="28" name="AutoShape 37"/>
          <p:cNvCxnSpPr>
            <a:cxnSpLocks noChangeShapeType="1"/>
            <a:endCxn id="13" idx="4"/>
          </p:cNvCxnSpPr>
          <p:nvPr/>
        </p:nvCxnSpPr>
        <p:spPr bwMode="auto">
          <a:xfrm rot="16200000" flipH="1">
            <a:off x="4159916" y="3318997"/>
            <a:ext cx="2637" cy="2193131"/>
          </a:xfrm>
          <a:prstGeom prst="curvedConnector3">
            <a:avLst>
              <a:gd name="adj1" fmla="val 876894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37"/>
          <p:cNvCxnSpPr>
            <a:cxnSpLocks noChangeShapeType="1"/>
            <a:stCxn id="13" idx="0"/>
          </p:cNvCxnSpPr>
          <p:nvPr/>
        </p:nvCxnSpPr>
        <p:spPr bwMode="auto">
          <a:xfrm rot="16200000" flipH="1" flipV="1">
            <a:off x="4117875" y="2756794"/>
            <a:ext cx="86720" cy="2193131"/>
          </a:xfrm>
          <a:prstGeom prst="curvedConnector3">
            <a:avLst>
              <a:gd name="adj1" fmla="val -26360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TextBox 29"/>
          <p:cNvSpPr txBox="1"/>
          <p:nvPr/>
        </p:nvSpPr>
        <p:spPr>
          <a:xfrm>
            <a:off x="3958322" y="3593208"/>
            <a:ext cx="295274" cy="369332"/>
          </a:xfrm>
          <a:prstGeom prst="rect">
            <a:avLst/>
          </a:prstGeom>
          <a:noFill/>
        </p:spPr>
        <p:txBody>
          <a:bodyPr wrap="none" rtlCol="0">
            <a:spAutoFit/>
          </a:bodyPr>
          <a:lstStyle/>
          <a:p>
            <a:r>
              <a:rPr lang="en-US" dirty="0"/>
              <a:t>a</a:t>
            </a:r>
          </a:p>
        </p:txBody>
      </p:sp>
      <p:sp>
        <p:nvSpPr>
          <p:cNvPr id="31" name="TextBox 30"/>
          <p:cNvSpPr txBox="1"/>
          <p:nvPr/>
        </p:nvSpPr>
        <p:spPr>
          <a:xfrm>
            <a:off x="4013598" y="4648200"/>
            <a:ext cx="295274" cy="369332"/>
          </a:xfrm>
          <a:prstGeom prst="rect">
            <a:avLst/>
          </a:prstGeom>
          <a:noFill/>
        </p:spPr>
        <p:txBody>
          <a:bodyPr wrap="none" rtlCol="0">
            <a:spAutoFit/>
          </a:bodyPr>
          <a:lstStyle/>
          <a:p>
            <a:r>
              <a:rPr lang="en-US" dirty="0"/>
              <a:t>a</a:t>
            </a:r>
          </a:p>
        </p:txBody>
      </p:sp>
      <p:sp>
        <p:nvSpPr>
          <p:cNvPr id="32" name="Oval 6"/>
          <p:cNvSpPr>
            <a:spLocks noChangeArrowheads="1"/>
          </p:cNvSpPr>
          <p:nvPr/>
        </p:nvSpPr>
        <p:spPr bwMode="auto">
          <a:xfrm>
            <a:off x="2819400" y="389672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B</a:t>
            </a:r>
            <a:endParaRPr lang="en-US" altLang="en-US" sz="2000" baseline="-25000" dirty="0">
              <a:cs typeface="Times New Roman" pitchFamily="18" charset="0"/>
            </a:endParaRPr>
          </a:p>
        </p:txBody>
      </p:sp>
    </p:spTree>
    <p:extLst>
      <p:ext uri="{BB962C8B-B14F-4D97-AF65-F5344CB8AC3E}">
        <p14:creationId xmlns:p14="http://schemas.microsoft.com/office/powerpoint/2010/main" val="215399500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7163"/>
            <a:ext cx="8229600" cy="4525963"/>
          </a:xfrm>
        </p:spPr>
        <p:txBody>
          <a:bodyPr>
            <a:normAutofit/>
          </a:bodyPr>
          <a:lstStyle/>
          <a:p>
            <a:pPr marL="0" indent="0">
              <a:buNone/>
            </a:pPr>
            <a:r>
              <a:rPr lang="en-US" sz="2200" dirty="0" smtClean="0"/>
              <a:t>Convert the given Right Linear Grammar to DFA :</a:t>
            </a:r>
          </a:p>
          <a:p>
            <a:r>
              <a:rPr lang="en-US" sz="2200" dirty="0" smtClean="0"/>
              <a:t>S</a:t>
            </a:r>
            <a:r>
              <a:rPr lang="en-US" sz="2200" dirty="0"/>
              <a:t> </a:t>
            </a:r>
            <a:r>
              <a:rPr lang="en-US" sz="2200" dirty="0" smtClean="0"/>
              <a:t>→</a:t>
            </a:r>
            <a:r>
              <a:rPr lang="en-US" sz="2200" dirty="0" err="1" smtClean="0"/>
              <a:t>bB</a:t>
            </a:r>
            <a:endParaRPr lang="en-US" sz="2200" dirty="0" smtClean="0"/>
          </a:p>
          <a:p>
            <a:r>
              <a:rPr lang="en-US" sz="2200" dirty="0" smtClean="0"/>
              <a:t>B</a:t>
            </a:r>
            <a:r>
              <a:rPr lang="en-US" sz="2200" dirty="0"/>
              <a:t> </a:t>
            </a:r>
            <a:r>
              <a:rPr lang="en-US" sz="2200" dirty="0" smtClean="0"/>
              <a:t>→</a:t>
            </a:r>
            <a:r>
              <a:rPr lang="en-US" sz="2200" dirty="0" err="1" smtClean="0"/>
              <a:t>bC|b</a:t>
            </a:r>
            <a:endParaRPr lang="en-US" sz="2200" dirty="0" smtClean="0"/>
          </a:p>
          <a:p>
            <a:r>
              <a:rPr lang="en-US" sz="2200" dirty="0" smtClean="0"/>
              <a:t>B</a:t>
            </a:r>
            <a:r>
              <a:rPr lang="en-US" sz="2200" dirty="0"/>
              <a:t> </a:t>
            </a:r>
            <a:r>
              <a:rPr lang="en-US" sz="2200" dirty="0" smtClean="0"/>
              <a:t>→</a:t>
            </a:r>
            <a:r>
              <a:rPr lang="en-US" sz="2200" dirty="0" err="1" smtClean="0"/>
              <a:t>aB</a:t>
            </a:r>
            <a:endParaRPr lang="en-US" sz="2200" dirty="0" smtClean="0"/>
          </a:p>
          <a:p>
            <a:r>
              <a:rPr lang="en-US" sz="2200" dirty="0" smtClean="0"/>
              <a:t>C</a:t>
            </a:r>
            <a:r>
              <a:rPr lang="en-US" sz="2200" dirty="0"/>
              <a:t> </a:t>
            </a:r>
            <a:r>
              <a:rPr lang="en-US" sz="2200" dirty="0" smtClean="0"/>
              <a:t>→a</a:t>
            </a:r>
          </a:p>
          <a:p>
            <a:endParaRPr lang="en-US" sz="2200" dirty="0" smtClean="0"/>
          </a:p>
          <a:p>
            <a:pPr marL="0" indent="0">
              <a:buNone/>
            </a:pPr>
            <a:r>
              <a:rPr lang="en-US" sz="2200" b="1" dirty="0" smtClean="0"/>
              <a:t>STEP 1:</a:t>
            </a:r>
            <a:r>
              <a:rPr lang="en-US" sz="2200" dirty="0" smtClean="0"/>
              <a:t> Adding transactions corresponding to every production ,we get:</a:t>
            </a:r>
            <a:endParaRPr lang="en-US" sz="2200" dirty="0"/>
          </a:p>
          <a:p>
            <a:endParaRPr lang="en-US" sz="2200" dirty="0"/>
          </a:p>
        </p:txBody>
      </p:sp>
      <p:sp>
        <p:nvSpPr>
          <p:cNvPr id="4" name="Date Placeholder 3"/>
          <p:cNvSpPr>
            <a:spLocks noGrp="1"/>
          </p:cNvSpPr>
          <p:nvPr>
            <p:ph type="dt" sz="half" idx="10"/>
          </p:nvPr>
        </p:nvSpPr>
        <p:spPr/>
        <p:txBody>
          <a:bodyPr/>
          <a:lstStyle/>
          <a:p>
            <a:fld id="{E20AFECC-9EA3-42CA-ABC8-98FDF423F6AE}"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785938" y="0"/>
            <a:ext cx="7358062"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smtClean="0"/>
              <a:t>Right Linear Grammar to DFA </a:t>
            </a:r>
            <a:endParaRPr lang="en-US" sz="3200" b="1" dirty="0"/>
          </a:p>
        </p:txBody>
      </p:sp>
      <p:sp>
        <p:nvSpPr>
          <p:cNvPr id="10" name="Oval 6"/>
          <p:cNvSpPr>
            <a:spLocks noChangeArrowheads="1"/>
          </p:cNvSpPr>
          <p:nvPr/>
        </p:nvSpPr>
        <p:spPr bwMode="auto">
          <a:xfrm>
            <a:off x="1295400" y="396240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S</a:t>
            </a:r>
            <a:endParaRPr lang="en-US" altLang="en-US" sz="2000" baseline="-25000" dirty="0">
              <a:cs typeface="Times New Roman" pitchFamily="18" charset="0"/>
            </a:endParaRPr>
          </a:p>
        </p:txBody>
      </p:sp>
      <p:sp>
        <p:nvSpPr>
          <p:cNvPr id="11" name="Line 32"/>
          <p:cNvSpPr>
            <a:spLocks noChangeShapeType="1"/>
          </p:cNvSpPr>
          <p:nvPr/>
        </p:nvSpPr>
        <p:spPr bwMode="auto">
          <a:xfrm>
            <a:off x="951209" y="4208336"/>
            <a:ext cx="34419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32"/>
          <p:cNvSpPr>
            <a:spLocks noChangeShapeType="1"/>
          </p:cNvSpPr>
          <p:nvPr/>
        </p:nvSpPr>
        <p:spPr bwMode="auto">
          <a:xfrm>
            <a:off x="1785938" y="4221162"/>
            <a:ext cx="58823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Oval 6"/>
          <p:cNvSpPr>
            <a:spLocks noChangeArrowheads="1"/>
          </p:cNvSpPr>
          <p:nvPr/>
        </p:nvSpPr>
        <p:spPr bwMode="auto">
          <a:xfrm>
            <a:off x="2374171" y="3962400"/>
            <a:ext cx="490538" cy="51752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a:cs typeface="Times New Roman" pitchFamily="18" charset="0"/>
              </a:rPr>
              <a:t>B</a:t>
            </a:r>
          </a:p>
        </p:txBody>
      </p:sp>
      <p:sp>
        <p:nvSpPr>
          <p:cNvPr id="14" name="TextBox 13"/>
          <p:cNvSpPr txBox="1"/>
          <p:nvPr/>
        </p:nvSpPr>
        <p:spPr>
          <a:xfrm>
            <a:off x="1926807" y="3851830"/>
            <a:ext cx="306494" cy="369332"/>
          </a:xfrm>
          <a:prstGeom prst="rect">
            <a:avLst/>
          </a:prstGeom>
          <a:noFill/>
        </p:spPr>
        <p:txBody>
          <a:bodyPr wrap="none" rtlCol="0">
            <a:spAutoFit/>
          </a:bodyPr>
          <a:lstStyle/>
          <a:p>
            <a:r>
              <a:rPr lang="en-US" dirty="0" smtClean="0"/>
              <a:t>b</a:t>
            </a:r>
            <a:endParaRPr lang="en-US" dirty="0"/>
          </a:p>
        </p:txBody>
      </p:sp>
      <p:cxnSp>
        <p:nvCxnSpPr>
          <p:cNvPr id="15" name="AutoShape 37"/>
          <p:cNvCxnSpPr>
            <a:cxnSpLocks noChangeShapeType="1"/>
            <a:stCxn id="13" idx="1"/>
            <a:endCxn id="13" idx="7"/>
          </p:cNvCxnSpPr>
          <p:nvPr/>
        </p:nvCxnSpPr>
        <p:spPr bwMode="auto">
          <a:xfrm rot="5400000" flipH="1" flipV="1">
            <a:off x="2619440" y="3864759"/>
            <a:ext cx="12700" cy="346862"/>
          </a:xfrm>
          <a:prstGeom prst="curvedConnector3">
            <a:avLst>
              <a:gd name="adj1" fmla="val 2396772"/>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Box 17"/>
          <p:cNvSpPr txBox="1"/>
          <p:nvPr/>
        </p:nvSpPr>
        <p:spPr>
          <a:xfrm>
            <a:off x="2799221" y="3675208"/>
            <a:ext cx="295274" cy="369332"/>
          </a:xfrm>
          <a:prstGeom prst="rect">
            <a:avLst/>
          </a:prstGeom>
          <a:noFill/>
        </p:spPr>
        <p:txBody>
          <a:bodyPr wrap="none" rtlCol="0">
            <a:spAutoFit/>
          </a:bodyPr>
          <a:lstStyle/>
          <a:p>
            <a:r>
              <a:rPr lang="en-US" dirty="0"/>
              <a:t>a</a:t>
            </a:r>
          </a:p>
        </p:txBody>
      </p:sp>
      <p:sp>
        <p:nvSpPr>
          <p:cNvPr id="19" name="Line 32"/>
          <p:cNvSpPr>
            <a:spLocks noChangeShapeType="1"/>
          </p:cNvSpPr>
          <p:nvPr/>
        </p:nvSpPr>
        <p:spPr bwMode="auto">
          <a:xfrm>
            <a:off x="2864709" y="4187316"/>
            <a:ext cx="58823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0" name="Group 25"/>
          <p:cNvGrpSpPr>
            <a:grpSpLocks/>
          </p:cNvGrpSpPr>
          <p:nvPr/>
        </p:nvGrpSpPr>
        <p:grpSpPr bwMode="auto">
          <a:xfrm>
            <a:off x="3446846" y="3883875"/>
            <a:ext cx="572295" cy="606882"/>
            <a:chOff x="755" y="1461"/>
            <a:chExt cx="446" cy="434"/>
          </a:xfrm>
        </p:grpSpPr>
        <p:sp>
          <p:nvSpPr>
            <p:cNvPr id="21" name="Oval 26"/>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smtClean="0">
                  <a:cs typeface="Times New Roman" pitchFamily="18" charset="0"/>
                </a:rPr>
                <a:t>C</a:t>
              </a:r>
              <a:endParaRPr lang="en-US" altLang="en-US" sz="2000" baseline="-25000" dirty="0">
                <a:cs typeface="Times New Roman" pitchFamily="18" charset="0"/>
              </a:endParaRPr>
            </a:p>
          </p:txBody>
        </p:sp>
        <p:sp>
          <p:nvSpPr>
            <p:cNvPr id="22" name="Oval 27"/>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grpSp>
      <p:sp>
        <p:nvSpPr>
          <p:cNvPr id="23" name="TextBox 22"/>
          <p:cNvSpPr txBox="1"/>
          <p:nvPr/>
        </p:nvSpPr>
        <p:spPr>
          <a:xfrm>
            <a:off x="3062285" y="3839004"/>
            <a:ext cx="306494" cy="369332"/>
          </a:xfrm>
          <a:prstGeom prst="rect">
            <a:avLst/>
          </a:prstGeom>
          <a:noFill/>
        </p:spPr>
        <p:txBody>
          <a:bodyPr wrap="none" rtlCol="0">
            <a:spAutoFit/>
          </a:bodyPr>
          <a:lstStyle/>
          <a:p>
            <a:r>
              <a:rPr lang="en-US" dirty="0" smtClean="0"/>
              <a:t>b</a:t>
            </a:r>
            <a:endParaRPr lang="en-US" dirty="0"/>
          </a:p>
        </p:txBody>
      </p:sp>
      <p:grpSp>
        <p:nvGrpSpPr>
          <p:cNvPr id="24" name="Group 25"/>
          <p:cNvGrpSpPr>
            <a:grpSpLocks/>
          </p:cNvGrpSpPr>
          <p:nvPr/>
        </p:nvGrpSpPr>
        <p:grpSpPr bwMode="auto">
          <a:xfrm>
            <a:off x="3480374" y="4876800"/>
            <a:ext cx="572295" cy="606882"/>
            <a:chOff x="755" y="1461"/>
            <a:chExt cx="446" cy="434"/>
          </a:xfrm>
        </p:grpSpPr>
        <p:sp>
          <p:nvSpPr>
            <p:cNvPr id="25" name="Oval 26"/>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algn="ctr" eaLnBrk="1" hangingPunct="1">
                <a:spcBef>
                  <a:spcPct val="0"/>
                </a:spcBef>
                <a:buFontTx/>
                <a:buNone/>
              </a:pPr>
              <a:r>
                <a:rPr lang="en-US" altLang="en-US" sz="2000" baseline="-25000" dirty="0">
                  <a:cs typeface="Times New Roman" pitchFamily="18" charset="0"/>
                </a:rPr>
                <a:t>D</a:t>
              </a:r>
            </a:p>
          </p:txBody>
        </p:sp>
        <p:sp>
          <p:nvSpPr>
            <p:cNvPr id="26" name="Oval 27"/>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eaLnBrk="1" hangingPunct="1">
                <a:spcBef>
                  <a:spcPct val="0"/>
                </a:spcBef>
                <a:buFontTx/>
                <a:buNone/>
              </a:pPr>
              <a:endParaRPr lang="en-US" altLang="en-US" sz="2400"/>
            </a:p>
          </p:txBody>
        </p:sp>
      </p:grpSp>
      <p:sp>
        <p:nvSpPr>
          <p:cNvPr id="27" name="Line 32"/>
          <p:cNvSpPr>
            <a:spLocks noChangeShapeType="1"/>
          </p:cNvSpPr>
          <p:nvPr/>
        </p:nvSpPr>
        <p:spPr bwMode="auto">
          <a:xfrm>
            <a:off x="3766521" y="4479925"/>
            <a:ext cx="642" cy="3423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Box 27"/>
          <p:cNvSpPr txBox="1"/>
          <p:nvPr/>
        </p:nvSpPr>
        <p:spPr>
          <a:xfrm>
            <a:off x="3767163" y="4424423"/>
            <a:ext cx="295274" cy="369332"/>
          </a:xfrm>
          <a:prstGeom prst="rect">
            <a:avLst/>
          </a:prstGeom>
          <a:noFill/>
        </p:spPr>
        <p:txBody>
          <a:bodyPr wrap="none" rtlCol="0">
            <a:spAutoFit/>
          </a:bodyPr>
          <a:lstStyle/>
          <a:p>
            <a:r>
              <a:rPr lang="en-US" dirty="0"/>
              <a:t>a</a:t>
            </a:r>
          </a:p>
        </p:txBody>
      </p:sp>
    </p:spTree>
    <p:extLst>
      <p:ext uri="{BB962C8B-B14F-4D97-AF65-F5344CB8AC3E}">
        <p14:creationId xmlns:p14="http://schemas.microsoft.com/office/powerpoint/2010/main" val="113853625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b="1" dirty="0"/>
              <a:t>STEP </a:t>
            </a:r>
            <a:r>
              <a:rPr lang="en-US" sz="2200" b="1" dirty="0" smtClean="0"/>
              <a:t>2: </a:t>
            </a:r>
            <a:r>
              <a:rPr lang="en-US" sz="2200" dirty="0" smtClean="0"/>
              <a:t>Adding a state E to handle  </a:t>
            </a:r>
            <a:r>
              <a:rPr lang="el-GR" sz="2200" dirty="0" smtClean="0"/>
              <a:t>Φ</a:t>
            </a:r>
            <a:r>
              <a:rPr lang="en-US" sz="2200" dirty="0" smtClean="0"/>
              <a:t> transitions , final DFA will be: </a:t>
            </a:r>
            <a:endParaRPr lang="en-US" sz="2200" dirty="0"/>
          </a:p>
        </p:txBody>
      </p:sp>
      <p:sp>
        <p:nvSpPr>
          <p:cNvPr id="4" name="Date Placeholder 3"/>
          <p:cNvSpPr>
            <a:spLocks noGrp="1"/>
          </p:cNvSpPr>
          <p:nvPr>
            <p:ph type="dt" sz="half" idx="10"/>
          </p:nvPr>
        </p:nvSpPr>
        <p:spPr/>
        <p:txBody>
          <a:bodyPr/>
          <a:lstStyle/>
          <a:p>
            <a:fld id="{68F943CE-32C2-444C-AFA8-B2E093B776BC}"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752600" y="0"/>
            <a:ext cx="7391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t>Right Linear Grammar to DFA </a:t>
            </a:r>
            <a:r>
              <a:rPr lang="en-US" altLang="en-US" sz="3200" b="1" dirty="0"/>
              <a:t>(Continued)</a:t>
            </a:r>
            <a:endParaRPr lang="en-US" sz="32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694879"/>
            <a:ext cx="5753100" cy="3419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892118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dirty="0" smtClean="0"/>
              <a:t>Following steps are required to write a left linear grammar corresponding to a DFA. </a:t>
            </a:r>
          </a:p>
          <a:p>
            <a:pPr marL="0" indent="0">
              <a:buNone/>
            </a:pPr>
            <a:endParaRPr lang="en-US" sz="2200" dirty="0" smtClean="0"/>
          </a:p>
          <a:p>
            <a:r>
              <a:rPr lang="en-US" sz="2200" dirty="0" smtClean="0"/>
              <a:t>Interchange starting state and the final state.</a:t>
            </a:r>
          </a:p>
          <a:p>
            <a:r>
              <a:rPr lang="en-US" sz="2200" dirty="0" smtClean="0"/>
              <a:t>Reverse the direction of all the transactions.</a:t>
            </a:r>
          </a:p>
          <a:p>
            <a:r>
              <a:rPr lang="en-US" sz="2200" dirty="0" smtClean="0"/>
              <a:t>Write the grammar from the transaction graph in left linear form. </a:t>
            </a:r>
            <a:endParaRPr lang="en-US" sz="2200" dirty="0"/>
          </a:p>
        </p:txBody>
      </p:sp>
      <p:sp>
        <p:nvSpPr>
          <p:cNvPr id="4" name="Date Placeholder 3"/>
          <p:cNvSpPr>
            <a:spLocks noGrp="1"/>
          </p:cNvSpPr>
          <p:nvPr>
            <p:ph type="dt" sz="half" idx="10"/>
          </p:nvPr>
        </p:nvSpPr>
        <p:spPr/>
        <p:txBody>
          <a:bodyPr/>
          <a:lstStyle/>
          <a:p>
            <a:fld id="{CE99AD6F-53C9-4A70-9B6F-0AEE145DFC7B}"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828800" y="-1"/>
            <a:ext cx="7367016"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DFA to Left Linear Grammar</a:t>
            </a:r>
            <a:endParaRPr kumimoji="0" lang="en-US" sz="32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1627521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dirty="0" smtClean="0"/>
              <a:t>Following DFA is Given: </a:t>
            </a:r>
          </a:p>
          <a:p>
            <a:endParaRPr lang="en-US" sz="2200" dirty="0"/>
          </a:p>
          <a:p>
            <a:endParaRPr lang="en-US" sz="2200" dirty="0" smtClean="0"/>
          </a:p>
          <a:p>
            <a:endParaRPr lang="en-US" sz="2200" dirty="0"/>
          </a:p>
        </p:txBody>
      </p:sp>
      <p:sp>
        <p:nvSpPr>
          <p:cNvPr id="4" name="Date Placeholder 3"/>
          <p:cNvSpPr>
            <a:spLocks noGrp="1"/>
          </p:cNvSpPr>
          <p:nvPr>
            <p:ph type="dt" sz="half" idx="10"/>
          </p:nvPr>
        </p:nvSpPr>
        <p:spPr/>
        <p:txBody>
          <a:bodyPr/>
          <a:lstStyle/>
          <a:p>
            <a:fld id="{AC0FA4BF-3CE8-43EA-9735-05CDA124780E}"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600200" y="0"/>
            <a:ext cx="75438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t>DFA to Left Linear Grammar</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7480" y="2133600"/>
            <a:ext cx="3535680" cy="3064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804966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8229600" cy="4525963"/>
          </a:xfrm>
        </p:spPr>
        <p:txBody>
          <a:bodyPr>
            <a:normAutofit/>
          </a:bodyPr>
          <a:lstStyle/>
          <a:p>
            <a:r>
              <a:rPr lang="en-US" sz="2200" dirty="0" smtClean="0"/>
              <a:t>Interchange the starting state and the final state and reverse the direction of transactions, we get the transaction graph as following: </a:t>
            </a:r>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r>
              <a:rPr lang="en-US" sz="2200" dirty="0" smtClean="0"/>
              <a:t>Writing an equivalent left linear grammar, we get:</a:t>
            </a:r>
          </a:p>
          <a:p>
            <a:r>
              <a:rPr lang="en-US" sz="2200" dirty="0"/>
              <a:t>S </a:t>
            </a:r>
            <a:r>
              <a:rPr lang="en-US" sz="2200" dirty="0" smtClean="0"/>
              <a:t>→</a:t>
            </a:r>
            <a:r>
              <a:rPr lang="en-US" sz="2200" dirty="0" err="1" smtClean="0"/>
              <a:t>Ba|Ab</a:t>
            </a:r>
            <a:r>
              <a:rPr lang="en-US" sz="2200" dirty="0" smtClean="0"/>
              <a:t>, A</a:t>
            </a:r>
            <a:r>
              <a:rPr lang="en-US" sz="2200" dirty="0"/>
              <a:t> </a:t>
            </a:r>
            <a:r>
              <a:rPr lang="en-US" sz="2200" dirty="0" smtClean="0"/>
              <a:t>→</a:t>
            </a:r>
            <a:r>
              <a:rPr lang="en-US" sz="2200" dirty="0" err="1" smtClean="0"/>
              <a:t>Sb|Ca|a</a:t>
            </a:r>
            <a:endParaRPr lang="en-US" sz="2200" dirty="0" smtClean="0"/>
          </a:p>
          <a:p>
            <a:r>
              <a:rPr lang="en-US" sz="2200" dirty="0"/>
              <a:t>B </a:t>
            </a:r>
            <a:r>
              <a:rPr lang="en-US" sz="2200" dirty="0" smtClean="0"/>
              <a:t>→</a:t>
            </a:r>
            <a:r>
              <a:rPr lang="en-US" sz="2200" dirty="0" err="1" smtClean="0"/>
              <a:t>Sa|Cb|b</a:t>
            </a:r>
            <a:r>
              <a:rPr lang="en-US" sz="2200" dirty="0" smtClean="0"/>
              <a:t>, C</a:t>
            </a:r>
            <a:r>
              <a:rPr lang="en-US" sz="2200" dirty="0"/>
              <a:t> </a:t>
            </a:r>
            <a:r>
              <a:rPr lang="en-US" sz="2200" dirty="0" smtClean="0"/>
              <a:t>→</a:t>
            </a:r>
            <a:r>
              <a:rPr lang="en-US" sz="2200" dirty="0" err="1" smtClean="0"/>
              <a:t>Bb|Aa</a:t>
            </a:r>
            <a:endParaRPr lang="en-US" sz="2200" dirty="0" smtClean="0"/>
          </a:p>
          <a:p>
            <a:endParaRPr lang="en-US" sz="2200" dirty="0"/>
          </a:p>
          <a:p>
            <a:endParaRPr lang="en-US" sz="2200" dirty="0"/>
          </a:p>
        </p:txBody>
      </p:sp>
      <p:sp>
        <p:nvSpPr>
          <p:cNvPr id="4" name="Date Placeholder 3"/>
          <p:cNvSpPr>
            <a:spLocks noGrp="1"/>
          </p:cNvSpPr>
          <p:nvPr>
            <p:ph type="dt" sz="half" idx="10"/>
          </p:nvPr>
        </p:nvSpPr>
        <p:spPr/>
        <p:txBody>
          <a:bodyPr/>
          <a:lstStyle/>
          <a:p>
            <a:fld id="{C17786EE-BCF5-43A0-AF12-FC2B29E8553E}"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676400" y="0"/>
            <a:ext cx="74676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dirty="0"/>
              <a:t>DFA to Left Linear </a:t>
            </a:r>
            <a:r>
              <a:rPr lang="en-US" sz="3200" b="1" dirty="0" smtClean="0"/>
              <a:t>Grammar</a:t>
            </a:r>
            <a:r>
              <a:rPr lang="en-US" altLang="en-US" sz="3200" b="1" dirty="0"/>
              <a:t>(Continued</a:t>
            </a:r>
            <a:r>
              <a:rPr lang="en-US" altLang="en-US" sz="3200" b="1" dirty="0" smtClean="0"/>
              <a:t>)</a:t>
            </a:r>
            <a:endParaRPr lang="en-US" sz="32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0765" y="1828800"/>
            <a:ext cx="2580065" cy="2347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691326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200" dirty="0" smtClean="0"/>
              <a:t>Every left linear grammar can be represented using an equivalent DFA. Following steps are required to draw a DFA for a given left linear grammar. </a:t>
            </a:r>
          </a:p>
          <a:p>
            <a:endParaRPr lang="en-US" sz="2200" dirty="0"/>
          </a:p>
          <a:p>
            <a:r>
              <a:rPr lang="en-US" sz="2200" dirty="0" smtClean="0"/>
              <a:t>Draw a transaction graph from the given left linear grammar.</a:t>
            </a:r>
          </a:p>
          <a:p>
            <a:r>
              <a:rPr lang="en-US" sz="2200" dirty="0" smtClean="0"/>
              <a:t>Reverse the direction of all the transactions.</a:t>
            </a:r>
          </a:p>
          <a:p>
            <a:r>
              <a:rPr lang="en-US" sz="2200" dirty="0" smtClean="0"/>
              <a:t>Interchange starting state and the final state.</a:t>
            </a:r>
          </a:p>
          <a:p>
            <a:r>
              <a:rPr lang="en-US" sz="2200" dirty="0" smtClean="0"/>
              <a:t>Carry out conversion from FA to DFA. </a:t>
            </a:r>
            <a:endParaRPr lang="en-US" sz="2200" dirty="0"/>
          </a:p>
        </p:txBody>
      </p:sp>
      <p:sp>
        <p:nvSpPr>
          <p:cNvPr id="4" name="Date Placeholder 3"/>
          <p:cNvSpPr>
            <a:spLocks noGrp="1"/>
          </p:cNvSpPr>
          <p:nvPr>
            <p:ph type="dt" sz="half" idx="10"/>
          </p:nvPr>
        </p:nvSpPr>
        <p:spPr/>
        <p:txBody>
          <a:bodyPr/>
          <a:lstStyle/>
          <a:p>
            <a:fld id="{58B9316F-AF30-43EC-9528-F40EEF5F6F61}"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752600" y="0"/>
            <a:ext cx="7391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smtClean="0"/>
              <a:t>Left Linear Grammar to DFA </a:t>
            </a:r>
            <a:endParaRPr kumimoji="0" lang="en-US" sz="3200" b="1" i="0" u="none" strike="noStrike" kern="1200" cap="none" spc="0" normalizeH="0" baseline="0" noProof="0" dirty="0">
              <a:ln>
                <a:noFill/>
              </a:ln>
              <a:solidFill>
                <a:schemeClr val="dk1"/>
              </a:solidFill>
              <a:effectLst/>
              <a:uLnTx/>
              <a:uFillTx/>
            </a:endParaRPr>
          </a:p>
        </p:txBody>
      </p:sp>
    </p:spTree>
    <p:extLst>
      <p:ext uri="{BB962C8B-B14F-4D97-AF65-F5344CB8AC3E}">
        <p14:creationId xmlns:p14="http://schemas.microsoft.com/office/powerpoint/2010/main" val="242642362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26307"/>
            <a:ext cx="8229600" cy="4525963"/>
          </a:xfrm>
        </p:spPr>
        <p:txBody>
          <a:bodyPr>
            <a:noAutofit/>
          </a:bodyPr>
          <a:lstStyle/>
          <a:p>
            <a:r>
              <a:rPr lang="en-US" sz="2200" dirty="0" smtClean="0"/>
              <a:t>Following Linear grammar is given:</a:t>
            </a:r>
          </a:p>
          <a:p>
            <a:r>
              <a:rPr lang="en-US" sz="2200" dirty="0"/>
              <a:t>S </a:t>
            </a:r>
            <a:r>
              <a:rPr lang="en-US" sz="2200" dirty="0" smtClean="0"/>
              <a:t>→</a:t>
            </a:r>
            <a:r>
              <a:rPr lang="en-US" sz="2200" dirty="0" err="1" smtClean="0"/>
              <a:t>Ca|Bb</a:t>
            </a:r>
            <a:endParaRPr lang="en-US" sz="2200" dirty="0" smtClean="0"/>
          </a:p>
          <a:p>
            <a:r>
              <a:rPr lang="en-US" sz="2200" dirty="0"/>
              <a:t>C </a:t>
            </a:r>
            <a:r>
              <a:rPr lang="en-US" sz="2200" dirty="0" smtClean="0"/>
              <a:t>→Bb</a:t>
            </a:r>
          </a:p>
          <a:p>
            <a:r>
              <a:rPr lang="en-US" sz="2200" dirty="0"/>
              <a:t>B </a:t>
            </a:r>
            <a:r>
              <a:rPr lang="en-US" sz="2200" dirty="0" smtClean="0"/>
              <a:t>→</a:t>
            </a:r>
            <a:r>
              <a:rPr lang="en-US" sz="2200" dirty="0" err="1" smtClean="0"/>
              <a:t>Ba|b</a:t>
            </a:r>
            <a:endParaRPr lang="en-US" sz="2200" dirty="0" smtClean="0"/>
          </a:p>
          <a:p>
            <a:endParaRPr lang="en-US" sz="2200" dirty="0"/>
          </a:p>
          <a:p>
            <a:r>
              <a:rPr lang="en-US" sz="2200" dirty="0" smtClean="0"/>
              <a:t>Step 1: Draw a transaction graph from the given left linear grammar:</a:t>
            </a:r>
          </a:p>
          <a:p>
            <a:endParaRPr lang="en-US" sz="2200" dirty="0"/>
          </a:p>
          <a:p>
            <a:endParaRPr lang="en-US" sz="2200" dirty="0" smtClean="0"/>
          </a:p>
          <a:p>
            <a:endParaRPr lang="en-US" sz="2200" dirty="0"/>
          </a:p>
          <a:p>
            <a:endParaRPr lang="en-US" sz="2200" dirty="0" smtClean="0"/>
          </a:p>
          <a:p>
            <a:endParaRPr lang="en-US" sz="2200" dirty="0"/>
          </a:p>
          <a:p>
            <a:r>
              <a:rPr lang="en-US" sz="2200" dirty="0" smtClean="0"/>
              <a:t>D is an accepting state. It is added for the production B → b</a:t>
            </a:r>
          </a:p>
          <a:p>
            <a:endParaRPr lang="en-US" sz="2200" dirty="0"/>
          </a:p>
          <a:p>
            <a:endParaRPr lang="en-US" sz="2200" dirty="0"/>
          </a:p>
        </p:txBody>
      </p:sp>
      <p:sp>
        <p:nvSpPr>
          <p:cNvPr id="4" name="Date Placeholder 3"/>
          <p:cNvSpPr>
            <a:spLocks noGrp="1"/>
          </p:cNvSpPr>
          <p:nvPr>
            <p:ph type="dt" sz="half" idx="10"/>
          </p:nvPr>
        </p:nvSpPr>
        <p:spPr/>
        <p:txBody>
          <a:bodyPr/>
          <a:lstStyle/>
          <a:p>
            <a:fld id="{1A73DB92-EE0D-4505-BC9C-1014A8396030}"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752600" y="0"/>
            <a:ext cx="7391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t>Left Linear Grammar to DFA </a:t>
            </a:r>
            <a:r>
              <a:rPr lang="en-US" sz="3200" b="1" dirty="0" smtClean="0"/>
              <a:t>(Example)</a:t>
            </a:r>
            <a:endParaRPr lang="en-US" sz="3200" b="1"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733800"/>
            <a:ext cx="3401493" cy="1595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89828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b="1" dirty="0" smtClean="0"/>
              <a:t>Step 2:</a:t>
            </a:r>
            <a:r>
              <a:rPr lang="en-US" sz="2200" dirty="0" smtClean="0"/>
              <a:t> Reverse the direction of transaction and interchange starting state and the final state. </a:t>
            </a:r>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endParaRPr lang="en-US" sz="2200" dirty="0"/>
          </a:p>
          <a:p>
            <a:endParaRPr lang="en-US" sz="2200" dirty="0" smtClean="0"/>
          </a:p>
          <a:p>
            <a:endParaRPr lang="en-US" sz="2200" dirty="0"/>
          </a:p>
        </p:txBody>
      </p:sp>
      <p:sp>
        <p:nvSpPr>
          <p:cNvPr id="4" name="Date Placeholder 3"/>
          <p:cNvSpPr>
            <a:spLocks noGrp="1"/>
          </p:cNvSpPr>
          <p:nvPr>
            <p:ph type="dt" sz="half" idx="10"/>
          </p:nvPr>
        </p:nvSpPr>
        <p:spPr/>
        <p:txBody>
          <a:bodyPr/>
          <a:lstStyle/>
          <a:p>
            <a:fld id="{8114DE2D-D29A-444B-BC39-E76913442F93}"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752600" y="0"/>
            <a:ext cx="73914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t>Left Linear Grammar to DFA (Example</a:t>
            </a:r>
            <a:r>
              <a:rPr lang="en-US" sz="3200" b="1" dirty="0" smtClean="0"/>
              <a:t>)</a:t>
            </a:r>
            <a:endParaRPr lang="en-US" sz="3200" b="1"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9464" y="2209800"/>
            <a:ext cx="3543873" cy="2005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238661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r>
              <a:rPr lang="en-US" sz="2200" dirty="0" smtClean="0"/>
              <a:t>Conversion from FA to DFA: </a:t>
            </a:r>
          </a:p>
          <a:p>
            <a:endParaRPr lang="en-US" sz="2200" dirty="0"/>
          </a:p>
          <a:p>
            <a:endParaRPr lang="en-US" sz="2200" dirty="0"/>
          </a:p>
        </p:txBody>
      </p:sp>
      <p:sp>
        <p:nvSpPr>
          <p:cNvPr id="4" name="Date Placeholder 3"/>
          <p:cNvSpPr>
            <a:spLocks noGrp="1"/>
          </p:cNvSpPr>
          <p:nvPr>
            <p:ph type="dt" sz="half" idx="10"/>
          </p:nvPr>
        </p:nvSpPr>
        <p:spPr/>
        <p:txBody>
          <a:bodyPr/>
          <a:lstStyle/>
          <a:p>
            <a:fld id="{79C407F2-899A-4CA4-9D64-4C1CD0FF0EC3}" type="datetime1">
              <a:rPr lang="en-US" smtClean="0"/>
              <a:t>3/16/2026</a:t>
            </a:fld>
            <a:endParaRPr lang="en-US"/>
          </a:p>
        </p:txBody>
      </p:sp>
      <p:sp>
        <p:nvSpPr>
          <p:cNvPr id="9" name="Footer Placeholder 12"/>
          <p:cNvSpPr>
            <a:spLocks noGrp="1"/>
          </p:cNvSpPr>
          <p:nvPr>
            <p:ph type="ftr" sz="quarter" idx="11"/>
          </p:nvPr>
        </p:nvSpPr>
        <p:spPr>
          <a:xfrm>
            <a:off x="2286000" y="6248400"/>
            <a:ext cx="5029200" cy="365125"/>
          </a:xfrm>
        </p:spPr>
        <p:txBody>
          <a:bodyPr/>
          <a:lstStyle/>
          <a:p>
            <a:r>
              <a:rPr lang="en-US" smtClean="0"/>
              <a:t>Mr. Vivek Kumar Sharma         BCSE0404     TAFL   Unit Number: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676400" y="0"/>
            <a:ext cx="7467600" cy="685799"/>
          </a:xfrm>
          <a:prstGeom prst="rect">
            <a:avLst/>
          </a:prstGeom>
          <a:solidFill>
            <a:srgbClr val="FF9999"/>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t>Left Linear Grammar to DFA (</a:t>
            </a:r>
            <a:r>
              <a:rPr lang="en-US" sz="3200" b="1" dirty="0" smtClean="0"/>
              <a:t>Example</a:t>
            </a:r>
            <a:r>
              <a:rPr lang="en-US" sz="3200" b="1" dirty="0"/>
              <a: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905000"/>
            <a:ext cx="6293306" cy="3686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53417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103785"/>
            <a:ext cx="8229600" cy="3935620"/>
          </a:xfrm>
        </p:spPr>
        <p:txBody>
          <a:bodyPr/>
          <a:lstStyle/>
          <a:p>
            <a:endParaRPr lang="en-US" sz="1739" dirty="0"/>
          </a:p>
          <a:p>
            <a:r>
              <a:rPr lang="en-US" sz="1739" dirty="0"/>
              <a:t>NPTEL  Video Links</a:t>
            </a:r>
          </a:p>
          <a:p>
            <a:pPr lvl="1">
              <a:buNone/>
            </a:pPr>
            <a:r>
              <a:rPr lang="en-US" sz="1913" dirty="0">
                <a:hlinkClick r:id="rId2"/>
              </a:rPr>
              <a:t>https://youtu.be/vQeROGcwQs4</a:t>
            </a:r>
            <a:endParaRPr lang="en-US" sz="1913" dirty="0"/>
          </a:p>
          <a:p>
            <a:pPr lvl="1">
              <a:buNone/>
            </a:pPr>
            <a:r>
              <a:rPr lang="en-US" sz="1913" dirty="0">
                <a:hlinkClick r:id="rId3"/>
              </a:rPr>
              <a:t>https://youtu.be/XxuH_K-wzpg</a:t>
            </a:r>
            <a:endParaRPr lang="en-US" sz="1913" dirty="0"/>
          </a:p>
          <a:p>
            <a:pPr lvl="1">
              <a:buNone/>
            </a:pPr>
            <a:r>
              <a:rPr lang="en-US" sz="1913" dirty="0">
                <a:hlinkClick r:id="rId4"/>
              </a:rPr>
              <a:t>https://youtu.be/C7LqbEunJ1Y</a:t>
            </a:r>
            <a:endParaRPr lang="en-US" sz="1913" dirty="0"/>
          </a:p>
        </p:txBody>
      </p:sp>
      <p:sp>
        <p:nvSpPr>
          <p:cNvPr id="4" name="Date Placeholder 3"/>
          <p:cNvSpPr>
            <a:spLocks noGrp="1"/>
          </p:cNvSpPr>
          <p:nvPr>
            <p:ph type="dt" sz="half" idx="10"/>
          </p:nvPr>
        </p:nvSpPr>
        <p:spPr/>
        <p:txBody>
          <a:bodyPr/>
          <a:lstStyle/>
          <a:p>
            <a:fld id="{D9F4C6A4-881C-47C6-AAA7-A8478AA2381B}"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Video Links</a:t>
            </a:r>
          </a:p>
        </p:txBody>
      </p:sp>
      <p:sp>
        <p:nvSpPr>
          <p:cNvPr id="9" name="Rectangle 8"/>
          <p:cNvSpPr/>
          <p:nvPr/>
        </p:nvSpPr>
        <p:spPr>
          <a:xfrm>
            <a:off x="685800" y="1706218"/>
            <a:ext cx="8077200" cy="333168"/>
          </a:xfrm>
          <a:prstGeom prst="rect">
            <a:avLst/>
          </a:prstGeom>
        </p:spPr>
        <p:txBody>
          <a:bodyPr wrap="square">
            <a:spAutoFit/>
          </a:bodyPr>
          <a:lstStyle/>
          <a:p>
            <a:r>
              <a:rPr lang="en-US" sz="1565" dirty="0"/>
              <a:t>https://www.youtube.com/playlist?list=PLKhyqvN-JcP5AF4UzRz9wxFVBm63igm7y</a:t>
            </a:r>
          </a:p>
        </p:txBody>
      </p:sp>
      <p:sp>
        <p:nvSpPr>
          <p:cNvPr id="10" name="TextBox 9"/>
          <p:cNvSpPr txBox="1"/>
          <p:nvPr/>
        </p:nvSpPr>
        <p:spPr>
          <a:xfrm>
            <a:off x="662609" y="1374913"/>
            <a:ext cx="4572000" cy="333168"/>
          </a:xfrm>
          <a:prstGeom prst="rect">
            <a:avLst/>
          </a:prstGeom>
          <a:noFill/>
        </p:spPr>
        <p:txBody>
          <a:bodyPr wrap="square" rtlCol="0">
            <a:spAutoFit/>
          </a:bodyPr>
          <a:lstStyle/>
          <a:p>
            <a:r>
              <a:rPr lang="en-US" sz="1565" dirty="0"/>
              <a:t>My Video Channel: </a:t>
            </a:r>
          </a:p>
        </p:txBody>
      </p:sp>
    </p:spTree>
    <p:extLst>
      <p:ext uri="{BB962C8B-B14F-4D97-AF65-F5344CB8AC3E}">
        <p14:creationId xmlns:p14="http://schemas.microsoft.com/office/powerpoint/2010/main" val="1566337835"/>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1177"/>
            <a:ext cx="8229600" cy="3935620"/>
          </a:xfrm>
        </p:spPr>
        <p:txBody>
          <a:bodyPr>
            <a:normAutofit fontScale="85000" lnSpcReduction="20000"/>
          </a:bodyPr>
          <a:lstStyle/>
          <a:p>
            <a:pPr lvl="0">
              <a:buNone/>
            </a:pPr>
            <a:r>
              <a:rPr lang="en-US" dirty="0" smtClean="0"/>
              <a:t>1. If L1 and L2 are regular languages is/are also regular language(s).</a:t>
            </a:r>
          </a:p>
          <a:p>
            <a:pPr marL="447279" indent="-447279">
              <a:buFont typeface="+mj-lt"/>
              <a:buAutoNum type="alphaLcParenR"/>
            </a:pPr>
            <a:r>
              <a:rPr lang="en-US" dirty="0" smtClean="0"/>
              <a:t>L1 + L2</a:t>
            </a:r>
          </a:p>
          <a:p>
            <a:pPr marL="447279" indent="-447279">
              <a:buFont typeface="+mj-lt"/>
              <a:buAutoNum type="alphaLcParenR"/>
            </a:pPr>
            <a:r>
              <a:rPr lang="en-US" dirty="0" smtClean="0"/>
              <a:t>L1L2</a:t>
            </a:r>
          </a:p>
          <a:p>
            <a:pPr marL="447279" indent="-447279">
              <a:buFont typeface="+mj-lt"/>
              <a:buAutoNum type="alphaLcParenR"/>
            </a:pPr>
            <a:r>
              <a:rPr lang="en-US" dirty="0" smtClean="0"/>
              <a:t>L1’</a:t>
            </a:r>
          </a:p>
          <a:p>
            <a:pPr marL="447279" indent="-447279">
              <a:buFont typeface="+mj-lt"/>
              <a:buAutoNum type="alphaLcParenR"/>
            </a:pPr>
            <a:r>
              <a:rPr lang="en-US" dirty="0" smtClean="0"/>
              <a:t>All of above</a:t>
            </a:r>
          </a:p>
          <a:p>
            <a:pPr>
              <a:buNone/>
            </a:pPr>
            <a:endParaRPr lang="en-US" dirty="0" smtClean="0"/>
          </a:p>
          <a:p>
            <a:pPr lvl="0">
              <a:buNone/>
            </a:pPr>
            <a:r>
              <a:rPr lang="en-US" dirty="0" smtClean="0"/>
              <a:t>2. Every regular expression can be expressed as CFG but every CFG cannot be expressed as a regular expression. this statement is :</a:t>
            </a:r>
          </a:p>
          <a:p>
            <a:pPr marL="447279" indent="-447279">
              <a:buFont typeface="+mj-lt"/>
              <a:buAutoNum type="alphaLcParenR"/>
            </a:pPr>
            <a:r>
              <a:rPr lang="en-US" dirty="0" smtClean="0"/>
              <a:t>True</a:t>
            </a:r>
          </a:p>
          <a:p>
            <a:pPr marL="447279" indent="-447279">
              <a:buFont typeface="+mj-lt"/>
              <a:buAutoNum type="alphaLcParenR"/>
            </a:pPr>
            <a:r>
              <a:rPr lang="en-US" dirty="0" smtClean="0"/>
              <a:t> False</a:t>
            </a:r>
          </a:p>
          <a:p>
            <a:pPr marL="447279" indent="-447279">
              <a:buFont typeface="+mj-lt"/>
              <a:buAutoNum type="alphaLcParenR"/>
            </a:pPr>
            <a:r>
              <a:rPr lang="en-US" dirty="0" smtClean="0"/>
              <a:t>depends on language</a:t>
            </a:r>
          </a:p>
          <a:p>
            <a:pPr marL="447279" indent="-447279">
              <a:buFont typeface="+mj-lt"/>
              <a:buAutoNum type="alphaLcParenR"/>
            </a:pPr>
            <a:r>
              <a:rPr lang="en-US" dirty="0" smtClean="0"/>
              <a:t>None of the option</a:t>
            </a:r>
          </a:p>
          <a:p>
            <a:pPr>
              <a:buNone/>
            </a:pPr>
            <a:endParaRPr lang="en-US" dirty="0"/>
          </a:p>
        </p:txBody>
      </p:sp>
      <p:sp>
        <p:nvSpPr>
          <p:cNvPr id="4" name="Date Placeholder 3"/>
          <p:cNvSpPr>
            <a:spLocks noGrp="1"/>
          </p:cNvSpPr>
          <p:nvPr>
            <p:ph type="dt" sz="half" idx="10"/>
          </p:nvPr>
        </p:nvSpPr>
        <p:spPr/>
        <p:txBody>
          <a:bodyPr/>
          <a:lstStyle/>
          <a:p>
            <a:fld id="{F7973023-1712-4032-BB69-F78E71BBA36E}"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dirty="0"/>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Daily Quiz</a:t>
            </a:r>
          </a:p>
        </p:txBody>
      </p:sp>
    </p:spTree>
    <p:extLst>
      <p:ext uri="{BB962C8B-B14F-4D97-AF65-F5344CB8AC3E}">
        <p14:creationId xmlns:p14="http://schemas.microsoft.com/office/powerpoint/2010/main" val="180153758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3436621" y="2044148"/>
            <a:ext cx="4564380" cy="1848678"/>
          </a:xfrm>
          <a:prstGeom prst="rect">
            <a:avLst/>
          </a:prstGeom>
          <a:noFill/>
          <a:ln>
            <a:noFill/>
          </a:ln>
        </p:spPr>
      </p:pic>
      <p:sp>
        <p:nvSpPr>
          <p:cNvPr id="3" name="Content Placeholder 2"/>
          <p:cNvSpPr>
            <a:spLocks noGrp="1"/>
          </p:cNvSpPr>
          <p:nvPr>
            <p:ph idx="1"/>
          </p:nvPr>
        </p:nvSpPr>
        <p:spPr>
          <a:xfrm>
            <a:off x="533400" y="1441177"/>
            <a:ext cx="8229600" cy="3935620"/>
          </a:xfrm>
        </p:spPr>
        <p:txBody>
          <a:bodyPr>
            <a:normAutofit/>
          </a:bodyPr>
          <a:lstStyle/>
          <a:p>
            <a:pPr>
              <a:buNone/>
            </a:pPr>
            <a:r>
              <a:rPr lang="en-US" sz="1913" dirty="0" smtClean="0"/>
              <a:t>3. </a:t>
            </a:r>
            <a:r>
              <a:rPr lang="en-US" sz="1913" dirty="0"/>
              <a:t>The given NFA corresponds to which of the following Regular expressions?</a:t>
            </a:r>
          </a:p>
          <a:p>
            <a:pPr>
              <a:buNone/>
            </a:pPr>
            <a:endParaRPr lang="en-US" sz="1913" dirty="0"/>
          </a:p>
          <a:p>
            <a:pPr>
              <a:buNone/>
            </a:pPr>
            <a:endParaRPr lang="en-US" sz="1913" dirty="0"/>
          </a:p>
          <a:p>
            <a:pPr>
              <a:buNone/>
            </a:pPr>
            <a:endParaRPr lang="en-US" sz="1913" dirty="0"/>
          </a:p>
          <a:p>
            <a:pPr>
              <a:buNone/>
            </a:pPr>
            <a:endParaRPr lang="en-US" sz="1913" dirty="0"/>
          </a:p>
          <a:p>
            <a:pPr marL="447279" indent="-447279">
              <a:buFont typeface="+mj-lt"/>
              <a:buAutoNum type="alphaUcPeriod"/>
            </a:pPr>
            <a:r>
              <a:rPr lang="en-US" sz="1913" dirty="0"/>
              <a:t>(0+1) *(00+11) (0+1)</a:t>
            </a:r>
            <a:r>
              <a:rPr lang="en-US" sz="1913" baseline="30000" dirty="0"/>
              <a:t> +</a:t>
            </a:r>
          </a:p>
          <a:p>
            <a:pPr marL="447279" indent="-447279">
              <a:buFont typeface="+mj-lt"/>
              <a:buAutoNum type="alphaUcPeriod"/>
            </a:pPr>
            <a:r>
              <a:rPr lang="en-US" sz="1913" dirty="0"/>
              <a:t>(0+1) *(00+11) *(0+1) *</a:t>
            </a:r>
          </a:p>
          <a:p>
            <a:pPr marL="447279" indent="-447279">
              <a:buFont typeface="+mj-lt"/>
              <a:buAutoNum type="alphaUcPeriod"/>
            </a:pPr>
            <a:r>
              <a:rPr lang="en-US" sz="1913" dirty="0"/>
              <a:t>(0+1) *(00+11) (0+1)</a:t>
            </a:r>
          </a:p>
          <a:p>
            <a:pPr marL="447279" indent="-447279">
              <a:buFont typeface="+mj-lt"/>
              <a:buAutoNum type="alphaUcPeriod"/>
            </a:pPr>
            <a:r>
              <a:rPr lang="en-US" sz="1913" dirty="0"/>
              <a:t>(0+1) (00+11) (0+1) *</a:t>
            </a:r>
          </a:p>
          <a:p>
            <a:pPr>
              <a:buNone/>
            </a:pPr>
            <a:endParaRPr lang="en-US" sz="1913" dirty="0"/>
          </a:p>
          <a:p>
            <a:pPr>
              <a:buNone/>
            </a:pPr>
            <a:endParaRPr lang="en-US" sz="1913" dirty="0"/>
          </a:p>
        </p:txBody>
      </p:sp>
      <p:sp>
        <p:nvSpPr>
          <p:cNvPr id="4" name="Date Placeholder 3"/>
          <p:cNvSpPr>
            <a:spLocks noGrp="1"/>
          </p:cNvSpPr>
          <p:nvPr>
            <p:ph type="dt" sz="half" idx="10"/>
          </p:nvPr>
        </p:nvSpPr>
        <p:spPr/>
        <p:txBody>
          <a:bodyPr/>
          <a:lstStyle/>
          <a:p>
            <a:fld id="{96D6CC14-9CDE-4341-9854-1C3D2DF2BE49}"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dirty="0"/>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087" dirty="0"/>
              <a:t>Daily Quiz</a:t>
            </a:r>
          </a:p>
        </p:txBody>
      </p:sp>
    </p:spTree>
    <p:extLst>
      <p:ext uri="{BB962C8B-B14F-4D97-AF65-F5344CB8AC3E}">
        <p14:creationId xmlns:p14="http://schemas.microsoft.com/office/powerpoint/2010/main" val="105270738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76130"/>
            <a:ext cx="8458200" cy="4704522"/>
          </a:xfrm>
        </p:spPr>
        <p:txBody>
          <a:bodyPr>
            <a:normAutofit lnSpcReduction="10000"/>
          </a:bodyPr>
          <a:lstStyle/>
          <a:p>
            <a:pPr>
              <a:buNone/>
            </a:pPr>
            <a:r>
              <a:rPr lang="en-US" sz="2087" dirty="0" smtClean="0"/>
              <a:t>4. </a:t>
            </a:r>
            <a:r>
              <a:rPr lang="en-US" sz="2087" dirty="0"/>
              <a:t>Regular grammar is</a:t>
            </a:r>
            <a:br>
              <a:rPr lang="en-US" sz="2087" dirty="0"/>
            </a:br>
            <a:r>
              <a:rPr lang="en-US" sz="2087" dirty="0"/>
              <a:t>a) context free grammar</a:t>
            </a:r>
            <a:br>
              <a:rPr lang="en-US" sz="2087" dirty="0"/>
            </a:br>
            <a:r>
              <a:rPr lang="en-US" sz="2087" dirty="0"/>
              <a:t>b) non context free grammar</a:t>
            </a:r>
            <a:br>
              <a:rPr lang="en-US" sz="2087" dirty="0"/>
            </a:br>
            <a:r>
              <a:rPr lang="en-US" sz="2087" dirty="0"/>
              <a:t>c) English grammar</a:t>
            </a:r>
            <a:br>
              <a:rPr lang="en-US" sz="2087" dirty="0"/>
            </a:br>
            <a:r>
              <a:rPr lang="en-US" sz="2087" dirty="0"/>
              <a:t>d) none of the mentioned</a:t>
            </a:r>
            <a:endParaRPr lang="en-US" sz="1913" dirty="0"/>
          </a:p>
          <a:p>
            <a:pPr>
              <a:buNone/>
            </a:pPr>
            <a:r>
              <a:rPr lang="en-US" sz="2087" dirty="0" smtClean="0"/>
              <a:t>5. </a:t>
            </a:r>
            <a:r>
              <a:rPr lang="en-US" sz="2087" dirty="0"/>
              <a:t>Which of the following is true?</a:t>
            </a:r>
            <a:br>
              <a:rPr lang="en-US" sz="2087" dirty="0"/>
            </a:br>
            <a:r>
              <a:rPr lang="en-US" sz="2087" dirty="0"/>
              <a:t>a) Every subset of a regular set is regular</a:t>
            </a:r>
            <a:br>
              <a:rPr lang="en-US" sz="2087" dirty="0"/>
            </a:br>
            <a:r>
              <a:rPr lang="en-US" sz="2087" dirty="0"/>
              <a:t>b) Every finite subset of non-regular set is regular</a:t>
            </a:r>
            <a:br>
              <a:rPr lang="en-US" sz="2087" dirty="0"/>
            </a:br>
            <a:r>
              <a:rPr lang="en-US" sz="2087" dirty="0"/>
              <a:t>c) The union of two non regular set is not regular</a:t>
            </a:r>
            <a:br>
              <a:rPr lang="en-US" sz="2087" dirty="0"/>
            </a:br>
            <a:r>
              <a:rPr lang="en-US" sz="2087" dirty="0"/>
              <a:t>d) Infinite union of finite set is regular</a:t>
            </a:r>
          </a:p>
          <a:p>
            <a:pPr>
              <a:buNone/>
            </a:pPr>
            <a:r>
              <a:rPr lang="en-US" sz="2087" dirty="0"/>
              <a:t>6</a:t>
            </a:r>
            <a:r>
              <a:rPr lang="en-US" sz="2087" dirty="0" smtClean="0"/>
              <a:t>. </a:t>
            </a:r>
            <a:r>
              <a:rPr lang="en-US" sz="2087" dirty="0"/>
              <a:t>Regular expressions are closed under</a:t>
            </a:r>
            <a:br>
              <a:rPr lang="en-US" sz="2087" dirty="0"/>
            </a:br>
            <a:r>
              <a:rPr lang="en-US" sz="2087" dirty="0"/>
              <a:t>a) Union</a:t>
            </a:r>
            <a:br>
              <a:rPr lang="en-US" sz="2087" dirty="0"/>
            </a:br>
            <a:r>
              <a:rPr lang="en-US" sz="2087" dirty="0"/>
              <a:t>b) Intersection</a:t>
            </a:r>
            <a:br>
              <a:rPr lang="en-US" sz="2087" dirty="0"/>
            </a:br>
            <a:r>
              <a:rPr lang="en-US" sz="2087" dirty="0"/>
              <a:t>c) </a:t>
            </a:r>
            <a:r>
              <a:rPr lang="en-US" sz="2087" dirty="0" err="1"/>
              <a:t>Kleen</a:t>
            </a:r>
            <a:r>
              <a:rPr lang="en-US" sz="2087" dirty="0"/>
              <a:t> star</a:t>
            </a:r>
            <a:br>
              <a:rPr lang="en-US" sz="2087" dirty="0"/>
            </a:br>
            <a:r>
              <a:rPr lang="en-US" sz="2087" dirty="0"/>
              <a:t>d) All of the mentioned</a:t>
            </a:r>
          </a:p>
          <a:p>
            <a:pPr>
              <a:buNone/>
            </a:pPr>
            <a:endParaRPr lang="en-US" sz="1913" dirty="0"/>
          </a:p>
        </p:txBody>
      </p:sp>
      <p:sp>
        <p:nvSpPr>
          <p:cNvPr id="4" name="Date Placeholder 3"/>
          <p:cNvSpPr>
            <a:spLocks noGrp="1"/>
          </p:cNvSpPr>
          <p:nvPr>
            <p:ph type="dt" sz="half" idx="10"/>
          </p:nvPr>
        </p:nvSpPr>
        <p:spPr/>
        <p:txBody>
          <a:bodyPr/>
          <a:lstStyle/>
          <a:p>
            <a:fld id="{9489A5C5-00EE-4447-8ED7-112851514A05}"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dirty="0"/>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087" dirty="0"/>
              <a:t>Daily Quiz</a:t>
            </a:r>
          </a:p>
        </p:txBody>
      </p:sp>
    </p:spTree>
    <p:extLst>
      <p:ext uri="{BB962C8B-B14F-4D97-AF65-F5344CB8AC3E}">
        <p14:creationId xmlns:p14="http://schemas.microsoft.com/office/powerpoint/2010/main" val="259383958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E18776-77E9-46F0-922B-E2418E792531}"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Weekly Assignment</a:t>
            </a:r>
          </a:p>
        </p:txBody>
      </p:sp>
      <p:sp>
        <p:nvSpPr>
          <p:cNvPr id="9" name="Content Placeholder 8"/>
          <p:cNvSpPr>
            <a:spLocks noGrp="1"/>
          </p:cNvSpPr>
          <p:nvPr>
            <p:ph idx="1"/>
          </p:nvPr>
        </p:nvSpPr>
        <p:spPr>
          <a:xfrm>
            <a:off x="457200" y="1308652"/>
            <a:ext cx="8229600" cy="4174435"/>
          </a:xfrm>
        </p:spPr>
        <p:txBody>
          <a:bodyPr>
            <a:noAutofit/>
          </a:bodyPr>
          <a:lstStyle/>
          <a:p>
            <a:pPr lvl="0">
              <a:buNone/>
            </a:pPr>
            <a:r>
              <a:rPr lang="en-US" sz="1913" dirty="0"/>
              <a:t>1. Find a regular expression corresponding to each of the following subsets of {a. b}.			</a:t>
            </a:r>
            <a:r>
              <a:rPr lang="en-US" sz="1913" b="1" dirty="0"/>
              <a:t>[CO2]</a:t>
            </a:r>
            <a:endParaRPr lang="en-US" sz="1913" dirty="0"/>
          </a:p>
          <a:p>
            <a:pPr lvl="0"/>
            <a:r>
              <a:rPr lang="en-US" sz="1913" dirty="0"/>
              <a:t>The set of all strings containing exactly 2a’s. </a:t>
            </a:r>
          </a:p>
          <a:p>
            <a:pPr lvl="0"/>
            <a:r>
              <a:rPr lang="en-US" sz="1913" dirty="0"/>
              <a:t>The set of all strings containing at least 2a’s.</a:t>
            </a:r>
          </a:p>
          <a:p>
            <a:pPr lvl="0"/>
            <a:r>
              <a:rPr lang="en-US" sz="1913" dirty="0"/>
              <a:t>The set of all strings containing at most 2a's. </a:t>
            </a:r>
          </a:p>
          <a:p>
            <a:pPr lvl="0"/>
            <a:r>
              <a:rPr lang="en-US" sz="1913" dirty="0"/>
              <a:t>The set of a]] strings containing the substring </a:t>
            </a:r>
            <a:r>
              <a:rPr lang="en-US" sz="1913" dirty="0" err="1"/>
              <a:t>aa</a:t>
            </a:r>
            <a:r>
              <a:rPr lang="en-US" sz="1913" dirty="0"/>
              <a:t>.</a:t>
            </a:r>
          </a:p>
          <a:p>
            <a:pPr>
              <a:buNone/>
            </a:pPr>
            <a:r>
              <a:rPr lang="en-US" sz="1913" dirty="0"/>
              <a:t>2.	Find the sets represented by the following regular expressions. </a:t>
            </a:r>
            <a:r>
              <a:rPr lang="en-US" sz="1913" b="1" dirty="0"/>
              <a:t>[CO2]</a:t>
            </a:r>
            <a:endParaRPr lang="en-US" sz="1913" dirty="0"/>
          </a:p>
          <a:p>
            <a:pPr lvl="0"/>
            <a:r>
              <a:rPr lang="en-US" sz="1913" dirty="0"/>
              <a:t>(a + b)*(</a:t>
            </a:r>
            <a:r>
              <a:rPr lang="en-US" sz="1913" dirty="0" err="1"/>
              <a:t>aa</a:t>
            </a:r>
            <a:r>
              <a:rPr lang="en-US" sz="1913" dirty="0"/>
              <a:t> + bb + </a:t>
            </a:r>
            <a:r>
              <a:rPr lang="en-US" sz="1913" dirty="0" err="1"/>
              <a:t>ab</a:t>
            </a:r>
            <a:r>
              <a:rPr lang="en-US" sz="1913" dirty="0"/>
              <a:t> + </a:t>
            </a:r>
            <a:r>
              <a:rPr lang="en-US" sz="1913" dirty="0" err="1"/>
              <a:t>ba</a:t>
            </a:r>
            <a:r>
              <a:rPr lang="en-US" sz="1913" dirty="0"/>
              <a:t>)* </a:t>
            </a:r>
          </a:p>
          <a:p>
            <a:pPr lvl="0"/>
            <a:r>
              <a:rPr lang="en-US" sz="1913" dirty="0"/>
              <a:t>(</a:t>
            </a:r>
            <a:r>
              <a:rPr lang="en-US" sz="1913" dirty="0" err="1"/>
              <a:t>aa</a:t>
            </a:r>
            <a:r>
              <a:rPr lang="en-US" sz="1913" dirty="0"/>
              <a:t>)* + (</a:t>
            </a:r>
            <a:r>
              <a:rPr lang="en-US" sz="1913" dirty="0" err="1"/>
              <a:t>aaa</a:t>
            </a:r>
            <a:r>
              <a:rPr lang="en-US" sz="1913" dirty="0"/>
              <a:t>)* </a:t>
            </a:r>
          </a:p>
          <a:p>
            <a:pPr lvl="0"/>
            <a:r>
              <a:rPr lang="en-US" sz="1913" dirty="0"/>
              <a:t>(1 + 01 + 001)*(∊+ 0 + 00)</a:t>
            </a:r>
          </a:p>
          <a:p>
            <a:pPr lvl="0"/>
            <a:r>
              <a:rPr lang="en-US" sz="1913" dirty="0"/>
              <a:t>a + b(a + b)*</a:t>
            </a:r>
          </a:p>
          <a:p>
            <a:endParaRPr lang="en-US" sz="1913" dirty="0"/>
          </a:p>
        </p:txBody>
      </p:sp>
    </p:spTree>
    <p:extLst>
      <p:ext uri="{BB962C8B-B14F-4D97-AF65-F5344CB8AC3E}">
        <p14:creationId xmlns:p14="http://schemas.microsoft.com/office/powerpoint/2010/main" val="391372790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B1B1BF-D0BD-4614-B564-4907F8229BAD}"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Weekly Assignment</a:t>
            </a:r>
          </a:p>
        </p:txBody>
      </p:sp>
      <p:sp>
        <p:nvSpPr>
          <p:cNvPr id="9" name="Content Placeholder 8"/>
          <p:cNvSpPr>
            <a:spLocks noGrp="1"/>
          </p:cNvSpPr>
          <p:nvPr>
            <p:ph idx="1"/>
          </p:nvPr>
        </p:nvSpPr>
        <p:spPr>
          <a:xfrm>
            <a:off x="457200" y="1308652"/>
            <a:ext cx="8229600" cy="4174435"/>
          </a:xfrm>
        </p:spPr>
        <p:txBody>
          <a:bodyPr>
            <a:noAutofit/>
          </a:bodyPr>
          <a:lstStyle/>
          <a:p>
            <a:pPr marL="397581" indent="-397581">
              <a:buFont typeface="+mj-lt"/>
              <a:buAutoNum type="arabicPeriod" startAt="3"/>
            </a:pPr>
            <a:r>
              <a:rPr lang="en-US" sz="2087" dirty="0"/>
              <a:t>Prove the identity: (a*</a:t>
            </a:r>
            <a:r>
              <a:rPr lang="en-US" sz="2087" dirty="0" err="1"/>
              <a:t>ab</a:t>
            </a:r>
            <a:r>
              <a:rPr lang="en-US" sz="2087" dirty="0"/>
              <a:t> + </a:t>
            </a:r>
            <a:r>
              <a:rPr lang="en-US" sz="2087" dirty="0" err="1"/>
              <a:t>ba</a:t>
            </a:r>
            <a:r>
              <a:rPr lang="en-US" sz="2087" dirty="0"/>
              <a:t>)*a* = (a + </a:t>
            </a:r>
            <a:r>
              <a:rPr lang="en-US" sz="2087" dirty="0" err="1"/>
              <a:t>ab</a:t>
            </a:r>
            <a:r>
              <a:rPr lang="en-US" sz="2087" dirty="0"/>
              <a:t> + </a:t>
            </a:r>
            <a:r>
              <a:rPr lang="en-US" sz="2087" dirty="0" err="1"/>
              <a:t>ba</a:t>
            </a:r>
            <a:r>
              <a:rPr lang="en-US" sz="2087" dirty="0"/>
              <a:t>)*							</a:t>
            </a:r>
            <a:r>
              <a:rPr lang="en-US" sz="2087" b="1" dirty="0"/>
              <a:t>[CO2]</a:t>
            </a:r>
            <a:endParaRPr lang="en-US" sz="2087" dirty="0"/>
          </a:p>
          <a:p>
            <a:pPr marL="397581" indent="-397581">
              <a:buFont typeface="+mj-lt"/>
              <a:buAutoNum type="arabicPeriod" startAt="3"/>
            </a:pPr>
            <a:r>
              <a:rPr lang="en-US" sz="2087" dirty="0" smtClean="0"/>
              <a:t>Find </a:t>
            </a:r>
            <a:r>
              <a:rPr lang="en-US" sz="2087" dirty="0"/>
              <a:t>the regular expression corresponding to the automaton given in Fig.</a:t>
            </a:r>
          </a:p>
          <a:p>
            <a:pPr lvl="0">
              <a:buNone/>
            </a:pPr>
            <a:endParaRPr lang="en-US" sz="1913" dirty="0"/>
          </a:p>
        </p:txBody>
      </p:sp>
      <p:pic>
        <p:nvPicPr>
          <p:cNvPr id="10" name="Image2"/>
          <p:cNvPicPr/>
          <p:nvPr/>
        </p:nvPicPr>
        <p:blipFill>
          <a:blip r:embed="rId2"/>
          <a:stretch>
            <a:fillRect/>
          </a:stretch>
        </p:blipFill>
        <p:spPr bwMode="auto">
          <a:xfrm>
            <a:off x="2713978" y="2617304"/>
            <a:ext cx="2552700" cy="1557130"/>
          </a:xfrm>
          <a:prstGeom prst="rect">
            <a:avLst/>
          </a:prstGeom>
        </p:spPr>
      </p:pic>
    </p:spTree>
    <p:extLst>
      <p:ext uri="{BB962C8B-B14F-4D97-AF65-F5344CB8AC3E}">
        <p14:creationId xmlns:p14="http://schemas.microsoft.com/office/powerpoint/2010/main" val="186445949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6A0EF79-1629-46B0-94C9-F395EAA2C462}" type="datetime1">
              <a:rPr lang="en-US" smtClean="0"/>
              <a:t>3/16/2026</a:t>
            </a:fld>
            <a:endParaRPr lang="en-US"/>
          </a:p>
        </p:txBody>
      </p:sp>
      <p:sp>
        <p:nvSpPr>
          <p:cNvPr id="5" name="Footer Placeholder 4"/>
          <p:cNvSpPr>
            <a:spLocks noGrp="1"/>
          </p:cNvSpPr>
          <p:nvPr>
            <p:ph type="ftr" sz="quarter" idx="11"/>
          </p:nvPr>
        </p:nvSpPr>
        <p:spPr>
          <a:xfrm>
            <a:off x="2514600" y="5974525"/>
            <a:ext cx="50292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447264"/>
            <a:ext cx="7772400" cy="710577"/>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Weekly Assignment</a:t>
            </a:r>
          </a:p>
        </p:txBody>
      </p:sp>
      <p:sp>
        <p:nvSpPr>
          <p:cNvPr id="9" name="Content Placeholder 8"/>
          <p:cNvSpPr>
            <a:spLocks noGrp="1"/>
          </p:cNvSpPr>
          <p:nvPr>
            <p:ph idx="1"/>
          </p:nvPr>
        </p:nvSpPr>
        <p:spPr>
          <a:xfrm>
            <a:off x="457200" y="1308652"/>
            <a:ext cx="8229600" cy="4174435"/>
          </a:xfrm>
        </p:spPr>
        <p:txBody>
          <a:bodyPr>
            <a:noAutofit/>
          </a:bodyPr>
          <a:lstStyle/>
          <a:p>
            <a:pPr lvl="0">
              <a:buNone/>
            </a:pPr>
            <a:r>
              <a:rPr lang="en-US" sz="2087" dirty="0" smtClean="0"/>
              <a:t>5.</a:t>
            </a:r>
            <a:r>
              <a:rPr lang="en-US" sz="2087" dirty="0"/>
              <a:t>	State and prove Arden’s theorem. Give a regular expression for the Finite Automaton M=[{A ,B, C, D}, {a, b}, δ, A, {A}] where δ is given below:			</a:t>
            </a:r>
            <a:r>
              <a:rPr lang="en-US" sz="2087" b="1" dirty="0"/>
              <a:t>[CO2]</a:t>
            </a:r>
            <a:endParaRPr lang="en-US" sz="2087" dirty="0"/>
          </a:p>
          <a:p>
            <a:pPr lvl="1"/>
            <a:r>
              <a:rPr lang="en-US" sz="1565" dirty="0"/>
              <a:t>δ (A, a) = B		            δ (A, b) = C</a:t>
            </a:r>
          </a:p>
          <a:p>
            <a:pPr lvl="1"/>
            <a:r>
              <a:rPr lang="en-US" sz="1565" dirty="0"/>
              <a:t>δ (B, a) = D			δ (B, b) = A</a:t>
            </a:r>
          </a:p>
          <a:p>
            <a:pPr lvl="1"/>
            <a:r>
              <a:rPr lang="en-US" sz="1565" dirty="0"/>
              <a:t>δ (C, a} = A			δ (C, b) = D</a:t>
            </a:r>
          </a:p>
          <a:p>
            <a:pPr lvl="1"/>
            <a:r>
              <a:rPr lang="en-US" sz="1565" dirty="0"/>
              <a:t>δ (D, a) = D 			δ (D, b) = D</a:t>
            </a:r>
          </a:p>
          <a:p>
            <a:pPr>
              <a:buNone/>
            </a:pPr>
            <a:r>
              <a:rPr lang="en-US" sz="2087" dirty="0"/>
              <a:t> </a:t>
            </a:r>
          </a:p>
          <a:p>
            <a:pPr lvl="0">
              <a:buNone/>
            </a:pPr>
            <a:endParaRPr lang="en-US" sz="2087" dirty="0"/>
          </a:p>
          <a:p>
            <a:pPr lvl="0">
              <a:buNone/>
            </a:pPr>
            <a:endParaRPr lang="en-US" sz="1913" dirty="0"/>
          </a:p>
        </p:txBody>
      </p:sp>
    </p:spTree>
    <p:extLst>
      <p:ext uri="{BB962C8B-B14F-4D97-AF65-F5344CB8AC3E}">
        <p14:creationId xmlns:p14="http://schemas.microsoft.com/office/powerpoint/2010/main" val="314278135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1177"/>
            <a:ext cx="8229600" cy="3935620"/>
          </a:xfrm>
        </p:spPr>
        <p:txBody>
          <a:bodyPr>
            <a:normAutofit lnSpcReduction="10000"/>
          </a:bodyPr>
          <a:lstStyle/>
          <a:p>
            <a:pPr lvl="0">
              <a:buNone/>
            </a:pPr>
            <a:r>
              <a:rPr lang="en-US" sz="1913" dirty="0"/>
              <a:t>Let a Grammar G is defined by the production </a:t>
            </a:r>
            <a:r>
              <a:rPr lang="en-US" sz="1913" dirty="0" err="1"/>
              <a:t>S</a:t>
            </a:r>
            <a:r>
              <a:rPr lang="en-US" sz="1913" dirty="0" err="1">
                <a:sym typeface="Wingdings"/>
              </a:rPr>
              <a:t></a:t>
            </a:r>
            <a:r>
              <a:rPr lang="en-US" sz="1913" dirty="0" err="1"/>
              <a:t>aS</a:t>
            </a:r>
            <a:r>
              <a:rPr lang="en-US" sz="1913" dirty="0"/>
              <a:t> | </a:t>
            </a:r>
            <a:r>
              <a:rPr lang="en-US" sz="1913" dirty="0" err="1"/>
              <a:t>bS</a:t>
            </a:r>
            <a:r>
              <a:rPr lang="en-US" sz="1913" dirty="0"/>
              <a:t> , then language generated by Grammar is defined as</a:t>
            </a:r>
          </a:p>
          <a:p>
            <a:pPr marL="397581" indent="-397581">
              <a:buFont typeface="+mj-lt"/>
              <a:buAutoNum type="alphaUcPeriod"/>
            </a:pPr>
            <a:r>
              <a:rPr lang="en-US" sz="1913" b="1" dirty="0"/>
              <a:t>Φ</a:t>
            </a:r>
          </a:p>
          <a:p>
            <a:pPr marL="397581" indent="-397581">
              <a:buFont typeface="+mj-lt"/>
              <a:buAutoNum type="alphaUcPeriod"/>
            </a:pPr>
            <a:r>
              <a:rPr lang="en-US" sz="1913" dirty="0"/>
              <a:t>∊</a:t>
            </a:r>
          </a:p>
          <a:p>
            <a:pPr marL="397581" indent="-397581">
              <a:buFont typeface="+mj-lt"/>
              <a:buAutoNum type="alphaUcPeriod"/>
            </a:pPr>
            <a:r>
              <a:rPr lang="en-US" sz="1913" dirty="0"/>
              <a:t>{</a:t>
            </a:r>
            <a:r>
              <a:rPr lang="en-US" sz="1913" dirty="0" err="1"/>
              <a:t>a,b</a:t>
            </a:r>
            <a:r>
              <a:rPr lang="en-US" sz="1913" dirty="0"/>
              <a:t>}*</a:t>
            </a:r>
          </a:p>
          <a:p>
            <a:pPr marL="397581" indent="-397581">
              <a:buFont typeface="+mj-lt"/>
              <a:buAutoNum type="alphaUcPeriod"/>
            </a:pPr>
            <a:r>
              <a:rPr lang="en-US" sz="1913" dirty="0"/>
              <a:t> {</a:t>
            </a:r>
            <a:r>
              <a:rPr lang="en-US" sz="1913" dirty="0" err="1"/>
              <a:t>a,b</a:t>
            </a:r>
            <a:r>
              <a:rPr lang="en-US" sz="1913" dirty="0"/>
              <a:t>}+</a:t>
            </a:r>
          </a:p>
          <a:p>
            <a:pPr lvl="0">
              <a:buNone/>
            </a:pPr>
            <a:endParaRPr lang="en-US" sz="1913" dirty="0"/>
          </a:p>
          <a:p>
            <a:pPr lvl="0">
              <a:buNone/>
            </a:pPr>
            <a:r>
              <a:rPr lang="en-US" sz="1913" dirty="0"/>
              <a:t>Which of the following is true?</a:t>
            </a:r>
          </a:p>
          <a:p>
            <a:pPr marL="397581" indent="-397581">
              <a:buFont typeface="+mj-lt"/>
              <a:buAutoNum type="alphaUcPeriod"/>
            </a:pPr>
            <a:r>
              <a:rPr lang="en-US" sz="1913" dirty="0"/>
              <a:t>(01)*0 = 00(10)*</a:t>
            </a:r>
          </a:p>
          <a:p>
            <a:pPr marL="397581" indent="-397581">
              <a:buFont typeface="+mj-lt"/>
              <a:buAutoNum type="alphaUcPeriod"/>
            </a:pPr>
            <a:r>
              <a:rPr lang="en-US" sz="1913" b="1" dirty="0"/>
              <a:t>(0+1)*0(0+1)*1(0+1) = (0+1)*01(0+1)*</a:t>
            </a:r>
          </a:p>
          <a:p>
            <a:pPr marL="397581" indent="-397581">
              <a:buFont typeface="+mj-lt"/>
              <a:buAutoNum type="alphaUcPeriod"/>
            </a:pPr>
            <a:r>
              <a:rPr lang="en-US" sz="1913" dirty="0"/>
              <a:t>(0+1)*01(00+1)*+1*0* = (0+1)*</a:t>
            </a:r>
          </a:p>
          <a:p>
            <a:pPr marL="397581" indent="-397581">
              <a:buFont typeface="+mj-lt"/>
              <a:buAutoNum type="alphaUcPeriod"/>
            </a:pPr>
            <a:r>
              <a:rPr lang="en-US" sz="1913" dirty="0"/>
              <a:t>All of the mentioned</a:t>
            </a:r>
          </a:p>
          <a:p>
            <a:pPr lvl="0">
              <a:buNone/>
            </a:pPr>
            <a:endParaRPr lang="en-US" dirty="0" smtClean="0"/>
          </a:p>
          <a:p>
            <a:pPr>
              <a:buNone/>
            </a:pPr>
            <a:endParaRPr lang="en-US" dirty="0"/>
          </a:p>
        </p:txBody>
      </p:sp>
      <p:sp>
        <p:nvSpPr>
          <p:cNvPr id="4" name="Date Placeholder 3"/>
          <p:cNvSpPr>
            <a:spLocks noGrp="1"/>
          </p:cNvSpPr>
          <p:nvPr>
            <p:ph type="dt" sz="half" idx="10"/>
          </p:nvPr>
        </p:nvSpPr>
        <p:spPr/>
        <p:txBody>
          <a:bodyPr/>
          <a:lstStyle/>
          <a:p>
            <a:fld id="{146BD79A-1CB1-4EB2-A35B-BF7DD8D0FB42}" type="datetime1">
              <a:rPr lang="en-US" smtClean="0"/>
              <a:t>3/16/2026</a:t>
            </a:fld>
            <a:endParaRPr lang="en-US"/>
          </a:p>
        </p:txBody>
      </p:sp>
      <p:sp>
        <p:nvSpPr>
          <p:cNvPr id="5" name="Footer Placeholder 4"/>
          <p:cNvSpPr>
            <a:spLocks noGrp="1"/>
          </p:cNvSpPr>
          <p:nvPr>
            <p:ph type="ftr" sz="quarter" idx="11"/>
          </p:nvPr>
        </p:nvSpPr>
        <p:spPr>
          <a:xfrm>
            <a:off x="2514600" y="5946916"/>
            <a:ext cx="4876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447264"/>
            <a:ext cx="7772400" cy="710576"/>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MCQ s</a:t>
            </a:r>
          </a:p>
        </p:txBody>
      </p:sp>
    </p:spTree>
    <p:extLst>
      <p:ext uri="{BB962C8B-B14F-4D97-AF65-F5344CB8AC3E}">
        <p14:creationId xmlns:p14="http://schemas.microsoft.com/office/powerpoint/2010/main" val="159855068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41177"/>
            <a:ext cx="8229600" cy="3935620"/>
          </a:xfrm>
        </p:spPr>
        <p:txBody>
          <a:bodyPr>
            <a:normAutofit fontScale="85000" lnSpcReduction="20000"/>
          </a:bodyPr>
          <a:lstStyle/>
          <a:p>
            <a:pPr lvl="0">
              <a:buNone/>
            </a:pPr>
            <a:r>
              <a:rPr lang="en-US" sz="2261" dirty="0"/>
              <a:t>Which among the following looks similar to the given expression? 	((0+1). (0+1))*</a:t>
            </a:r>
          </a:p>
          <a:p>
            <a:pPr marL="447279" indent="-447279">
              <a:buFont typeface="+mj-lt"/>
              <a:buAutoNum type="alphaUcPeriod"/>
            </a:pPr>
            <a:r>
              <a:rPr lang="en-US" sz="2261" b="1" dirty="0"/>
              <a:t>{xϵ {0,1} *|x is all binary number with even length}</a:t>
            </a:r>
          </a:p>
          <a:p>
            <a:pPr marL="447279" indent="-447279">
              <a:buFont typeface="+mj-lt"/>
              <a:buAutoNum type="alphaUcPeriod"/>
            </a:pPr>
            <a:r>
              <a:rPr lang="en-US" sz="2261" dirty="0"/>
              <a:t>{xϵ {0,1} |x is all binary number with even length}</a:t>
            </a:r>
          </a:p>
          <a:p>
            <a:pPr marL="447279" indent="-447279">
              <a:buFont typeface="+mj-lt"/>
              <a:buAutoNum type="alphaUcPeriod"/>
            </a:pPr>
            <a:r>
              <a:rPr lang="en-US" sz="2261" dirty="0"/>
              <a:t>{xϵ {0,1} *|x is all binary number with odd length}</a:t>
            </a:r>
          </a:p>
          <a:p>
            <a:pPr marL="447279" indent="-447279">
              <a:buFont typeface="+mj-lt"/>
              <a:buAutoNum type="alphaUcPeriod"/>
            </a:pPr>
            <a:r>
              <a:rPr lang="en-US" sz="2261" dirty="0"/>
              <a:t>{xϵ {0,1} |x is all binary number with odd length}</a:t>
            </a:r>
          </a:p>
          <a:p>
            <a:pPr marL="447279" indent="-447279">
              <a:buFont typeface="+mj-lt"/>
              <a:buAutoNum type="alphaUcPeriod"/>
            </a:pPr>
            <a:endParaRPr lang="en-US" sz="2261" dirty="0"/>
          </a:p>
          <a:p>
            <a:pPr lvl="0">
              <a:buNone/>
            </a:pPr>
            <a:r>
              <a:rPr lang="en-US" sz="2261" dirty="0"/>
              <a:t>Which of the following represents a language which has no pair of consecutive 1’s if ∑= {0,1}?</a:t>
            </a:r>
          </a:p>
          <a:p>
            <a:pPr marL="447279" indent="-447279">
              <a:buAutoNum type="alphaUcPeriod"/>
            </a:pPr>
            <a:r>
              <a:rPr lang="en-US" sz="2261" b="1" dirty="0"/>
              <a:t>(0+10)*(1+ε)</a:t>
            </a:r>
          </a:p>
          <a:p>
            <a:pPr marL="447279" indent="-447279">
              <a:buAutoNum type="alphaUcPeriod"/>
            </a:pPr>
            <a:r>
              <a:rPr lang="en-US" sz="2261" dirty="0"/>
              <a:t>(0+10)*(1+ε)*</a:t>
            </a:r>
          </a:p>
          <a:p>
            <a:pPr marL="447279" indent="-447279">
              <a:buAutoNum type="alphaUcPeriod"/>
            </a:pPr>
            <a:r>
              <a:rPr lang="en-US" sz="2261" dirty="0"/>
              <a:t>(0+101)*(0+ε)</a:t>
            </a:r>
          </a:p>
          <a:p>
            <a:pPr marL="447279" indent="-447279">
              <a:buAutoNum type="alphaUcPeriod"/>
            </a:pPr>
            <a:r>
              <a:rPr lang="en-US" sz="2261" dirty="0"/>
              <a:t>(1+010)*(1+ε)</a:t>
            </a:r>
          </a:p>
          <a:p>
            <a:pPr>
              <a:buNone/>
            </a:pPr>
            <a:endParaRPr lang="en-US" dirty="0" smtClean="0"/>
          </a:p>
          <a:p>
            <a:pPr lvl="0">
              <a:buNone/>
            </a:pPr>
            <a:endParaRPr lang="en-US" dirty="0" smtClean="0"/>
          </a:p>
          <a:p>
            <a:pPr>
              <a:buNone/>
            </a:pPr>
            <a:endParaRPr lang="en-US" dirty="0"/>
          </a:p>
        </p:txBody>
      </p:sp>
      <p:sp>
        <p:nvSpPr>
          <p:cNvPr id="4" name="Date Placeholder 3"/>
          <p:cNvSpPr>
            <a:spLocks noGrp="1"/>
          </p:cNvSpPr>
          <p:nvPr>
            <p:ph type="dt" sz="half" idx="10"/>
          </p:nvPr>
        </p:nvSpPr>
        <p:spPr/>
        <p:txBody>
          <a:bodyPr/>
          <a:lstStyle/>
          <a:p>
            <a:fld id="{ED658D55-2EB1-4B03-B420-5335ABAD4158}" type="datetime1">
              <a:rPr lang="en-US" smtClean="0"/>
              <a:t>3/16/2026</a:t>
            </a:fld>
            <a:endParaRPr lang="en-US"/>
          </a:p>
        </p:txBody>
      </p:sp>
      <p:sp>
        <p:nvSpPr>
          <p:cNvPr id="5" name="Footer Placeholder 4"/>
          <p:cNvSpPr>
            <a:spLocks noGrp="1"/>
          </p:cNvSpPr>
          <p:nvPr>
            <p:ph type="ftr" sz="quarter" idx="11"/>
          </p:nvPr>
        </p:nvSpPr>
        <p:spPr>
          <a:xfrm>
            <a:off x="2514600" y="5946916"/>
            <a:ext cx="4876800" cy="317500"/>
          </a:xfrm>
        </p:spPr>
        <p:txBody>
          <a:bodyPr/>
          <a:lstStyle/>
          <a:p>
            <a:r>
              <a:rPr lang="en-US" smtClean="0"/>
              <a:t>Vivek Kumar Sharma     BCSE0404(TAFL) (Unit II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447264"/>
            <a:ext cx="7772400" cy="710576"/>
          </a:xfrm>
          <a:prstGeom prst="rect">
            <a:avLst/>
          </a:prstGeom>
        </p:spPr>
        <p:style>
          <a:lnRef idx="1">
            <a:schemeClr val="accent5"/>
          </a:lnRef>
          <a:fillRef idx="2">
            <a:schemeClr val="accent5"/>
          </a:fillRef>
          <a:effectRef idx="1">
            <a:schemeClr val="accent5"/>
          </a:effectRef>
          <a:fontRef idx="minor">
            <a:schemeClr val="dk1"/>
          </a:fontRef>
        </p:style>
        <p:txBody>
          <a:bodyPr vert="horz" lIns="79513" tIns="39757" rIns="79513" bIns="39757" rtlCol="0" anchor="ctr">
            <a:noAutofit/>
          </a:bodyPr>
          <a:lstStyle/>
          <a:p>
            <a:pPr algn="ctr" defTabSz="795162">
              <a:spcBef>
                <a:spcPct val="0"/>
              </a:spcBef>
              <a:defRPr/>
            </a:pPr>
            <a:r>
              <a:rPr lang="en-US" sz="2783" dirty="0"/>
              <a:t>MCQ s</a:t>
            </a:r>
          </a:p>
        </p:txBody>
      </p:sp>
    </p:spTree>
    <p:extLst>
      <p:ext uri="{BB962C8B-B14F-4D97-AF65-F5344CB8AC3E}">
        <p14:creationId xmlns:p14="http://schemas.microsoft.com/office/powerpoint/2010/main" val="57141131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990600"/>
            <a:ext cx="8229600" cy="4525963"/>
          </a:xfrm>
        </p:spPr>
        <p:txBody>
          <a:bodyPr/>
          <a:lstStyle/>
          <a:p>
            <a:pPr marL="457200" indent="-457200" algn="just">
              <a:buFont typeface="+mj-lt"/>
              <a:buAutoNum type="arabicPeriod"/>
            </a:pPr>
            <a:r>
              <a:rPr lang="en-US" sz="2400" dirty="0">
                <a:ea typeface="Calibri"/>
                <a:cs typeface="Times New Roman"/>
              </a:rPr>
              <a:t>Introduce students to the concepts of scanner how a lexical </a:t>
            </a:r>
            <a:r>
              <a:rPr lang="en-US" sz="2400" dirty="0" smtClean="0">
                <a:ea typeface="Calibri"/>
                <a:cs typeface="Times New Roman"/>
              </a:rPr>
              <a:t>analyzer </a:t>
            </a:r>
            <a:r>
              <a:rPr lang="en-US" sz="2400" dirty="0">
                <a:ea typeface="Calibri"/>
                <a:cs typeface="Times New Roman"/>
              </a:rPr>
              <a:t>work in compiler designing</a:t>
            </a:r>
          </a:p>
        </p:txBody>
      </p:sp>
      <p:sp>
        <p:nvSpPr>
          <p:cNvPr id="4" name="Date Placeholder 3"/>
          <p:cNvSpPr>
            <a:spLocks noGrp="1"/>
          </p:cNvSpPr>
          <p:nvPr>
            <p:ph type="dt" sz="quarter" idx="10"/>
          </p:nvPr>
        </p:nvSpPr>
        <p:spPr/>
        <p:txBody>
          <a:bodyPr/>
          <a:lstStyle/>
          <a:p>
            <a:pPr>
              <a:defRPr/>
            </a:pPr>
            <a:fld id="{C8BE697F-CB5D-4039-B813-90D91A61C23D}"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86</a:t>
            </a:fld>
            <a:endParaRPr lang="en-US"/>
          </a:p>
        </p:txBody>
      </p:sp>
      <p:sp>
        <p:nvSpPr>
          <p:cNvPr id="7" name="Title 1"/>
          <p:cNvSpPr txBox="1">
            <a:spLocks/>
          </p:cNvSpPr>
          <p:nvPr/>
        </p:nvSpPr>
        <p:spPr>
          <a:xfrm>
            <a:off x="1600200" y="152400"/>
            <a:ext cx="7315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t>Topic Objective(CO1)</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Tree>
    <p:extLst>
      <p:ext uri="{BB962C8B-B14F-4D97-AF65-F5344CB8AC3E}">
        <p14:creationId xmlns:p14="http://schemas.microsoft.com/office/powerpoint/2010/main" val="346725966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990600"/>
            <a:ext cx="8229600" cy="4525963"/>
          </a:xfrm>
        </p:spPr>
        <p:txBody>
          <a:bodyPr/>
          <a:lstStyle/>
          <a:p>
            <a:r>
              <a:rPr lang="en-US" dirty="0"/>
              <a:t>Lexical Analyzer coverts Source Program into Stream of Tokens.</a:t>
            </a:r>
          </a:p>
          <a:p>
            <a:endParaRPr lang="en-US" dirty="0"/>
          </a:p>
          <a:p>
            <a:r>
              <a:rPr lang="en-US" dirty="0"/>
              <a:t>Also called Scanning Phase</a:t>
            </a:r>
            <a:r>
              <a:rPr lang="en-US" dirty="0" smtClean="0"/>
              <a:t>.</a:t>
            </a:r>
            <a:endParaRPr lang="en-US" dirty="0">
              <a:ea typeface="Calibri"/>
              <a:cs typeface="Times New Roman"/>
            </a:endParaRPr>
          </a:p>
          <a:p>
            <a:endParaRPr lang="en-US" dirty="0">
              <a:ea typeface="Calibri"/>
              <a:cs typeface="Times New Roman"/>
            </a:endParaRPr>
          </a:p>
          <a:p>
            <a:r>
              <a:rPr lang="en-US" dirty="0" smtClean="0">
                <a:ea typeface="Calibri"/>
                <a:cs typeface="Times New Roman"/>
              </a:rPr>
              <a:t>Lexical Analyzer’s main task is to read the input characters and produce output as sequence of tokens that the parser uses for syntax analysis.</a:t>
            </a:r>
            <a:endParaRPr lang="en-US" dirty="0"/>
          </a:p>
        </p:txBody>
      </p:sp>
      <p:sp>
        <p:nvSpPr>
          <p:cNvPr id="4" name="Date Placeholder 3"/>
          <p:cNvSpPr>
            <a:spLocks noGrp="1"/>
          </p:cNvSpPr>
          <p:nvPr>
            <p:ph type="dt" sz="quarter" idx="10"/>
          </p:nvPr>
        </p:nvSpPr>
        <p:spPr/>
        <p:txBody>
          <a:bodyPr/>
          <a:lstStyle/>
          <a:p>
            <a:pPr>
              <a:defRPr/>
            </a:pPr>
            <a:fld id="{C8BE697F-CB5D-4039-B813-90D91A61C23D}"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87</a:t>
            </a:fld>
            <a:endParaRPr lang="en-US"/>
          </a:p>
        </p:txBody>
      </p:sp>
      <p:sp>
        <p:nvSpPr>
          <p:cNvPr id="7" name="Title 1"/>
          <p:cNvSpPr txBox="1">
            <a:spLocks/>
          </p:cNvSpPr>
          <p:nvPr/>
        </p:nvSpPr>
        <p:spPr>
          <a:xfrm>
            <a:off x="1600200" y="152400"/>
            <a:ext cx="7315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Lexical </a:t>
            </a:r>
            <a:r>
              <a:rPr lang="en-US" sz="3200" dirty="0" err="1" smtClean="0"/>
              <a:t>Analyszer</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Tree>
    <p:extLst>
      <p:ext uri="{BB962C8B-B14F-4D97-AF65-F5344CB8AC3E}">
        <p14:creationId xmlns:p14="http://schemas.microsoft.com/office/powerpoint/2010/main" val="32971774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2"/>
          <p:cNvSpPr>
            <a:spLocks noGrp="1"/>
          </p:cNvSpPr>
          <p:nvPr>
            <p:ph idx="1"/>
          </p:nvPr>
        </p:nvSpPr>
        <p:spPr>
          <a:xfrm>
            <a:off x="228600" y="1143000"/>
            <a:ext cx="8534400" cy="4525963"/>
          </a:xfrm>
        </p:spPr>
        <p:txBody>
          <a:bodyPr/>
          <a:lstStyle/>
          <a:p>
            <a:pPr eaLnBrk="1" hangingPunct="1"/>
            <a:r>
              <a:rPr lang="en-US" sz="2400" dirty="0"/>
              <a:t>Interface diagram of Lexical Analysis</a:t>
            </a:r>
            <a:endParaRPr lang="en-US" dirty="0"/>
          </a:p>
        </p:txBody>
      </p:sp>
      <p:sp>
        <p:nvSpPr>
          <p:cNvPr id="4" name="Date Placeholder 3"/>
          <p:cNvSpPr>
            <a:spLocks noGrp="1"/>
          </p:cNvSpPr>
          <p:nvPr>
            <p:ph type="dt" sz="quarter" idx="10"/>
          </p:nvPr>
        </p:nvSpPr>
        <p:spPr/>
        <p:txBody>
          <a:bodyPr/>
          <a:lstStyle/>
          <a:p>
            <a:pPr>
              <a:defRPr/>
            </a:pPr>
            <a:fld id="{2655CF1C-DD25-4A45-9029-07729533897A}"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1C875A38-9C2B-4D0D-AABA-018AE4F39A87}" type="slidenum">
              <a:rPr lang="en-US"/>
              <a:pPr>
                <a:defRPr/>
              </a:pPr>
              <a:t>88</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Lexical Analysis</a:t>
            </a:r>
            <a:r>
              <a:rPr lang="en-US" sz="3200" b="1" dirty="0"/>
              <a:t>(CO1)</a:t>
            </a:r>
            <a:endParaRPr lang="en-US" sz="3200" dirty="0"/>
          </a:p>
        </p:txBody>
      </p:sp>
      <p:grpSp>
        <p:nvGrpSpPr>
          <p:cNvPr id="2" name="Group 7"/>
          <p:cNvGrpSpPr>
            <a:grpSpLocks/>
          </p:cNvGrpSpPr>
          <p:nvPr/>
        </p:nvGrpSpPr>
        <p:grpSpPr bwMode="auto">
          <a:xfrm>
            <a:off x="381000" y="2209800"/>
            <a:ext cx="8197850" cy="3352800"/>
            <a:chOff x="-849807" y="2590800"/>
            <a:chExt cx="10158365" cy="3311525"/>
          </a:xfrm>
        </p:grpSpPr>
        <p:sp>
          <p:nvSpPr>
            <p:cNvPr id="9" name="Rounded Rectangle 8"/>
            <p:cNvSpPr/>
            <p:nvPr/>
          </p:nvSpPr>
          <p:spPr>
            <a:xfrm>
              <a:off x="1447823" y="2742892"/>
              <a:ext cx="2057640" cy="9141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dirty="0">
                  <a:latin typeface="+mj-lt"/>
                </a:rPr>
                <a:t>Lexical Analyzer</a:t>
              </a:r>
            </a:p>
          </p:txBody>
        </p:sp>
        <p:sp>
          <p:nvSpPr>
            <p:cNvPr id="10" name="Rounded Rectangle 9"/>
            <p:cNvSpPr/>
            <p:nvPr/>
          </p:nvSpPr>
          <p:spPr>
            <a:xfrm>
              <a:off x="5486384" y="2742892"/>
              <a:ext cx="2057640" cy="9141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dirty="0">
                  <a:latin typeface="+mj-lt"/>
                </a:rPr>
                <a:t>Syntax Analysis</a:t>
              </a:r>
            </a:p>
          </p:txBody>
        </p:sp>
        <p:cxnSp>
          <p:nvCxnSpPr>
            <p:cNvPr id="11" name="Straight Arrow Connector 10"/>
            <p:cNvCxnSpPr>
              <a:endCxn id="9" idx="1"/>
            </p:cNvCxnSpPr>
            <p:nvPr/>
          </p:nvCxnSpPr>
          <p:spPr>
            <a:xfrm>
              <a:off x="304909" y="3200736"/>
              <a:ext cx="1142914" cy="15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505463" y="2971814"/>
              <a:ext cx="1980922" cy="15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3505463" y="3429657"/>
              <a:ext cx="1980922" cy="15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2"/>
            <p:cNvSpPr txBox="1">
              <a:spLocks noChangeArrowheads="1"/>
            </p:cNvSpPr>
            <p:nvPr/>
          </p:nvSpPr>
          <p:spPr bwMode="auto">
            <a:xfrm>
              <a:off x="-849807" y="2819722"/>
              <a:ext cx="1329794" cy="699309"/>
            </a:xfrm>
            <a:prstGeom prst="rect">
              <a:avLst/>
            </a:prstGeom>
            <a:noFill/>
            <a:ln w="9525">
              <a:noFill/>
              <a:miter lim="800000"/>
              <a:headEnd/>
              <a:tailEnd/>
            </a:ln>
          </p:spPr>
          <p:txBody>
            <a:bodyPr wrap="none">
              <a:spAutoFit/>
            </a:bodyPr>
            <a:lstStyle/>
            <a:p>
              <a:pPr>
                <a:defRPr/>
              </a:pPr>
              <a:r>
                <a:rPr lang="en-US" sz="2000" dirty="0">
                  <a:latin typeface="+mj-lt"/>
                </a:rPr>
                <a:t>Source</a:t>
              </a:r>
            </a:p>
            <a:p>
              <a:pPr>
                <a:defRPr/>
              </a:pPr>
              <a:r>
                <a:rPr lang="en-US" sz="2000" dirty="0">
                  <a:latin typeface="+mj-lt"/>
                </a:rPr>
                <a:t>program</a:t>
              </a:r>
            </a:p>
          </p:txBody>
        </p:sp>
        <p:sp>
          <p:nvSpPr>
            <p:cNvPr id="15" name="TextBox 13"/>
            <p:cNvSpPr txBox="1">
              <a:spLocks noChangeArrowheads="1"/>
            </p:cNvSpPr>
            <p:nvPr/>
          </p:nvSpPr>
          <p:spPr bwMode="auto">
            <a:xfrm>
              <a:off x="4038561" y="2590800"/>
              <a:ext cx="959970" cy="395125"/>
            </a:xfrm>
            <a:prstGeom prst="rect">
              <a:avLst/>
            </a:prstGeom>
            <a:noFill/>
            <a:ln w="9525">
              <a:noFill/>
              <a:miter lim="800000"/>
              <a:headEnd/>
              <a:tailEnd/>
            </a:ln>
          </p:spPr>
          <p:txBody>
            <a:bodyPr wrap="none">
              <a:spAutoFit/>
            </a:bodyPr>
            <a:lstStyle/>
            <a:p>
              <a:pPr>
                <a:defRPr/>
              </a:pPr>
              <a:r>
                <a:rPr lang="en-US" sz="2000">
                  <a:latin typeface="+mj-lt"/>
                </a:rPr>
                <a:t>token</a:t>
              </a:r>
            </a:p>
          </p:txBody>
        </p:sp>
        <p:sp>
          <p:nvSpPr>
            <p:cNvPr id="16" name="TextBox 14"/>
            <p:cNvSpPr txBox="1">
              <a:spLocks noChangeArrowheads="1"/>
            </p:cNvSpPr>
            <p:nvPr/>
          </p:nvSpPr>
          <p:spPr bwMode="auto">
            <a:xfrm>
              <a:off x="3623493" y="3550390"/>
              <a:ext cx="2266517" cy="395184"/>
            </a:xfrm>
            <a:prstGeom prst="rect">
              <a:avLst/>
            </a:prstGeom>
            <a:noFill/>
            <a:ln w="9525">
              <a:noFill/>
              <a:miter lim="800000"/>
              <a:headEnd/>
              <a:tailEnd/>
            </a:ln>
          </p:spPr>
          <p:txBody>
            <a:bodyPr wrap="none">
              <a:spAutoFit/>
            </a:bodyPr>
            <a:lstStyle/>
            <a:p>
              <a:pPr>
                <a:defRPr/>
              </a:pPr>
              <a:r>
                <a:rPr lang="en-US" sz="2000" dirty="0" smtClean="0">
                  <a:latin typeface="+mj-lt"/>
                </a:rPr>
                <a:t>Get  Next Token</a:t>
              </a:r>
              <a:endParaRPr lang="en-US" sz="2000" dirty="0">
                <a:latin typeface="+mj-lt"/>
              </a:endParaRPr>
            </a:p>
          </p:txBody>
        </p:sp>
        <p:cxnSp>
          <p:nvCxnSpPr>
            <p:cNvPr id="17" name="Straight Arrow Connector 16"/>
            <p:cNvCxnSpPr/>
            <p:nvPr/>
          </p:nvCxnSpPr>
          <p:spPr>
            <a:xfrm>
              <a:off x="2514019" y="3657011"/>
              <a:ext cx="1676013" cy="129670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10800000" flipV="1">
              <a:off x="4953286" y="3657011"/>
              <a:ext cx="1599294" cy="1296701"/>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3582182" y="4988207"/>
              <a:ext cx="2055672" cy="91411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a:defRPr/>
              </a:pPr>
              <a:r>
                <a:rPr lang="en-US" dirty="0">
                  <a:latin typeface="+mj-lt"/>
                </a:rPr>
                <a:t>Symbol</a:t>
              </a:r>
            </a:p>
            <a:p>
              <a:pPr algn="ctr">
                <a:defRPr/>
              </a:pPr>
              <a:r>
                <a:rPr lang="en-US" dirty="0">
                  <a:latin typeface="+mj-lt"/>
                </a:rPr>
                <a:t>table</a:t>
              </a:r>
            </a:p>
          </p:txBody>
        </p:sp>
        <p:sp>
          <p:nvSpPr>
            <p:cNvPr id="20" name="TextBox 26"/>
            <p:cNvSpPr txBox="1">
              <a:spLocks noChangeArrowheads="1"/>
            </p:cNvSpPr>
            <p:nvPr/>
          </p:nvSpPr>
          <p:spPr bwMode="auto">
            <a:xfrm>
              <a:off x="7544024" y="2819722"/>
              <a:ext cx="1764534" cy="699309"/>
            </a:xfrm>
            <a:prstGeom prst="rect">
              <a:avLst/>
            </a:prstGeom>
            <a:noFill/>
            <a:ln w="9525">
              <a:noFill/>
              <a:miter lim="800000"/>
              <a:headEnd/>
              <a:tailEnd/>
            </a:ln>
          </p:spPr>
          <p:txBody>
            <a:bodyPr wrap="none">
              <a:spAutoFit/>
            </a:bodyPr>
            <a:lstStyle/>
            <a:p>
              <a:pPr>
                <a:defRPr/>
              </a:pPr>
              <a:r>
                <a:rPr lang="en-US" sz="2000">
                  <a:latin typeface="+mj-lt"/>
                </a:rPr>
                <a:t>To semantic</a:t>
              </a:r>
            </a:p>
            <a:p>
              <a:pPr>
                <a:defRPr/>
              </a:pPr>
              <a:r>
                <a:rPr lang="en-US" sz="2000">
                  <a:latin typeface="+mj-lt"/>
                </a:rPr>
                <a:t>analysis</a:t>
              </a:r>
            </a:p>
          </p:txBody>
        </p:sp>
      </p:grpSp>
      <p:cxnSp>
        <p:nvCxnSpPr>
          <p:cNvPr id="21" name="Straight Arrow Connector 20"/>
          <p:cNvCxnSpPr/>
          <p:nvPr/>
        </p:nvCxnSpPr>
        <p:spPr>
          <a:xfrm>
            <a:off x="6934200" y="2819400"/>
            <a:ext cx="159861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Footer Placeholder 12"/>
          <p:cNvSpPr>
            <a:spLocks noGrp="1"/>
          </p:cNvSpPr>
          <p:nvPr>
            <p:ph type="ftr" sz="quarter" idx="11"/>
          </p:nvPr>
        </p:nvSpPr>
        <p:spPr>
          <a:xfrm>
            <a:off x="2286000" y="6340475"/>
            <a:ext cx="5029200" cy="365125"/>
          </a:xfrm>
        </p:spPr>
        <p:txBody>
          <a:bodyPr/>
          <a:lstStyle/>
          <a:p>
            <a:pPr>
              <a:defRPr/>
            </a:pPr>
            <a:r>
              <a:rPr lang="it-IT" smtClean="0"/>
              <a:t>Vivek Kumar Sharma           CD Unit -1</a:t>
            </a:r>
            <a:endParaRPr lang="en-US" dirty="0"/>
          </a:p>
        </p:txBody>
      </p:sp>
    </p:spTree>
    <p:extLst>
      <p:ext uri="{BB962C8B-B14F-4D97-AF65-F5344CB8AC3E}">
        <p14:creationId xmlns:p14="http://schemas.microsoft.com/office/powerpoint/2010/main" val="131109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3000"/>
                                        <p:tgtEl>
                                          <p:spTgt spid="2"/>
                                        </p:tgtEl>
                                      </p:cBhvr>
                                    </p:animEffect>
                                  </p:childTnLst>
                                </p:cTn>
                              </p:par>
                            </p:childTnLst>
                          </p:cTn>
                        </p:par>
                        <p:par>
                          <p:cTn id="8" fill="hold">
                            <p:stCondLst>
                              <p:cond delay="3000"/>
                            </p:stCondLst>
                            <p:childTnLst>
                              <p:par>
                                <p:cTn id="9" presetID="2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C83ECE-120C-4AF5-BC09-E00E11C626E3}"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7" name="Title 1"/>
          <p:cNvSpPr txBox="1">
            <a:spLocks/>
          </p:cNvSpPr>
          <p:nvPr/>
        </p:nvSpPr>
        <p:spPr>
          <a:xfrm>
            <a:off x="1600200" y="1"/>
            <a:ext cx="7239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b="1" dirty="0" smtClean="0"/>
              <a:t>Functions of Lexical Analyzer(CO1</a:t>
            </a:r>
            <a:r>
              <a:rPr lang="en-US" sz="3200" b="1" dirty="0"/>
              <a:t>)</a:t>
            </a:r>
            <a:endParaRPr lang="en-US" sz="3200" dirty="0"/>
          </a:p>
        </p:txBody>
      </p:sp>
      <p:sp>
        <p:nvSpPr>
          <p:cNvPr id="10" name="Content Placeholder 9"/>
          <p:cNvSpPr>
            <a:spLocks noGrp="1"/>
          </p:cNvSpPr>
          <p:nvPr>
            <p:ph idx="1"/>
          </p:nvPr>
        </p:nvSpPr>
        <p:spPr>
          <a:xfrm>
            <a:off x="457200" y="1066800"/>
            <a:ext cx="8229600" cy="5059363"/>
          </a:xfrm>
        </p:spPr>
        <p:txBody>
          <a:bodyPr>
            <a:normAutofit/>
          </a:bodyPr>
          <a:lstStyle/>
          <a:p>
            <a:r>
              <a:rPr lang="en-US" sz="2200" dirty="0" smtClean="0"/>
              <a:t>Reads the input program character by character &amp; produce a stream of token.</a:t>
            </a:r>
          </a:p>
          <a:p>
            <a:endParaRPr lang="en-US" sz="2200" dirty="0" smtClean="0"/>
          </a:p>
          <a:p>
            <a:r>
              <a:rPr lang="en-US" sz="2200" dirty="0" smtClean="0"/>
              <a:t>Removing white spaces / tabs.</a:t>
            </a:r>
          </a:p>
          <a:p>
            <a:endParaRPr lang="en-US" sz="2200" dirty="0" smtClean="0"/>
          </a:p>
          <a:p>
            <a:r>
              <a:rPr lang="en-US" sz="2200" dirty="0" smtClean="0"/>
              <a:t>Remove comments from source program.</a:t>
            </a:r>
          </a:p>
          <a:p>
            <a:endParaRPr lang="en-US" sz="2200" dirty="0" smtClean="0"/>
          </a:p>
          <a:p>
            <a:r>
              <a:rPr lang="en-US" sz="2200" dirty="0" smtClean="0"/>
              <a:t>Lexical Analyzer generates errors and gives the line number of the error.</a:t>
            </a:r>
          </a:p>
          <a:p>
            <a:pPr marL="0" indent="0">
              <a:buNone/>
            </a:pPr>
            <a:endParaRPr lang="en-US" sz="2200" dirty="0">
              <a:solidFill>
                <a:srgbClr val="FF0000"/>
              </a:solidFill>
            </a:endParaRPr>
          </a:p>
          <a:p>
            <a:endParaRPr lang="en-US" sz="2200" dirty="0">
              <a:solidFill>
                <a:srgbClr val="FF0000"/>
              </a:solidFill>
            </a:endParaRPr>
          </a:p>
        </p:txBody>
      </p:sp>
    </p:spTree>
    <p:extLst>
      <p:ext uri="{BB962C8B-B14F-4D97-AF65-F5344CB8AC3E}">
        <p14:creationId xmlns:p14="http://schemas.microsoft.com/office/powerpoint/2010/main" val="134614592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01B941-44D7-4F03-A3A0-B3BBCDD17BE6}"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smtClean="0"/>
              <a:t>Tokens</a:t>
            </a:r>
            <a:endParaRPr lang="en-US" sz="3200" dirty="0"/>
          </a:p>
        </p:txBody>
      </p:sp>
      <p:sp>
        <p:nvSpPr>
          <p:cNvPr id="10" name="Content Placeholder 9"/>
          <p:cNvSpPr>
            <a:spLocks noGrp="1"/>
          </p:cNvSpPr>
          <p:nvPr>
            <p:ph idx="1"/>
          </p:nvPr>
        </p:nvSpPr>
        <p:spPr>
          <a:xfrm>
            <a:off x="457200" y="1066800"/>
            <a:ext cx="8229600" cy="5059363"/>
          </a:xfrm>
        </p:spPr>
        <p:txBody>
          <a:bodyPr>
            <a:normAutofit/>
          </a:bodyPr>
          <a:lstStyle/>
          <a:p>
            <a:pPr algn="just"/>
            <a:r>
              <a:rPr lang="en-US" sz="2400" b="1" dirty="0"/>
              <a:t>Tokens-</a:t>
            </a:r>
            <a:r>
              <a:rPr lang="en-US" sz="2200" dirty="0"/>
              <a:t> Sequence of characters that have a collective </a:t>
            </a:r>
            <a:r>
              <a:rPr lang="en-US" sz="2200" dirty="0" smtClean="0"/>
              <a:t>meaning</a:t>
            </a:r>
            <a:r>
              <a:rPr lang="en-US" sz="2200" dirty="0"/>
              <a:t> </a:t>
            </a:r>
            <a:r>
              <a:rPr lang="en-US" sz="2200" dirty="0" smtClean="0"/>
              <a:t>and treated as a single logical entity.</a:t>
            </a:r>
          </a:p>
          <a:p>
            <a:pPr algn="just"/>
            <a:r>
              <a:rPr lang="en-US" sz="2200" dirty="0" smtClean="0"/>
              <a:t>Tokens are symbolic names for the entities that make up the text of the program.</a:t>
            </a:r>
          </a:p>
          <a:p>
            <a:pPr algn="just"/>
            <a:r>
              <a:rPr lang="en-US" sz="2200" dirty="0" smtClean="0"/>
              <a:t>Typical Tokens are:</a:t>
            </a:r>
          </a:p>
          <a:p>
            <a:pPr marL="0" indent="0" algn="just">
              <a:buNone/>
            </a:pPr>
            <a:r>
              <a:rPr lang="en-US" sz="2200" dirty="0" smtClean="0"/>
              <a:t>     {    </a:t>
            </a:r>
            <a:r>
              <a:rPr lang="en-US" sz="2200" b="1" dirty="0" smtClean="0">
                <a:solidFill>
                  <a:srgbClr val="FF0000"/>
                </a:solidFill>
              </a:rPr>
              <a:t>Keywords</a:t>
            </a:r>
            <a:r>
              <a:rPr lang="en-US" sz="2200" dirty="0" smtClean="0">
                <a:solidFill>
                  <a:srgbClr val="FF0000"/>
                </a:solidFill>
              </a:rPr>
              <a:t> </a:t>
            </a:r>
            <a:r>
              <a:rPr lang="en-US" sz="2200" dirty="0" smtClean="0"/>
              <a:t>,     </a:t>
            </a:r>
            <a:r>
              <a:rPr lang="en-US" sz="2200" b="1" dirty="0" smtClean="0">
                <a:solidFill>
                  <a:schemeClr val="accent3">
                    <a:lumMod val="50000"/>
                  </a:schemeClr>
                </a:solidFill>
              </a:rPr>
              <a:t>Identifiers</a:t>
            </a:r>
            <a:r>
              <a:rPr lang="en-US" sz="2200" dirty="0" smtClean="0"/>
              <a:t>,        Operators        ,  </a:t>
            </a:r>
            <a:r>
              <a:rPr lang="en-US" sz="2200" b="1" dirty="0" smtClean="0">
                <a:solidFill>
                  <a:schemeClr val="tx2"/>
                </a:solidFill>
              </a:rPr>
              <a:t> Separators  </a:t>
            </a:r>
            <a:r>
              <a:rPr lang="en-US" sz="2200" dirty="0" err="1" smtClean="0"/>
              <a:t>etc</a:t>
            </a:r>
            <a:r>
              <a:rPr lang="en-US" sz="2200" dirty="0" smtClean="0"/>
              <a:t>   }</a:t>
            </a:r>
          </a:p>
          <a:p>
            <a:pPr marL="0" indent="0" algn="just">
              <a:buNone/>
            </a:pPr>
            <a:r>
              <a:rPr lang="en-US" sz="2200" dirty="0"/>
              <a:t> </a:t>
            </a:r>
            <a:r>
              <a:rPr lang="en-US" sz="2200" dirty="0" smtClean="0"/>
              <a:t>  </a:t>
            </a:r>
            <a:r>
              <a:rPr lang="en-US" sz="2200" b="1" dirty="0" smtClean="0">
                <a:solidFill>
                  <a:srgbClr val="FF0000"/>
                </a:solidFill>
              </a:rPr>
              <a:t>(for, if, while)   </a:t>
            </a:r>
            <a:r>
              <a:rPr lang="en-US" sz="2200" b="1" dirty="0" smtClean="0">
                <a:solidFill>
                  <a:schemeClr val="accent3">
                    <a:lumMod val="50000"/>
                  </a:schemeClr>
                </a:solidFill>
              </a:rPr>
              <a:t>(variable name,     </a:t>
            </a:r>
            <a:r>
              <a:rPr lang="en-US" sz="2200" dirty="0" smtClean="0"/>
              <a:t>( +,  - , * , ++ )    </a:t>
            </a:r>
            <a:r>
              <a:rPr lang="en-US" sz="2200" b="1" dirty="0" smtClean="0">
                <a:solidFill>
                  <a:schemeClr val="tx2"/>
                </a:solidFill>
              </a:rPr>
              <a:t>( ,  ;  </a:t>
            </a:r>
            <a:r>
              <a:rPr lang="en-US" sz="2200" b="1" dirty="0" err="1" smtClean="0">
                <a:solidFill>
                  <a:schemeClr val="tx2"/>
                </a:solidFill>
              </a:rPr>
              <a:t>etc</a:t>
            </a:r>
            <a:r>
              <a:rPr lang="en-US" sz="2200" b="1" dirty="0" smtClean="0">
                <a:solidFill>
                  <a:schemeClr val="tx2"/>
                </a:solidFill>
              </a:rPr>
              <a:t> )</a:t>
            </a:r>
          </a:p>
          <a:p>
            <a:pPr marL="0" indent="0" algn="just">
              <a:buNone/>
            </a:pPr>
            <a:r>
              <a:rPr lang="en-US" sz="2200" dirty="0"/>
              <a:t> </a:t>
            </a:r>
            <a:r>
              <a:rPr lang="en-US" sz="2200" dirty="0" smtClean="0"/>
              <a:t>                             </a:t>
            </a:r>
            <a:r>
              <a:rPr lang="en-US" sz="2200" b="1" dirty="0" smtClean="0">
                <a:solidFill>
                  <a:schemeClr val="accent3">
                    <a:lumMod val="50000"/>
                  </a:schemeClr>
                </a:solidFill>
              </a:rPr>
              <a:t>function name)</a:t>
            </a:r>
          </a:p>
          <a:p>
            <a:pPr marL="0" indent="0" algn="just">
              <a:buNone/>
            </a:pPr>
            <a:endParaRPr lang="en-US" sz="2200" b="1" dirty="0">
              <a:solidFill>
                <a:schemeClr val="accent3">
                  <a:lumMod val="50000"/>
                </a:schemeClr>
              </a:solidFill>
            </a:endParaRPr>
          </a:p>
          <a:p>
            <a:pPr marL="0" indent="0" algn="just">
              <a:buNone/>
            </a:pPr>
            <a:r>
              <a:rPr lang="en-US" sz="2200" b="1" dirty="0" smtClean="0">
                <a:solidFill>
                  <a:schemeClr val="accent3">
                    <a:lumMod val="50000"/>
                  </a:schemeClr>
                </a:solidFill>
              </a:rPr>
              <a:t>Ex:                 </a:t>
            </a:r>
            <a:r>
              <a:rPr lang="en-US" sz="2200" b="1" dirty="0" err="1" smtClean="0">
                <a:solidFill>
                  <a:schemeClr val="accent3">
                    <a:lumMod val="50000"/>
                  </a:schemeClr>
                </a:solidFill>
              </a:rPr>
              <a:t>int</a:t>
            </a:r>
            <a:r>
              <a:rPr lang="en-US" sz="2200" b="1" dirty="0" smtClean="0">
                <a:solidFill>
                  <a:schemeClr val="accent3">
                    <a:lumMod val="50000"/>
                  </a:schemeClr>
                </a:solidFill>
              </a:rPr>
              <a:t>      a                 =                   15                  ;</a:t>
            </a:r>
          </a:p>
          <a:p>
            <a:pPr algn="just"/>
            <a:r>
              <a:rPr lang="en-US" sz="2200" dirty="0" smtClean="0"/>
              <a:t>     (keyword)   (identifier)  (operator)   (constant)    (separator)</a:t>
            </a:r>
            <a:endParaRPr lang="en-US" sz="2200" dirty="0"/>
          </a:p>
          <a:p>
            <a:pPr marL="0" indent="0">
              <a:buNone/>
            </a:pPr>
            <a:endParaRPr lang="en-US" sz="2200" dirty="0"/>
          </a:p>
        </p:txBody>
      </p:sp>
    </p:spTree>
    <p:extLst>
      <p:ext uri="{BB962C8B-B14F-4D97-AF65-F5344CB8AC3E}">
        <p14:creationId xmlns:p14="http://schemas.microsoft.com/office/powerpoint/2010/main" val="967686490"/>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01B941-44D7-4F03-A3A0-B3BBCDD17BE6}"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smtClean="0"/>
              <a:t>Tokens</a:t>
            </a:r>
            <a:endParaRPr lang="en-US" sz="3200" dirty="0"/>
          </a:p>
        </p:txBody>
      </p:sp>
      <p:sp>
        <p:nvSpPr>
          <p:cNvPr id="10" name="Content Placeholder 9"/>
          <p:cNvSpPr>
            <a:spLocks noGrp="1"/>
          </p:cNvSpPr>
          <p:nvPr>
            <p:ph idx="1"/>
          </p:nvPr>
        </p:nvSpPr>
        <p:spPr>
          <a:xfrm>
            <a:off x="457200" y="1066800"/>
            <a:ext cx="8229600" cy="5059363"/>
          </a:xfrm>
        </p:spPr>
        <p:txBody>
          <a:bodyPr>
            <a:normAutofit fontScale="92500" lnSpcReduction="20000"/>
          </a:bodyPr>
          <a:lstStyle/>
          <a:p>
            <a:pPr marL="0" indent="0">
              <a:buNone/>
            </a:pPr>
            <a:r>
              <a:rPr lang="en-US" sz="2200" b="1" dirty="0" smtClean="0"/>
              <a:t>Keyword: </a:t>
            </a:r>
            <a:r>
              <a:rPr lang="en-US" sz="2200" dirty="0" smtClean="0"/>
              <a:t>Word (for, if, else, …) which may have a particular predefined meaning to the compiler. </a:t>
            </a:r>
          </a:p>
          <a:p>
            <a:pPr marL="0" indent="0">
              <a:buNone/>
            </a:pPr>
            <a:endParaRPr lang="en-US" sz="2200" dirty="0"/>
          </a:p>
          <a:p>
            <a:pPr marL="0" indent="0">
              <a:buNone/>
            </a:pPr>
            <a:r>
              <a:rPr lang="en-US" sz="2200" b="1" dirty="0" smtClean="0"/>
              <a:t>Identifier : </a:t>
            </a:r>
            <a:r>
              <a:rPr lang="en-US" sz="2200" dirty="0" smtClean="0"/>
              <a:t>Words that the programmer construct to attach a name .</a:t>
            </a:r>
          </a:p>
          <a:p>
            <a:pPr marL="0" indent="0">
              <a:buNone/>
            </a:pPr>
            <a:endParaRPr lang="en-US" sz="2200" dirty="0"/>
          </a:p>
          <a:p>
            <a:pPr marL="0" indent="0">
              <a:buNone/>
            </a:pPr>
            <a:r>
              <a:rPr lang="en-US" sz="2200" b="1" dirty="0" smtClean="0"/>
              <a:t>Operator: </a:t>
            </a:r>
            <a:r>
              <a:rPr lang="en-US" sz="2200" dirty="0" smtClean="0"/>
              <a:t>Symbols used for arithmetic , character or logical operations such as +, - , = , !</a:t>
            </a:r>
          </a:p>
          <a:p>
            <a:pPr marL="0" indent="0">
              <a:buNone/>
            </a:pPr>
            <a:endParaRPr lang="en-US" sz="2200" dirty="0"/>
          </a:p>
          <a:p>
            <a:pPr marL="0" indent="0">
              <a:buNone/>
            </a:pPr>
            <a:r>
              <a:rPr lang="en-US" sz="2200" b="1" dirty="0" smtClean="0"/>
              <a:t>Numeric Constant : </a:t>
            </a:r>
            <a:r>
              <a:rPr lang="en-US" sz="2200" dirty="0" smtClean="0"/>
              <a:t>Numbers such as 124, 12.35  , 0.09 E – 23 etc. These must be converted to a numeric format so that they can be used in arithmetic operations.</a:t>
            </a:r>
          </a:p>
          <a:p>
            <a:pPr marL="0" indent="0">
              <a:buNone/>
            </a:pPr>
            <a:endParaRPr lang="en-US" sz="2200" dirty="0"/>
          </a:p>
          <a:p>
            <a:pPr marL="0" indent="0">
              <a:buNone/>
            </a:pPr>
            <a:r>
              <a:rPr lang="en-US" sz="2200" b="1" dirty="0" smtClean="0"/>
              <a:t>Character Constant : </a:t>
            </a:r>
            <a:r>
              <a:rPr lang="en-US" sz="2200" dirty="0" smtClean="0"/>
              <a:t>Single character or string of characters enclosed in quotes.</a:t>
            </a:r>
          </a:p>
          <a:p>
            <a:pPr marL="0" indent="0">
              <a:buNone/>
            </a:pPr>
            <a:endParaRPr lang="en-US" sz="2200" dirty="0"/>
          </a:p>
          <a:p>
            <a:pPr marL="0" indent="0">
              <a:buNone/>
            </a:pPr>
            <a:r>
              <a:rPr lang="en-US" sz="2200" b="1" dirty="0" smtClean="0"/>
              <a:t>Special Characters : </a:t>
            </a:r>
            <a:r>
              <a:rPr lang="en-US" sz="2200" dirty="0" smtClean="0"/>
              <a:t>Character used as delimiters such as . , ( , ) ,{, } , ; . These are generally single character words.</a:t>
            </a:r>
            <a:endParaRPr lang="en-US" sz="2200" dirty="0"/>
          </a:p>
        </p:txBody>
      </p:sp>
    </p:spTree>
    <p:extLst>
      <p:ext uri="{BB962C8B-B14F-4D97-AF65-F5344CB8AC3E}">
        <p14:creationId xmlns:p14="http://schemas.microsoft.com/office/powerpoint/2010/main" val="260731558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01B941-44D7-4F03-A3A0-B3BBCDD17BE6}"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smtClean="0"/>
              <a:t>Tokens</a:t>
            </a:r>
            <a:endParaRPr lang="en-US" sz="3200" dirty="0"/>
          </a:p>
        </p:txBody>
      </p:sp>
      <p:sp>
        <p:nvSpPr>
          <p:cNvPr id="10" name="Content Placeholder 9"/>
          <p:cNvSpPr>
            <a:spLocks noGrp="1"/>
          </p:cNvSpPr>
          <p:nvPr>
            <p:ph idx="1"/>
          </p:nvPr>
        </p:nvSpPr>
        <p:spPr>
          <a:xfrm>
            <a:off x="457200" y="1066800"/>
            <a:ext cx="8229600" cy="5059363"/>
          </a:xfrm>
        </p:spPr>
        <p:txBody>
          <a:bodyPr>
            <a:normAutofit/>
          </a:bodyPr>
          <a:lstStyle/>
          <a:p>
            <a:pPr marL="0" indent="0">
              <a:buNone/>
            </a:pPr>
            <a:r>
              <a:rPr lang="en-US" sz="2200" b="1" dirty="0" smtClean="0"/>
              <a:t>Note : </a:t>
            </a:r>
          </a:p>
          <a:p>
            <a:pPr marL="0" indent="0">
              <a:buNone/>
            </a:pPr>
            <a:r>
              <a:rPr lang="en-US" sz="2200" b="1" dirty="0" smtClean="0"/>
              <a:t>Comments : </a:t>
            </a:r>
            <a:r>
              <a:rPr lang="en-US" sz="2200" dirty="0" smtClean="0"/>
              <a:t>Not put out as tokens to next phase of compiler.</a:t>
            </a:r>
          </a:p>
          <a:p>
            <a:pPr marL="0" indent="0">
              <a:buNone/>
            </a:pPr>
            <a:r>
              <a:rPr lang="en-US" sz="2200" b="1" dirty="0" smtClean="0"/>
              <a:t>White Space : </a:t>
            </a:r>
            <a:r>
              <a:rPr lang="en-US" sz="2200" dirty="0" smtClean="0"/>
              <a:t>Space and tabs are generally ignored by the compiler and are not put out as tokens.</a:t>
            </a:r>
          </a:p>
          <a:p>
            <a:pPr marL="0" indent="0">
              <a:buNone/>
            </a:pPr>
            <a:r>
              <a:rPr lang="en-US" sz="2200" b="1" dirty="0" smtClean="0"/>
              <a:t>New lines: </a:t>
            </a:r>
            <a:r>
              <a:rPr lang="en-US" sz="2200" dirty="0" smtClean="0"/>
              <a:t>New line characters should also be ignored.</a:t>
            </a:r>
            <a:endParaRPr lang="en-US" sz="2200" dirty="0"/>
          </a:p>
        </p:txBody>
      </p:sp>
    </p:spTree>
    <p:extLst>
      <p:ext uri="{BB962C8B-B14F-4D97-AF65-F5344CB8AC3E}">
        <p14:creationId xmlns:p14="http://schemas.microsoft.com/office/powerpoint/2010/main" val="405133249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01B941-44D7-4F03-A3A0-B3BBCDD17BE6}"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smtClean="0"/>
              <a:t>Tokens</a:t>
            </a:r>
            <a:endParaRPr lang="en-US" sz="3200" dirty="0"/>
          </a:p>
        </p:txBody>
      </p:sp>
      <p:sp>
        <p:nvSpPr>
          <p:cNvPr id="10" name="Content Placeholder 9"/>
          <p:cNvSpPr>
            <a:spLocks noGrp="1"/>
          </p:cNvSpPr>
          <p:nvPr>
            <p:ph idx="1"/>
          </p:nvPr>
        </p:nvSpPr>
        <p:spPr>
          <a:xfrm>
            <a:off x="457200" y="1066800"/>
            <a:ext cx="8229600" cy="5059363"/>
          </a:xfrm>
        </p:spPr>
        <p:txBody>
          <a:bodyPr>
            <a:normAutofit/>
          </a:bodyPr>
          <a:lstStyle/>
          <a:p>
            <a:pPr marL="0" indent="0">
              <a:buNone/>
            </a:pPr>
            <a:r>
              <a:rPr lang="en-US" sz="2200" dirty="0" smtClean="0"/>
              <a:t>Count the number of tokens.</a:t>
            </a:r>
          </a:p>
          <a:p>
            <a:pPr marL="0" indent="0">
              <a:buNone/>
            </a:pPr>
            <a:r>
              <a:rPr lang="en-US" sz="2200" dirty="0" err="1" smtClean="0"/>
              <a:t>int</a:t>
            </a:r>
            <a:r>
              <a:rPr lang="en-US" sz="2200" dirty="0" smtClean="0"/>
              <a:t> main ( )    </a:t>
            </a:r>
          </a:p>
          <a:p>
            <a:pPr marL="0" indent="0">
              <a:buNone/>
            </a:pPr>
            <a:r>
              <a:rPr lang="en-US" sz="2200" dirty="0" smtClean="0"/>
              <a:t>                  </a:t>
            </a:r>
          </a:p>
          <a:p>
            <a:pPr marL="0" indent="0">
              <a:buNone/>
            </a:pPr>
            <a:r>
              <a:rPr lang="en-US" sz="2200" dirty="0" smtClean="0"/>
              <a:t>{</a:t>
            </a:r>
          </a:p>
          <a:p>
            <a:pPr marL="0" indent="0">
              <a:buNone/>
            </a:pPr>
            <a:r>
              <a:rPr lang="en-US" sz="2200" dirty="0"/>
              <a:t> </a:t>
            </a:r>
            <a:r>
              <a:rPr lang="en-US" sz="2200" dirty="0" smtClean="0"/>
              <a:t>   /* find the Max of a and b */</a:t>
            </a:r>
          </a:p>
          <a:p>
            <a:pPr marL="0" indent="0">
              <a:buNone/>
            </a:pPr>
            <a:r>
              <a:rPr lang="en-US" sz="2200" dirty="0" err="1" smtClean="0"/>
              <a:t>int</a:t>
            </a:r>
            <a:r>
              <a:rPr lang="en-US" sz="2200" dirty="0" smtClean="0"/>
              <a:t> a = 20   ,     b   =   30   ;</a:t>
            </a:r>
          </a:p>
          <a:p>
            <a:pPr marL="0" indent="0">
              <a:buNone/>
            </a:pPr>
            <a:r>
              <a:rPr lang="en-US" sz="2200" dirty="0" smtClean="0"/>
              <a:t>     if   (   a   &lt;   b  )</a:t>
            </a:r>
          </a:p>
          <a:p>
            <a:pPr marL="0" indent="0">
              <a:buNone/>
            </a:pPr>
            <a:r>
              <a:rPr lang="en-US" sz="2200" dirty="0" smtClean="0"/>
              <a:t>            return   (   b   )   ;</a:t>
            </a:r>
          </a:p>
          <a:p>
            <a:pPr marL="0" indent="0">
              <a:buNone/>
            </a:pPr>
            <a:r>
              <a:rPr lang="en-US" sz="2200" dirty="0" smtClean="0"/>
              <a:t>    else</a:t>
            </a:r>
          </a:p>
          <a:p>
            <a:pPr marL="0" indent="0">
              <a:buNone/>
            </a:pPr>
            <a:r>
              <a:rPr lang="en-US" sz="2200" dirty="0" smtClean="0"/>
              <a:t>            return  (   a    )     ;</a:t>
            </a:r>
          </a:p>
          <a:p>
            <a:pPr marL="0" indent="0">
              <a:buNone/>
            </a:pPr>
            <a:r>
              <a:rPr lang="en-US" sz="2200" dirty="0" smtClean="0"/>
              <a:t> }</a:t>
            </a:r>
            <a:endParaRPr lang="en-US" sz="2200" dirty="0"/>
          </a:p>
        </p:txBody>
      </p:sp>
    </p:spTree>
    <p:extLst>
      <p:ext uri="{BB962C8B-B14F-4D97-AF65-F5344CB8AC3E}">
        <p14:creationId xmlns:p14="http://schemas.microsoft.com/office/powerpoint/2010/main" val="249152802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01B941-44D7-4F03-A3A0-B3BBCDD17BE6}"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smtClean="0"/>
              <a:t>Tokens</a:t>
            </a:r>
            <a:endParaRPr lang="en-US" sz="3200" dirty="0"/>
          </a:p>
        </p:txBody>
      </p:sp>
      <p:sp>
        <p:nvSpPr>
          <p:cNvPr id="10" name="Content Placeholder 9"/>
          <p:cNvSpPr>
            <a:spLocks noGrp="1"/>
          </p:cNvSpPr>
          <p:nvPr>
            <p:ph idx="1"/>
          </p:nvPr>
        </p:nvSpPr>
        <p:spPr>
          <a:xfrm>
            <a:off x="457200" y="1066800"/>
            <a:ext cx="8229600" cy="5059363"/>
          </a:xfrm>
        </p:spPr>
        <p:txBody>
          <a:bodyPr>
            <a:normAutofit fontScale="77500" lnSpcReduction="20000"/>
          </a:bodyPr>
          <a:lstStyle/>
          <a:p>
            <a:pPr marL="0" indent="0">
              <a:buNone/>
            </a:pPr>
            <a:r>
              <a:rPr lang="en-US" sz="2200" dirty="0" smtClean="0"/>
              <a:t>Count the number of tokens.</a:t>
            </a:r>
          </a:p>
          <a:p>
            <a:pPr marL="0" indent="0">
              <a:buNone/>
            </a:pPr>
            <a:r>
              <a:rPr lang="en-US" sz="2200" dirty="0" smtClean="0"/>
              <a:t> </a:t>
            </a:r>
            <a:r>
              <a:rPr lang="en-US" sz="2200" i="1" dirty="0" smtClean="0">
                <a:solidFill>
                  <a:srgbClr val="FF0000"/>
                </a:solidFill>
              </a:rPr>
              <a:t>1      2    3  4</a:t>
            </a:r>
            <a:endParaRPr lang="en-US" sz="2200" i="1" dirty="0">
              <a:solidFill>
                <a:srgbClr val="FF0000"/>
              </a:solidFill>
            </a:endParaRPr>
          </a:p>
          <a:p>
            <a:pPr marL="0" indent="0">
              <a:buNone/>
            </a:pPr>
            <a:r>
              <a:rPr lang="en-US" sz="2200" dirty="0" err="1"/>
              <a:t>i</a:t>
            </a:r>
            <a:r>
              <a:rPr lang="en-US" sz="2200" dirty="0" err="1" smtClean="0"/>
              <a:t>nt</a:t>
            </a:r>
            <a:r>
              <a:rPr lang="en-US" sz="2200" dirty="0" smtClean="0"/>
              <a:t> main ( )    </a:t>
            </a:r>
          </a:p>
          <a:p>
            <a:pPr marL="0" indent="0">
              <a:buNone/>
            </a:pPr>
            <a:r>
              <a:rPr lang="en-US" sz="2200" i="1" dirty="0">
                <a:solidFill>
                  <a:srgbClr val="FF0000"/>
                </a:solidFill>
              </a:rPr>
              <a:t>5</a:t>
            </a:r>
            <a:r>
              <a:rPr lang="en-US" sz="2200" i="1" dirty="0" smtClean="0">
                <a:solidFill>
                  <a:srgbClr val="FF0000"/>
                </a:solidFill>
              </a:rPr>
              <a:t> </a:t>
            </a:r>
            <a:r>
              <a:rPr lang="en-US" sz="2200" dirty="0" smtClean="0"/>
              <a:t>                       </a:t>
            </a:r>
          </a:p>
          <a:p>
            <a:pPr marL="0" indent="0">
              <a:buNone/>
            </a:pPr>
            <a:r>
              <a:rPr lang="en-US" sz="2200" dirty="0" smtClean="0"/>
              <a:t>{</a:t>
            </a:r>
          </a:p>
          <a:p>
            <a:pPr marL="0" indent="0">
              <a:buNone/>
            </a:pPr>
            <a:r>
              <a:rPr lang="en-US" sz="2200" dirty="0"/>
              <a:t> </a:t>
            </a:r>
            <a:r>
              <a:rPr lang="en-US" sz="2200" dirty="0" smtClean="0"/>
              <a:t>   /* find the Max of a and b */</a:t>
            </a:r>
          </a:p>
          <a:p>
            <a:pPr marL="0" indent="0">
              <a:buNone/>
            </a:pPr>
            <a:r>
              <a:rPr lang="en-US" sz="1900" i="1" dirty="0" smtClean="0">
                <a:solidFill>
                  <a:srgbClr val="FF0000"/>
                </a:solidFill>
              </a:rPr>
              <a:t>6    7  8  9   10  11  12   13  14</a:t>
            </a:r>
          </a:p>
          <a:p>
            <a:pPr marL="0" indent="0">
              <a:buNone/>
            </a:pPr>
            <a:r>
              <a:rPr lang="en-US" sz="2200" dirty="0" err="1"/>
              <a:t>i</a:t>
            </a:r>
            <a:r>
              <a:rPr lang="en-US" sz="2200" dirty="0" err="1" smtClean="0"/>
              <a:t>nt</a:t>
            </a:r>
            <a:r>
              <a:rPr lang="en-US" sz="2200" dirty="0" smtClean="0"/>
              <a:t> a = 20   ,     b   =   30   ;</a:t>
            </a:r>
          </a:p>
          <a:p>
            <a:pPr marL="0" indent="0">
              <a:buNone/>
            </a:pPr>
            <a:r>
              <a:rPr lang="en-US" sz="2200" dirty="0" smtClean="0"/>
              <a:t>   </a:t>
            </a:r>
            <a:r>
              <a:rPr lang="en-US" sz="1900" i="1" dirty="0" smtClean="0">
                <a:solidFill>
                  <a:srgbClr val="FF0000"/>
                </a:solidFill>
              </a:rPr>
              <a:t>15 16 17 18 19 20 </a:t>
            </a:r>
          </a:p>
          <a:p>
            <a:pPr marL="0" indent="0">
              <a:buNone/>
            </a:pPr>
            <a:r>
              <a:rPr lang="en-US" sz="2200" dirty="0"/>
              <a:t> </a:t>
            </a:r>
            <a:r>
              <a:rPr lang="en-US" sz="2200" dirty="0" smtClean="0"/>
              <a:t>   if   (   a   &lt;   b  )</a:t>
            </a:r>
          </a:p>
          <a:p>
            <a:pPr marL="0" indent="0">
              <a:buNone/>
            </a:pPr>
            <a:r>
              <a:rPr lang="en-US" sz="2200" dirty="0"/>
              <a:t> </a:t>
            </a:r>
            <a:r>
              <a:rPr lang="en-US" sz="2200" dirty="0" smtClean="0"/>
              <a:t>               </a:t>
            </a:r>
            <a:r>
              <a:rPr lang="en-US" sz="1900" i="1" dirty="0" smtClean="0">
                <a:solidFill>
                  <a:srgbClr val="FF0000"/>
                </a:solidFill>
              </a:rPr>
              <a:t>21     22 23 24 25</a:t>
            </a:r>
          </a:p>
          <a:p>
            <a:pPr marL="0" indent="0">
              <a:buNone/>
            </a:pPr>
            <a:r>
              <a:rPr lang="en-US" sz="2200" dirty="0" smtClean="0"/>
              <a:t>            return   (   b   )   ;</a:t>
            </a:r>
          </a:p>
          <a:p>
            <a:pPr marL="0" indent="0">
              <a:buNone/>
            </a:pPr>
            <a:r>
              <a:rPr lang="en-US" sz="2200" dirty="0"/>
              <a:t> </a:t>
            </a:r>
            <a:r>
              <a:rPr lang="en-US" sz="2200" dirty="0" smtClean="0"/>
              <a:t>  </a:t>
            </a:r>
            <a:r>
              <a:rPr lang="en-US" sz="2200" i="1" dirty="0" smtClean="0">
                <a:solidFill>
                  <a:srgbClr val="FF0000"/>
                </a:solidFill>
              </a:rPr>
              <a:t>26</a:t>
            </a:r>
          </a:p>
          <a:p>
            <a:pPr marL="0" indent="0">
              <a:buNone/>
            </a:pPr>
            <a:r>
              <a:rPr lang="en-US" sz="2200" dirty="0"/>
              <a:t> </a:t>
            </a:r>
            <a:r>
              <a:rPr lang="en-US" sz="2200" dirty="0" smtClean="0"/>
              <a:t>  else</a:t>
            </a:r>
          </a:p>
          <a:p>
            <a:pPr marL="0" indent="0">
              <a:buNone/>
            </a:pPr>
            <a:r>
              <a:rPr lang="en-US" sz="2200" dirty="0"/>
              <a:t> </a:t>
            </a:r>
            <a:r>
              <a:rPr lang="en-US" sz="2200" dirty="0" smtClean="0"/>
              <a:t>               </a:t>
            </a:r>
            <a:r>
              <a:rPr lang="en-US" sz="2100" i="1" dirty="0" smtClean="0">
                <a:solidFill>
                  <a:srgbClr val="FF0000"/>
                </a:solidFill>
              </a:rPr>
              <a:t>27    28 29 30 31</a:t>
            </a:r>
          </a:p>
          <a:p>
            <a:pPr marL="0" indent="0">
              <a:buNone/>
            </a:pPr>
            <a:r>
              <a:rPr lang="en-US" sz="2200" dirty="0"/>
              <a:t> </a:t>
            </a:r>
            <a:r>
              <a:rPr lang="en-US" sz="2200" dirty="0" smtClean="0"/>
              <a:t>           return  (   a    )     ;</a:t>
            </a:r>
          </a:p>
          <a:p>
            <a:pPr marL="0" indent="0">
              <a:buNone/>
            </a:pPr>
            <a:r>
              <a:rPr lang="en-US" sz="2200" i="1" dirty="0" smtClean="0">
                <a:solidFill>
                  <a:srgbClr val="FF0000"/>
                </a:solidFill>
              </a:rPr>
              <a:t>32</a:t>
            </a:r>
          </a:p>
          <a:p>
            <a:pPr marL="0" indent="0">
              <a:buNone/>
            </a:pPr>
            <a:r>
              <a:rPr lang="en-US" sz="2200" dirty="0"/>
              <a:t> </a:t>
            </a:r>
            <a:r>
              <a:rPr lang="en-US" sz="2200" dirty="0" smtClean="0"/>
              <a:t> }</a:t>
            </a:r>
            <a:endParaRPr lang="en-US" sz="2200" dirty="0"/>
          </a:p>
        </p:txBody>
      </p:sp>
    </p:spTree>
    <p:extLst>
      <p:ext uri="{BB962C8B-B14F-4D97-AF65-F5344CB8AC3E}">
        <p14:creationId xmlns:p14="http://schemas.microsoft.com/office/powerpoint/2010/main" val="3306923536"/>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606CA88-5307-427F-BF30-C93984184E3D}" type="datetime1">
              <a:rPr lang="en-US" smtClean="0"/>
              <a:t>3/16/2026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it-IT" smtClean="0"/>
              <a:t>Vivek Kumar Sharma           CD Unit -1</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a:t>Example of Tokens, Patterns and Lexemes</a:t>
            </a:r>
          </a:p>
        </p:txBody>
      </p:sp>
      <p:pic>
        <p:nvPicPr>
          <p:cNvPr id="1027" name="Picture 3"/>
          <p:cNvPicPr>
            <a:picLocks noChangeAspect="1" noChangeArrowheads="1"/>
          </p:cNvPicPr>
          <p:nvPr/>
        </p:nvPicPr>
        <p:blipFill>
          <a:blip r:embed="rId2" cstate="print"/>
          <a:srcRect/>
          <a:stretch>
            <a:fillRect/>
          </a:stretch>
        </p:blipFill>
        <p:spPr bwMode="auto">
          <a:xfrm>
            <a:off x="609600" y="1390650"/>
            <a:ext cx="8191055" cy="4552950"/>
          </a:xfrm>
          <a:prstGeom prst="rect">
            <a:avLst/>
          </a:prstGeom>
          <a:noFill/>
          <a:ln w="9525">
            <a:noFill/>
            <a:miter lim="800000"/>
            <a:headEnd/>
            <a:tailEnd/>
          </a:ln>
          <a:effectLst/>
        </p:spPr>
      </p:pic>
      <p:sp>
        <p:nvSpPr>
          <p:cNvPr id="3" name="Rectangle 2"/>
          <p:cNvSpPr/>
          <p:nvPr/>
        </p:nvSpPr>
        <p:spPr>
          <a:xfrm>
            <a:off x="609600" y="2133600"/>
            <a:ext cx="1708438"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Keyword</a:t>
            </a:r>
            <a:endParaRPr lang="en-IN" sz="2400" dirty="0"/>
          </a:p>
        </p:txBody>
      </p:sp>
      <p:sp>
        <p:nvSpPr>
          <p:cNvPr id="10" name="Rectangle 9"/>
          <p:cNvSpPr/>
          <p:nvPr/>
        </p:nvSpPr>
        <p:spPr>
          <a:xfrm>
            <a:off x="647700" y="2750024"/>
            <a:ext cx="1670338" cy="6096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sz="2400" dirty="0" smtClean="0"/>
              <a:t>Keyword</a:t>
            </a:r>
            <a:endParaRPr lang="en-IN" sz="2400" dirty="0"/>
          </a:p>
        </p:txBody>
      </p:sp>
      <p:sp>
        <p:nvSpPr>
          <p:cNvPr id="11" name="Rectangle 10"/>
          <p:cNvSpPr/>
          <p:nvPr/>
        </p:nvSpPr>
        <p:spPr>
          <a:xfrm>
            <a:off x="653762" y="3362325"/>
            <a:ext cx="1664276" cy="6096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IN" sz="2400" dirty="0" smtClean="0"/>
              <a:t>Operator</a:t>
            </a:r>
            <a:endParaRPr lang="en-IN" sz="2400" dirty="0"/>
          </a:p>
        </p:txBody>
      </p:sp>
      <p:sp>
        <p:nvSpPr>
          <p:cNvPr id="12" name="Rectangle 11"/>
          <p:cNvSpPr/>
          <p:nvPr/>
        </p:nvSpPr>
        <p:spPr>
          <a:xfrm>
            <a:off x="609600" y="3938232"/>
            <a:ext cx="1708438" cy="6096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IN" sz="2400" dirty="0" smtClean="0"/>
              <a:t>Identifier</a:t>
            </a:r>
            <a:endParaRPr lang="en-IN" sz="2400" dirty="0"/>
          </a:p>
        </p:txBody>
      </p:sp>
      <p:sp>
        <p:nvSpPr>
          <p:cNvPr id="13" name="Rectangle 12"/>
          <p:cNvSpPr/>
          <p:nvPr/>
        </p:nvSpPr>
        <p:spPr>
          <a:xfrm>
            <a:off x="609600" y="4571431"/>
            <a:ext cx="1708438"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Constant</a:t>
            </a:r>
            <a:endParaRPr lang="en-IN" sz="2400" dirty="0"/>
          </a:p>
        </p:txBody>
      </p:sp>
      <p:sp>
        <p:nvSpPr>
          <p:cNvPr id="14" name="Rectangle 13"/>
          <p:cNvSpPr/>
          <p:nvPr/>
        </p:nvSpPr>
        <p:spPr>
          <a:xfrm>
            <a:off x="609600" y="5196384"/>
            <a:ext cx="8305800" cy="747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smtClean="0"/>
              <a:t>Constant</a:t>
            </a:r>
            <a:endParaRPr lang="en-IN" sz="2400" dirty="0"/>
          </a:p>
        </p:txBody>
      </p:sp>
    </p:spTree>
    <p:extLst>
      <p:ext uri="{BB962C8B-B14F-4D97-AF65-F5344CB8AC3E}">
        <p14:creationId xmlns:p14="http://schemas.microsoft.com/office/powerpoint/2010/main" val="185180306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pPr algn="just"/>
            <a:r>
              <a:rPr lang="en-US" b="1" dirty="0"/>
              <a:t>Patterns</a:t>
            </a:r>
            <a:r>
              <a:rPr lang="en-US" dirty="0"/>
              <a:t>- Rule that check Lexeme is valid token or not</a:t>
            </a:r>
            <a:r>
              <a:rPr lang="en-US" dirty="0" smtClean="0"/>
              <a:t>.</a:t>
            </a:r>
          </a:p>
          <a:p>
            <a:pPr marL="0" indent="0" algn="just">
              <a:buNone/>
            </a:pPr>
            <a:r>
              <a:rPr lang="en-US" dirty="0" smtClean="0"/>
              <a:t>                                  or</a:t>
            </a:r>
          </a:p>
          <a:p>
            <a:pPr algn="just"/>
            <a:r>
              <a:rPr lang="en-US" dirty="0" smtClean="0"/>
              <a:t>Pattern is a rule describing all those lexemes that can represent a particular token in a source language.</a:t>
            </a:r>
          </a:p>
          <a:p>
            <a:pPr algn="just"/>
            <a:endParaRPr lang="en-US" dirty="0"/>
          </a:p>
          <a:p>
            <a:pPr algn="just"/>
            <a:r>
              <a:rPr lang="en-US" b="1" dirty="0"/>
              <a:t>Lexeme-</a:t>
            </a:r>
            <a:r>
              <a:rPr lang="en-US" dirty="0"/>
              <a:t> A sequence of characters in the source program that is matched by the pattern for a token</a:t>
            </a:r>
            <a:r>
              <a:rPr lang="en-US" dirty="0" smtClean="0"/>
              <a:t>.</a:t>
            </a:r>
          </a:p>
          <a:p>
            <a:pPr marL="0" indent="0" algn="just">
              <a:buNone/>
            </a:pPr>
            <a:r>
              <a:rPr lang="en-US" dirty="0" smtClean="0"/>
              <a:t>                or</a:t>
            </a:r>
          </a:p>
          <a:p>
            <a:pPr algn="just"/>
            <a:r>
              <a:rPr lang="en-US" dirty="0" smtClean="0"/>
              <a:t>A sequence of input characters that comprises a single token is called a lexeme.</a:t>
            </a:r>
            <a:endParaRPr lang="en-US" dirty="0"/>
          </a:p>
        </p:txBody>
      </p:sp>
      <p:sp>
        <p:nvSpPr>
          <p:cNvPr id="4" name="Date Placeholder 3"/>
          <p:cNvSpPr>
            <a:spLocks noGrp="1"/>
          </p:cNvSpPr>
          <p:nvPr>
            <p:ph type="dt" sz="quarter" idx="10"/>
          </p:nvPr>
        </p:nvSpPr>
        <p:spPr/>
        <p:txBody>
          <a:bodyPr/>
          <a:lstStyle/>
          <a:p>
            <a:pPr>
              <a:defRPr/>
            </a:pPr>
            <a:fld id="{4BFD9B81-5794-4B23-BE73-70963FF36D9C}"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96</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Lexeme &amp; Pattern</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Tree>
    <p:extLst>
      <p:ext uri="{BB962C8B-B14F-4D97-AF65-F5344CB8AC3E}">
        <p14:creationId xmlns:p14="http://schemas.microsoft.com/office/powerpoint/2010/main" val="1240472399"/>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normAutofit/>
          </a:bodyPr>
          <a:lstStyle/>
          <a:p>
            <a:r>
              <a:rPr lang="en-US" sz="2400" dirty="0" smtClean="0"/>
              <a:t>Lex is a tool which generates Lexical Analyzer .</a:t>
            </a:r>
          </a:p>
          <a:p>
            <a:r>
              <a:rPr lang="en-US" sz="2400" dirty="0" smtClean="0"/>
              <a:t>Lex written by Mike </a:t>
            </a:r>
            <a:r>
              <a:rPr lang="en-US" sz="2400" dirty="0" err="1" smtClean="0"/>
              <a:t>Lesk</a:t>
            </a:r>
            <a:r>
              <a:rPr lang="en-US" sz="2400" dirty="0" smtClean="0"/>
              <a:t> and Eric </a:t>
            </a:r>
            <a:r>
              <a:rPr lang="en-US" sz="2400" dirty="0" err="1" smtClean="0"/>
              <a:t>Schridt</a:t>
            </a:r>
            <a:r>
              <a:rPr lang="en-US" sz="2400" dirty="0" smtClean="0"/>
              <a:t> and described in 1975.</a:t>
            </a:r>
            <a:endParaRPr lang="en-US" sz="2400" dirty="0"/>
          </a:p>
        </p:txBody>
      </p:sp>
      <p:sp>
        <p:nvSpPr>
          <p:cNvPr id="4" name="Date Placeholder 3"/>
          <p:cNvSpPr>
            <a:spLocks noGrp="1"/>
          </p:cNvSpPr>
          <p:nvPr>
            <p:ph type="dt" sz="quarter" idx="10"/>
          </p:nvPr>
        </p:nvSpPr>
        <p:spPr/>
        <p:txBody>
          <a:bodyPr/>
          <a:lstStyle/>
          <a:p>
            <a:pPr>
              <a:defRPr/>
            </a:pPr>
            <a:fld id="{4BFD9B81-5794-4B23-BE73-70963FF36D9C}"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97</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Lex</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Tree>
    <p:extLst>
      <p:ext uri="{BB962C8B-B14F-4D97-AF65-F5344CB8AC3E}">
        <p14:creationId xmlns:p14="http://schemas.microsoft.com/office/powerpoint/2010/main" val="69722069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8B9FA222-BD5C-4564-9A26-DD172E599957}"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98</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Block diagram of Lex</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grpSp>
        <p:nvGrpSpPr>
          <p:cNvPr id="15" name="Group 14"/>
          <p:cNvGrpSpPr/>
          <p:nvPr/>
        </p:nvGrpSpPr>
        <p:grpSpPr>
          <a:xfrm>
            <a:off x="2286000" y="1371600"/>
            <a:ext cx="4648200" cy="685800"/>
            <a:chOff x="2286000" y="1371600"/>
            <a:chExt cx="4648200" cy="685800"/>
          </a:xfrm>
        </p:grpSpPr>
        <p:sp>
          <p:nvSpPr>
            <p:cNvPr id="2" name="Rectangle 1"/>
            <p:cNvSpPr/>
            <p:nvPr/>
          </p:nvSpPr>
          <p:spPr>
            <a:xfrm>
              <a:off x="3581400" y="1371600"/>
              <a:ext cx="2133600" cy="685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smtClean="0"/>
                <a:t>Lex Compiler</a:t>
              </a:r>
              <a:endParaRPr lang="en-US" sz="2400" dirty="0"/>
            </a:p>
          </p:txBody>
        </p:sp>
        <p:cxnSp>
          <p:nvCxnSpPr>
            <p:cNvPr id="5" name="Straight Arrow Connector 4"/>
            <p:cNvCxnSpPr>
              <a:endCxn id="2" idx="1"/>
            </p:cNvCxnSpPr>
            <p:nvPr/>
          </p:nvCxnSpPr>
          <p:spPr>
            <a:xfrm flipV="1">
              <a:off x="2286000" y="1714500"/>
              <a:ext cx="12954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638800" y="1695450"/>
              <a:ext cx="12954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838200" y="1371600"/>
            <a:ext cx="1447800" cy="923330"/>
          </a:xfrm>
          <a:prstGeom prst="rect">
            <a:avLst/>
          </a:prstGeom>
          <a:noFill/>
        </p:spPr>
        <p:txBody>
          <a:bodyPr wrap="square" rtlCol="0">
            <a:spAutoFit/>
          </a:bodyPr>
          <a:lstStyle/>
          <a:p>
            <a:r>
              <a:rPr lang="en-US" dirty="0" smtClean="0"/>
              <a:t>Lex Source Program</a:t>
            </a:r>
          </a:p>
          <a:p>
            <a:r>
              <a:rPr lang="en-US" dirty="0" smtClean="0"/>
              <a:t>(</a:t>
            </a:r>
            <a:r>
              <a:rPr lang="en-US" dirty="0" err="1" smtClean="0"/>
              <a:t>File.l</a:t>
            </a:r>
            <a:r>
              <a:rPr lang="en-US" dirty="0" smtClean="0"/>
              <a:t>)</a:t>
            </a:r>
            <a:endParaRPr lang="en-US" dirty="0"/>
          </a:p>
        </p:txBody>
      </p:sp>
      <p:sp>
        <p:nvSpPr>
          <p:cNvPr id="14" name="TextBox 13"/>
          <p:cNvSpPr txBox="1"/>
          <p:nvPr/>
        </p:nvSpPr>
        <p:spPr>
          <a:xfrm>
            <a:off x="7086600" y="1295400"/>
            <a:ext cx="1371600" cy="646331"/>
          </a:xfrm>
          <a:prstGeom prst="rect">
            <a:avLst/>
          </a:prstGeom>
          <a:noFill/>
        </p:spPr>
        <p:txBody>
          <a:bodyPr wrap="square" rtlCol="0">
            <a:spAutoFit/>
          </a:bodyPr>
          <a:lstStyle/>
          <a:p>
            <a:r>
              <a:rPr lang="en-US" dirty="0" err="1" smtClean="0"/>
              <a:t>Lex.yy.c</a:t>
            </a:r>
            <a:endParaRPr lang="en-US" dirty="0" smtClean="0"/>
          </a:p>
          <a:p>
            <a:r>
              <a:rPr lang="en-US" dirty="0" smtClean="0"/>
              <a:t>(C program)</a:t>
            </a:r>
            <a:endParaRPr lang="en-US" dirty="0"/>
          </a:p>
        </p:txBody>
      </p:sp>
      <p:grpSp>
        <p:nvGrpSpPr>
          <p:cNvPr id="16" name="Group 15"/>
          <p:cNvGrpSpPr/>
          <p:nvPr/>
        </p:nvGrpSpPr>
        <p:grpSpPr>
          <a:xfrm>
            <a:off x="876300" y="2810470"/>
            <a:ext cx="8115300" cy="830997"/>
            <a:chOff x="876300" y="2810470"/>
            <a:chExt cx="8115300" cy="830997"/>
          </a:xfrm>
        </p:grpSpPr>
        <p:grpSp>
          <p:nvGrpSpPr>
            <p:cNvPr id="17" name="Group 16"/>
            <p:cNvGrpSpPr/>
            <p:nvPr/>
          </p:nvGrpSpPr>
          <p:grpSpPr>
            <a:xfrm>
              <a:off x="2438400" y="2835275"/>
              <a:ext cx="4648200" cy="685800"/>
              <a:chOff x="2286000" y="1371600"/>
              <a:chExt cx="4648200" cy="685800"/>
            </a:xfrm>
          </p:grpSpPr>
          <p:sp>
            <p:nvSpPr>
              <p:cNvPr id="18" name="Rectangle 17"/>
              <p:cNvSpPr/>
              <p:nvPr/>
            </p:nvSpPr>
            <p:spPr>
              <a:xfrm>
                <a:off x="3581400" y="1371600"/>
                <a:ext cx="2133600" cy="685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smtClean="0"/>
                  <a:t>C Compiler</a:t>
                </a:r>
                <a:endParaRPr lang="en-US" sz="2400" dirty="0"/>
              </a:p>
            </p:txBody>
          </p:sp>
          <p:cxnSp>
            <p:nvCxnSpPr>
              <p:cNvPr id="19" name="Straight Arrow Connector 18"/>
              <p:cNvCxnSpPr>
                <a:endCxn id="18" idx="1"/>
              </p:cNvCxnSpPr>
              <p:nvPr/>
            </p:nvCxnSpPr>
            <p:spPr>
              <a:xfrm flipV="1">
                <a:off x="2286000" y="1714500"/>
                <a:ext cx="12954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5638800" y="1695450"/>
                <a:ext cx="12954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876300" y="2810470"/>
              <a:ext cx="1447800" cy="369332"/>
            </a:xfrm>
            <a:prstGeom prst="rect">
              <a:avLst/>
            </a:prstGeom>
            <a:noFill/>
          </p:spPr>
          <p:txBody>
            <a:bodyPr wrap="square" rtlCol="0">
              <a:spAutoFit/>
            </a:bodyPr>
            <a:lstStyle/>
            <a:p>
              <a:r>
                <a:rPr lang="en-US" dirty="0" err="1" smtClean="0"/>
                <a:t>Lex.yy.c</a:t>
              </a:r>
              <a:endParaRPr lang="en-US" dirty="0" smtClean="0"/>
            </a:p>
          </p:txBody>
        </p:sp>
        <p:sp>
          <p:nvSpPr>
            <p:cNvPr id="22" name="TextBox 21"/>
            <p:cNvSpPr txBox="1"/>
            <p:nvPr/>
          </p:nvSpPr>
          <p:spPr>
            <a:xfrm>
              <a:off x="7177454" y="2995136"/>
              <a:ext cx="1814146" cy="646331"/>
            </a:xfrm>
            <a:prstGeom prst="rect">
              <a:avLst/>
            </a:prstGeom>
            <a:noFill/>
          </p:spPr>
          <p:txBody>
            <a:bodyPr wrap="square" rtlCol="0">
              <a:spAutoFit/>
            </a:bodyPr>
            <a:lstStyle/>
            <a:p>
              <a:r>
                <a:rPr lang="en-US" dirty="0" err="1" smtClean="0"/>
                <a:t>a.Out</a:t>
              </a:r>
              <a:endParaRPr lang="en-US" dirty="0" smtClean="0"/>
            </a:p>
            <a:p>
              <a:r>
                <a:rPr lang="en-US" dirty="0" smtClean="0"/>
                <a:t>(Lexical Analyzer)</a:t>
              </a:r>
            </a:p>
          </p:txBody>
        </p:sp>
      </p:grpSp>
      <p:grpSp>
        <p:nvGrpSpPr>
          <p:cNvPr id="24" name="Group 23"/>
          <p:cNvGrpSpPr/>
          <p:nvPr/>
        </p:nvGrpSpPr>
        <p:grpSpPr>
          <a:xfrm>
            <a:off x="829408" y="4214077"/>
            <a:ext cx="8115300" cy="710605"/>
            <a:chOff x="876300" y="2810470"/>
            <a:chExt cx="8115300" cy="710605"/>
          </a:xfrm>
        </p:grpSpPr>
        <p:grpSp>
          <p:nvGrpSpPr>
            <p:cNvPr id="25" name="Group 24"/>
            <p:cNvGrpSpPr/>
            <p:nvPr/>
          </p:nvGrpSpPr>
          <p:grpSpPr>
            <a:xfrm>
              <a:off x="2438400" y="2835275"/>
              <a:ext cx="4648200" cy="685800"/>
              <a:chOff x="2286000" y="1371600"/>
              <a:chExt cx="4648200" cy="685800"/>
            </a:xfrm>
          </p:grpSpPr>
          <p:sp>
            <p:nvSpPr>
              <p:cNvPr id="28" name="Rectangle 27"/>
              <p:cNvSpPr/>
              <p:nvPr/>
            </p:nvSpPr>
            <p:spPr>
              <a:xfrm>
                <a:off x="3581400" y="1371600"/>
                <a:ext cx="2133600" cy="685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2400" dirty="0" err="1" smtClean="0"/>
                  <a:t>a.out</a:t>
                </a:r>
                <a:endParaRPr lang="en-US" sz="2400" dirty="0"/>
              </a:p>
            </p:txBody>
          </p:sp>
          <p:cxnSp>
            <p:nvCxnSpPr>
              <p:cNvPr id="29" name="Straight Arrow Connector 28"/>
              <p:cNvCxnSpPr>
                <a:endCxn id="28" idx="1"/>
              </p:cNvCxnSpPr>
              <p:nvPr/>
            </p:nvCxnSpPr>
            <p:spPr>
              <a:xfrm flipV="1">
                <a:off x="2286000" y="1714500"/>
                <a:ext cx="12954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5638800" y="1695450"/>
                <a:ext cx="1295400" cy="381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876300" y="2810470"/>
              <a:ext cx="1447800" cy="646331"/>
            </a:xfrm>
            <a:prstGeom prst="rect">
              <a:avLst/>
            </a:prstGeom>
            <a:noFill/>
          </p:spPr>
          <p:txBody>
            <a:bodyPr wrap="square" rtlCol="0">
              <a:spAutoFit/>
            </a:bodyPr>
            <a:lstStyle/>
            <a:p>
              <a:r>
                <a:rPr lang="en-US" dirty="0" smtClean="0"/>
                <a:t>Input stream or HLL</a:t>
              </a:r>
            </a:p>
          </p:txBody>
        </p:sp>
        <p:sp>
          <p:nvSpPr>
            <p:cNvPr id="27" name="TextBox 26"/>
            <p:cNvSpPr txBox="1"/>
            <p:nvPr/>
          </p:nvSpPr>
          <p:spPr>
            <a:xfrm>
              <a:off x="7177454" y="2995136"/>
              <a:ext cx="1814146" cy="369332"/>
            </a:xfrm>
            <a:prstGeom prst="rect">
              <a:avLst/>
            </a:prstGeom>
            <a:noFill/>
          </p:spPr>
          <p:txBody>
            <a:bodyPr wrap="square" rtlCol="0">
              <a:spAutoFit/>
            </a:bodyPr>
            <a:lstStyle/>
            <a:p>
              <a:r>
                <a:rPr lang="en-US" dirty="0"/>
                <a:t>s</a:t>
              </a:r>
              <a:r>
                <a:rPr lang="en-US" dirty="0" smtClean="0"/>
                <a:t>tream of tokens</a:t>
              </a:r>
            </a:p>
          </p:txBody>
        </p:sp>
      </p:grpSp>
    </p:spTree>
    <p:extLst>
      <p:ext uri="{BB962C8B-B14F-4D97-AF65-F5344CB8AC3E}">
        <p14:creationId xmlns:p14="http://schemas.microsoft.com/office/powerpoint/2010/main" val="229739857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3672FDC-F4B4-450F-ACF1-1B61C77F946C}"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99</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Lex</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
        <p:nvSpPr>
          <p:cNvPr id="3" name="TextBox 2"/>
          <p:cNvSpPr txBox="1"/>
          <p:nvPr/>
        </p:nvSpPr>
        <p:spPr>
          <a:xfrm>
            <a:off x="685800" y="1143000"/>
            <a:ext cx="8001000" cy="2031325"/>
          </a:xfrm>
          <a:prstGeom prst="rect">
            <a:avLst/>
          </a:prstGeom>
          <a:noFill/>
        </p:spPr>
        <p:txBody>
          <a:bodyPr wrap="square" rtlCol="0">
            <a:spAutoFit/>
          </a:bodyPr>
          <a:lstStyle/>
          <a:p>
            <a:pPr marL="342900" indent="-342900">
              <a:buAutoNum type="arabicPeriod"/>
            </a:pPr>
            <a:r>
              <a:rPr lang="en-US" dirty="0" smtClean="0"/>
              <a:t>Source Code is in Lex language with file name .l extension.</a:t>
            </a:r>
          </a:p>
          <a:p>
            <a:pPr marL="342900" indent="-342900">
              <a:buAutoNum type="arabicPeriod"/>
            </a:pPr>
            <a:endParaRPr lang="en-US" dirty="0" smtClean="0"/>
          </a:p>
          <a:p>
            <a:pPr marL="342900" indent="-342900">
              <a:buAutoNum type="arabicPeriod"/>
            </a:pPr>
            <a:r>
              <a:rPr lang="en-US" dirty="0" smtClean="0"/>
              <a:t>It is given to Lex Compiler which is the Lex tool and produce </a:t>
            </a:r>
            <a:r>
              <a:rPr lang="en-US" dirty="0" err="1" smtClean="0"/>
              <a:t>lex.yy.c</a:t>
            </a:r>
            <a:r>
              <a:rPr lang="en-US" dirty="0" smtClean="0"/>
              <a:t> </a:t>
            </a:r>
          </a:p>
          <a:p>
            <a:pPr marL="342900" indent="-342900">
              <a:buAutoNum type="arabicPeriod"/>
            </a:pPr>
            <a:endParaRPr lang="en-US" dirty="0" smtClean="0"/>
          </a:p>
          <a:p>
            <a:pPr marL="342900" indent="-342900">
              <a:buAutoNum type="arabicPeriod"/>
            </a:pPr>
            <a:r>
              <a:rPr lang="en-US" dirty="0" smtClean="0"/>
              <a:t>C compiler runs this C Code </a:t>
            </a:r>
            <a:r>
              <a:rPr lang="en-US" dirty="0" err="1" smtClean="0"/>
              <a:t>ie</a:t>
            </a:r>
            <a:r>
              <a:rPr lang="en-US" dirty="0" smtClean="0"/>
              <a:t> </a:t>
            </a:r>
            <a:r>
              <a:rPr lang="en-US" dirty="0" err="1" smtClean="0"/>
              <a:t>lex.yy.c</a:t>
            </a:r>
            <a:r>
              <a:rPr lang="en-US" dirty="0" smtClean="0"/>
              <a:t> program and produce an output </a:t>
            </a:r>
            <a:r>
              <a:rPr lang="en-US" dirty="0" err="1" smtClean="0"/>
              <a:t>a.out</a:t>
            </a:r>
            <a:r>
              <a:rPr lang="en-US" dirty="0" smtClean="0"/>
              <a:t> .</a:t>
            </a:r>
          </a:p>
          <a:p>
            <a:pPr marL="342900" indent="-342900">
              <a:buAutoNum type="arabicPeriod"/>
            </a:pPr>
            <a:endParaRPr lang="en-US" dirty="0" smtClean="0"/>
          </a:p>
          <a:p>
            <a:pPr marL="342900" indent="-342900">
              <a:buAutoNum type="arabicPeriod"/>
            </a:pPr>
            <a:r>
              <a:rPr lang="en-US" dirty="0" err="1"/>
              <a:t>a</a:t>
            </a:r>
            <a:r>
              <a:rPr lang="en-US" dirty="0" err="1" smtClean="0"/>
              <a:t>.out</a:t>
            </a:r>
            <a:r>
              <a:rPr lang="en-US" dirty="0" smtClean="0"/>
              <a:t> transforms an input stream into a sequence of tokens.</a:t>
            </a:r>
            <a:endParaRPr lang="en-US" dirty="0"/>
          </a:p>
        </p:txBody>
      </p:sp>
    </p:spTree>
    <p:extLst>
      <p:ext uri="{BB962C8B-B14F-4D97-AF65-F5344CB8AC3E}">
        <p14:creationId xmlns:p14="http://schemas.microsoft.com/office/powerpoint/2010/main" val="17247457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BCC5E78-0058-4944-BA8F-D8E9CF926126}"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100</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Structure of LEX</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
        <p:nvSpPr>
          <p:cNvPr id="3" name="TextBox 2"/>
          <p:cNvSpPr txBox="1"/>
          <p:nvPr/>
        </p:nvSpPr>
        <p:spPr>
          <a:xfrm>
            <a:off x="685800" y="1143000"/>
            <a:ext cx="8001000" cy="5632311"/>
          </a:xfrm>
          <a:prstGeom prst="rect">
            <a:avLst/>
          </a:prstGeom>
          <a:noFill/>
        </p:spPr>
        <p:txBody>
          <a:bodyPr wrap="square" rtlCol="0">
            <a:spAutoFit/>
          </a:bodyPr>
          <a:lstStyle/>
          <a:p>
            <a:r>
              <a:rPr lang="en-US" dirty="0" smtClean="0"/>
              <a:t>    Lex Program is separated into 3 sections by %% </a:t>
            </a:r>
            <a:r>
              <a:rPr lang="en-US" dirty="0" err="1" smtClean="0"/>
              <a:t>delimeters</a:t>
            </a:r>
            <a:r>
              <a:rPr lang="en-US" dirty="0" smtClean="0"/>
              <a:t>.</a:t>
            </a:r>
          </a:p>
          <a:p>
            <a:endParaRPr lang="en-US" dirty="0"/>
          </a:p>
          <a:p>
            <a:r>
              <a:rPr lang="en-US" dirty="0" smtClean="0"/>
              <a:t>{declaration}                      </a:t>
            </a:r>
            <a:r>
              <a:rPr lang="en-US" dirty="0" smtClean="0">
                <a:solidFill>
                  <a:srgbClr val="FF0000"/>
                </a:solidFill>
              </a:rPr>
              <a:t>{{ declaration of variables including files / libraries}}</a:t>
            </a:r>
          </a:p>
          <a:p>
            <a:r>
              <a:rPr lang="en-US" dirty="0"/>
              <a:t> </a:t>
            </a:r>
            <a:r>
              <a:rPr lang="en-US" dirty="0" smtClean="0"/>
              <a:t>     %%</a:t>
            </a:r>
          </a:p>
          <a:p>
            <a:r>
              <a:rPr lang="en-US" dirty="0"/>
              <a:t> </a:t>
            </a:r>
            <a:r>
              <a:rPr lang="en-US" dirty="0" smtClean="0"/>
              <a:t>   { Translation Rules}              </a:t>
            </a:r>
            <a:r>
              <a:rPr lang="en-US" dirty="0" smtClean="0">
                <a:solidFill>
                  <a:srgbClr val="FF0000"/>
                </a:solidFill>
              </a:rPr>
              <a:t>{{Contains rules in form of regular Expression}}</a:t>
            </a:r>
          </a:p>
          <a:p>
            <a:r>
              <a:rPr lang="en-US" dirty="0"/>
              <a:t> </a:t>
            </a:r>
            <a:r>
              <a:rPr lang="en-US" dirty="0" smtClean="0"/>
              <a:t>     %%</a:t>
            </a:r>
          </a:p>
          <a:p>
            <a:r>
              <a:rPr lang="en-US" dirty="0" smtClean="0"/>
              <a:t>     { Auxiliary functions}</a:t>
            </a:r>
          </a:p>
          <a:p>
            <a:endParaRPr lang="en-US" dirty="0"/>
          </a:p>
          <a:p>
            <a:endParaRPr lang="en-US" dirty="0" smtClean="0"/>
          </a:p>
          <a:p>
            <a:r>
              <a:rPr lang="en-US" dirty="0" smtClean="0"/>
              <a:t>Ex : </a:t>
            </a:r>
          </a:p>
          <a:p>
            <a:r>
              <a:rPr lang="en-US" dirty="0"/>
              <a:t> </a:t>
            </a:r>
            <a:r>
              <a:rPr lang="en-US" dirty="0" smtClean="0"/>
              <a:t>   % { # include &lt; </a:t>
            </a:r>
            <a:r>
              <a:rPr lang="en-US" dirty="0" err="1" smtClean="0"/>
              <a:t>stdio.h</a:t>
            </a:r>
            <a:r>
              <a:rPr lang="en-US" dirty="0" smtClean="0"/>
              <a:t>&gt;                      </a:t>
            </a:r>
            <a:r>
              <a:rPr lang="en-US" dirty="0" err="1" smtClean="0">
                <a:solidFill>
                  <a:srgbClr val="FF0000"/>
                </a:solidFill>
              </a:rPr>
              <a:t>declarartion</a:t>
            </a:r>
            <a:endParaRPr lang="en-US" dirty="0" smtClean="0">
              <a:solidFill>
                <a:srgbClr val="FF0000"/>
              </a:solidFill>
            </a:endParaRPr>
          </a:p>
          <a:p>
            <a:r>
              <a:rPr lang="en-US" dirty="0"/>
              <a:t> </a:t>
            </a:r>
            <a:r>
              <a:rPr lang="en-US" dirty="0" smtClean="0"/>
              <a:t>            </a:t>
            </a:r>
            <a:r>
              <a:rPr lang="en-US" dirty="0" err="1" smtClean="0"/>
              <a:t>int</a:t>
            </a:r>
            <a:r>
              <a:rPr lang="en-US" dirty="0" smtClean="0"/>
              <a:t> c = 0 ;</a:t>
            </a:r>
          </a:p>
          <a:p>
            <a:r>
              <a:rPr lang="en-US" dirty="0"/>
              <a:t> </a:t>
            </a:r>
            <a:r>
              <a:rPr lang="en-US" dirty="0" smtClean="0"/>
              <a:t>   %}</a:t>
            </a:r>
          </a:p>
          <a:p>
            <a:r>
              <a:rPr lang="en-US" dirty="0"/>
              <a:t> </a:t>
            </a:r>
            <a:r>
              <a:rPr lang="en-US" dirty="0" smtClean="0"/>
              <a:t>       %%</a:t>
            </a:r>
          </a:p>
          <a:p>
            <a:r>
              <a:rPr lang="en-US" dirty="0"/>
              <a:t> </a:t>
            </a:r>
            <a:r>
              <a:rPr lang="en-US" dirty="0" smtClean="0"/>
              <a:t>   pattern  { action }                               </a:t>
            </a:r>
            <a:r>
              <a:rPr lang="en-US" dirty="0">
                <a:solidFill>
                  <a:srgbClr val="FF0000"/>
                </a:solidFill>
              </a:rPr>
              <a:t>{{Contains rules in form of regular Expression}}</a:t>
            </a:r>
          </a:p>
          <a:p>
            <a:endParaRPr lang="en-US" dirty="0" smtClean="0"/>
          </a:p>
          <a:p>
            <a:r>
              <a:rPr lang="en-US" dirty="0"/>
              <a:t> </a:t>
            </a:r>
            <a:r>
              <a:rPr lang="en-US" dirty="0" smtClean="0"/>
              <a:t>       %%</a:t>
            </a:r>
          </a:p>
          <a:p>
            <a:r>
              <a:rPr lang="en-US" dirty="0"/>
              <a:t> </a:t>
            </a:r>
            <a:r>
              <a:rPr lang="en-US" dirty="0" smtClean="0"/>
              <a:t>  main ( )</a:t>
            </a:r>
          </a:p>
          <a:p>
            <a:r>
              <a:rPr lang="en-US" dirty="0"/>
              <a:t> </a:t>
            </a:r>
            <a:r>
              <a:rPr lang="en-US" dirty="0" smtClean="0"/>
              <a:t>   {    }</a:t>
            </a:r>
          </a:p>
          <a:p>
            <a:endParaRPr lang="en-US" dirty="0"/>
          </a:p>
        </p:txBody>
      </p:sp>
      <p:sp>
        <p:nvSpPr>
          <p:cNvPr id="21" name="Freeform 20"/>
          <p:cNvSpPr/>
          <p:nvPr/>
        </p:nvSpPr>
        <p:spPr>
          <a:xfrm>
            <a:off x="3457018" y="3710584"/>
            <a:ext cx="762703" cy="859791"/>
          </a:xfrm>
          <a:custGeom>
            <a:avLst/>
            <a:gdLst>
              <a:gd name="connsiteX0" fmla="*/ 253848 w 762703"/>
              <a:gd name="connsiteY0" fmla="*/ 62426 h 859791"/>
              <a:gd name="connsiteX1" fmla="*/ 724365 w 762703"/>
              <a:gd name="connsiteY1" fmla="*/ 71303 h 859791"/>
              <a:gd name="connsiteX2" fmla="*/ 662221 w 762703"/>
              <a:gd name="connsiteY2" fmla="*/ 781517 h 859791"/>
              <a:gd name="connsiteX3" fmla="*/ 85172 w 762703"/>
              <a:gd name="connsiteY3" fmla="*/ 843661 h 859791"/>
              <a:gd name="connsiteX4" fmla="*/ 5273 w 762703"/>
              <a:gd name="connsiteY4" fmla="*/ 799272 h 859791"/>
              <a:gd name="connsiteX5" fmla="*/ 14151 w 762703"/>
              <a:gd name="connsiteY5" fmla="*/ 799272 h 85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703" h="859791">
                <a:moveTo>
                  <a:pt x="253848" y="62426"/>
                </a:moveTo>
                <a:cubicBezTo>
                  <a:pt x="455075" y="6940"/>
                  <a:pt x="656303" y="-48546"/>
                  <a:pt x="724365" y="71303"/>
                </a:cubicBezTo>
                <a:cubicBezTo>
                  <a:pt x="792427" y="191152"/>
                  <a:pt x="768753" y="652791"/>
                  <a:pt x="662221" y="781517"/>
                </a:cubicBezTo>
                <a:cubicBezTo>
                  <a:pt x="555689" y="910243"/>
                  <a:pt x="194663" y="840702"/>
                  <a:pt x="85172" y="843661"/>
                </a:cubicBezTo>
                <a:cubicBezTo>
                  <a:pt x="-24319" y="846620"/>
                  <a:pt x="5273" y="799272"/>
                  <a:pt x="5273" y="799272"/>
                </a:cubicBezTo>
                <a:cubicBezTo>
                  <a:pt x="-6564" y="791874"/>
                  <a:pt x="3793" y="795573"/>
                  <a:pt x="14151" y="7992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a:off x="3418865" y="4754340"/>
            <a:ext cx="629026" cy="816797"/>
          </a:xfrm>
          <a:custGeom>
            <a:avLst/>
            <a:gdLst>
              <a:gd name="connsiteX0" fmla="*/ 229857 w 629026"/>
              <a:gd name="connsiteY0" fmla="*/ 48479 h 816797"/>
              <a:gd name="connsiteX1" fmla="*/ 593842 w 629026"/>
              <a:gd name="connsiteY1" fmla="*/ 75112 h 816797"/>
              <a:gd name="connsiteX2" fmla="*/ 549453 w 629026"/>
              <a:gd name="connsiteY2" fmla="*/ 758693 h 816797"/>
              <a:gd name="connsiteX3" fmla="*/ 16793 w 629026"/>
              <a:gd name="connsiteY3" fmla="*/ 785326 h 816797"/>
              <a:gd name="connsiteX4" fmla="*/ 185469 w 629026"/>
              <a:gd name="connsiteY4" fmla="*/ 811959 h 816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26" h="816797">
                <a:moveTo>
                  <a:pt x="229857" y="48479"/>
                </a:moveTo>
                <a:cubicBezTo>
                  <a:pt x="385216" y="2611"/>
                  <a:pt x="540576" y="-43257"/>
                  <a:pt x="593842" y="75112"/>
                </a:cubicBezTo>
                <a:cubicBezTo>
                  <a:pt x="647108" y="193481"/>
                  <a:pt x="645628" y="640324"/>
                  <a:pt x="549453" y="758693"/>
                </a:cubicBezTo>
                <a:cubicBezTo>
                  <a:pt x="453278" y="877062"/>
                  <a:pt x="77457" y="776448"/>
                  <a:pt x="16793" y="785326"/>
                </a:cubicBezTo>
                <a:cubicBezTo>
                  <a:pt x="-43871" y="794204"/>
                  <a:pt x="70799" y="803081"/>
                  <a:pt x="185469" y="81195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421739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BCC5E78-0058-4944-BA8F-D8E9CF926126}"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101</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Structure of LEX</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
        <p:nvSpPr>
          <p:cNvPr id="3" name="TextBox 2"/>
          <p:cNvSpPr txBox="1"/>
          <p:nvPr/>
        </p:nvSpPr>
        <p:spPr>
          <a:xfrm>
            <a:off x="685800" y="1143000"/>
            <a:ext cx="8001000" cy="5632311"/>
          </a:xfrm>
          <a:prstGeom prst="rect">
            <a:avLst/>
          </a:prstGeom>
          <a:noFill/>
        </p:spPr>
        <p:txBody>
          <a:bodyPr wrap="square" rtlCol="0">
            <a:spAutoFit/>
          </a:bodyPr>
          <a:lstStyle/>
          <a:p>
            <a:r>
              <a:rPr lang="en-US" dirty="0" smtClean="0"/>
              <a:t>    Lex Program is separated into 3 sections by %% </a:t>
            </a:r>
            <a:r>
              <a:rPr lang="en-US" dirty="0" err="1" smtClean="0"/>
              <a:t>delimeters</a:t>
            </a:r>
            <a:r>
              <a:rPr lang="en-US" dirty="0" smtClean="0"/>
              <a:t>.</a:t>
            </a:r>
          </a:p>
          <a:p>
            <a:endParaRPr lang="en-US" dirty="0"/>
          </a:p>
          <a:p>
            <a:r>
              <a:rPr lang="en-US" dirty="0" smtClean="0"/>
              <a:t>{declaration}                      </a:t>
            </a:r>
            <a:r>
              <a:rPr lang="en-US" dirty="0" smtClean="0">
                <a:solidFill>
                  <a:srgbClr val="FF0000"/>
                </a:solidFill>
              </a:rPr>
              <a:t>{{ declaration of variables including files / libraries}}</a:t>
            </a:r>
          </a:p>
          <a:p>
            <a:r>
              <a:rPr lang="en-US" dirty="0"/>
              <a:t> </a:t>
            </a:r>
            <a:r>
              <a:rPr lang="en-US" dirty="0" smtClean="0"/>
              <a:t>     %%</a:t>
            </a:r>
          </a:p>
          <a:p>
            <a:r>
              <a:rPr lang="en-US" dirty="0"/>
              <a:t> </a:t>
            </a:r>
            <a:r>
              <a:rPr lang="en-US" dirty="0" smtClean="0"/>
              <a:t>   { Translation Rules}              </a:t>
            </a:r>
            <a:r>
              <a:rPr lang="en-US" dirty="0" smtClean="0">
                <a:solidFill>
                  <a:srgbClr val="FF0000"/>
                </a:solidFill>
              </a:rPr>
              <a:t>{{Contains rules in form of regular Expression}}</a:t>
            </a:r>
          </a:p>
          <a:p>
            <a:r>
              <a:rPr lang="en-US" dirty="0"/>
              <a:t> </a:t>
            </a:r>
            <a:r>
              <a:rPr lang="en-US" dirty="0" smtClean="0"/>
              <a:t>     %%</a:t>
            </a:r>
          </a:p>
          <a:p>
            <a:r>
              <a:rPr lang="en-US" dirty="0" smtClean="0"/>
              <a:t>     { Auxiliary functions}</a:t>
            </a:r>
          </a:p>
          <a:p>
            <a:endParaRPr lang="en-US" dirty="0"/>
          </a:p>
          <a:p>
            <a:endParaRPr lang="en-US" dirty="0" smtClean="0"/>
          </a:p>
          <a:p>
            <a:r>
              <a:rPr lang="en-US" dirty="0" smtClean="0"/>
              <a:t>Ex : </a:t>
            </a:r>
          </a:p>
          <a:p>
            <a:r>
              <a:rPr lang="en-US" dirty="0"/>
              <a:t> </a:t>
            </a:r>
            <a:r>
              <a:rPr lang="en-US" dirty="0" smtClean="0"/>
              <a:t>   % { # include &lt; </a:t>
            </a:r>
            <a:r>
              <a:rPr lang="en-US" dirty="0" err="1" smtClean="0"/>
              <a:t>stdio.h</a:t>
            </a:r>
            <a:r>
              <a:rPr lang="en-US" dirty="0" smtClean="0"/>
              <a:t>&gt;                      </a:t>
            </a:r>
            <a:r>
              <a:rPr lang="en-US" dirty="0" err="1" smtClean="0">
                <a:solidFill>
                  <a:srgbClr val="FF0000"/>
                </a:solidFill>
              </a:rPr>
              <a:t>declarartion</a:t>
            </a:r>
            <a:endParaRPr lang="en-US" dirty="0" smtClean="0">
              <a:solidFill>
                <a:srgbClr val="FF0000"/>
              </a:solidFill>
            </a:endParaRPr>
          </a:p>
          <a:p>
            <a:r>
              <a:rPr lang="en-US" dirty="0"/>
              <a:t> </a:t>
            </a:r>
            <a:r>
              <a:rPr lang="en-US" dirty="0" smtClean="0"/>
              <a:t>            </a:t>
            </a:r>
            <a:r>
              <a:rPr lang="en-US" dirty="0" err="1" smtClean="0"/>
              <a:t>int</a:t>
            </a:r>
            <a:r>
              <a:rPr lang="en-US" dirty="0" smtClean="0"/>
              <a:t> c = 0 ;</a:t>
            </a:r>
          </a:p>
          <a:p>
            <a:r>
              <a:rPr lang="en-US" dirty="0"/>
              <a:t> </a:t>
            </a:r>
            <a:r>
              <a:rPr lang="en-US" dirty="0" smtClean="0"/>
              <a:t>   %}</a:t>
            </a:r>
          </a:p>
          <a:p>
            <a:r>
              <a:rPr lang="en-US" dirty="0"/>
              <a:t> </a:t>
            </a:r>
            <a:r>
              <a:rPr lang="en-US" dirty="0" smtClean="0"/>
              <a:t>       %%</a:t>
            </a:r>
          </a:p>
          <a:p>
            <a:r>
              <a:rPr lang="en-US" dirty="0"/>
              <a:t> </a:t>
            </a:r>
            <a:r>
              <a:rPr lang="en-US" dirty="0" smtClean="0"/>
              <a:t>   pattern  { action }                               </a:t>
            </a:r>
            <a:r>
              <a:rPr lang="en-US" dirty="0">
                <a:solidFill>
                  <a:srgbClr val="FF0000"/>
                </a:solidFill>
              </a:rPr>
              <a:t>{{Contains rules in form of regular Expression}}</a:t>
            </a:r>
          </a:p>
          <a:p>
            <a:endParaRPr lang="en-US" dirty="0" smtClean="0"/>
          </a:p>
          <a:p>
            <a:r>
              <a:rPr lang="en-US" dirty="0"/>
              <a:t> </a:t>
            </a:r>
            <a:r>
              <a:rPr lang="en-US" dirty="0" smtClean="0"/>
              <a:t>       %%</a:t>
            </a:r>
          </a:p>
          <a:p>
            <a:r>
              <a:rPr lang="en-US" dirty="0"/>
              <a:t> </a:t>
            </a:r>
            <a:r>
              <a:rPr lang="en-US" dirty="0" smtClean="0"/>
              <a:t>  main ( )</a:t>
            </a:r>
          </a:p>
          <a:p>
            <a:r>
              <a:rPr lang="en-US" dirty="0"/>
              <a:t> </a:t>
            </a:r>
            <a:r>
              <a:rPr lang="en-US" dirty="0" smtClean="0"/>
              <a:t>   {    }</a:t>
            </a:r>
          </a:p>
          <a:p>
            <a:endParaRPr lang="en-US" dirty="0"/>
          </a:p>
        </p:txBody>
      </p:sp>
      <p:sp>
        <p:nvSpPr>
          <p:cNvPr id="21" name="Freeform 20"/>
          <p:cNvSpPr/>
          <p:nvPr/>
        </p:nvSpPr>
        <p:spPr>
          <a:xfrm>
            <a:off x="3457018" y="3710584"/>
            <a:ext cx="762703" cy="859791"/>
          </a:xfrm>
          <a:custGeom>
            <a:avLst/>
            <a:gdLst>
              <a:gd name="connsiteX0" fmla="*/ 253848 w 762703"/>
              <a:gd name="connsiteY0" fmla="*/ 62426 h 859791"/>
              <a:gd name="connsiteX1" fmla="*/ 724365 w 762703"/>
              <a:gd name="connsiteY1" fmla="*/ 71303 h 859791"/>
              <a:gd name="connsiteX2" fmla="*/ 662221 w 762703"/>
              <a:gd name="connsiteY2" fmla="*/ 781517 h 859791"/>
              <a:gd name="connsiteX3" fmla="*/ 85172 w 762703"/>
              <a:gd name="connsiteY3" fmla="*/ 843661 h 859791"/>
              <a:gd name="connsiteX4" fmla="*/ 5273 w 762703"/>
              <a:gd name="connsiteY4" fmla="*/ 799272 h 859791"/>
              <a:gd name="connsiteX5" fmla="*/ 14151 w 762703"/>
              <a:gd name="connsiteY5" fmla="*/ 799272 h 859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703" h="859791">
                <a:moveTo>
                  <a:pt x="253848" y="62426"/>
                </a:moveTo>
                <a:cubicBezTo>
                  <a:pt x="455075" y="6940"/>
                  <a:pt x="656303" y="-48546"/>
                  <a:pt x="724365" y="71303"/>
                </a:cubicBezTo>
                <a:cubicBezTo>
                  <a:pt x="792427" y="191152"/>
                  <a:pt x="768753" y="652791"/>
                  <a:pt x="662221" y="781517"/>
                </a:cubicBezTo>
                <a:cubicBezTo>
                  <a:pt x="555689" y="910243"/>
                  <a:pt x="194663" y="840702"/>
                  <a:pt x="85172" y="843661"/>
                </a:cubicBezTo>
                <a:cubicBezTo>
                  <a:pt x="-24319" y="846620"/>
                  <a:pt x="5273" y="799272"/>
                  <a:pt x="5273" y="799272"/>
                </a:cubicBezTo>
                <a:cubicBezTo>
                  <a:pt x="-6564" y="791874"/>
                  <a:pt x="3793" y="795573"/>
                  <a:pt x="14151" y="79927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a:off x="3418865" y="4754340"/>
            <a:ext cx="629026" cy="816797"/>
          </a:xfrm>
          <a:custGeom>
            <a:avLst/>
            <a:gdLst>
              <a:gd name="connsiteX0" fmla="*/ 229857 w 629026"/>
              <a:gd name="connsiteY0" fmla="*/ 48479 h 816797"/>
              <a:gd name="connsiteX1" fmla="*/ 593842 w 629026"/>
              <a:gd name="connsiteY1" fmla="*/ 75112 h 816797"/>
              <a:gd name="connsiteX2" fmla="*/ 549453 w 629026"/>
              <a:gd name="connsiteY2" fmla="*/ 758693 h 816797"/>
              <a:gd name="connsiteX3" fmla="*/ 16793 w 629026"/>
              <a:gd name="connsiteY3" fmla="*/ 785326 h 816797"/>
              <a:gd name="connsiteX4" fmla="*/ 185469 w 629026"/>
              <a:gd name="connsiteY4" fmla="*/ 811959 h 816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9026" h="816797">
                <a:moveTo>
                  <a:pt x="229857" y="48479"/>
                </a:moveTo>
                <a:cubicBezTo>
                  <a:pt x="385216" y="2611"/>
                  <a:pt x="540576" y="-43257"/>
                  <a:pt x="593842" y="75112"/>
                </a:cubicBezTo>
                <a:cubicBezTo>
                  <a:pt x="647108" y="193481"/>
                  <a:pt x="645628" y="640324"/>
                  <a:pt x="549453" y="758693"/>
                </a:cubicBezTo>
                <a:cubicBezTo>
                  <a:pt x="453278" y="877062"/>
                  <a:pt x="77457" y="776448"/>
                  <a:pt x="16793" y="785326"/>
                </a:cubicBezTo>
                <a:cubicBezTo>
                  <a:pt x="-43871" y="794204"/>
                  <a:pt x="70799" y="803081"/>
                  <a:pt x="185469" y="81195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104103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BCC5E78-0058-4944-BA8F-D8E9CF926126}" type="datetime1">
              <a:rPr lang="en-US" smtClean="0"/>
              <a:t>3/16/2026</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102</a:t>
            </a:fld>
            <a:endParaRPr lang="en-US"/>
          </a:p>
        </p:txBody>
      </p:sp>
      <p:sp>
        <p:nvSpPr>
          <p:cNvPr id="7"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smtClean="0"/>
              <a:t>Rule and function used</a:t>
            </a:r>
            <a:endParaRPr lang="en-US" sz="3200" b="1" dirty="0"/>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smtClean="0"/>
              <a:t>Vivek Kumar Sharma           CD Unit -1</a:t>
            </a:r>
            <a:endParaRPr lang="en-US" dirty="0"/>
          </a:p>
        </p:txBody>
      </p:sp>
      <p:sp>
        <p:nvSpPr>
          <p:cNvPr id="3" name="TextBox 2"/>
          <p:cNvSpPr txBox="1"/>
          <p:nvPr/>
        </p:nvSpPr>
        <p:spPr>
          <a:xfrm>
            <a:off x="685800" y="1143000"/>
            <a:ext cx="8001000" cy="4801314"/>
          </a:xfrm>
          <a:prstGeom prst="rect">
            <a:avLst/>
          </a:prstGeom>
          <a:noFill/>
        </p:spPr>
        <p:txBody>
          <a:bodyPr wrap="square" rtlCol="0">
            <a:spAutoFit/>
          </a:bodyPr>
          <a:lstStyle/>
          <a:p>
            <a:r>
              <a:rPr lang="en-US" b="1" dirty="0" smtClean="0"/>
              <a:t>Rule : </a:t>
            </a:r>
          </a:p>
          <a:p>
            <a:r>
              <a:rPr lang="en-US" dirty="0" err="1" smtClean="0"/>
              <a:t>abc</a:t>
            </a:r>
            <a:r>
              <a:rPr lang="en-US" dirty="0" smtClean="0"/>
              <a:t> : match </a:t>
            </a:r>
            <a:r>
              <a:rPr lang="en-US" dirty="0" err="1" smtClean="0"/>
              <a:t>abc</a:t>
            </a:r>
            <a:endParaRPr lang="en-US" dirty="0" smtClean="0"/>
          </a:p>
          <a:p>
            <a:r>
              <a:rPr lang="en-US" dirty="0" smtClean="0"/>
              <a:t>[a – z] : match small a to z</a:t>
            </a:r>
          </a:p>
          <a:p>
            <a:r>
              <a:rPr lang="en-US" dirty="0" smtClean="0"/>
              <a:t>[a – z ]* : match all string in small letters with null or more than 1 character.</a:t>
            </a:r>
          </a:p>
          <a:p>
            <a:r>
              <a:rPr lang="en-US" dirty="0" smtClean="0"/>
              <a:t>[a – z ]+ : 1 or more character.</a:t>
            </a:r>
          </a:p>
          <a:p>
            <a:r>
              <a:rPr lang="en-US" dirty="0" smtClean="0"/>
              <a:t>^a   means a should come at start.</a:t>
            </a:r>
          </a:p>
          <a:p>
            <a:r>
              <a:rPr lang="en-US" dirty="0" smtClean="0"/>
              <a:t>a$ means a at end</a:t>
            </a:r>
          </a:p>
          <a:p>
            <a:r>
              <a:rPr lang="en-US" dirty="0" smtClean="0"/>
              <a:t>[0 – 9 ]+ 1 or more digit</a:t>
            </a:r>
          </a:p>
          <a:p>
            <a:endParaRPr lang="en-US" dirty="0"/>
          </a:p>
          <a:p>
            <a:r>
              <a:rPr lang="en-US" b="1" dirty="0" smtClean="0"/>
              <a:t>Functions:</a:t>
            </a:r>
          </a:p>
          <a:p>
            <a:r>
              <a:rPr lang="en-US" dirty="0" smtClean="0"/>
              <a:t>YY wrap( ) :  called by </a:t>
            </a:r>
            <a:r>
              <a:rPr lang="en-US" dirty="0" err="1" smtClean="0"/>
              <a:t>lex</a:t>
            </a:r>
            <a:r>
              <a:rPr lang="en-US" dirty="0" smtClean="0"/>
              <a:t> tool when Input is exhausted. Return 1 if input is finished else 0</a:t>
            </a:r>
          </a:p>
          <a:p>
            <a:endParaRPr lang="en-US" dirty="0"/>
          </a:p>
          <a:p>
            <a:r>
              <a:rPr lang="en-US" dirty="0" smtClean="0"/>
              <a:t>YY </a:t>
            </a:r>
            <a:r>
              <a:rPr lang="en-US" dirty="0" err="1" smtClean="0"/>
              <a:t>lex</a:t>
            </a:r>
            <a:r>
              <a:rPr lang="en-US" dirty="0" smtClean="0"/>
              <a:t> ( ) : reads the input stream and generate tokens according to the regular expression written in rules section.</a:t>
            </a:r>
          </a:p>
          <a:p>
            <a:endParaRPr lang="en-US" dirty="0"/>
          </a:p>
          <a:p>
            <a:r>
              <a:rPr lang="en-US" dirty="0" smtClean="0"/>
              <a:t>YY text ( ) : pointer to the input string.</a:t>
            </a:r>
            <a:endParaRPr lang="en-US" dirty="0"/>
          </a:p>
        </p:txBody>
      </p:sp>
    </p:spTree>
    <p:extLst>
      <p:ext uri="{BB962C8B-B14F-4D97-AF65-F5344CB8AC3E}">
        <p14:creationId xmlns:p14="http://schemas.microsoft.com/office/powerpoint/2010/main" val="432838503"/>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2599308" y="1143002"/>
            <a:ext cx="4097788" cy="2054665"/>
          </a:xfrm>
          <a:prstGeom prst="rect">
            <a:avLst/>
          </a:prstGeom>
          <a:noFill/>
        </p:spPr>
        <p:txBody>
          <a:bodyPr vert="horz" wrap="none" lIns="91440" tIns="45720" rIns="91440" bIns="45720" rtlCol="0">
            <a:spAutoFit/>
          </a:bodyPr>
          <a:lstStyle/>
          <a:p>
            <a:pPr algn="ctr">
              <a:buNone/>
            </a:pPr>
            <a:endPar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4" name="Date Placeholder 3"/>
          <p:cNvSpPr>
            <a:spLocks noGrp="1"/>
          </p:cNvSpPr>
          <p:nvPr>
            <p:ph type="dt" sz="half" idx="10"/>
          </p:nvPr>
        </p:nvSpPr>
        <p:spPr/>
        <p:txBody>
          <a:bodyPr/>
          <a:lstStyle/>
          <a:p>
            <a:fld id="{2B06335C-2F4A-49DA-8101-4A97E25683B1}" type="datetime1">
              <a:rPr lang="en-US" smtClean="0"/>
              <a:t>3/16/2026</a:t>
            </a:fld>
            <a:endParaRPr lang="en-US"/>
          </a:p>
        </p:txBody>
      </p:sp>
      <p:sp>
        <p:nvSpPr>
          <p:cNvPr id="5" name="Footer Placeholder 4"/>
          <p:cNvSpPr>
            <a:spLocks noGrp="1"/>
          </p:cNvSpPr>
          <p:nvPr>
            <p:ph type="ftr" sz="quarter" idx="11"/>
          </p:nvPr>
        </p:nvSpPr>
        <p:spPr>
          <a:xfrm>
            <a:off x="2209800" y="6356353"/>
            <a:ext cx="5562600" cy="365125"/>
          </a:xfrm>
        </p:spPr>
        <p:txBody>
          <a:bodyPr/>
          <a:lstStyle/>
          <a:p>
            <a:r>
              <a:rPr lang="en-US" smtClean="0"/>
              <a:t>Vivek Kumar Sharma          BCSE0404X (TOC)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p:nvPr/>
        </p:nvSpPr>
        <p:spPr>
          <a:xfrm>
            <a:off x="1371600" y="3"/>
            <a:ext cx="7776000" cy="756000"/>
          </a:xfrm>
          <a:prstGeom prst="rect">
            <a:avLst/>
          </a:prstGeom>
          <a:gradFill flip="none" rotWithShape="1">
            <a:gsLst>
              <a:gs pos="0">
                <a:srgbClr val="FF7171"/>
              </a:gs>
              <a:gs pos="50000">
                <a:srgbClr val="FFB3B3"/>
              </a:gs>
              <a:gs pos="100000">
                <a:srgbClr val="FFDADA"/>
              </a:gs>
            </a:gsLst>
            <a:lin ang="0" scaled="0"/>
            <a:tileRect/>
          </a:gradFill>
          <a:ln>
            <a:solidFill>
              <a:schemeClr val="accent5">
                <a:alpha val="95000"/>
              </a:schemeClr>
            </a:solidFill>
          </a:ln>
          <a:effectLst>
            <a:outerShdw blurRad="40005" dist="20320" dir="5400000" algn="ctr" rotWithShape="0">
              <a:srgbClr val="000000">
                <a:alpha val="32000"/>
              </a:srgbClr>
            </a:outerShdw>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2400" dirty="0"/>
          </a:p>
        </p:txBody>
      </p:sp>
    </p:spTree>
  </p:cSld>
  <p:clrMapOvr>
    <a:masterClrMapping/>
  </p:clrMapOvr>
</p:sld>
</file>

<file path=ppt/theme/theme1.xml><?xml version="1.0" encoding="utf-8"?>
<a:theme xmlns:a="http://schemas.openxmlformats.org/drawingml/2006/main" name="1_Theme1">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A66A5E84-F5CA-478B-8FB0-32EFF9B82749}" vid="{67A5DA3C-EC9D-4BC3-ACFD-D7C1839AD1FE}"/>
    </a:ext>
  </a:extLst>
</a:theme>
</file>

<file path=ppt/theme/theme2.xml><?xml version="1.0" encoding="utf-8"?>
<a:theme xmlns:a="http://schemas.openxmlformats.org/drawingml/2006/main" name="Theme1">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A66A5E84-F5CA-478B-8FB0-32EFF9B82749}" vid="{67A5DA3C-EC9D-4BC3-ACFD-D7C1839AD1FE}"/>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36796</TotalTime>
  <Words>6059</Words>
  <Application>Microsoft Office PowerPoint</Application>
  <PresentationFormat>On-screen Show (4:3)</PresentationFormat>
  <Paragraphs>1408</Paragraphs>
  <Slides>103</Slides>
  <Notes>27</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103</vt:i4>
      </vt:variant>
    </vt:vector>
  </HeadingPairs>
  <TitlesOfParts>
    <vt:vector size="117" baseType="lpstr">
      <vt:lpstr>Arial Unicode MS</vt:lpstr>
      <vt:lpstr>Arial</vt:lpstr>
      <vt:lpstr>Calibri</vt:lpstr>
      <vt:lpstr>Calibri Light</vt:lpstr>
      <vt:lpstr>Consolas</vt:lpstr>
      <vt:lpstr>inter-bold</vt:lpstr>
      <vt:lpstr>inter-regular</vt:lpstr>
      <vt:lpstr>Lucida Sans Unicode</vt:lpstr>
      <vt:lpstr>Symbol</vt:lpstr>
      <vt:lpstr>Times New Roman</vt:lpstr>
      <vt:lpstr>Wingdings</vt:lpstr>
      <vt:lpstr>1_Theme1</vt:lpstr>
      <vt:lpstr>Theme1</vt:lpstr>
      <vt:lpstr>Custom Design</vt:lpstr>
      <vt:lpstr>Noida Institute of Engineering and Technology, Greater Noida</vt:lpstr>
      <vt:lpstr>PowerPoint Presentation</vt:lpstr>
      <vt:lpstr>Evaluation Scheme</vt:lpstr>
      <vt:lpstr>Syllabus</vt:lpstr>
      <vt:lpstr>Branch wise Applications</vt:lpstr>
      <vt:lpstr>Course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 Educational Objectives</vt:lpstr>
      <vt:lpstr>PowerPoint Presentation</vt:lpstr>
      <vt:lpstr>Result Analysis</vt:lpstr>
      <vt:lpstr>End Semester Question Paper Template </vt:lpstr>
      <vt:lpstr>End Semester Question Paper Template </vt:lpstr>
      <vt:lpstr>End Semester Question Paper Template </vt:lpstr>
      <vt:lpstr>PowerPoint Presentation</vt:lpstr>
      <vt:lpstr>Recap</vt:lpstr>
      <vt:lpstr>Brief subject introduction with Video Lecture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 an NFA for a*b*c*.</vt:lpstr>
      <vt:lpstr>Construct an NFA for a(a+b)*b.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Algebraic method using Arden’s theorem</vt:lpstr>
      <vt:lpstr>Algebraic method using Arden’s theorem</vt:lpstr>
      <vt:lpstr>PowerPoint Presentation</vt:lpstr>
      <vt:lpstr>PowerPoint Presentation</vt:lpstr>
      <vt:lpstr>Regular grammar</vt:lpstr>
      <vt:lpstr>Regular grammar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Evaluation Work</cp:lastModifiedBy>
  <cp:revision>582</cp:revision>
  <dcterms:created xsi:type="dcterms:W3CDTF">2006-08-16T00:00:00Z</dcterms:created>
  <dcterms:modified xsi:type="dcterms:W3CDTF">2026-03-16T05:50:03Z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1033-11.2.0.10101</vt:lpwstr>
  </property>
</Properties>
</file>